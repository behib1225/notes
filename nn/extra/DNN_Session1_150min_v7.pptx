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1"/>
    <p:sldId id="266" r:id="rId12"/>
    <p:sldId id="260" r:id="rId6"/>
    <p:sldId id="261" r:id="rId7"/>
    <p:sldId id="262" r:id="rId8"/>
    <p:sldId id="263" r:id="rId9"/>
    <p:sldId id="267" r:id="rId13"/>
    <p:sldId id="268" r:id="rId14"/>
    <p:sldId id="269" r:id="rId15"/>
    <p:sldId id="264" r:id="rId10"/>
    <p:sldId id="272" r:id="rId18"/>
    <p:sldId id="271" r:id="rId17"/>
    <p:sldId id="273" r:id="rId19"/>
    <p:sldId id="274" r:id="rId20"/>
    <p:sldId id="275" r:id="rId21"/>
    <p:sldId id="277" r:id="rId23"/>
    <p:sldId id="278" r:id="rId24"/>
    <p:sldId id="279" r:id="rId25"/>
    <p:sldId id="280" r:id="rId26"/>
    <p:sldId id="281" r:id="rId27"/>
    <p:sldId id="282" r:id="rId28"/>
    <p:sldId id="290" r:id="rId36"/>
    <p:sldId id="302" r:id="rId48"/>
    <p:sldId id="304" r:id="rId50"/>
    <p:sldId id="303" r:id="rId49"/>
    <p:sldId id="329" r:id="rId80"/>
    <p:sldId id="291" r:id="rId37"/>
    <p:sldId id="283" r:id="rId29"/>
    <p:sldId id="328" r:id="rId79"/>
    <p:sldId id="284" r:id="rId30"/>
    <p:sldId id="285" r:id="rId31"/>
    <p:sldId id="286" r:id="rId32"/>
    <p:sldId id="289" r:id="rId35"/>
    <p:sldId id="287" r:id="rId33"/>
    <p:sldId id="288" r:id="rId34"/>
    <p:sldId id="292" r:id="rId38"/>
    <p:sldId id="294" r:id="rId40"/>
    <p:sldId id="295" r:id="rId41"/>
    <p:sldId id="296" r:id="rId42"/>
    <p:sldId id="297" r:id="rId43"/>
    <p:sldId id="298" r:id="rId44"/>
    <p:sldId id="300" r:id="rId46"/>
    <p:sldId id="299" r:id="rId45"/>
    <p:sldId id="301" r:id="rId47"/>
    <p:sldId id="310" r:id="rId56"/>
    <p:sldId id="309" r:id="rId55"/>
    <p:sldId id="330" r:id="rId81"/>
    <p:sldId id="308" r:id="rId54"/>
    <p:sldId id="306" r:id="rId52"/>
    <p:sldId id="311" r:id="rId57"/>
    <p:sldId id="313" r:id="rId59"/>
    <p:sldId id="314" r:id="rId60"/>
    <p:sldId id="315" r:id="rId61"/>
    <p:sldId id="316" r:id="rId62"/>
    <p:sldId id="317" r:id="rId63"/>
    <p:sldId id="276" r:id="rId22"/>
    <p:sldId id="318" r:id="rId64"/>
    <p:sldId id="319" r:id="rId65"/>
    <p:sldId id="320" r:id="rId66"/>
    <p:sldId id="324" r:id="rId70"/>
    <p:sldId id="327" r:id="rId78"/>
    <p:sldId id="305" r:id="rId51"/>
    <p:sldId id="322" r:id="rId68"/>
    <p:sldId id="307" r:id="rId53"/>
    <p:sldId id="321" r:id="rId67"/>
    <p:sldId id="293" r:id="rId39"/>
    <p:sldId id="323" r:id="rId69"/>
    <p:sldId id="312" r:id="rId58"/>
    <p:sldId id="270" r:id="rId16"/>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5"/>
            <p14:sldId id="266"/>
            <p14:sldId id="260"/>
            <p14:sldId id="261"/>
            <p14:sldId id="262"/>
            <p14:sldId id="263"/>
            <p14:sldId id="267"/>
            <p14:sldId id="268"/>
            <p14:sldId id="269"/>
            <p14:sldId id="264"/>
            <p14:sldId id="272"/>
            <p14:sldId id="271"/>
            <p14:sldId id="273"/>
            <p14:sldId id="274"/>
            <p14:sldId id="275"/>
          </p14:sldIdLst>
        </p14:section>
        <p14:section name="Part 2 · Learning" id="{2386b4d6-e5dc-6678-f43a-757e59c289bc}">
          <p14:sldIdLst>
            <p14:sldId id="277"/>
            <p14:sldId id="278"/>
            <p14:sldId id="279"/>
            <p14:sldId id="280"/>
            <p14:sldId id="281"/>
            <p14:sldId id="282"/>
            <p14:sldId id="290"/>
            <p14:sldId id="302"/>
            <p14:sldId id="304"/>
            <p14:sldId id="303"/>
            <p14:sldId id="329"/>
            <p14:sldId id="291"/>
            <p14:sldId id="283"/>
            <p14:sldId id="328"/>
            <p14:sldId id="284"/>
            <p14:sldId id="285"/>
            <p14:sldId id="286"/>
            <p14:sldId id="289"/>
            <p14:sldId id="287"/>
            <p14:sldId id="288"/>
            <p14:sldId id="292"/>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300"/>
            <p14:sldId id="299"/>
            <p14:sldId id="301"/>
            <p14:sldId id="310"/>
            <p14:sldId id="309"/>
            <p14:sldId id="330"/>
            <p14:sldId id="308"/>
            <p14:sldId id="306"/>
            <p14:sldId id="311"/>
          </p14:sldIdLst>
        </p14:section>
        <p14:section name="Wrap-up" id="{cf350e3e-c114-be34-a98f-fdf6330e26f7}">
          <p14:sldIdLst>
            <p14:sldId id="313"/>
          </p14:sldIdLst>
        </p14:section>
        <p14:section name="Appendix" id="{4b396058-6324-5b93-1d70-5ad9a0249172}">
          <p14:sldIdLst>
            <p14:sldId id="314"/>
            <p14:sldId id="315"/>
            <p14:sldId id="316"/>
            <p14:sldId id="317"/>
            <p14:sldId id="276"/>
            <p14:sldId id="318"/>
            <p14:sldId id="319"/>
            <p14:sldId id="320"/>
            <p14:sldId id="324"/>
            <p14:sldId id="327"/>
            <p14:sldId id="305"/>
            <p14:sldId id="322"/>
            <p14:sldId id="307"/>
            <p14:sldId id="321"/>
            <p14:sldId id="293"/>
            <p14:sldId id="323"/>
            <p14:sldId id="312"/>
            <p14:sldId id="270"/>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7.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16.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3.xml"/><Relationship Id="rId36" Type="http://schemas.openxmlformats.org/officeDocument/2006/relationships/slide" Target="slides/slide2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68.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8.xml"/><Relationship Id="rId50" Type="http://schemas.openxmlformats.org/officeDocument/2006/relationships/slide" Target="slides/slide47.xml"/><Relationship Id="rId51" Type="http://schemas.openxmlformats.org/officeDocument/2006/relationships/slide" Target="slides/slide64.xml"/><Relationship Id="rId52" Type="http://schemas.openxmlformats.org/officeDocument/2006/relationships/slide" Target="slides/slide52.xml"/><Relationship Id="rId53" Type="http://schemas.openxmlformats.org/officeDocument/2006/relationships/slide" Target="slides/slide66.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49.xml"/><Relationship Id="rId57" Type="http://schemas.openxmlformats.org/officeDocument/2006/relationships/slide" Target="slides/slide53.xml"/><Relationship Id="rId58" Type="http://schemas.openxmlformats.org/officeDocument/2006/relationships/slide" Target="slides/slide70.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7.xml"/><Relationship Id="rId68" Type="http://schemas.openxmlformats.org/officeDocument/2006/relationships/slide" Target="slides/slide65.xml"/><Relationship Id="rId69" Type="http://schemas.openxmlformats.org/officeDocument/2006/relationships/slide" Target="slides/slide69.xml"/><Relationship Id="rId70" Type="http://schemas.openxmlformats.org/officeDocument/2006/relationships/slide" Target="slides/slide62.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3.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Sheet1!$E$2:$E$50</c:f>
              <c:numCache>
                <c:formatCode>General</c:formatCode>
                <c:ptCount val="49"/>
                <c:pt idx="0">
                  <c:v>-6</c:v>
                </c:pt>
                <c:pt idx="1">
                  <c:v>-5.5</c:v>
                </c:pt>
                <c:pt idx="2">
                  <c:v>-5.25</c:v>
                </c:pt>
                <c:pt idx="3">
                  <c:v>-5</c:v>
                </c:pt>
                <c:pt idx="4">
                  <c:v>-4.75</c:v>
                </c:pt>
                <c:pt idx="5">
                  <c:v>-4.5</c:v>
                </c:pt>
                <c:pt idx="6">
                  <c:v>-4.25</c:v>
                </c:pt>
                <c:pt idx="7">
                  <c:v>-4</c:v>
                </c:pt>
                <c:pt idx="8">
                  <c:v>-3.75</c:v>
                </c:pt>
                <c:pt idx="9">
                  <c:v>-3.5</c:v>
                </c:pt>
                <c:pt idx="10">
                  <c:v>-3.25</c:v>
                </c:pt>
                <c:pt idx="11">
                  <c:v>-3</c:v>
                </c:pt>
                <c:pt idx="12">
                  <c:v>-2.75</c:v>
                </c:pt>
                <c:pt idx="13">
                  <c:v>-2.5</c:v>
                </c:pt>
                <c:pt idx="14">
                  <c:v>-2.25</c:v>
                </c:pt>
                <c:pt idx="15">
                  <c:v>-2</c:v>
                </c:pt>
                <c:pt idx="16">
                  <c:v>-1.75</c:v>
                </c:pt>
                <c:pt idx="17">
                  <c:v>-1.5</c:v>
                </c:pt>
                <c:pt idx="18">
                  <c:v>-1.25</c:v>
                </c:pt>
                <c:pt idx="19">
                  <c:v>-1</c:v>
                </c:pt>
                <c:pt idx="20">
                  <c:v>-0.75</c:v>
                </c:pt>
                <c:pt idx="21">
                  <c:v>-0.5</c:v>
                </c:pt>
                <c:pt idx="22">
                  <c:v>-0.25</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Sheet1!$F$2:$F$50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then cross-entropy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ser>
          <c:idx val="2"/>
          <c:order val="2"/>
          <c:tx>
            <c:strRef>
              <c:f>Sheet1!$D$1</c:f>
              <c:strCache>
                <c:ptCount val="1"/>
                <c:pt idx="0">
                  <c:v>floor with the bug: 1.46</c:v>
                </c:pt>
              </c:strCache>
            </c:strRef>
          </c:tx>
          <c:spPr>
            <a:solidFill>
              <a:srgbClr val="8A94A3"/>
            </a:solidFill>
            <a:ln w="19050" cap="flat">
              <a:solidFill>
                <a:srgbClr val="8A94A3"/>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1.46</c:v>
                </c:pt>
                <c:pt idx="1">
                  <c:v>1.46</c:v>
                </c:pt>
                <c:pt idx="2">
                  <c:v>1.46</c:v>
                </c:pt>
                <c:pt idx="3">
                  <c:v>1.46</c:v>
                </c:pt>
                <c:pt idx="4">
                  <c:v>1.46</c:v>
                </c:pt>
                <c:pt idx="5">
                  <c:v>1.46</c:v>
                </c:pt>
                <c:pt idx="6">
                  <c:v>1.46</c:v>
                </c:pt>
                <c:pt idx="7">
                  <c:v>1.46</c:v>
                </c:pt>
                <c:pt idx="8">
                  <c:v>1.46</c:v>
                </c:pt>
                <c:pt idx="9">
                  <c:v>1.46</c:v>
                </c:pt>
                <c:pt idx="10">
                  <c:v>1.46</c:v>
                </c:pt>
                <c:pt idx="11">
                  <c:v>1.46</c:v>
                </c:pt>
                <c:pt idx="12">
                  <c:v>1.46</c:v>
                </c:pt>
                <c:pt idx="13">
                  <c:v>1.46</c:v>
                </c:pt>
                <c:pt idx="14">
                  <c:v>1.46</c:v>
                </c:pt>
                <c:pt idx="15">
                  <c:v>1.46</c:v>
                </c:pt>
                <c:pt idx="16">
                  <c:v>1.46</c:v>
                </c:pt>
                <c:pt idx="17">
                  <c:v>1.46</c:v>
                </c:pt>
                <c:pt idx="18">
                  <c:v>1.46</c:v>
                </c:pt>
                <c:pt idx="19">
                  <c:v>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He vs Xavier (log scale)</a:t>
            </a:r>
          </a:p>
        </c:rich>
      </c:tx>
      <c:layout/>
      <c:overlay val="0"/>
    </c:title>
    <c:autoTitleDeleted val="0"/>
    <c:plotArea>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0.8217224567293241</c:v>
                </c:pt>
                <c:pt idx="1">
                  <c:v>0.8745301731437508</c:v>
                </c:pt>
                <c:pt idx="2">
                  <c:v>0.8376835379054053</c:v>
                </c:pt>
                <c:pt idx="3">
                  <c:v>0.8527607507160034</c:v>
                </c:pt>
                <c:pt idx="4">
                  <c:v>0.8134322615693115</c:v>
                </c:pt>
                <c:pt idx="5">
                  <c:v>0.8347153114516415</c:v>
                </c:pt>
                <c:pt idx="6">
                  <c:v>0.8403668564158442</c:v>
                </c:pt>
                <c:pt idx="7">
                  <c:v>0.8485927317263644</c:v>
                </c:pt>
                <c:pt idx="8">
                  <c:v>0.8105480990199855</c:v>
                </c:pt>
                <c:pt idx="9">
                  <c:v>0.8287578022076925</c:v>
                </c:pt>
                <c:pt idx="10">
                  <c:v>0.8952183774042194</c:v>
                </c:pt>
                <c:pt idx="11">
                  <c:v>0.9771052877558757</c:v>
                </c:pt>
                <c:pt idx="12">
                  <c:v>0.8960802628602372</c:v>
                </c:pt>
                <c:pt idx="13">
                  <c:v>1.0398907888096776</c:v>
                </c:pt>
                <c:pt idx="14">
                  <c:v>1.0526591747929608</c:v>
                </c:pt>
                <c:pt idx="15">
                  <c:v>1.0605046114535148</c:v>
                </c:pt>
                <c:pt idx="16">
                  <c:v>1.1361862086514505</c:v>
                </c:pt>
                <c:pt idx="17">
                  <c:v>1.0186757054184854</c:v>
                </c:pt>
                <c:pt idx="18">
                  <c:v>1.091111833145082</c:v>
                </c:pt>
                <c:pt idx="19">
                  <c:v>1.137196577702215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0.5810455214065744</c:v>
                </c:pt>
                <c:pt idx="1">
                  <c:v>0.43726508657187535</c:v>
                </c:pt>
                <c:pt idx="2">
                  <c:v>0.2961658550706251</c:v>
                </c:pt>
                <c:pt idx="3">
                  <c:v>0.21319018767900083</c:v>
                </c:pt>
                <c:pt idx="4">
                  <c:v>0.14379586704789238</c:v>
                </c:pt>
                <c:pt idx="5">
                  <c:v>0.10433941393145513</c:v>
                </c:pt>
                <c:pt idx="6">
                  <c:v>0.07427863785700811</c:v>
                </c:pt>
                <c:pt idx="7">
                  <c:v>0.05303704573289775</c:v>
                </c:pt>
                <c:pt idx="8">
                  <c:v>0.03582150358093104</c:v>
                </c:pt>
                <c:pt idx="9">
                  <c:v>0.025898681318990372</c:v>
                </c:pt>
                <c:pt idx="10">
                  <c:v>0.019781718290791905</c:v>
                </c:pt>
                <c:pt idx="11">
                  <c:v>0.015267270121185545</c:v>
                </c:pt>
                <c:pt idx="12">
                  <c:v>0.009900381724310894</c:v>
                </c:pt>
                <c:pt idx="13">
                  <c:v>0.008124146787575599</c:v>
                </c:pt>
                <c:pt idx="14">
                  <c:v>0.0058151753185495085</c:v>
                </c:pt>
                <c:pt idx="15">
                  <c:v>0.004142596138490289</c:v>
                </c:pt>
                <c:pt idx="16">
                  <c:v>0.003138300675109661</c:v>
                </c:pt>
                <c:pt idx="17">
                  <c:v>0.0019896009871454767</c:v>
                </c:pt>
                <c:pt idx="18">
                  <c:v>0.0015068995629878346</c:v>
                </c:pt>
                <c:pt idx="19">
                  <c:v>0.0011105435329123179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0"/>
          <c:min val="0.0001"/>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C8571B"/>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Sheet1!$B$2:$B$151</c:f>
              <c:numCache>
                <c:formatCode>General</c:formatCode>
                <c:ptCount val="150"/>
                <c:pt idx="0">
                  <c:v>0.9287</c:v>
                </c:pt>
                <c:pt idx="1">
                  <c:v>0.7516</c:v>
                </c:pt>
                <c:pt idx="2">
                  <c:v>0.6693</c:v>
                </c:pt>
                <c:pt idx="3">
                  <c:v>0.6345</c:v>
                </c:pt>
                <c:pt idx="4">
                  <c:v>0.6181</c:v>
                </c:pt>
                <c:pt idx="5">
                  <c:v>0.5838</c:v>
                </c:pt>
                <c:pt idx="6">
                  <c:v>0.5835</c:v>
                </c:pt>
                <c:pt idx="7">
                  <c:v>0.5708</c:v>
                </c:pt>
                <c:pt idx="8">
                  <c:v>0.5671</c:v>
                </c:pt>
                <c:pt idx="9">
                  <c:v>0.6198</c:v>
                </c:pt>
                <c:pt idx="10">
                  <c:v>0.6272</c:v>
                </c:pt>
                <c:pt idx="11">
                  <c:v>0.5541</c:v>
                </c:pt>
                <c:pt idx="12">
                  <c:v>0.6392</c:v>
                </c:pt>
                <c:pt idx="13">
                  <c:v>0.5965</c:v>
                </c:pt>
                <c:pt idx="14">
                  <c:v>0.5816</c:v>
                </c:pt>
                <c:pt idx="15">
                  <c:v>0.6120</c:v>
                </c:pt>
                <c:pt idx="16">
                  <c:v>0.5880</c:v>
                </c:pt>
                <c:pt idx="17">
                  <c:v>0.5870</c:v>
                </c:pt>
                <c:pt idx="18">
                  <c:v>0.6157</c:v>
                </c:pt>
                <c:pt idx="19">
                  <c:v>0.6314</c:v>
                </c:pt>
                <c:pt idx="20">
                  <c:v>0.6681</c:v>
                </c:pt>
                <c:pt idx="21">
                  <c:v>0.6196</c:v>
                </c:pt>
                <c:pt idx="22">
                  <c:v>0.6409</c:v>
                </c:pt>
                <c:pt idx="23">
                  <c:v>0.6289</c:v>
                </c:pt>
                <c:pt idx="24">
                  <c:v>0.6186</c:v>
                </c:pt>
                <c:pt idx="25">
                  <c:v>0.6487</c:v>
                </c:pt>
                <c:pt idx="26">
                  <c:v>0.6297</c:v>
                </c:pt>
                <c:pt idx="27">
                  <c:v>0.6360</c:v>
                </c:pt>
                <c:pt idx="28">
                  <c:v>0.6469</c:v>
                </c:pt>
                <c:pt idx="29">
                  <c:v>0.6443</c:v>
                </c:pt>
                <c:pt idx="30">
                  <c:v>0.6665</c:v>
                </c:pt>
                <c:pt idx="31">
                  <c:v>0.6617</c:v>
                </c:pt>
                <c:pt idx="32">
                  <c:v>0.6643</c:v>
                </c:pt>
                <c:pt idx="33">
                  <c:v>0.6630</c:v>
                </c:pt>
                <c:pt idx="34">
                  <c:v>0.6722</c:v>
                </c:pt>
                <c:pt idx="35">
                  <c:v>0.6782</c:v>
                </c:pt>
                <c:pt idx="36">
                  <c:v>0.6866</c:v>
                </c:pt>
                <c:pt idx="37">
                  <c:v>0.6948</c:v>
                </c:pt>
                <c:pt idx="38">
                  <c:v>0.6895</c:v>
                </c:pt>
                <c:pt idx="39">
                  <c:v>0.7249</c:v>
                </c:pt>
                <c:pt idx="40">
                  <c:v>0.6919</c:v>
                </c:pt>
                <c:pt idx="41">
                  <c:v>0.7148</c:v>
                </c:pt>
                <c:pt idx="42">
                  <c:v>0.7126</c:v>
                </c:pt>
                <c:pt idx="43">
                  <c:v>0.7200</c:v>
                </c:pt>
                <c:pt idx="44">
                  <c:v>0.7182</c:v>
                </c:pt>
                <c:pt idx="45">
                  <c:v>0.7239</c:v>
                </c:pt>
                <c:pt idx="46">
                  <c:v>0.7308</c:v>
                </c:pt>
                <c:pt idx="47">
                  <c:v>0.7471</c:v>
                </c:pt>
                <c:pt idx="48">
                  <c:v>0.7364</c:v>
                </c:pt>
                <c:pt idx="49">
                  <c:v>0.7425</c:v>
                </c:pt>
                <c:pt idx="50">
                  <c:v>0.7489</c:v>
                </c:pt>
                <c:pt idx="51">
                  <c:v>0.7496</c:v>
                </c:pt>
                <c:pt idx="52">
                  <c:v>0.7582</c:v>
                </c:pt>
                <c:pt idx="53">
                  <c:v>0.7603</c:v>
                </c:pt>
                <c:pt idx="54">
                  <c:v>0.7638</c:v>
                </c:pt>
                <c:pt idx="55">
                  <c:v>0.7678</c:v>
                </c:pt>
                <c:pt idx="56">
                  <c:v>0.7685</c:v>
                </c:pt>
                <c:pt idx="57">
                  <c:v>0.7719</c:v>
                </c:pt>
                <c:pt idx="58">
                  <c:v>0.7774</c:v>
                </c:pt>
                <c:pt idx="59">
                  <c:v>0.7768</c:v>
                </c:pt>
                <c:pt idx="60">
                  <c:v>0.7815</c:v>
                </c:pt>
                <c:pt idx="61">
                  <c:v>0.7888</c:v>
                </c:pt>
                <c:pt idx="62">
                  <c:v>0.7891</c:v>
                </c:pt>
                <c:pt idx="63">
                  <c:v>0.7943</c:v>
                </c:pt>
                <c:pt idx="64">
                  <c:v>0.7972</c:v>
                </c:pt>
                <c:pt idx="65">
                  <c:v>0.7981</c:v>
                </c:pt>
                <c:pt idx="66">
                  <c:v>0.8060</c:v>
                </c:pt>
                <c:pt idx="67">
                  <c:v>0.8043</c:v>
                </c:pt>
                <c:pt idx="68">
                  <c:v>0.8137</c:v>
                </c:pt>
                <c:pt idx="69">
                  <c:v>0.8101</c:v>
                </c:pt>
                <c:pt idx="70">
                  <c:v>0.8161</c:v>
                </c:pt>
                <c:pt idx="71">
                  <c:v>0.8149</c:v>
                </c:pt>
                <c:pt idx="72">
                  <c:v>0.8185</c:v>
                </c:pt>
                <c:pt idx="73">
                  <c:v>0.8234</c:v>
                </c:pt>
                <c:pt idx="74">
                  <c:v>0.8254</c:v>
                </c:pt>
                <c:pt idx="75">
                  <c:v>0.8275</c:v>
                </c:pt>
                <c:pt idx="76">
                  <c:v>0.8300</c:v>
                </c:pt>
                <c:pt idx="77">
                  <c:v>0.8323</c:v>
                </c:pt>
                <c:pt idx="78">
                  <c:v>0.8344</c:v>
                </c:pt>
                <c:pt idx="79">
                  <c:v>0.8381</c:v>
                </c:pt>
                <c:pt idx="80">
                  <c:v>0.8420</c:v>
                </c:pt>
                <c:pt idx="81">
                  <c:v>0.8443</c:v>
                </c:pt>
                <c:pt idx="82">
                  <c:v>0.8456</c:v>
                </c:pt>
                <c:pt idx="83">
                  <c:v>0.8477</c:v>
                </c:pt>
                <c:pt idx="84">
                  <c:v>0.8509</c:v>
                </c:pt>
                <c:pt idx="85">
                  <c:v>0.8534</c:v>
                </c:pt>
                <c:pt idx="86">
                  <c:v>0.8548</c:v>
                </c:pt>
                <c:pt idx="87">
                  <c:v>0.8579</c:v>
                </c:pt>
                <c:pt idx="88">
                  <c:v>0.8616</c:v>
                </c:pt>
                <c:pt idx="89">
                  <c:v>0.8643</c:v>
                </c:pt>
                <c:pt idx="90">
                  <c:v>0.8632</c:v>
                </c:pt>
                <c:pt idx="91">
                  <c:v>0.8675</c:v>
                </c:pt>
                <c:pt idx="92">
                  <c:v>0.8695</c:v>
                </c:pt>
                <c:pt idx="93">
                  <c:v>0.8717</c:v>
                </c:pt>
                <c:pt idx="94">
                  <c:v>0.8739</c:v>
                </c:pt>
                <c:pt idx="95">
                  <c:v>0.8763</c:v>
                </c:pt>
                <c:pt idx="96">
                  <c:v>0.8769</c:v>
                </c:pt>
                <c:pt idx="97">
                  <c:v>0.8813</c:v>
                </c:pt>
                <c:pt idx="98">
                  <c:v>0.8836</c:v>
                </c:pt>
                <c:pt idx="99">
                  <c:v>0.8836</c:v>
                </c:pt>
                <c:pt idx="100">
                  <c:v>0.8866</c:v>
                </c:pt>
                <c:pt idx="101">
                  <c:v>0.8879</c:v>
                </c:pt>
                <c:pt idx="102">
                  <c:v>0.8915</c:v>
                </c:pt>
                <c:pt idx="103">
                  <c:v>0.8927</c:v>
                </c:pt>
                <c:pt idx="104">
                  <c:v>0.8952</c:v>
                </c:pt>
                <c:pt idx="105">
                  <c:v>0.8962</c:v>
                </c:pt>
                <c:pt idx="106">
                  <c:v>0.8990</c:v>
                </c:pt>
                <c:pt idx="107">
                  <c:v>0.8998</c:v>
                </c:pt>
                <c:pt idx="108">
                  <c:v>0.9031</c:v>
                </c:pt>
                <c:pt idx="109">
                  <c:v>0.9045</c:v>
                </c:pt>
                <c:pt idx="110">
                  <c:v>0.9066</c:v>
                </c:pt>
                <c:pt idx="111">
                  <c:v>0.9093</c:v>
                </c:pt>
                <c:pt idx="112">
                  <c:v>0.9097</c:v>
                </c:pt>
                <c:pt idx="113">
                  <c:v>0.9115</c:v>
                </c:pt>
                <c:pt idx="114">
                  <c:v>0.9147</c:v>
                </c:pt>
                <c:pt idx="115">
                  <c:v>0.9159</c:v>
                </c:pt>
                <c:pt idx="116">
                  <c:v>0.9185</c:v>
                </c:pt>
                <c:pt idx="117">
                  <c:v>0.9196</c:v>
                </c:pt>
                <c:pt idx="118">
                  <c:v>0.9212</c:v>
                </c:pt>
                <c:pt idx="119">
                  <c:v>0.9234</c:v>
                </c:pt>
                <c:pt idx="120">
                  <c:v>0.9244</c:v>
                </c:pt>
                <c:pt idx="121">
                  <c:v>0.9267</c:v>
                </c:pt>
                <c:pt idx="122">
                  <c:v>0.9296</c:v>
                </c:pt>
                <c:pt idx="123">
                  <c:v>0.9296</c:v>
                </c:pt>
                <c:pt idx="124">
                  <c:v>0.9321</c:v>
                </c:pt>
                <c:pt idx="125">
                  <c:v>0.9338</c:v>
                </c:pt>
                <c:pt idx="126">
                  <c:v>0.9356</c:v>
                </c:pt>
                <c:pt idx="127">
                  <c:v>0.9368</c:v>
                </c:pt>
                <c:pt idx="128">
                  <c:v>0.9386</c:v>
                </c:pt>
                <c:pt idx="129">
                  <c:v>0.9405</c:v>
                </c:pt>
                <c:pt idx="130">
                  <c:v>0.9416</c:v>
                </c:pt>
                <c:pt idx="131">
                  <c:v>0.9436</c:v>
                </c:pt>
                <c:pt idx="132">
                  <c:v>0.9452</c:v>
                </c:pt>
                <c:pt idx="133">
                  <c:v>0.9479</c:v>
                </c:pt>
                <c:pt idx="134">
                  <c:v>0.9496</c:v>
                </c:pt>
                <c:pt idx="135">
                  <c:v>0.9513</c:v>
                </c:pt>
                <c:pt idx="136">
                  <c:v>0.9520</c:v>
                </c:pt>
                <c:pt idx="137">
                  <c:v>0.9557</c:v>
                </c:pt>
                <c:pt idx="138">
                  <c:v>0.9561</c:v>
                </c:pt>
                <c:pt idx="139">
                  <c:v>0.9576</c:v>
                </c:pt>
                <c:pt idx="140">
                  <c:v>0.9600</c:v>
                </c:pt>
                <c:pt idx="141">
                  <c:v>0.9594</c:v>
                </c:pt>
                <c:pt idx="142">
                  <c:v>0.9616</c:v>
                </c:pt>
                <c:pt idx="143">
                  <c:v>0.9635</c:v>
                </c:pt>
                <c:pt idx="144">
                  <c:v>0.9649</c:v>
                </c:pt>
                <c:pt idx="145">
                  <c:v>0.9665</c:v>
                </c:pt>
                <c:pt idx="146">
                  <c:v>0.9678</c:v>
                </c:pt>
                <c:pt idx="147">
                  <c:v>0.9697</c:v>
                </c:pt>
                <c:pt idx="148">
                  <c:v>0.9701</c:v>
                </c:pt>
                <c:pt idx="149">
                  <c:v>0.9726</c:v>
                </c:pt>
              </c:numCache>
            </c:numRef>
          </c:val>
          <c:smooth val="0"/>
        </c:ser>
        <c:ser>
          <c:idx val="1"/>
          <c:order val="1"/>
          <c:tx>
            <c:strRef>
              <c:f>Sheet1!$C$1</c:f>
              <c:strCache>
                <c:ptCount val="1"/>
                <c:pt idx="0">
                  <c:v>dropout + weight decay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F7C82"/>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Sheet1!$C$2:$C$151</c:f>
              <c:numCache>
                <c:formatCode>General</c:formatCode>
                <c:ptCount val="150"/>
                <c:pt idx="0">
                  <c:v>1.5787</c:v>
                </c:pt>
                <c:pt idx="1">
                  <c:v>1.4038</c:v>
                </c:pt>
                <c:pt idx="2">
                  <c:v>1.1867</c:v>
                </c:pt>
                <c:pt idx="3">
                  <c:v>1.0624</c:v>
                </c:pt>
                <c:pt idx="4">
                  <c:v>0.9736</c:v>
                </c:pt>
                <c:pt idx="5">
                  <c:v>0.8989</c:v>
                </c:pt>
                <c:pt idx="6">
                  <c:v>0.8740</c:v>
                </c:pt>
                <c:pt idx="7">
                  <c:v>0.8499</c:v>
                </c:pt>
                <c:pt idx="8">
                  <c:v>0.7765</c:v>
                </c:pt>
                <c:pt idx="9">
                  <c:v>0.7553</c:v>
                </c:pt>
                <c:pt idx="10">
                  <c:v>0.7363</c:v>
                </c:pt>
                <c:pt idx="11">
                  <c:v>0.7115</c:v>
                </c:pt>
                <c:pt idx="12">
                  <c:v>0.6944</c:v>
                </c:pt>
                <c:pt idx="13">
                  <c:v>0.6760</c:v>
                </c:pt>
                <c:pt idx="14">
                  <c:v>0.6679</c:v>
                </c:pt>
                <c:pt idx="15">
                  <c:v>0.6419</c:v>
                </c:pt>
                <c:pt idx="16">
                  <c:v>0.6349</c:v>
                </c:pt>
                <c:pt idx="17">
                  <c:v>0.6347</c:v>
                </c:pt>
                <c:pt idx="18">
                  <c:v>0.6147</c:v>
                </c:pt>
                <c:pt idx="19">
                  <c:v>0.6083</c:v>
                </c:pt>
                <c:pt idx="20">
                  <c:v>0.6036</c:v>
                </c:pt>
                <c:pt idx="21">
                  <c:v>0.6040</c:v>
                </c:pt>
                <c:pt idx="22">
                  <c:v>0.6080</c:v>
                </c:pt>
                <c:pt idx="23">
                  <c:v>0.6023</c:v>
                </c:pt>
                <c:pt idx="24">
                  <c:v>0.5895</c:v>
                </c:pt>
                <c:pt idx="25">
                  <c:v>0.5765</c:v>
                </c:pt>
                <c:pt idx="26">
                  <c:v>0.5793</c:v>
                </c:pt>
                <c:pt idx="27">
                  <c:v>0.5813</c:v>
                </c:pt>
                <c:pt idx="28">
                  <c:v>0.5657</c:v>
                </c:pt>
                <c:pt idx="29">
                  <c:v>0.5699</c:v>
                </c:pt>
                <c:pt idx="30">
                  <c:v>0.5832</c:v>
                </c:pt>
                <c:pt idx="31">
                  <c:v>0.5705</c:v>
                </c:pt>
                <c:pt idx="32">
                  <c:v>0.5656</c:v>
                </c:pt>
                <c:pt idx="33">
                  <c:v>0.5649</c:v>
                </c:pt>
                <c:pt idx="34">
                  <c:v>0.5644</c:v>
                </c:pt>
                <c:pt idx="35">
                  <c:v>0.5635</c:v>
                </c:pt>
                <c:pt idx="36">
                  <c:v>0.5572</c:v>
                </c:pt>
                <c:pt idx="37">
                  <c:v>0.5661</c:v>
                </c:pt>
                <c:pt idx="38">
                  <c:v>0.5516</c:v>
                </c:pt>
                <c:pt idx="39">
                  <c:v>0.5443</c:v>
                </c:pt>
                <c:pt idx="40">
                  <c:v>0.5524</c:v>
                </c:pt>
                <c:pt idx="41">
                  <c:v>0.5566</c:v>
                </c:pt>
                <c:pt idx="42">
                  <c:v>0.5533</c:v>
                </c:pt>
                <c:pt idx="43">
                  <c:v>0.5590</c:v>
                </c:pt>
                <c:pt idx="44">
                  <c:v>0.5526</c:v>
                </c:pt>
                <c:pt idx="45">
                  <c:v>0.5408</c:v>
                </c:pt>
                <c:pt idx="46">
                  <c:v>0.5425</c:v>
                </c:pt>
                <c:pt idx="47">
                  <c:v>0.5541</c:v>
                </c:pt>
                <c:pt idx="48">
                  <c:v>0.5458</c:v>
                </c:pt>
                <c:pt idx="49">
                  <c:v>0.5581</c:v>
                </c:pt>
                <c:pt idx="50">
                  <c:v>0.5707</c:v>
                </c:pt>
                <c:pt idx="51">
                  <c:v>0.5506</c:v>
                </c:pt>
                <c:pt idx="52">
                  <c:v>0.5533</c:v>
                </c:pt>
                <c:pt idx="53">
                  <c:v>0.5639</c:v>
                </c:pt>
                <c:pt idx="54">
                  <c:v>0.5546</c:v>
                </c:pt>
                <c:pt idx="55">
                  <c:v>0.5751</c:v>
                </c:pt>
                <c:pt idx="56">
                  <c:v>0.5582</c:v>
                </c:pt>
                <c:pt idx="57">
                  <c:v>0.5645</c:v>
                </c:pt>
                <c:pt idx="58">
                  <c:v>0.5563</c:v>
                </c:pt>
                <c:pt idx="59">
                  <c:v>0.5496</c:v>
                </c:pt>
                <c:pt idx="60">
                  <c:v>0.5588</c:v>
                </c:pt>
                <c:pt idx="61">
                  <c:v>0.5662</c:v>
                </c:pt>
                <c:pt idx="62">
                  <c:v>0.5600</c:v>
                </c:pt>
                <c:pt idx="63">
                  <c:v>0.5763</c:v>
                </c:pt>
                <c:pt idx="64">
                  <c:v>0.5650</c:v>
                </c:pt>
                <c:pt idx="65">
                  <c:v>0.5651</c:v>
                </c:pt>
                <c:pt idx="66">
                  <c:v>0.5662</c:v>
                </c:pt>
                <c:pt idx="67">
                  <c:v>0.5596</c:v>
                </c:pt>
                <c:pt idx="68">
                  <c:v>0.5532</c:v>
                </c:pt>
                <c:pt idx="69">
                  <c:v>0.5610</c:v>
                </c:pt>
                <c:pt idx="70">
                  <c:v>0.5632</c:v>
                </c:pt>
                <c:pt idx="71">
                  <c:v>0.5759</c:v>
                </c:pt>
                <c:pt idx="72">
                  <c:v>0.5733</c:v>
                </c:pt>
                <c:pt idx="73">
                  <c:v>0.5715</c:v>
                </c:pt>
                <c:pt idx="74">
                  <c:v>0.5788</c:v>
                </c:pt>
                <c:pt idx="75">
                  <c:v>0.5590</c:v>
                </c:pt>
                <c:pt idx="76">
                  <c:v>0.5615</c:v>
                </c:pt>
                <c:pt idx="77">
                  <c:v>0.5688</c:v>
                </c:pt>
                <c:pt idx="78">
                  <c:v>0.5678</c:v>
                </c:pt>
                <c:pt idx="79">
                  <c:v>0.5713</c:v>
                </c:pt>
                <c:pt idx="80">
                  <c:v>0.6066</c:v>
                </c:pt>
                <c:pt idx="81">
                  <c:v>0.5800</c:v>
                </c:pt>
                <c:pt idx="82">
                  <c:v>0.5672</c:v>
                </c:pt>
                <c:pt idx="83">
                  <c:v>0.5912</c:v>
                </c:pt>
                <c:pt idx="84">
                  <c:v>0.5720</c:v>
                </c:pt>
                <c:pt idx="85">
                  <c:v>0.5825</c:v>
                </c:pt>
                <c:pt idx="86">
                  <c:v>0.5924</c:v>
                </c:pt>
                <c:pt idx="87">
                  <c:v>0.5816</c:v>
                </c:pt>
                <c:pt idx="88">
                  <c:v>0.5963</c:v>
                </c:pt>
                <c:pt idx="89">
                  <c:v>0.5896</c:v>
                </c:pt>
                <c:pt idx="90">
                  <c:v>0.5949</c:v>
                </c:pt>
                <c:pt idx="91">
                  <c:v>0.5881</c:v>
                </c:pt>
                <c:pt idx="92">
                  <c:v>0.5844</c:v>
                </c:pt>
                <c:pt idx="93">
                  <c:v>0.5737</c:v>
                </c:pt>
                <c:pt idx="94">
                  <c:v>0.6113</c:v>
                </c:pt>
                <c:pt idx="95">
                  <c:v>0.5894</c:v>
                </c:pt>
                <c:pt idx="96">
                  <c:v>0.6204</c:v>
                </c:pt>
                <c:pt idx="97">
                  <c:v>0.6199</c:v>
                </c:pt>
                <c:pt idx="98">
                  <c:v>0.6068</c:v>
                </c:pt>
                <c:pt idx="99">
                  <c:v>0.6171</c:v>
                </c:pt>
                <c:pt idx="100">
                  <c:v>0.6050</c:v>
                </c:pt>
                <c:pt idx="101">
                  <c:v>0.5862</c:v>
                </c:pt>
                <c:pt idx="102">
                  <c:v>0.5996</c:v>
                </c:pt>
                <c:pt idx="103">
                  <c:v>0.6146</c:v>
                </c:pt>
                <c:pt idx="104">
                  <c:v>0.5918</c:v>
                </c:pt>
                <c:pt idx="105">
                  <c:v>0.6081</c:v>
                </c:pt>
                <c:pt idx="106">
                  <c:v>0.6213</c:v>
                </c:pt>
                <c:pt idx="107">
                  <c:v>0.6104</c:v>
                </c:pt>
                <c:pt idx="108">
                  <c:v>0.6125</c:v>
                </c:pt>
                <c:pt idx="109">
                  <c:v>0.6098</c:v>
                </c:pt>
                <c:pt idx="110">
                  <c:v>0.6183</c:v>
                </c:pt>
                <c:pt idx="111">
                  <c:v>0.6406</c:v>
                </c:pt>
                <c:pt idx="112">
                  <c:v>0.6047</c:v>
                </c:pt>
                <c:pt idx="113">
                  <c:v>0.6152</c:v>
                </c:pt>
                <c:pt idx="114">
                  <c:v>0.6251</c:v>
                </c:pt>
                <c:pt idx="115">
                  <c:v>0.6357</c:v>
                </c:pt>
                <c:pt idx="116">
                  <c:v>0.6176</c:v>
                </c:pt>
                <c:pt idx="117">
                  <c:v>0.6447</c:v>
                </c:pt>
                <c:pt idx="118">
                  <c:v>0.6145</c:v>
                </c:pt>
                <c:pt idx="119">
                  <c:v>0.6299</c:v>
                </c:pt>
                <c:pt idx="120">
                  <c:v>0.6361</c:v>
                </c:pt>
                <c:pt idx="121">
                  <c:v>0.6516</c:v>
                </c:pt>
                <c:pt idx="122">
                  <c:v>0.6330</c:v>
                </c:pt>
                <c:pt idx="123">
                  <c:v>0.6445</c:v>
                </c:pt>
                <c:pt idx="124">
                  <c:v>0.6531</c:v>
                </c:pt>
                <c:pt idx="125">
                  <c:v>0.6313</c:v>
                </c:pt>
                <c:pt idx="126">
                  <c:v>0.6558</c:v>
                </c:pt>
                <c:pt idx="127">
                  <c:v>0.6409</c:v>
                </c:pt>
                <c:pt idx="128">
                  <c:v>0.6596</c:v>
                </c:pt>
                <c:pt idx="129">
                  <c:v>0.6462</c:v>
                </c:pt>
                <c:pt idx="130">
                  <c:v>0.6324</c:v>
                </c:pt>
                <c:pt idx="131">
                  <c:v>0.6679</c:v>
                </c:pt>
                <c:pt idx="132">
                  <c:v>0.6510</c:v>
                </c:pt>
                <c:pt idx="133">
                  <c:v>0.6271</c:v>
                </c:pt>
                <c:pt idx="134">
                  <c:v>0.6404</c:v>
                </c:pt>
                <c:pt idx="135">
                  <c:v>0.6529</c:v>
                </c:pt>
                <c:pt idx="136">
                  <c:v>0.6901</c:v>
                </c:pt>
                <c:pt idx="137">
                  <c:v>0.6296</c:v>
                </c:pt>
                <c:pt idx="138">
                  <c:v>0.6593</c:v>
                </c:pt>
                <c:pt idx="139">
                  <c:v>0.6549</c:v>
                </c:pt>
                <c:pt idx="140">
                  <c:v>0.6552</c:v>
                </c:pt>
                <c:pt idx="141">
                  <c:v>0.6567</c:v>
                </c:pt>
                <c:pt idx="142">
                  <c:v>0.6397</c:v>
                </c:pt>
                <c:pt idx="143">
                  <c:v>0.6569</c:v>
                </c:pt>
                <c:pt idx="144">
                  <c:v>0.6413</c:v>
                </c:pt>
                <c:pt idx="145">
                  <c:v>0.6440</c:v>
                </c:pt>
                <c:pt idx="146">
                  <c:v>0.6410</c:v>
                </c:pt>
                <c:pt idx="147">
                  <c:v>0.6431</c:v>
                </c:pt>
                <c:pt idx="148">
                  <c:v>0.6449</c:v>
                </c:pt>
                <c:pt idx="149">
                  <c:v>0.6679</c:v>
                </c:pt>
              </c:numCache>
            </c:numRef>
          </c:val>
          <c:smooth val="0"/>
        </c:ser>
        <c:ser>
          <c:idx val="2"/>
          <c:order val="2"/>
          <c:tx>
            <c:strRef>
              <c:f>Sheet1!$D$1</c:f>
              <c:strCache>
                <c:ptCount val="1"/>
                <c:pt idx="0">
                  <c:v>crop + flip augmentation</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4C5BD4"/>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Sheet1!$D$2:$D$151</c:f>
              <c:numCache>
                <c:formatCode>General</c:formatCode>
                <c:ptCount val="150"/>
                <c:pt idx="0">
                  <c:v>1.1043</c:v>
                </c:pt>
                <c:pt idx="1">
                  <c:v>0.8977</c:v>
                </c:pt>
                <c:pt idx="2">
                  <c:v>0.7923</c:v>
                </c:pt>
                <c:pt idx="3">
                  <c:v>0.7375</c:v>
                </c:pt>
                <c:pt idx="4">
                  <c:v>0.7344</c:v>
                </c:pt>
                <c:pt idx="5">
                  <c:v>0.6765</c:v>
                </c:pt>
                <c:pt idx="6">
                  <c:v>0.7035</c:v>
                </c:pt>
                <c:pt idx="7">
                  <c:v>0.6549</c:v>
                </c:pt>
                <c:pt idx="8">
                  <c:v>0.6229</c:v>
                </c:pt>
                <c:pt idx="9">
                  <c:v>0.6461</c:v>
                </c:pt>
                <c:pt idx="10">
                  <c:v>0.6163</c:v>
                </c:pt>
                <c:pt idx="11">
                  <c:v>0.6369</c:v>
                </c:pt>
                <c:pt idx="12">
                  <c:v>0.6219</c:v>
                </c:pt>
                <c:pt idx="13">
                  <c:v>0.6234</c:v>
                </c:pt>
                <c:pt idx="14">
                  <c:v>0.6368</c:v>
                </c:pt>
                <c:pt idx="15">
                  <c:v>0.6382</c:v>
                </c:pt>
                <c:pt idx="16">
                  <c:v>0.6166</c:v>
                </c:pt>
                <c:pt idx="17">
                  <c:v>0.6076</c:v>
                </c:pt>
                <c:pt idx="18">
                  <c:v>0.6390</c:v>
                </c:pt>
                <c:pt idx="19">
                  <c:v>0.6009</c:v>
                </c:pt>
                <c:pt idx="20">
                  <c:v>0.5886</c:v>
                </c:pt>
                <c:pt idx="21">
                  <c:v>0.5769</c:v>
                </c:pt>
                <c:pt idx="22">
                  <c:v>0.5831</c:v>
                </c:pt>
                <c:pt idx="23">
                  <c:v>0.5844</c:v>
                </c:pt>
                <c:pt idx="24">
                  <c:v>0.5791</c:v>
                </c:pt>
                <c:pt idx="25">
                  <c:v>0.6213</c:v>
                </c:pt>
                <c:pt idx="26">
                  <c:v>0.5961</c:v>
                </c:pt>
                <c:pt idx="27">
                  <c:v>0.5879</c:v>
                </c:pt>
                <c:pt idx="28">
                  <c:v>0.5873</c:v>
                </c:pt>
                <c:pt idx="29">
                  <c:v>0.5896</c:v>
                </c:pt>
                <c:pt idx="30">
                  <c:v>0.5771</c:v>
                </c:pt>
                <c:pt idx="31">
                  <c:v>0.5800</c:v>
                </c:pt>
                <c:pt idx="32">
                  <c:v>0.5773</c:v>
                </c:pt>
                <c:pt idx="33">
                  <c:v>0.6088</c:v>
                </c:pt>
                <c:pt idx="34">
                  <c:v>0.5944</c:v>
                </c:pt>
                <c:pt idx="35">
                  <c:v>0.5772</c:v>
                </c:pt>
                <c:pt idx="36">
                  <c:v>0.5733</c:v>
                </c:pt>
                <c:pt idx="37">
                  <c:v>0.6230</c:v>
                </c:pt>
                <c:pt idx="38">
                  <c:v>0.5940</c:v>
                </c:pt>
                <c:pt idx="39">
                  <c:v>0.6156</c:v>
                </c:pt>
                <c:pt idx="40">
                  <c:v>0.5809</c:v>
                </c:pt>
                <c:pt idx="41">
                  <c:v>0.6458</c:v>
                </c:pt>
                <c:pt idx="42">
                  <c:v>0.6021</c:v>
                </c:pt>
                <c:pt idx="43">
                  <c:v>0.5692</c:v>
                </c:pt>
                <c:pt idx="44">
                  <c:v>0.5689</c:v>
                </c:pt>
                <c:pt idx="45">
                  <c:v>0.5927</c:v>
                </c:pt>
                <c:pt idx="46">
                  <c:v>0.6211</c:v>
                </c:pt>
                <c:pt idx="47">
                  <c:v>0.5717</c:v>
                </c:pt>
                <c:pt idx="48">
                  <c:v>0.5838</c:v>
                </c:pt>
                <c:pt idx="49">
                  <c:v>0.5929</c:v>
                </c:pt>
                <c:pt idx="50">
                  <c:v>0.5859</c:v>
                </c:pt>
                <c:pt idx="51">
                  <c:v>0.5887</c:v>
                </c:pt>
                <c:pt idx="52">
                  <c:v>0.5956</c:v>
                </c:pt>
                <c:pt idx="53">
                  <c:v>0.6000</c:v>
                </c:pt>
                <c:pt idx="54">
                  <c:v>0.5682</c:v>
                </c:pt>
                <c:pt idx="55">
                  <c:v>0.5859</c:v>
                </c:pt>
                <c:pt idx="56">
                  <c:v>0.6000</c:v>
                </c:pt>
                <c:pt idx="57">
                  <c:v>0.5816</c:v>
                </c:pt>
                <c:pt idx="58">
                  <c:v>0.5693</c:v>
                </c:pt>
                <c:pt idx="59">
                  <c:v>0.6119</c:v>
                </c:pt>
                <c:pt idx="60">
                  <c:v>0.6067</c:v>
                </c:pt>
                <c:pt idx="61">
                  <c:v>0.6157</c:v>
                </c:pt>
                <c:pt idx="62">
                  <c:v>0.5811</c:v>
                </c:pt>
                <c:pt idx="63">
                  <c:v>0.6123</c:v>
                </c:pt>
                <c:pt idx="64">
                  <c:v>0.6060</c:v>
                </c:pt>
                <c:pt idx="65">
                  <c:v>0.5864</c:v>
                </c:pt>
                <c:pt idx="66">
                  <c:v>0.6060</c:v>
                </c:pt>
                <c:pt idx="67">
                  <c:v>0.6005</c:v>
                </c:pt>
                <c:pt idx="68">
                  <c:v>0.6083</c:v>
                </c:pt>
                <c:pt idx="69">
                  <c:v>0.5840</c:v>
                </c:pt>
                <c:pt idx="70">
                  <c:v>0.5870</c:v>
                </c:pt>
                <c:pt idx="71">
                  <c:v>0.6053</c:v>
                </c:pt>
                <c:pt idx="72">
                  <c:v>0.5931</c:v>
                </c:pt>
                <c:pt idx="73">
                  <c:v>0.5974</c:v>
                </c:pt>
                <c:pt idx="74">
                  <c:v>0.6209</c:v>
                </c:pt>
                <c:pt idx="75">
                  <c:v>0.6111</c:v>
                </c:pt>
                <c:pt idx="76">
                  <c:v>0.6177</c:v>
                </c:pt>
                <c:pt idx="77">
                  <c:v>0.6514</c:v>
                </c:pt>
                <c:pt idx="78">
                  <c:v>0.6258</c:v>
                </c:pt>
                <c:pt idx="79">
                  <c:v>0.6391</c:v>
                </c:pt>
                <c:pt idx="80">
                  <c:v>0.6406</c:v>
                </c:pt>
                <c:pt idx="81">
                  <c:v>0.6089</c:v>
                </c:pt>
                <c:pt idx="82">
                  <c:v>0.6190</c:v>
                </c:pt>
                <c:pt idx="83">
                  <c:v>0.6296</c:v>
                </c:pt>
                <c:pt idx="84">
                  <c:v>0.6310</c:v>
                </c:pt>
                <c:pt idx="85">
                  <c:v>0.6124</c:v>
                </c:pt>
                <c:pt idx="86">
                  <c:v>0.6164</c:v>
                </c:pt>
                <c:pt idx="87">
                  <c:v>0.6018</c:v>
                </c:pt>
                <c:pt idx="88">
                  <c:v>0.6434</c:v>
                </c:pt>
                <c:pt idx="89">
                  <c:v>0.6435</c:v>
                </c:pt>
                <c:pt idx="90">
                  <c:v>0.6438</c:v>
                </c:pt>
                <c:pt idx="91">
                  <c:v>0.6401</c:v>
                </c:pt>
                <c:pt idx="92">
                  <c:v>0.6188</c:v>
                </c:pt>
                <c:pt idx="93">
                  <c:v>0.6217</c:v>
                </c:pt>
                <c:pt idx="94">
                  <c:v>0.6628</c:v>
                </c:pt>
                <c:pt idx="95">
                  <c:v>0.6447</c:v>
                </c:pt>
                <c:pt idx="96">
                  <c:v>0.6849</c:v>
                </c:pt>
                <c:pt idx="97">
                  <c:v>0.6712</c:v>
                </c:pt>
                <c:pt idx="98">
                  <c:v>0.6473</c:v>
                </c:pt>
                <c:pt idx="99">
                  <c:v>0.6462</c:v>
                </c:pt>
                <c:pt idx="100">
                  <c:v>0.6473</c:v>
                </c:pt>
                <c:pt idx="101">
                  <c:v>0.6477</c:v>
                </c:pt>
                <c:pt idx="102">
                  <c:v>0.6497</c:v>
                </c:pt>
                <c:pt idx="103">
                  <c:v>0.6426</c:v>
                </c:pt>
                <c:pt idx="104">
                  <c:v>0.6435</c:v>
                </c:pt>
                <c:pt idx="105">
                  <c:v>0.6539</c:v>
                </c:pt>
                <c:pt idx="106">
                  <c:v>0.6582</c:v>
                </c:pt>
                <c:pt idx="107">
                  <c:v>0.6680</c:v>
                </c:pt>
                <c:pt idx="108">
                  <c:v>0.6922</c:v>
                </c:pt>
                <c:pt idx="109">
                  <c:v>0.6917</c:v>
                </c:pt>
                <c:pt idx="110">
                  <c:v>0.6852</c:v>
                </c:pt>
                <c:pt idx="111">
                  <c:v>0.6665</c:v>
                </c:pt>
                <c:pt idx="112">
                  <c:v>0.6590</c:v>
                </c:pt>
                <c:pt idx="113">
                  <c:v>0.6427</c:v>
                </c:pt>
                <c:pt idx="114">
                  <c:v>0.6581</c:v>
                </c:pt>
                <c:pt idx="115">
                  <c:v>0.6665</c:v>
                </c:pt>
                <c:pt idx="116">
                  <c:v>0.6692</c:v>
                </c:pt>
                <c:pt idx="117">
                  <c:v>0.6737</c:v>
                </c:pt>
                <c:pt idx="118">
                  <c:v>0.6472</c:v>
                </c:pt>
                <c:pt idx="119">
                  <c:v>0.6735</c:v>
                </c:pt>
                <c:pt idx="120">
                  <c:v>0.6869</c:v>
                </c:pt>
                <c:pt idx="121">
                  <c:v>0.6778</c:v>
                </c:pt>
                <c:pt idx="122">
                  <c:v>0.6756</c:v>
                </c:pt>
                <c:pt idx="123">
                  <c:v>0.6801</c:v>
                </c:pt>
                <c:pt idx="124">
                  <c:v>0.7002</c:v>
                </c:pt>
                <c:pt idx="125">
                  <c:v>0.7169</c:v>
                </c:pt>
                <c:pt idx="126">
                  <c:v>0.7085</c:v>
                </c:pt>
                <c:pt idx="127">
                  <c:v>0.7261</c:v>
                </c:pt>
                <c:pt idx="128">
                  <c:v>0.7175</c:v>
                </c:pt>
                <c:pt idx="129">
                  <c:v>0.6944</c:v>
                </c:pt>
                <c:pt idx="130">
                  <c:v>0.6994</c:v>
                </c:pt>
                <c:pt idx="131">
                  <c:v>0.6947</c:v>
                </c:pt>
                <c:pt idx="132">
                  <c:v>0.7161</c:v>
                </c:pt>
                <c:pt idx="133">
                  <c:v>0.7567</c:v>
                </c:pt>
                <c:pt idx="134">
                  <c:v>0.7182</c:v>
                </c:pt>
                <c:pt idx="135">
                  <c:v>0.7112</c:v>
                </c:pt>
                <c:pt idx="136">
                  <c:v>0.7648</c:v>
                </c:pt>
                <c:pt idx="137">
                  <c:v>0.7561</c:v>
                </c:pt>
                <c:pt idx="138">
                  <c:v>0.7011</c:v>
                </c:pt>
                <c:pt idx="139">
                  <c:v>0.7080</c:v>
                </c:pt>
                <c:pt idx="140">
                  <c:v>0.7338</c:v>
                </c:pt>
                <c:pt idx="141">
                  <c:v>0.7322</c:v>
                </c:pt>
                <c:pt idx="142">
                  <c:v>0.6962</c:v>
                </c:pt>
                <c:pt idx="143">
                  <c:v>0.7098</c:v>
                </c:pt>
                <c:pt idx="144">
                  <c:v>0.7347</c:v>
                </c:pt>
                <c:pt idx="145">
                  <c:v>0.7452</c:v>
                </c:pt>
                <c:pt idx="146">
                  <c:v>0.7088</c:v>
                </c:pt>
                <c:pt idx="147">
                  <c:v>0.7320</c:v>
                </c:pt>
                <c:pt idx="148">
                  <c:v>0.7156</c:v>
                </c:pt>
                <c:pt idx="149">
                  <c:v>0.7127</c:v>
                </c:pt>
              </c:numCache>
            </c:numRef>
          </c:val>
          <c:smooth val="0"/>
        </c:ser>
        <c:ser>
          <c:idx val="3"/>
          <c:order val="3"/>
          <c:tx>
            <c:strRef>
              <c:f>Sheet1!$E$1</c:f>
              <c:strCache>
                <c:ptCount val="1"/>
                <c:pt idx="0">
                  <c:v>all three</c:v>
                </c:pt>
              </c:strCache>
            </c:strRef>
          </c:tx>
          <c:spPr>
            <a:solidFill>
              <a:srgbClr val="8A94A3"/>
            </a:solidFill>
            <a:ln w="31750" cap="flat">
              <a:solidFill>
                <a:srgbClr val="8A94A3"/>
              </a:solidFill>
              <a:prstDash val="solid"/>
              <a:round/>
            </a:ln>
            <a:effectLst/>
          </c:spPr>
          <c:invertIfNegative val="0"/>
          <c:dLbls>
            <c:numFmt formatCode="#,##0" sourceLinked="0"/>
            <c:txPr>
              <a:bodyPr/>
              <a:lstStyle/>
              <a:p>
                <a:pPr>
                  <a:defRPr b="0" i="0" strike="noStrike" sz="1200" u="none">
                    <a:solidFill>
                      <a:srgbClr val="8A94A3"/>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Sheet1!$E$2:$E$151</c:f>
              <c:numCache>
                <c:formatCode>General</c:formatCode>
                <c:ptCount val="150"/>
                <c:pt idx="0">
                  <c:v>1.7268</c:v>
                </c:pt>
                <c:pt idx="1">
                  <c:v>1.5966</c:v>
                </c:pt>
                <c:pt idx="2">
                  <c:v>1.4758</c:v>
                </c:pt>
                <c:pt idx="3">
                  <c:v>1.3271</c:v>
                </c:pt>
                <c:pt idx="4">
                  <c:v>1.2206</c:v>
                </c:pt>
                <c:pt idx="5">
                  <c:v>1.1736</c:v>
                </c:pt>
                <c:pt idx="6">
                  <c:v>1.1128</c:v>
                </c:pt>
                <c:pt idx="7">
                  <c:v>1.0399</c:v>
                </c:pt>
                <c:pt idx="8">
                  <c:v>1.0025</c:v>
                </c:pt>
                <c:pt idx="9">
                  <c:v>0.9469</c:v>
                </c:pt>
                <c:pt idx="10">
                  <c:v>0.9330</c:v>
                </c:pt>
                <c:pt idx="11">
                  <c:v>0.9338</c:v>
                </c:pt>
                <c:pt idx="12">
                  <c:v>0.8847</c:v>
                </c:pt>
                <c:pt idx="13">
                  <c:v>0.8650</c:v>
                </c:pt>
                <c:pt idx="14">
                  <c:v>0.8462</c:v>
                </c:pt>
                <c:pt idx="15">
                  <c:v>0.8237</c:v>
                </c:pt>
                <c:pt idx="16">
                  <c:v>0.8386</c:v>
                </c:pt>
                <c:pt idx="17">
                  <c:v>0.8166</c:v>
                </c:pt>
                <c:pt idx="18">
                  <c:v>0.8141</c:v>
                </c:pt>
                <c:pt idx="19">
                  <c:v>0.7694</c:v>
                </c:pt>
                <c:pt idx="20">
                  <c:v>0.7690</c:v>
                </c:pt>
                <c:pt idx="21">
                  <c:v>0.7488</c:v>
                </c:pt>
                <c:pt idx="22">
                  <c:v>0.7822</c:v>
                </c:pt>
                <c:pt idx="23">
                  <c:v>0.7493</c:v>
                </c:pt>
                <c:pt idx="24">
                  <c:v>0.7390</c:v>
                </c:pt>
                <c:pt idx="25">
                  <c:v>0.7419</c:v>
                </c:pt>
                <c:pt idx="26">
                  <c:v>0.7383</c:v>
                </c:pt>
                <c:pt idx="27">
                  <c:v>0.7231</c:v>
                </c:pt>
                <c:pt idx="28">
                  <c:v>0.7076</c:v>
                </c:pt>
                <c:pt idx="29">
                  <c:v>0.7138</c:v>
                </c:pt>
                <c:pt idx="30">
                  <c:v>0.7083</c:v>
                </c:pt>
                <c:pt idx="31">
                  <c:v>0.6944</c:v>
                </c:pt>
                <c:pt idx="32">
                  <c:v>0.6985</c:v>
                </c:pt>
                <c:pt idx="33">
                  <c:v>0.6983</c:v>
                </c:pt>
                <c:pt idx="34">
                  <c:v>0.6952</c:v>
                </c:pt>
                <c:pt idx="35">
                  <c:v>0.6909</c:v>
                </c:pt>
                <c:pt idx="36">
                  <c:v>0.6982</c:v>
                </c:pt>
                <c:pt idx="37">
                  <c:v>0.6877</c:v>
                </c:pt>
                <c:pt idx="38">
                  <c:v>0.6719</c:v>
                </c:pt>
                <c:pt idx="39">
                  <c:v>0.6755</c:v>
                </c:pt>
                <c:pt idx="40">
                  <c:v>0.6826</c:v>
                </c:pt>
                <c:pt idx="41">
                  <c:v>0.6869</c:v>
                </c:pt>
                <c:pt idx="42">
                  <c:v>0.6668</c:v>
                </c:pt>
                <c:pt idx="43">
                  <c:v>0.6621</c:v>
                </c:pt>
                <c:pt idx="44">
                  <c:v>0.6654</c:v>
                </c:pt>
                <c:pt idx="45">
                  <c:v>0.6714</c:v>
                </c:pt>
                <c:pt idx="46">
                  <c:v>0.6651</c:v>
                </c:pt>
                <c:pt idx="47">
                  <c:v>0.6627</c:v>
                </c:pt>
                <c:pt idx="48">
                  <c:v>0.6556</c:v>
                </c:pt>
                <c:pt idx="49">
                  <c:v>0.6719</c:v>
                </c:pt>
                <c:pt idx="50">
                  <c:v>0.6662</c:v>
                </c:pt>
                <c:pt idx="51">
                  <c:v>0.6520</c:v>
                </c:pt>
                <c:pt idx="52">
                  <c:v>0.6543</c:v>
                </c:pt>
                <c:pt idx="53">
                  <c:v>0.6632</c:v>
                </c:pt>
                <c:pt idx="54">
                  <c:v>0.6663</c:v>
                </c:pt>
                <c:pt idx="55">
                  <c:v>0.6537</c:v>
                </c:pt>
                <c:pt idx="56">
                  <c:v>0.6382</c:v>
                </c:pt>
                <c:pt idx="57">
                  <c:v>0.6482</c:v>
                </c:pt>
                <c:pt idx="58">
                  <c:v>0.6663</c:v>
                </c:pt>
                <c:pt idx="59">
                  <c:v>0.6550</c:v>
                </c:pt>
                <c:pt idx="60">
                  <c:v>0.6486</c:v>
                </c:pt>
                <c:pt idx="61">
                  <c:v>0.6539</c:v>
                </c:pt>
                <c:pt idx="62">
                  <c:v>0.6459</c:v>
                </c:pt>
                <c:pt idx="63">
                  <c:v>0.6385</c:v>
                </c:pt>
                <c:pt idx="64">
                  <c:v>0.6522</c:v>
                </c:pt>
                <c:pt idx="65">
                  <c:v>0.6393</c:v>
                </c:pt>
                <c:pt idx="66">
                  <c:v>0.6382</c:v>
                </c:pt>
                <c:pt idx="67">
                  <c:v>0.6431</c:v>
                </c:pt>
                <c:pt idx="68">
                  <c:v>0.6446</c:v>
                </c:pt>
                <c:pt idx="69">
                  <c:v>0.6217</c:v>
                </c:pt>
                <c:pt idx="70">
                  <c:v>0.6295</c:v>
                </c:pt>
                <c:pt idx="71">
                  <c:v>0.6369</c:v>
                </c:pt>
                <c:pt idx="72">
                  <c:v>0.6259</c:v>
                </c:pt>
                <c:pt idx="73">
                  <c:v>0.6240</c:v>
                </c:pt>
                <c:pt idx="74">
                  <c:v>0.6292</c:v>
                </c:pt>
                <c:pt idx="75">
                  <c:v>0.6269</c:v>
                </c:pt>
                <c:pt idx="76">
                  <c:v>0.6380</c:v>
                </c:pt>
                <c:pt idx="77">
                  <c:v>0.6292</c:v>
                </c:pt>
                <c:pt idx="78">
                  <c:v>0.6263</c:v>
                </c:pt>
                <c:pt idx="79">
                  <c:v>0.6211</c:v>
                </c:pt>
                <c:pt idx="80">
                  <c:v>0.6255</c:v>
                </c:pt>
                <c:pt idx="81">
                  <c:v>0.6243</c:v>
                </c:pt>
                <c:pt idx="82">
                  <c:v>0.6263</c:v>
                </c:pt>
                <c:pt idx="83">
                  <c:v>0.6219</c:v>
                </c:pt>
                <c:pt idx="84">
                  <c:v>0.6159</c:v>
                </c:pt>
                <c:pt idx="85">
                  <c:v>0.6277</c:v>
                </c:pt>
                <c:pt idx="86">
                  <c:v>0.6435</c:v>
                </c:pt>
                <c:pt idx="87">
                  <c:v>0.6067</c:v>
                </c:pt>
                <c:pt idx="88">
                  <c:v>0.6204</c:v>
                </c:pt>
                <c:pt idx="89">
                  <c:v>0.6263</c:v>
                </c:pt>
                <c:pt idx="90">
                  <c:v>0.6172</c:v>
                </c:pt>
                <c:pt idx="91">
                  <c:v>0.6143</c:v>
                </c:pt>
                <c:pt idx="92">
                  <c:v>0.6187</c:v>
                </c:pt>
                <c:pt idx="93">
                  <c:v>0.6306</c:v>
                </c:pt>
                <c:pt idx="94">
                  <c:v>0.6235</c:v>
                </c:pt>
                <c:pt idx="95">
                  <c:v>0.6124</c:v>
                </c:pt>
                <c:pt idx="96">
                  <c:v>0.6199</c:v>
                </c:pt>
                <c:pt idx="97">
                  <c:v>0.6208</c:v>
                </c:pt>
                <c:pt idx="98">
                  <c:v>0.6097</c:v>
                </c:pt>
                <c:pt idx="99">
                  <c:v>0.6006</c:v>
                </c:pt>
                <c:pt idx="100">
                  <c:v>0.6220</c:v>
                </c:pt>
                <c:pt idx="101">
                  <c:v>0.6078</c:v>
                </c:pt>
                <c:pt idx="102">
                  <c:v>0.6148</c:v>
                </c:pt>
                <c:pt idx="103">
                  <c:v>0.6105</c:v>
                </c:pt>
                <c:pt idx="104">
                  <c:v>0.6195</c:v>
                </c:pt>
                <c:pt idx="105">
                  <c:v>0.6103</c:v>
                </c:pt>
                <c:pt idx="106">
                  <c:v>0.6155</c:v>
                </c:pt>
                <c:pt idx="107">
                  <c:v>0.6198</c:v>
                </c:pt>
                <c:pt idx="108">
                  <c:v>0.6163</c:v>
                </c:pt>
                <c:pt idx="109">
                  <c:v>0.6179</c:v>
                </c:pt>
                <c:pt idx="110">
                  <c:v>0.6144</c:v>
                </c:pt>
                <c:pt idx="111">
                  <c:v>0.6095</c:v>
                </c:pt>
                <c:pt idx="112">
                  <c:v>0.6214</c:v>
                </c:pt>
                <c:pt idx="113">
                  <c:v>0.6129</c:v>
                </c:pt>
                <c:pt idx="114">
                  <c:v>0.6040</c:v>
                </c:pt>
                <c:pt idx="115">
                  <c:v>0.6085</c:v>
                </c:pt>
                <c:pt idx="116">
                  <c:v>0.6025</c:v>
                </c:pt>
                <c:pt idx="117">
                  <c:v>0.6033</c:v>
                </c:pt>
                <c:pt idx="118">
                  <c:v>0.5945</c:v>
                </c:pt>
                <c:pt idx="119">
                  <c:v>0.6017</c:v>
                </c:pt>
                <c:pt idx="120">
                  <c:v>0.6105</c:v>
                </c:pt>
                <c:pt idx="121">
                  <c:v>0.6061</c:v>
                </c:pt>
                <c:pt idx="122">
                  <c:v>0.6075</c:v>
                </c:pt>
                <c:pt idx="123">
                  <c:v>0.6016</c:v>
                </c:pt>
                <c:pt idx="124">
                  <c:v>0.6109</c:v>
                </c:pt>
                <c:pt idx="125">
                  <c:v>0.5966</c:v>
                </c:pt>
                <c:pt idx="126">
                  <c:v>0.6012</c:v>
                </c:pt>
                <c:pt idx="127">
                  <c:v>0.6128</c:v>
                </c:pt>
                <c:pt idx="128">
                  <c:v>0.6065</c:v>
                </c:pt>
                <c:pt idx="129">
                  <c:v>0.5987</c:v>
                </c:pt>
                <c:pt idx="130">
                  <c:v>0.5988</c:v>
                </c:pt>
                <c:pt idx="131">
                  <c:v>0.5955</c:v>
                </c:pt>
                <c:pt idx="132">
                  <c:v>0.5856</c:v>
                </c:pt>
                <c:pt idx="133">
                  <c:v>0.5976</c:v>
                </c:pt>
                <c:pt idx="134">
                  <c:v>0.5860</c:v>
                </c:pt>
                <c:pt idx="135">
                  <c:v>0.5960</c:v>
                </c:pt>
                <c:pt idx="136">
                  <c:v>0.5865</c:v>
                </c:pt>
                <c:pt idx="137">
                  <c:v>0.5917</c:v>
                </c:pt>
                <c:pt idx="138">
                  <c:v>0.6093</c:v>
                </c:pt>
                <c:pt idx="139">
                  <c:v>0.6030</c:v>
                </c:pt>
                <c:pt idx="140">
                  <c:v>0.5877</c:v>
                </c:pt>
                <c:pt idx="141">
                  <c:v>0.5775</c:v>
                </c:pt>
                <c:pt idx="142">
                  <c:v>0.5847</c:v>
                </c:pt>
                <c:pt idx="143">
                  <c:v>0.5936</c:v>
                </c:pt>
                <c:pt idx="144">
                  <c:v>0.5811</c:v>
                </c:pt>
                <c:pt idx="145">
                  <c:v>0.5875</c:v>
                </c:pt>
                <c:pt idx="146">
                  <c:v>0.5798</c:v>
                </c:pt>
                <c:pt idx="147">
                  <c:v>0.5874</c:v>
                </c:pt>
                <c:pt idx="148">
                  <c:v>0.5794</c:v>
                </c:pt>
                <c:pt idx="149">
                  <c:v>0.5922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25"/>
        <c:noMultiLvlLbl val="1"/>
      </c:catAx>
      <c:valAx>
        <c:axId val="2094734552"/>
        <c:scaling>
          <c:orientation val="minMax"/>
          <c:max val="1.4"/>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Test accuracy (3-seed mean)</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dPt>
            <c:idx val="3"/>
            <c:invertIfNegative val="0"/>
            <c:bubble3D val="0"/>
            <c:spPr>
              <a:solidFill>
                <a:srgbClr val="8A94A3"/>
              </a:solidFill>
              <a:effectLst/>
            </c:spPr>
          </c:dPt>
          <c:dPt>
            <c:idx val="4"/>
            <c:invertIfNegative val="0"/>
            <c:bubble3D val="0"/>
            <c:spPr>
              <a:solidFill>
                <a:srgbClr val="17202E"/>
              </a:solidFill>
              <a:effectLst/>
            </c:spPr>
          </c:dPt>
          <c:cat>
            <c:strRef>
              <c:f>Sheet1!$A$2:$A$6</c:f>
              <c:strCache>
                <c:ptCount val="5"/>
                <c:pt idx="0">
                  <c:v>1k: none</c:v>
                </c:pt>
                <c:pt idx="1">
                  <c:v>1k: dropout + WD</c:v>
                </c:pt>
                <c:pt idx="2">
                  <c:v>1k: crop + flip</c:v>
                </c:pt>
                <c:pt idx="3">
                  <c:v>1k: all three</c:v>
                </c:pt>
                <c:pt idx="4">
                  <c:v>55k: none</c:v>
                </c:pt>
              </c:strCache>
            </c:strRef>
          </c:cat>
          <c:val>
            <c:numRef>
              <c:f>Sheet1!$B$2:$B$6</c:f>
              <c:numCache>
                <c:formatCode>General</c:formatCode>
                <c:ptCount val="5"/>
                <c:pt idx="0">
                  <c:v>79.8</c:v>
                </c:pt>
                <c:pt idx="1">
                  <c:v>80.2</c:v>
                </c:pt>
                <c:pt idx="2">
                  <c:v>79.6</c:v>
                </c:pt>
                <c:pt idx="3">
                  <c:v>79.3</c:v>
                </c:pt>
                <c:pt idx="4">
                  <c:v>88.3</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b"/>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 schedule</a:t>
            </a:r>
          </a:p>
        </c:rich>
      </c:tx>
      <c:layout/>
      <c:overlay val="0"/>
    </c:title>
    <c:autoTitleDeleted val="0"/>
    <c:plotArea>
      <c:layout/>
      <c:scatterChart>
        <c:scatterStyle val="lineMarker"/>
        <c:varyColors val="0"/>
        <c:ser>
          <c:idx val="0"/>
          <c:order val="0"/>
          <c:tx>
            <c:strRef>
              <c:f>Sheet1!$B$1</c:f>
              <c:strCache>
                <c:ptCount val="1"/>
                <c:pt idx="0">
                  <c:v>One-cycle</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0:02]  SAY: Welcome. Today: how a neural network computes, how it learns, and how to make it train and generalize. Teal means the forward signal; orange means gradients and warnings.</a:t>
            </a:r>
          </a:p>
          <a:p>
            <a:r>
              <a:rPr lang="en-US" dirty="0"/>
              <a:t>BACKGROUND (for you; not to read aloud):</a:t>
            </a:r>
          </a:p>
          <a:p>
            <a:r>
              <a:rPr lang="en-US" dirty="0"/>
              <a:t>One session, three parts: what a network computes, how it learns, and what makes deep networks train and generalize. Ten-minute break at 1:29.</a:t>
            </a:r>
          </a:p>
          <a:p>
            <a:r>
              <a:rPr lang="en-US" dirty="0"/>
              <a:t>Audience: students who know classical machine learning (e.g. logistic regression, trees, k-NN) but not deep learning. Every deep-learning term is defined on a slide before it is used; the few forward references (Adam, dropout) are flagged.</a:t>
            </a:r>
          </a:p>
          <a:p>
            <a:r>
              <a:rPr lang="en-US" dirty="0"/>
              <a:t>Colour code all session: teal = forward signal and data; orange = gradients flowing backward, and warnings (including the ‘bad’ run in a chart). In data plots, teal and orange simply mark the two classes; navy and grey are neutral.</a:t>
            </a:r>
          </a:p>
          <a:p>
            <a:r>
              <a:rPr lang="en-US" dirty="0"/>
              <a:t>How to use this deck: 55 lecture slides, including 7 two-minute quick checks (peer instruction) and a 4-step worked build (setup, forward, backward, parameter gradients). Each lecture slide’s notes start with SAY (roughly what to say, sized to the time slot) followed by BACKGROUND (for you; do not read it aloud). Every lecture slide ends with a “Next →” line: say it aloud as the bridge. All code on the slides is framework-neutral pseudocode; PyTorch names appear only in these notes, marked “PyTorch session preview”.</a:t>
            </a:r>
          </a:p>
          <a:p>
            <a:r>
              <a:rPr lang="en-US" dirty="0"/>
              <a:t>Appendix A is review material for today (quick-check answers, notation, universal approximation, why depth helps, history, when not to use a network, gradient checking). Appendix B goes further, for later sessions (normalization, double descent, loss and target formats, silent training bugs, learning-rate schedules, a full training recipe, activations by layer role).</a:t>
            </a:r>
          </a:p>
          <a:p>
            <a:r>
              <a:rPr lang="en-US" dirty="0"/>
              <a:t>Provenance tags (top right of a slide): EXPERIMENT = a training run (seeds stated); SIMULATION = a seeded numerical experiment; COMPUTED = a deterministic calculation; CONSTRUCTED = a hand-built network. Every tagged figure and number is regenerated by the scripts delivered with the deck (fmnist_experiments.py, small_figures.py, new_figures.py; new in v7: figures_v7.py for the loss-landscape figure and fmnist_regularization.py, pure NumPy, for the 1,000-image experiment). Plots of formulas carry no tag.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SAY: These six objectives are things you will be able to do by the end. Each quick check tests one of them.</a:t>
            </a:r>
          </a:p>
          <a:p>
            <a:r>
              <a:rPr lang="en-US" dirty="0"/>
              <a:t>BACKGROUND: Each objective is something students should be able to DO; each quick check tests one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0:05]  SAY: Here is the clock. One running example ties it together: a small network on Fashion-MNIST that we build, train and then diagnose.</a:t>
            </a:r>
          </a:p>
          <a:p>
            <a:r>
              <a:rPr lang="en-US" dirty="0"/>
              <a:t>BACKGROUND (for you; not to read aloud):</a:t>
            </a:r>
          </a:p>
          <a:p>
            <a:r>
              <a:rPr lang="en-US" dirty="0"/>
              <a:t>The bar is the clock. One running example ties the parts together: a 784–128–64–10 MLP on Fashion-MNIST. We build it in Part 1, train it in Part 2, and diagnose and regularize it in Part 3 — every curve shown for it comes from fmnist_experiments.py (PyTorch, fixed seeds).</a:t>
            </a:r>
          </a:p>
          <a:p>
            <a:r>
              <a:rPr lang="en-US" dirty="0"/>
              <a:t>Quick checks (about one every 12 minutes):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SAY: Part 1: what a network computes. Nothing learns yet.</a:t>
            </a:r>
          </a:p>
          <a:p>
            <a:r>
              <a:rPr lang="en-US" dirty="0"/>
              <a:t>BACKGROUND: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0:13]  SAY: Same data, two models. Logistic regression draws a straight line and stops at 86%; a bigger network bends the boundary and fits it. Why can't one neuron bend?</a:t>
            </a:r>
          </a:p>
          <a:p>
            <a:r>
              <a:rPr lang="en-US" dirty="0"/>
              <a:t>BACKGROUND (for you; not to read aloud):</a:t>
            </a:r>
          </a:p>
          <a:p>
            <a:r>
              <a:rPr lang="en-US" dirty="0"/>
              <a:t>One neuron draws one straight line, whatever its threshold: a step and a sigmoid are both monotone, so both switch exactly where z = 0. Hook. Same 300 points, two models, same gradient-descent code (two moons, 300 points, noise 0.12; both models trained by full-batch Adam, a gradient-descent variant introduced in Part 2,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 (ReLU is defined in a few slides; for now it is just “a bigger network”).</a:t>
            </a:r>
          </a:p>
          <a:p>
            <a:r>
              <a:rPr lang="en-US" dirty="0"/>
              <a:t>Linear models remain valuable (convex training, interpretable weights, little data needed). Today's question: how do we keep those strengths and still bend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0:16]  SAY: Try to draw one line separating the XOR classes. You can't — and four inequalities prove it.</a:t>
            </a:r>
          </a:p>
          <a:p>
            <a:r>
              <a:rPr lang="en-US" dirty="0"/>
              <a:t>BACKGROUND (for you; not to read aloud):</a:t>
            </a:r>
          </a:p>
          <a:p>
            <a:r>
              <a:rPr lang="en-US" dirty="0"/>
              <a:t>Ask the room to draw one line with both teal points on one side and both orange points on the other (20 s). Every attempt (dashed) catches a wrong point.</a:t>
            </a:r>
          </a:p>
          <a:p>
            <a:r>
              <a:rPr lang="en-US" dirty="0"/>
              <a:t>Proof: predict class 1 when w₁x₁ + w₂x₂ + b &gt; 0. Each point gives one inequality. Add the two class-1 rows and use b ≤ 0: w₁ + w₂ + b &gt; −b ≥ 0, contradicting row 4. Minsky and Papert (1969) made limitations of this kind precise for single-layer perceptrons.</a:t>
            </a:r>
          </a:p>
          <a:p>
            <a:r>
              <a:rPr lang="en-US" dirty="0"/>
              <a:t>This inequality system is exactly one threshold neuron, the threshold neuron from the start of Part 1: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0:18]  SAY: Add one feature, x₁ times x₂, and XOR becomes linear. The data didn't change; the representation did.</a:t>
            </a:r>
          </a:p>
          <a:p>
            <a:r>
              <a:rPr lang="en-US" dirty="0"/>
              <a:t>BACKGROUND (for you; not to read aloud):</a:t>
            </a:r>
          </a:p>
          <a:p>
            <a:r>
              <a:rPr lang="en-US" dirty="0"/>
              <a:t>Add one feature, the product x₁x₂. In the new 3-D space the four points ARE linearly separable (grey plane), and y = x₁ + x₂ − 2x₁x₂ exactly. The data did not change; the representation did. This is the central idea of the field. Note: in the original (x₁, x₂) plane this linear model’s boundary x₁ + x₂ − 2x₁x₂ = ½ is a curve (a hyperbola), which is why slide 7 says “on raw inputs”.</a:t>
            </a:r>
          </a:p>
          <a:p>
            <a:r>
              <a:rPr lang="en-US" dirty="0"/>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0:20]  SAY: Hand-designing features doesn't scale. A neural network learns the features and the linear model together, by gradient descent on one loss.</a:t>
            </a:r>
          </a:p>
          <a:p>
            <a:r>
              <a:rPr lang="en-US" dirty="0"/>
              <a:t>BACKGROUND (for you; not to read aloud):</a:t>
            </a:r>
          </a:p>
          <a:p>
            <a:r>
              <a:rPr lang="en-US" dirty="0"/>
              <a:t>Hand-designing features breaks down at scale: you must already know the answer (which function of 224×224×3 = 150,528 pixels means "cat"?); candidate features explode (all degree-3 products of 1,000 inputs ≈ 1,000³/6 ≈ 1.7×10⁸); and features designed for one task rarely transfer.</a:t>
            </a:r>
          </a:p>
          <a:p>
            <a:r>
              <a:rPr lang="en-US" dirty="0"/>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rPr lang="en-US" dirty="0"/>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0:30]  SAY: Two ReLU units solve XOR. The hidden layer moves the points so that one straight line separates them.</a:t>
            </a:r>
          </a:p>
          <a:p>
            <a:r>
              <a:rPr lang="en-US" dirty="0"/>
              <a:t>BACKGROUND (for you; not to read aloud):</a:t>
            </a:r>
          </a:p>
          <a:p>
            <a:r>
              <a:rPr lang="en-US" dirty="0"/>
              <a:t>Now that ReLU is defined, return to XOR. Trace it. h₁ = ReLU(x₁ + x₂) behaves like OR; h₂ = ReLU(x₁ + x₂ − 1) like AND; y = h₁ − 2h₂ = OR − 2·AND equals XOR on the four corners. Table: (0,0)→0, (0,1)→1, (1,0)→1, (1,1)→2 − 2 = 0.</a:t>
            </a:r>
          </a:p>
          <a:p>
            <a:r>
              <a:rPr lang="en-US" dirty="0"/>
              <a:t>The figure is the insight: the hidden layer sends (0,1) and (1,0) to the SAME hidden point (1,0) and (1,1) to (2,1). In hidden space one straight line separates the classes. The output neuron is still linear; the hidden layer changed the representation.</a:t>
            </a:r>
          </a:p>
          <a:p>
            <a:r>
              <a:rPr lang="en-US" dirty="0"/>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0:08]  SAY: One neuron computes a weighted sum plus a bias and fires on one side of a line. w is perpendicular to that line; the bias shifts it.</a:t>
            </a:r>
          </a:p>
          <a:p>
            <a:r>
              <a:rPr lang="en-US" dirty="0"/>
              <a:t>BACKGROUND (for you; not to read aloud):</a:t>
            </a:r>
          </a:p>
          <a:p>
            <a:r>
              <a:rPr lang="en-US" dirty="0"/>
              <a:t>Start with one unit.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rPr lang="en-US" dirty="0"/>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a:t>
            </a:r>
          </a:p>
          <a:p>
            <a:r>
              <a:rPr lang="en-US" dirty="0"/>
              <a:t>Careful with words: the step IS a nonlinear function, so do not call this neuron 'linear'. Keep the word for later and pay it off in three steps: the sigmoid slide (next) shows a step cannot be trained by gradient descent; the XOR slide shows one unit, step or sigmoid, cannot bend the boundary;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0:11]  SAY: A step has zero slope, so gradient descent cannot train it. Smooth it into a sigmoid and you get logistic regression — which you already know. Remember: the sigmoid's slope is at most 1/4.</a:t>
            </a:r>
          </a:p>
          <a:p>
            <a:r>
              <a:rPr lang="en-US" dirty="0"/>
              <a:t>BACKGROUND (for you; not to read aloud):</a:t>
            </a:r>
          </a:p>
          <a:p>
            <a:r>
              <a:rPr lang="en-US" dirty="0"/>
              <a:t>Bridge from the neuron slide: the threshold works, but it cannot learn by gradient descent. Rosenblatt's perceptron (1958) used a hard step. Its learning rule converges on linearly separable data (Novikoff, 1962), but the step's derivative is 0 wherever it exists, so a STACK of steps gives no gradient and cannot be trained by gradient descent.</a:t>
            </a:r>
          </a:p>
          <a:p>
            <a:r>
              <a:rPr lang="en-US" dirty="0"/>
              <a:t>Swap the step for a sigmoid and you get logistic regression. Name it now: z, the log-odds, is called the LOGIT; the word is used from the running example onward. The sigmoid is what linear log-odds imply: assume log(p/(1−p)) = z and solve for p. Its derivative σ(1 − σ) is at most 1/4, at z = 0 — remember that 1/4; it returns on the activation slide and in Part 3.</a:t>
            </a:r>
          </a:p>
          <a:p>
            <a:r>
              <a:rPr lang="en-US" dirty="0"/>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0:22]  SAY: Without a nonlinearity, stacking layers buys nothing: three linear layers multiply into one.</a:t>
            </a:r>
          </a:p>
          <a:p>
            <a:r>
              <a:rPr lang="en-US" dirty="0"/>
              <a:t>BACKGROUND (for you; not to read aloud):</a:t>
            </a:r>
          </a:p>
          <a:p>
            <a:r>
              <a:rPr lang="en-US" dirty="0"/>
              <a:t>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0:24]  SAY: Vote silently, discuss with a neighbour,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C. The hidden layers compose into one affine map, z = W′x + b′. The sigmoid is monotone, so ŷ &gt; 0.5 exactly when z &gt; 0: the boundary is still a hyperplane, whatever the width or depth. A nonlinearity on the output alone does not bend the boundary.</a:t>
            </a:r>
          </a:p>
          <a:p>
            <a:r>
              <a:rPr lang="en-US" dirty="0"/>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0:27]  SAY: Sigmoid and tanh flatten out, so their slopes vanish; ReLU has slope 1 whenever it is on. The price: a unit that is always off stops learning.</a:t>
            </a:r>
          </a:p>
          <a:p>
            <a:r>
              <a:rPr lang="en-US" dirty="0"/>
              <a:t>BACKGROUND (for you; not to read aloud):</a:t>
            </a:r>
          </a:p>
          <a:p>
            <a:r>
              <a:rPr lang="en-US" dirty="0"/>
              <a:t>Left: the functions; right: their derivatives — what backpropagation multiplies, one factor per layer.</a:t>
            </a:r>
          </a:p>
          <a:p>
            <a:r>
              <a:rPr lang="en-US" dirty="0"/>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rPr lang="en-US" dirty="0"/>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B8, moved out of the lecture for time. Each layer’s activation follows from its role. The output rows and the warning repeat the lesson of the double-softmax slide: classifier outputs are raw logits, because the loss applies sigmoid/softmax internally and stably.</a:t>
            </a:r>
          </a:p>
          <a:p>
            <a:r>
              <a:rPr lang="en-US" dirty="0"/>
              <a:t>Hidden layers: ReLU by default. Dying ReLU: first lower the learning rate; Leaky ReLU keeps a small negative slope (default α = 0.01; drawn at 0.1 so it is visible) and so a nonzero gradient for z &lt; 0.</a:t>
            </a:r>
          </a:p>
          <a:p>
            <a:r>
              <a:rPr lang="en-US" dirty="0"/>
              <a:t>The chart also shows GELU = z·Φ(z) and SiLU = z·σ(z), smooth ReLU variants used in Transformer models later in the course. They flatten toward 0 as z → −∞: smooth, not saturation-free.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0:34]  SAY: A trained ReLU network is a patchwork: inside each patch it is exactly linear, and the boundary is made of straight pieces that follow the curve.</a:t>
            </a:r>
          </a:p>
          <a:p>
            <a:r>
              <a:rPr lang="en-US" dirty="0"/>
              <a:t>BACKGROUND (for you; not to read aloud):</a:t>
            </a:r>
          </a:p>
          <a:p>
            <a:r>
              <a:rPr lang="en-US" dirty="0"/>
              <a:t>A real network trained for this slide: 2 → 12 → 12 → 1 ReLU units on the two-moons data (100% training accuracy).</a:t>
            </a:r>
          </a:p>
          <a:p>
            <a:r>
              <a:rPr lang="en-US" dirty="0"/>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rPr lang="en-US" dirty="0"/>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0:32]  SAY: Any depth is the same two lines per layer: weighted sum, then activation. For a classifier the output is a vector of raw scores called logits. Check shapes: W has one row per unit.</a:t>
            </a:r>
          </a:p>
          <a:p>
            <a:r>
              <a:rPr lang="en-US" dirty="0"/>
              <a:t>BACKGROUND (for you; not to read aloud):</a:t>
            </a:r>
          </a:p>
          <a:p>
            <a:r>
              <a:rPr lang="en-US" dirty="0"/>
              <a:t>Bridge: the XOR network had one hidden layer; the same rule repeats for any depth. A multi-layer perceptron stacks fully connected layers, each followed by a nonlinearity. Layer 0 is the input and has no parameters, so this network has L = 3 layers. Each layer computes a pre-activation z = Wa + b and an activation a = g(z). For a classifier the last layer has no activation (g[L] = identity), so the output a[L] = z[L] is the vector of raw logits; the probabilities ŷ = softmax(a[L]) are computed inside the loss (Part 2). For regression, the output a[L] is the prediction ŷ itself. Everything else today is choosing g, measuring the error, or differentiating it.</a:t>
            </a:r>
          </a:p>
          <a:p>
            <a:r>
              <a:rPr lang="en-US" dirty="0"/>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0:36]  SAY: Our running example: 28×28 images flattened to 784 numbers, then 128, 64 and 10 units. The batch dimension never changes.</a:t>
            </a:r>
          </a:p>
          <a:p>
            <a:r>
              <a:rPr lang="en-US" dirty="0"/>
              <a:t>BACKGROUND (for you; not to read aloud):</a:t>
            </a:r>
          </a:p>
          <a:p>
            <a:r>
              <a:rPr lang="en-US" dirty="0"/>
              <a:t>Fashion-MNIST (Xiao, Rasul &amp; Vollgraf, 2017): 70,000 grey-scale 28×28 images of clothing in 10 classes, a drop-in replacement for MNIST that is harder to solve. We hold out 5,000 of the 60,000 training images for validation.</a:t>
            </a:r>
          </a:p>
          <a:p>
            <a:r>
              <a:rPr lang="en-US" dirty="0"/>
              <a:t>Read the shapes top to bottom, for a batch of 128. The batch dimension never changes: if it does, a reshape is wrong. The output is 10 raw logits per image; softmax lives inside the loss.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0:38]  SAY: The same network in pseudocode. It ends in raw logits. 92% of its 109,386 parameters sit in the first layer.</a:t>
            </a:r>
          </a:p>
          <a:p>
            <a:r>
              <a:rPr lang="en-US" dirty="0"/>
              <a:t>BACKGROUND (for you; not to read aloud):</a:t>
            </a:r>
          </a:p>
          <a:p>
            <a:r>
              <a:rPr lang="en-US" dirty="0"/>
              <a:t>Framework-neutral pseudocode. The model is a stack of layers that ends in raw logits — no softmax; the loss applies it (Part 2).</a:t>
            </a:r>
          </a:p>
          <a:p>
            <a:r>
              <a:rPr lang="en-US" dirty="0"/>
              <a:t>A batch stores examples as rows, so each layer computes X Wᵀ + b with W of shape (out, in): the same W as in the maths (one row per unit), applied to a batch.</a:t>
            </a:r>
          </a:p>
          <a:p>
            <a:r>
              <a:rPr lang="en-US" dirty="0"/>
              <a:t>Parameters: each layer has n[l]·n[l−1] weights plus n[l] biases: 100,480 + 8,256 + 650 = 109,386. Layer 1 holds 92% because the 784-pixel input is fully connected — the seed of the case for convolutional networks.</a:t>
            </a:r>
          </a:p>
          <a:p>
            <a:r>
              <a:rPr lang="en-US" dirty="0"/>
              <a:t>PyTorch session preview: nn.Sequential(nn.Flatten(), nn.Linear(784, 128), nn.ReLU(), …); nn.Linear(in, out) stores its weight as (out, in) and computes x @ W.T + b; count parameters with sum(p.numel() for p in model.parameters()); call model(x), not model.forward(x).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0:40]  SAY: Vote silently, discuss,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B. By the forward-pass convention W[l] has shape (n[l], n[l−1]): one row per unit of layer 1, one column per input, so (128, 784). PyTorch session preview: nn.Linear(784, 128).weight has exactly this shape.</a:t>
            </a:r>
          </a:p>
          <a:p>
            <a:r>
              <a:rPr lang="en-US" dirty="0"/>
              <a:t>Distractor A is the most common answer; ask a pair who chose B to explain the 'one row per unit' rule.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A3, moved out of the lecture for time; use it if students ask “can a network fit anything?”.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rPr lang="en-US" dirty="0"/>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rPr lang="en-US" dirty="0"/>
              <a:t>What it settles: sufficiently large networks have enormous expressive power. It does not say that YOUR network is large enough (two ReLU units cannot fit the curve on this slide), nor that the required size is practical. In practice, performance also depends on optimization, regularization and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SAY: Part 2: how the network learns — a loss, a direction and step size, and an efficient way to get every gradient.</a:t>
            </a:r>
          </a:p>
          <a:p>
            <a:r>
              <a:rPr lang="en-US" dirty="0"/>
              <a:t>BACKGROUND: Bridge: Part 1 built the forward pass of our running example.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0:43]  SAY: A loss is a negative log-likelihood. Gaussian noise gives squared error; a yes/no label gives binary cross-entropy; many classes give cross-entropy.</a:t>
            </a:r>
          </a:p>
          <a:p>
            <a:r>
              <a:rPr lang="en-US" dirty="0"/>
              <a:t>BACKGROUND (for you; not to read aloud):</a:t>
            </a:r>
          </a:p>
          <a:p>
            <a:r>
              <a:rPr lang="en-US" dirty="0"/>
              <a:t>A loss turns "prediction and target disagree" into one number. For most tasks it follows from a probabilistic assumption about the targets.</a:t>
            </a:r>
          </a:p>
          <a:p>
            <a:r>
              <a:rPr lang="en-US" dirty="0"/>
              <a:t>Regression: y = f(x) + Gaussian noise. The log-likelihood is a constant minus Σ(y − f(x))²/2σ², so maximizing likelihood = minimizing squared error (σ fixed; constants dropped). A typical mse function computes the mean of (ŷ − y)², without the ½: the factor only rescales the gradient, i.e. the effective learning rate. That also tells you when MSE is wrong: heavy-tailed noise → Huber loss; counts → Poisson loss.</a:t>
            </a:r>
          </a:p>
          <a:p>
            <a:r>
              <a:rPr lang="en-US" dirty="0"/>
              <a:t>Binary: a Bernoulli label with probability ŷ = σ(z); the NLL is binary cross-entropy. Multi-class: a categorical label via softmax; the NLL is cross-entropy, −log of the probability of the true class c.</a:t>
            </a:r>
          </a:p>
          <a:p>
            <a:r>
              <a:rPr lang="en-US" dirty="0"/>
              <a:t>Here z = z[L] = a[L], the network’s raw logits. The classification losses take these raw logits and apply sigmoid/softmax internally. PyTorch session preview: nn.MSELoss, nn.BCEWithLogitsLoss, nn.CrossEntropyLoss.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 0:45]  SAY: Softmax turns logits into probabilities. Sanity check: an untrained 10-class model should start near ln 10 ≈ 2.3.</a:t>
            </a:r>
          </a:p>
          <a:p>
            <a:r>
              <a:rPr lang="en-US" dirty="0"/>
              <a:t>BACKGROUND (for you; not to read aloud):</a:t>
            </a:r>
          </a:p>
          <a:p>
            <a:r>
              <a:rPr lang="en-US" dirty="0"/>
              <a:t>Softmax exponentiates and normalizes K logits: outputs are positive and sum to 1; every output depends on every logit; and softmax(z + c) = softmax(z) (shift invariance), which makes the stable implementation possible.</a:t>
            </a:r>
          </a:p>
          <a:p>
            <a:r>
              <a:rPr lang="en-US" dirty="0"/>
              <a:t>Cross-entropy with a one-hot target is −log of the true-class probability: 0.9 → 0.105, 0.5 → 0.693, 0.01 → 4.61.</a:t>
            </a:r>
          </a:p>
          <a:p>
            <a:r>
              <a:rPr lang="en-US" dirty="0"/>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0:47]  SAY: Why not squared error for classification? On a sigmoid it stops learning exactly when the model is confidently wrong. Cross-entropy doesn't.</a:t>
            </a:r>
          </a:p>
          <a:p>
            <a:r>
              <a:rPr lang="en-US" dirty="0"/>
              <a:t>BACKGROUND (for you; not to read aloud):</a:t>
            </a:r>
          </a:p>
          <a:p>
            <a:r>
              <a:rPr lang="en-US" dirty="0"/>
              <a:t>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 Students will see this cancellation again in the worked backprop example (δ₂ = a₂ − y).</a:t>
            </a:r>
          </a:p>
          <a:p>
            <a:r>
              <a:rPr lang="en-US" dirty="0"/>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 – 0:49]  SAY: Vote, discuss, revote — don't advance until the revote.</a:t>
            </a:r>
          </a:p>
          <a:p>
            <a:r>
              <a:rPr lang="en-US" dirty="0"/>
              <a:t>BACKGROUND (for you; not to read aloud):</a:t>
            </a:r>
          </a:p>
          <a:p>
            <a:r>
              <a:rPr lang="en-US" dirty="0"/>
              <a:t>Peer instruction: everyone votes A–D silently; if votes split, 60 s with a neighbour, then revote. Do not advance until the revote: the next slide reveals the answer.</a:t>
            </a:r>
          </a:p>
          <a:p>
            <a:r>
              <a:rPr lang="en-US" dirty="0"/>
              <a:t>Answer: B. The loss function applies log-softmax itself, so a softmax layer at the end of the model applies softmax twice. Removing it fixes the bug. Reading the model, not a loss plateau alone, identifies this error.</a:t>
            </a:r>
          </a:p>
          <a:p>
            <a:r>
              <a:rPr lang="en-US" dirty="0"/>
              <a:t>For K = 10, the redundant softmax imposes a loss floor ln(K − 1 + e) − 1 ≈ 1.46. PyTorch session preview: nn.CrossEntropyLoss expects raw logits.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 – 0:51]  SAY: Applying softmax twice raises no error, but the loss can't go below 1.46 and the probabilities are wrong. End the model in raw logits.</a:t>
            </a:r>
          </a:p>
          <a:p>
            <a:r>
              <a:rPr lang="en-US" dirty="0"/>
              <a:t>BACKGROUND (for you; not to read aloud):</a:t>
            </a:r>
          </a:p>
          <a:p>
            <a:r>
              <a:rPr lang="en-US" dirty="0"/>
              <a:t>Reveal for the quick check. Runs of our running example (fmnist_experiments.py, 3 seeds): identical model, data and optimizer; the only difference is a softmax at the end of the model. The bug raises no error; the loss simply cannot go below ln(K − 1 + e) − 1 ≈ 1.46 because the loss applies log-softmax to inputs that are already in (0, 1). The dashed grey line is that floor; the buggy run levels off just above it, near 1.63.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rPr lang="en-US" dirty="0"/>
              <a:t>Why fused losses: in float32, e^1000 overflows to inf. A fused cross-entropy loss subtracts the maximum logit first (valid by shift invariance), so every exponent is ≤ 0 and one term equals exactly 1. Targets: integer class indices of shape (m,), or class probabilities of shape (m, K). Full target-format table: appendix.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1:09]  SAY: Backprop is the chain rule organized so shared products are computed once. All gradients cost about three forward passes, instead of one forward pass per parameter.</a:t>
            </a:r>
          </a:p>
          <a:p>
            <a:r>
              <a:rPr lang="en-US" dirty="0"/>
              <a:t>BACKGROUND (for you; not to read aloud):</a:t>
            </a:r>
          </a:p>
          <a:p>
            <a:r>
              <a:rPr lang="en-US" dirty="0"/>
              <a:t>Finite differences — nudge one parameter, rerun the forward pass — are a useful check but hopeless for training: 10⁸ parameters need about 10⁸ forward passes per step (2 × 10⁸ for centred differences), over a day per step at 1 ms each.</a:t>
            </a:r>
          </a:p>
          <a:p>
            <a:r>
              <a:rPr lang="en-US" dirty="0"/>
              <a:t>Backpropagation gets ALL gradients in one backward pass costing roughly 2× a forward pass, so a training step costs about 3 forward passes. Both headline numbers are counted in the same unit: forward passes per step.</a:t>
            </a:r>
          </a:p>
          <a:p>
            <a:r>
              <a:rPr lang="en-US" dirty="0"/>
              <a:t>The diagram: each step of the chain uses one parameter (w₁ … w₄). Going backward from J, the product ∂J/∂c · ∂c/∂b (orange) is computed once and reused for ∂J/∂w₂ and ∂J/∂w₁, and so on down the chain — that reuse is reverse-mode automatic differentiation. Computing each parameter’s gradient separately from the input side (forward mode) would need one sweep per parameter; with one loss and many parameters, reverse mode wins.</a:t>
            </a:r>
          </a:p>
          <a:p>
            <a:r>
              <a:rPr lang="en-US" dirty="0"/>
              <a:t>Branches: if a value feeds two later nodes, its gradient is the SUM of the gradients arriving from both (multivariable chain rule). Example: y = u·x with u = x gives dy/dx = x + x = 2x.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 – 1:13]  SAY: Check your numbers. We keep every value for the backward pass.</a:t>
            </a:r>
          </a:p>
          <a:p>
            <a:r>
              <a:rPr lang="en-US" dirty="0"/>
              <a:t>BACKGROUND: Build 2 of 4 — check the forward pass: 1.1, 0.7503, 0.3002, 0.5745, 0.5543. Ask who matched to three decimals. Keep these values: the backward pass reuses every one of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1:16]  SAY: Backward, one step at a time. The sigmoid's slope cancels in the output error, as on the cross-entropy slide. One sigmoid layer shrinks the error almost 7×.</a:t>
            </a:r>
          </a:p>
          <a:p>
            <a:r>
              <a:rPr lang="en-US" dirty="0"/>
              <a:t>BACKGROUND (for you; not to read aloud):</a:t>
            </a:r>
          </a:p>
          <a:p>
            <a:r>
              <a:rPr lang="en-US" dirty="0"/>
              <a:t>Build 3 of 4 — backward, one local derivative at a time. For BCE, ∂L/∂a₂ = −y/a₂ + (1 − y)/(1 − a₂) = −1/a₂ = −1.7407. Multiply by σ′(z₂) = a₂(1 − a₂) = 0.2445 to get δ₂ = a₂ − y = −0.4255: the σ′ cancels, exactly as on the cross-entropy slide. Send δ₂ back through w₂ (−0.3404) and multiply by σ′(z₁) = 0.1874 to get δ₁ = −0.0638.</a:t>
            </a:r>
          </a:p>
          <a:p>
            <a:r>
              <a:rPr lang="en-US" dirty="0"/>
              <a:t>δ shrank by a factor of 6.7 in ONE sigmoid layer (factor w₂·σ′(z₁) = 0.8 × 0.187): vanishing gradients in miniature. All values checked against centred finite differences.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 1:18]  SAY: Weight gradient = error × input. Bias gradient = the error itself.</a:t>
            </a:r>
          </a:p>
          <a:p>
            <a:r>
              <a:rPr lang="en-US" dirty="0"/>
              <a:t>BACKGROUND (for you; not to read aloud):</a:t>
            </a:r>
          </a:p>
          <a:p>
            <a:r>
              <a:rPr lang="en-US" dirty="0"/>
              <a:t>Build 4 of 4 — parameter gradients: ∂L/∂w₂ = δ₂a₁ = −0.3192, ∂L/∂b₂ = −0.4255, ∂L/∂w₁ = δ₁x = −0.1276, ∂L/∂b₁ = −0.0638. Pattern: weight gradient = error at the weight's output × activation at its input; bias gradient = the error itself. The automatic-differentiation slide (two slides on) reproduces −0.1276 and −0.3192. In code you would pass the logit z₂ to a fused bce_with_logits loss rather than computing ln a₂ yourself.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1:23]  SAY: The same rules for any layer: four equations. The error flows back through Wᵀ and is gated by each unit's slope.</a:t>
            </a:r>
          </a:p>
          <a:p>
            <a:r>
              <a:rPr lang="en-US" dirty="0"/>
              <a:t>BACKGROUND (for you; not to read aloud):</a:t>
            </a:r>
          </a:p>
          <a:p>
            <a:r>
              <a:rPr lang="en-US" dirty="0"/>
              <a:t>The general case for a fully connected network. Define the error signal δ[l] = ∂L/∂z[l] on the PRE-activation; then the parameter gradients take one line each.</a:t>
            </a:r>
          </a:p>
          <a:p>
            <a:r>
              <a:rPr lang="en-US" dirty="0"/>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rPr lang="en-US" dirty="0"/>
              <a:t>BP2: z[l] affects the loss through every unit of layer l+1, so the chain rule sums over them — a product with the TRANSPOSE of the next layer's weights (forward maps n[l] → n[l+1]; backward must map n[l+1] → n[l]) — gated elementwise by g′. A saturated unit blocks its error.</a:t>
            </a:r>
          </a:p>
          <a:p>
            <a:r>
              <a:rPr lang="en-US" dirty="0"/>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 – 1:24]  SAY: Frameworks run these equations for you and reproduce our hand-computed numbers. Gradients accumulate, so clear them every step.</a:t>
            </a:r>
          </a:p>
          <a:p>
            <a:r>
              <a:rPr lang="en-US" dirty="0"/>
              <a:t>BACKGROUND (for you; not to read aloud):</a:t>
            </a:r>
          </a:p>
          <a:p>
            <a:r>
              <a:rPr lang="en-US" dirty="0"/>
              <a:t>The worked example as framework-neutral pseudocode. Marking values as “track gradients” records every operation in a graph during the forward pass; backward(L) runs reverse-mode differentiation and fills in the gradient of every tracked value. The values match the hand calculation.</a:t>
            </a:r>
          </a:p>
          <a:p>
            <a:r>
              <a:rPr lang="en-US" dirty="0"/>
              <a:t>Consequences: (1) gradients ACCUMULATE across backward calls — deliberately, so gradients from several small batches can be summed — hence clear them every step. (2) BP4 needs forward activations, so they are stored until backward: memory grows with batch size; running out of memory during backward is fixed first by a smaller batch. (3) For evaluation, turn gradient tracking off: no graph, no stored activations. (4) Gradient checkpointing (Chen et al., 2016) recomputes activations instead of storing them, costing roughly one extra forward pass. Implementing a gradient by hand? Verify it with centred differences (appendix).</a:t>
            </a:r>
          </a:p>
          <a:p>
            <a:r>
              <a:rPr lang="en-US" dirty="0"/>
              <a:t>PyTorch session preview: requires_grad=True, L.backward(), w1.grad, optimizer.zero_grad(), torch.no_grad() / torch.inference_mode().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1:20]  SAY: Vote, discuss,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B. Layer 1's error arrives only through w₂: ∂L/∂a₁ = δ₂·w₂ = 0, so δ₁ = 0 and ∂L/∂w₁ = δ₁·x = 0. Vanishing gradients and dead units block learning by the same mechanism.</a:t>
            </a:r>
          </a:p>
          <a:p>
            <a:r>
              <a:rPr lang="en-US" dirty="0"/>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 – 0:54]  SAY: Gradient descent steps against the gradient. The steepest direction limits the step size: here η must stay below 0.2.</a:t>
            </a:r>
          </a:p>
          <a:p>
            <a:r>
              <a:rPr lang="en-US" dirty="0"/>
              <a:t>BACKGROUND (for you; not to read aloud):</a:t>
            </a:r>
          </a:p>
          <a:p>
            <a:r>
              <a:rPr lang="en-US" dirty="0"/>
              <a:t>Bridge from the loss slides: model and loss are fixed, so now minimize. First decide what to do with a gradient; then (next slides) how to compute it cheaply. Why the negative gradient? A first-order Taylor expansion says the change in loss is ∇Jᵀ Δθ, most negative for a step opposite the gradient — valid only for SMALL steps.</a:t>
            </a:r>
          </a:p>
          <a:p>
            <a:r>
              <a:rPr lang="en-US" dirty="0"/>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on the next slides.</a:t>
            </a:r>
          </a:p>
          <a:p>
            <a:r>
              <a:rPr lang="en-US" dirty="0"/>
              <a:t>Learning-rate symptoms: nan within a few steps → far too large; oscillating or plateauing high → too large; steady fall then flattening → good; glacial → too small. Starting points: AdamW 3×10⁻⁴; SGD + momentum 0.9 at 0.1 for CNNs with batch normalization at batch 256. Tune with a learning-rate range test (Smith, 2017).</a:t>
            </a:r>
          </a:p>
          <a:p>
            <a:r>
              <a:rPr lang="en-US" dirty="0"/>
              <a:t>Caveat for curious students: in real networks the η &lt; 2/λ_max rule is a local, quadratic picture. Full-batch gradient descent typically drives the sharpness up to about 2/η and keeps reducing the loss, non-monotonically — the 'edge of stability' (Cohen et al., ICLR 2021).</a:t>
            </a:r>
          </a:p>
          <a:p>
            <a:r>
              <a:rPr lang="en-US" dirty="0"/>
              <a:t>Bridge: next, a ravine — a bowl far steeper in one direction than another.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 1:07]  SAY: Three splits, standardization with training statistics only, and mini-batches: 430 updates per epoch.</a:t>
            </a:r>
          </a:p>
          <a:p>
            <a:r>
              <a:rPr lang="en-US" dirty="0"/>
              <a:t>BACKGROUND (for you; not to read aloud):</a:t>
            </a:r>
          </a:p>
          <a:p>
            <a:r>
              <a:rPr lang="en-US" dirty="0"/>
              <a:t>Bridge: one gradient-descent step on all 55,000 images is slow, so we use mini-batches. Three splits: train (fit), validation (choose hyperparameters and the checkpoint), test (touch once, at the end). Parameters (W, b) are learned by gradient descent on the training split; hyperparameters (η, batch size, epochs, layer sizes) are values you set, chosen on the validation split. Standardize inputs with statistics computed on the TRAINING split only — using validation or test statistics leaks information.</a:t>
            </a:r>
          </a:p>
          <a:p>
            <a:r>
              <a:rPr lang="en-US" dirty="0"/>
              <a:t>Mini-batches of 32–512 examples are what everyone uses. The standard deviation of the gradient noise falls only as 1/√m (its variance as 1/m): 100× the batch buys 10× less noise. Epoch = one pass over the training data; iteration = one update: 55,000 images with batch 128 → 430 iterations per epoch. Shuffle the training set every epoch;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 – 1:26]  SAY: Every mini-batch: clear, forward, loss, backward, update. Commit it to memory.</a:t>
            </a:r>
          </a:p>
          <a:p>
            <a:r>
              <a:rPr lang="en-US" dirty="0"/>
              <a:t>BACKGROUND (for you; not to read aloud):</a:t>
            </a:r>
          </a:p>
          <a:p>
            <a:r>
              <a:rPr lang="en-US" dirty="0"/>
              <a:t>Framework-neutral pseudocode. Every training loop: clear old gradients, forward, loss, backward, update. Around it: training mode before training (dropout on; batch normalization uses batch statistics — dropout comes in Part 3, batch normalization in Appendix B); evaluation mode and no gradient tracking for validation. Commit it to memory.</a:t>
            </a:r>
          </a:p>
          <a:p>
            <a:r>
              <a:rPr lang="en-US" dirty="0"/>
              <a:t>PyTorch session preview: model.train(), optimizer.zero_grad(), loss.backward(), optimizer.step(), model.eval(), torch.no_grad(), DataLoader.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coding sessions. PyTorch names: zero_grad(), model.eval(), nn.ModuleList, MSELoss.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 – 1:29]  SAY: Our MLP after 20 epochs: training loss keeps falling; validation loss is best at epoch 5 and then rises while accuracy creeps up. Keep the best checkpoint.</a:t>
            </a:r>
          </a:p>
          <a:p>
            <a:r>
              <a:rPr lang="en-US" dirty="0"/>
              <a:t>BACKGROUND (for you; not to read aloud):</a:t>
            </a:r>
          </a:p>
          <a:p>
            <a:r>
              <a:rPr lang="en-US" dirty="0"/>
              <a:t>Our 784–128–64–10 MLP, Adam (η = 10⁻³; the optimizer slides earlier in Part 2), batch 128, He initialization, standardized inputs, 55,000 training images (fmnist_experiments.py, seed 0 shown). Training loss keeps falling (to 0.14); validation loss bottoms out at epoch 5 (0.325) and then RISES to 0.38, while validation accuracy still creeps up (88.8% at epoch 5, 89.7% at epoch 20).</a:t>
            </a:r>
          </a:p>
          <a:p>
            <a:r>
              <a:rPr lang="en-US" dirty="0"/>
              <a:t>Lesson 1: the model is starting to overfit in the mildest way — it becomes over-confident on validation examples it gets wrong, which raises the loss before it lowers accuracy. Lesson 2: keep the checkpoint that is best on the metric you care about (by validation loss: epoch 5; by validation accuracy: epoch 20), not blindly the last one; the best epoch moves with the seed (5, 15, 9 across three seeds), so select it on validation rather than hard-coding a number of epochs. Lesson 3: always plot both curves. Part 3 diagnoses and treats this.</a:t>
            </a:r>
          </a:p>
          <a:p>
            <a:r>
              <a:rPr lang="en-US" dirty="0"/>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 – 1:39]  SAY: Ten-minute break. Think about the question on the screen.</a:t>
            </a:r>
          </a:p>
          <a:p>
            <a:r>
              <a:rPr lang="en-US" dirty="0"/>
              <a:t>BACKGROUND (for you; not to read aloud):</a:t>
            </a:r>
          </a:p>
          <a:p>
            <a:r>
              <a:rPr lang="en-US" dirty="0"/>
              <a:t>Break. Leave the question on screen. Answer (given at the start of Part 3): it is NOT overfitting, because training loss is worse too. It is an optimization problem — the deeper network is harder to train. Part 3 gives two fixes: initialization that keeps signals and gradients at a usable scale, and residual connections, which let very deep networks train. (He et al., 2016, called this the degradation problem and saw it even in carefully initialized networks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  SAY: Part 3: making deep networks train, then making them generalize. Answer to the break question: not overfitting — the deep network is harder to train.</a:t>
            </a:r>
          </a:p>
          <a:p>
            <a:r>
              <a:rPr lang="en-US" dirty="0"/>
              <a:t>BACKGROUND (for you; not to read aloud):</a:t>
            </a:r>
          </a:p>
          <a:p>
            <a:r>
              <a:rPr lang="en-US" dirty="0"/>
              <a:t>Answer to the break question: not overfitting — training loss is worse too. Deep plain networks are hard to OPTIMIZE. Today’s two fixes: good initialization (next slides) and residual connections. Part 3 ends by diagnosing our running example and testing remedies on it. Normalization layers and double descent are in Appendix B (later sessions).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 – 1:43]  SAY: Backprop multiplies one factor per layer. Factors below 1 make gradients vanish; above 1, explode. Log each layer's gradient norm to see it.</a:t>
            </a:r>
          </a:p>
          <a:p>
            <a:r>
              <a:rPr lang="en-US" dirty="0"/>
              <a:t>BACKGROUND (for you; not to read aloud):</a:t>
            </a:r>
          </a:p>
          <a:p>
            <a:r>
              <a:rPr lang="en-US" dirty="0"/>
              <a:t>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rPr lang="en-US" dirty="0"/>
              <a:t>Vanishing gradients are insidious: late layers still learn, the loss falls and plateaus too high, no error appears. Exploding gradients show up as nan within a few steps, classically in RNNs. Diagnose by logging the gradient norm of every layer: early layers orders of magnitude below late ones means vanishing. Residual connections (after initialization) add a gradient path with factor exactly 1.</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 1:48]  SAY: Choose the initial weight scale so the signal keeps its size layer after layer. ReLU halves it, so He initialization doubles the variance: 2 over fan-in.</a:t>
            </a:r>
          </a:p>
          <a:p>
            <a:r>
              <a:rPr lang="en-US" dirty="0"/>
              <a:t>BACKGROUND (for you; not to read aloud):</a:t>
            </a:r>
          </a:p>
          <a:p>
            <a:r>
              <a:rPr lang="en-US" dirty="0"/>
              <a:t>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rPr lang="en-US" dirty="0"/>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rPr lang="en-US" dirty="0"/>
              <a:t>Convolutions: n_in = k·k·C_in (a 3×3 convolution with 64 input channels: n_in = 576, He std ≈ 0.059). PyTorch session preview: its default for linear and conv layers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1:53]  SAY: 20 ReLU layers: only He keeps the signal at a steady scale. Xavier halves it every two layers; too small vanishes, too large explodes.</a:t>
            </a:r>
          </a:p>
          <a:p>
            <a:r>
              <a:rPr lang="en-US" dirty="0"/>
              <a:t>BACKGROUND (for you; not to read aloud):</a:t>
            </a:r>
          </a:p>
          <a:p>
            <a:r>
              <a:rPr lang="en-US" dirty="0"/>
              <a:t>Reveal for Quick check 5: students have just predicted the Xavier case. The chart shows only He and Xavier so the subtle case is visible; the extreme cases (std 0.01, std 1.0) are in the table. Twenty ReLU layers of width 256, 1,000 standard-normal inputs, standard deviation of activations per layer (log scale), one seeded NumPy run.</a:t>
            </a:r>
          </a:p>
          <a:p>
            <a:r>
              <a:rPr lang="en-US" dirty="0"/>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 – 1:50]  SAY: Predict before the simulation. Vote, discuss, revote.</a:t>
            </a:r>
          </a:p>
          <a:p>
            <a:r>
              <a:rPr lang="en-US" dirty="0"/>
              <a:t>BACKGROUND (for you; not to read aloud):</a:t>
            </a:r>
          </a:p>
          <a:p>
            <a:r>
              <a:rPr lang="en-US" dirty="0"/>
              <a:t>Ask for a prediction before the simulation. Peer instruction: everyone votes A–D silently; if votes split, 60 s with a neighbour, then revote.</a:t>
            </a:r>
          </a:p>
          <a:p>
            <a:r>
              <a:rPr lang="en-US" dirty="0"/>
              <a:t>Answer: B. With n_in = n_out = 256, Xavier gives Var(w) = 2/(256 + 256) = 1/256, half of He's 2/256. ReLU halves the mean square at every layer, so the activation std falls by √2 per layer: after 20 layers about 0.58 × (1/√2)¹⁹ ≈ 8 × 10⁻⁴ — the Xavier row of the next slide (simulated: 1.1 × 10⁻³). Fix: He initialization.</a:t>
            </a:r>
          </a:p>
          <a:p>
            <a:r>
              <a:rPr lang="en-US" dirty="0"/>
              <a:t>Distractor C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 1:58]  SAY: Residual connections add the input back: a block only has to learn a correction, and doing nothing is easy. This is what lets very deep networks train.</a:t>
            </a:r>
          </a:p>
          <a:p>
            <a:r>
              <a:rPr lang="en-US" dirty="0"/>
              <a:t>BACKGROUND (for you; not to read aloud):</a:t>
            </a:r>
          </a:p>
          <a:p>
            <a:r>
              <a:rPr lang="en-US" dirty="0"/>
              <a:t>Answer to the break question.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 For this audience keep the message simple: residual connections are what make very deep networks trainable; this nuance is background.</a:t>
            </a:r>
          </a:p>
          <a:p>
            <a:r>
              <a:rPr lang="en-US" dirty="0"/>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rPr lang="en-US" dirty="0"/>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0:57]  SAY: In a ravine one step size can't suit both directions. Momentum averages out the bouncing; Adam rescales each parameter's step. A toy — rankings on real networks vary.</a:t>
            </a:r>
          </a:p>
          <a:p>
            <a:r>
              <a:rPr lang="en-US" dirty="0"/>
              <a:t>BACKGROUND (for you; not to read aloud):</a:t>
            </a:r>
          </a:p>
          <a:p>
            <a:r>
              <a:rPr lang="en-US" dirty="0"/>
              <a:t>A ravine is steep across and gentle along. The gradient is dominated by the steep direction, so plain SGD bounces between the walls and crawls along the floor: raise η and it diverges, lower it and progress stops. This is ill-conditioning (curvature ratio 25 here).</a:t>
            </a:r>
          </a:p>
          <a:p>
            <a:r>
              <a:rPr lang="en-US" dirty="0"/>
              <a:t>Fair comparison: computed runs, 40 steps each, on a ravine ROTATED by 30° (so it is not aligned with the coordinates, which would unfairly favour Adam's per-coordinate scaling), with each optimizer's learning rate TUNED by grid search for the lowest final loss. Final losses: SGD 8.6e-3 (η = 0.075), momentum 5.8e-3 (η = 0.016), Adam 6.9e-4 (η = 0.32); small_figures.py. A 2-D toy only: rankings on real networks depend on the problem and on tuning.</a:t>
            </a:r>
          </a:p>
          <a:p>
            <a:r>
              <a:rPr lang="en-US" dirty="0"/>
              <a:t>Momentum keeps a decaying sum of gradients: oscillating components cancel, consistent ones add up; with constant gradient the velocity tends to g/(1 − β) = 10g for β = 0.9 — so along a consistent direction its steps are up to 10× larger than plain SGD with the same η. Retune η when you switch; there is no fixed conversion factor (Quick check 6 notes give the exact limit on a quadratic). Adam rescales each coordinate by a running RMS of its own gradients.</a:t>
            </a:r>
          </a:p>
          <a:p>
            <a:r>
              <a:rPr lang="en-US" dirty="0"/>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1:02]  SAY: Adam keeps a running average of gradients and of their squares and steps by their ratio. Use AdamW, which applies weight decay directly. Defaults on the slide.</a:t>
            </a:r>
          </a:p>
          <a:p>
            <a:r>
              <a:rPr lang="en-US" dirty="0"/>
              <a:t>BACKGROUND (for you; not to read aloud):</a:t>
            </a:r>
          </a:p>
          <a:p>
            <a:r>
              <a:rPr lang="en-US" dirty="0"/>
              <a:t>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rPr lang="en-US" dirty="0"/>
              <a:t>AdamW (Loshchilov &amp; Hutter, 2019): with plain SGD, an L2 penalty equals weight decay; with Adam it does not, because the λθ term is divided by √v̂ and parameters with large gradient history are barely regularized. AdamW applies decay directly to the weights. Many libraries implement “Adam with weight decay” as the coupled L2 version. PyTorch session preview: Adam(weight_decay=…) is coupled L2 by default (recent versions add decoupled_weight_decay=True); AdamW is the decoupled one (default weight_decay = 0.01). Exclude biases and normalization parameters from decay.</a:t>
            </a:r>
          </a:p>
          <a:p>
            <a:r>
              <a:rPr lang="en-US" dirty="0"/>
              <a:t>SGD with momentum and a tuned schedule remains competitive for image classification; the Adam-versus-SGD generalization gap is real in some settings but small and recipe-dependent.</a:t>
            </a:r>
          </a:p>
          <a:p>
            <a:r>
              <a:rPr lang="en-US" dirty="0"/>
              <a:t>Glossary for this audience: Transformers are the architecture behind language models; CNNs (convolutional networks) are image models; both come in later sessions. Bridge: a ravine is still one bowl; a network’s loss is not.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0:59]  SAY: Vote, discuss, revote.</a:t>
            </a:r>
          </a:p>
          <a:p>
            <a:r>
              <a:rPr lang="en-US" dirty="0"/>
              <a:t>BACKGROUND (for you; not to read aloud):</a:t>
            </a:r>
          </a:p>
          <a:p>
            <a:r>
              <a:rPr lang="en-US" dirty="0"/>
              <a:t>Peer instruction: everyone votes A–D silently; if votes split, 60 s with a neighbour, then revote.</a:t>
            </a:r>
          </a:p>
          <a:p>
            <a:r>
              <a:rPr lang="en-US" dirty="0"/>
              <a:t>Answer: B. On a quadratic, gradient descent converges only if η &lt; 2/λ_max (the gradient-descent slide). Rotating the ravine does not change its curvatures (1 and 25), so η &lt; 2/25 = 0.08; the tuned SGD rate on the ravine slide (0.075) sits just below it. At that η the gentle direction shrinks only by a factor (1 − 0.08 × 1) = 0.92 per step: the slow crawl that momentum and Adam address.</a:t>
            </a:r>
          </a:p>
          <a:p>
            <a:r>
              <a:rPr lang="en-US" dirty="0"/>
              <a:t>Distractors: A uses the gentle curvature; C (1/λ_max) solves the steep direction in one step but is not the stability limit; D confuses convexity (one minimum) with convergence for any step size.</a:t>
            </a:r>
          </a:p>
          <a:p>
            <a:r>
              <a:rPr lang="en-US" dirty="0"/>
              <a:t>For curious students: heavy-ball momentum (v ← βv + ∇J, θ ← θ − ηv) is stable on a quadratic for η &lt; 2(1 + β)/λ_max. In real networks there is no fixed rule: retune η by experiment when you switch optimizers.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BatchNorm (Ioffe &amp; Szegedy, 2015) standardizes each feature (each channel in a CNN) over the mini-batch, then applies a learned scale γ and shift β — which can undo the normalization, so no representational power is lost.</a:t>
            </a:r>
          </a:p>
          <a:p>
            <a:r>
              <a:rPr lang="en-US" dirty="0"/>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evaluation mode is the classic bug (PyTorch: model.eval()): validation accuracy then changes with validation batch size; with batch size 1, BatchNorm2d normalizes each image by its own spatial statistics (BatchNorm1d raises an error).</a:t>
            </a:r>
          </a:p>
          <a:p>
            <a:r>
              <a:rPr lang="en-US" dirty="0"/>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rPr lang="en-US" dirty="0"/>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 – 2:17]  SAY: With only 1,000 images, dropout, weight decay and augmentation all land within noise of each other. 55 times more data adds 8.5 points.</a:t>
            </a:r>
          </a:p>
          <a:p>
            <a:r>
              <a:rPr lang="en-US" dirty="0"/>
              <a:t>BACKGROUND (for you; not to read aloud):</a:t>
            </a:r>
          </a:p>
          <a:p>
            <a:r>
              <a:rPr lang="en-US" dirty="0"/>
              <a:t>The same MLP trained on only 1,000 of the 55,000 training images (Adam or AdamW, lr 10⁻³, batch 100, 150 epochs, He init), selected on the 5,000 validation images and scored once on the 10,000 test images at the best-validation-loss checkpoint; 3 seeds per configuration; curves show seed 0 (fmnist_regularization.py, pure NumPy, so the numbers differ slightly from fmnist_experiments.py).</a:t>
            </a:r>
          </a:p>
          <a:p>
            <a:r>
              <a:rPr lang="en-US" dirty="0"/>
              <a:t>Test accuracy, 3-seed mean ± SD: none 79.8 ± 0.6; dropout 0.5 + AdamW weight decay 0.5 (weights only) 80.2 ± 0.4; crop + flip augmentation 79.6 ± 0.3; all three 79.3 ± 0.5; full 55,000 images (20 epochs, batch 128) 88.3 ± 0.5. Flip alone (not on the slide) gave 79.0. Best validation loss: 0.560, 0.548, 0.565, 0.570.</a:t>
            </a:r>
          </a:p>
          <a:p>
            <a:r>
              <a:rPr lang="en-US" dirty="0"/>
              <a:t>What to say: on 1,000 images none of the tricks moves accuracy beyond noise (the standard error of a 10,000-image test accuracy near 80% is about 0.4 points); 55× more data adds 8.5 points. Without regularization validation loss bottoms out near epoch 13 and climbs back to ≈ 0.97; dropout + weight decay and augmentation flatten that rise. With all three the model is still improving at epoch 150 (best epochs 142–147), so it is under-trained, not useless.</a:t>
            </a:r>
          </a:p>
          <a:p>
            <a:r>
              <a:rPr lang="en-US" dirty="0"/>
              <a:t>Why augmentation did not help here: an MLP treats each pixel position as a separate input, so a crop or flip produces an input it must learn from scratch; convolutional networks share weights across positions and typically benefit much more. Treat this as one honest data point, not a general law.</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 – 2:13]  SAY: Weight decay shrinks weights every step; dropout randomly switches units off during training. Both are off or unchanged at test time.</a:t>
            </a:r>
          </a:p>
          <a:p>
            <a:r>
              <a:rPr lang="en-US" dirty="0"/>
              <a:t>BACKGROUND (for you; not to read aloud):</a:t>
            </a:r>
          </a:p>
          <a:p>
            <a:r>
              <a:rPr lang="en-US" dirty="0"/>
              <a:t>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a:t>
            </a:r>
          </a:p>
          <a:p>
            <a:r>
              <a:rPr lang="en-US" dirty="0"/>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 – 2:05]  SAY: Augmentation creates new training examples, but only with transforms that keep the label. Never augment validation or test data.</a:t>
            </a:r>
          </a:p>
          <a:p>
            <a:r>
              <a:rPr lang="en-US" dirty="0"/>
              <a:t>BACKGROUND (for you; not to read aloud):</a:t>
            </a:r>
          </a:p>
          <a:p>
            <a:r>
              <a:rPr lang="en-US" dirty="0"/>
              <a:t>For convolutional image models, augmentation is usually among the highest-leverage regularizers: a shirt is still a shirt after a small crop or brightness change, while every pixel changes. Be candid: for our MLP on flattened pixels, this exact recipe did not help (experiment slide). Think about each transform: horizontal flips suit clothes and natural photos but not digits or text; vertical flips suit satellite and microscopy images, not street scenes; rotation confuses 6 and 9.</a:t>
            </a:r>
          </a:p>
          <a:p>
            <a:r>
              <a:rPr lang="en-US" dirty="0"/>
              <a:t>Never augment validation or test data beyond deterministic resizing/cropping. Stronger methods: Mixup and CutMix (batch-level, producing probability targets), RandAugment/TrivialAugment, and label smoothing. PyTorch session preview: torchvision.transforms.v2 (RandomResizedCrop, RandomHorizontalFlip, ToImage + ToDtype, Normalize).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 2:02]  SAY: Compare training and validation to diagnose. Our running example is in row 2: early overfitting. Then try remedies in this order.</a:t>
            </a:r>
          </a:p>
          <a:p>
            <a:r>
              <a:rPr lang="en-US" dirty="0"/>
              <a:t>BACKGROUND (for you; not to read aloud):</a:t>
            </a:r>
          </a:p>
          <a:p>
            <a:r>
              <a:rPr lang="en-US" dirty="0"/>
              <a:t>The training–validation gap tells you which problem you have. Validation loss slightly below training loss is usually normal: dropout and augmentation make training harder but are off at evaluation. Point to the teal box: our running example (the 20-epoch curves) sits in row 2 — training loss keeps falling (0.14) while validation loss rises after epoch 5 (0.33 → 0.38): early overfitting. The ladder treats it in order: rung 1 (keep the best checkpoint) we already did on the 20-epoch curves; rung 2 (more data) is the 55× bar on the experiment slide; the next slides take rung 3, then 4, then 5 and 6.</a:t>
            </a:r>
          </a:p>
          <a:p>
            <a:r>
              <a:rPr lang="en-US" dirty="0"/>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rPr lang="en-US" dirty="0"/>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rPr lang="en-US" dirty="0"/>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 – 2:19]  SAY: Vote, discuss, revote.</a:t>
            </a:r>
          </a:p>
          <a:p>
            <a:r>
              <a:rPr lang="en-US" dirty="0"/>
              <a:t>BACKGROUND (for you; not to read aloud):</a:t>
            </a:r>
          </a:p>
          <a:p>
            <a:r>
              <a:rPr lang="en-US" dirty="0"/>
              <a:t>Peer instruction: everyone votes A–D silently; if votes split, 60 s with a neighbour, then revote.</a:t>
            </a:r>
          </a:p>
          <a:p>
            <a:r>
              <a:rPr lang="en-US" dirty="0"/>
              <a:t>Answer: B. The checks rule out a broken evaluation pipeline, and a related pretrained model exists, so transfer learning is a promising controlled experiment — not a guaranteed winner. Compare it with augmentation and a baseline on the same validation set. A train/validation gap alone cannot distinguish overfitting from data shift, leakage or label problems.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as pseudocode (PyTorch session preview: torch.optim.AdamW, lr_scheduler.OneCycleLR(pct_start=0.1), nn.CrossEntropyLoss(label_smoothing=0.1), clip_grad_norm_, torch.save):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rPr lang="en-US" dirty="0"/>
              <a:t>Label-smoothed cross-entropy; gradient clipping after backward and before step; evaluation in eval mode under torch.no_grad(); keep the best checkpoint by validation loss. zero_grad() sets gradients to None by default since PyTorch 2.0.</a:t>
            </a:r>
          </a:p>
          <a:p>
            <a:r>
              <a:rPr lang="en-US" dirty="0"/>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rPr lang="en-US" dirty="0"/>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 – 2:30]  SAY: Today in three sentences. Then one minute: write your muddiest point on a card.</a:t>
            </a:r>
          </a:p>
          <a:p>
            <a:r>
              <a:rPr lang="en-US" dirty="0"/>
              <a:t>BACKGROUND (for you; not to read aloud):</a:t>
            </a:r>
          </a:p>
          <a:p>
            <a:r>
              <a:rPr lang="en-US" dirty="0"/>
              <a:t>Each part reduces to one sentence; if students can say these and justify them, they have the foundations. Then the one-minute exit ticket: "What was the muddiest point today?" on a card. Read them before next session and open with the top two. Use the remaining minutes for questions.</a:t>
            </a:r>
          </a:p>
          <a:p>
            <a:r>
              <a:rPr lang="en-US" dirty="0"/>
              <a:t>Practice before next session, pen and paper only (answers): with x = 1 the forward pass gives z₁ = 0.6, a₁ = 0.6457, z₂ = 0.2165, a₂ = 0.5539, L = −ln a₂ = 0.5907; 784–256–10 has 200,960 + 2,570 = 203,530 parameters; first loss for 100 classes ≈ ln 100 = 4.61; BP2 for one hidden layer is δ[1] = (W[2]ᵀ δ[2]) ⊙ g′(z[1]); the loop is the five steps of the training-loop slide. Next session turns this pseudocode into PyTorch.</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goes further, for later sessions: material kept out of the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Answers 1–4: C, B, B, B. Derive the reasons; do not ask students to memorize letters.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review. Q5 RMS scaling under ReLU assumptions. Q6: the steepest curvature sets the stability limit η &lt; 2/λ_max for every direction. Q7: related pretrained model and checked evaluation are given; promising experiment, not guaranteed best.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extends this to about 50,000 rows and 2,000 features.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PyTorch session preview: nn.MSELoss, nn.HuberLoss, nn.BCEWithLogitsLoss, nn.CrossEntropyLoss. CrossEntropyLoss accepts int64 class indices (m,) or float class probabilities (m, K) since PyTorch 1.10 (used by label smoothing, Mixup, CutMix). Match prediction and target shapes exactly for MSELoss: (m, 1) vs (m,) broadcasts to (m, m) with only a warning.</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the current learning rate every epoch (PyTorch: optimizer.param_groups[0]["lr"]; schedulers OneCycleLR, LambdaLR, CosineAnnealingLR, MultiStepLR, ReduceLROnPlateau).</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Going further, for later sessions: B1–B3 cover normalization and double descent; B4–B7 support the coding sessions, ending with a full training recipe; B8 summarizes which activation each layer uses. All code here is pseudocode; the notes name the PyTorch calls.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 1:04]  SAY: A network's loss is not one bowl: different starts end in different valleys, and flat regions slow progress. In large networks the valleys reached are usually about equally good. Run several seeds.</a:t>
            </a:r>
          </a:p>
          <a:p>
            <a:r>
              <a:rPr lang="en-US" dirty="0"/>
              <a:t>BACKGROUND (for you; not to read aloud):</a:t>
            </a:r>
          </a:p>
          <a:p>
            <a:r>
              <a:rPr lang="en-US" dirty="0"/>
              <a:t>Logistic regression’s loss is convex: one bowl, one minimum, any start works. A network’s loss is non-convex: many valleys (local minima), flat regions and saddle points, and many equivalent solutions (swap two hidden units and the function is unchanged).</a:t>
            </a:r>
          </a:p>
          <a:p>
            <a:r>
              <a:rPr lang="en-US" dirty="0"/>
              <a:t>Left (figures_v7.py, deterministic): plain gradient descent from three starting weights ends in three different valleys with nearly equal loss (0.00, 0.02, 0.04) — a one-weight cartoon of the claim below. A 1-D picture cannot show what makes high-dimensional landscapes benign (most critical points are saddles), so present it as a cartoon. Right: gradient descent on J(u, v) = u² − v² + v⁴/2, started next to the saddle point at the origin: the loss drops, stalls while the escape direction grows slowly, then drops again. A plateau in a real training curve can look like this.</a:t>
            </a:r>
          </a:p>
          <a:p>
            <a:r>
              <a:rPr lang="en-US" dirty="0"/>
              <a:t>Why training still works: in large networks, most minima that gradient descent reaches have similar loss, and saddle points rather than bad minima are the main obstacle (Dauphin et al., 2014; Choromanska et al., 2015). Mini-batch noise and momentum help escape flat regions.</a:t>
            </a:r>
          </a:p>
          <a:p>
            <a:r>
              <a:rPr lang="en-US" dirty="0"/>
              <a:t>Practical lesson: the random seed sets the initial weights and the order of the mini-batches, so results vary from run to run. That is why this deck reports three seeds for the running example.</a:t>
            </a:r>
          </a:p>
          <a:p>
            <a:r>
              <a:rPr lang="en-US" dirty="0"/>
              <a:t>Bridge: every step so far used all 55,000 images; next, cheaper steps with mini-batches.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 – 1:12]  SAY: Your turn: compute the forward pass with your neighbour. Three minutes.</a:t>
            </a:r>
          </a:p>
          <a:p>
            <a:r>
              <a:rPr lang="en-US" dirty="0"/>
              <a:t>BACKGROUND (for you; not to read aloud):</a:t>
            </a:r>
          </a:p>
          <a:p>
            <a:r>
              <a:rPr lang="en-US" dirty="0"/>
              <a:t>Build 1 of 4 — students compute. Give 3 minutes; pairs are fine. Two scalar neurons, both sigmoid, and binary cross-entropy — the classification loss from the cross-entropy slide. With y = 1 it is simply L = −ln a₂.</a:t>
            </a:r>
          </a:p>
          <a:p>
            <a:r>
              <a:rPr lang="en-US" dirty="0"/>
              <a:t>Ask for z₁, a₁, z₂, a₂ and L to four decimals. Answers on the next slide: 1.1, 0.7503, 0.3002, 0.5745, 0.5543. Common slips: forgetting b₂ = −0.3; using log base 10 instead of ln.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2:08]  SAY: Transfer learning: reuse a network trained on a huge dataset, add a new output layer, and train that — then optionally fine-tune everything gently.</a:t>
            </a:r>
          </a:p>
          <a:p>
            <a:r>
              <a:rPr lang="en-US" dirty="0"/>
              <a:t>BACKGROUND (for you; not to read aloud):</a:t>
            </a:r>
          </a:p>
          <a:p>
            <a:r>
              <a:rPr lang="en-US" dirty="0"/>
              <a:t>Rung 4 of the remedy ladder. Transfer learning reuses the “reusable features” idea from Part 1: a network trained on a large dataset (for images, e.g. ImageNet) already has useful edge and texture detectors. F_pre on the slide stands for all of its layers.</a:t>
            </a:r>
          </a:p>
          <a:p>
            <a:r>
              <a:rPr lang="en-US" dirty="0"/>
              <a:t>Two ways: (1) freeze the pretrained extractor and train only a new output layer (the “head”) — fast, best with very little data; (2) fine-tune: then update all layers with a small learning rate (often 10× smaller than from scratch), best when your data differ more from the original. The new output layer has as many units as your classes and is trained only on your data.</a:t>
            </a:r>
          </a:p>
          <a:p>
            <a:r>
              <a:rPr lang="en-US" dirty="0"/>
              <a:t>Match the inputs: resize and standardize exactly as the pretrained model was trained (for ImageNet models typically 224 × 224 RGB with the ImageNet mean and std); a mismatch silently degrades the features.</a:t>
            </a:r>
          </a:p>
          <a:p>
            <a:r>
              <a:rPr lang="en-US" dirty="0"/>
              <a:t>Early stopping (halt when validation stops improving for some number of epochs, the “patience”) is different from keeping the best checkpoint (rung 1): keeping the checkpoint is nearly free; halting early is optional and its patience must suit the learning-rate schedule.</a:t>
            </a:r>
          </a:p>
          <a:p>
            <a:r>
              <a:rPr lang="en-US" dirty="0"/>
              <a:t>Quick check 7 at the end of Part 3 tests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 Id="rId5" Type="http://schemas.openxmlformats.org/officeDocument/2006/relationships/image" Target="../media/v7-fwd15.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 Id="rId4" Type="http://schemas.openxmlformats.org/officeDocument/2006/relationships/image" Target="../media/v7-reuse31.png"/></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 Id="rId4" Type="http://schemas.openxmlformats.org/officeDocument/2006/relationships/image" Target="../media/v7-fwd33.png"/></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 Id="rId4" Type="http://schemas.openxmlformats.org/officeDocument/2006/relationships/image" Target="../media/v7-bwd34.png"/></Relationships>
</file>

<file path=ppt/slides/_rels/slide32.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 Id="rId4" Type="http://schemas.openxmlformats.org/officeDocument/2006/relationships/image" Target="../media/v7-par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0.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59.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2.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4.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4.xml.rels><?xml version='1.0' encoding='UTF-8' standalone='yes'?>
<Relationships xmlns="http://schemas.openxmlformats.org/package/2006/relationships"><Relationship Id="rId1" Type="http://schemas.openxmlformats.org/officeDocument/2006/relationships/image" Target="../media/image-loss-landscape.png"/><Relationship Id="rId3" Type="http://schemas.openxmlformats.org/officeDocument/2006/relationships/slideLayout" Target="../slideLayouts/slideLayout4.xml"/><Relationship Id="rId4" Type="http://schemas.openxmlformats.org/officeDocument/2006/relationships/notesSlide" Target="../notesSlides/notesSlide73.xml"/><Relationship Id="rId5" Type="http://schemas.openxmlformats.org/officeDocument/2006/relationships/image" Target="../media/v7-loss-landscape.png"/></Relationships>
</file>

<file path=ppt/slides/_rels/slide7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75.xml"/><Relationship Id="rId5" Type="http://schemas.openxmlformats.org/officeDocument/2006/relationships/image" Target="../media/v7-pre5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2237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144000" y="5806440"/>
            <a:ext cx="237744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 warnings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explain what momentum and Adam fix</a:t>
            </a:r>
            <a:endParaRPr lang="en-US" sz="1800" dirty="0"/>
          </a:p>
        </p:txBody>
      </p:sp>
      <p:sp>
        <p:nvSpPr>
          <p:cNvPr id="18" name="Shape 15"/>
          <p:cNvSpPr/>
          <p:nvPr/>
        </p:nvSpPr>
        <p:spPr>
          <a:xfrm>
            <a:off x="4544568" y="3703320"/>
            <a:ext cx="420624" cy="420624"/>
          </a:xfrm>
          <a:prstGeom prst="ellipse">
            <a:avLst/>
          </a:prstGeom>
          <a:solidFill>
            <a:srgbClr val="C8571B"/>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explain residual connections</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
        <p:nvSpPr>
          <p:cNvPr id="3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plan, and the example we follow all session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62407"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47623" y="1417320"/>
            <a:ext cx="2536850" cy="640080"/>
          </a:xfrm>
          <a:prstGeom prst="rect">
            <a:avLst/>
          </a:prstGeom>
          <a:solidFill>
            <a:srgbClr val="0F7C82"/>
          </a:solidFill>
          <a:ln/>
        </p:spPr>
        <p:txBody>
          <a:bodyPr/>
          <a:p/>
        </p:txBody>
      </p:sp>
      <p:sp>
        <p:nvSpPr>
          <p:cNvPr id="8" name="Text 5"/>
          <p:cNvSpPr txBox="1"/>
          <p:nvPr/>
        </p:nvSpPr>
        <p:spPr>
          <a:xfrm>
            <a:off x="1039063" y="1417320"/>
            <a:ext cx="235397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521050" y="1417320"/>
            <a:ext cx="3551591" cy="640080"/>
          </a:xfrm>
          <a:prstGeom prst="rect">
            <a:avLst/>
          </a:prstGeom>
          <a:solidFill>
            <a:srgbClr val="C8571B"/>
          </a:solidFill>
          <a:ln/>
        </p:spPr>
        <p:txBody>
          <a:bodyPr/>
          <a:p/>
        </p:txBody>
      </p:sp>
      <p:sp>
        <p:nvSpPr>
          <p:cNvPr id="10" name="Text 7"/>
          <p:cNvSpPr txBox="1"/>
          <p:nvPr/>
        </p:nvSpPr>
        <p:spPr>
          <a:xfrm>
            <a:off x="3612490" y="1417320"/>
            <a:ext cx="336871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22844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0:40</a:t>
            </a:r>
            <a:endParaRPr lang="en-US" sz="1300" dirty="0"/>
          </a:p>
        </p:txBody>
      </p:sp>
      <p:sp>
        <p:nvSpPr>
          <p:cNvPr id="12" name="Shape 9"/>
          <p:cNvSpPr/>
          <p:nvPr/>
        </p:nvSpPr>
        <p:spPr>
          <a:xfrm>
            <a:off x="7109216" y="1417320"/>
            <a:ext cx="724814" cy="640080"/>
          </a:xfrm>
          <a:prstGeom prst="rect">
            <a:avLst/>
          </a:prstGeom>
          <a:solidFill>
            <a:srgbClr val="B7BFCB"/>
          </a:solidFill>
          <a:ln/>
        </p:spPr>
        <p:txBody>
          <a:bodyPr/>
          <a:p/>
        </p:txBody>
      </p:sp>
      <p:sp>
        <p:nvSpPr>
          <p:cNvPr id="13" name="Text 10"/>
          <p:cNvSpPr txBox="1"/>
          <p:nvPr/>
        </p:nvSpPr>
        <p:spPr>
          <a:xfrm>
            <a:off x="7200656" y="1417320"/>
            <a:ext cx="541934"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8166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1:29</a:t>
            </a:r>
            <a:endParaRPr lang="en-US" sz="1300" dirty="0"/>
          </a:p>
        </p:txBody>
      </p:sp>
      <p:sp>
        <p:nvSpPr>
          <p:cNvPr id="15" name="Shape 12"/>
          <p:cNvSpPr/>
          <p:nvPr/>
        </p:nvSpPr>
        <p:spPr>
          <a:xfrm>
            <a:off x="7870607" y="1417320"/>
            <a:ext cx="2899258" cy="640080"/>
          </a:xfrm>
          <a:prstGeom prst="rect">
            <a:avLst/>
          </a:prstGeom>
          <a:solidFill>
            <a:srgbClr val="4C5BD4"/>
          </a:solidFill>
          <a:ln/>
        </p:spPr>
        <p:txBody>
          <a:bodyPr/>
          <a:p/>
        </p:txBody>
      </p:sp>
      <p:sp>
        <p:nvSpPr>
          <p:cNvPr id="16" name="Text 13"/>
          <p:cNvSpPr txBox="1"/>
          <p:nvPr/>
        </p:nvSpPr>
        <p:spPr>
          <a:xfrm>
            <a:off x="7962047" y="1417320"/>
            <a:ext cx="2716378"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7577999"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1:39</a:t>
            </a:r>
            <a:endParaRPr lang="en-US" sz="1300" dirty="0"/>
          </a:p>
        </p:txBody>
      </p:sp>
      <p:sp>
        <p:nvSpPr>
          <p:cNvPr id="18" name="Shape 15"/>
          <p:cNvSpPr/>
          <p:nvPr/>
        </p:nvSpPr>
        <p:spPr>
          <a:xfrm>
            <a:off x="10806440" y="1417320"/>
            <a:ext cx="797296" cy="640080"/>
          </a:xfrm>
          <a:prstGeom prst="rect">
            <a:avLst/>
          </a:prstGeom>
          <a:solidFill>
            <a:srgbClr val="8A94A3"/>
          </a:solidFill>
          <a:ln/>
        </p:spPr>
        <p:txBody>
          <a:bodyPr/>
          <a:p/>
        </p:txBody>
      </p:sp>
      <p:sp>
        <p:nvSpPr>
          <p:cNvPr id="19" name="Text 16"/>
          <p:cNvSpPr txBox="1"/>
          <p:nvPr/>
        </p:nvSpPr>
        <p:spPr>
          <a:xfrm>
            <a:off x="1051383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2:19</a:t>
            </a:r>
            <a:endParaRPr lang="en-US" sz="1300" dirty="0"/>
          </a:p>
        </p:txBody>
      </p:sp>
      <p:sp>
        <p:nvSpPr>
          <p:cNvPr id="20" name="Text 17"/>
          <p:cNvSpPr txBox="1"/>
          <p:nvPr/>
        </p:nvSpPr>
        <p:spPr>
          <a:xfrm>
            <a:off x="11329416"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optimizers,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diagnosis, regularization</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
        <p:nvSpPr>
          <p:cNvPr id="34"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1: what does one neuron compute?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35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one neuron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make the threshold smooth, so the neuron can learn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 raw inputs, linear models draw only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874014" cy="321777"/>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755648" y="1965960"/>
            <a:ext cx="8686800" cy="347472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One neuron, step or sigmoid: its boundary z = wᵀx + b = 0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simplest problem no straight line can solve: XOR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keep the straight line, change the space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who designs such features? Let the network learn them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g must sit between the layers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 LOGIT z IS THE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smooth or not, one neuron still draws a straight line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g? Sigmoid, tanh or ReLU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two ReLU units are enough to solve XOR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17202E"/>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
        <p:nvSpPr>
          <p:cNvPr id="3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 for any number of layers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real network of this kind: our Fashion-MNIST MLP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CONSTRUCTED · small_figures.py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17202E"/>
          </a:solidFill>
          <a:ln/>
        </p:spPr>
      </p:sp>
      <p:sp>
        <p:nvSpPr>
          <p:cNvPr id="80" name="Shape 77"/>
          <p:cNvSpPr/>
          <p:nvPr/>
        </p:nvSpPr>
        <p:spPr>
          <a:xfrm>
            <a:off x="4937760" y="3337560"/>
            <a:ext cx="365760" cy="365760"/>
          </a:xfrm>
          <a:prstGeom prst="ellipse">
            <a:avLst/>
          </a:prstGeom>
          <a:solidFill>
            <a:srgbClr val="17202E"/>
          </a:solidFill>
          <a:ln/>
        </p:spPr>
      </p:sp>
      <p:sp>
        <p:nvSpPr>
          <p:cNvPr id="81" name="Shape 78"/>
          <p:cNvSpPr/>
          <p:nvPr/>
        </p:nvSpPr>
        <p:spPr>
          <a:xfrm>
            <a:off x="4937760" y="3995928"/>
            <a:ext cx="365760" cy="365760"/>
          </a:xfrm>
          <a:prstGeom prst="ellipse">
            <a:avLst/>
          </a:prstGeom>
          <a:solidFill>
            <a:srgbClr val="17202E"/>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logits</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text{output: } \av\Ly{L} \qquad \text{\color{mu}classifier: raw logits} \end{align*}">    </p:cNvPr>
          <p:cNvPicPr>
            <a:picLocks noChangeAspect="1"/>
          </p:cNvPicPr>
          <p:nvPr/>
        </p:nvPicPr>
        <p:blipFill>
          <a:blip r:embed="rId5"/>
          <a:stretch>
            <a:fillRect/>
          </a:stretch>
        </p:blipFill>
        <p:spPr>
          <a:xfrm>
            <a:off x="5897880" y="1920240"/>
            <a:ext cx="4261865" cy="1728063"/>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
        <p:nvSpPr>
          <p:cNvPr id="9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a trained ReLU network actually computes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(128)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network, written as pseudocode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pseudocode: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model = these layers, one after another: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flatten          </a:t>
            </a:r>
            <a:r>
              <a:rPr lang="en-US" sz="1500" dirty="0">
                <a:solidFill>
                  <a:srgbClr val="8D99AB"/>
                </a:solidFill>
                <a:latin typeface="Consolas" pitchFamily="34" charset="0"/>
                <a:ea typeface="Consolas" pitchFamily="34" charset="-122"/>
                <a:cs typeface="Consolas" pitchFamily="34" charset="-120"/>
              </a:rPr>
              <a:t xml:space="preserve"># (B,1,28,28) → (B,784)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784 → 128,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128 → 64,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64 → 10   </a:t>
            </a:r>
            <a:r>
              <a:rPr lang="en-US" sz="1500" dirty="0">
                <a:solidFill>
                  <a:srgbClr val="8D99AB"/>
                </a:solidFill>
                <a:latin typeface="Consolas" pitchFamily="34" charset="0"/>
                <a:ea typeface="Consolas" pitchFamily="34" charset="-122"/>
                <a:cs typeface="Consolas" pitchFamily="34" charset="-120"/>
              </a:rPr>
              <a:t xml:space="preserve"># raw logits, no softmax</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x      = 128 images  </a:t>
            </a:r>
            <a:r>
              <a:rPr lang="en-US" sz="1500" dirty="0">
                <a:solidFill>
                  <a:srgbClr val="8D99AB"/>
                </a:solidFill>
                <a:latin typeface="Consolas" pitchFamily="34" charset="0"/>
                <a:ea typeface="Consolas" pitchFamily="34" charset="-122"/>
                <a:cs typeface="Consolas" pitchFamily="34" charset="-120"/>
              </a:rPr>
              <a:t xml:space="preserve"># (128, 1, 28, 28)</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logits = model(x)    </a:t>
            </a:r>
            <a:r>
              <a:rPr lang="en-US" sz="1500" dirty="0">
                <a:solidFill>
                  <a:srgbClr val="8D99AB"/>
                </a:solidFill>
                <a:latin typeface="Consolas" pitchFamily="34" charset="0"/>
                <a:ea typeface="Consolas" pitchFamily="34" charset="-122"/>
                <a:cs typeface="Consolas" pitchFamily="34" charset="-120"/>
              </a:rPr>
              <a:t xml:space="preserve"># (128, 10)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100,480 + 8,256 + 650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109,386</a:t>
            </a:r>
            <a:endParaRPr lang="en-US" sz="15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A batch stores examples as rows, so each layer computes X Wᵀ + b, with W of shape (out, in).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2: shapes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1 maps 784 inputs to 128 units. What is the shape of W[1]?</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2: how does this network learn?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49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and how far,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 pseudocode</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276120"/>
            <a:ext cx="1998372" cy="53182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mse(ŷ, y)</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bce_with_logits(z, y)</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cross_entropy(z, y)</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the raw logits z = a[L].</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many classes: softmax, and a check for step 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He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not just use squared error?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3: a common softmax bug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The model ends with a softmax layer, and its output goes to a cross-entropy loss that applies softmax itself. Which change fixes it?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the softmax layer; pass raw logits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this bug does to our running example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56235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the cross-entropy 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model and loss are set; now step downhill</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B8 · ACTIVATIONS BY LAYER ROLE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apply softmax twice: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ravine: one η cannot suit every direction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all gradients for ≈ 3 forward passes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one per parameter,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forward-pass equivalents per step (forward + backward), for all 10⁸ gradients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76472"/>
            <a:ext cx="6492240" cy="30000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 each step uses a parameter wᵢ</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one sweep; the orange product is computed once and reused</a:t>
            </a:r>
            <a:endParaRPr lang="en-US" sz="1500" dirty="0"/>
          </a:p>
        </p:txBody>
      </p:sp>
      <p:pic>
        <p:nvPicPr>
          <p:cNvPr id="33" name="Image 0" descr="LaTeX: \begin{align*} \frac{\partial J}{\partial w_2} &amp;= \textcolor{bw}{\frac{\partial J}{\partial c}\,\frac{\partial c}{\partial b}}\;\frac{\partial b}{\partial w_2}\\ \frac{\partial J}{\partial w_1} &amp;= \textcolor{bw}{\frac{\partial J}{\partial c}\,\frac{\partial c}{\partial b}}\;\frac{\partial b}{\partial a}\,\frac{\partial a}{\partial w_1} \end{align*}">    </p:cNvPr>
          <p:cNvPicPr>
            <a:picLocks noChangeAspect="1"/>
          </p:cNvPicPr>
          <p:nvPr/>
        </p:nvPicPr>
        <p:blipFill>
          <a:blip r:embed="rId4"/>
          <a:stretch>
            <a:fillRect/>
          </a:stretch>
        </p:blipFill>
        <p:spPr>
          <a:xfrm>
            <a:off x="1463040" y="5285232"/>
            <a:ext cx="2173600" cy="1107600"/>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value used in two places gets the sum of both gradients.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
        <p:nvSpPr>
          <p:cNvPr id="4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try it by hand on a two-neuron network</a:t>
            </a:r>
            <a:endParaRPr lang="en-US" sz="1100" dirty="0"/>
          </a:p>
        </p:txBody>
      </p:sp>
      <p:sp>
        <p:nvSpPr>
          <p:cNvPr id="47" name="Param w1"/>
          <p:cNvSpPr txBox="1"/>
          <p:nvPr/>
        </p:nvSpPr>
        <p:spPr>
          <a:xfrm>
            <a:off x="15864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w₁</a:t>
            </a:r>
          </a:p>
        </p:txBody>
      </p:sp>
      <p:sp>
        <p:nvSpPr>
          <p:cNvPr id="48" name="Param w2"/>
          <p:cNvSpPr txBox="1"/>
          <p:nvPr/>
        </p:nvSpPr>
        <p:spPr>
          <a:xfrm>
            <a:off x="31866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w₂</a:t>
            </a:r>
          </a:p>
        </p:txBody>
      </p:sp>
      <p:sp>
        <p:nvSpPr>
          <p:cNvPr id="49" name="Param w3"/>
          <p:cNvSpPr txBox="1"/>
          <p:nvPr/>
        </p:nvSpPr>
        <p:spPr>
          <a:xfrm>
            <a:off x="47868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w₃</a:t>
            </a:r>
          </a:p>
        </p:txBody>
      </p:sp>
      <p:sp>
        <p:nvSpPr>
          <p:cNvPr id="50" name="Param w4"/>
          <p:cNvSpPr txBox="1"/>
          <p:nvPr/>
        </p:nvSpPr>
        <p:spPr>
          <a:xfrm>
            <a:off x="63870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ln a_2 \;\;\text{\color{mu}(BCE with } y = 1\text{\color{mu})} = \textcolor{fw}{0.5543} \end{align*}">    </p:cNvPr>
          <p:cNvPicPr>
            <a:picLocks noChangeAspect="1"/>
          </p:cNvPicPr>
          <p:nvPr/>
        </p:nvPicPr>
        <p:blipFill>
          <a:blip r:embed="rId4"/>
          <a:stretch>
            <a:fillRect/>
          </a:stretch>
        </p:blipFill>
        <p:spPr>
          <a:xfrm>
            <a:off x="822960" y="3703320"/>
            <a:ext cx="5441594" cy="2031796"/>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Check your numbers against these. Next we go backward, one local derivative at a time.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now backward, one local derivative at a time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frac{y}{a_2} + \frac{1-y}{1-a_2} = \textcolor{bw}{-1.7407}\\ \delta_2 &amp;= \frac{\partial L}{\partial a_2}\,a_2(1-a_2) = a_2 - y = \textcolor{bw}{-0.4255}\\ \frac{\partial L}{\partial a_1} &amp;= \delta_2\,w_2 = \textcolor{bw}{-0.3404}\\ \delta_1 &amp;= \frac{\partial L}{\partial a_1}\,a_1(1-a_1) = \textcolor{bw}{-0.0638} \end{align*}">    </p:cNvPr>
          <p:cNvPicPr>
            <a:picLocks noChangeAspect="1"/>
          </p:cNvPicPr>
          <p:nvPr/>
        </p:nvPicPr>
        <p:blipFill>
          <a:blip r:embed="rId4"/>
          <a:stretch>
            <a:fillRect/>
          </a:stretch>
        </p:blipFill>
        <p:spPr>
          <a:xfrm>
            <a:off x="822960" y="3657600"/>
            <a:ext cx="4364431" cy="2421864"/>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
        <p:nvSpPr>
          <p:cNvPr id="4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turn the error signals into weight gradients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3192} &amp;\qquad \frac{\partial L}{\partial b_2} &amp;= \delta_2 = \textcolor{bw}{-0.4255}\\ \frac{\partial L}{\partial w_1} &amp;= \delta_1\,x = \textcolor{bw}{-0.1276} &amp;\qquad \frac{\partial L}{\partial b_1} &amp;= \delta_1 = \textcolor{bw}{-0.0638} \end{alignat*}">    </p:cNvPr>
          <p:cNvPicPr>
            <a:picLocks noChangeAspect="1"/>
          </p:cNvPicPr>
          <p:nvPr/>
        </p:nvPicPr>
        <p:blipFill>
          <a:blip r:embed="rId4"/>
          <a:stretch>
            <a:fillRect/>
          </a:stretch>
        </p:blipFill>
        <p:spPr>
          <a:xfrm>
            <a:off x="822960" y="3703320"/>
            <a:ext cx="5364480"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Automatic differentiation reproduces −0.1276 and −0.3192 (two slides on).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
        <p:nvSpPr>
          <p:cNvPr id="5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4: what if w₂ = 0?</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−0.1276</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rules for any layer: four equations</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
        <p:nvSpPr>
          <p:cNvPr id="2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computer can apply these rules for us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Automatic differentiation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mark each one: "track gradients"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every operation</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is recorded in a graph</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−(y·ln(a2) + (1 − y)·ln(1 − a2))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backward(L)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grad(w1)  →  −0.1276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grad(w2)  →  −0.3192</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Gradients accumulate</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clear them before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Turn off gradient tracking to save memory.</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−0.1276 and −0.3192.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put it all together: the training loop</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DATA</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txBody>
          <a:bodyPr/>
          <a:p/>
        </p:txBody>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txBody>
          <a:bodyPr/>
          <a:p/>
        </p:txBody>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txBody>
          <a:bodyPr/>
          <a:p/>
        </p:txBody>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learn parameters  ·  Val: pick hyperparameters (η, epochs)  ·  Test: once</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txBody>
          <a:bodyPr/>
          <a:p/>
        </p:txBody>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43400"/>
            <a:ext cx="6766560" cy="1783080"/>
          </a:xfrm>
          <a:prstGeom prst="roundRect">
            <a:avLst>
              <a:gd name="adj" fmla="val 4444"/>
            </a:avLst>
          </a:prstGeom>
          <a:solidFill>
            <a:srgbClr val="1E2735"/>
          </a:solidFill>
          <a:ln/>
        </p:spPr>
        <p:txBody>
          <a:bodyPr/>
          <a:p/>
        </p:txBody>
      </p:sp>
      <p:sp>
        <p:nvSpPr>
          <p:cNvPr id="17" name="Text 13"/>
          <p:cNvSpPr txBox="1"/>
          <p:nvPr/>
        </p:nvSpPr>
        <p:spPr>
          <a:xfrm>
            <a:off x="749808" y="4480560"/>
            <a:ext cx="6446520" cy="1554480"/>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validation: batches of 512, no shuffle, no updates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txBody>
          <a:bodyPr/>
          <a:p/>
        </p:txBody>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gradient noise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m = batch size. 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
        <p:nvSpPr>
          <p:cNvPr id="3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every step needs ∇J for every parameter: backpropagation</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training mode            </a:t>
            </a:r>
            <a:r>
              <a:rPr lang="en-US" sz="1500" dirty="0">
                <a:solidFill>
                  <a:srgbClr val="8D99AB"/>
                </a:solidFill>
                <a:latin typeface="Consolas" pitchFamily="34" charset="0"/>
                <a:ea typeface="Consolas" pitchFamily="34" charset="-122"/>
                <a:cs typeface="Consolas" pitchFamily="34" charset="-120"/>
              </a:rPr>
              <a:t xml:space="preserve"># dropout on (Part 3)</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clear old gradients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backward(loss)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θ ← θ − η∇J              </a:t>
            </a:r>
            <a:r>
              <a:rPr lang="en-US" sz="1500" dirty="0">
                <a:solidFill>
                  <a:srgbClr val="8D99AB"/>
                </a:solidFill>
                <a:latin typeface="Consolas" pitchFamily="34" charset="0"/>
                <a:ea typeface="Consolas" pitchFamily="34" charset="-122"/>
                <a:cs typeface="Consolas" pitchFamily="34" charset="-120"/>
              </a:rPr>
              <a:t xml:space="preserve"># 5 update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evaluation mode          </a:t>
            </a:r>
            <a:r>
              <a:rPr lang="en-US" sz="1500" dirty="0">
                <a:solidFill>
                  <a:srgbClr val="8D99AB"/>
                </a:solidFill>
                <a:latin typeface="Consolas" pitchFamily="34" charset="0"/>
                <a:ea typeface="Consolas" pitchFamily="34" charset="-122"/>
                <a:cs typeface="Consolas" pitchFamily="34" charset="-120"/>
              </a:rPr>
              <a:t xml:space="preserve"># dropout off</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without</a:t>
            </a:r>
            <a:r>
              <a:rPr lang="en-US" sz="1500" dirty="0">
                <a:solidFill>
                  <a:srgbClr val="E6EAF0"/>
                </a:solidFill>
                <a:latin typeface="Consolas" pitchFamily="34" charset="0"/>
                <a:ea typeface="Consolas" pitchFamily="34" charset="-122"/>
                <a:cs typeface="Consolas" pitchFamily="34" charset="-120"/>
              </a:rPr>
              <a:t xml:space="preserve"> gradient tracking:</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val_batches)</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clear ∇</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update</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Training mode to learn; evaluation mode, no gradient tracking, to validate.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run it on our running example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Val loss is best at epoch 5 (other seeds: 15, 9), yet val accuracy still creeps up: the model grows over-confident. Keep the checkpoint that is best on the metric you care about.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OF 3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break, then: making deep networks train and generalize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1:39</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40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signals and gradients at scale: initialization</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Make very deep nets trainable: residual connections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a:p>
            <a:pPr marL="0" indent="0">
              <a:spcBef>
                <a:spcPts val="800"/>
              </a:spcBef>
              <a:buNone/>
            </a:pPr>
            <a:r>
              <a:rPr lang="en-US" sz="1600" b="1" dirty="0">
                <a:solidFill>
                  <a:srgbClr val="7FD1CF"/>
                </a:solidFill>
                <a:latin typeface="Calibri" pitchFamily="34" charset="0"/>
                <a:ea typeface="Calibri" pitchFamily="34" charset="-122"/>
                <a:cs typeface="Calibri" pitchFamily="34" charset="-120"/>
              </a:rPr>
              <a:t>Break question: answered by initialization and residual connections.</a:t>
            </a:r>
            <a:endParaRPr lang="en-US" sz="16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gradient clipping, normalization (Appendix B).</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first fix: start with the right weight scale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4663440" cy="87668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W ~ Normal(0, 2 / n_in)   </a:t>
            </a:r>
            <a:r>
              <a:rPr lang="en-US" sz="1300" dirty="0">
                <a:solidFill>
                  <a:srgbClr val="8D99AB"/>
                </a:solidFill>
                <a:latin typeface="Consolas" pitchFamily="34" charset="0"/>
                <a:ea typeface="Consolas" pitchFamily="34" charset="-122"/>
                <a:cs typeface="Consolas" pitchFamily="34" charset="-120"/>
              </a:rPr>
              <a:t xml:space="preserve"># He initialization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b = 0                     </a:t>
            </a:r>
            <a:r>
              <a:rPr lang="en-US" sz="1300" dirty="0">
                <a:solidFill>
                  <a:srgbClr val="8D99AB"/>
                </a:solidFill>
                <a:latin typeface="Consolas" pitchFamily="34" charset="0"/>
                <a:ea typeface="Consolas" pitchFamily="34" charset="-122"/>
                <a:cs typeface="Consolas" pitchFamily="34" charset="-120"/>
              </a:rPr>
              <a:t xml:space="preserve"># biases may start at 0</a:t>
            </a:r>
            <a:endParaRPr lang="en-US" sz="13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Library defaults can be smaller (e.g. Var(w) = 1/(3 n_in)):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
        <p:nvSpPr>
          <p:cNvPr id="4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5: predict before the simulation</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26364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Chart: He vs Xavier; std 0.01 and 1.0 are in the table.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SEED 0 · small_figures.py</a:t>
            </a:r>
          </a:p>
        </p:txBody>
      </p:sp>
      <p:sp>
        <p:nvSpPr>
          <p:cNvPr id="4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good start, yet deep plain nets still train worse: the break question</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(20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simulation: four initializations, 20 layers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0F7C82"/>
            </a:solidFill>
            <a:prstDash val="solid"/>
          </a:ln>
        </p:spPr>
        <p:txBody>
          <a:bodyPr/>
          <a:p/>
        </p:txBody>
      </p:sp>
      <p:sp>
        <p:nvSpPr>
          <p:cNvPr id="23" name="Shape 20"/>
          <p:cNvSpPr/>
          <p:nvPr/>
        </p:nvSpPr>
        <p:spPr>
          <a:xfrm>
            <a:off x="4526280" y="1691640"/>
            <a:ext cx="91" cy="3511296"/>
          </a:xfrm>
          <a:prstGeom prst="line">
            <a:avLst/>
          </a:prstGeom>
          <a:noFill/>
          <a:ln w="31750">
            <a:solidFill>
              <a:srgbClr val="0F7C82"/>
            </a:solidFill>
            <a:prstDash val="solid"/>
          </a:ln>
        </p:spPr>
        <p:txBody>
          <a:bodyPr/>
          <a:p/>
        </p:txBody>
      </p:sp>
      <p:sp>
        <p:nvSpPr>
          <p:cNvPr id="24" name="Shape 21"/>
          <p:cNvSpPr/>
          <p:nvPr/>
        </p:nvSpPr>
        <p:spPr>
          <a:xfrm flipH="1">
            <a:off x="3035808" y="5202936"/>
            <a:ext cx="1490472" cy="91"/>
          </a:xfrm>
          <a:prstGeom prst="line">
            <a:avLst/>
          </a:prstGeom>
          <a:noFill/>
          <a:ln w="31750">
            <a:solidFill>
              <a:srgbClr val="0F7C82"/>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0F7C82"/>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0F7C82"/>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also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In He et al.'s runs, deeper plain nets trained worse; residual ones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(images); Transformers (language).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
        <p:nvSpPr>
          <p:cNvPr id="4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it trains; does it generalize? Diagnose the gap</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TUNED STEP SIZES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6: how large can η be here?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Plain gradient descent on the ravine you just saw (curvatures 1 and 25). It converges only if the learning rate η is below: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1 = 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25 = 0.08</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 / 25 = 0.04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 limit: the loss is convex</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Adam in full, and why to use AdamW</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language models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Image classifiers (CNNs)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normalization scales).</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Check your library: “Adam + weight decay” is often plain L2, not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
        <p:nvSpPr>
          <p:cNvPr id="5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but a network’s loss is not one bowl</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3200400" cy="1051560"/>
          </a:xfrm>
          <a:prstGeom prst="roundRect">
            <a:avLst>
              <a:gd name="adj" fmla="val 6957"/>
            </a:avLst>
          </a:prstGeom>
          <a:solidFill>
            <a:srgbClr val="FBEADF"/>
          </a:solidFill>
          <a:ln/>
        </p:spPr>
        <p:txBody>
          <a:bodyPr/>
          <a:p/>
        </p:txBody>
      </p:sp>
      <p:sp>
        <p:nvSpPr>
          <p:cNvPr id="7" name="Text 3"/>
          <p:cNvSpPr txBox="1"/>
          <p:nvPr/>
        </p:nvSpPr>
        <p:spPr>
          <a:xfrm>
            <a:off x="731520" y="5074920"/>
            <a:ext cx="2834640" cy="960120"/>
          </a:xfrm>
          <a:prstGeom prst="rect">
            <a:avLst/>
          </a:prstGeom>
          <a:noFill/>
          <a:ln/>
        </p:spPr>
        <p:txBody>
          <a:bodyPr wrap="square" lIns="0" tIns="0" rIns="0" bIns="0" rtlCol="0" anchor="ctr"/>
          <a:lstStyle/>
          <a:p>
            <a:pPr indent="0" marL="0">
              <a:buNone/>
            </a:pPr>
            <a:r>
              <a:rPr lang="en-US" sz="1400" b="1" dirty="0">
                <a:solidFill>
                  <a:srgbClr val="8F3A0E"/>
                </a:solidFill>
                <a:latin typeface="Calibri" pitchFamily="34" charset="0"/>
                <a:ea typeface="Calibri" pitchFamily="34" charset="-122"/>
                <a:cs typeface="Calibri" pitchFamily="34" charset="-120"/>
              </a:rPr>
              <a:t>First check: can it overfit 100 examples? If 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
        <p:nvSpPr>
          <p:cNvPr id="901" name="Running example box"/>
          <p:cNvSpPr/>
          <p:nvPr/>
        </p:nvSpPr>
        <p:spPr>
          <a:xfrm>
            <a:off x="3931920" y="5029200"/>
            <a:ext cx="3291840" cy="1051560"/>
          </a:xfrm>
          <a:prstGeom prst="roundRect">
            <a:avLst>
              <a:gd name="adj" fmla="val 6957"/>
            </a:avLst>
          </a:prstGeom>
          <a:solidFill>
            <a:srgbClr val="E2F1F1"/>
          </a:solidFill>
          <a:ln/>
        </p:spPr>
        <p:txBody>
          <a:bodyPr/>
          <a:p/>
        </p:txBody>
      </p:sp>
      <p:sp>
        <p:nvSpPr>
          <p:cNvPr id="902" name="Running example text"/>
          <p:cNvSpPr txBox="1"/>
          <p:nvPr/>
        </p:nvSpPr>
        <p:spPr>
          <a:xfrm>
            <a:off x="4114800" y="5120640"/>
            <a:ext cx="2926080" cy="868680"/>
          </a:xfrm>
          <a:prstGeom prst="rect">
            <a:avLst/>
          </a:prstGeom>
          <a:noFill/>
          <a:ln/>
        </p:spPr>
        <p:txBody>
          <a:bodyPr wrap="square" lIns="0" tIns="0" rIns="0" bIns="0" rtlCol="0" anchor="ctr"/>
          <a:lstStyle/>
          <a:p>
            <a:pPr indent="0" marL="0">
              <a:spcAft>
                <a:spcPts val="300"/>
              </a:spcAft>
              <a:buNone/>
            </a:pPr>
            <a:r>
              <a:rPr lang="en-US" sz="1200" b="1" spc="100" dirty="0">
                <a:solidFill>
                  <a:srgbClr val="0F7C82"/>
                </a:solidFill>
                <a:latin typeface="Calibri" pitchFamily="34" charset="0"/>
                <a:ea typeface="Calibri" pitchFamily="34" charset="-122"/>
                <a:cs typeface="Calibri" pitchFamily="34" charset="-120"/>
              </a:rPr>
              <a:t>OUR RUNNING EXAMPLE</a:t>
            </a:r>
          </a:p>
          <a:p>
            <a:pPr indent="0" marL="0">
              <a:buNone/>
            </a:pPr>
            <a:r>
              <a:rPr lang="en-US" sz="1400" dirty="0">
                <a:solidFill>
                  <a:srgbClr val="17202E"/>
                </a:solidFill>
                <a:latin typeface="Calibri" pitchFamily="34" charset="0"/>
                <a:ea typeface="Calibri" pitchFamily="34" charset="-122"/>
                <a:cs typeface="Calibri" pitchFamily="34" charset="-120"/>
              </a:rPr>
              <a:t>Train loss 0.14 and falling; val loss up from 0.33 (epoch 5) to 0.38. Which row?</a:t>
            </a:r>
            <a:endParaRPr lang="en-US" sz="1500" dirty="0"/>
          </a:p>
        </p:txBody>
      </p:sp>
      <p:sp>
        <p:nvSpPr>
          <p:cNvPr id="90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3: augmentation, more data for free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txBody>
          <a:bodyPr/>
          <a:p/>
        </p:txBody>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txBody>
          <a:bodyPr/>
          <a:p/>
        </p:txBody>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(nor normalization scales).</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nets with normalization: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evaluation mode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 they help our running example with only 1,000 images?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(later sessions):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training transform, fresh draw every epoch:</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crop 80–100 % of the image, resize to 28×28</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flip left–right with probability 0.5</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pixels to numbers in [0,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validation and test transform:</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to [0, 1], then standardize only</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
        <p:nvSpPr>
          <p:cNvPr id="5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4: transfer learning</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more data beats every trick</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txBody>
          <a:bodyPr/>
          <a:p/>
        </p:txBody>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 seeds: every 1,000-image variant lands within 0.6 pp of 79.8% (inconclusive). 55× more data: +8.5 pp.</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Crop + flip did not help this MLP; augmentation usually pays off with convolutional networks (later sessions).</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Bars: test accuracy at the best-validation checkpoint. Dropout 0.5, AdamW decay 0.5; crop + flip as on the augmentation slide.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fmnist_regularization.py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7: pick the next experiment</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2,000 labeled images: train 99.8%, validation 71%. Data checks pass; a related pretrained model exists. Promising next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Evaluate transfer learning with that model</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Add dropout to every layer</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wrap-up: today in three sentences</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curvature caps η, Adam helps; backprop gets every gradient for ≈ 3 forward passes.</a:t>
            </a:r>
            <a:endParaRPr lang="en-US" sz="1700" dirty="0"/>
          </a:p>
        </p:txBody>
      </p:sp>
      <p:sp>
        <p:nvSpPr>
          <p:cNvPr id="13" name="Shape 10"/>
          <p:cNvSpPr/>
          <p:nvPr/>
        </p:nvSpPr>
        <p:spPr>
          <a:xfrm>
            <a:off x="548640" y="3922776"/>
            <a:ext cx="502920" cy="502920"/>
          </a:xfrm>
          <a:prstGeom prst="ellipse">
            <a:avLst/>
          </a:prstGeom>
          <a:solidFill>
            <a:srgbClr val="4C5BD4"/>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 connections let deep nets train;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Redo the worked example, x = 1</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Count parameters: 784–256–10</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Predict the first loss for 100 classes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Derive BP2 for one hidden layer</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Write the training loop as pseudocode</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Universal approximation</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Why deep? Depth separations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When not to use a neural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A7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a:t>
            </a:r>
            <a:pPr indent="0" marL="0">
              <a:buNone/>
            </a:pPr>
            <a:r>
              <a:rPr lang="en-US" sz="1800" b="1" dirty="0">
                <a:solidFill>
                  <a:srgbClr val="17202E"/>
                </a:solidFill>
                <a:latin typeface="Calibri" pitchFamily="34" charset="0"/>
                <a:ea typeface="Calibri" pitchFamily="34" charset="-122"/>
                <a:cs typeface="Calibri" pitchFamily="34" charset="-120"/>
              </a:rPr>
              <a:t> 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W[l] has shape (n[l], n[l−1]): one row per output unit. With a batch stored as rows, the layer computes X Wᵀ + b.</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Remove the softmax layer; pass raw logits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model applies softmax, then the loss applies log-softmax again. The bug gives a 10-class loss floor near 1.46. Reading the model, not the loss plateau alone, identifies the error.</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Exactly 0</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a:t>
            </a:r>
            <a:pPr indent="0" marL="0">
              <a:buNone/>
            </a:pPr>
            <a:r>
              <a:rPr lang="en-US" sz="1800" b="1" dirty="0">
                <a:solidFill>
                  <a:srgbClr val="17202E"/>
                </a:solidFill>
                <a:latin typeface="Calibri" pitchFamily="34" charset="0"/>
                <a:ea typeface="Calibri" pitchFamily="34" charset="-122"/>
                <a:cs typeface="Calibri" pitchFamily="34" charset="-120"/>
              </a:rPr>
              <a:t> It shrinks by about √2 per layer and vanishes</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by (1/√2)¹⁹ ≈ 1.4×10⁻³ from layer 1 to layer 20. Fix: He initialization.</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 xml:space="preserve">Answer B: </a:t>
            </a:r>
            <a:pPr indent="0" marL="0">
              <a:buNone/>
            </a:pPr>
            <a:r>
              <a:rPr lang="en-US" sz="1800" b="1" dirty="0">
                <a:solidFill>
                  <a:srgbClr val="17202E"/>
                </a:solidFill>
                <a:latin typeface="Calibri" pitchFamily="34" charset="0"/>
                <a:ea typeface="Calibri" pitchFamily="34" charset="-122"/>
                <a:cs typeface="Calibri" pitchFamily="34" charset="-120"/>
              </a:rPr>
              <a:t>2 / 25 = 0.08 — the steepest direction sets the limit</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 a quadratic, gradient descent converges only if η &lt; 2/λ_max; rotating the ravine does not change its curvatures. Just below 0.08 the gentle direction shrinks only by 0.92 per step: the crawl that momentum and Adam address.</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Evaluate transfer learning with a related pretrained model</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Given checked evaluation data and a relevant pretrained representation, transfer learning is a promising experiment. It is not guaranteed to outperform augmentation or other remedies.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 a[L] = logits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(value or probabilities),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In code, a batch stores examples as rows, so a layer computes X Wᵀ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TabPFN-3 (2026) now rival them on many datasets, up to ~1M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A7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GOING FURTHER (LATER SESSIONS)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Going further</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Losses and target formats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Learning-rate schedules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B8  Activations by layer role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TRAINING MODE</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EVALUATION MODE</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conv: 64 → 128 channels, 3×3, no bias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 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batch norm over 128 channels: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MEDIAN OF 30 RUNS · small_figures.py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mse</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huber</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cross_entropy</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class indices, or (m, K)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These losses apply sigmoid or softmax themselves: pass raw outputs.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applied twice</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Gradients not cleared: they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evaluation mode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the framework cannot see</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Stored in a plain list, not registered: never updated.</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a squared-error 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at most a warning.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Update each learning-rate schedule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Update the rate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or per batch (period = epochs or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Step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 on 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fed the validation 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η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  ← one 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training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clear gradients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backward(loss_fn(model(x),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update θ; advance schedule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evaluation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val ← evaluate(model)        </a:t>
            </a:r>
            <a:r>
              <a:rPr lang="en-US" sz="1400" dirty="0">
                <a:solidFill>
                  <a:srgbClr val="8D99AB"/>
                </a:solidFill>
                <a:latin typeface="Consolas" pitchFamily="34" charset="0"/>
                <a:ea typeface="Consolas" pitchFamily="34" charset="-122"/>
                <a:cs typeface="Consolas" pitchFamily="34" charset="-120"/>
              </a:rPr>
              <a:t xml:space="preserve"># no gradient tracking</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 Prior Labs (2026). TabPFN-3: Technical Report.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 Dauphin et al. (2014). NeurIPS. Choromanska et al. (2015).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your turn, forward pass first</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YOUR TURN · 3 MINUTES</a:t>
            </a:r>
            <a:endParaRPr lang="en-US" sz="1300" dirty="0"/>
          </a:p>
        </p:txBody>
      </p:sp>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Compute z₁, a₁, z₂, a₂ and L to four decimals. Tips: e^(−1.1) ≈ 0.3329; with y = 1, L = −ln a₂.</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99" name="Steps"/>
          <p:cNvSpPr txBox="1"/>
          <p:nvPr/>
        </p:nvSpPr>
        <p:spPr>
          <a:xfrm>
            <a:off x="822960" y="3749039"/>
            <a:ext cx="5760720" cy="21945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1.  z₁ = w₁x + b₁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2.  a₁ = σ(z₁) = 1 / (1 + e^(−z₁))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3.  z₂ = w₂a₁ + b₂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4.  a₂ = σ(z₂)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5.  L = −[y ln a₂ + (1 − y) ln(1 − a₂)]</a:t>
            </a:r>
            <a:endParaRPr lang="en-US" sz="1700" dirty="0"/>
          </a:p>
        </p:txBody>
      </p:sp>
      <p:sp>
        <p:nvSpPr>
          <p:cNvPr id="10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check your forward pass</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network’s loss is not one bowl</a:t>
            </a:r>
            <a:endParaRPr lang="en-US" sz="3200" dirty="0"/>
          </a:p>
        </p:txBody>
      </p:sp>
      <p:pic>
        <p:nvPicPr>
          <p:cNvPr id="5" name="Image 0" descr="Left: plain gradient descent on a one-weight toy loss from three starts ends in three different valleys of nearly equal loss (0.00, 0.02, 0.04). Right: gradient descent next to a saddle point: the loss drops, stalls on a plateau, then drops again.">    </p:cNvPr>
          <p:cNvPicPr>
            <a:picLocks noChangeAspect="1"/>
          </p:cNvPicPr>
          <p:nvPr/>
        </p:nvPicPr>
        <p:blipFill>
          <a:blip r:embed="rId5"/>
          <a:stretch>
            <a:fillRect/>
          </a:stretch>
        </p:blipFill>
        <p:spPr>
          <a:xfrm>
            <a:off x="2633472" y="1371600"/>
            <a:ext cx="6925665" cy="2514600"/>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Left: gradient descent from three starts ends in three different valleys.   Right: near a saddle point the loss stalls, then drops.</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GRADIENT DESCENT STILL WORKS</a:t>
            </a:r>
            <a:endParaRPr lang="en-US" sz="1300" dirty="0"/>
          </a:p>
        </p:txBody>
      </p:sp>
      <p:sp>
        <p:nvSpPr>
          <p:cNvPr id="9" name="Text 5"/>
          <p:cNvSpPr txBox="1"/>
          <p:nvPr/>
        </p:nvSpPr>
        <p:spPr>
          <a:xfrm>
            <a:off x="749808" y="4800600"/>
            <a:ext cx="4572000" cy="123444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Logistic regression has one bowl. A network has many valleys and flat regions, yet in large networks most valleys that gradient descent reaches are about equally good.</a:t>
            </a:r>
            <a:endParaRPr lang="en-US" sz="1600" dirty="0"/>
          </a:p>
        </p:txBody>
      </p:sp>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Many valleys</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Different starts, different weights.</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Flat regions</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Tiny gradients, slow progress.</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The seed matters</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It sets the start and batch order.</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Run several seeds</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One run can mislead.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figures_v7.py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step on all 55,000 images is slow: use mini-batches</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Transfer learning: reuse features learned on big data</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Pretrained feature extractor</a:t>
            </a:r>
            <a:endParaRPr lang="en-US" sz="1900" dirty="0"/>
          </a:p>
        </p:txBody>
      </p:sp>
      <p:pic>
        <p:nvPicPr>
          <p:cNvPr id="10" name="Image 0" descr="LaTeX: \h = F_{\text{pre}}(\x)">    </p:cNvPr>
          <p:cNvPicPr>
            <a:picLocks noChangeAspect="1"/>
          </p:cNvPicPr>
          <p:nvPr/>
        </p:nvPicPr>
        <p:blipFill>
          <a:blip r:embed="rId5"/>
          <a:stretch>
            <a:fillRect/>
          </a:stretch>
        </p:blipFill>
        <p:spPr>
          <a:xfrm>
            <a:off x="3214116" y="2240280"/>
            <a:ext cx="1344168" cy="338328"/>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New output layer</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2011680" y="3291840"/>
            <a:ext cx="3749040" cy="91"/>
          </a:xfrm>
          <a:prstGeom prst="line">
            <a:avLst/>
          </a:prstGeom>
          <a:noFill/>
          <a:ln w="22225">
            <a:solidFill>
              <a:srgbClr val="0A5559"/>
            </a:solidFill>
            <a:prstDash val="solid"/>
            <a:headEnd type="triangle"/>
            <a:tailEnd type="triangle"/>
          </a:ln>
        </p:spPr>
      </p:sp>
      <p:sp>
        <p:nvSpPr>
          <p:cNvPr id="19" name="Text 14"/>
          <p:cNvSpPr txBox="1"/>
          <p:nvPr/>
        </p:nvSpPr>
        <p:spPr>
          <a:xfrm>
            <a:off x="1920240" y="3401568"/>
            <a:ext cx="3931920" cy="365760"/>
          </a:xfrm>
          <a:prstGeom prst="rect">
            <a:avLst/>
          </a:prstGeom>
          <a:noFill/>
          <a:ln/>
        </p:spPr>
        <p:txBody>
          <a:bodyPr wrap="square" lIns="0" tIns="0" rIns="0" bIns="0" rtlCol="0" anchor="t"/>
          <a:lstStyle/>
          <a:p>
            <a:pPr algn="ctr" indent="0" marL="0">
              <a:buNone/>
            </a:pPr>
            <a:r>
              <a:rPr lang="en-US" sz="1700" i="1" dirty="0">
                <a:solidFill>
                  <a:srgbClr val="0A5559"/>
                </a:solidFill>
                <a:latin typeface="Calibri" pitchFamily="34" charset="0"/>
                <a:ea typeface="Calibri" pitchFamily="34" charset="-122"/>
                <a:cs typeface="Calibri" pitchFamily="34" charset="-120"/>
              </a:rPr>
              <a:t>pretrained on a large dataset</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Freeze, train the head</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extractor fixed; train only the new output layer. Best with very little data.</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Fine-tune with a small η</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Then update all layers gently. Helps when your images differ more from the original data.</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Match the original inputs</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Preprocess (image size, standardization) exactly as the pretrained model expects.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remedies 5 and 6: weight decay and dropout</a:t>
            </a:r>
            <a:endParaRPr lang="en-US" sz="1100" dirty="0"/>
          </a:p>
        </p:txBody>
      </p:sp>
      <p:sp>
        <p:nvSpPr>
          <p:cNvPr id="36" name="Head bracket"/>
          <p:cNvSpPr/>
          <p:nvPr/>
        </p:nvSpPr>
        <p:spPr>
          <a:xfrm flipH="1">
            <a:off x="6583680" y="3291840"/>
            <a:ext cx="3108960" cy="91"/>
          </a:xfrm>
          <a:prstGeom prst="line">
            <a:avLst/>
          </a:prstGeom>
          <a:noFill/>
          <a:ln w="22225">
            <a:solidFill>
              <a:srgbClr val="8A94A3"/>
            </a:solidFill>
            <a:prstDash val="solid"/>
            <a:headEnd type="triangle"/>
            <a:tailEnd type="triangle"/>
          </a:ln>
        </p:spPr>
      </p:sp>
      <p:sp>
        <p:nvSpPr>
          <p:cNvPr id="37" name="Head label"/>
          <p:cNvSpPr txBox="1"/>
          <p:nvPr/>
        </p:nvSpPr>
        <p:spPr>
          <a:xfrm>
            <a:off x="6492240" y="3401568"/>
            <a:ext cx="3291840" cy="365760"/>
          </a:xfrm>
          <a:prstGeom prst="rect">
            <a:avLst/>
          </a:prstGeom>
          <a:noFill/>
          <a:ln/>
        </p:spPr>
        <p:txBody>
          <a:bodyPr wrap="square" lIns="0" tIns="0" rIns="0" bIns="0" rtlCol="0" anchor="t"/>
          <a:lstStyle/>
          <a:p>
            <a:pPr algn="ctr" indent="0" marL="0">
              <a:buNone/>
            </a:pPr>
            <a:r>
              <a:rPr lang="en-US" sz="1700" i="1" dirty="0">
                <a:solidFill>
                  <a:srgbClr val="5B6675"/>
                </a:solidFill>
                <a:latin typeface="Calibri" pitchFamily="34" charset="0"/>
                <a:ea typeface="Calibri" pitchFamily="34" charset="-122"/>
                <a:cs typeface="Calibri" pitchFamily="34" charset="-120"/>
              </a:rPr>
              <a:t>new: trained on your small dataset</a:t>
            </a:r>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