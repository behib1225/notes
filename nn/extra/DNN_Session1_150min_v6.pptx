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11"/>
    <p:sldId id="266" r:id="rId12"/>
    <p:sldId id="260" r:id="rId6"/>
    <p:sldId id="261" r:id="rId7"/>
    <p:sldId id="262" r:id="rId8"/>
    <p:sldId id="263" r:id="rId9"/>
    <p:sldId id="267" r:id="rId13"/>
    <p:sldId id="268" r:id="rId14"/>
    <p:sldId id="269" r:id="rId15"/>
    <p:sldId id="264" r:id="rId10"/>
    <p:sldId id="272" r:id="rId18"/>
    <p:sldId id="271" r:id="rId17"/>
    <p:sldId id="276" r:id="rId22"/>
    <p:sldId id="273" r:id="rId19"/>
    <p:sldId id="274" r:id="rId20"/>
    <p:sldId id="275" r:id="rId21"/>
    <p:sldId id="277" r:id="rId23"/>
    <p:sldId id="278" r:id="rId24"/>
    <p:sldId id="279" r:id="rId25"/>
    <p:sldId id="280" r:id="rId26"/>
    <p:sldId id="281" r:id="rId27"/>
    <p:sldId id="282" r:id="rId28"/>
    <p:sldId id="270" r:id="rId16"/>
    <p:sldId id="290" r:id="rId36"/>
    <p:sldId id="329" r:id="rId80"/>
    <p:sldId id="291" r:id="rId37"/>
    <p:sldId id="283" r:id="rId29"/>
    <p:sldId id="328" r:id="rId79"/>
    <p:sldId id="284" r:id="rId30"/>
    <p:sldId id="285" r:id="rId31"/>
    <p:sldId id="286" r:id="rId32"/>
    <p:sldId id="289" r:id="rId35"/>
    <p:sldId id="287" r:id="rId33"/>
    <p:sldId id="288" r:id="rId34"/>
    <p:sldId id="292" r:id="rId38"/>
    <p:sldId id="294" r:id="rId40"/>
    <p:sldId id="295" r:id="rId41"/>
    <p:sldId id="296" r:id="rId42"/>
    <p:sldId id="297" r:id="rId43"/>
    <p:sldId id="298" r:id="rId44"/>
    <p:sldId id="300" r:id="rId46"/>
    <p:sldId id="299" r:id="rId45"/>
    <p:sldId id="301" r:id="rId47"/>
    <p:sldId id="302" r:id="rId48"/>
    <p:sldId id="304" r:id="rId50"/>
    <p:sldId id="303" r:id="rId49"/>
    <p:sldId id="310" r:id="rId56"/>
    <p:sldId id="309" r:id="rId55"/>
    <p:sldId id="330" r:id="rId81"/>
    <p:sldId id="308" r:id="rId54"/>
    <p:sldId id="306" r:id="rId52"/>
    <p:sldId id="311" r:id="rId57"/>
    <p:sldId id="313" r:id="rId59"/>
    <p:sldId id="314" r:id="rId60"/>
    <p:sldId id="315" r:id="rId61"/>
    <p:sldId id="316" r:id="rId62"/>
    <p:sldId id="317" r:id="rId63"/>
    <p:sldId id="318" r:id="rId64"/>
    <p:sldId id="319" r:id="rId65"/>
    <p:sldId id="320" r:id="rId66"/>
    <p:sldId id="324" r:id="rId70"/>
    <p:sldId id="327" r:id="rId78"/>
    <p:sldId id="305" r:id="rId51"/>
    <p:sldId id="322" r:id="rId68"/>
    <p:sldId id="307" r:id="rId53"/>
    <p:sldId id="321" r:id="rId67"/>
    <p:sldId id="293" r:id="rId39"/>
    <p:sldId id="323" r:id="rId69"/>
    <p:sldId id="312" r:id="rId58"/>
    <p:sldId id="325" r:id="rId71"/>
    <p:sldId id="326" r:id="rId72"/>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8d3382c-ddd2-9ac2-3fa3-dbe7f2e9369f}">
          <p14:sldIdLst>
            <p14:sldId id="256"/>
            <p14:sldId id="257"/>
            <p14:sldId id="258"/>
          </p14:sldIdLst>
        </p14:section>
        <p14:section name="Part 1 · Foundations" id="{38d216f5-a890-aa53-cbf9-0c51d84a2125}">
          <p14:sldIdLst>
            <p14:sldId id="259"/>
            <p14:sldId id="260"/>
            <p14:sldId id="261"/>
            <p14:sldId id="262"/>
            <p14:sldId id="263"/>
            <p14:sldId id="264"/>
            <p14:sldId id="265"/>
            <p14:sldId id="266"/>
            <p14:sldId id="267"/>
            <p14:sldId id="268"/>
            <p14:sldId id="269"/>
            <p14:sldId id="270"/>
            <p14:sldId id="271"/>
            <p14:sldId id="272"/>
            <p14:sldId id="273"/>
            <p14:sldId id="274"/>
            <p14:sldId id="275"/>
            <p14:sldId id="276"/>
          </p14:sldIdLst>
        </p14:section>
        <p14:section name="Part 2 · Learning" id="{2386b4d6-e5dc-6678-f43a-757e59c289bc}">
          <p14:sldIdLst>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Break" id="{2e033c54-974f-97f5-3583-c703b213daff}">
          <p14:sldIdLst>
            <p14:sldId id="295"/>
          </p14:sldIdLst>
        </p14:section>
        <p14:section name="Part 3 · Train &amp; generalize" id="{b15ba2d3-d00d-0185-25f4-e08cebd03e56}">
          <p14:sldIdLst>
            <p14:sldId id="296"/>
            <p14:sldId id="297"/>
            <p14:sldId id="298"/>
            <p14:sldId id="299"/>
            <p14:sldId id="300"/>
            <p14:sldId id="301"/>
            <p14:sldId id="302"/>
            <p14:sldId id="303"/>
            <p14:sldId id="304"/>
            <p14:sldId id="305"/>
            <p14:sldId id="306"/>
            <p14:sldId id="307"/>
            <p14:sldId id="308"/>
            <p14:sldId id="309"/>
            <p14:sldId id="310"/>
            <p14:sldId id="311"/>
            <p14:sldId id="312"/>
          </p14:sldIdLst>
        </p14:section>
        <p14:section name="Wrap-up" id="{cf350e3e-c114-be34-a98f-fdf6330e26f7}">
          <p14:sldIdLst>
            <p14:sldId id="313"/>
          </p14:sldIdLst>
        </p14:section>
        <p14:section name="Appendix" id="{4b396058-6324-5b93-1d70-5ad9a0249172}">
          <p14:sldIdLst>
            <p14:sldId id="314"/>
            <p14:sldId id="315"/>
            <p14:sldId id="316"/>
            <p14:sldId id="317"/>
            <p14:sldId id="318"/>
            <p14:sldId id="319"/>
            <p14:sldId id="320"/>
            <p14:sldId id="321"/>
            <p14:sldId id="322"/>
            <p14:sldId id="323"/>
            <p14:sldId id="324"/>
            <p14:sldId id="325"/>
            <p14:sldId id="32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4.xml"/><Relationship Id="rId11" Type="http://schemas.openxmlformats.org/officeDocument/2006/relationships/slide" Target="slides/slide5.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27.xml"/><Relationship Id="rId17" Type="http://schemas.openxmlformats.org/officeDocument/2006/relationships/slide" Target="slides/slide15.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16.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3.xml"/><Relationship Id="rId36" Type="http://schemas.openxmlformats.org/officeDocument/2006/relationships/slide" Target="slides/slide2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68.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8.xml"/><Relationship Id="rId50" Type="http://schemas.openxmlformats.org/officeDocument/2006/relationships/slide" Target="slides/slide47.xml"/><Relationship Id="rId51" Type="http://schemas.openxmlformats.org/officeDocument/2006/relationships/slide" Target="slides/slide64.xml"/><Relationship Id="rId52" Type="http://schemas.openxmlformats.org/officeDocument/2006/relationships/slide" Target="slides/slide52.xml"/><Relationship Id="rId53" Type="http://schemas.openxmlformats.org/officeDocument/2006/relationships/slide" Target="slides/slide66.xml"/><Relationship Id="rId54" Type="http://schemas.openxmlformats.org/officeDocument/2006/relationships/slide" Target="slides/slide50.xml"/><Relationship Id="rId55" Type="http://schemas.openxmlformats.org/officeDocument/2006/relationships/slide" Target="slides/slide51.xml"/><Relationship Id="rId56" Type="http://schemas.openxmlformats.org/officeDocument/2006/relationships/slide" Target="slides/slide49.xml"/><Relationship Id="rId57" Type="http://schemas.openxmlformats.org/officeDocument/2006/relationships/slide" Target="slides/slide53.xml"/><Relationship Id="rId58" Type="http://schemas.openxmlformats.org/officeDocument/2006/relationships/slide" Target="slides/slide70.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7.xml"/><Relationship Id="rId68" Type="http://schemas.openxmlformats.org/officeDocument/2006/relationships/slide" Target="slides/slide65.xml"/><Relationship Id="rId69" Type="http://schemas.openxmlformats.org/officeDocument/2006/relationships/slide" Target="slides/slide69.xml"/><Relationship Id="rId70" Type="http://schemas.openxmlformats.org/officeDocument/2006/relationships/slide" Target="slides/slide62.xml"/><Relationship Id="rId71" Type="http://schemas.openxmlformats.org/officeDocument/2006/relationships/slide" Target="slides/slide71.xml"/><Relationship Id="rId72" Type="http://schemas.openxmlformats.org/officeDocument/2006/relationships/slide" Target="slides/slide72.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63.xml"/>  <Relationship Id="rId79" Type="http://schemas.openxmlformats.org/officeDocument/2006/relationships/slide" Target="slides/slide73.xml"/>
  <Relationship Id="rId80" Type="http://schemas.openxmlformats.org/officeDocument/2006/relationships/slide" Target="slides/slide74.xml"/>
  <Relationship Id="rId81" Type="http://schemas.openxmlformats.org/officeDocument/2006/relationships/slide" Target="slides/slide75.xml"/>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σ(z)</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σ′(z)</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
          <c:min val="-6"/>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Activation g(z)</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0.0067</c:v>
                </c:pt>
                <c:pt idx="5">
                  <c:v>0.0086</c:v>
                </c:pt>
                <c:pt idx="6">
                  <c:v>0.011</c:v>
                </c:pt>
                <c:pt idx="7">
                  <c:v>0.0141</c:v>
                </c:pt>
                <c:pt idx="8">
                  <c:v>0.018</c:v>
                </c:pt>
                <c:pt idx="9">
                  <c:v>0.023</c:v>
                </c:pt>
                <c:pt idx="10">
                  <c:v>0.0293</c:v>
                </c:pt>
                <c:pt idx="11">
                  <c:v>0.0373</c:v>
                </c:pt>
                <c:pt idx="12">
                  <c:v>0.0474</c:v>
                </c:pt>
                <c:pt idx="13">
                  <c:v>0.0601</c:v>
                </c:pt>
                <c:pt idx="14">
                  <c:v>0.0759</c:v>
                </c:pt>
                <c:pt idx="15">
                  <c:v>0.0953</c:v>
                </c:pt>
                <c:pt idx="16">
                  <c:v>0.1192</c:v>
                </c:pt>
                <c:pt idx="17">
                  <c:v>0.148</c:v>
                </c:pt>
                <c:pt idx="18">
                  <c:v>0.1824</c:v>
                </c:pt>
                <c:pt idx="19">
                  <c:v>0.2227</c:v>
                </c:pt>
                <c:pt idx="20">
                  <c:v>0.2689</c:v>
                </c:pt>
                <c:pt idx="21">
                  <c:v>0.3208</c:v>
                </c:pt>
                <c:pt idx="22">
                  <c:v>0.3775</c:v>
                </c:pt>
                <c:pt idx="23">
                  <c:v>0.4378</c:v>
                </c:pt>
                <c:pt idx="24">
                  <c:v>0.5</c:v>
                </c:pt>
                <c:pt idx="25">
                  <c:v>0.5622</c:v>
                </c:pt>
                <c:pt idx="26">
                  <c:v>0.6225</c:v>
                </c:pt>
                <c:pt idx="27">
                  <c:v>0.6792</c:v>
                </c:pt>
                <c:pt idx="28">
                  <c:v>0.7311</c:v>
                </c:pt>
                <c:pt idx="29">
                  <c:v>0.7773</c:v>
                </c:pt>
                <c:pt idx="30">
                  <c:v>0.8176</c:v>
                </c:pt>
                <c:pt idx="31">
                  <c:v>0.852</c:v>
                </c:pt>
                <c:pt idx="32">
                  <c:v>0.8808</c:v>
                </c:pt>
                <c:pt idx="33">
                  <c:v>0.9047</c:v>
                </c:pt>
                <c:pt idx="34">
                  <c:v>0.9241</c:v>
                </c:pt>
                <c:pt idx="35">
                  <c:v>0.9399</c:v>
                </c:pt>
                <c:pt idx="36">
                  <c:v>0.9526</c:v>
                </c:pt>
                <c:pt idx="37">
                  <c:v>0.9627</c:v>
                </c:pt>
                <c:pt idx="38">
                  <c:v>0.9707</c:v>
                </c:pt>
                <c:pt idx="39">
                  <c:v>0.977</c:v>
                </c:pt>
                <c:pt idx="40">
                  <c:v>0.982</c:v>
                </c:pt>
                <c:pt idx="41">
                  <c:v>0.9859</c:v>
                </c:pt>
                <c:pt idx="42">
                  <c:v>0.989</c:v>
                </c:pt>
                <c:pt idx="43">
                  <c:v>0.9914</c:v>
                </c:pt>
                <c:pt idx="44">
                  <c:v>0.9933</c:v>
                </c:pt>
                <c:pt idx="45">
                  <c:v>0.9948</c:v>
                </c:pt>
                <c:pt idx="46">
                  <c:v>0.9959</c:v>
                </c:pt>
                <c:pt idx="47">
                  <c:v>0.9968</c:v>
                </c:pt>
                <c:pt idx="48">
                  <c:v>0.9975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-1</c:v>
                </c:pt>
                <c:pt idx="1">
                  <c:v>-1</c:v>
                </c:pt>
                <c:pt idx="2">
                  <c:v>-1</c:v>
                </c:pt>
                <c:pt idx="3">
                  <c:v>-0.9999</c:v>
                </c:pt>
                <c:pt idx="4">
                  <c:v>-0.9999</c:v>
                </c:pt>
                <c:pt idx="5">
                  <c:v>-0.9999</c:v>
                </c:pt>
                <c:pt idx="6">
                  <c:v>-0.9998</c:v>
                </c:pt>
                <c:pt idx="7">
                  <c:v>-0.9996</c:v>
                </c:pt>
                <c:pt idx="8">
                  <c:v>-0.9993</c:v>
                </c:pt>
                <c:pt idx="9">
                  <c:v>-0.9989</c:v>
                </c:pt>
                <c:pt idx="10">
                  <c:v>-0.9982</c:v>
                </c:pt>
                <c:pt idx="11">
                  <c:v>-0.997</c:v>
                </c:pt>
                <c:pt idx="12">
                  <c:v>-0.9951</c:v>
                </c:pt>
                <c:pt idx="13">
                  <c:v>-0.9919</c:v>
                </c:pt>
                <c:pt idx="14">
                  <c:v>-0.9866</c:v>
                </c:pt>
                <c:pt idx="15">
                  <c:v>-0.978</c:v>
                </c:pt>
                <c:pt idx="16">
                  <c:v>-0.964</c:v>
                </c:pt>
                <c:pt idx="17">
                  <c:v>-0.9414</c:v>
                </c:pt>
                <c:pt idx="18">
                  <c:v>-0.9051</c:v>
                </c:pt>
                <c:pt idx="19">
                  <c:v>-0.8483</c:v>
                </c:pt>
                <c:pt idx="20">
                  <c:v>-0.7616</c:v>
                </c:pt>
                <c:pt idx="21">
                  <c:v>-0.6351</c:v>
                </c:pt>
                <c:pt idx="22">
                  <c:v>-0.4621</c:v>
                </c:pt>
                <c:pt idx="23">
                  <c:v>-0.2449</c:v>
                </c:pt>
                <c:pt idx="24">
                  <c:v>0</c:v>
                </c:pt>
                <c:pt idx="25">
                  <c:v>0.2449</c:v>
                </c:pt>
                <c:pt idx="26">
                  <c:v>0.4621</c:v>
                </c:pt>
                <c:pt idx="27">
                  <c:v>0.6351</c:v>
                </c:pt>
                <c:pt idx="28">
                  <c:v>0.7616</c:v>
                </c:pt>
                <c:pt idx="29">
                  <c:v>0.8483</c:v>
                </c:pt>
                <c:pt idx="30">
                  <c:v>0.9051</c:v>
                </c:pt>
                <c:pt idx="31">
                  <c:v>0.9414</c:v>
                </c:pt>
                <c:pt idx="32">
                  <c:v>0.964</c:v>
                </c:pt>
                <c:pt idx="33">
                  <c:v>0.978</c:v>
                </c:pt>
                <c:pt idx="34">
                  <c:v>0.9866</c:v>
                </c:pt>
                <c:pt idx="35">
                  <c:v>0.9919</c:v>
                </c:pt>
                <c:pt idx="36">
                  <c:v>0.9951</c:v>
                </c:pt>
                <c:pt idx="37">
                  <c:v>0.997</c:v>
                </c:pt>
                <c:pt idx="38">
                  <c:v>0.9982</c:v>
                </c:pt>
                <c:pt idx="39">
                  <c:v>0.9989</c:v>
                </c:pt>
                <c:pt idx="40">
                  <c:v>0.9993</c:v>
                </c:pt>
                <c:pt idx="41">
                  <c:v>0.9996</c:v>
                </c:pt>
                <c:pt idx="42">
                  <c:v>0.9998</c:v>
                </c:pt>
                <c:pt idx="43">
                  <c:v>0.9999</c:v>
                </c:pt>
                <c:pt idx="44">
                  <c:v>0.9999</c:v>
                </c:pt>
                <c:pt idx="45">
                  <c:v>0.9999</c:v>
                </c:pt>
                <c:pt idx="46">
                  <c:v>1</c:v>
                </c:pt>
                <c:pt idx="47">
                  <c:v>1</c:v>
                </c:pt>
                <c:pt idx="48">
                  <c:v>1</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Derivative g′(z): what backprop multiplies</a:t>
            </a:r>
          </a:p>
        </c:rich>
      </c:tx>
      <c:layout/>
      <c:overlay val="0"/>
    </c:title>
    <c:autoTitleDeleted val="0"/>
    <c:plotArea>
      <c:layout/>
      <c:scatterChart>
        <c:scatterStyle val="lineMarker"/>
        <c:varyColors val="0"/>
        <c:ser>
          <c:idx val="0"/>
          <c:order val="0"/>
          <c:tx>
            <c:strRef>
              <c:f>Sheet1!$B$1</c:f>
              <c:strCache>
                <c:ptCount val="1"/>
                <c:pt idx="0">
                  <c:v>sigmoid′</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Sheet1!$B$2:$B$50</c:f>
              <c:numCache>
                <c:formatCode>General</c:formatCode>
                <c:ptCount val="49"/>
                <c:pt idx="0">
                  <c:v>0.0025</c:v>
                </c:pt>
                <c:pt idx="1">
                  <c:v>0.0032</c:v>
                </c:pt>
                <c:pt idx="2">
                  <c:v>0.0041</c:v>
                </c:pt>
                <c:pt idx="3">
                  <c:v>0.0052</c:v>
                </c:pt>
                <c:pt idx="4">
                  <c:v>0.0066</c:v>
                </c:pt>
                <c:pt idx="5">
                  <c:v>0.0085</c:v>
                </c:pt>
                <c:pt idx="6">
                  <c:v>0.0109</c:v>
                </c:pt>
                <c:pt idx="7">
                  <c:v>0.0139</c:v>
                </c:pt>
                <c:pt idx="8">
                  <c:v>0.0177</c:v>
                </c:pt>
                <c:pt idx="9">
                  <c:v>0.0224</c:v>
                </c:pt>
                <c:pt idx="10">
                  <c:v>0.0285</c:v>
                </c:pt>
                <c:pt idx="11">
                  <c:v>0.0359</c:v>
                </c:pt>
                <c:pt idx="12">
                  <c:v>0.0452</c:v>
                </c:pt>
                <c:pt idx="13">
                  <c:v>0.0565</c:v>
                </c:pt>
                <c:pt idx="14">
                  <c:v>0.0701</c:v>
                </c:pt>
                <c:pt idx="15">
                  <c:v>0.0863</c:v>
                </c:pt>
                <c:pt idx="16">
                  <c:v>0.105</c:v>
                </c:pt>
                <c:pt idx="17">
                  <c:v>0.1261</c:v>
                </c:pt>
                <c:pt idx="18">
                  <c:v>0.1491</c:v>
                </c:pt>
                <c:pt idx="19">
                  <c:v>0.1731</c:v>
                </c:pt>
                <c:pt idx="20">
                  <c:v>0.1966</c:v>
                </c:pt>
                <c:pt idx="21">
                  <c:v>0.2179</c:v>
                </c:pt>
                <c:pt idx="22">
                  <c:v>0.235</c:v>
                </c:pt>
                <c:pt idx="23">
                  <c:v>0.2461</c:v>
                </c:pt>
                <c:pt idx="24">
                  <c:v>0.25</c:v>
                </c:pt>
                <c:pt idx="25">
                  <c:v>0.2461</c:v>
                </c:pt>
                <c:pt idx="26">
                  <c:v>0.235</c:v>
                </c:pt>
                <c:pt idx="27">
                  <c:v>0.2179</c:v>
                </c:pt>
                <c:pt idx="28">
                  <c:v>0.1966</c:v>
                </c:pt>
                <c:pt idx="29">
                  <c:v>0.1731</c:v>
                </c:pt>
                <c:pt idx="30">
                  <c:v>0.1491</c:v>
                </c:pt>
                <c:pt idx="31">
                  <c:v>0.1261</c:v>
                </c:pt>
                <c:pt idx="32">
                  <c:v>0.105</c:v>
                </c:pt>
                <c:pt idx="33">
                  <c:v>0.0863</c:v>
                </c:pt>
                <c:pt idx="34">
                  <c:v>0.0701</c:v>
                </c:pt>
                <c:pt idx="35">
                  <c:v>0.0565</c:v>
                </c:pt>
                <c:pt idx="36">
                  <c:v>0.0452</c:v>
                </c:pt>
                <c:pt idx="37">
                  <c:v>0.0359</c:v>
                </c:pt>
                <c:pt idx="38">
                  <c:v>0.0285</c:v>
                </c:pt>
                <c:pt idx="39">
                  <c:v>0.0224</c:v>
                </c:pt>
                <c:pt idx="40">
                  <c:v>0.0177</c:v>
                </c:pt>
                <c:pt idx="41">
                  <c:v>0.0139</c:v>
                </c:pt>
                <c:pt idx="42">
                  <c:v>0.0109</c:v>
                </c:pt>
                <c:pt idx="43">
                  <c:v>0.0085</c:v>
                </c:pt>
                <c:pt idx="44">
                  <c:v>0.0066</c:v>
                </c:pt>
                <c:pt idx="45">
                  <c:v>0.0052</c:v>
                </c:pt>
                <c:pt idx="46">
                  <c:v>0.0041</c:v>
                </c:pt>
                <c:pt idx="47">
                  <c:v>0.0032</c:v>
                </c:pt>
                <c:pt idx="48">
                  <c:v>0.0025</c:v>
                </c:pt>
              </c:numCache>
            </c:numRef>
          </c:yVal>
          <c:smooth val="0"/>
        </c:ser>
        <c:ser>
          <c:idx val="1"/>
          <c:order val="1"/>
          <c:tx>
            <c:strRef>
              <c:f>Sheet1!$C$1</c:f>
              <c:strCache>
                <c:ptCount val="1"/>
                <c:pt idx="0">
                  <c:v>tanh′</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Sheet1!$C$2:$C$50</c:f>
              <c:numCache>
                <c:formatCode>General</c:formatCode>
                <c:ptCount val="49"/>
                <c:pt idx="0">
                  <c:v>0</c:v>
                </c:pt>
                <c:pt idx="1">
                  <c:v>0</c:v>
                </c:pt>
                <c:pt idx="2">
                  <c:v>0.0001</c:v>
                </c:pt>
                <c:pt idx="3">
                  <c:v>0.0001</c:v>
                </c:pt>
                <c:pt idx="4">
                  <c:v>0.0002</c:v>
                </c:pt>
                <c:pt idx="5">
                  <c:v>0.0003</c:v>
                </c:pt>
                <c:pt idx="6">
                  <c:v>0.0005</c:v>
                </c:pt>
                <c:pt idx="7">
                  <c:v>0.0008</c:v>
                </c:pt>
                <c:pt idx="8">
                  <c:v>0.0013</c:v>
                </c:pt>
                <c:pt idx="9">
                  <c:v>0.0022</c:v>
                </c:pt>
                <c:pt idx="10">
                  <c:v>0.0036</c:v>
                </c:pt>
                <c:pt idx="11">
                  <c:v>0.006</c:v>
                </c:pt>
                <c:pt idx="12">
                  <c:v>0.0099</c:v>
                </c:pt>
                <c:pt idx="13">
                  <c:v>0.0162</c:v>
                </c:pt>
                <c:pt idx="14">
                  <c:v>0.0266</c:v>
                </c:pt>
                <c:pt idx="15">
                  <c:v>0.0435</c:v>
                </c:pt>
                <c:pt idx="16">
                  <c:v>0.0707</c:v>
                </c:pt>
                <c:pt idx="17">
                  <c:v>0.1138</c:v>
                </c:pt>
                <c:pt idx="18">
                  <c:v>0.1807</c:v>
                </c:pt>
                <c:pt idx="19">
                  <c:v>0.2804</c:v>
                </c:pt>
                <c:pt idx="20">
                  <c:v>0.42</c:v>
                </c:pt>
                <c:pt idx="21">
                  <c:v>0.5966</c:v>
                </c:pt>
                <c:pt idx="22">
                  <c:v>0.7864</c:v>
                </c:pt>
                <c:pt idx="23">
                  <c:v>0.94</c:v>
                </c:pt>
                <c:pt idx="24">
                  <c:v>1</c:v>
                </c:pt>
                <c:pt idx="25">
                  <c:v>0.94</c:v>
                </c:pt>
                <c:pt idx="26">
                  <c:v>0.7864</c:v>
                </c:pt>
                <c:pt idx="27">
                  <c:v>0.5966</c:v>
                </c:pt>
                <c:pt idx="28">
                  <c:v>0.42</c:v>
                </c:pt>
                <c:pt idx="29">
                  <c:v>0.2804</c:v>
                </c:pt>
                <c:pt idx="30">
                  <c:v>0.1807</c:v>
                </c:pt>
                <c:pt idx="31">
                  <c:v>0.1138</c:v>
                </c:pt>
                <c:pt idx="32">
                  <c:v>0.0707</c:v>
                </c:pt>
                <c:pt idx="33">
                  <c:v>0.0435</c:v>
                </c:pt>
                <c:pt idx="34">
                  <c:v>0.0266</c:v>
                </c:pt>
                <c:pt idx="35">
                  <c:v>0.0162</c:v>
                </c:pt>
                <c:pt idx="36">
                  <c:v>0.0099</c:v>
                </c:pt>
                <c:pt idx="37">
                  <c:v>0.006</c:v>
                </c:pt>
                <c:pt idx="38">
                  <c:v>0.0036</c:v>
                </c:pt>
                <c:pt idx="39">
                  <c:v>0.0022</c:v>
                </c:pt>
                <c:pt idx="40">
                  <c:v>0.0013</c:v>
                </c:pt>
                <c:pt idx="41">
                  <c:v>0.0008</c:v>
                </c:pt>
                <c:pt idx="42">
                  <c:v>0.0005</c:v>
                </c:pt>
                <c:pt idx="43">
                  <c:v>0.0003</c:v>
                </c:pt>
                <c:pt idx="44">
                  <c:v>0.0002</c:v>
                </c:pt>
                <c:pt idx="45">
                  <c:v>0.0001</c:v>
                </c:pt>
                <c:pt idx="46">
                  <c:v>0.0001</c:v>
                </c:pt>
                <c:pt idx="47">
                  <c:v>0</c:v>
                </c:pt>
                <c:pt idx="48">
                  <c:v>0</c:v>
                </c:pt>
              </c:numCache>
            </c:numRef>
          </c:yVal>
          <c:smooth val="0"/>
        </c:ser>
        <c:ser>
          <c:idx val="2"/>
          <c:order val="2"/>
          <c:tx>
            <c:strRef>
              <c:f>Sheet1!$D$1</c:f>
              <c:strCache>
                <c:ptCount val="1"/>
                <c:pt idx="0">
                  <c:v>ReLU′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Sheet1!$A$2:$A$50</c:f>
              <c:numCache>
                <c:formatCode>General</c:formatCode>
                <c:ptCount val="49"/>
                <c:pt idx="0">
                  <c:v>-6</c:v>
                </c:pt>
                <c:pt idx="1">
                  <c:v>-5.75</c:v>
                </c:pt>
                <c:pt idx="2">
                  <c:v>-5.5</c:v>
                </c:pt>
                <c:pt idx="3">
                  <c:v>-5.25</c:v>
                </c:pt>
                <c:pt idx="4">
                  <c:v>-5</c:v>
                </c:pt>
                <c:pt idx="5">
                  <c:v>-4.75</c:v>
                </c:pt>
                <c:pt idx="6">
                  <c:v>-4.5</c:v>
                </c:pt>
                <c:pt idx="7">
                  <c:v>-4.25</c:v>
                </c:pt>
                <c:pt idx="8">
                  <c:v>-4</c:v>
                </c:pt>
                <c:pt idx="9">
                  <c:v>-3.75</c:v>
                </c:pt>
                <c:pt idx="10">
                  <c:v>-3.5</c:v>
                </c:pt>
                <c:pt idx="11">
                  <c:v>-3.25</c:v>
                </c:pt>
                <c:pt idx="12">
                  <c:v>-3</c:v>
                </c:pt>
                <c:pt idx="13">
                  <c:v>-2.75</c:v>
                </c:pt>
                <c:pt idx="14">
                  <c:v>-2.5</c:v>
                </c:pt>
                <c:pt idx="15">
                  <c:v>-2.25</c:v>
                </c:pt>
                <c:pt idx="16">
                  <c:v>-2</c:v>
                </c:pt>
                <c:pt idx="17">
                  <c:v>-1.75</c:v>
                </c:pt>
                <c:pt idx="18">
                  <c:v>-1.5</c:v>
                </c:pt>
                <c:pt idx="19">
                  <c:v>-1.25</c:v>
                </c:pt>
                <c:pt idx="20">
                  <c:v>-1</c:v>
                </c:pt>
                <c:pt idx="21">
                  <c:v>-0.75</c:v>
                </c:pt>
                <c:pt idx="22">
                  <c:v>-0.5</c:v>
                </c:pt>
                <c:pt idx="23">
                  <c:v>-0.25</c:v>
                </c:pt>
                <c:pt idx="24">
                  <c:v>0</c:v>
                </c:pt>
                <c:pt idx="25">
                  <c:v>0.25</c:v>
                </c:pt>
                <c:pt idx="26">
                  <c:v>0.5</c:v>
                </c:pt>
                <c:pt idx="27">
                  <c:v>0.75</c:v>
                </c:pt>
                <c:pt idx="28">
                  <c:v>1</c:v>
                </c:pt>
                <c:pt idx="29">
                  <c:v>1.25</c:v>
                </c:pt>
                <c:pt idx="30">
                  <c:v>1.5</c:v>
                </c:pt>
                <c:pt idx="31">
                  <c:v>1.75</c:v>
                </c:pt>
                <c:pt idx="32">
                  <c:v>2</c:v>
                </c:pt>
                <c:pt idx="33">
                  <c:v>2.25</c:v>
                </c:pt>
                <c:pt idx="34">
                  <c:v>2.5</c:v>
                </c:pt>
                <c:pt idx="35">
                  <c:v>2.75</c:v>
                </c:pt>
                <c:pt idx="36">
                  <c:v>3</c:v>
                </c:pt>
                <c:pt idx="37">
                  <c:v>3.25</c:v>
                </c:pt>
                <c:pt idx="38">
                  <c:v>3.5</c:v>
                </c:pt>
                <c:pt idx="39">
                  <c:v>3.75</c:v>
                </c:pt>
                <c:pt idx="40">
                  <c:v>4</c:v>
                </c:pt>
                <c:pt idx="41">
                  <c:v>4.25</c:v>
                </c:pt>
                <c:pt idx="42">
                  <c:v>4.5</c:v>
                </c:pt>
                <c:pt idx="43">
                  <c:v>4.75</c:v>
                </c:pt>
                <c:pt idx="44">
                  <c:v>5</c:v>
                </c:pt>
                <c:pt idx="45">
                  <c:v>5.25</c:v>
                </c:pt>
                <c:pt idx="46">
                  <c:v>5.5</c:v>
                </c:pt>
                <c:pt idx="47">
                  <c:v>5.75</c:v>
                </c:pt>
                <c:pt idx="48">
                  <c:v>6</c:v>
                </c:pt>
              </c:numCache>
            </c:numRef>
          </c:xVal>
          <c:yVal>
            <c:numRef>
              <c:f>Sheet1!$D$2:$D$50</c:f>
              <c:numCache>
                <c:formatCode>General</c:formatCode>
                <c:ptCount val="49"/>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z</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1.2"/>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4"/>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Modern variants</a:t>
            </a:r>
          </a:p>
        </c:rich>
      </c:tx>
      <c:layout/>
      <c:overlay val="0"/>
    </c:title>
    <c:autoTitleDeleted val="0"/>
    <c:plotArea>
      <c:layout/>
      <c:scatterChart>
        <c:scatterStyle val="lineMarker"/>
        <c:varyColors val="0"/>
        <c:ser>
          <c:idx val="0"/>
          <c:order val="0"/>
          <c:tx>
            <c:strRef>
              <c:f>Sheet1!$B$1</c:f>
              <c:strCache>
                <c:ptCount val="1"/>
                <c:pt idx="0">
                  <c:v>ReLU</c:v>
                </c:pt>
              </c:strCache>
            </c:strRef>
          </c:tx>
          <c:spPr>
            <a:solidFill>
              <a:srgbClr val="8A94A3"/>
            </a:solidFill>
            <a:ln w="31750" cap="flat">
              <a:solidFill>
                <a:srgbClr val="8A94A3"/>
              </a:solidFill>
              <a:prstDash val="solid"/>
              <a:round/>
            </a:ln>
            <a:effectLst/>
          </c:spPr>
          <c:marker>
            <c:symbol val="none"/>
            <c:size val="6"/>
            <c:spPr>
              <a:solidFill>
                <a:srgbClr val="8A94A3"/>
              </a:solidFill>
              <a:ln w="9525" cap="flat">
                <a:solidFill>
                  <a:srgbClr val="8A94A3"/>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Sheet1!$B$2:$B$72</c:f>
              <c:numCache>
                <c:formatCode>General</c:formatCode>
                <c:ptCount val="7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1"/>
          <c:order val="1"/>
          <c:tx>
            <c:strRef>
              <c:f>Sheet1!$C$1</c:f>
              <c:strCache>
                <c:ptCount val="1"/>
                <c:pt idx="0">
                  <c:v>Leaky ReLU (α = 0.1)</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Sheet1!$C$2:$C$72</c:f>
              <c:numCache>
                <c:formatCode>General</c:formatCode>
                <c:ptCount val="71"/>
                <c:pt idx="0">
                  <c:v>-0.4</c:v>
                </c:pt>
                <c:pt idx="1">
                  <c:v>-0.39</c:v>
                </c:pt>
                <c:pt idx="2">
                  <c:v>-0.38</c:v>
                </c:pt>
                <c:pt idx="3">
                  <c:v>-0.37</c:v>
                </c:pt>
                <c:pt idx="4">
                  <c:v>-0.36</c:v>
                </c:pt>
                <c:pt idx="5">
                  <c:v>-0.35</c:v>
                </c:pt>
                <c:pt idx="6">
                  <c:v>-0.34</c:v>
                </c:pt>
                <c:pt idx="7">
                  <c:v>-0.33</c:v>
                </c:pt>
                <c:pt idx="8">
                  <c:v>-0.32</c:v>
                </c:pt>
                <c:pt idx="9">
                  <c:v>-0.31</c:v>
                </c:pt>
                <c:pt idx="10">
                  <c:v>-0.3</c:v>
                </c:pt>
                <c:pt idx="11">
                  <c:v>-0.29</c:v>
                </c:pt>
                <c:pt idx="12">
                  <c:v>-0.28</c:v>
                </c:pt>
                <c:pt idx="13">
                  <c:v>-0.27</c:v>
                </c:pt>
                <c:pt idx="14">
                  <c:v>-0.26</c:v>
                </c:pt>
                <c:pt idx="15">
                  <c:v>-0.25</c:v>
                </c:pt>
                <c:pt idx="16">
                  <c:v>-0.24</c:v>
                </c:pt>
                <c:pt idx="17">
                  <c:v>-0.23</c:v>
                </c:pt>
                <c:pt idx="18">
                  <c:v>-0.22</c:v>
                </c:pt>
                <c:pt idx="19">
                  <c:v>-0.21</c:v>
                </c:pt>
                <c:pt idx="20">
                  <c:v>-0.2</c:v>
                </c:pt>
                <c:pt idx="21">
                  <c:v>-0.19</c:v>
                </c:pt>
                <c:pt idx="22">
                  <c:v>-0.18</c:v>
                </c:pt>
                <c:pt idx="23">
                  <c:v>-0.17</c:v>
                </c:pt>
                <c:pt idx="24">
                  <c:v>-0.16</c:v>
                </c:pt>
                <c:pt idx="25">
                  <c:v>-0.15</c:v>
                </c:pt>
                <c:pt idx="26">
                  <c:v>-0.14</c:v>
                </c:pt>
                <c:pt idx="27">
                  <c:v>-0.13</c:v>
                </c:pt>
                <c:pt idx="28">
                  <c:v>-0.12</c:v>
                </c:pt>
                <c:pt idx="29">
                  <c:v>-0.11</c:v>
                </c:pt>
                <c:pt idx="30">
                  <c:v>-0.1</c:v>
                </c:pt>
                <c:pt idx="31">
                  <c:v>-0.09</c:v>
                </c:pt>
                <c:pt idx="32">
                  <c:v>-0.08</c:v>
                </c:pt>
                <c:pt idx="33">
                  <c:v>-0.07</c:v>
                </c:pt>
                <c:pt idx="34">
                  <c:v>-0.06</c:v>
                </c:pt>
                <c:pt idx="35">
                  <c:v>-0.05</c:v>
                </c:pt>
                <c:pt idx="36">
                  <c:v>-0.04</c:v>
                </c:pt>
                <c:pt idx="37">
                  <c:v>-0.03</c:v>
                </c:pt>
                <c:pt idx="38">
                  <c:v>-0.02</c:v>
                </c:pt>
                <c:pt idx="39">
                  <c:v>-0.01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yVal>
          <c:smooth val="0"/>
        </c:ser>
        <c:ser>
          <c:idx val="2"/>
          <c:order val="2"/>
          <c:tx>
            <c:strRef>
              <c:f>Sheet1!$D$1</c:f>
              <c:strCache>
                <c:ptCount val="1"/>
                <c:pt idx="0">
                  <c:v>GELU</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Sheet1!$D$2:$D$72</c:f>
              <c:numCache>
                <c:formatCode>General</c:formatCode>
                <c:ptCount val="71"/>
                <c:pt idx="0">
                  <c:v>-0.0001</c:v>
                </c:pt>
                <c:pt idx="1">
                  <c:v>-0.0002</c:v>
                </c:pt>
                <c:pt idx="2">
                  <c:v>-0.0003</c:v>
                </c:pt>
                <c:pt idx="3">
                  <c:v>-0.0004</c:v>
                </c:pt>
                <c:pt idx="4">
                  <c:v>-0.0006</c:v>
                </c:pt>
                <c:pt idx="5">
                  <c:v>-0.0008</c:v>
                </c:pt>
                <c:pt idx="6">
                  <c:v>-0.0011</c:v>
                </c:pt>
                <c:pt idx="7">
                  <c:v>-0.0016</c:v>
                </c:pt>
                <c:pt idx="8">
                  <c:v>-0.0022</c:v>
                </c:pt>
                <c:pt idx="9">
                  <c:v>-0.003</c:v>
                </c:pt>
                <c:pt idx="10">
                  <c:v>-0.004</c:v>
                </c:pt>
                <c:pt idx="11">
                  <c:v>-0.0054</c:v>
                </c:pt>
                <c:pt idx="12">
                  <c:v>-0.0072</c:v>
                </c:pt>
                <c:pt idx="13">
                  <c:v>-0.0094</c:v>
                </c:pt>
                <c:pt idx="14">
                  <c:v>-0.0121</c:v>
                </c:pt>
                <c:pt idx="15">
                  <c:v>-0.0155</c:v>
                </c:pt>
                <c:pt idx="16">
                  <c:v>-0.0197</c:v>
                </c:pt>
                <c:pt idx="17">
                  <c:v>-0.0247</c:v>
                </c:pt>
                <c:pt idx="18">
                  <c:v>-0.0306</c:v>
                </c:pt>
                <c:pt idx="19">
                  <c:v>-0.0375</c:v>
                </c:pt>
                <c:pt idx="20">
                  <c:v>-0.0455</c:v>
                </c:pt>
                <c:pt idx="21">
                  <c:v>-0.0546</c:v>
                </c:pt>
                <c:pt idx="22">
                  <c:v>-0.0647</c:v>
                </c:pt>
                <c:pt idx="23">
                  <c:v>-0.0758</c:v>
                </c:pt>
                <c:pt idx="24">
                  <c:v>-0.0877</c:v>
                </c:pt>
                <c:pt idx="25">
                  <c:v>-0.1002</c:v>
                </c:pt>
                <c:pt idx="26">
                  <c:v>-0.1131</c:v>
                </c:pt>
                <c:pt idx="27">
                  <c:v>-0.1258</c:v>
                </c:pt>
                <c:pt idx="28">
                  <c:v>-0.1381</c:v>
                </c:pt>
                <c:pt idx="29">
                  <c:v>-0.1492</c:v>
                </c:pt>
                <c:pt idx="30">
                  <c:v>-0.1587</c:v>
                </c:pt>
                <c:pt idx="31">
                  <c:v>-0.1657</c:v>
                </c:pt>
                <c:pt idx="32">
                  <c:v>-0.1695</c:v>
                </c:pt>
                <c:pt idx="33">
                  <c:v>-0.1694</c:v>
                </c:pt>
                <c:pt idx="34">
                  <c:v>-0.1646</c:v>
                </c:pt>
                <c:pt idx="35">
                  <c:v>-0.1543</c:v>
                </c:pt>
                <c:pt idx="36">
                  <c:v>-0.1378</c:v>
                </c:pt>
                <c:pt idx="37">
                  <c:v>-0.1146</c:v>
                </c:pt>
                <c:pt idx="38">
                  <c:v>-0.0841</c:v>
                </c:pt>
                <c:pt idx="39">
                  <c:v>-0.046</c:v>
                </c:pt>
                <c:pt idx="40">
                  <c:v>0</c:v>
                </c:pt>
                <c:pt idx="41">
                  <c:v>0.054</c:v>
                </c:pt>
                <c:pt idx="42">
                  <c:v>0.1159</c:v>
                </c:pt>
                <c:pt idx="43">
                  <c:v>0.1854</c:v>
                </c:pt>
                <c:pt idx="44">
                  <c:v>0.2622</c:v>
                </c:pt>
                <c:pt idx="45">
                  <c:v>0.3457</c:v>
                </c:pt>
                <c:pt idx="46">
                  <c:v>0.4354</c:v>
                </c:pt>
                <c:pt idx="47">
                  <c:v>0.5306</c:v>
                </c:pt>
                <c:pt idx="48">
                  <c:v>0.6305</c:v>
                </c:pt>
                <c:pt idx="49">
                  <c:v>0.7343</c:v>
                </c:pt>
                <c:pt idx="50">
                  <c:v>0.8413</c:v>
                </c:pt>
                <c:pt idx="51">
                  <c:v>0.9508</c:v>
                </c:pt>
                <c:pt idx="52">
                  <c:v>1.0619</c:v>
                </c:pt>
                <c:pt idx="53">
                  <c:v>1.1742</c:v>
                </c:pt>
                <c:pt idx="54">
                  <c:v>1.2869</c:v>
                </c:pt>
                <c:pt idx="55">
                  <c:v>1.3998</c:v>
                </c:pt>
                <c:pt idx="56">
                  <c:v>1.5123</c:v>
                </c:pt>
                <c:pt idx="57">
                  <c:v>1.6242</c:v>
                </c:pt>
                <c:pt idx="58">
                  <c:v>1.7353</c:v>
                </c:pt>
                <c:pt idx="59">
                  <c:v>1.8454</c:v>
                </c:pt>
                <c:pt idx="60">
                  <c:v>1.9545</c:v>
                </c:pt>
                <c:pt idx="61">
                  <c:v>2.0625</c:v>
                </c:pt>
                <c:pt idx="62">
                  <c:v>2.1694</c:v>
                </c:pt>
                <c:pt idx="63">
                  <c:v>2.2753</c:v>
                </c:pt>
                <c:pt idx="64">
                  <c:v>2.3803</c:v>
                </c:pt>
                <c:pt idx="65">
                  <c:v>2.4845</c:v>
                </c:pt>
                <c:pt idx="66">
                  <c:v>2.5879</c:v>
                </c:pt>
                <c:pt idx="67">
                  <c:v>2.6906</c:v>
                </c:pt>
                <c:pt idx="68">
                  <c:v>2.7928</c:v>
                </c:pt>
                <c:pt idx="69">
                  <c:v>2.8946</c:v>
                </c:pt>
                <c:pt idx="70">
                  <c:v>2.996</c:v>
                </c:pt>
              </c:numCache>
            </c:numRef>
          </c:yVal>
          <c:smooth val="0"/>
        </c:ser>
        <c:ser>
          <c:idx val="3"/>
          <c:order val="3"/>
          <c:tx>
            <c:strRef>
              <c:f>Sheet1!$E$1</c:f>
              <c:strCache>
                <c:ptCount val="1"/>
                <c:pt idx="0">
                  <c:v>SiLU</c:v>
                </c:pt>
              </c:strCache>
            </c:strRef>
          </c:tx>
          <c:spPr>
            <a:solidFill>
              <a:srgbClr val="4C5BD4"/>
            </a:solidFill>
            <a:ln w="31750" cap="flat">
              <a:solidFill>
                <a:srgbClr val="4C5BD4"/>
              </a:solidFill>
              <a:prstDash val="solid"/>
              <a:round/>
            </a:ln>
            <a:effectLst/>
          </c:spPr>
          <c:marker>
            <c:symbol val="none"/>
            <c:size val="6"/>
            <c:spPr>
              <a:solidFill>
                <a:srgbClr val="4C5BD4"/>
              </a:solidFill>
              <a:ln w="9525" cap="flat">
                <a:solidFill>
                  <a:srgbClr val="4C5BD4"/>
                </a:solidFill>
                <a:prstDash val="solid"/>
                <a:round/>
              </a:ln>
              <a:effectLst/>
            </c:spPr>
          </c:marker>
          <c:xVal>
            <c:numRef>
              <c:f>Sheet1!$A$2:$A$72</c:f>
              <c:numCache>
                <c:formatCode>General</c:formatCode>
                <c:ptCount val="71"/>
                <c:pt idx="0">
                  <c:v>-4</c:v>
                </c:pt>
                <c:pt idx="1">
                  <c:v>-3.9</c:v>
                </c:pt>
                <c:pt idx="2">
                  <c:v>-3.8</c:v>
                </c:pt>
                <c:pt idx="3">
                  <c:v>-3.7</c:v>
                </c:pt>
                <c:pt idx="4">
                  <c:v>-3.6</c:v>
                </c:pt>
                <c:pt idx="5">
                  <c:v>-3.5</c:v>
                </c:pt>
                <c:pt idx="6">
                  <c:v>-3.4</c:v>
                </c:pt>
                <c:pt idx="7">
                  <c:v>-3.3</c:v>
                </c:pt>
                <c:pt idx="8">
                  <c:v>-3.2</c:v>
                </c:pt>
                <c:pt idx="9">
                  <c:v>-3.1</c:v>
                </c:pt>
                <c:pt idx="10">
                  <c:v>-3</c:v>
                </c:pt>
                <c:pt idx="11">
                  <c:v>-2.9</c:v>
                </c:pt>
                <c:pt idx="12">
                  <c:v>-2.8</c:v>
                </c:pt>
                <c:pt idx="13">
                  <c:v>-2.7</c:v>
                </c:pt>
                <c:pt idx="14">
                  <c:v>-2.6</c:v>
                </c:pt>
                <c:pt idx="15">
                  <c:v>-2.5</c:v>
                </c:pt>
                <c:pt idx="16">
                  <c:v>-2.4</c:v>
                </c:pt>
                <c:pt idx="17">
                  <c:v>-2.3</c:v>
                </c:pt>
                <c:pt idx="18">
                  <c:v>-2.2</c:v>
                </c:pt>
                <c:pt idx="19">
                  <c:v>-2.1</c:v>
                </c:pt>
                <c:pt idx="20">
                  <c:v>-2</c:v>
                </c:pt>
                <c:pt idx="21">
                  <c:v>-1.9</c:v>
                </c:pt>
                <c:pt idx="22">
                  <c:v>-1.8</c:v>
                </c:pt>
                <c:pt idx="23">
                  <c:v>-1.7</c:v>
                </c:pt>
                <c:pt idx="24">
                  <c:v>-1.6</c:v>
                </c:pt>
                <c:pt idx="25">
                  <c:v>-1.5</c:v>
                </c:pt>
                <c:pt idx="26">
                  <c:v>-1.4</c:v>
                </c:pt>
                <c:pt idx="27">
                  <c:v>-1.3</c:v>
                </c:pt>
                <c:pt idx="28">
                  <c:v>-1.2</c:v>
                </c:pt>
                <c:pt idx="29">
                  <c:v>-1.1</c:v>
                </c:pt>
                <c:pt idx="30">
                  <c:v>-1</c:v>
                </c:pt>
                <c:pt idx="31">
                  <c:v>-0.9</c:v>
                </c:pt>
                <c:pt idx="32">
                  <c:v>-0.8</c:v>
                </c:pt>
                <c:pt idx="33">
                  <c:v>-0.7</c:v>
                </c:pt>
                <c:pt idx="34">
                  <c:v>-0.6</c:v>
                </c:pt>
                <c:pt idx="35">
                  <c:v>-0.5</c:v>
                </c:pt>
                <c:pt idx="36">
                  <c:v>-0.4</c:v>
                </c:pt>
                <c:pt idx="37">
                  <c:v>-0.3</c:v>
                </c:pt>
                <c:pt idx="38">
                  <c:v>-0.2</c:v>
                </c:pt>
                <c:pt idx="39">
                  <c:v>-0.1</c:v>
                </c:pt>
                <c:pt idx="40">
                  <c:v>0</c:v>
                </c:pt>
                <c:pt idx="41">
                  <c:v>0.1</c:v>
                </c:pt>
                <c:pt idx="42">
                  <c:v>0.2</c:v>
                </c:pt>
                <c:pt idx="43">
                  <c:v>0.3</c:v>
                </c:pt>
                <c:pt idx="44">
                  <c:v>0.4</c:v>
                </c:pt>
                <c:pt idx="45">
                  <c:v>0.5</c:v>
                </c:pt>
                <c:pt idx="46">
                  <c:v>0.6</c:v>
                </c:pt>
                <c:pt idx="47">
                  <c:v>0.7</c:v>
                </c:pt>
                <c:pt idx="48">
                  <c:v>0.8</c:v>
                </c:pt>
                <c:pt idx="49">
                  <c:v>0.9</c:v>
                </c:pt>
                <c:pt idx="50">
                  <c:v>1</c:v>
                </c:pt>
                <c:pt idx="51">
                  <c:v>1.1</c:v>
                </c:pt>
                <c:pt idx="52">
                  <c:v>1.2</c:v>
                </c:pt>
                <c:pt idx="53">
                  <c:v>1.3</c:v>
                </c:pt>
                <c:pt idx="54">
                  <c:v>1.4</c:v>
                </c:pt>
                <c:pt idx="55">
                  <c:v>1.5</c:v>
                </c:pt>
                <c:pt idx="56">
                  <c:v>1.6</c:v>
                </c:pt>
                <c:pt idx="57">
                  <c:v>1.7</c:v>
                </c:pt>
                <c:pt idx="58">
                  <c:v>1.8</c:v>
                </c:pt>
                <c:pt idx="59">
                  <c:v>1.9</c:v>
                </c:pt>
                <c:pt idx="60">
                  <c:v>2</c:v>
                </c:pt>
                <c:pt idx="61">
                  <c:v>2.1</c:v>
                </c:pt>
                <c:pt idx="62">
                  <c:v>2.2</c:v>
                </c:pt>
                <c:pt idx="63">
                  <c:v>2.3</c:v>
                </c:pt>
                <c:pt idx="64">
                  <c:v>2.4</c:v>
                </c:pt>
                <c:pt idx="65">
                  <c:v>2.5</c:v>
                </c:pt>
                <c:pt idx="66">
                  <c:v>2.6</c:v>
                </c:pt>
                <c:pt idx="67">
                  <c:v>2.7</c:v>
                </c:pt>
                <c:pt idx="68">
                  <c:v>2.8</c:v>
                </c:pt>
                <c:pt idx="69">
                  <c:v>2.9</c:v>
                </c:pt>
                <c:pt idx="70">
                  <c:v>3</c:v>
                </c:pt>
              </c:numCache>
            </c:numRef>
          </c:xVal>
          <c:yVal>
            <c:numRef>
              <c:f>Sheet1!$E$2:$E$72</c:f>
              <c:numCache>
                <c:formatCode>General</c:formatCode>
                <c:ptCount val="71"/>
                <c:pt idx="0">
                  <c:v>-0.0719</c:v>
                </c:pt>
                <c:pt idx="1">
                  <c:v>-0.0774</c:v>
                </c:pt>
                <c:pt idx="2">
                  <c:v>-0.0831</c:v>
                </c:pt>
                <c:pt idx="3">
                  <c:v>-0.0893</c:v>
                </c:pt>
                <c:pt idx="4">
                  <c:v>-0.0957</c:v>
                </c:pt>
                <c:pt idx="5">
                  <c:v>-0.1026</c:v>
                </c:pt>
                <c:pt idx="6">
                  <c:v>-0.1098</c:v>
                </c:pt>
                <c:pt idx="7">
                  <c:v>-0.1174</c:v>
                </c:pt>
                <c:pt idx="8">
                  <c:v>-0.1253</c:v>
                </c:pt>
                <c:pt idx="9">
                  <c:v>-0.1336</c:v>
                </c:pt>
                <c:pt idx="10">
                  <c:v>-0.1423</c:v>
                </c:pt>
                <c:pt idx="11">
                  <c:v>-0.1512</c:v>
                </c:pt>
                <c:pt idx="12">
                  <c:v>-0.1605</c:v>
                </c:pt>
                <c:pt idx="13">
                  <c:v>-0.17</c:v>
                </c:pt>
                <c:pt idx="14">
                  <c:v>-0.1798</c:v>
                </c:pt>
                <c:pt idx="15">
                  <c:v>-0.1896</c:v>
                </c:pt>
                <c:pt idx="16">
                  <c:v>-0.1996</c:v>
                </c:pt>
                <c:pt idx="17">
                  <c:v>-0.2096</c:v>
                </c:pt>
                <c:pt idx="18">
                  <c:v>-0.2195</c:v>
                </c:pt>
                <c:pt idx="19">
                  <c:v>-0.2291</c:v>
                </c:pt>
                <c:pt idx="20">
                  <c:v>-0.2384</c:v>
                </c:pt>
                <c:pt idx="21">
                  <c:v>-0.2472</c:v>
                </c:pt>
                <c:pt idx="22">
                  <c:v>-0.2553</c:v>
                </c:pt>
                <c:pt idx="23">
                  <c:v>-0.2626</c:v>
                </c:pt>
                <c:pt idx="24">
                  <c:v>-0.2688</c:v>
                </c:pt>
                <c:pt idx="25">
                  <c:v>-0.2736</c:v>
                </c:pt>
                <c:pt idx="26">
                  <c:v>-0.2769</c:v>
                </c:pt>
                <c:pt idx="27">
                  <c:v>-0.2784</c:v>
                </c:pt>
                <c:pt idx="28">
                  <c:v>-0.2778</c:v>
                </c:pt>
                <c:pt idx="29">
                  <c:v>-0.2747</c:v>
                </c:pt>
                <c:pt idx="30">
                  <c:v>-0.2689</c:v>
                </c:pt>
                <c:pt idx="31">
                  <c:v>-0.2601</c:v>
                </c:pt>
                <c:pt idx="32">
                  <c:v>-0.248</c:v>
                </c:pt>
                <c:pt idx="33">
                  <c:v>-0.2323</c:v>
                </c:pt>
                <c:pt idx="34">
                  <c:v>-0.2126</c:v>
                </c:pt>
                <c:pt idx="35">
                  <c:v>-0.1888</c:v>
                </c:pt>
                <c:pt idx="36">
                  <c:v>-0.1605</c:v>
                </c:pt>
                <c:pt idx="37">
                  <c:v>-0.1277</c:v>
                </c:pt>
                <c:pt idx="38">
                  <c:v>-0.09</c:v>
                </c:pt>
                <c:pt idx="39">
                  <c:v>-0.0475</c:v>
                </c:pt>
                <c:pt idx="40">
                  <c:v>0</c:v>
                </c:pt>
                <c:pt idx="41">
                  <c:v>0.0525</c:v>
                </c:pt>
                <c:pt idx="42">
                  <c:v>0.11</c:v>
                </c:pt>
                <c:pt idx="43">
                  <c:v>0.1723</c:v>
                </c:pt>
                <c:pt idx="44">
                  <c:v>0.2395</c:v>
                </c:pt>
                <c:pt idx="45">
                  <c:v>0.3112</c:v>
                </c:pt>
                <c:pt idx="46">
                  <c:v>0.3874</c:v>
                </c:pt>
                <c:pt idx="47">
                  <c:v>0.4677</c:v>
                </c:pt>
                <c:pt idx="48">
                  <c:v>0.552</c:v>
                </c:pt>
                <c:pt idx="49">
                  <c:v>0.6399</c:v>
                </c:pt>
                <c:pt idx="50">
                  <c:v>0.7311</c:v>
                </c:pt>
                <c:pt idx="51">
                  <c:v>0.8253</c:v>
                </c:pt>
                <c:pt idx="52">
                  <c:v>0.9222</c:v>
                </c:pt>
                <c:pt idx="53">
                  <c:v>1.0216</c:v>
                </c:pt>
                <c:pt idx="54">
                  <c:v>1.1231</c:v>
                </c:pt>
                <c:pt idx="55">
                  <c:v>1.2264</c:v>
                </c:pt>
                <c:pt idx="56">
                  <c:v>1.3312</c:v>
                </c:pt>
                <c:pt idx="57">
                  <c:v>1.4374</c:v>
                </c:pt>
                <c:pt idx="58">
                  <c:v>1.5447</c:v>
                </c:pt>
                <c:pt idx="59">
                  <c:v>1.6528</c:v>
                </c:pt>
                <c:pt idx="60">
                  <c:v>1.7616</c:v>
                </c:pt>
                <c:pt idx="61">
                  <c:v>1.8709</c:v>
                </c:pt>
                <c:pt idx="62">
                  <c:v>1.9805</c:v>
                </c:pt>
                <c:pt idx="63">
                  <c:v>2.0904</c:v>
                </c:pt>
                <c:pt idx="64">
                  <c:v>2.2004</c:v>
                </c:pt>
                <c:pt idx="65">
                  <c:v>2.3104</c:v>
                </c:pt>
                <c:pt idx="66">
                  <c:v>2.4202</c:v>
                </c:pt>
                <c:pt idx="67">
                  <c:v>2.53</c:v>
                </c:pt>
                <c:pt idx="68">
                  <c:v>2.6395</c:v>
                </c:pt>
                <c:pt idx="69">
                  <c:v>2.7488</c:v>
                </c:pt>
                <c:pt idx="70">
                  <c:v>2.8577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3"/>
          <c:min val="-3"/>
        </c:scaling>
        <c:delete val="0"/>
        <c:axPos val="b"/>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1"/>
      </c:valAx>
      <c:valAx>
        <c:axId val="2094734552"/>
        <c:scaling>
          <c:orientation val="minMax"/>
          <c:max val="3"/>
          <c:min val="-1"/>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Parameters per layer</a:t>
            </a:r>
          </a:p>
        </c:rich>
      </c:tx>
      <c:layout/>
      <c:overlay val="0"/>
    </c:title>
    <c:autoTitleDeleted val="0"/>
    <c:plotArea>
      <c:layout/>
      <c:barChart>
        <c:barDir val="bar"/>
        <c:grouping val="clustered"/>
        <c:varyColors val="0"/>
        <c:ser>
          <c:idx val="0"/>
          <c:order val="0"/>
          <c:tx>
            <c:strRef>
              <c:f>Sheet1!$B$1</c:f>
              <c:strCache>
                <c:ptCount val="1"/>
                <c:pt idx="0">
                  <c:v>v</c:v>
                </c:pt>
              </c:strCache>
            </c:strRef>
          </c:tx>
          <c:spPr>
            <a:solidFill>
              <a:srgbClr val="0F7C82"/>
            </a:solidFill>
            <a:effectLst/>
          </c:spPr>
          <c:invertIfNegative val="0"/>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Layer 1</c:v>
                  </c:pt>
                  <c:pt idx="1">
                    <c:v>Layer 2</c:v>
                  </c:pt>
                  <c:pt idx="2">
                    <c:v>Layer 3</c:v>
                  </c:pt>
                </c:lvl>
              </c:multiLvlStrCache>
            </c:multiLvlStrRef>
          </c:cat>
          <c:val>
            <c:numRef>
              <c:f>Sheet1!$B$2:$B$4</c:f>
              <c:numCache>
                <c:formatCode>General</c:formatCode>
                <c:ptCount val="3"/>
                <c:pt idx="0">
                  <c:v>100480</c:v>
                </c:pt>
                <c:pt idx="1">
                  <c:v>8256</c:v>
                </c:pt>
                <c:pt idx="2">
                  <c:v>650</c:v>
                </c:pt>
              </c:numCache>
            </c:numRef>
          </c:val>
        </c:ser>
        <c:dLbls>
          <c:numFmt formatCode="#,##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Logits z</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8A94A3"/>
            </a:solidFill>
            <a:effectLst/>
          </c:spPr>
          <c:invertIfNegative val="0"/>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z₁</c:v>
                  </c:pt>
                  <c:pt idx="1">
                    <c:v>z₂</c:v>
                  </c:pt>
                  <c:pt idx="2">
                    <c:v>z₃</c:v>
                  </c:pt>
                </c:lvl>
              </c:multiLvlStrCache>
            </c:multiLvlStrRef>
          </c:cat>
          <c:val>
            <c:numRef>
              <c:f>Sheet1!$B$2:$B$4</c:f>
              <c:numCache>
                <c:formatCode>General</c:formatCode>
                <c:ptCount val="3"/>
                <c:pt idx="0">
                  <c:v>2</c:v>
                </c:pt>
                <c:pt idx="1">
                  <c:v>1</c:v>
                </c:pt>
                <c:pt idx="2">
                  <c:v>0.1</c:v>
                </c:pt>
              </c:numCache>
            </c:numRef>
          </c:val>
        </c:ser>
        <c:dLbls>
          <c:numFmt formatCode="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2.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Probabilities (sum 1)</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0F7C82"/>
            </a:solidFill>
            <a:effectLst/>
          </c:spPr>
          <c:invertIfNegative val="0"/>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cat>
            <c:multiLvlStrRef>
              <c:f>Sheet1!$A$2:$A$4</c:f>
              <c:multiLvlStrCache>
                <c:ptCount val="3"/>
                <c:lvl>
                  <c:pt idx="0">
                    <c:v>ŷ₁</c:v>
                  </c:pt>
                  <c:pt idx="1">
                    <c:v>ŷ₂</c:v>
                  </c:pt>
                  <c:pt idx="2">
                    <c:v>ŷ₃</c:v>
                  </c:pt>
                </c:lvl>
              </c:multiLvlStrCache>
            </c:multiLvlStrRef>
          </c:cat>
          <c:val>
            <c:numRef>
              <c:f>Sheet1!$B$2:$B$4</c:f>
              <c:numCache>
                <c:formatCode>General</c:formatCode>
                <c:ptCount val="3"/>
                <c:pt idx="0">
                  <c:v>0.659</c:v>
                </c:pt>
                <c:pt idx="1">
                  <c:v>0.242</c:v>
                </c:pt>
                <c:pt idx="2">
                  <c:v>0.099</c:v>
                </c:pt>
              </c:numCache>
            </c:numRef>
          </c:val>
        </c:ser>
        <c:dLbls>
          <c:numFmt formatCode="0.00"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0.85"/>
          <c:min val="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|∂L/∂z| for a true label y = 1</a:t>
            </a:r>
          </a:p>
        </c:rich>
      </c:tx>
      <c:layout/>
      <c:overlay val="0"/>
    </c:title>
    <c:autoTitleDeleted val="0"/>
    <c:plotArea>
      <c:layout/>
      <c:scatterChart>
        <c:scatterStyle val="lineMarker"/>
        <c:varyColors val="0"/>
        <c:ser>
          <c:idx val="0"/>
          <c:order val="0"/>
          <c:tx>
            <c:strRef>
              <c:f>Sheet1!$B$1</c:f>
              <c:strCache>
                <c:ptCount val="1"/>
                <c:pt idx="0">
                  <c:v>cross-entropy</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Sheet1!$B$2:$B$62</c:f>
              <c:numCache>
                <c:formatCode>General</c:formatCode>
                <c:ptCount val="61"/>
                <c:pt idx="0">
                  <c:v>0.99966</c:v>
                </c:pt>
                <c:pt idx="1">
                  <c:v>0.99959</c:v>
                </c:pt>
                <c:pt idx="2">
                  <c:v>0.9995</c:v>
                </c:pt>
                <c:pt idx="3">
                  <c:v>0.99939</c:v>
                </c:pt>
                <c:pt idx="4">
                  <c:v>0.99925</c:v>
                </c:pt>
                <c:pt idx="5">
                  <c:v>0.99909</c:v>
                </c:pt>
                <c:pt idx="6">
                  <c:v>0.99889</c:v>
                </c:pt>
                <c:pt idx="7">
                  <c:v>0.99864</c:v>
                </c:pt>
                <c:pt idx="8">
                  <c:v>0.99834</c:v>
                </c:pt>
                <c:pt idx="9">
                  <c:v>0.99797</c:v>
                </c:pt>
                <c:pt idx="10">
                  <c:v>0.99753</c:v>
                </c:pt>
                <c:pt idx="11">
                  <c:v>0.99698</c:v>
                </c:pt>
                <c:pt idx="12">
                  <c:v>0.99632</c:v>
                </c:pt>
                <c:pt idx="13">
                  <c:v>0.9955</c:v>
                </c:pt>
                <c:pt idx="14">
                  <c:v>0.99451</c:v>
                </c:pt>
                <c:pt idx="15">
                  <c:v>0.99331</c:v>
                </c:pt>
                <c:pt idx="16">
                  <c:v>0.99184</c:v>
                </c:pt>
                <c:pt idx="17">
                  <c:v>0.99005</c:v>
                </c:pt>
                <c:pt idx="18">
                  <c:v>0.98787</c:v>
                </c:pt>
                <c:pt idx="19">
                  <c:v>0.98523</c:v>
                </c:pt>
                <c:pt idx="20">
                  <c:v>0.98201</c:v>
                </c:pt>
                <c:pt idx="21">
                  <c:v>0.97812</c:v>
                </c:pt>
                <c:pt idx="22">
                  <c:v>0.9734</c:v>
                </c:pt>
                <c:pt idx="23">
                  <c:v>0.9677</c:v>
                </c:pt>
                <c:pt idx="24">
                  <c:v>0.96083</c:v>
                </c:pt>
                <c:pt idx="25">
                  <c:v>0.95257</c:v>
                </c:pt>
                <c:pt idx="26">
                  <c:v>0.94268</c:v>
                </c:pt>
                <c:pt idx="27">
                  <c:v>0.93086</c:v>
                </c:pt>
                <c:pt idx="28">
                  <c:v>0.91683</c:v>
                </c:pt>
                <c:pt idx="29">
                  <c:v>0.90025</c:v>
                </c:pt>
                <c:pt idx="30">
                  <c:v>0.8808</c:v>
                </c:pt>
                <c:pt idx="31">
                  <c:v>0.85815</c:v>
                </c:pt>
                <c:pt idx="32">
                  <c:v>0.83202</c:v>
                </c:pt>
                <c:pt idx="33">
                  <c:v>0.80218</c:v>
                </c:pt>
                <c:pt idx="34">
                  <c:v>0.76852</c:v>
                </c:pt>
                <c:pt idx="35">
                  <c:v>0.73106</c:v>
                </c:pt>
                <c:pt idx="36">
                  <c:v>0.68997</c:v>
                </c:pt>
                <c:pt idx="37">
                  <c:v>0.64566</c:v>
                </c:pt>
                <c:pt idx="38">
                  <c:v>0.59869</c:v>
                </c:pt>
                <c:pt idx="39">
                  <c:v>0.54983</c:v>
                </c:pt>
                <c:pt idx="40">
                  <c:v>0.5</c:v>
                </c:pt>
                <c:pt idx="41">
                  <c:v>0.45017</c:v>
                </c:pt>
                <c:pt idx="42">
                  <c:v>0.40131</c:v>
                </c:pt>
                <c:pt idx="43">
                  <c:v>0.35434</c:v>
                </c:pt>
                <c:pt idx="44">
                  <c:v>0.31003</c:v>
                </c:pt>
                <c:pt idx="45">
                  <c:v>0.26894</c:v>
                </c:pt>
                <c:pt idx="46">
                  <c:v>0.23148</c:v>
                </c:pt>
                <c:pt idx="47">
                  <c:v>0.19782</c:v>
                </c:pt>
                <c:pt idx="48">
                  <c:v>0.16798</c:v>
                </c:pt>
                <c:pt idx="49">
                  <c:v>0.14185</c:v>
                </c:pt>
                <c:pt idx="50">
                  <c:v>0.1192</c:v>
                </c:pt>
                <c:pt idx="51">
                  <c:v>0.09975</c:v>
                </c:pt>
                <c:pt idx="52">
                  <c:v>0.08317</c:v>
                </c:pt>
                <c:pt idx="53">
                  <c:v>0.06914</c:v>
                </c:pt>
                <c:pt idx="54">
                  <c:v>0.05732</c:v>
                </c:pt>
                <c:pt idx="55">
                  <c:v>0.04743</c:v>
                </c:pt>
                <c:pt idx="56">
                  <c:v>0.03917</c:v>
                </c:pt>
                <c:pt idx="57">
                  <c:v>0.0323</c:v>
                </c:pt>
                <c:pt idx="58">
                  <c:v>0.0266</c:v>
                </c:pt>
                <c:pt idx="59">
                  <c:v>0.02188</c:v>
                </c:pt>
                <c:pt idx="60">
                  <c:v>0.01799</c:v>
                </c:pt>
              </c:numCache>
            </c:numRef>
          </c:yVal>
          <c:smooth val="0"/>
        </c:ser>
        <c:ser>
          <c:idx val="1"/>
          <c:order val="1"/>
          <c:tx>
            <c:strRef>
              <c:f>Sheet1!$C$1</c:f>
              <c:strCache>
                <c:ptCount val="1"/>
                <c:pt idx="0">
                  <c:v>MSE on a sigmoid</c:v>
                </c:pt>
              </c:strCache>
            </c:strRef>
          </c:tx>
          <c:spPr>
            <a:solidFill>
              <a:srgbClr val="C8571B"/>
            </a:solidFill>
            <a:ln w="31750" cap="flat">
              <a:solidFill>
                <a:srgbClr val="C8571B"/>
              </a:solidFill>
              <a:prstDash val="solid"/>
              <a:round/>
            </a:ln>
            <a:effectLst/>
          </c:spPr>
          <c:marker>
            <c:symbol val="none"/>
            <c:size val="6"/>
            <c:spPr>
              <a:solidFill>
                <a:srgbClr val="C8571B"/>
              </a:solidFill>
              <a:ln w="9525" cap="flat">
                <a:solidFill>
                  <a:srgbClr val="C8571B"/>
                </a:solidFill>
                <a:prstDash val="solid"/>
                <a:round/>
              </a:ln>
              <a:effectLst/>
            </c:spPr>
          </c:marker>
          <c:xVal>
            <c:numRef>
              <c:f>Sheet1!$A$2:$A$62</c:f>
              <c:numCache>
                <c:formatCode>General</c:formatCode>
                <c:ptCount val="61"/>
                <c:pt idx="0">
                  <c:v>-8</c:v>
                </c:pt>
                <c:pt idx="1">
                  <c:v>-7.8</c:v>
                </c:pt>
                <c:pt idx="2">
                  <c:v>-7.6</c:v>
                </c:pt>
                <c:pt idx="3">
                  <c:v>-7.4</c:v>
                </c:pt>
                <c:pt idx="4">
                  <c:v>-7.2</c:v>
                </c:pt>
                <c:pt idx="5">
                  <c:v>-7</c:v>
                </c:pt>
                <c:pt idx="6">
                  <c:v>-6.8</c:v>
                </c:pt>
                <c:pt idx="7">
                  <c:v>-6.6</c:v>
                </c:pt>
                <c:pt idx="8">
                  <c:v>-6.4</c:v>
                </c:pt>
                <c:pt idx="9">
                  <c:v>-6.2</c:v>
                </c:pt>
                <c:pt idx="10">
                  <c:v>-6</c:v>
                </c:pt>
                <c:pt idx="11">
                  <c:v>-5.8</c:v>
                </c:pt>
                <c:pt idx="12">
                  <c:v>-5.6</c:v>
                </c:pt>
                <c:pt idx="13">
                  <c:v>-5.4</c:v>
                </c:pt>
                <c:pt idx="14">
                  <c:v>-5.2</c:v>
                </c:pt>
                <c:pt idx="15">
                  <c:v>-5</c:v>
                </c:pt>
                <c:pt idx="16">
                  <c:v>-4.8</c:v>
                </c:pt>
                <c:pt idx="17">
                  <c:v>-4.6</c:v>
                </c:pt>
                <c:pt idx="18">
                  <c:v>-4.4</c:v>
                </c:pt>
                <c:pt idx="19">
                  <c:v>-4.2</c:v>
                </c:pt>
                <c:pt idx="20">
                  <c:v>-4</c:v>
                </c:pt>
                <c:pt idx="21">
                  <c:v>-3.8</c:v>
                </c:pt>
                <c:pt idx="22">
                  <c:v>-3.6</c:v>
                </c:pt>
                <c:pt idx="23">
                  <c:v>-3.4</c:v>
                </c:pt>
                <c:pt idx="24">
                  <c:v>-3.2</c:v>
                </c:pt>
                <c:pt idx="25">
                  <c:v>-3</c:v>
                </c:pt>
                <c:pt idx="26">
                  <c:v>-2.8</c:v>
                </c:pt>
                <c:pt idx="27">
                  <c:v>-2.6</c:v>
                </c:pt>
                <c:pt idx="28">
                  <c:v>-2.4</c:v>
                </c:pt>
                <c:pt idx="29">
                  <c:v>-2.2</c:v>
                </c:pt>
                <c:pt idx="30">
                  <c:v>-2</c:v>
                </c:pt>
                <c:pt idx="31">
                  <c:v>-1.8</c:v>
                </c:pt>
                <c:pt idx="32">
                  <c:v>-1.6</c:v>
                </c:pt>
                <c:pt idx="33">
                  <c:v>-1.4</c:v>
                </c:pt>
                <c:pt idx="34">
                  <c:v>-1.2</c:v>
                </c:pt>
                <c:pt idx="35">
                  <c:v>-1</c:v>
                </c:pt>
                <c:pt idx="36">
                  <c:v>-0.8</c:v>
                </c:pt>
                <c:pt idx="37">
                  <c:v>-0.6</c:v>
                </c:pt>
                <c:pt idx="38">
                  <c:v>-0.4</c:v>
                </c:pt>
                <c:pt idx="39">
                  <c:v>-0.2</c:v>
                </c:pt>
                <c:pt idx="40">
                  <c:v>0</c:v>
                </c:pt>
                <c:pt idx="41">
                  <c:v>0.2</c:v>
                </c:pt>
                <c:pt idx="42">
                  <c:v>0.4</c:v>
                </c:pt>
                <c:pt idx="43">
                  <c:v>0.6</c:v>
                </c:pt>
                <c:pt idx="44">
                  <c:v>0.8</c:v>
                </c:pt>
                <c:pt idx="45">
                  <c:v>1</c:v>
                </c:pt>
                <c:pt idx="46">
                  <c:v>1.2</c:v>
                </c:pt>
                <c:pt idx="47">
                  <c:v>1.4</c:v>
                </c:pt>
                <c:pt idx="48">
                  <c:v>1.6</c:v>
                </c:pt>
                <c:pt idx="49">
                  <c:v>1.8</c:v>
                </c:pt>
                <c:pt idx="50">
                  <c:v>2</c:v>
                </c:pt>
                <c:pt idx="51">
                  <c:v>2.2</c:v>
                </c:pt>
                <c:pt idx="52">
                  <c:v>2.4</c:v>
                </c:pt>
                <c:pt idx="53">
                  <c:v>2.6</c:v>
                </c:pt>
                <c:pt idx="54">
                  <c:v>2.8</c:v>
                </c:pt>
                <c:pt idx="55">
                  <c:v>3</c:v>
                </c:pt>
                <c:pt idx="56">
                  <c:v>3.2</c:v>
                </c:pt>
                <c:pt idx="57">
                  <c:v>3.4</c:v>
                </c:pt>
                <c:pt idx="58">
                  <c:v>3.6</c:v>
                </c:pt>
                <c:pt idx="59">
                  <c:v>3.8</c:v>
                </c:pt>
                <c:pt idx="60">
                  <c:v>4</c:v>
                </c:pt>
              </c:numCache>
            </c:numRef>
          </c:xVal>
          <c:yVal>
            <c:numRef>
              <c:f>Sheet1!$C$2:$C$62</c:f>
              <c:numCache>
                <c:formatCode>General</c:formatCode>
                <c:ptCount val="61"/>
                <c:pt idx="0">
                  <c:v>0.00034</c:v>
                </c:pt>
                <c:pt idx="1">
                  <c:v>0.00041</c:v>
                </c:pt>
                <c:pt idx="2">
                  <c:v>0.0005</c:v>
                </c:pt>
                <c:pt idx="3">
                  <c:v>0.00061</c:v>
                </c:pt>
                <c:pt idx="4">
                  <c:v>0.00074</c:v>
                </c:pt>
                <c:pt idx="5">
                  <c:v>0.00091</c:v>
                </c:pt>
                <c:pt idx="6">
                  <c:v>0.00111</c:v>
                </c:pt>
                <c:pt idx="7">
                  <c:v>0.00135</c:v>
                </c:pt>
                <c:pt idx="8">
                  <c:v>0.00165</c:v>
                </c:pt>
                <c:pt idx="9">
                  <c:v>0.00202</c:v>
                </c:pt>
                <c:pt idx="10">
                  <c:v>0.00246</c:v>
                </c:pt>
                <c:pt idx="11">
                  <c:v>0.003</c:v>
                </c:pt>
                <c:pt idx="12">
                  <c:v>0.00366</c:v>
                </c:pt>
                <c:pt idx="13">
                  <c:v>0.00446</c:v>
                </c:pt>
                <c:pt idx="14">
                  <c:v>0.00543</c:v>
                </c:pt>
                <c:pt idx="15">
                  <c:v>0.0066</c:v>
                </c:pt>
                <c:pt idx="16">
                  <c:v>0.00803</c:v>
                </c:pt>
                <c:pt idx="17">
                  <c:v>0.00975</c:v>
                </c:pt>
                <c:pt idx="18">
                  <c:v>0.01184</c:v>
                </c:pt>
                <c:pt idx="19">
                  <c:v>0.01434</c:v>
                </c:pt>
                <c:pt idx="20">
                  <c:v>0.01735</c:v>
                </c:pt>
                <c:pt idx="21">
                  <c:v>0.02093</c:v>
                </c:pt>
                <c:pt idx="22">
                  <c:v>0.0252</c:v>
                </c:pt>
                <c:pt idx="23">
                  <c:v>0.03024</c:v>
                </c:pt>
                <c:pt idx="24">
                  <c:v>0.03616</c:v>
                </c:pt>
                <c:pt idx="25">
                  <c:v>0.04303</c:v>
                </c:pt>
                <c:pt idx="26">
                  <c:v>0.05094</c:v>
                </c:pt>
                <c:pt idx="27">
                  <c:v>0.05991</c:v>
                </c:pt>
                <c:pt idx="28">
                  <c:v>0.06991</c:v>
                </c:pt>
                <c:pt idx="29">
                  <c:v>0.08084</c:v>
                </c:pt>
                <c:pt idx="30">
                  <c:v>0.09248</c:v>
                </c:pt>
                <c:pt idx="31">
                  <c:v>0.10446</c:v>
                </c:pt>
                <c:pt idx="32">
                  <c:v>0.11629</c:v>
                </c:pt>
                <c:pt idx="33">
                  <c:v>0.12729</c:v>
                </c:pt>
                <c:pt idx="34">
                  <c:v>0.13672</c:v>
                </c:pt>
                <c:pt idx="35">
                  <c:v>0.14373</c:v>
                </c:pt>
                <c:pt idx="36">
                  <c:v>0.14759</c:v>
                </c:pt>
                <c:pt idx="37">
                  <c:v>0.14772</c:v>
                </c:pt>
                <c:pt idx="38">
                  <c:v>0.14384</c:v>
                </c:pt>
                <c:pt idx="39">
                  <c:v>0.13609</c:v>
                </c:pt>
                <c:pt idx="40">
                  <c:v>0.125</c:v>
                </c:pt>
                <c:pt idx="41">
                  <c:v>0.11142</c:v>
                </c:pt>
                <c:pt idx="42">
                  <c:v>0.09642</c:v>
                </c:pt>
                <c:pt idx="43">
                  <c:v>0.08107</c:v>
                </c:pt>
                <c:pt idx="44">
                  <c:v>0.06632</c:v>
                </c:pt>
                <c:pt idx="45">
                  <c:v>0.05288</c:v>
                </c:pt>
                <c:pt idx="46">
                  <c:v>0.04118</c:v>
                </c:pt>
                <c:pt idx="47">
                  <c:v>0.03139</c:v>
                </c:pt>
                <c:pt idx="48">
                  <c:v>0.02348</c:v>
                </c:pt>
                <c:pt idx="49">
                  <c:v>0.01727</c:v>
                </c:pt>
                <c:pt idx="50">
                  <c:v>0.01252</c:v>
                </c:pt>
                <c:pt idx="51">
                  <c:v>0.00896</c:v>
                </c:pt>
                <c:pt idx="52">
                  <c:v>0.00634</c:v>
                </c:pt>
                <c:pt idx="53">
                  <c:v>0.00445</c:v>
                </c:pt>
                <c:pt idx="54">
                  <c:v>0.0031</c:v>
                </c:pt>
                <c:pt idx="55">
                  <c:v>0.00214</c:v>
                </c:pt>
                <c:pt idx="56">
                  <c:v>0.00147</c:v>
                </c:pt>
                <c:pt idx="57">
                  <c:v>0.00101</c:v>
                </c:pt>
                <c:pt idx="58">
                  <c:v>0.00069</c:v>
                </c:pt>
                <c:pt idx="59">
                  <c:v>0.00047</c:v>
                </c:pt>
                <c:pt idx="60">
                  <c:v>0.00032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
          <c:min val="-8"/>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logit z   (left = confidently wrong)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2"/>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2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Running example: training loss per epoch (seed 0)</a:t>
            </a:r>
          </a:p>
        </c:rich>
      </c:tx>
      <c:layout/>
      <c:overlay val="0"/>
    </c:title>
    <c:autoTitleDeleted val="0"/>
    <c:plotArea>
      <c:layout/>
      <c:lineChart>
        <c:varyColors val="0"/>
        <c:ser>
          <c:idx val="0"/>
          <c:order val="0"/>
          <c:tx>
            <c:strRef>
              <c:f>Sheet1!$B$1</c:f>
              <c:strCache>
                <c:ptCount val="1"/>
                <c:pt idx="0">
                  <c:v>correct: raw logits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bug: softmax, then cross-entropy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1.7122353041562166</c:v>
                </c:pt>
                <c:pt idx="1">
                  <c:v>1.6707003880414095</c:v>
                </c:pt>
                <c:pt idx="2">
                  <c:v>1.6617416446512396</c:v>
                </c:pt>
                <c:pt idx="3">
                  <c:v>1.6554100347865712</c:v>
                </c:pt>
                <c:pt idx="4">
                  <c:v>1.6522163709987294</c:v>
                </c:pt>
                <c:pt idx="5">
                  <c:v>1.6486816927129573</c:v>
                </c:pt>
                <c:pt idx="6">
                  <c:v>1.644864767924222</c:v>
                </c:pt>
                <c:pt idx="7">
                  <c:v>1.642881281297857</c:v>
                </c:pt>
                <c:pt idx="8">
                  <c:v>1.6412448475057428</c:v>
                </c:pt>
                <c:pt idx="9">
                  <c:v>1.6390439006978814</c:v>
                </c:pt>
                <c:pt idx="10">
                  <c:v>1.6383707053271206</c:v>
                </c:pt>
                <c:pt idx="11">
                  <c:v>1.63567344530279</c:v>
                </c:pt>
                <c:pt idx="12">
                  <c:v>1.6337041284040972</c:v>
                </c:pt>
                <c:pt idx="13">
                  <c:v>1.6328254633123225</c:v>
                </c:pt>
                <c:pt idx="14">
                  <c:v>1.6331125222292813</c:v>
                </c:pt>
                <c:pt idx="15">
                  <c:v>1.6326698436563665</c:v>
                </c:pt>
                <c:pt idx="16">
                  <c:v>1.6307082028822466</c:v>
                </c:pt>
                <c:pt idx="17">
                  <c:v>1.6287894267168912</c:v>
                </c:pt>
                <c:pt idx="18">
                  <c:v>1.6268918815092608</c:v>
                </c:pt>
                <c:pt idx="19">
                  <c:v>1.6269234837445345</c:v>
                </c:pt>
              </c:numCache>
            </c:numRef>
          </c:val>
          <c:smooth val="0"/>
        </c:ser>
        <c:ser>
          <c:idx val="2"/>
          <c:order val="2"/>
          <c:tx>
            <c:strRef>
              <c:f>Sheet1!$D$1</c:f>
              <c:strCache>
                <c:ptCount val="1"/>
                <c:pt idx="0">
                  <c:v>floor with the bug: 1.46</c:v>
                </c:pt>
              </c:strCache>
            </c:strRef>
          </c:tx>
          <c:spPr>
            <a:solidFill>
              <a:srgbClr val="8A94A3"/>
            </a:solidFill>
            <a:ln w="19050" cap="flat">
              <a:solidFill>
                <a:srgbClr val="8A94A3"/>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8A94A3"/>
              </a:solidFill>
              <a:ln w="9525" cap="flat">
                <a:solidFill>
                  <a:srgbClr val="8A94A3"/>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Sheet1!$D$2:$D$21</c:f>
              <c:numCache>
                <c:formatCode>General</c:formatCode>
                <c:ptCount val="20"/>
                <c:pt idx="0">
                  <c:v>1.46</c:v>
                </c:pt>
                <c:pt idx="1">
                  <c:v>1.46</c:v>
                </c:pt>
                <c:pt idx="2">
                  <c:v>1.46</c:v>
                </c:pt>
                <c:pt idx="3">
                  <c:v>1.46</c:v>
                </c:pt>
                <c:pt idx="4">
                  <c:v>1.46</c:v>
                </c:pt>
                <c:pt idx="5">
                  <c:v>1.46</c:v>
                </c:pt>
                <c:pt idx="6">
                  <c:v>1.46</c:v>
                </c:pt>
                <c:pt idx="7">
                  <c:v>1.46</c:v>
                </c:pt>
                <c:pt idx="8">
                  <c:v>1.46</c:v>
                </c:pt>
                <c:pt idx="9">
                  <c:v>1.46</c:v>
                </c:pt>
                <c:pt idx="10">
                  <c:v>1.46</c:v>
                </c:pt>
                <c:pt idx="11">
                  <c:v>1.46</c:v>
                </c:pt>
                <c:pt idx="12">
                  <c:v>1.46</c:v>
                </c:pt>
                <c:pt idx="13">
                  <c:v>1.46</c:v>
                </c:pt>
                <c:pt idx="14">
                  <c:v>1.46</c:v>
                </c:pt>
                <c:pt idx="15">
                  <c:v>1.46</c:v>
                </c:pt>
                <c:pt idx="16">
                  <c:v>1.46</c:v>
                </c:pt>
                <c:pt idx="17">
                  <c:v>1.46</c:v>
                </c:pt>
                <c:pt idx="18">
                  <c:v>1.46</c:v>
                </c:pt>
                <c:pt idx="19">
                  <c:v>1.46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2"/>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Cross-entropy loss</a:t>
            </a:r>
          </a:p>
        </c:rich>
      </c:tx>
      <c:layout/>
      <c:overlay val="0"/>
    </c:title>
    <c:autoTitleDeleted val="0"/>
    <c:plotArea>
      <c:layout/>
      <c:lineChart>
        <c:varyColors val="0"/>
        <c:ser>
          <c:idx val="0"/>
          <c:order val="0"/>
          <c:tx>
            <c:strRef>
              <c:f>Sheet1!$B$1</c:f>
              <c:strCache>
                <c:ptCount val="1"/>
                <c:pt idx="0">
                  <c:v>training loss</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0.4851234229781411</c:v>
                </c:pt>
                <c:pt idx="1">
                  <c:v>0.35652070503668354</c:v>
                </c:pt>
                <c:pt idx="2">
                  <c:v>0.3200728079362349</c:v>
                </c:pt>
                <c:pt idx="3">
                  <c:v>0.29906092816266144</c:v>
                </c:pt>
                <c:pt idx="4">
                  <c:v>0.27744799370332196</c:v>
                </c:pt>
                <c:pt idx="5">
                  <c:v>0.25983159903613</c:v>
                </c:pt>
                <c:pt idx="6">
                  <c:v>0.24763098806034434</c:v>
                </c:pt>
                <c:pt idx="7">
                  <c:v>0.2366415154652162</c:v>
                </c:pt>
                <c:pt idx="8">
                  <c:v>0.22539924728978764</c:v>
                </c:pt>
                <c:pt idx="9">
                  <c:v>0.21538283518661153</c:v>
                </c:pt>
                <c:pt idx="10">
                  <c:v>0.20611759529764</c:v>
                </c:pt>
                <c:pt idx="11">
                  <c:v>0.19561270986253565</c:v>
                </c:pt>
                <c:pt idx="12">
                  <c:v>0.18959980236617002</c:v>
                </c:pt>
                <c:pt idx="13">
                  <c:v>0.18330474977926775</c:v>
                </c:pt>
                <c:pt idx="14">
                  <c:v>0.1739347942048853</c:v>
                </c:pt>
                <c:pt idx="15">
                  <c:v>0.1671949485128576</c:v>
                </c:pt>
                <c:pt idx="16">
                  <c:v>0.1631733120874925</c:v>
                </c:pt>
                <c:pt idx="17">
                  <c:v>0.15541183982328935</c:v>
                </c:pt>
                <c:pt idx="18">
                  <c:v>0.15111760818524794</c:v>
                </c:pt>
                <c:pt idx="19">
                  <c:v>0.14217285667115992</c:v>
                </c:pt>
              </c:numCache>
            </c:numRef>
          </c:val>
          <c:smooth val="0"/>
        </c:ser>
        <c:ser>
          <c:idx val="1"/>
          <c:order val="1"/>
          <c:tx>
            <c:strRef>
              <c:f>Sheet1!$C$1</c:f>
              <c:strCache>
                <c:ptCount val="1"/>
                <c:pt idx="0">
                  <c:v>validation loss</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0.424490869140625</c:v>
                </c:pt>
                <c:pt idx="1">
                  <c:v>0.3715091552734375</c:v>
                </c:pt>
                <c:pt idx="2">
                  <c:v>0.3586928955078125</c:v>
                </c:pt>
                <c:pt idx="3">
                  <c:v>0.351608251953125</c:v>
                </c:pt>
                <c:pt idx="4">
                  <c:v>0.32548671875</c:v>
                </c:pt>
                <c:pt idx="5">
                  <c:v>0.3440884033203125</c:v>
                </c:pt>
                <c:pt idx="6">
                  <c:v>0.326885498046875</c:v>
                </c:pt>
                <c:pt idx="7">
                  <c:v>0.3452287353515625</c:v>
                </c:pt>
                <c:pt idx="8">
                  <c:v>0.3351009033203125</c:v>
                </c:pt>
                <c:pt idx="9">
                  <c:v>0.332393212890625</c:v>
                </c:pt>
                <c:pt idx="10">
                  <c:v>0.35743515625</c:v>
                </c:pt>
                <c:pt idx="11">
                  <c:v>0.3343703369140625</c:v>
                </c:pt>
                <c:pt idx="12">
                  <c:v>0.3417707275390625</c:v>
                </c:pt>
                <c:pt idx="13">
                  <c:v>0.33616318359375</c:v>
                </c:pt>
                <c:pt idx="14">
                  <c:v>0.3497972412109375</c:v>
                </c:pt>
                <c:pt idx="15">
                  <c:v>0.353254150390625</c:v>
                </c:pt>
                <c:pt idx="16">
                  <c:v>0.36929091796875</c:v>
                </c:pt>
                <c:pt idx="17">
                  <c:v>0.36083876953125</c:v>
                </c:pt>
                <c:pt idx="18">
                  <c:v>0.3659529052734375</c:v>
                </c:pt>
                <c:pt idx="19">
                  <c:v>0.37963017578125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0.6"/>
          <c:min val="0"/>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0.8251636363636363</c:v>
                </c:pt>
                <c:pt idx="1">
                  <c:v>0.8699636363636364</c:v>
                </c:pt>
                <c:pt idx="2">
                  <c:v>0.8822181818181818</c:v>
                </c:pt>
                <c:pt idx="3">
                  <c:v>0.8887454545454545</c:v>
                </c:pt>
                <c:pt idx="4">
                  <c:v>0.8973636363636364</c:v>
                </c:pt>
                <c:pt idx="5">
                  <c:v>0.9036</c:v>
                </c:pt>
                <c:pt idx="6">
                  <c:v>0.9054181818181818</c:v>
                </c:pt>
                <c:pt idx="7">
                  <c:v>0.9114909090909091</c:v>
                </c:pt>
                <c:pt idx="8">
                  <c:v>0.9150545454545455</c:v>
                </c:pt>
                <c:pt idx="9">
                  <c:v>0.9193636363636364</c:v>
                </c:pt>
                <c:pt idx="10">
                  <c:v>0.9224</c:v>
                </c:pt>
                <c:pt idx="11">
                  <c:v>0.9266</c:v>
                </c:pt>
                <c:pt idx="12">
                  <c:v>0.9290909090909091</c:v>
                </c:pt>
                <c:pt idx="13">
                  <c:v>0.9311090909090909</c:v>
                </c:pt>
                <c:pt idx="14">
                  <c:v>0.9336909090909091</c:v>
                </c:pt>
                <c:pt idx="15">
                  <c:v>0.9387636363636364</c:v>
                </c:pt>
                <c:pt idx="16">
                  <c:v>0.9383454545454546</c:v>
                </c:pt>
                <c:pt idx="17">
                  <c:v>0.9412909090909091</c:v>
                </c:pt>
                <c:pt idx="18">
                  <c:v>0.9424363636363636</c:v>
                </c:pt>
                <c:pt idx="19">
                  <c:v>0.9468</c:v>
                </c:pt>
              </c:numCache>
            </c:numRef>
          </c:val>
          <c:smooth val="0"/>
        </c:ser>
        <c:ser>
          <c:idx val="1"/>
          <c:order val="1"/>
          <c:tx>
            <c:strRef>
              <c:f>Sheet1!$C$1</c:f>
              <c:strCache>
                <c:ptCount val="1"/>
                <c:pt idx="0">
                  <c:v>validation accuracy</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0.8512</c:v>
                </c:pt>
                <c:pt idx="1">
                  <c:v>0.8686</c:v>
                </c:pt>
                <c:pt idx="2">
                  <c:v>0.8734</c:v>
                </c:pt>
                <c:pt idx="3">
                  <c:v>0.874</c:v>
                </c:pt>
                <c:pt idx="4">
                  <c:v>0.888</c:v>
                </c:pt>
                <c:pt idx="5">
                  <c:v>0.8788</c:v>
                </c:pt>
                <c:pt idx="6">
                  <c:v>0.8878</c:v>
                </c:pt>
                <c:pt idx="7">
                  <c:v>0.8822</c:v>
                </c:pt>
                <c:pt idx="8">
                  <c:v>0.8854</c:v>
                </c:pt>
                <c:pt idx="9">
                  <c:v>0.8892</c:v>
                </c:pt>
                <c:pt idx="10">
                  <c:v>0.885</c:v>
                </c:pt>
                <c:pt idx="11">
                  <c:v>0.89</c:v>
                </c:pt>
                <c:pt idx="12">
                  <c:v>0.8878</c:v>
                </c:pt>
                <c:pt idx="13">
                  <c:v>0.8892</c:v>
                </c:pt>
                <c:pt idx="14">
                  <c:v>0.8916</c:v>
                </c:pt>
                <c:pt idx="15">
                  <c:v>0.8946</c:v>
                </c:pt>
                <c:pt idx="16">
                  <c:v>0.8884</c:v>
                </c:pt>
                <c:pt idx="17">
                  <c:v>0.8892</c:v>
                </c:pt>
                <c:pt idx="18">
                  <c:v>0.8928</c:v>
                </c:pt>
                <c:pt idx="19">
                  <c:v>0.8968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2"/>
      </c:catAx>
      <c:valAx>
        <c:axId val="2094734552"/>
        <c:scaling>
          <c:orientation val="minMax"/>
          <c:max val="1"/>
          <c:min val="0.8"/>
        </c:scaling>
        <c:delete val="0"/>
        <c:axPos val="l"/>
        <c:majorGridlines>
          <c:spPr>
            <a:ln w="9525" cap="flat">
              <a:solidFill>
                <a:srgbClr val="E3E7EC"/>
              </a:solidFill>
              <a:prstDash val="solid"/>
              <a:round/>
            </a:ln>
          </c:spPr>
        </c:majorGridlines>
        <c:numFmt formatCod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Product of L equal factors (log scale)</a:t>
            </a:r>
          </a:p>
        </c:rich>
      </c:tx>
      <c:layout/>
      <c:overlay val="0"/>
    </c:title>
    <c:autoTitleDeleted val="0"/>
    <c:plotArea>
      <c:layout/>
      <c:lineChart>
        <c:varyColors val="0"/>
        <c:ser>
          <c:idx val="0"/>
          <c:order val="0"/>
          <c:tx>
            <c:strRef>
              <c:f>Sheet1!$B$1</c:f>
              <c:strCache>
                <c:ptCount val="1"/>
                <c:pt idx="0">
                  <c:v>1.5</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1</c:v>
                </c:pt>
                <c:pt idx="1">
                  <c:v>1.5</c:v>
                </c:pt>
                <c:pt idx="2">
                  <c:v>2.25</c:v>
                </c:pt>
                <c:pt idx="3">
                  <c:v>3.375</c:v>
                </c:pt>
                <c:pt idx="4">
                  <c:v>5.0625</c:v>
                </c:pt>
                <c:pt idx="5">
                  <c:v>7.59375</c:v>
                </c:pt>
                <c:pt idx="6">
                  <c:v>11.390625</c:v>
                </c:pt>
                <c:pt idx="7">
                  <c:v>17.0859375</c:v>
                </c:pt>
                <c:pt idx="8">
                  <c:v>25.62890625</c:v>
                </c:pt>
                <c:pt idx="9">
                  <c:v>38.443359375</c:v>
                </c:pt>
                <c:pt idx="10">
                  <c:v>57.6650390625</c:v>
                </c:pt>
                <c:pt idx="11">
                  <c:v>86.49755859375</c:v>
                </c:pt>
                <c:pt idx="12">
                  <c:v>129.746337890625</c:v>
                </c:pt>
                <c:pt idx="13">
                  <c:v>194.6195068359375</c:v>
                </c:pt>
                <c:pt idx="14">
                  <c:v>291.92926025390625</c:v>
                </c:pt>
                <c:pt idx="15">
                  <c:v>437.8938903808594</c:v>
                </c:pt>
                <c:pt idx="16">
                  <c:v>656.8408355712891</c:v>
                </c:pt>
                <c:pt idx="17">
                  <c:v>985.2612533569336</c:v>
                </c:pt>
                <c:pt idx="18">
                  <c:v>1477.8918800354004</c:v>
                </c:pt>
                <c:pt idx="19">
                  <c:v>2216.8378200531006</c:v>
                </c:pt>
                <c:pt idx="20">
                  <c:v>3325.256730079651</c:v>
                </c:pt>
                <c:pt idx="21">
                  <c:v>4987.885095119476</c:v>
                </c:pt>
                <c:pt idx="22">
                  <c:v>7481.8276426792145</c:v>
                </c:pt>
                <c:pt idx="23">
                  <c:v>11222.741464018822</c:v>
                </c:pt>
                <c:pt idx="24">
                  <c:v>16834.112196028233</c:v>
                </c:pt>
                <c:pt idx="25">
                  <c:v>25251.16829404235</c:v>
                </c:pt>
                <c:pt idx="26">
                  <c:v>37876.75244106352</c:v>
                </c:pt>
                <c:pt idx="27">
                  <c:v>56815.128661595285</c:v>
                </c:pt>
                <c:pt idx="28">
                  <c:v>85222.69299239293</c:v>
                </c:pt>
                <c:pt idx="29">
                  <c:v>127834.03948858939</c:v>
                </c:pt>
                <c:pt idx="30">
                  <c:v>191751.0592328841</c:v>
                </c:pt>
              </c:numCache>
            </c:numRef>
          </c:val>
          <c:smooth val="0"/>
        </c:ser>
        <c:ser>
          <c:idx val="1"/>
          <c:order val="1"/>
          <c:tx>
            <c:strRef>
              <c:f>Sheet1!$C$1</c:f>
              <c:strCache>
                <c:ptCount val="1"/>
                <c:pt idx="0">
                  <c:v>1.1</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1</c:v>
                </c:pt>
                <c:pt idx="1">
                  <c:v>1.1</c:v>
                </c:pt>
                <c:pt idx="2">
                  <c:v>1.2100000000000002</c:v>
                </c:pt>
                <c:pt idx="3">
                  <c:v>1.3310000000000004</c:v>
                </c:pt>
                <c:pt idx="4">
                  <c:v>1.4641000000000004</c:v>
                </c:pt>
                <c:pt idx="5">
                  <c:v>1.6105100000000006</c:v>
                </c:pt>
                <c:pt idx="6">
                  <c:v>1.7715610000000008</c:v>
                </c:pt>
                <c:pt idx="7">
                  <c:v>1.9487171000000012</c:v>
                </c:pt>
                <c:pt idx="8">
                  <c:v>2.1435888100000016</c:v>
                </c:pt>
                <c:pt idx="9">
                  <c:v>2.357947691000002</c:v>
                </c:pt>
                <c:pt idx="10">
                  <c:v>2.5937424601000023</c:v>
                </c:pt>
                <c:pt idx="11">
                  <c:v>2.8531167061100025</c:v>
                </c:pt>
                <c:pt idx="12">
                  <c:v>3.138428376721003</c:v>
                </c:pt>
                <c:pt idx="13">
                  <c:v>3.452271214393104</c:v>
                </c:pt>
                <c:pt idx="14">
                  <c:v>3.7974983358324144</c:v>
                </c:pt>
                <c:pt idx="15">
                  <c:v>4.177248169415656</c:v>
                </c:pt>
                <c:pt idx="16">
                  <c:v>4.594972986357222</c:v>
                </c:pt>
                <c:pt idx="17">
                  <c:v>5.054470284992945</c:v>
                </c:pt>
                <c:pt idx="18">
                  <c:v>5.55991731349224</c:v>
                </c:pt>
                <c:pt idx="19">
                  <c:v>6.115909044841464</c:v>
                </c:pt>
                <c:pt idx="20">
                  <c:v>6.727499949325611</c:v>
                </c:pt>
                <c:pt idx="21">
                  <c:v>7.400249944258173</c:v>
                </c:pt>
                <c:pt idx="22">
                  <c:v>8.14027493868399</c:v>
                </c:pt>
                <c:pt idx="23">
                  <c:v>8.95430243255239</c:v>
                </c:pt>
                <c:pt idx="24">
                  <c:v>9.84973267580763</c:v>
                </c:pt>
                <c:pt idx="25">
                  <c:v>10.834705943388395</c:v>
                </c:pt>
                <c:pt idx="26">
                  <c:v>11.918176537727234</c:v>
                </c:pt>
                <c:pt idx="27">
                  <c:v>13.10999419149996</c:v>
                </c:pt>
                <c:pt idx="28">
                  <c:v>14.420993610649957</c:v>
                </c:pt>
                <c:pt idx="29">
                  <c:v>15.863092971714952</c:v>
                </c:pt>
                <c:pt idx="30">
                  <c:v>17.44940226888645</c:v>
                </c:pt>
              </c:numCache>
            </c:numRef>
          </c:val>
          <c:smooth val="0"/>
        </c:ser>
        <c:ser>
          <c:idx val="2"/>
          <c:order val="2"/>
          <c:tx>
            <c:strRef>
              <c:f>Sheet1!$D$1</c:f>
              <c:strCache>
                <c:ptCount val="1"/>
                <c:pt idx="0">
                  <c:v>1.0</c:v>
                </c:pt>
              </c:strCache>
            </c:strRef>
          </c:tx>
          <c:spPr>
            <a:solidFill>
              <a:srgbClr val="2B3A4F"/>
            </a:solidFill>
            <a:ln w="31750" cap="flat">
              <a:solidFill>
                <a:srgbClr val="2B3A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B3A4F"/>
              </a:solidFill>
              <a:ln w="9525" cap="flat">
                <a:solidFill>
                  <a:srgbClr val="2B3A4F"/>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numCache>
            </c:numRef>
          </c:val>
          <c:smooth val="0"/>
        </c:ser>
        <c:ser>
          <c:idx val="3"/>
          <c:order val="3"/>
          <c:tx>
            <c:strRef>
              <c:f>Sheet1!$E$1</c:f>
              <c:strCache>
                <c:ptCount val="1"/>
                <c:pt idx="0">
                  <c:v>0.9</c:v>
                </c:pt>
              </c:strCache>
            </c:strRef>
          </c:tx>
          <c:spPr>
            <a:solidFill>
              <a:srgbClr val="6FB3B1"/>
            </a:solidFill>
            <a:ln w="31750" cap="flat">
              <a:solidFill>
                <a:srgbClr val="6FB3B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6FB3B1"/>
              </a:solidFill>
              <a:ln w="9525" cap="flat">
                <a:solidFill>
                  <a:srgbClr val="6FB3B1"/>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Sheet1!$E$2:$E$32</c:f>
              <c:numCache>
                <c:formatCode>General</c:formatCode>
                <c:ptCount val="31"/>
                <c:pt idx="0">
                  <c:v>1</c:v>
                </c:pt>
                <c:pt idx="1">
                  <c:v>0.9</c:v>
                </c:pt>
                <c:pt idx="2">
                  <c:v>0.81</c:v>
                </c:pt>
                <c:pt idx="3">
                  <c:v>0.7290000000000001</c:v>
                </c:pt>
                <c:pt idx="4">
                  <c:v>0.6561</c:v>
                </c:pt>
                <c:pt idx="5">
                  <c:v>0.5904900000000001</c:v>
                </c:pt>
                <c:pt idx="6">
                  <c:v>0.531441</c:v>
                </c:pt>
                <c:pt idx="7">
                  <c:v>0.4782969000000001</c:v>
                </c:pt>
                <c:pt idx="8">
                  <c:v>0.4304672100000001</c:v>
                </c:pt>
                <c:pt idx="9">
                  <c:v>0.3874204890000001</c:v>
                </c:pt>
                <c:pt idx="10">
                  <c:v>0.3486784401000001</c:v>
                </c:pt>
                <c:pt idx="11">
                  <c:v>0.31381059609000006</c:v>
                </c:pt>
                <c:pt idx="12">
                  <c:v>0.2824295364810001</c:v>
                </c:pt>
                <c:pt idx="13">
                  <c:v>0.2541865828329001</c:v>
                </c:pt>
                <c:pt idx="14">
                  <c:v>0.2287679245496101</c:v>
                </c:pt>
                <c:pt idx="15">
                  <c:v>0.20589113209464907</c:v>
                </c:pt>
                <c:pt idx="16">
                  <c:v>0.18530201888518416</c:v>
                </c:pt>
                <c:pt idx="17">
                  <c:v>0.16677181699666577</c:v>
                </c:pt>
                <c:pt idx="18">
                  <c:v>0.15009463529699918</c:v>
                </c:pt>
                <c:pt idx="19">
                  <c:v>0.13508517176729928</c:v>
                </c:pt>
                <c:pt idx="20">
                  <c:v>0.12157665459056935</c:v>
                </c:pt>
                <c:pt idx="21">
                  <c:v>0.10941898913151242</c:v>
                </c:pt>
                <c:pt idx="22">
                  <c:v>0.09847709021836118</c:v>
                </c:pt>
                <c:pt idx="23">
                  <c:v>0.08862938119652507</c:v>
                </c:pt>
                <c:pt idx="24">
                  <c:v>0.07976644307687256</c:v>
                </c:pt>
                <c:pt idx="25">
                  <c:v>0.0717897987691853</c:v>
                </c:pt>
                <c:pt idx="26">
                  <c:v>0.06461081889226677</c:v>
                </c:pt>
                <c:pt idx="27">
                  <c:v>0.058149737003040096</c:v>
                </c:pt>
                <c:pt idx="28">
                  <c:v>0.05233476330273609</c:v>
                </c:pt>
                <c:pt idx="29">
                  <c:v>0.047101286972462485</c:v>
                </c:pt>
                <c:pt idx="30">
                  <c:v>0.04239115827521624</c:v>
                </c:pt>
              </c:numCache>
            </c:numRef>
          </c:val>
          <c:smooth val="0"/>
        </c:ser>
        <c:ser>
          <c:idx val="4"/>
          <c:order val="4"/>
          <c:tx>
            <c:strRef>
              <c:f>Sheet1!$F$1</c:f>
              <c:strCache>
                <c:ptCount val="1"/>
                <c:pt idx="0">
                  <c:v>0.5</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Sheet1!$F$2:$F$32</c:f>
              <c:numCache>
                <c:formatCode>General</c:formatCode>
                <c:ptCount val="31"/>
                <c:pt idx="0">
                  <c:v>1</c:v>
                </c:pt>
                <c:pt idx="1">
                  <c:v>0.5</c:v>
                </c:pt>
                <c:pt idx="2">
                  <c:v>0.25</c:v>
                </c:pt>
                <c:pt idx="3">
                  <c:v>0.125</c:v>
                </c:pt>
                <c:pt idx="4">
                  <c:v>0.0625</c:v>
                </c:pt>
                <c:pt idx="5">
                  <c:v>0.03125</c:v>
                </c:pt>
                <c:pt idx="6">
                  <c:v>0.015625</c:v>
                </c:pt>
                <c:pt idx="7">
                  <c:v>0.0078125</c:v>
                </c:pt>
                <c:pt idx="8">
                  <c:v>0.00390625</c:v>
                </c:pt>
                <c:pt idx="9">
                  <c:v>0.001953125</c:v>
                </c:pt>
                <c:pt idx="10">
                  <c:v>0.0009765625</c:v>
                </c:pt>
                <c:pt idx="11">
                  <c:v>0.00048828125</c:v>
                </c:pt>
                <c:pt idx="12">
                  <c:v>0.000244140625</c:v>
                </c:pt>
                <c:pt idx="13">
                  <c:v>0.0001220703125</c:v>
                </c:pt>
                <c:pt idx="14">
                  <c:v>0.00006103515625</c:v>
                </c:pt>
                <c:pt idx="15">
                  <c:v>0.000030517578125</c:v>
                </c:pt>
                <c:pt idx="16">
                  <c:v>0.0000152587890625</c:v>
                </c:pt>
                <c:pt idx="17">
                  <c:v>0.00000762939453125</c:v>
                </c:pt>
                <c:pt idx="18">
                  <c:v>0.000003814697265625</c:v>
                </c:pt>
                <c:pt idx="19">
                  <c:v>0.0000019073486328125</c:v>
                </c:pt>
                <c:pt idx="20">
                  <c:v>9.5367431640625e-7</c:v>
                </c:pt>
                <c:pt idx="21">
                  <c:v>4.76837158203125e-7</c:v>
                </c:pt>
                <c:pt idx="22">
                  <c:v>2.384185791015625e-7</c:v>
                </c:pt>
                <c:pt idx="23">
                  <c:v>1.1920928955078125e-7</c:v>
                </c:pt>
                <c:pt idx="24">
                  <c:v>5.960464477539063e-8</c:v>
                </c:pt>
                <c:pt idx="25">
                  <c:v>2.9802322387695312e-8</c:v>
                </c:pt>
                <c:pt idx="26">
                  <c:v>1.4901161193847656e-8</c:v>
                </c:pt>
                <c:pt idx="27">
                  <c:v>7.450580596923828e-9</c:v>
                </c:pt>
                <c:pt idx="28">
                  <c:v>3.725290298461914e-9</c:v>
                </c:pt>
                <c:pt idx="29">
                  <c:v>1.862645149230957e-9</c:v>
                </c:pt>
                <c:pt idx="30">
                  <c:v>9.313225746154785e-10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layers the gradient passes through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5"/>
      </c:catAx>
      <c:valAx>
        <c:axId val="2094734552"/>
        <c:scaling>
          <c:logBase val="10"/>
          <c:orientation val="minMax"/>
          <c:max val="1000000"/>
          <c:min val="1e-10"/>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Std of activations by layer: He vs Xavier (log scale)</a:t>
            </a:r>
          </a:p>
        </c:rich>
      </c:tx>
      <c:layout/>
      <c:overlay val="0"/>
    </c:title>
    <c:autoTitleDeleted val="0"/>
    <c:plotArea>
      <c:layout/>
      <c:lineChart>
        <c:varyColors val="0"/>
        <c:ser>
          <c:idx val="0"/>
          <c:order val="0"/>
          <c:tx>
            <c:strRef>
              <c:f>Sheet1!$B$1</c:f>
              <c:strCache>
                <c:ptCount val="1"/>
                <c:pt idx="0">
                  <c:v>He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Sheet1!$B$2:$B$21</c:f>
              <c:numCache>
                <c:formatCode>General</c:formatCode>
                <c:ptCount val="20"/>
                <c:pt idx="0">
                  <c:v>0.8217224567293241</c:v>
                </c:pt>
                <c:pt idx="1">
                  <c:v>0.8745301731437508</c:v>
                </c:pt>
                <c:pt idx="2">
                  <c:v>0.8376835379054053</c:v>
                </c:pt>
                <c:pt idx="3">
                  <c:v>0.8527607507160034</c:v>
                </c:pt>
                <c:pt idx="4">
                  <c:v>0.8134322615693115</c:v>
                </c:pt>
                <c:pt idx="5">
                  <c:v>0.8347153114516415</c:v>
                </c:pt>
                <c:pt idx="6">
                  <c:v>0.8403668564158442</c:v>
                </c:pt>
                <c:pt idx="7">
                  <c:v>0.8485927317263644</c:v>
                </c:pt>
                <c:pt idx="8">
                  <c:v>0.8105480990199855</c:v>
                </c:pt>
                <c:pt idx="9">
                  <c:v>0.8287578022076925</c:v>
                </c:pt>
                <c:pt idx="10">
                  <c:v>0.8952183774042194</c:v>
                </c:pt>
                <c:pt idx="11">
                  <c:v>0.9771052877558757</c:v>
                </c:pt>
                <c:pt idx="12">
                  <c:v>0.8960802628602372</c:v>
                </c:pt>
                <c:pt idx="13">
                  <c:v>1.0398907888096776</c:v>
                </c:pt>
                <c:pt idx="14">
                  <c:v>1.0526591747929608</c:v>
                </c:pt>
                <c:pt idx="15">
                  <c:v>1.0605046114535148</c:v>
                </c:pt>
                <c:pt idx="16">
                  <c:v>1.1361862086514505</c:v>
                </c:pt>
                <c:pt idx="17">
                  <c:v>1.0186757054184854</c:v>
                </c:pt>
                <c:pt idx="18">
                  <c:v>1.091111833145082</c:v>
                </c:pt>
                <c:pt idx="19">
                  <c:v>1.137196577702215</c:v>
                </c:pt>
              </c:numCache>
            </c:numRef>
          </c:val>
          <c:smooth val="0"/>
        </c:ser>
        <c:ser>
          <c:idx val="1"/>
          <c:order val="1"/>
          <c:tx>
            <c:strRef>
              <c:f>Sheet1!$C$1</c:f>
              <c:strCache>
                <c:ptCount val="1"/>
                <c:pt idx="0">
                  <c:v>Xavier</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Sheet1!$A$2:$A$21</c:f>
              <c:strCache>
                <c:ptCount val="2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strCache>
            </c:strRef>
          </c:cat>
          <c:val>
            <c:numRef>
              <c:f>Sheet1!$C$2:$C$21</c:f>
              <c:numCache>
                <c:formatCode>General</c:formatCode>
                <c:ptCount val="20"/>
                <c:pt idx="0">
                  <c:v>0.5810455214065744</c:v>
                </c:pt>
                <c:pt idx="1">
                  <c:v>0.43726508657187535</c:v>
                </c:pt>
                <c:pt idx="2">
                  <c:v>0.2961658550706251</c:v>
                </c:pt>
                <c:pt idx="3">
                  <c:v>0.21319018767900083</c:v>
                </c:pt>
                <c:pt idx="4">
                  <c:v>0.14379586704789238</c:v>
                </c:pt>
                <c:pt idx="5">
                  <c:v>0.10433941393145513</c:v>
                </c:pt>
                <c:pt idx="6">
                  <c:v>0.07427863785700811</c:v>
                </c:pt>
                <c:pt idx="7">
                  <c:v>0.05303704573289775</c:v>
                </c:pt>
                <c:pt idx="8">
                  <c:v>0.03582150358093104</c:v>
                </c:pt>
                <c:pt idx="9">
                  <c:v>0.025898681318990372</c:v>
                </c:pt>
                <c:pt idx="10">
                  <c:v>0.019781718290791905</c:v>
                </c:pt>
                <c:pt idx="11">
                  <c:v>0.015267270121185545</c:v>
                </c:pt>
                <c:pt idx="12">
                  <c:v>0.009900381724310894</c:v>
                </c:pt>
                <c:pt idx="13">
                  <c:v>0.008124146787575599</c:v>
                </c:pt>
                <c:pt idx="14">
                  <c:v>0.0058151753185495085</c:v>
                </c:pt>
                <c:pt idx="15">
                  <c:v>0.004142596138490289</c:v>
                </c:pt>
                <c:pt idx="16">
                  <c:v>0.003138300675109661</c:v>
                </c:pt>
                <c:pt idx="17">
                  <c:v>0.0019896009871454767</c:v>
                </c:pt>
                <c:pt idx="18">
                  <c:v>0.0015068995629878346</c:v>
                </c:pt>
                <c:pt idx="19">
                  <c:v>0.0011105435329123179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layer</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logBase val="10"/>
          <c:orientation val="minMax"/>
          <c:max val="10"/>
          <c:min val="0.0001"/>
        </c:scaling>
        <c:delete val="0"/>
        <c:axPos val="l"/>
        <c:majorGridlines>
          <c:spPr>
            <a:ln w="9525" cap="flat">
              <a:solidFill>
                <a:srgbClr val="E3E7EC"/>
              </a:solidFill>
              <a:prstDash val="solid"/>
              <a:round/>
            </a:ln>
          </c:spPr>
        </c:majorGridlines>
        <c:numFmt formatCode="0E+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Validation loss, 1,000 training images (seed 0)</a:t>
            </a:r>
          </a:p>
        </c:rich>
      </c:tx>
      <c:layout/>
      <c:overlay val="0"/>
    </c:title>
    <c:autoTitleDeleted val="0"/>
    <c:plotArea>
      <c:layout/>
      <c:lineChart>
        <c:varyColors val="0"/>
        <c:ser>
          <c:idx val="0"/>
          <c:order val="0"/>
          <c:tx>
            <c:strRef>
              <c:f>Sheet1!$B$1</c:f>
              <c:strCache>
                <c:ptCount val="1"/>
                <c:pt idx="0">
                  <c:v>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8571B"/>
              </a:solidFill>
              <a:ln w="9525" cap="flat">
                <a:solidFill>
                  <a:srgbClr val="C8571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Sheet1!$B$2:$B$151</c:f>
              <c:numCache>
                <c:formatCode>General</c:formatCode>
                <c:ptCount val="150"/>
                <c:pt idx="0">
                  <c:v>0.9205572265625</c:v>
                </c:pt>
                <c:pt idx="1">
                  <c:v>0.729158154296875</c:v>
                </c:pt>
                <c:pt idx="2">
                  <c:v>0.643357666015625</c:v>
                </c:pt>
                <c:pt idx="3">
                  <c:v>0.617442724609375</c:v>
                </c:pt>
                <c:pt idx="4">
                  <c:v>0.627108056640625</c:v>
                </c:pt>
                <c:pt idx="5">
                  <c:v>0.61825966796875</c:v>
                </c:pt>
                <c:pt idx="6">
                  <c:v>0.580575048828125</c:v>
                </c:pt>
                <c:pt idx="7">
                  <c:v>0.604358154296875</c:v>
                </c:pt>
                <c:pt idx="8">
                  <c:v>0.577280419921875</c:v>
                </c:pt>
                <c:pt idx="9">
                  <c:v>0.608286181640625</c:v>
                </c:pt>
                <c:pt idx="10">
                  <c:v>0.599783642578125</c:v>
                </c:pt>
                <c:pt idx="11">
                  <c:v>0.5821537109375</c:v>
                </c:pt>
                <c:pt idx="12">
                  <c:v>0.5860369140625</c:v>
                </c:pt>
                <c:pt idx="13">
                  <c:v>0.596947998046875</c:v>
                </c:pt>
                <c:pt idx="14">
                  <c:v>0.609547900390625</c:v>
                </c:pt>
                <c:pt idx="15">
                  <c:v>0.600554931640625</c:v>
                </c:pt>
                <c:pt idx="16">
                  <c:v>0.61005625</c:v>
                </c:pt>
                <c:pt idx="17">
                  <c:v>0.61115400390625</c:v>
                </c:pt>
                <c:pt idx="18">
                  <c:v>0.613898388671875</c:v>
                </c:pt>
                <c:pt idx="19">
                  <c:v>0.6220533203125</c:v>
                </c:pt>
                <c:pt idx="20">
                  <c:v>0.62973173828125</c:v>
                </c:pt>
                <c:pt idx="21">
                  <c:v>0.63390830078125</c:v>
                </c:pt>
                <c:pt idx="22">
                  <c:v>0.647189990234375</c:v>
                </c:pt>
                <c:pt idx="23">
                  <c:v>0.64223427734375</c:v>
                </c:pt>
                <c:pt idx="24">
                  <c:v>0.655722705078125</c:v>
                </c:pt>
                <c:pt idx="25">
                  <c:v>0.65908623046875</c:v>
                </c:pt>
                <c:pt idx="26">
                  <c:v>0.675745458984375</c:v>
                </c:pt>
                <c:pt idx="27">
                  <c:v>0.6757076171875</c:v>
                </c:pt>
                <c:pt idx="28">
                  <c:v>0.693819091796875</c:v>
                </c:pt>
                <c:pt idx="29">
                  <c:v>0.72143984375</c:v>
                </c:pt>
                <c:pt idx="30">
                  <c:v>0.703533642578125</c:v>
                </c:pt>
                <c:pt idx="31">
                  <c:v>0.717040087890625</c:v>
                </c:pt>
                <c:pt idx="32">
                  <c:v>0.695734619140625</c:v>
                </c:pt>
                <c:pt idx="33">
                  <c:v>0.709453173828125</c:v>
                </c:pt>
                <c:pt idx="34">
                  <c:v>0.71643603515625</c:v>
                </c:pt>
                <c:pt idx="35">
                  <c:v>0.7175490234375</c:v>
                </c:pt>
                <c:pt idx="36">
                  <c:v>0.7338154296875</c:v>
                </c:pt>
                <c:pt idx="37">
                  <c:v>0.74339443359375</c:v>
                </c:pt>
                <c:pt idx="38">
                  <c:v>0.7553341796875</c:v>
                </c:pt>
                <c:pt idx="39">
                  <c:v>0.7573978515625</c:v>
                </c:pt>
                <c:pt idx="40">
                  <c:v>0.746588232421875</c:v>
                </c:pt>
                <c:pt idx="41">
                  <c:v>0.7574662109375</c:v>
                </c:pt>
                <c:pt idx="42">
                  <c:v>0.76071943359375</c:v>
                </c:pt>
                <c:pt idx="43">
                  <c:v>0.7742927734375</c:v>
                </c:pt>
                <c:pt idx="44">
                  <c:v>0.770003955078125</c:v>
                </c:pt>
                <c:pt idx="45">
                  <c:v>0.783309423828125</c:v>
                </c:pt>
                <c:pt idx="46">
                  <c:v>0.78120302734375</c:v>
                </c:pt>
                <c:pt idx="47">
                  <c:v>0.791747998046875</c:v>
                </c:pt>
                <c:pt idx="48">
                  <c:v>0.790400634765625</c:v>
                </c:pt>
                <c:pt idx="49">
                  <c:v>0.796155224609375</c:v>
                </c:pt>
                <c:pt idx="50">
                  <c:v>0.79908583984375</c:v>
                </c:pt>
                <c:pt idx="51">
                  <c:v>0.80345244140625</c:v>
                </c:pt>
                <c:pt idx="52">
                  <c:v>0.806477783203125</c:v>
                </c:pt>
                <c:pt idx="53">
                  <c:v>0.8106015625</c:v>
                </c:pt>
                <c:pt idx="54">
                  <c:v>0.814710400390625</c:v>
                </c:pt>
                <c:pt idx="55">
                  <c:v>0.8181125</c:v>
                </c:pt>
                <c:pt idx="56">
                  <c:v>0.8211115234375</c:v>
                </c:pt>
                <c:pt idx="57">
                  <c:v>0.82701025390625</c:v>
                </c:pt>
                <c:pt idx="58">
                  <c:v>0.8292501953125</c:v>
                </c:pt>
                <c:pt idx="59">
                  <c:v>0.8325494140625</c:v>
                </c:pt>
                <c:pt idx="60">
                  <c:v>0.83613857421875</c:v>
                </c:pt>
                <c:pt idx="61">
                  <c:v>0.83795517578125</c:v>
                </c:pt>
                <c:pt idx="62">
                  <c:v>0.84165869140625</c:v>
                </c:pt>
                <c:pt idx="63">
                  <c:v>0.845558203125</c:v>
                </c:pt>
                <c:pt idx="64">
                  <c:v>0.848715234375</c:v>
                </c:pt>
                <c:pt idx="65">
                  <c:v>0.85255927734375</c:v>
                </c:pt>
                <c:pt idx="66">
                  <c:v>0.85414345703125</c:v>
                </c:pt>
                <c:pt idx="67">
                  <c:v>0.8569080078125</c:v>
                </c:pt>
                <c:pt idx="68">
                  <c:v>0.8589009765625</c:v>
                </c:pt>
                <c:pt idx="69">
                  <c:v>0.86147880859375</c:v>
                </c:pt>
                <c:pt idx="70">
                  <c:v>0.866476171875</c:v>
                </c:pt>
                <c:pt idx="71">
                  <c:v>0.870354296875</c:v>
                </c:pt>
                <c:pt idx="72">
                  <c:v>0.8725875</c:v>
                </c:pt>
                <c:pt idx="73">
                  <c:v>0.87336728515625</c:v>
                </c:pt>
                <c:pt idx="74">
                  <c:v>0.8763166015625</c:v>
                </c:pt>
                <c:pt idx="75">
                  <c:v>0.87990556640625</c:v>
                </c:pt>
                <c:pt idx="76">
                  <c:v>0.881423046875</c:v>
                </c:pt>
                <c:pt idx="77">
                  <c:v>0.8852541015625</c:v>
                </c:pt>
                <c:pt idx="78">
                  <c:v>0.88739814453125</c:v>
                </c:pt>
                <c:pt idx="79">
                  <c:v>0.8894705078125</c:v>
                </c:pt>
                <c:pt idx="80">
                  <c:v>0.89185283203125</c:v>
                </c:pt>
                <c:pt idx="81">
                  <c:v>0.8950232421875</c:v>
                </c:pt>
                <c:pt idx="82">
                  <c:v>0.8976216796875</c:v>
                </c:pt>
                <c:pt idx="83">
                  <c:v>0.89921572265625</c:v>
                </c:pt>
                <c:pt idx="84">
                  <c:v>0.90144462890625</c:v>
                </c:pt>
                <c:pt idx="85">
                  <c:v>0.9043951171875</c:v>
                </c:pt>
                <c:pt idx="86">
                  <c:v>0.90623251953125</c:v>
                </c:pt>
                <c:pt idx="87">
                  <c:v>0.90886865234375</c:v>
                </c:pt>
                <c:pt idx="88">
                  <c:v>0.9116302734375</c:v>
                </c:pt>
                <c:pt idx="89">
                  <c:v>0.91455732421875</c:v>
                </c:pt>
                <c:pt idx="90">
                  <c:v>0.91488857421875</c:v>
                </c:pt>
                <c:pt idx="91">
                  <c:v>0.91717412109375</c:v>
                </c:pt>
                <c:pt idx="92">
                  <c:v>0.92018173828125</c:v>
                </c:pt>
                <c:pt idx="93">
                  <c:v>0.92188525390625</c:v>
                </c:pt>
                <c:pt idx="94">
                  <c:v>0.92418115234375</c:v>
                </c:pt>
                <c:pt idx="95">
                  <c:v>0.9254806640625</c:v>
                </c:pt>
                <c:pt idx="96">
                  <c:v>0.929119921875</c:v>
                </c:pt>
                <c:pt idx="97">
                  <c:v>0.930159765625</c:v>
                </c:pt>
                <c:pt idx="98">
                  <c:v>0.9328875</c:v>
                </c:pt>
                <c:pt idx="99">
                  <c:v>0.93419130859375</c:v>
                </c:pt>
                <c:pt idx="100">
                  <c:v>0.93775087890625</c:v>
                </c:pt>
                <c:pt idx="101">
                  <c:v>0.93834794921875</c:v>
                </c:pt>
                <c:pt idx="102">
                  <c:v>0.93989951171875</c:v>
                </c:pt>
                <c:pt idx="103">
                  <c:v>0.942295703125</c:v>
                </c:pt>
                <c:pt idx="104">
                  <c:v>0.944577734375</c:v>
                </c:pt>
                <c:pt idx="105">
                  <c:v>0.94483837890625</c:v>
                </c:pt>
                <c:pt idx="106">
                  <c:v>0.9493962890625</c:v>
                </c:pt>
                <c:pt idx="107">
                  <c:v>0.951325</c:v>
                </c:pt>
                <c:pt idx="108">
                  <c:v>0.95147734375</c:v>
                </c:pt>
                <c:pt idx="109">
                  <c:v>0.95354951171875</c:v>
                </c:pt>
                <c:pt idx="110">
                  <c:v>0.95712314453125</c:v>
                </c:pt>
                <c:pt idx="111">
                  <c:v>0.9579716796875</c:v>
                </c:pt>
                <c:pt idx="112">
                  <c:v>0.95738017578125</c:v>
                </c:pt>
                <c:pt idx="113">
                  <c:v>0.96169423828125</c:v>
                </c:pt>
                <c:pt idx="114">
                  <c:v>0.96417470703125</c:v>
                </c:pt>
                <c:pt idx="115">
                  <c:v>0.96520146484375</c:v>
                </c:pt>
                <c:pt idx="116">
                  <c:v>0.96679453125</c:v>
                </c:pt>
                <c:pt idx="117">
                  <c:v>0.968986328125</c:v>
                </c:pt>
                <c:pt idx="118">
                  <c:v>0.97146474609375</c:v>
                </c:pt>
                <c:pt idx="119">
                  <c:v>0.97212724609375</c:v>
                </c:pt>
                <c:pt idx="120">
                  <c:v>0.97356064453125</c:v>
                </c:pt>
                <c:pt idx="121">
                  <c:v>0.97549638671875</c:v>
                </c:pt>
                <c:pt idx="122">
                  <c:v>0.9786</c:v>
                </c:pt>
                <c:pt idx="123">
                  <c:v>0.97823779296875</c:v>
                </c:pt>
                <c:pt idx="124">
                  <c:v>0.9828966796875</c:v>
                </c:pt>
                <c:pt idx="125">
                  <c:v>0.98288349609375</c:v>
                </c:pt>
                <c:pt idx="126">
                  <c:v>0.98398134765625</c:v>
                </c:pt>
                <c:pt idx="127">
                  <c:v>0.985890625</c:v>
                </c:pt>
                <c:pt idx="128">
                  <c:v>0.9877501953125</c:v>
                </c:pt>
                <c:pt idx="129">
                  <c:v>0.9895302734375</c:v>
                </c:pt>
                <c:pt idx="130">
                  <c:v>0.990445703125</c:v>
                </c:pt>
                <c:pt idx="131">
                  <c:v>0.99307431640625</c:v>
                </c:pt>
                <c:pt idx="132">
                  <c:v>0.9947951171875</c:v>
                </c:pt>
                <c:pt idx="133">
                  <c:v>0.99554287109375</c:v>
                </c:pt>
                <c:pt idx="134">
                  <c:v>0.997053125</c:v>
                </c:pt>
                <c:pt idx="135">
                  <c:v>0.99899345703125</c:v>
                </c:pt>
                <c:pt idx="136">
                  <c:v>1.00115419921875</c:v>
                </c:pt>
                <c:pt idx="137">
                  <c:v>1.001858203125</c:v>
                </c:pt>
                <c:pt idx="138">
                  <c:v>1.00404462890625</c:v>
                </c:pt>
                <c:pt idx="139">
                  <c:v>1.00556787109375</c:v>
                </c:pt>
                <c:pt idx="140">
                  <c:v>1.00698662109375</c:v>
                </c:pt>
                <c:pt idx="141">
                  <c:v>1.008296875</c:v>
                </c:pt>
                <c:pt idx="142">
                  <c:v>1.01027646484375</c:v>
                </c:pt>
                <c:pt idx="143">
                  <c:v>1.01165703125</c:v>
                </c:pt>
                <c:pt idx="144">
                  <c:v>1.012962890625</c:v>
                </c:pt>
                <c:pt idx="145">
                  <c:v>1.01499033203125</c:v>
                </c:pt>
                <c:pt idx="146">
                  <c:v>1.01664736328125</c:v>
                </c:pt>
                <c:pt idx="147">
                  <c:v>1.01716240234375</c:v>
                </c:pt>
                <c:pt idx="148">
                  <c:v>1.01926630859375</c:v>
                </c:pt>
                <c:pt idx="149">
                  <c:v>1.02154267578125</c:v>
                </c:pt>
              </c:numCache>
            </c:numRef>
          </c:val>
          <c:smooth val="0"/>
        </c:ser>
        <c:ser>
          <c:idx val="1"/>
          <c:order val="1"/>
          <c:tx>
            <c:strRef>
              <c:f>Sheet1!$C$1</c:f>
              <c:strCache>
                <c:ptCount val="1"/>
                <c:pt idx="0">
                  <c:v>dropout 0.5</c:v>
                </c:pt>
              </c:strCache>
            </c:strRef>
          </c:tx>
          <c:spPr>
            <a:solidFill>
              <a:srgbClr val="E09A6B"/>
            </a:solidFill>
            <a:ln w="31750" cap="flat">
              <a:solidFill>
                <a:srgbClr val="E09A6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09A6B"/>
              </a:solidFill>
              <a:ln w="9525" cap="flat">
                <a:solidFill>
                  <a:srgbClr val="E09A6B"/>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Sheet1!$C$2:$C$151</c:f>
              <c:numCache>
                <c:formatCode>General</c:formatCode>
                <c:ptCount val="150"/>
                <c:pt idx="0">
                  <c:v>1.4982814453125</c:v>
                </c:pt>
                <c:pt idx="1">
                  <c:v>1.24337333984375</c:v>
                </c:pt>
                <c:pt idx="2">
                  <c:v>1.09190078125</c:v>
                </c:pt>
                <c:pt idx="3">
                  <c:v>1.01501787109375</c:v>
                </c:pt>
                <c:pt idx="4">
                  <c:v>0.910117578125</c:v>
                </c:pt>
                <c:pt idx="5">
                  <c:v>0.8792537109375</c:v>
                </c:pt>
                <c:pt idx="6">
                  <c:v>0.8337734375</c:v>
                </c:pt>
                <c:pt idx="7">
                  <c:v>0.7955435546875</c:v>
                </c:pt>
                <c:pt idx="8">
                  <c:v>0.7442216796875</c:v>
                </c:pt>
                <c:pt idx="9">
                  <c:v>0.7340849609375</c:v>
                </c:pt>
                <c:pt idx="10">
                  <c:v>0.72290126953125</c:v>
                </c:pt>
                <c:pt idx="11">
                  <c:v>0.6737869140625</c:v>
                </c:pt>
                <c:pt idx="12">
                  <c:v>0.6533111328125</c:v>
                </c:pt>
                <c:pt idx="13">
                  <c:v>0.647772021484375</c:v>
                </c:pt>
                <c:pt idx="14">
                  <c:v>0.635680908203125</c:v>
                </c:pt>
                <c:pt idx="15">
                  <c:v>0.625043505859375</c:v>
                </c:pt>
                <c:pt idx="16">
                  <c:v>0.617084228515625</c:v>
                </c:pt>
                <c:pt idx="17">
                  <c:v>0.62146640625</c:v>
                </c:pt>
                <c:pt idx="18">
                  <c:v>0.5958875</c:v>
                </c:pt>
                <c:pt idx="19">
                  <c:v>0.59372490234375</c:v>
                </c:pt>
                <c:pt idx="20">
                  <c:v>0.60634345703125</c:v>
                </c:pt>
                <c:pt idx="21">
                  <c:v>0.589158984375</c:v>
                </c:pt>
                <c:pt idx="22">
                  <c:v>0.5799787109375</c:v>
                </c:pt>
                <c:pt idx="23">
                  <c:v>0.585282421875</c:v>
                </c:pt>
                <c:pt idx="24">
                  <c:v>0.569490576171875</c:v>
                </c:pt>
                <c:pt idx="25">
                  <c:v>0.57023212890625</c:v>
                </c:pt>
                <c:pt idx="26">
                  <c:v>0.569212451171875</c:v>
                </c:pt>
                <c:pt idx="27">
                  <c:v>0.579396337890625</c:v>
                </c:pt>
                <c:pt idx="28">
                  <c:v>0.5679404296875</c:v>
                </c:pt>
                <c:pt idx="29">
                  <c:v>0.586103173828125</c:v>
                </c:pt>
                <c:pt idx="30">
                  <c:v>0.561885400390625</c:v>
                </c:pt>
                <c:pt idx="31">
                  <c:v>0.555329443359375</c:v>
                </c:pt>
                <c:pt idx="32">
                  <c:v>0.5640134765625</c:v>
                </c:pt>
                <c:pt idx="33">
                  <c:v>0.567054052734375</c:v>
                </c:pt>
                <c:pt idx="34">
                  <c:v>0.566583544921875</c:v>
                </c:pt>
                <c:pt idx="35">
                  <c:v>0.567397802734375</c:v>
                </c:pt>
                <c:pt idx="36">
                  <c:v>0.572549658203125</c:v>
                </c:pt>
                <c:pt idx="37">
                  <c:v>0.56363671875</c:v>
                </c:pt>
                <c:pt idx="38">
                  <c:v>0.557422509765625</c:v>
                </c:pt>
                <c:pt idx="39">
                  <c:v>0.55491826171875</c:v>
                </c:pt>
                <c:pt idx="40">
                  <c:v>0.5596142578125</c:v>
                </c:pt>
                <c:pt idx="41">
                  <c:v>0.565481640625</c:v>
                </c:pt>
                <c:pt idx="42">
                  <c:v>0.5529576171875</c:v>
                </c:pt>
                <c:pt idx="43">
                  <c:v>0.559710888671875</c:v>
                </c:pt>
                <c:pt idx="44">
                  <c:v>0.55783720703125</c:v>
                </c:pt>
                <c:pt idx="45">
                  <c:v>0.5756283203125</c:v>
                </c:pt>
                <c:pt idx="46">
                  <c:v>0.566545703125</c:v>
                </c:pt>
                <c:pt idx="47">
                  <c:v>0.56683671875</c:v>
                </c:pt>
                <c:pt idx="48">
                  <c:v>0.577789697265625</c:v>
                </c:pt>
                <c:pt idx="49">
                  <c:v>0.570763671875</c:v>
                </c:pt>
                <c:pt idx="50">
                  <c:v>0.578118994140625</c:v>
                </c:pt>
                <c:pt idx="51">
                  <c:v>0.561968505859375</c:v>
                </c:pt>
                <c:pt idx="52">
                  <c:v>0.568562841796875</c:v>
                </c:pt>
                <c:pt idx="53">
                  <c:v>0.57130712890625</c:v>
                </c:pt>
                <c:pt idx="54">
                  <c:v>0.593339404296875</c:v>
                </c:pt>
                <c:pt idx="55">
                  <c:v>0.588653759765625</c:v>
                </c:pt>
                <c:pt idx="56">
                  <c:v>0.585651611328125</c:v>
                </c:pt>
                <c:pt idx="57">
                  <c:v>0.614200244140625</c:v>
                </c:pt>
                <c:pt idx="58">
                  <c:v>0.599002197265625</c:v>
                </c:pt>
                <c:pt idx="59">
                  <c:v>0.588909619140625</c:v>
                </c:pt>
                <c:pt idx="60">
                  <c:v>0.60811572265625</c:v>
                </c:pt>
                <c:pt idx="61">
                  <c:v>0.591985400390625</c:v>
                </c:pt>
                <c:pt idx="62">
                  <c:v>0.596729296875</c:v>
                </c:pt>
                <c:pt idx="63">
                  <c:v>0.59014423828125</c:v>
                </c:pt>
                <c:pt idx="64">
                  <c:v>0.609818896484375</c:v>
                </c:pt>
                <c:pt idx="65">
                  <c:v>0.59251240234375</c:v>
                </c:pt>
                <c:pt idx="66">
                  <c:v>0.59731015625</c:v>
                </c:pt>
                <c:pt idx="67">
                  <c:v>0.60777978515625</c:v>
                </c:pt>
                <c:pt idx="68">
                  <c:v>0.622851513671875</c:v>
                </c:pt>
                <c:pt idx="69">
                  <c:v>0.617520263671875</c:v>
                </c:pt>
                <c:pt idx="70">
                  <c:v>0.6277634765625</c:v>
                </c:pt>
                <c:pt idx="71">
                  <c:v>0.62350302734375</c:v>
                </c:pt>
                <c:pt idx="72">
                  <c:v>0.64466591796875</c:v>
                </c:pt>
                <c:pt idx="73">
                  <c:v>0.627295263671875</c:v>
                </c:pt>
                <c:pt idx="74">
                  <c:v>0.634750634765625</c:v>
                </c:pt>
                <c:pt idx="75">
                  <c:v>0.657609130859375</c:v>
                </c:pt>
                <c:pt idx="76">
                  <c:v>0.641531689453125</c:v>
                </c:pt>
                <c:pt idx="77">
                  <c:v>0.655220458984375</c:v>
                </c:pt>
                <c:pt idx="78">
                  <c:v>0.65457939453125</c:v>
                </c:pt>
                <c:pt idx="79">
                  <c:v>0.68354638671875</c:v>
                </c:pt>
                <c:pt idx="80">
                  <c:v>0.6676484375</c:v>
                </c:pt>
                <c:pt idx="81">
                  <c:v>0.67400087890625</c:v>
                </c:pt>
                <c:pt idx="82">
                  <c:v>0.677611279296875</c:v>
                </c:pt>
                <c:pt idx="83">
                  <c:v>0.69504345703125</c:v>
                </c:pt>
                <c:pt idx="84">
                  <c:v>0.659295654296875</c:v>
                </c:pt>
                <c:pt idx="85">
                  <c:v>0.68158134765625</c:v>
                </c:pt>
                <c:pt idx="86">
                  <c:v>0.693645947265625</c:v>
                </c:pt>
                <c:pt idx="87">
                  <c:v>0.677118896484375</c:v>
                </c:pt>
                <c:pt idx="88">
                  <c:v>0.6821154296875</c:v>
                </c:pt>
                <c:pt idx="89">
                  <c:v>0.697804443359375</c:v>
                </c:pt>
                <c:pt idx="90">
                  <c:v>0.6835236328125</c:v>
                </c:pt>
                <c:pt idx="91">
                  <c:v>0.712336474609375</c:v>
                </c:pt>
                <c:pt idx="92">
                  <c:v>0.69279111328125</c:v>
                </c:pt>
                <c:pt idx="93">
                  <c:v>0.701838330078125</c:v>
                </c:pt>
                <c:pt idx="94">
                  <c:v>0.7339013671875</c:v>
                </c:pt>
                <c:pt idx="95">
                  <c:v>0.721166259765625</c:v>
                </c:pt>
                <c:pt idx="96">
                  <c:v>0.723206494140625</c:v>
                </c:pt>
                <c:pt idx="97">
                  <c:v>0.7190109375</c:v>
                </c:pt>
                <c:pt idx="98">
                  <c:v>0.72348564453125</c:v>
                </c:pt>
                <c:pt idx="99">
                  <c:v>0.7294681640625</c:v>
                </c:pt>
                <c:pt idx="100">
                  <c:v>0.761977490234375</c:v>
                </c:pt>
                <c:pt idx="101">
                  <c:v>0.732439306640625</c:v>
                </c:pt>
                <c:pt idx="102">
                  <c:v>0.739262451171875</c:v>
                </c:pt>
                <c:pt idx="103">
                  <c:v>0.752981591796875</c:v>
                </c:pt>
                <c:pt idx="104">
                  <c:v>0.7258408203125</c:v>
                </c:pt>
                <c:pt idx="105">
                  <c:v>0.734003857421875</c:v>
                </c:pt>
                <c:pt idx="106">
                  <c:v>0.756754150390625</c:v>
                </c:pt>
                <c:pt idx="107">
                  <c:v>0.761866748046875</c:v>
                </c:pt>
                <c:pt idx="108">
                  <c:v>0.72968173828125</c:v>
                </c:pt>
                <c:pt idx="109">
                  <c:v>0.7728984375</c:v>
                </c:pt>
                <c:pt idx="110">
                  <c:v>0.77052802734375</c:v>
                </c:pt>
                <c:pt idx="111">
                  <c:v>0.7525185546875</c:v>
                </c:pt>
                <c:pt idx="112">
                  <c:v>0.790880712890625</c:v>
                </c:pt>
                <c:pt idx="113">
                  <c:v>0.803530517578125</c:v>
                </c:pt>
                <c:pt idx="114">
                  <c:v>0.801663720703125</c:v>
                </c:pt>
                <c:pt idx="115">
                  <c:v>0.79989873046875</c:v>
                </c:pt>
                <c:pt idx="116">
                  <c:v>0.79926865234375</c:v>
                </c:pt>
                <c:pt idx="117">
                  <c:v>0.8389216796875</c:v>
                </c:pt>
                <c:pt idx="118">
                  <c:v>0.8371720703125</c:v>
                </c:pt>
                <c:pt idx="119">
                  <c:v>0.82477978515625</c:v>
                </c:pt>
                <c:pt idx="120">
                  <c:v>0.8198439453125</c:v>
                </c:pt>
                <c:pt idx="121">
                  <c:v>0.775583544921875</c:v>
                </c:pt>
                <c:pt idx="122">
                  <c:v>0.781543994140625</c:v>
                </c:pt>
                <c:pt idx="123">
                  <c:v>0.803007373046875</c:v>
                </c:pt>
                <c:pt idx="124">
                  <c:v>0.83214951171875</c:v>
                </c:pt>
                <c:pt idx="125">
                  <c:v>0.8381119140625</c:v>
                </c:pt>
                <c:pt idx="126">
                  <c:v>0.8382771484375</c:v>
                </c:pt>
                <c:pt idx="127">
                  <c:v>0.856948046875</c:v>
                </c:pt>
                <c:pt idx="128">
                  <c:v>0.816104345703125</c:v>
                </c:pt>
                <c:pt idx="129">
                  <c:v>0.765689892578125</c:v>
                </c:pt>
                <c:pt idx="130">
                  <c:v>0.84628994140625</c:v>
                </c:pt>
                <c:pt idx="131">
                  <c:v>0.8513626953125</c:v>
                </c:pt>
                <c:pt idx="132">
                  <c:v>0.796778173828125</c:v>
                </c:pt>
                <c:pt idx="133">
                  <c:v>0.796872314453125</c:v>
                </c:pt>
                <c:pt idx="134">
                  <c:v>0.84210576171875</c:v>
                </c:pt>
                <c:pt idx="135">
                  <c:v>0.8672369140625</c:v>
                </c:pt>
                <c:pt idx="136">
                  <c:v>0.8591740234375</c:v>
                </c:pt>
                <c:pt idx="137">
                  <c:v>0.8938392578125</c:v>
                </c:pt>
                <c:pt idx="138">
                  <c:v>0.8647615234375</c:v>
                </c:pt>
                <c:pt idx="139">
                  <c:v>0.8801388671875</c:v>
                </c:pt>
                <c:pt idx="140">
                  <c:v>0.897866015625</c:v>
                </c:pt>
                <c:pt idx="141">
                  <c:v>0.8597654296875</c:v>
                </c:pt>
                <c:pt idx="142">
                  <c:v>0.87036044921875</c:v>
                </c:pt>
                <c:pt idx="143">
                  <c:v>0.90202880859375</c:v>
                </c:pt>
                <c:pt idx="144">
                  <c:v>0.9005978515625</c:v>
                </c:pt>
                <c:pt idx="145">
                  <c:v>0.916262109375</c:v>
                </c:pt>
                <c:pt idx="146">
                  <c:v>0.91490830078125</c:v>
                </c:pt>
                <c:pt idx="147">
                  <c:v>0.9500818359375</c:v>
                </c:pt>
                <c:pt idx="148">
                  <c:v>0.95024169921875</c:v>
                </c:pt>
                <c:pt idx="149">
                  <c:v>0.89945908203125</c:v>
                </c:pt>
              </c:numCache>
            </c:numRef>
          </c:val>
          <c:smooth val="0"/>
        </c:ser>
        <c:ser>
          <c:idx val="2"/>
          <c:order val="2"/>
          <c:tx>
            <c:strRef>
              <c:f>Sheet1!$D$1</c:f>
              <c:strCache>
                <c:ptCount val="1"/>
                <c:pt idx="0">
                  <c:v>weight decay</c:v>
                </c:pt>
              </c:strCache>
            </c:strRef>
          </c:tx>
          <c:spPr>
            <a:solidFill>
              <a:srgbClr val="4C5BD4"/>
            </a:solidFill>
            <a:ln w="31750" cap="flat">
              <a:solidFill>
                <a:srgbClr val="4C5BD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4C5BD4"/>
              </a:solidFill>
              <a:ln w="9525" cap="flat">
                <a:solidFill>
                  <a:srgbClr val="4C5BD4"/>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Sheet1!$D$2:$D$151</c:f>
              <c:numCache>
                <c:formatCode>General</c:formatCode>
                <c:ptCount val="150"/>
                <c:pt idx="0">
                  <c:v>0.9182908203125</c:v>
                </c:pt>
                <c:pt idx="1">
                  <c:v>0.725303271484375</c:v>
                </c:pt>
                <c:pt idx="2">
                  <c:v>0.63627861328125</c:v>
                </c:pt>
                <c:pt idx="3">
                  <c:v>0.616428173828125</c:v>
                </c:pt>
                <c:pt idx="4">
                  <c:v>0.621961669921875</c:v>
                </c:pt>
                <c:pt idx="5">
                  <c:v>0.603164453125</c:v>
                </c:pt>
                <c:pt idx="6">
                  <c:v>0.572836767578125</c:v>
                </c:pt>
                <c:pt idx="7">
                  <c:v>0.590778466796875</c:v>
                </c:pt>
                <c:pt idx="8">
                  <c:v>0.57210185546875</c:v>
                </c:pt>
                <c:pt idx="9">
                  <c:v>0.59641357421875</c:v>
                </c:pt>
                <c:pt idx="10">
                  <c:v>0.58204521484375</c:v>
                </c:pt>
                <c:pt idx="11">
                  <c:v>0.572354931640625</c:v>
                </c:pt>
                <c:pt idx="12">
                  <c:v>0.56302822265625</c:v>
                </c:pt>
                <c:pt idx="13">
                  <c:v>0.57252607421875</c:v>
                </c:pt>
                <c:pt idx="14">
                  <c:v>0.5830025390625</c:v>
                </c:pt>
                <c:pt idx="15">
                  <c:v>0.5739736328125</c:v>
                </c:pt>
                <c:pt idx="16">
                  <c:v>0.589277587890625</c:v>
                </c:pt>
                <c:pt idx="17">
                  <c:v>0.586977685546875</c:v>
                </c:pt>
                <c:pt idx="18">
                  <c:v>0.582915283203125</c:v>
                </c:pt>
                <c:pt idx="19">
                  <c:v>0.5854302734375</c:v>
                </c:pt>
                <c:pt idx="20">
                  <c:v>0.594875244140625</c:v>
                </c:pt>
                <c:pt idx="21">
                  <c:v>0.59711591796875</c:v>
                </c:pt>
                <c:pt idx="22">
                  <c:v>0.609837646484375</c:v>
                </c:pt>
                <c:pt idx="23">
                  <c:v>0.6032345703125</c:v>
                </c:pt>
                <c:pt idx="24">
                  <c:v>0.606186328125</c:v>
                </c:pt>
                <c:pt idx="25">
                  <c:v>0.608240576171875</c:v>
                </c:pt>
                <c:pt idx="26">
                  <c:v>0.6301546875</c:v>
                </c:pt>
                <c:pt idx="27">
                  <c:v>0.623580322265625</c:v>
                </c:pt>
                <c:pt idx="28">
                  <c:v>0.630319970703125</c:v>
                </c:pt>
                <c:pt idx="29">
                  <c:v>0.65043486328125</c:v>
                </c:pt>
                <c:pt idx="30">
                  <c:v>0.661162451171875</c:v>
                </c:pt>
                <c:pt idx="31">
                  <c:v>0.6550962890625</c:v>
                </c:pt>
                <c:pt idx="32">
                  <c:v>0.6353431640625</c:v>
                </c:pt>
                <c:pt idx="33">
                  <c:v>0.642680908203125</c:v>
                </c:pt>
                <c:pt idx="34">
                  <c:v>0.656615966796875</c:v>
                </c:pt>
                <c:pt idx="35">
                  <c:v>0.661027685546875</c:v>
                </c:pt>
                <c:pt idx="36">
                  <c:v>0.661622509765625</c:v>
                </c:pt>
                <c:pt idx="37">
                  <c:v>0.665768603515625</c:v>
                </c:pt>
                <c:pt idx="38">
                  <c:v>0.662282568359375</c:v>
                </c:pt>
                <c:pt idx="39">
                  <c:v>0.669406103515625</c:v>
                </c:pt>
                <c:pt idx="40">
                  <c:v>0.6807146484375</c:v>
                </c:pt>
                <c:pt idx="41">
                  <c:v>0.678071728515625</c:v>
                </c:pt>
                <c:pt idx="42">
                  <c:v>0.670553564453125</c:v>
                </c:pt>
                <c:pt idx="43">
                  <c:v>0.6757900390625</c:v>
                </c:pt>
                <c:pt idx="44">
                  <c:v>0.679077490234375</c:v>
                </c:pt>
                <c:pt idx="45">
                  <c:v>0.68385498046875</c:v>
                </c:pt>
                <c:pt idx="46">
                  <c:v>0.68408916015625</c:v>
                </c:pt>
                <c:pt idx="47">
                  <c:v>0.6863779296875</c:v>
                </c:pt>
                <c:pt idx="48">
                  <c:v>0.68942568359375</c:v>
                </c:pt>
                <c:pt idx="49">
                  <c:v>0.689435791015625</c:v>
                </c:pt>
                <c:pt idx="50">
                  <c:v>0.693880712890625</c:v>
                </c:pt>
                <c:pt idx="51">
                  <c:v>0.690309619140625</c:v>
                </c:pt>
                <c:pt idx="52">
                  <c:v>0.691233837890625</c:v>
                </c:pt>
                <c:pt idx="53">
                  <c:v>0.6932115234375</c:v>
                </c:pt>
                <c:pt idx="54">
                  <c:v>0.702096484375</c:v>
                </c:pt>
                <c:pt idx="55">
                  <c:v>0.697822216796875</c:v>
                </c:pt>
                <c:pt idx="56">
                  <c:v>0.69930224609375</c:v>
                </c:pt>
                <c:pt idx="57">
                  <c:v>0.708000537109375</c:v>
                </c:pt>
                <c:pt idx="58">
                  <c:v>0.7034314453125</c:v>
                </c:pt>
                <c:pt idx="59">
                  <c:v>0.7001103515625</c:v>
                </c:pt>
                <c:pt idx="60">
                  <c:v>0.7019732421875</c:v>
                </c:pt>
                <c:pt idx="61">
                  <c:v>0.708052392578125</c:v>
                </c:pt>
                <c:pt idx="62">
                  <c:v>0.7082779296875</c:v>
                </c:pt>
                <c:pt idx="63">
                  <c:v>0.706358056640625</c:v>
                </c:pt>
                <c:pt idx="64">
                  <c:v>0.712835498046875</c:v>
                </c:pt>
                <c:pt idx="65">
                  <c:v>0.716136474609375</c:v>
                </c:pt>
                <c:pt idx="66">
                  <c:v>0.722304638671875</c:v>
                </c:pt>
                <c:pt idx="67">
                  <c:v>0.7173634765625</c:v>
                </c:pt>
                <c:pt idx="68">
                  <c:v>0.713144921875</c:v>
                </c:pt>
                <c:pt idx="69">
                  <c:v>0.71939716796875</c:v>
                </c:pt>
                <c:pt idx="70">
                  <c:v>0.720950732421875</c:v>
                </c:pt>
                <c:pt idx="71">
                  <c:v>0.72810341796875</c:v>
                </c:pt>
                <c:pt idx="72">
                  <c:v>0.7288419921875</c:v>
                </c:pt>
                <c:pt idx="73">
                  <c:v>0.7185623046875</c:v>
                </c:pt>
                <c:pt idx="74">
                  <c:v>0.72108486328125</c:v>
                </c:pt>
                <c:pt idx="75">
                  <c:v>0.72357568359375</c:v>
                </c:pt>
                <c:pt idx="76">
                  <c:v>0.725337841796875</c:v>
                </c:pt>
                <c:pt idx="77">
                  <c:v>0.723323046875</c:v>
                </c:pt>
                <c:pt idx="78">
                  <c:v>0.726525537109375</c:v>
                </c:pt>
                <c:pt idx="79">
                  <c:v>0.725284912109375</c:v>
                </c:pt>
                <c:pt idx="80">
                  <c:v>0.72404365234375</c:v>
                </c:pt>
                <c:pt idx="81">
                  <c:v>0.727695947265625</c:v>
                </c:pt>
                <c:pt idx="82">
                  <c:v>0.730347021484375</c:v>
                </c:pt>
                <c:pt idx="83">
                  <c:v>0.72698564453125</c:v>
                </c:pt>
                <c:pt idx="84">
                  <c:v>0.72931767578125</c:v>
                </c:pt>
                <c:pt idx="85">
                  <c:v>0.732845849609375</c:v>
                </c:pt>
                <c:pt idx="86">
                  <c:v>0.73239990234375</c:v>
                </c:pt>
                <c:pt idx="87">
                  <c:v>0.737054248046875</c:v>
                </c:pt>
                <c:pt idx="88">
                  <c:v>0.740253759765625</c:v>
                </c:pt>
                <c:pt idx="89">
                  <c:v>0.733301318359375</c:v>
                </c:pt>
                <c:pt idx="90">
                  <c:v>0.737197998046875</c:v>
                </c:pt>
                <c:pt idx="91">
                  <c:v>0.74356181640625</c:v>
                </c:pt>
                <c:pt idx="92">
                  <c:v>0.73793203125</c:v>
                </c:pt>
                <c:pt idx="93">
                  <c:v>0.741897802734375</c:v>
                </c:pt>
                <c:pt idx="94">
                  <c:v>0.73978671875</c:v>
                </c:pt>
                <c:pt idx="95">
                  <c:v>0.73895751953125</c:v>
                </c:pt>
                <c:pt idx="96">
                  <c:v>0.7375017578125</c:v>
                </c:pt>
                <c:pt idx="97">
                  <c:v>0.74175947265625</c:v>
                </c:pt>
                <c:pt idx="98">
                  <c:v>0.7427056640625</c:v>
                </c:pt>
                <c:pt idx="99">
                  <c:v>0.741665283203125</c:v>
                </c:pt>
                <c:pt idx="100">
                  <c:v>0.743619287109375</c:v>
                </c:pt>
                <c:pt idx="101">
                  <c:v>0.74998447265625</c:v>
                </c:pt>
                <c:pt idx="102">
                  <c:v>0.742665234375</c:v>
                </c:pt>
                <c:pt idx="103">
                  <c:v>0.745906982421875</c:v>
                </c:pt>
                <c:pt idx="104">
                  <c:v>0.745031298828125</c:v>
                </c:pt>
                <c:pt idx="105">
                  <c:v>0.74913427734375</c:v>
                </c:pt>
                <c:pt idx="106">
                  <c:v>0.753320166015625</c:v>
                </c:pt>
                <c:pt idx="107">
                  <c:v>0.743970849609375</c:v>
                </c:pt>
                <c:pt idx="108">
                  <c:v>0.752380712890625</c:v>
                </c:pt>
                <c:pt idx="109">
                  <c:v>0.7473599609375</c:v>
                </c:pt>
                <c:pt idx="110">
                  <c:v>0.751996826171875</c:v>
                </c:pt>
                <c:pt idx="111">
                  <c:v>0.748443701171875</c:v>
                </c:pt>
                <c:pt idx="112">
                  <c:v>0.755088134765625</c:v>
                </c:pt>
                <c:pt idx="113">
                  <c:v>0.753168701171875</c:v>
                </c:pt>
                <c:pt idx="114">
                  <c:v>0.759500732421875</c:v>
                </c:pt>
                <c:pt idx="115">
                  <c:v>0.7540095703125</c:v>
                </c:pt>
                <c:pt idx="116">
                  <c:v>0.76069228515625</c:v>
                </c:pt>
                <c:pt idx="117">
                  <c:v>0.755873486328125</c:v>
                </c:pt>
                <c:pt idx="118">
                  <c:v>0.75885703125</c:v>
                </c:pt>
                <c:pt idx="119">
                  <c:v>0.76215068359375</c:v>
                </c:pt>
                <c:pt idx="120">
                  <c:v>0.758456787109375</c:v>
                </c:pt>
                <c:pt idx="121">
                  <c:v>0.769800146484375</c:v>
                </c:pt>
                <c:pt idx="122">
                  <c:v>0.761304541015625</c:v>
                </c:pt>
                <c:pt idx="123">
                  <c:v>0.767208642578125</c:v>
                </c:pt>
                <c:pt idx="124">
                  <c:v>0.764388037109375</c:v>
                </c:pt>
                <c:pt idx="125">
                  <c:v>0.775343017578125</c:v>
                </c:pt>
                <c:pt idx="126">
                  <c:v>0.764877490234375</c:v>
                </c:pt>
                <c:pt idx="127">
                  <c:v>0.770344384765625</c:v>
                </c:pt>
                <c:pt idx="128">
                  <c:v>0.769872802734375</c:v>
                </c:pt>
                <c:pt idx="129">
                  <c:v>0.774068408203125</c:v>
                </c:pt>
                <c:pt idx="130">
                  <c:v>0.770896240234375</c:v>
                </c:pt>
                <c:pt idx="131">
                  <c:v>0.7760400390625</c:v>
                </c:pt>
                <c:pt idx="132">
                  <c:v>0.774868359375</c:v>
                </c:pt>
                <c:pt idx="133">
                  <c:v>0.771251025390625</c:v>
                </c:pt>
                <c:pt idx="134">
                  <c:v>0.774887841796875</c:v>
                </c:pt>
                <c:pt idx="135">
                  <c:v>0.776916650390625</c:v>
                </c:pt>
                <c:pt idx="136">
                  <c:v>0.77293564453125</c:v>
                </c:pt>
                <c:pt idx="137">
                  <c:v>0.781525244140625</c:v>
                </c:pt>
                <c:pt idx="138">
                  <c:v>0.774791259765625</c:v>
                </c:pt>
                <c:pt idx="139">
                  <c:v>0.77895458984375</c:v>
                </c:pt>
                <c:pt idx="140">
                  <c:v>0.783079833984375</c:v>
                </c:pt>
                <c:pt idx="141">
                  <c:v>0.777469921875</c:v>
                </c:pt>
                <c:pt idx="142">
                  <c:v>0.781424365234375</c:v>
                </c:pt>
                <c:pt idx="143">
                  <c:v>0.781859619140625</c:v>
                </c:pt>
                <c:pt idx="144">
                  <c:v>0.778168212890625</c:v>
                </c:pt>
                <c:pt idx="145">
                  <c:v>0.7906826171875</c:v>
                </c:pt>
                <c:pt idx="146">
                  <c:v>0.784861669921875</c:v>
                </c:pt>
                <c:pt idx="147">
                  <c:v>0.786030224609375</c:v>
                </c:pt>
                <c:pt idx="148">
                  <c:v>0.78379462890625</c:v>
                </c:pt>
                <c:pt idx="149">
                  <c:v>0.786963671875</c:v>
                </c:pt>
              </c:numCache>
            </c:numRef>
          </c:val>
          <c:smooth val="0"/>
        </c:ser>
        <c:ser>
          <c:idx val="3"/>
          <c:order val="3"/>
          <c:tx>
            <c:strRef>
              <c:f>Sheet1!$E$1</c:f>
              <c:strCache>
                <c:ptCount val="1"/>
                <c:pt idx="0">
                  <c:v>both</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F7C82"/>
              </a:solidFill>
              <a:ln w="9525" cap="flat">
                <a:solidFill>
                  <a:srgbClr val="0F7C82"/>
                </a:solidFill>
                <a:prstDash val="solid"/>
                <a:round/>
              </a:ln>
              <a:effectLst/>
            </c:spPr>
          </c:marker>
          <c:cat>
            <c:strRef>
              <c:f>Sheet1!$A$2:$A$151</c:f>
              <c:strCache>
                <c:ptCount val="150"/>
                <c:pt idx="0">
                  <c:v>1</c:v>
                </c:pt>
                <c:pt idx="1">
                  <c:v> </c:v>
                </c:pt>
                <c:pt idx="2">
                  <c:v> </c:v>
                </c:pt>
                <c:pt idx="3">
                  <c:v> </c:v>
                </c:pt>
                <c:pt idx="4">
                  <c:v> </c:v>
                </c:pt>
                <c:pt idx="5">
                  <c:v> </c:v>
                </c:pt>
                <c:pt idx="6">
                  <c:v> </c:v>
                </c:pt>
                <c:pt idx="7">
                  <c:v> </c:v>
                </c:pt>
                <c:pt idx="8">
                  <c:v> </c:v>
                </c:pt>
                <c:pt idx="9">
                  <c:v> </c:v>
                </c:pt>
                <c:pt idx="10">
                  <c:v> </c:v>
                </c:pt>
                <c:pt idx="11">
                  <c:v> </c:v>
                </c:pt>
                <c:pt idx="12">
                  <c:v> </c:v>
                </c:pt>
                <c:pt idx="13">
                  <c:v> </c:v>
                </c:pt>
                <c:pt idx="14">
                  <c:v> </c:v>
                </c:pt>
                <c:pt idx="15">
                  <c:v> </c:v>
                </c:pt>
                <c:pt idx="16">
                  <c:v> </c:v>
                </c:pt>
                <c:pt idx="17">
                  <c:v> </c:v>
                </c:pt>
                <c:pt idx="18">
                  <c:v> </c:v>
                </c:pt>
                <c:pt idx="19">
                  <c:v> </c:v>
                </c:pt>
                <c:pt idx="20">
                  <c:v> </c:v>
                </c:pt>
                <c:pt idx="21">
                  <c:v> </c:v>
                </c:pt>
                <c:pt idx="22">
                  <c:v> </c:v>
                </c:pt>
                <c:pt idx="23">
                  <c:v> </c:v>
                </c:pt>
                <c:pt idx="24">
                  <c:v>25</c:v>
                </c:pt>
                <c:pt idx="25">
                  <c:v> </c:v>
                </c:pt>
                <c:pt idx="26">
                  <c:v> </c:v>
                </c:pt>
                <c:pt idx="27">
                  <c:v> </c:v>
                </c:pt>
                <c:pt idx="28">
                  <c:v> </c:v>
                </c:pt>
                <c:pt idx="29">
                  <c:v> </c:v>
                </c:pt>
                <c:pt idx="30">
                  <c:v> </c:v>
                </c:pt>
                <c:pt idx="31">
                  <c:v> </c:v>
                </c:pt>
                <c:pt idx="32">
                  <c:v> </c:v>
                </c:pt>
                <c:pt idx="33">
                  <c:v> </c:v>
                </c:pt>
                <c:pt idx="34">
                  <c:v> </c:v>
                </c:pt>
                <c:pt idx="35">
                  <c:v> </c:v>
                </c:pt>
                <c:pt idx="36">
                  <c:v> </c:v>
                </c:pt>
                <c:pt idx="37">
                  <c:v> </c:v>
                </c:pt>
                <c:pt idx="38">
                  <c:v> </c:v>
                </c:pt>
                <c:pt idx="39">
                  <c:v> </c:v>
                </c:pt>
                <c:pt idx="40">
                  <c:v> </c:v>
                </c:pt>
                <c:pt idx="41">
                  <c:v> </c:v>
                </c:pt>
                <c:pt idx="42">
                  <c:v> </c:v>
                </c:pt>
                <c:pt idx="43">
                  <c:v> </c:v>
                </c:pt>
                <c:pt idx="44">
                  <c:v> </c:v>
                </c:pt>
                <c:pt idx="45">
                  <c:v> </c:v>
                </c:pt>
                <c:pt idx="46">
                  <c:v> </c:v>
                </c:pt>
                <c:pt idx="47">
                  <c:v> </c:v>
                </c:pt>
                <c:pt idx="48">
                  <c:v> </c:v>
                </c:pt>
                <c:pt idx="49">
                  <c:v>50</c:v>
                </c:pt>
                <c:pt idx="50">
                  <c:v> </c:v>
                </c:pt>
                <c:pt idx="51">
                  <c:v> </c:v>
                </c:pt>
                <c:pt idx="52">
                  <c:v> </c:v>
                </c:pt>
                <c:pt idx="53">
                  <c:v> </c:v>
                </c:pt>
                <c:pt idx="54">
                  <c:v> </c:v>
                </c:pt>
                <c:pt idx="55">
                  <c:v> </c:v>
                </c:pt>
                <c:pt idx="56">
                  <c:v> </c:v>
                </c:pt>
                <c:pt idx="57">
                  <c:v> </c:v>
                </c:pt>
                <c:pt idx="58">
                  <c:v> </c:v>
                </c:pt>
                <c:pt idx="59">
                  <c:v> </c:v>
                </c:pt>
                <c:pt idx="60">
                  <c:v> </c:v>
                </c:pt>
                <c:pt idx="61">
                  <c:v> </c:v>
                </c:pt>
                <c:pt idx="62">
                  <c:v> </c:v>
                </c:pt>
                <c:pt idx="63">
                  <c:v> </c:v>
                </c:pt>
                <c:pt idx="64">
                  <c:v> </c:v>
                </c:pt>
                <c:pt idx="65">
                  <c:v> </c:v>
                </c:pt>
                <c:pt idx="66">
                  <c:v> </c:v>
                </c:pt>
                <c:pt idx="67">
                  <c:v> </c:v>
                </c:pt>
                <c:pt idx="68">
                  <c:v> </c:v>
                </c:pt>
                <c:pt idx="69">
                  <c:v> </c:v>
                </c:pt>
                <c:pt idx="70">
                  <c:v> </c:v>
                </c:pt>
                <c:pt idx="71">
                  <c:v> </c:v>
                </c:pt>
                <c:pt idx="72">
                  <c:v> </c:v>
                </c:pt>
                <c:pt idx="73">
                  <c:v> </c:v>
                </c:pt>
                <c:pt idx="74">
                  <c:v>75</c:v>
                </c:pt>
                <c:pt idx="75">
                  <c:v> </c:v>
                </c:pt>
                <c:pt idx="76">
                  <c:v> </c:v>
                </c:pt>
                <c:pt idx="77">
                  <c:v> </c:v>
                </c:pt>
                <c:pt idx="78">
                  <c:v> </c:v>
                </c:pt>
                <c:pt idx="79">
                  <c:v> </c:v>
                </c:pt>
                <c:pt idx="80">
                  <c:v> </c:v>
                </c:pt>
                <c:pt idx="81">
                  <c:v> </c:v>
                </c:pt>
                <c:pt idx="82">
                  <c:v> </c:v>
                </c:pt>
                <c:pt idx="83">
                  <c:v> </c:v>
                </c:pt>
                <c:pt idx="84">
                  <c:v> </c:v>
                </c:pt>
                <c:pt idx="85">
                  <c:v> </c:v>
                </c:pt>
                <c:pt idx="86">
                  <c:v> </c:v>
                </c:pt>
                <c:pt idx="87">
                  <c:v> </c:v>
                </c:pt>
                <c:pt idx="88">
                  <c:v> </c:v>
                </c:pt>
                <c:pt idx="89">
                  <c:v> </c:v>
                </c:pt>
                <c:pt idx="90">
                  <c:v> </c:v>
                </c:pt>
                <c:pt idx="91">
                  <c:v> </c:v>
                </c:pt>
                <c:pt idx="92">
                  <c:v> </c:v>
                </c:pt>
                <c:pt idx="93">
                  <c:v> </c:v>
                </c:pt>
                <c:pt idx="94">
                  <c:v> </c:v>
                </c:pt>
                <c:pt idx="95">
                  <c:v> </c:v>
                </c:pt>
                <c:pt idx="96">
                  <c:v> </c:v>
                </c:pt>
                <c:pt idx="97">
                  <c:v> </c:v>
                </c:pt>
                <c:pt idx="98">
                  <c:v> </c:v>
                </c:pt>
                <c:pt idx="99">
                  <c:v>100</c:v>
                </c:pt>
                <c:pt idx="100">
                  <c:v> </c:v>
                </c:pt>
                <c:pt idx="101">
                  <c:v> </c:v>
                </c:pt>
                <c:pt idx="102">
                  <c:v> </c:v>
                </c:pt>
                <c:pt idx="103">
                  <c:v> </c:v>
                </c:pt>
                <c:pt idx="104">
                  <c:v> </c:v>
                </c:pt>
                <c:pt idx="105">
                  <c:v> </c:v>
                </c:pt>
                <c:pt idx="106">
                  <c:v> </c:v>
                </c:pt>
                <c:pt idx="107">
                  <c:v> </c:v>
                </c:pt>
                <c:pt idx="108">
                  <c:v> </c:v>
                </c:pt>
                <c:pt idx="109">
                  <c:v> </c:v>
                </c:pt>
                <c:pt idx="110">
                  <c:v> </c:v>
                </c:pt>
                <c:pt idx="111">
                  <c:v> </c:v>
                </c:pt>
                <c:pt idx="112">
                  <c:v> </c:v>
                </c:pt>
                <c:pt idx="113">
                  <c:v> </c:v>
                </c:pt>
                <c:pt idx="114">
                  <c:v> </c:v>
                </c:pt>
                <c:pt idx="115">
                  <c:v> </c:v>
                </c:pt>
                <c:pt idx="116">
                  <c:v> </c:v>
                </c:pt>
                <c:pt idx="117">
                  <c:v> </c:v>
                </c:pt>
                <c:pt idx="118">
                  <c:v> </c:v>
                </c:pt>
                <c:pt idx="119">
                  <c:v> </c:v>
                </c:pt>
                <c:pt idx="120">
                  <c:v> </c:v>
                </c:pt>
                <c:pt idx="121">
                  <c:v> </c:v>
                </c:pt>
                <c:pt idx="122">
                  <c:v> </c:v>
                </c:pt>
                <c:pt idx="123">
                  <c:v> </c:v>
                </c:pt>
                <c:pt idx="124">
                  <c:v>125</c:v>
                </c:pt>
                <c:pt idx="125">
                  <c:v> </c:v>
                </c:pt>
                <c:pt idx="126">
                  <c:v> </c:v>
                </c:pt>
                <c:pt idx="127">
                  <c:v> </c:v>
                </c:pt>
                <c:pt idx="128">
                  <c:v> </c:v>
                </c:pt>
                <c:pt idx="129">
                  <c:v> </c:v>
                </c:pt>
                <c:pt idx="130">
                  <c:v> </c:v>
                </c:pt>
                <c:pt idx="131">
                  <c:v> </c:v>
                </c:pt>
                <c:pt idx="132">
                  <c:v> </c:v>
                </c:pt>
                <c:pt idx="133">
                  <c:v> </c:v>
                </c:pt>
                <c:pt idx="134">
                  <c:v> </c:v>
                </c:pt>
                <c:pt idx="135">
                  <c:v> </c:v>
                </c:pt>
                <c:pt idx="136">
                  <c:v> </c:v>
                </c:pt>
                <c:pt idx="137">
                  <c:v> </c:v>
                </c:pt>
                <c:pt idx="138">
                  <c:v> </c:v>
                </c:pt>
                <c:pt idx="139">
                  <c:v> </c:v>
                </c:pt>
                <c:pt idx="140">
                  <c:v> </c:v>
                </c:pt>
                <c:pt idx="141">
                  <c:v> </c:v>
                </c:pt>
                <c:pt idx="142">
                  <c:v> </c:v>
                </c:pt>
                <c:pt idx="143">
                  <c:v> </c:v>
                </c:pt>
                <c:pt idx="144">
                  <c:v> </c:v>
                </c:pt>
                <c:pt idx="145">
                  <c:v> </c:v>
                </c:pt>
                <c:pt idx="146">
                  <c:v> </c:v>
                </c:pt>
                <c:pt idx="147">
                  <c:v> </c:v>
                </c:pt>
                <c:pt idx="148">
                  <c:v> </c:v>
                </c:pt>
                <c:pt idx="149">
                  <c:v>150</c:v>
                </c:pt>
              </c:strCache>
            </c:strRef>
          </c:cat>
          <c:val>
            <c:numRef>
              <c:f>Sheet1!$E$2:$E$151</c:f>
              <c:numCache>
                <c:formatCode>General</c:formatCode>
                <c:ptCount val="150"/>
                <c:pt idx="0">
                  <c:v>1.50301953125</c:v>
                </c:pt>
                <c:pt idx="1">
                  <c:v>1.25084609375</c:v>
                </c:pt>
                <c:pt idx="2">
                  <c:v>1.1056640625</c:v>
                </c:pt>
                <c:pt idx="3">
                  <c:v>1.03146787109375</c:v>
                </c:pt>
                <c:pt idx="4">
                  <c:v>0.92177861328125</c:v>
                </c:pt>
                <c:pt idx="5">
                  <c:v>0.87697724609375</c:v>
                </c:pt>
                <c:pt idx="6">
                  <c:v>0.8403369140625</c:v>
                </c:pt>
                <c:pt idx="7">
                  <c:v>0.80484404296875</c:v>
                </c:pt>
                <c:pt idx="8">
                  <c:v>0.741718310546875</c:v>
                </c:pt>
                <c:pt idx="9">
                  <c:v>0.731561865234375</c:v>
                </c:pt>
                <c:pt idx="10">
                  <c:v>0.725005224609375</c:v>
                </c:pt>
                <c:pt idx="11">
                  <c:v>0.6940490234375</c:v>
                </c:pt>
                <c:pt idx="12">
                  <c:v>0.664692822265625</c:v>
                </c:pt>
                <c:pt idx="13">
                  <c:v>0.653296533203125</c:v>
                </c:pt>
                <c:pt idx="14">
                  <c:v>0.649279443359375</c:v>
                </c:pt>
                <c:pt idx="15">
                  <c:v>0.63431103515625</c:v>
                </c:pt>
                <c:pt idx="16">
                  <c:v>0.614992431640625</c:v>
                </c:pt>
                <c:pt idx="17">
                  <c:v>0.604358740234375</c:v>
                </c:pt>
                <c:pt idx="18">
                  <c:v>0.598333935546875</c:v>
                </c:pt>
                <c:pt idx="19">
                  <c:v>0.607605322265625</c:v>
                </c:pt>
                <c:pt idx="20">
                  <c:v>0.595180029296875</c:v>
                </c:pt>
                <c:pt idx="21">
                  <c:v>0.59711044921875</c:v>
                </c:pt>
                <c:pt idx="22">
                  <c:v>0.595539892578125</c:v>
                </c:pt>
                <c:pt idx="23">
                  <c:v>0.58030712890625</c:v>
                </c:pt>
                <c:pt idx="24">
                  <c:v>0.570047802734375</c:v>
                </c:pt>
                <c:pt idx="25">
                  <c:v>0.570120263671875</c:v>
                </c:pt>
                <c:pt idx="26">
                  <c:v>0.56455947265625</c:v>
                </c:pt>
                <c:pt idx="27">
                  <c:v>0.5747658203125</c:v>
                </c:pt>
                <c:pt idx="28">
                  <c:v>0.56500869140625</c:v>
                </c:pt>
                <c:pt idx="29">
                  <c:v>0.57626181640625</c:v>
                </c:pt>
                <c:pt idx="30">
                  <c:v>0.551492236328125</c:v>
                </c:pt>
                <c:pt idx="31">
                  <c:v>0.543962255859375</c:v>
                </c:pt>
                <c:pt idx="32">
                  <c:v>0.54378203125</c:v>
                </c:pt>
                <c:pt idx="33">
                  <c:v>0.562576806640625</c:v>
                </c:pt>
                <c:pt idx="34">
                  <c:v>0.56058857421875</c:v>
                </c:pt>
                <c:pt idx="35">
                  <c:v>0.554035205078125</c:v>
                </c:pt>
                <c:pt idx="36">
                  <c:v>0.547942724609375</c:v>
                </c:pt>
                <c:pt idx="37">
                  <c:v>0.55093447265625</c:v>
                </c:pt>
                <c:pt idx="38">
                  <c:v>0.546714111328125</c:v>
                </c:pt>
                <c:pt idx="39">
                  <c:v>0.532296923828125</c:v>
                </c:pt>
                <c:pt idx="40">
                  <c:v>0.536003076171875</c:v>
                </c:pt>
                <c:pt idx="41">
                  <c:v>0.545479833984375</c:v>
                </c:pt>
                <c:pt idx="42">
                  <c:v>0.539649267578125</c:v>
                </c:pt>
                <c:pt idx="43">
                  <c:v>0.537112353515625</c:v>
                </c:pt>
                <c:pt idx="44">
                  <c:v>0.53326318359375</c:v>
                </c:pt>
                <c:pt idx="45">
                  <c:v>0.548524267578125</c:v>
                </c:pt>
                <c:pt idx="46">
                  <c:v>0.536396337890625</c:v>
                </c:pt>
                <c:pt idx="47">
                  <c:v>0.542629150390625</c:v>
                </c:pt>
                <c:pt idx="48">
                  <c:v>0.546355615234375</c:v>
                </c:pt>
                <c:pt idx="49">
                  <c:v>0.545988818359375</c:v>
                </c:pt>
                <c:pt idx="50">
                  <c:v>0.54208203125</c:v>
                </c:pt>
                <c:pt idx="51">
                  <c:v>0.537287255859375</c:v>
                </c:pt>
                <c:pt idx="52">
                  <c:v>0.543613427734375</c:v>
                </c:pt>
                <c:pt idx="53">
                  <c:v>0.547781201171875</c:v>
                </c:pt>
                <c:pt idx="54">
                  <c:v>0.54558271484375</c:v>
                </c:pt>
                <c:pt idx="55">
                  <c:v>0.5650943359375</c:v>
                </c:pt>
                <c:pt idx="56">
                  <c:v>0.54214228515625</c:v>
                </c:pt>
                <c:pt idx="57">
                  <c:v>0.562474853515625</c:v>
                </c:pt>
                <c:pt idx="58">
                  <c:v>0.562231787109375</c:v>
                </c:pt>
                <c:pt idx="59">
                  <c:v>0.547719921875</c:v>
                </c:pt>
                <c:pt idx="60">
                  <c:v>0.564101953125</c:v>
                </c:pt>
                <c:pt idx="61">
                  <c:v>0.570485009765625</c:v>
                </c:pt>
                <c:pt idx="62">
                  <c:v>0.54926220703125</c:v>
                </c:pt>
                <c:pt idx="63">
                  <c:v>0.55898369140625</c:v>
                </c:pt>
                <c:pt idx="64">
                  <c:v>0.572613330078125</c:v>
                </c:pt>
                <c:pt idx="65">
                  <c:v>0.556651513671875</c:v>
                </c:pt>
                <c:pt idx="66">
                  <c:v>0.5564779296875</c:v>
                </c:pt>
                <c:pt idx="67">
                  <c:v>0.55596328125</c:v>
                </c:pt>
                <c:pt idx="68">
                  <c:v>0.568962744140625</c:v>
                </c:pt>
                <c:pt idx="69">
                  <c:v>0.56907783203125</c:v>
                </c:pt>
                <c:pt idx="70">
                  <c:v>0.575185986328125</c:v>
                </c:pt>
                <c:pt idx="71">
                  <c:v>0.567076220703125</c:v>
                </c:pt>
                <c:pt idx="72">
                  <c:v>0.5710376953125</c:v>
                </c:pt>
                <c:pt idx="73">
                  <c:v>0.571654833984375</c:v>
                </c:pt>
                <c:pt idx="74">
                  <c:v>0.586620703125</c:v>
                </c:pt>
                <c:pt idx="75">
                  <c:v>0.57349287109375</c:v>
                </c:pt>
                <c:pt idx="76">
                  <c:v>0.576720751953125</c:v>
                </c:pt>
                <c:pt idx="77">
                  <c:v>0.591444091796875</c:v>
                </c:pt>
                <c:pt idx="78">
                  <c:v>0.59377578125</c:v>
                </c:pt>
                <c:pt idx="79">
                  <c:v>0.593159375</c:v>
                </c:pt>
                <c:pt idx="80">
                  <c:v>0.587233056640625</c:v>
                </c:pt>
                <c:pt idx="81">
                  <c:v>0.594647412109375</c:v>
                </c:pt>
                <c:pt idx="82">
                  <c:v>0.609682080078125</c:v>
                </c:pt>
                <c:pt idx="83">
                  <c:v>0.58465791015625</c:v>
                </c:pt>
                <c:pt idx="84">
                  <c:v>0.572754931640625</c:v>
                </c:pt>
                <c:pt idx="85">
                  <c:v>0.612797021484375</c:v>
                </c:pt>
                <c:pt idx="86">
                  <c:v>0.600472705078125</c:v>
                </c:pt>
                <c:pt idx="87">
                  <c:v>0.594775927734375</c:v>
                </c:pt>
                <c:pt idx="88">
                  <c:v>0.611017529296875</c:v>
                </c:pt>
                <c:pt idx="89">
                  <c:v>0.596817626953125</c:v>
                </c:pt>
                <c:pt idx="90">
                  <c:v>0.61793369140625</c:v>
                </c:pt>
                <c:pt idx="91">
                  <c:v>0.64089638671875</c:v>
                </c:pt>
                <c:pt idx="92">
                  <c:v>0.61531083984375</c:v>
                </c:pt>
                <c:pt idx="93">
                  <c:v>0.603031689453125</c:v>
                </c:pt>
                <c:pt idx="94">
                  <c:v>0.63205341796875</c:v>
                </c:pt>
                <c:pt idx="95">
                  <c:v>0.61403828125</c:v>
                </c:pt>
                <c:pt idx="96">
                  <c:v>0.62426025390625</c:v>
                </c:pt>
                <c:pt idx="97">
                  <c:v>0.618570703125</c:v>
                </c:pt>
                <c:pt idx="98">
                  <c:v>0.624982080078125</c:v>
                </c:pt>
                <c:pt idx="99">
                  <c:v>0.612323583984375</c:v>
                </c:pt>
                <c:pt idx="100">
                  <c:v>0.642636328125</c:v>
                </c:pt>
                <c:pt idx="101">
                  <c:v>0.623319580078125</c:v>
                </c:pt>
                <c:pt idx="102">
                  <c:v>0.624430322265625</c:v>
                </c:pt>
                <c:pt idx="103">
                  <c:v>0.61598291015625</c:v>
                </c:pt>
                <c:pt idx="104">
                  <c:v>0.637843701171875</c:v>
                </c:pt>
                <c:pt idx="105">
                  <c:v>0.668796044921875</c:v>
                </c:pt>
                <c:pt idx="106">
                  <c:v>0.634509130859375</c:v>
                </c:pt>
                <c:pt idx="107">
                  <c:v>0.6340392578125</c:v>
                </c:pt>
                <c:pt idx="108">
                  <c:v>0.6187205078125</c:v>
                </c:pt>
                <c:pt idx="109">
                  <c:v>0.635211962890625</c:v>
                </c:pt>
                <c:pt idx="110">
                  <c:v>0.643242529296875</c:v>
                </c:pt>
                <c:pt idx="111">
                  <c:v>0.667077880859375</c:v>
                </c:pt>
                <c:pt idx="112">
                  <c:v>0.633841552734375</c:v>
                </c:pt>
                <c:pt idx="113">
                  <c:v>0.646295458984375</c:v>
                </c:pt>
                <c:pt idx="114">
                  <c:v>0.646661767578125</c:v>
                </c:pt>
                <c:pt idx="115">
                  <c:v>0.656385400390625</c:v>
                </c:pt>
                <c:pt idx="116">
                  <c:v>0.662813671875</c:v>
                </c:pt>
                <c:pt idx="117">
                  <c:v>0.66917841796875</c:v>
                </c:pt>
                <c:pt idx="118">
                  <c:v>0.66589755859375</c:v>
                </c:pt>
                <c:pt idx="119">
                  <c:v>0.658412939453125</c:v>
                </c:pt>
                <c:pt idx="120">
                  <c:v>0.659167236328125</c:v>
                </c:pt>
                <c:pt idx="121">
                  <c:v>0.666272802734375</c:v>
                </c:pt>
                <c:pt idx="122">
                  <c:v>0.63184189453125</c:v>
                </c:pt>
                <c:pt idx="123">
                  <c:v>0.643821044921875</c:v>
                </c:pt>
                <c:pt idx="124">
                  <c:v>0.689029345703125</c:v>
                </c:pt>
                <c:pt idx="125">
                  <c:v>0.687705419921875</c:v>
                </c:pt>
                <c:pt idx="126">
                  <c:v>0.672251953125</c:v>
                </c:pt>
                <c:pt idx="127">
                  <c:v>0.64949853515625</c:v>
                </c:pt>
                <c:pt idx="128">
                  <c:v>0.651071044921875</c:v>
                </c:pt>
                <c:pt idx="129">
                  <c:v>0.65818515625</c:v>
                </c:pt>
                <c:pt idx="130">
                  <c:v>0.685551806640625</c:v>
                </c:pt>
                <c:pt idx="131">
                  <c:v>0.6898724609375</c:v>
                </c:pt>
                <c:pt idx="132">
                  <c:v>0.68361494140625</c:v>
                </c:pt>
                <c:pt idx="133">
                  <c:v>0.68530751953125</c:v>
                </c:pt>
                <c:pt idx="134">
                  <c:v>0.68861064453125</c:v>
                </c:pt>
                <c:pt idx="135">
                  <c:v>0.681564990234375</c:v>
                </c:pt>
                <c:pt idx="136">
                  <c:v>0.6704765625</c:v>
                </c:pt>
                <c:pt idx="137">
                  <c:v>0.7062689453125</c:v>
                </c:pt>
                <c:pt idx="138">
                  <c:v>0.692541796875</c:v>
                </c:pt>
                <c:pt idx="139">
                  <c:v>0.683639306640625</c:v>
                </c:pt>
                <c:pt idx="140">
                  <c:v>0.67857490234375</c:v>
                </c:pt>
                <c:pt idx="141">
                  <c:v>0.70127490234375</c:v>
                </c:pt>
                <c:pt idx="142">
                  <c:v>0.681967822265625</c:v>
                </c:pt>
                <c:pt idx="143">
                  <c:v>0.697048291015625</c:v>
                </c:pt>
                <c:pt idx="144">
                  <c:v>0.6925171875</c:v>
                </c:pt>
                <c:pt idx="145">
                  <c:v>0.69824365234375</c:v>
                </c:pt>
                <c:pt idx="146">
                  <c:v>0.69807060546875</c:v>
                </c:pt>
                <c:pt idx="147">
                  <c:v>0.7393365234375</c:v>
                </c:pt>
                <c:pt idx="148">
                  <c:v>0.708610400390625</c:v>
                </c:pt>
                <c:pt idx="149">
                  <c:v>0.72926689453125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epoch</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tickLblSkip val="1"/>
        <c:tickMarkSkip val="25"/>
        <c:noMultiLvlLbl val="1"/>
      </c:catAx>
      <c:valAx>
        <c:axId val="2094734552"/>
        <c:scaling>
          <c:orientation val="minMax"/>
          <c:max val="1.2"/>
          <c:min val="0.4"/>
        </c:scaling>
        <c:delete val="0"/>
        <c:axPos val="l"/>
        <c:majorGridlines>
          <c:spPr>
            <a:ln w="9525" cap="flat">
              <a:solidFill>
                <a:srgbClr val="E3E7EC"/>
              </a:solidFill>
              <a:prstDash val="solid"/>
              <a:round/>
            </a:ln>
          </c:spPr>
        </c:majorGridlines>
        <c:numFmt formatCode="0.0"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Val. accuracy (3-seed mean)</a:t>
            </a:r>
          </a:p>
        </c:rich>
      </c:tx>
      <c:layout/>
      <c:overlay val="0"/>
    </c:title>
    <c:autoTitleDeleted val="0"/>
    <c:plotArea>
      <c:layout/>
      <c:barChart>
        <c:barDir val="col"/>
        <c:grouping val="clustered"/>
        <c:varyColors val="0"/>
        <c:ser>
          <c:idx val="0"/>
          <c:order val="0"/>
          <c:tx>
            <c:strRef>
              <c:f>Sheet1!$B$1</c:f>
              <c:strCache>
                <c:ptCount val="1"/>
                <c:pt idx="0">
                  <c:v>v</c:v>
                </c:pt>
              </c:strCache>
            </c:strRef>
          </c:tx>
          <c:spPr>
            <a:solidFill>
              <a:srgbClr val="C8571B"/>
            </a:solidFill>
            <a:effectLst/>
          </c:spPr>
          <c:invertIfNegative val="0"/>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dPt>
            <c:idx val="0"/>
            <c:invertIfNegative val="0"/>
            <c:bubble3D val="0"/>
            <c:spPr>
              <a:solidFill>
                <a:srgbClr val="C8571B"/>
              </a:solidFill>
              <a:effectLst/>
            </c:spPr>
          </c:dPt>
          <c:dPt>
            <c:idx val="1"/>
            <c:invertIfNegative val="0"/>
            <c:bubble3D val="0"/>
            <c:spPr>
              <a:solidFill>
                <a:srgbClr val="0F7C82"/>
              </a:solidFill>
              <a:effectLst/>
            </c:spPr>
          </c:dPt>
          <c:dPt>
            <c:idx val="2"/>
            <c:invertIfNegative val="0"/>
            <c:bubble3D val="0"/>
            <c:spPr>
              <a:solidFill>
                <a:srgbClr val="4C5BD4"/>
              </a:solidFill>
              <a:effectLst/>
            </c:spPr>
          </c:dPt>
          <c:cat>
            <c:strRef>
              <c:f>Sheet1!$A$2:$A$4</c:f>
              <c:strCache>
                <c:ptCount val="3"/>
                <c:pt idx="0">
                  <c:v>1k, none</c:v>
                </c:pt>
                <c:pt idx="1">
                  <c:v>1k, both</c:v>
                </c:pt>
                <c:pt idx="2">
                  <c:v>55k, none</c:v>
                </c:pt>
              </c:strCache>
            </c:strRef>
          </c:cat>
          <c:val>
            <c:numRef>
              <c:f>Sheet1!$B$2:$B$4</c:f>
              <c:numCache>
                <c:formatCode>General</c:formatCode>
                <c:ptCount val="3"/>
                <c:pt idx="0">
                  <c:v>80.7</c:v>
                </c:pt>
                <c:pt idx="1">
                  <c:v>81.1</c:v>
                </c:pt>
                <c:pt idx="2">
                  <c:v>89.1</c:v>
                </c:pt>
              </c:numCache>
            </c:numRef>
          </c:val>
        </c:ser>
        <c:dLbls>
          <c:numFmt formatCode="0.0&quot;%&quot;" sourceLinked="0"/>
          <c:txPr>
            <a:bodyPr/>
            <a:lstStyle/>
            <a:p>
              <a:pPr>
                <a:defRPr b="0" i="0" strike="noStrike" sz="1400" u="none">
                  <a:solidFill>
                    <a:srgbClr val="17202E"/>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catAx>
      <c:valAx>
        <c:axId val="2094734552"/>
        <c:scaling>
          <c:orientation val="minMax"/>
          <c:max val="100.0"/>
          <c:min val="0.0"/>
        </c:scaling>
        <c:delete val="1"/>
        <c:axPos val="l"/>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test error, no regularization</c:v>
                </c:pt>
              </c:strCache>
            </c:strRef>
          </c:tx>
          <c:spPr>
            <a:solidFill>
              <a:srgbClr val="C8571B"/>
            </a:solidFill>
            <a:ln w="31750" cap="flat">
              <a:solidFill>
                <a:srgbClr val="C8571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8571B"/>
              </a:solidFill>
              <a:ln w="9525" cap="flat">
                <a:solidFill>
                  <a:srgbClr val="C8571B"/>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Sheet1!$B$2:$B$26</c:f>
              <c:numCache>
                <c:formatCode>General</c:formatCode>
                <c:ptCount val="25"/>
                <c:pt idx="0">
                  <c:v>0.5798109144530663</c:v>
                </c:pt>
                <c:pt idx="1">
                  <c:v>0.5661121548024846</c:v>
                </c:pt>
                <c:pt idx="2">
                  <c:v>0.5785148941281162</c:v>
                </c:pt>
                <c:pt idx="3">
                  <c:v>0.5086486812864521</c:v>
                </c:pt>
                <c:pt idx="4">
                  <c:v>0.5300924021586333</c:v>
                </c:pt>
                <c:pt idx="5">
                  <c:v>0.5159066883751462</c:v>
                </c:pt>
                <c:pt idx="6">
                  <c:v>0.5825907867201539</c:v>
                </c:pt>
                <c:pt idx="7">
                  <c:v>0.7414074118014933</c:v>
                </c:pt>
                <c:pt idx="8">
                  <c:v>2.078084223369972</c:v>
                </c:pt>
                <c:pt idx="9">
                  <c:v>18.77302930643579</c:v>
                </c:pt>
                <c:pt idx="10">
                  <c:v>1.9863710367956269</c:v>
                </c:pt>
                <c:pt idx="11">
                  <c:v>0.8308560101842739</c:v>
                </c:pt>
                <c:pt idx="12">
                  <c:v>0.48328058210973834</c:v>
                </c:pt>
                <c:pt idx="13">
                  <c:v>0.3700798474959006</c:v>
                </c:pt>
                <c:pt idx="14">
                  <c:v>0.32514440247558923</c:v>
                </c:pt>
                <c:pt idx="15">
                  <c:v>0.2806653144628388</c:v>
                </c:pt>
                <c:pt idx="16">
                  <c:v>0.25203357782421176</c:v>
                </c:pt>
                <c:pt idx="17">
                  <c:v>0.24190451728752166</c:v>
                </c:pt>
                <c:pt idx="18">
                  <c:v>0.23655364981820384</c:v>
                </c:pt>
                <c:pt idx="19">
                  <c:v>0.2149578858691203</c:v>
                </c:pt>
                <c:pt idx="20">
                  <c:v>0.21341883278975438</c:v>
                </c:pt>
                <c:pt idx="21">
                  <c:v>0.21247864019649</c:v>
                </c:pt>
                <c:pt idx="22">
                  <c:v>0.2108229338769549</c:v>
                </c:pt>
                <c:pt idx="23">
                  <c:v>0.21409537698837683</c:v>
                </c:pt>
                <c:pt idx="24">
                  <c:v>0.20344301947378185</c:v>
                </c:pt>
              </c:numCache>
            </c:numRef>
          </c:val>
          <c:smooth val="0"/>
        </c:ser>
        <c:ser>
          <c:idx val="1"/>
          <c:order val="1"/>
          <c:tx>
            <c:strRef>
              <c:f>Sheet1!$C$1</c:f>
              <c:strCache>
                <c:ptCount val="1"/>
                <c:pt idx="0">
                  <c:v>test error, ridge</c:v>
                </c:pt>
              </c:strCache>
            </c:strRef>
          </c:tx>
          <c:spPr>
            <a:solidFill>
              <a:srgbClr val="0F7C82"/>
            </a:solidFill>
            <a:ln w="31750" cap="flat">
              <a:solidFill>
                <a:srgbClr val="0F7C8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F7C82"/>
              </a:solidFill>
              <a:ln w="9525" cap="flat">
                <a:solidFill>
                  <a:srgbClr val="0F7C82"/>
                </a:solidFill>
                <a:prstDash val="solid"/>
                <a:round/>
              </a:ln>
              <a:effectLst/>
            </c:spPr>
          </c:marker>
          <c:cat>
            <c:strRef>
              <c:f>Sheet1!$A$2:$A$26</c:f>
              <c:strCache>
                <c:ptCount val="25"/>
                <c:pt idx="0">
                  <c:v>6</c:v>
                </c:pt>
                <c:pt idx="1">
                  <c:v>8</c:v>
                </c:pt>
                <c:pt idx="2">
                  <c:v>10</c:v>
                </c:pt>
                <c:pt idx="3">
                  <c:v>13</c:v>
                </c:pt>
                <c:pt idx="4">
                  <c:v>18</c:v>
                </c:pt>
                <c:pt idx="5">
                  <c:v>23</c:v>
                </c:pt>
                <c:pt idx="6">
                  <c:v>30</c:v>
                </c:pt>
                <c:pt idx="7">
                  <c:v>40</c:v>
                </c:pt>
                <c:pt idx="8">
                  <c:v>52</c:v>
                </c:pt>
                <c:pt idx="9">
                  <c:v>60</c:v>
                </c:pt>
                <c:pt idx="10">
                  <c:v>68</c:v>
                </c:pt>
                <c:pt idx="11">
                  <c:v>89</c:v>
                </c:pt>
                <c:pt idx="12">
                  <c:v>117</c:v>
                </c:pt>
                <c:pt idx="13">
                  <c:v>154</c:v>
                </c:pt>
                <c:pt idx="14">
                  <c:v>201</c:v>
                </c:pt>
                <c:pt idx="15">
                  <c:v>264</c:v>
                </c:pt>
                <c:pt idx="16">
                  <c:v>345</c:v>
                </c:pt>
                <c:pt idx="17">
                  <c:v>453</c:v>
                </c:pt>
                <c:pt idx="18">
                  <c:v>593</c:v>
                </c:pt>
                <c:pt idx="19">
                  <c:v>777</c:v>
                </c:pt>
                <c:pt idx="20">
                  <c:v>1018</c:v>
                </c:pt>
                <c:pt idx="21">
                  <c:v>1334</c:v>
                </c:pt>
                <c:pt idx="22">
                  <c:v>1748</c:v>
                </c:pt>
                <c:pt idx="23">
                  <c:v>2290</c:v>
                </c:pt>
                <c:pt idx="24">
                  <c:v>3000</c:v>
                </c:pt>
              </c:strCache>
            </c:strRef>
          </c:cat>
          <c:val>
            <c:numRef>
              <c:f>Sheet1!$C$2:$C$26</c:f>
              <c:numCache>
                <c:formatCode>General</c:formatCode>
                <c:ptCount val="25"/>
                <c:pt idx="0">
                  <c:v>0.5796442280353078</c:v>
                </c:pt>
                <c:pt idx="1">
                  <c:v>0.5653475957950964</c:v>
                </c:pt>
                <c:pt idx="2">
                  <c:v>0.5766739895091952</c:v>
                </c:pt>
                <c:pt idx="3">
                  <c:v>0.5062896854063221</c:v>
                </c:pt>
                <c:pt idx="4">
                  <c:v>0.5165534127982853</c:v>
                </c:pt>
                <c:pt idx="5">
                  <c:v>0.4938100488220929</c:v>
                </c:pt>
                <c:pt idx="6">
                  <c:v>0.5013091722448906</c:v>
                </c:pt>
                <c:pt idx="7">
                  <c:v>0.49703858392180267</c:v>
                </c:pt>
                <c:pt idx="8">
                  <c:v>0.5307824894401039</c:v>
                </c:pt>
                <c:pt idx="9">
                  <c:v>0.48166953576819127</c:v>
                </c:pt>
                <c:pt idx="10">
                  <c:v>0.45988670958043454</c:v>
                </c:pt>
                <c:pt idx="11">
                  <c:v>0.3810438317724534</c:v>
                </c:pt>
                <c:pt idx="12">
                  <c:v>0.332519870606098</c:v>
                </c:pt>
                <c:pt idx="13">
                  <c:v>0.2952729992681192</c:v>
                </c:pt>
                <c:pt idx="14">
                  <c:v>0.2604155856983662</c:v>
                </c:pt>
                <c:pt idx="15">
                  <c:v>0.23743563421614894</c:v>
                </c:pt>
                <c:pt idx="16">
                  <c:v>0.22338190186658222</c:v>
                </c:pt>
                <c:pt idx="17">
                  <c:v>0.21990485289494494</c:v>
                </c:pt>
                <c:pt idx="18">
                  <c:v>0.21518400525697945</c:v>
                </c:pt>
                <c:pt idx="19">
                  <c:v>0.20349071497410806</c:v>
                </c:pt>
                <c:pt idx="20">
                  <c:v>0.20057237830123667</c:v>
                </c:pt>
                <c:pt idx="21">
                  <c:v>0.19885290279647655</c:v>
                </c:pt>
                <c:pt idx="22">
                  <c:v>0.1989299360857247</c:v>
                </c:pt>
                <c:pt idx="23">
                  <c:v>0.20167796840968202</c:v>
                </c:pt>
                <c:pt idx="24">
                  <c:v>0.1925847178272867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number of features p (log spacing)</a:t>
                </a:r>
              </a:p>
            </c:rich>
          </c:tx>
          <c:layout/>
          <c:overlay val="0"/>
        </c:title>
        <c:numFmt formatCode="General" sourceLinked="1"/>
        <c:majorTickMark val="out"/>
        <c:minorTickMark val="none"/>
        <c:tickLblPos val="low"/>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autoZero"/>
        <c:auto val="1"/>
        <c:lblAlgn val="ctr"/>
        <c:noMultiLvlLbl val="1"/>
        <c:tickLblSkip val="3"/>
      </c:catAx>
      <c:valAx>
        <c:axId val="2094734552"/>
        <c:scaling>
          <c:logBase val="10"/>
          <c:orientation val="minMax"/>
          <c:max val="20"/>
          <c:min val="0.05"/>
        </c:scaling>
        <c:delete val="0"/>
        <c:axPos val="l"/>
        <c:majorGridlines>
          <c:spPr>
            <a:ln w="9525" cap="flat">
              <a:solidFill>
                <a:srgbClr val="E3E7EC"/>
              </a:solidFill>
              <a:prstDash val="solid"/>
              <a:round/>
            </a:ln>
          </c:spPr>
        </c:majorGridlines>
        <c:title>
          <c:tx>
            <c:rich>
              <a:bodyPr/>
              <a:lstStyle/>
              <a:p>
                <a:pPr>
                  <a:defRPr sz="1400" b="0" i="0" u="none" strike="noStrike">
                    <a:solidFill>
                      <a:srgbClr val="5B6675"/>
                    </a:solidFill>
                    <a:latin typeface="+mn-lt"/>
                  </a:defRPr>
                </a:pPr>
                <a:r>
                  <a:rPr sz="1400" b="0" i="0" u="none" strike="noStrike">
                    <a:solidFill>
                      <a:srgbClr val="5B6675"/>
                    </a:solidFill>
                    <a:latin typeface="+mn-lt"/>
                  </a:rPr>
                  <a:t>test MSE (log)</a:t>
                </a:r>
              </a:p>
            </c:rich>
          </c:tx>
          <c:layout/>
          <c:overlay val="0"/>
        </c:title>
        <c:numFmt formatCode="General" sourceLinked="0"/>
        <c:majorTickMark val="out"/>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B3A4F"/>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7202E"/>
                </a:solidFill>
                <a:latin typeface="+mn-lt"/>
              </a:defRPr>
            </a:pPr>
            <a:r>
              <a:rPr sz="1600" b="0" i="0" u="none" strike="noStrike">
                <a:solidFill>
                  <a:srgbClr val="17202E"/>
                </a:solidFill>
                <a:latin typeface="+mn-lt"/>
              </a:rPr>
              <a:t>One-cycle schedule</a:t>
            </a:r>
          </a:p>
        </c:rich>
      </c:tx>
      <c:layout/>
      <c:overlay val="0"/>
    </c:title>
    <c:autoTitleDeleted val="0"/>
    <c:plotArea>
      <c:layout/>
      <c:scatterChart>
        <c:scatterStyle val="lineMarker"/>
        <c:varyColors val="0"/>
        <c:ser>
          <c:idx val="0"/>
          <c:order val="0"/>
          <c:tx>
            <c:strRef>
              <c:f>Sheet1!$B$1</c:f>
              <c:strCache>
                <c:ptCount val="1"/>
                <c:pt idx="0">
                  <c:v>One-cycle</c:v>
                </c:pt>
              </c:strCache>
            </c:strRef>
          </c:tx>
          <c:spPr>
            <a:solidFill>
              <a:srgbClr val="0F7C82"/>
            </a:solidFill>
            <a:ln w="31750" cap="flat">
              <a:solidFill>
                <a:srgbClr val="0F7C82"/>
              </a:solidFill>
              <a:prstDash val="solid"/>
              <a:round/>
            </a:ln>
            <a:effectLst/>
          </c:spPr>
          <c:marker>
            <c:symbol val="none"/>
            <c:size val="6"/>
            <c:spPr>
              <a:solidFill>
                <a:srgbClr val="0F7C82"/>
              </a:solidFill>
              <a:ln w="9525" cap="flat">
                <a:solidFill>
                  <a:srgbClr val="0F7C82"/>
                </a:solidFill>
                <a:prstDash val="solid"/>
                <a:round/>
              </a:ln>
              <a:effectLst/>
            </c:spPr>
          </c:marker>
          <c:xVal>
            <c:numRef>
              <c:f>Sheet1!$A$2:$A$102</c:f>
              <c:numCache>
                <c:formatCode>General</c:formatCode>
                <c:ptCount val="1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numCache>
            </c:numRef>
          </c:xVal>
          <c:yVal>
            <c:numRef>
              <c:f>Sheet1!$B$2:$B$102</c:f>
              <c:numCache>
                <c:formatCode>General</c:formatCode>
                <c:ptCount val="101"/>
                <c:pt idx="0">
                  <c:v>0.04</c:v>
                </c:pt>
                <c:pt idx="1">
                  <c:v>0.06349</c:v>
                </c:pt>
                <c:pt idx="2">
                  <c:v>0.13167</c:v>
                </c:pt>
                <c:pt idx="3">
                  <c:v>0.23786</c:v>
                </c:pt>
                <c:pt idx="4">
                  <c:v>0.37167</c:v>
                </c:pt>
                <c:pt idx="5">
                  <c:v>0.52</c:v>
                </c:pt>
                <c:pt idx="6">
                  <c:v>0.66833</c:v>
                </c:pt>
                <c:pt idx="7">
                  <c:v>0.80214</c:v>
                </c:pt>
                <c:pt idx="8">
                  <c:v>0.90833</c:v>
                </c:pt>
                <c:pt idx="9">
                  <c:v>0.97651</c:v>
                </c:pt>
                <c:pt idx="10">
                  <c:v>1.0</c:v>
                </c:pt>
                <c:pt idx="11">
                  <c:v>0.9997</c:v>
                </c:pt>
                <c:pt idx="12">
                  <c:v>0.99878</c:v>
                </c:pt>
                <c:pt idx="13">
                  <c:v>0.99726</c:v>
                </c:pt>
                <c:pt idx="14">
                  <c:v>0.99513</c:v>
                </c:pt>
                <c:pt idx="15">
                  <c:v>0.9924</c:v>
                </c:pt>
                <c:pt idx="16">
                  <c:v>0.98907</c:v>
                </c:pt>
                <c:pt idx="17">
                  <c:v>0.98515</c:v>
                </c:pt>
                <c:pt idx="18">
                  <c:v>0.98063</c:v>
                </c:pt>
                <c:pt idx="19">
                  <c:v>0.97553</c:v>
                </c:pt>
                <c:pt idx="20">
                  <c:v>0.96985</c:v>
                </c:pt>
                <c:pt idx="21">
                  <c:v>0.96359</c:v>
                </c:pt>
                <c:pt idx="22">
                  <c:v>0.95677</c:v>
                </c:pt>
                <c:pt idx="23">
                  <c:v>0.9494</c:v>
                </c:pt>
                <c:pt idx="24">
                  <c:v>0.94147</c:v>
                </c:pt>
                <c:pt idx="25">
                  <c:v>0.93301</c:v>
                </c:pt>
                <c:pt idx="26">
                  <c:v>0.92402</c:v>
                </c:pt>
                <c:pt idx="27">
                  <c:v>0.91452</c:v>
                </c:pt>
                <c:pt idx="28">
                  <c:v>0.90451</c:v>
                </c:pt>
                <c:pt idx="29">
                  <c:v>0.89401</c:v>
                </c:pt>
                <c:pt idx="30">
                  <c:v>0.88302</c:v>
                </c:pt>
                <c:pt idx="31">
                  <c:v>0.87157</c:v>
                </c:pt>
                <c:pt idx="32">
                  <c:v>0.85967</c:v>
                </c:pt>
                <c:pt idx="33">
                  <c:v>0.84733</c:v>
                </c:pt>
                <c:pt idx="34">
                  <c:v>0.83457</c:v>
                </c:pt>
                <c:pt idx="35">
                  <c:v>0.82139</c:v>
                </c:pt>
                <c:pt idx="36">
                  <c:v>0.80783</c:v>
                </c:pt>
                <c:pt idx="37">
                  <c:v>0.79389</c:v>
                </c:pt>
                <c:pt idx="38">
                  <c:v>0.7796</c:v>
                </c:pt>
                <c:pt idx="39">
                  <c:v>0.76496</c:v>
                </c:pt>
                <c:pt idx="40">
                  <c:v>0.75</c:v>
                </c:pt>
                <c:pt idx="41">
                  <c:v>0.73474</c:v>
                </c:pt>
                <c:pt idx="42">
                  <c:v>0.71919</c:v>
                </c:pt>
                <c:pt idx="43">
                  <c:v>0.70337</c:v>
                </c:pt>
                <c:pt idx="44">
                  <c:v>0.6873</c:v>
                </c:pt>
                <c:pt idx="45">
                  <c:v>0.67101</c:v>
                </c:pt>
                <c:pt idx="46">
                  <c:v>0.65451</c:v>
                </c:pt>
                <c:pt idx="47">
                  <c:v>0.63782</c:v>
                </c:pt>
                <c:pt idx="48">
                  <c:v>0.62096</c:v>
                </c:pt>
                <c:pt idx="49">
                  <c:v>0.60396</c:v>
                </c:pt>
                <c:pt idx="50">
                  <c:v>0.58683</c:v>
                </c:pt>
                <c:pt idx="51">
                  <c:v>0.56959</c:v>
                </c:pt>
                <c:pt idx="52">
                  <c:v>0.55227</c:v>
                </c:pt>
                <c:pt idx="53">
                  <c:v>0.53488</c:v>
                </c:pt>
                <c:pt idx="54">
                  <c:v>0.51745</c:v>
                </c:pt>
                <c:pt idx="55">
                  <c:v>0.5</c:v>
                </c:pt>
                <c:pt idx="56">
                  <c:v>0.48255</c:v>
                </c:pt>
                <c:pt idx="57">
                  <c:v>0.46512</c:v>
                </c:pt>
                <c:pt idx="58">
                  <c:v>0.44774</c:v>
                </c:pt>
                <c:pt idx="59">
                  <c:v>0.43042</c:v>
                </c:pt>
                <c:pt idx="60">
                  <c:v>0.41318</c:v>
                </c:pt>
                <c:pt idx="61">
                  <c:v>0.39605</c:v>
                </c:pt>
                <c:pt idx="62">
                  <c:v>0.37904</c:v>
                </c:pt>
                <c:pt idx="63">
                  <c:v>0.36218</c:v>
                </c:pt>
                <c:pt idx="64">
                  <c:v>0.34549</c:v>
                </c:pt>
                <c:pt idx="65">
                  <c:v>0.32899</c:v>
                </c:pt>
                <c:pt idx="66">
                  <c:v>0.3127</c:v>
                </c:pt>
                <c:pt idx="67">
                  <c:v>0.29663</c:v>
                </c:pt>
                <c:pt idx="68">
                  <c:v>0.28082</c:v>
                </c:pt>
                <c:pt idx="69">
                  <c:v>0.26527</c:v>
                </c:pt>
                <c:pt idx="70">
                  <c:v>0.25</c:v>
                </c:pt>
                <c:pt idx="71">
                  <c:v>0.23504</c:v>
                </c:pt>
                <c:pt idx="72">
                  <c:v>0.22041</c:v>
                </c:pt>
                <c:pt idx="73">
                  <c:v>0.20611</c:v>
                </c:pt>
                <c:pt idx="74">
                  <c:v>0.19217</c:v>
                </c:pt>
                <c:pt idx="75">
                  <c:v>0.17861</c:v>
                </c:pt>
                <c:pt idx="76">
                  <c:v>0.16544</c:v>
                </c:pt>
                <c:pt idx="77">
                  <c:v>0.15267</c:v>
                </c:pt>
                <c:pt idx="78">
                  <c:v>0.14033</c:v>
                </c:pt>
                <c:pt idx="79">
                  <c:v>0.12843</c:v>
                </c:pt>
                <c:pt idx="80">
                  <c:v>0.11698</c:v>
                </c:pt>
                <c:pt idx="81">
                  <c:v>0.106</c:v>
                </c:pt>
                <c:pt idx="82">
                  <c:v>0.0955</c:v>
                </c:pt>
                <c:pt idx="83">
                  <c:v>0.08548</c:v>
                </c:pt>
                <c:pt idx="84">
                  <c:v>0.07598</c:v>
                </c:pt>
                <c:pt idx="85">
                  <c:v>0.06699</c:v>
                </c:pt>
                <c:pt idx="86">
                  <c:v>0.05853</c:v>
                </c:pt>
                <c:pt idx="87">
                  <c:v>0.05061</c:v>
                </c:pt>
                <c:pt idx="88">
                  <c:v>0.04323</c:v>
                </c:pt>
                <c:pt idx="89">
                  <c:v>0.03641</c:v>
                </c:pt>
                <c:pt idx="90">
                  <c:v>0.03016</c:v>
                </c:pt>
                <c:pt idx="91">
                  <c:v>0.02448</c:v>
                </c:pt>
                <c:pt idx="92">
                  <c:v>0.01937</c:v>
                </c:pt>
                <c:pt idx="93">
                  <c:v>0.01486</c:v>
                </c:pt>
                <c:pt idx="94">
                  <c:v>0.01093</c:v>
                </c:pt>
                <c:pt idx="95">
                  <c:v>0.0076</c:v>
                </c:pt>
                <c:pt idx="96">
                  <c:v>0.00487</c:v>
                </c:pt>
                <c:pt idx="97">
                  <c:v>0.00274</c:v>
                </c:pt>
                <c:pt idx="98">
                  <c:v>0.00122</c:v>
                </c:pt>
                <c:pt idx="99">
                  <c:v>0.00031</c:v>
                </c:pt>
                <c:pt idx="100">
                  <c:v>0.0</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00"/>
          <c:min val="0"/>
        </c:scaling>
        <c:delete val="0"/>
        <c:axPos val="b"/>
        <c:title>
          <c:tx>
            <c:rich>
              <a:bodyPr/>
              <a:lstStyle/>
              <a:p>
                <a:pPr>
                  <a:defRPr sz="1400" b="0" i="0" u="none" strike="noStrike">
                    <a:solidFill>
                      <a:srgbClr val="5B6675"/>
                    </a:solidFill>
                    <a:latin typeface="+mn-lt"/>
                  </a:defRPr>
                </a:pPr>
                <a:r>
                  <a:rPr sz="1400" b="0" i="0" u="none" strike="noStrike">
                    <a:solidFill>
                      <a:srgbClr val="5B6675"/>
                    </a:solidFill>
                    <a:latin typeface="+mn-lt"/>
                  </a:rPr>
                  <a:t>% of training</a:t>
                </a:r>
              </a:p>
            </c:rich>
          </c:tx>
          <c:layout/>
          <c:overlay val="0"/>
        </c:title>
        <c:numFmt formatCode="General" sourceLinked="1"/>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2"/>
        <c:crosses val="min"/>
        <c:auto val="1"/>
        <c:lblAlgn val="ctr"/>
        <c:noMultiLvlLbl val="1"/>
        <c:majorUnit val="50"/>
      </c:valAx>
      <c:valAx>
        <c:axId val="2094734552"/>
        <c:scaling>
          <c:orientation val="minMax"/>
          <c:max val="1.05"/>
          <c:min val="0"/>
        </c:scaling>
        <c:delete val="0"/>
        <c:axPos val="l"/>
        <c:majorGridlines>
          <c:spPr>
            <a:ln w="9525" cap="flat">
              <a:solidFill>
                <a:srgbClr val="E3E7EC"/>
              </a:solidFill>
              <a:prstDash val="solid"/>
              <a:round/>
            </a:ln>
          </c:spPr>
        </c:majorGridlines>
        <c:numFmt formatCode="General" sourceLinked="0"/>
        <c:majorTickMark val="none"/>
        <c:minorTickMark val="none"/>
        <c:tickLblPos val="nextTo"/>
        <c:spPr>
          <a:ln w="12700" cap="flat">
            <a:solidFill>
              <a:srgbClr val="8A94A3"/>
            </a:solidFill>
            <a:prstDash val="solid"/>
            <a:round/>
          </a:ln>
        </c:spPr>
        <c:txPr>
          <a:bodyPr/>
          <a:lstStyle/>
          <a:p>
            <a:pPr>
              <a:defRPr sz="1400" b="0" i="0" u="none" strike="noStrike">
                <a:solidFill>
                  <a:srgbClr val="5B6675"/>
                </a:solidFill>
                <a:latin typeface="+mn-lt"/>
              </a:defRPr>
            </a:pPr>
            <a:endParaRPr lang="en-US"/>
          </a:p>
        </c:txPr>
        <c:crossAx val="2094734554"/>
        <c:crosses val="min"/>
        <c:crossBetween val="midCat"/>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0:02]  One session, three parts: what a network computes, how it learns, and what makes deep networks train and generalize. Ten-minute break at 1:24.</a:t>
            </a:r>
          </a:p>
          <a:p>
            <a:r>
              <a:rPr lang="en-US" dirty="0"/>
              <a:t>Colour code all session: teal = forward signal and data; orange = gradients flowing backward, and warnings. In data plots, teal and orange simply mark the two classes.</a:t>
            </a:r>
          </a:p>
          <a:p>
            <a:r>
              <a:rPr lang="en-US" dirty="0"/>
              <a:t>How to use this deck: 57 lecture slides, including 7 one-minute quick checks (peer instruction) and a 4-step worked build (setup, forward, backward, parameter gradients). Every lecture slide ends with a “Next →” line: say it aloud as the bridge to the next slide. All code on the slides is framework-neutral pseudocode; PyTorch names appear only in these notes, marked “PyTorch session preview”. Appendix A is review material for today (quick-check answers, notation, why depth helps, history, when not to use a network, gradient checking). Appendix B goes further, for later sessions (normalization, double descent, loss and target formats, silent training bugs, learning-rate schedules, a full training recipe).</a:t>
            </a:r>
          </a:p>
          <a:p>
            <a:r>
              <a:rPr lang="en-US" dirty="0"/>
              <a:t>Provenance tags (top right of a slide): EXPERIMENT = a training run (seeds stated); SIMULATION = a seeded numerical experiment; COMPUTED = a deterministic calculation; CONSTRUCTED = a hand-built network. Every tagged figure and number is regenerated by the scripts delivered with the deck (fmnist_experiments.py, small_figures.py, new_figures.py). Plots of formulas carry no tag.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 – 0:03]  Each objective is something students should be able to DO; each quick check tests one of them.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0:05]  The bar is the clock. One running example ties the parts together: a 784–128–64–10 MLP on Fashion-MNIST. We build it in Part 1, train it in Part 2, and diagnose and regularize it in Part 3 — every curve shown for it comes from fmnist_experiments.py (PyTorch, fixed seeds).</a:t>
            </a:r>
          </a:p>
          <a:p>
            <a:r>
              <a:rPr lang="en-US" dirty="0"/>
              <a:t>Quick checks (about one every 12 minutes): everyone votes A–D silently; if votes split, convince a neighbour for 60 seconds and revote (Mazur's peer instruction).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Part 1 is about representation: what a network computes and why. Start from one neuron, find its limit (XOR), then build networks. Nothing is learned yet; that is Part 2.</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[0:11 – 0:13]  One neuron draws one straight line, whatever its threshold: a step and a sigmoid are both monotone, so both switch exactly where z = 0. Hook. Same 300 points, two models, same gradient-descent code (two moons, 300 points, noise 0.12; both models trained by full-batch Adam on the same loss; small_figures.py). Logistic regression computes z = wᵀx + b and ŷ = σ(z). It predicts class 1 when ŷ &gt; 0.5, that is when z &gt; 0, so its boundary wᵀx + b = 0 is a straight line. It reaches 86% training accuracy; no straight line can come close to 100% on these two moons. A 2→32→32→1 ReLU network fits the training data at 100% (ReLU is defined in a few slides; for now it is just “a bigger network”).</a:t>
            </a:r>
          </a:p>
          <a:p>
            <a:r>
              <a:rPr lang="en-US" dirty="0"/>
              <a:t>Linear models remain valuable (convex training, interpretable weights, little data needed). Today's question: how do we keep those strengths and still bend the boundary?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0:16]  Ask the room to draw one line with both teal points on one side and both orange points on the other (20 s). Every attempt (dashed) catches a wrong point.</a:t>
            </a:r>
          </a:p>
          <a:p>
            <a:r>
              <a:rPr lang="en-US" dirty="0"/>
              <a:t>Proof: predict class 1 when w₁x₁ + w₂x₂ + b &gt; 0. Each point gives one inequality. Add the two class-1 rows and use b ≤ 0: w₁ + w₂ + b &gt; −b ≥ 0, contradicting row 4. Minsky and Papert (1969) made limitations of this kind precise for single-layer perceptrons.</a:t>
            </a:r>
          </a:p>
          <a:p>
            <a:r>
              <a:rPr lang="en-US" dirty="0"/>
              <a:t>This inequality system is exactly one threshold neuron, the threshold neuron from the start of Part 1: no single perceptron computes XOR. Note the step was nonlinear all along; one unit still draws one line. The fix is more units, not a different threshold.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0:18]  Add one feature, the product x₁x₂. In the new 3-D space the four points ARE linearly separable (grey plane), and y = x₁ + x₂ − 2x₁x₂ exactly. The data did not change; the representation did. This is the central idea of the field.</a:t>
            </a:r>
          </a:p>
          <a:p>
            <a:r>
              <a:rPr lang="en-US" dirty="0"/>
              <a:t>Kernel methods (e.g. an RBF-kernel SVM) do this implicitly. The next slide asks the obvious question: who designs the features?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[0:18 – 0:20]  Hand-designing features breaks down at scale: you must already know the answer (which function of 224×224×3 = 150,528 pixels means "cat"?); candidate features explode (all degree-3 products of 1,000 inputs ≈ 1,000³/6 ≈ 1.7×10⁸); and features designed for one task rarely transfer.</a:t>
            </a:r>
          </a:p>
          <a:p>
            <a:r>
              <a:rPr lang="en-US" dirty="0"/>
              <a:t>So give the feature map its own parameters and learn them together with the linear model, by gradient descent on one loss. h is a learned representation of x; g is a nonlinear function applied elementwise; which one, and why it is needed at all, comes in the next few slides.</a:t>
            </a:r>
          </a:p>
          <a:p>
            <a:r>
              <a:rPr lang="en-US" dirty="0"/>
              <a:t>Three consequences: features are shaped by the loss we care about; early features (edges, textures) are reusable across tasks — transfer learning; and layers compose, which is what "deep" means.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0:30]  Now that ReLU is defined, return to XOR. Trace it. h₁ = ReLU(x₁ + x₂) behaves like OR; h₂ = ReLU(x₁ + x₂ − 1) like AND; y = h₁ − 2h₂ = OR − 2·AND equals XOR on the four corners. Table: (0,0)→0, (0,1)→1, (1,0)→1, (1,1)→2 − 2 = 0.</a:t>
            </a:r>
          </a:p>
          <a:p>
            <a:r>
              <a:rPr lang="en-US" dirty="0"/>
              <a:t>The figure is the insight: the hidden layer sends (0,1) and (1,0) to the SAME hidden point (1,0) and (1,1) to (2,1). In hidden space one straight line separates the classes. The output neuron is still linear; the hidden layer changed the representation.</a:t>
            </a:r>
          </a:p>
          <a:p>
            <a:r>
              <a:rPr lang="en-US" dirty="0"/>
              <a:t>Gradient descent need not find this particular OR/AND decomposition — many weight settings solve XOR, e.g. ReLU(x₁ − x₂) + ReLU(x₂ − x₁) = |x₁ − x₂|.</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0:08]  Start with one unit. A neuron computes a weighted sum of its inputs plus a bias, z = wᵀx + b, and fires (a = 1) when z &gt; 0: McCulloch &amp; Pitts's threshold unit (1943), the building block of Rosenblatt's perceptron (1958). The biology analogy helps for about a minute: real neurons spike, dendrites compute nonlinearly, and brains do not run backpropagation.</a:t>
            </a:r>
          </a:p>
          <a:p>
            <a:r>
              <a:rPr lang="en-US" dirty="0"/>
              <a:t>Geometry: w is perpendicular to the boundary z = 0, because for two boundary points x, x′ we have wᵀ(x − x′) = 0. The bias shifts the boundary without rotating it; its distance from the origin is |b|/‖w‖, and (wᵀx + b)/‖w‖ is the signed distance to the boundary. So one neuron answers one question: which side of one line (hyperplane) is x on?</a:t>
            </a:r>
          </a:p>
          <a:p>
            <a:r>
              <a:rPr lang="en-US" dirty="0"/>
              <a:t>Careful with words: the step IS a nonlinear function, so do not call this neuron 'linear'. Keep the word for later and pay it off in three steps: the sigmoid slide (next) shows a step cannot be trained by gradient descent; the XOR slide shows one unit, step or sigmoid, cannot bend the boundary; the depth-collapse slide shows where the nonlinearity must 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 – 0:11]  Bridge from the neuron slide: the threshold works, but it cannot learn by gradient descent. Rosenblatt's perceptron (1958) used a hard step. Its learning rule converges on linearly separable data (Novikoff, 1962), but the step's derivative is 0 wherever it exists, so a STACK of steps gives no gradient and cannot be trained by gradient descent.</a:t>
            </a:r>
          </a:p>
          <a:p>
            <a:r>
              <a:rPr lang="en-US" dirty="0"/>
              <a:t>Swap the step for a sigmoid and you get logistic regression. Name it now: z, the log-odds, is called the LOGIT; the word is used from the running example onward. The sigmoid is what linear log-odds imply: assume log(p/(1−p)) = z and solve for p. Its derivative σ(1 − σ) is at most 1/4, at z = 0 — remember that 1/4; it returns on the activation slide and in Part 3.</a:t>
            </a:r>
          </a:p>
          <a:p>
            <a:r>
              <a:rPr lang="en-US" dirty="0"/>
              <a:t>Sharpness: scaling w and b by k keeps the boundary z = 0 but makes the sigmoid switch k times steeper (for a step, infinitely steep). Small ‖w‖ means gentle switching — weight decay in Part 3 uses exactly this.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0:22]  The threshold neuron already used a nonlinearity; now see why one must sit between every pair of layers. Substitute each linear layer into the next: one matrix times x plus one bias. Ten linear layers equal one linear layer and still cannot do XOR. Worse, rank(W[3]W[2]W[1]) ≤ the smallest factor's rank, so a narrow middle layer can only restrict the map.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0:24]  Peer instruction: everyone votes A–D silently (fingers or clicker); if votes split, give 60 s to convince a neighbour, then revote.</a:t>
            </a:r>
          </a:p>
          <a:p>
            <a:r>
              <a:rPr lang="en-US" dirty="0"/>
              <a:t>Answer: C. The hidden layers compose into one affine map, z = W′x + b′. The sigmoid is monotone, so ŷ &gt; 0.5 exactly when z &gt; 0: the boundary is still a hyperplane, whatever the width or depth. A nonlinearity on the output alone does not bend the boundary.</a:t>
            </a:r>
          </a:p>
          <a:p>
            <a:r>
              <a:rPr lang="en-US" dirty="0"/>
              <a:t>Distractor A catches students who think the output sigmoid adds curvature; B is the answer for ReLU networks (coming up), a good misconception to surface.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 – 0:27]  Left: the functions; right: their derivatives — what backpropagation multiplies, one factor per layer.</a:t>
            </a:r>
          </a:p>
          <a:p>
            <a:r>
              <a:rPr lang="en-US" dirty="0"/>
              <a:t>Sigmoid's slope never exceeds 0.25 and is below 0.007 for |z| &gt; 5. Through ten sigmoid layers the activation-derivative factors alone contribute at most 0.25¹⁰ ≈ 10⁻⁶. (The weights also enter the product and could amplify it; large weights, however, push sigmoids deeper into saturation. Part 3 treats this properly.) tanh(z) = 2σ(2z) − 1 is zero-centred with slope up to 1, but its tails still saturate.</a:t>
            </a:r>
          </a:p>
          <a:p>
            <a:r>
              <a:rPr lang="en-US" dirty="0"/>
              <a:t>ReLU's slope is exactly 1 whenever the unit is active, so the activation itself does not shrink the gradient (the weight matrices still scale it); it is also cheap and sparse. For z &lt; 0 its slope is exactly 0, a one-sided saturation, which is where dying ReLU comes from. Together with better initialization, GPUs and more data, it is a large part of why deep nets became trainable around 2010–2012 (Glorot et al., 2011; Krizhevsky et al., 2012). Cost: a unit whose input is negative for every example outputs 0 and receives zero gradient through that activation, so it may stay inactive for good ("dying ReLU"; for first-layer units with fixed inputs it is permanent), typically after too large a learning rate.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[0:54 – 0:55]  Synthesis of the loss section: each layer’s activation follows from its role. The output rows and the warning repeat the lesson of the previous slide: classifier outputs are raw logits, because the loss applies sigmoid/softmax internally and stably.</a:t>
            </a:r>
          </a:p>
          <a:p>
            <a:r>
              <a:rPr lang="en-US" dirty="0"/>
              <a:t>Hidden layers: ReLU by default. Dying ReLU: first lower the learning rate; Leaky ReLU keeps a small negative slope (default α = 0.01; drawn at 0.1 so it is visible) and so a nonzero gradient for z &lt; 0.</a:t>
            </a:r>
          </a:p>
          <a:p>
            <a:r>
              <a:rPr lang="en-US" dirty="0"/>
              <a:t>The chart also shows GELU = z·Φ(z) and SiLU = z·σ(z), smooth ReLU variants used in Transformer models later in the course. They flatten toward 0 as z → −∞: smooth, not saturation-free.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0:34]  A real network trained for this slide: 2 → 12 → 12 → 1 ReLU units on the two-moons data (100% training accuracy).</a:t>
            </a:r>
          </a:p>
          <a:p>
            <a:r>
              <a:rPr lang="en-US" dirty="0"/>
              <a:t>Each coloured patch is a region of input space where every ReLU is on or off in one fixed pattern; inside it the whole network is exactly linear. 146 such regions are found on a 900 × 600 grid of this window (tiny regions can be missed, so the true count is at least this). The black decision boundary is therefore piecewise linear, yet it follows the curved moons. More units and more layers mean more pieces.</a:t>
            </a:r>
          </a:p>
          <a:p>
            <a:r>
              <a:rPr lang="en-US" dirty="0"/>
              <a:t>Live demo: playground.tensorflow.org — choose the XOR or spiral dataset, ReLU, and watch the boundary bend as you add hidden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0:32]  Bridge: the XOR network had one hidden layer; the same rule repeats for any depth. A multi-layer perceptron stacks fully connected layers, each followed by a nonlinearity. Layer 0 is the input and has no parameters, so this network has L = 3 layers. Each layer computes a pre-activation z = Wa + b and an activation a = g(z). Everything else today is choosing g, measuring the error in ŷ, or differentiating that error.</a:t>
            </a:r>
          </a:p>
          <a:p>
            <a:r>
              <a:rPr lang="en-US" dirty="0"/>
              <a:t>Shapes: row i of W[l] holds unit i's weights, one per unit of layer l−1, so W[l] has shape (n[l], n[l−1]). When shapes confuse you, write down what one row means, then count.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 – 0:39]  Fashion-MNIST (Xiao, Rasul &amp; Vollgraf, 2017): 70,000 grey-scale 28×28 images of clothing in 10 classes, a drop-in replacement for MNIST that is harder to solve. We hold out 5,000 of the 60,000 training images for validation.</a:t>
            </a:r>
          </a:p>
          <a:p>
            <a:r>
              <a:rPr lang="en-US" dirty="0"/>
              <a:t>Read the shapes top to bottom, for a batch of 128. The batch dimension never changes: if it does, a reshape is wrong. The output is 10 raw logits per image; softmax lives inside the loss.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[0:39 – 0:41]  Framework-neutral pseudocode. The model is a stack of layers that ends in raw logits — no softmax; the loss applies it (Part 2).</a:t>
            </a:r>
          </a:p>
          <a:p>
            <a:r>
              <a:rPr lang="en-US" dirty="0"/>
              <a:t>A batch stores examples as rows, so each layer computes X Wᵀ + b with W of shape (out, in): the same W as in the maths (one row per unit), applied to a batch.</a:t>
            </a:r>
          </a:p>
          <a:p>
            <a:r>
              <a:rPr lang="en-US" dirty="0"/>
              <a:t>Parameters: each layer has n[l]·n[l−1] weights plus n[l] biases: 100,480 + 8,256 + 650 = 109,386. Layer 1 holds 92% because the 784-pixel input is fully connected — the seed of the case for convolutional networks.</a:t>
            </a:r>
          </a:p>
          <a:p>
            <a:r>
              <a:rPr lang="en-US" dirty="0"/>
              <a:t>PyTorch session preview: nn.Sequential(nn.Flatten(), nn.Linear(784, 128), nn.ReLU(), …); nn.Linear(in, out) stores its weight as (out, in) and computes x @ W.T + b; count parameters with sum(p.numel() for p in model.parameters()); call model(x), not model.forward(x).</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[0:41 – 0:43]  Peer instruction: everyone votes A–D silently (fingers or clicker); if votes split, give 60 s to convince a neighbour, then revote.</a:t>
            </a:r>
          </a:p>
          <a:p>
            <a:r>
              <a:rPr lang="en-US" dirty="0"/>
              <a:t>Answer: B. By the forward-pass convention W[l] has shape (n[l], n[l−1]): one row per unit of layer 1, one column per input, so (128, 784). PyTorch session preview: nn.Linear(784, 128).weight has exactly this shape.</a:t>
            </a:r>
          </a:p>
          <a:p>
            <a:r>
              <a:rPr lang="en-US" dirty="0"/>
              <a:t>Distractor A is the most common answer; ask a pair who chose B to explain the 'one row per unit' rule.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0:37]  Continue the patchwork picture: more linear pieces, better fit. Picture first: a one-hidden-layer ReLU network builds a piecewise-linear interpolation of a continuous curve, and the error shrinks as units are added (hand-constructed ReLU networks with knots chosen to minimize the maximum error, not trained; max errors 0.65, 0.14, 0.014 for 3, 6, 24 units).</a:t>
            </a:r>
          </a:p>
          <a:p>
            <a:r>
              <a:rPr lang="en-US" dirty="0"/>
              <a:t>Theorem (informal): for any continuous f on a compact set K and any ε &gt; 0, some network with ONE hidden layer, finitely many units and a non-polynomial activation is within ε of f everywhere on K (precise condition, Leshno et al. 1993: a locally bounded, piecewise-continuous activation that is not a polynomial almost everywhere; Cybenko 1989 for sigmoids; Hornik 1991; Leshno et al. 1993). The activation must be non-polynomial — which is exactly why the identity network of Quick check 1 is not universal. A related depth result: ReLU networks of width n + 4 and unbounded depth can approximate any Lebesgue-integrable function in the L¹ sense (Lu et al., 2017).</a:t>
            </a:r>
          </a:p>
          <a:p>
            <a:r>
              <a:rPr lang="en-US" dirty="0"/>
              <a:t>What it settles: sufficiently large networks have enormous expressive power. It does not say that YOUR network is large enough (two ReLU units cannot fit the curve on this slide), nor that the required size is practical. In practice, performance also depends on optimization, regularization and data.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Bridge: Part 1 built the forward pass of our running example. Now the network learns: choose a loss, step downhill with gradient descent, get the gradients it needs from backpropagation, and read the curves of our running example.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 – 0:46]  A loss turns "prediction and target disagree" into one number. For most tasks it follows from a probabilistic assumption about the targets.</a:t>
            </a:r>
          </a:p>
          <a:p>
            <a:r>
              <a:rPr lang="en-US" dirty="0"/>
              <a:t>Regression: y = f(x) + Gaussian noise. The log-likelihood is a constant minus Σ(y − f(x))²/2σ², so maximizing likelihood = minimizing squared error (σ fixed; constants dropped). A typical mse function computes the mean of (ŷ − y)², without the ½: the factor only rescales the gradient, i.e. the effective learning rate. That also tells you when MSE is wrong: heavy-tailed noise → Huber loss; counts → Poisson loss.</a:t>
            </a:r>
          </a:p>
          <a:p>
            <a:r>
              <a:rPr lang="en-US" dirty="0"/>
              <a:t>Binary: a Bernoulli label with probability ŷ = σ(z); the NLL is binary cross-entropy. Multi-class: a categorical label via softmax; the NLL is cross-entropy, −log of the probability of the true class c.</a:t>
            </a:r>
          </a:p>
          <a:p>
            <a:r>
              <a:rPr lang="en-US" dirty="0"/>
              <a:t>The classification losses take raw logits and apply sigmoid/softmax internally. PyTorch session preview: nn.MSELoss, nn.BCEWithLogitsLoss, nn.CrossEntropyLoss. We average over the batch, J = (1/m)Σ L, so the gradient scale does not depend on batch size.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[0:46 – 0:48]  Softmax exponentiates and normalizes K logits: outputs are positive and sum to 1; every output depends on every logit; and softmax(z + c) = softmax(z) (shift invariance), which makes the stable implementation possible.</a:t>
            </a:r>
          </a:p>
          <a:p>
            <a:r>
              <a:rPr lang="en-US" dirty="0"/>
              <a:t>Cross-entropy with a one-hot target is −log of the true-class probability: 0.9 → 0.105, 0.5 → 0.693, 0.01 → 4.61.</a:t>
            </a:r>
          </a:p>
          <a:p>
            <a:r>
              <a:rPr lang="en-US" dirty="0"/>
              <a:t>Sanity check: if a fresh model's logits are near zero, every class gets ≈ 1/K and the first loss is ≈ ln K (2.30 for 10 classes). Standard initializations give logits of order 1, so the first loss is typically somewhat above ln K: our running example started at 2.63 (2.63–3.02 across three seeds). A first loss of 10 or 15 means the logits differ hugely (softmax ignores a constant shift, so only differences matter): check input standardization, initialization and labels. (Karpathy's recipe suggests initializing the last layer so the first loss is ≈ ln K.)</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[0:48 – 0:50]  With MSE on a sigmoid output, ∂L/∂z carries a factor σ′(z) (orange). If the truth is 1 and the model confidently predicts 0.0001, the error is large but σ′ ≈ 0.0001, so learning stalls exactly when the model is most wrong (left of the chart). With cross-entropy the σ′ cancels against the derivative of the log, leaving σ(z) − y: full strength when needed. The same cancellation for softmax + cross-entropy gives ŷ − y.</a:t>
            </a:r>
          </a:p>
          <a:p>
            <a:r>
              <a:rPr lang="en-US" dirty="0"/>
              <a:t>Two further reasons: class labels are not "real values plus Gaussian noise" (wrong likelihood), and for a single neuron MSE∘sigmoid is non-convex in w while cross-entropy∘sigmoid is convex.</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0:52]  Peer instruction: everyone votes A–D silently; if votes split, 60 s with a neighbour, then revote. Do not advance until the revote: the next slide reveals the answer.</a:t>
            </a:r>
          </a:p>
          <a:p>
            <a:r>
              <a:rPr lang="en-US" dirty="0"/>
              <a:t>Answer: B. The loss function applies log-softmax itself, so a softmax layer at the end of the model applies softmax twice. Removing it fixes the bug. Reading the model, not a loss plateau alone, identifies this error.</a:t>
            </a:r>
          </a:p>
          <a:p>
            <a:r>
              <a:rPr lang="en-US" dirty="0"/>
              <a:t>For K = 10, the redundant softmax imposes a loss floor ln(K − 1 + e) − 1 ≈ 1.46. PyTorch session preview: nn.CrossEntropyLoss expects raw logits.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[0:52 – 0:54]  Reveal for the quick check. Runs of our running example (fmnist_experiments.py, 3 seeds): identical model, data and optimizer; the only difference is a softmax at the end of the model. The bug raises no error; the loss simply cannot go below ln(K − 1 + e) − 1 ≈ 1.46 because the loss applies log-softmax to inputs that are already in (0, 1). The dashed grey line is that floor; the buggy run levels off just above it, near 1.63. Final training loss 1.56–1.63 vs ≈ 0.14; validation accuracy 81.7–87.9% vs 88.7–89.7% — in the best seed close enough that nobody notices, and the probabilities it outputs are badly miscalibrated — measured (calibration_check.py, 15-bin expected calibration error on validation): ECE 0.11–0.17 with the bug vs 0.04–0.05 without; the buggy model reports 98.5–98.9% mean confidence while being 82–88% accurate. Why: with softmax applied twice, the loss is no longer a proper scoring rule for the reported probabilities, so it keeps rewarding more confidence. Even the correct model is slightly overconfident (94% confidence, 89–90% accuracy).</a:t>
            </a:r>
          </a:p>
          <a:p>
            <a:r>
              <a:rPr lang="en-US" dirty="0"/>
              <a:t>Why fused losses: in float32, e^1000 overflows to inf. A fused cross-entropy loss subtracts the maximum logit first (valid by shift invariance), so every exponent is ≤ 0 and one term equals exactly 1. Targets: integer class indices of shape (m,), or class probabilities of shape (m, K). Full target-format table: appendix.</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 – 1:05]  Finite differences — nudge one parameter, rerun the forward pass — are a useful check but hopeless for training: 10⁸ parameters need 10⁸ forward passes per step, over a day per step at 1 ms each.</a:t>
            </a:r>
          </a:p>
          <a:p>
            <a:r>
              <a:rPr lang="en-US" dirty="0"/>
              <a:t>Backpropagation gets ALL gradients in one backward pass costing roughly 2× a forward pass; a training step costs ≈ 3× an inference step. It is the multivariable chain rule applied to the computation graph, organized so shared products are computed once: moving backward from the loss, each new gradient reuses the product already accumulated to its right (reverse-mode automatic differentiation). Branches: if a value feeds two later nodes, its gradient is the SUM of the gradients arriving from both (multivariable chain rule). Example: y = u·x with u = x gives dy/dx = x + x = 2x. Backpropagation COMPUTES gradients; an optimizer such as SGD or Adam USES them.</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1:08]  Build 2 of 4 — check the forward pass: 1.1, 0.7503, 0.3002, 0.5745, 0.0905. Ask who matched to three decimals. Keep these values: the backward pass reuses every one of them.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[1:08 – 1:11]  Build 3 of 4 — backward, one local derivative at a time. ∂L/∂a₂ = a₂ − y; multiply by σ′(z₂) = a₂(1 − a₂) to get δ₂; send it back through w₂; multiply by σ′(z₁) to get δ₁.</a:t>
            </a:r>
          </a:p>
          <a:p>
            <a:r>
              <a:rPr lang="en-US" dirty="0"/>
              <a:t>δ shrank by a factor of 6.7 in ONE sigmoid layer (factor w₂·σ′(z₁) = 0.8 × 0.187): vanishing gradients in miniature.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[1:11 – 1:13]  Build 4 of 4 — parameter gradients. Pattern: weight gradient = error at the weight's output × activation at its input; bias gradient = the error itself. All values were checked numerically, and the automatic-differentiation slide (after the BP equations) reproduces −0.0312 and −0.0780.</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 1:18]  The general case for a fully connected network. Define the error signal δ[l] = ∂L/∂z[l] on the PRE-activation; then the parameter gradients take one line each.</a:t>
            </a:r>
          </a:p>
          <a:p>
            <a:r>
              <a:rPr lang="en-US" dirty="0"/>
              <a:t>BP1: for an elementwise output activation g, each output unit's error is its loss gradient times its own slope. Softmax is NOT elementwise, so BP1 in this form does not apply to it; for softmax + cross-entropy one derives directly ∂L/∂z[L] = ŷ − y (shown on the slide as a separate line).</a:t>
            </a:r>
          </a:p>
          <a:p>
            <a:r>
              <a:rPr lang="en-US" dirty="0"/>
              <a:t>BP2: z[l] affects the loss through every unit of layer l+1, so the chain rule sums over them — a product with the TRANSPOSE of the next layer's weights (forward maps n[l] → n[l+1]; backward must map n[l+1] → n[l]) — gated elementwise by g′. A saturated unit blocks its error.</a:t>
            </a:r>
          </a:p>
          <a:p>
            <a:r>
              <a:rPr lang="en-US" dirty="0"/>
              <a:t>BP3, BP4: ∂z/∂b = 1 gives the bias gradient; the weight gradient is the outer product of the error and the input activation — exactly the pattern from the worked example. For a batch with examples as rows, dW = Δᵀ A sums the outer products over the batch automatically.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[1:18 – 1:19]  The worked example as framework-neutral pseudocode. Marking values as “track gradients” records every operation in a graph during the forward pass; backward(L) runs reverse-mode differentiation and fills in the gradient of every tracked value. The values match the hand calculation.</a:t>
            </a:r>
          </a:p>
          <a:p>
            <a:r>
              <a:rPr lang="en-US" dirty="0"/>
              <a:t>Consequences: (1) gradients ACCUMULATE across backward calls — deliberately, so gradients from several small batches can be summed — hence clear them every step. (2) BP4 needs forward activations, so they are stored until backward: memory grows with batch size; running out of memory during backward is fixed first by a smaller batch. (3) For evaluation, turn gradient tracking off: no graph, no stored activations. (4) Gradient checkpointing (Chen et al., 2016) recomputes activations instead of storing them, costing roughly one extra forward pass. Implementing a gradient by hand? Verify it with centred differences (appendix).</a:t>
            </a:r>
          </a:p>
          <a:p>
            <a:r>
              <a:rPr lang="en-US" dirty="0"/>
              <a:t>PyTorch session preview: requires_grad=True, L.backward(), w1.grad, optimizer.zero_grad(), torch.no_grad() / torch.inference_mode().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[1:13 – 1:15]  Peer instruction: everyone votes A–D silently (fingers or clicker); if votes split, give 60 s to convince a neighbour, then revote.</a:t>
            </a:r>
          </a:p>
          <a:p>
            <a:r>
              <a:rPr lang="en-US" dirty="0"/>
              <a:t>Answer: B. Layer 1's error arrives only through w₂: ∂L/∂a₁ = δ₂·w₂ = 0, so δ₁ = 0 and ∂L/∂w₁ = δ₁·x = 0. Vanishing gradients and dead units block learning by the same mechanism.</a:t>
            </a:r>
          </a:p>
          <a:p>
            <a:r>
              <a:rPr lang="en-US" dirty="0"/>
              <a:t>Placed right after the hand calculation on purpose: concrete case first, then the general rule. The next slide's BP2 sends the error back through Wᵀ — exactly the path that w₂ = 0 blocks here.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 – 0:58]  Bridge from the activation table: model and loss are fixed, so now minimize. First decide what to do with a gradient; then (next slides) how to compute it cheaply. Why the negative gradient? A first-order Taylor expansion says the change in loss is ∇Jᵀ Δθ, most negative for a step opposite the gradient — valid only for SMALL steps.</a:t>
            </a:r>
          </a:p>
          <a:p>
            <a:r>
              <a:rPr lang="en-US" dirty="0"/>
              <a:t>The panels are computed (small_figures.py) on J = ½(θ₁² + 10θ₂²): curvatures 1 and 10. On J = ½λθ² the update θ ← (1 − ηλ)θ converges only if η &lt; 2/λ. In a network λ is the largest Hessian eigenvalue, so the SHARPEST direction caps η for every direction: here 2/10 = 0.2, and η = 0.21 diverges. That mismatch is ill-conditioning, attacked by momentum and Adam in Part 3.</a:t>
            </a:r>
          </a:p>
          <a:p>
            <a:r>
              <a:rPr lang="en-US" dirty="0"/>
              <a:t>Learning-rate symptoms: nan within a few steps → far too large; oscillating or plateauing high → too large; steady fall then flattening → good; glacial → too small. Starting points: AdamW 3×10⁻⁴; SGD + momentum 0.9 at 0.1 for CNNs with batch normalization at batch 256. Tune with a learning-rate range test (Smith, 2017).</a:t>
            </a:r>
          </a:p>
          <a:p>
            <a:r>
              <a:rPr lang="en-US" dirty="0"/>
              <a:t>Caveat for curious students: in real networks the η &lt; 2/λ_max rule is a local, quadratic picture. Full-batch gradient descent typically drives the sharpness up to about 2/η and keeps reducing the loss, non-monotonically — the 'edge of stability' (Cohen et al., ICLR 2021).</a:t>
            </a:r>
          </a:p>
          <a:p>
            <a:r>
              <a:rPr lang="en-US" dirty="0"/>
              <a:t>Bridge: this is a single bowl; the next slide shows that a network’s loss is not.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1:03]  Bridge: one gradient-descent step on all 55,000 images is slow, so we use mini-batches. Three splits: train (fit), validation (choose hyperparameters and the checkpoint), test (touch once, at the end). Parameters (W, b) are learned by gradient descent on the training split; hyperparameters (η, batch size, epochs, layer sizes) are values you set, chosen on the validation split. Standardize inputs with statistics computed on the TRAINING split only — using validation or test statistics leaks information.</a:t>
            </a:r>
          </a:p>
          <a:p>
            <a:r>
              <a:rPr lang="en-US" dirty="0"/>
              <a:t>Mini-batches of 32–512 examples are what everyone uses. The standard deviation of the gradient noise falls only as 1/√m (its variance as 1/m): 100× the batch buys 10× less noise. Epoch = one pass over the training data; iteration = one update: 55,000 images with batch 128 → 430 iterations per epoch. Shuffle the training set every epoch; evaluation needs no shuffling. Full-batch gradients are exact but rarely fit in memory for real datasets; single examples waste the GPU's parallelism.</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[1:19 – 1:21]  Framework-neutral pseudocode. Every training loop: clear old gradients, forward, loss, backward, update. Around it: training mode before training (dropout on; batch normalization uses batch statistics — dropout comes in Part 3, batch normalization in Appendix B); evaluation mode and no gradient tracking for validation. Commit it to memory.</a:t>
            </a:r>
          </a:p>
          <a:p>
            <a:r>
              <a:rPr lang="en-US" dirty="0"/>
              <a:t>PyTorch session preview: model.train(), optimizer.zero_grad(), loss.backward(), optimizer.step(), model.eval(), torch.no_grad(), DataLoader.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for the coding sessions. PyTorch names: zero_grad(), model.eval(), nn.ModuleList, MSELoss. Bug 1 is measurably overconfident: ≈ 99% mean confidence at 82–88% accuracy (calibration_check.py). Each of these runs and prints a loss but gives the wrong answer; at most a warning appears (the MSELoss shape mismatch warns, and the warning is easy to miss in a long log). Accumulating gradients over several mini-batches is a legitimate technique; omitting zero_grad() is a bug only when the accumulation is unintended. Students should check this list before asking "why doesn't my model learn?".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 – 1:24]  Our 784–128–64–10 MLP, Adam (η = 10⁻³; Part 3), batch 128, He initialization, standardized inputs, 55,000 training images (fmnist_experiments.py, seed 0 shown). Training loss keeps falling (to 0.14); validation loss bottoms out at epoch 5 (0.325) and then RISES to 0.38, while validation accuracy still creeps up (88.8% at epoch 5, 89.7% at epoch 20).</a:t>
            </a:r>
          </a:p>
          <a:p>
            <a:r>
              <a:rPr lang="en-US" dirty="0"/>
              <a:t>Lesson 1: the model is starting to overfit in the mildest way — it becomes over-confident on validation examples it gets wrong, which raises the loss before it lowers accuracy. Lesson 2: keep the checkpoint that is best on the metric you care about (by validation loss: epoch 5; by validation accuracy: epoch 20), not blindly the last one; the best epoch moves with the seed (5, 15, 9 across three seeds), so select it on validation rather than hard-coding a number of epochs. Lesson 3: always plot both curves. Part 3 diagnoses and treats this.</a:t>
            </a:r>
          </a:p>
          <a:p>
            <a:r>
              <a:rPr lang="en-US" dirty="0"/>
              <a:t>Why depth matters at all, and the theory of depth separations, is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 – 1:34]  Break. The teaser is the degradation problem that motivated residual networks (He et al., 2016). It is NOT overfitting: training loss is worse too. Part 3 answers it.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  Answer to the break question: not overfitting — training loss is worse too. Deep plain networks are hard to OPTIMIZE. Say now that the full answer comes with residual connections; first we treat the other way depth fails, gradients that vanish or explode. Part 3 is the toolbox that made depth work, and it ends by diagnosing our running example. Normalization layers and double descent are covered in Appendix B (later sessions), leaving time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 – 1:38]  Unroll BP2 to layer 1: the gradient is a product of L − 1 factors, each a weight matrix gated by activation slopes (the product is ordered: l = 2 on the left). Products of many numbers shrink geometrically if the typical factor is below 1, blow up if above, and stay usable only near 1: 0.9³⁰ ≈ 0.04, 0.5³⁰ ≈ 10⁻⁹, 1.5³⁰ ≈ 2×10⁵.</a:t>
            </a:r>
          </a:p>
          <a:p>
            <a:r>
              <a:rPr lang="en-US" dirty="0"/>
              <a:t>Vanishing gradients are insidious: late layers still learn, the loss falls and plateaus too high, no error appears. Exploding gradients show up as nan within a few steps, classically in RNNs. Diagnose by logging the gradient norm of every layer: early layers orders of magnitude below late ones means vanishing. The break question’s degradation problem is a different failure; its fix, residual connections, comes after initialization.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 1:42]  What initial weight scale keeps the PRE-ACTIVATION variance constant with depth (at initialization, under the assumptions below)? Note: the post-ReLU activations are not zero-mean, so their variance is not preserved — Var(ReLU(z)) ≈ 0.34·Var(z) for Gaussian z — but their second moment is. One unit, zero bias, weights i.i.d., zero-mean and independent of the inputs: Var(z) = n_in·Var(w)·E[x²]. For zero-mean inputs E[x²] = Var(x), so keeping Var(z) = Var(x) needs Var(w) = 1/n_in (LeCun). ReLU outputs are NOT zero-mean, which is why the He box works with E[x²] = E[ReLU(z)²] = ½Var(z).</a:t>
            </a:r>
          </a:p>
          <a:p>
            <a:r>
              <a:rPr lang="en-US" dirty="0"/>
              <a:t>Xavier/Glorot (2010) balances forward (1/n_in) and backward (1/n_out): 2/(n_in + n_out); it assumes an activation roughly linear and symmetric near 0, fine for tanh (sigmoid is not zero-centred and is rarely used in hidden layers today). ReLU zeroes the negative half of a symmetric input, halving the mean square, so He et al. (2015) double it: 2/n_in; with it they trained a 30-layer ReLU network that stalled under Xavier.</a:t>
            </a:r>
          </a:p>
          <a:p>
            <a:r>
              <a:rPr lang="en-US" dirty="0"/>
              <a:t>Convolutions: n_in = k·k·C_in (a 3×3 convolution with 64 input channels: n_in = 576, He std ≈ 0.059). PyTorch session preview: its default for linear and conv layers is Kaiming-uniform with a = √5, i.e. Var(w) = 1/(3·n_in): conservative; set He initialization explicitly for deep ReLU nets trained from scratch. Never all-zero weights: identical units get identical gradients forever (symmetry). Biases may start at 0.</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[1:44 – 1:47]  Reveal for Quick check 5: students have just predicted the Xavier case. The chart shows only He and Xavier so the subtle case is visible; the extreme cases (std 0.01, std 1.0) are in the table. Twenty ReLU layers of width 256, 1,000 standard-normal inputs, standard deviation of activations per layer (log scale), one seeded NumPy run.</a:t>
            </a:r>
          </a:p>
          <a:p>
            <a:r>
              <a:rPr lang="en-US" dirty="0"/>
              <a:t>He keeps the signal at order 1 (0.82 at layer 1, 1.14 at layer 20; finite-width fluctuations). Xavier ignores ReLU's halving and loses a factor √2 in standard deviation per layer — it halves about every TWO layers — reaching 1.1 × 10⁻³, close to the theoretical 0.58 × (1/√2)¹⁹ ≈ 8 × 10⁻⁴. std 0.01 vanishes to 1.3 × 10⁻¹⁹; std 1.0 explodes to 1.3 × 10²¹. Other schemes (e.g. scaled orthogonal initialization) can also work; this slide compares only these four. Backward gradients behave the same way, since BP2 multiplies by the same matrices.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 – 1:44]  Ask for a prediction before the simulation. Peer instruction: everyone votes A–D silently; if votes split, 60 s with a neighbour, then revote.</a:t>
            </a:r>
          </a:p>
          <a:p>
            <a:r>
              <a:rPr lang="en-US" dirty="0"/>
              <a:t>Answer: B. With n_in = n_out = 256, Xavier gives Var(w) = 2/(256 + 256) = 1/256, half of He's 2/256. ReLU halves the mean square at every layer, so the activation std falls by √2 per layer: about (1/√2)²⁹ ≈ 4×10⁻⁵ after 30 layers — the Xavier row of the next slide. Fix: He initialization.</a:t>
            </a:r>
          </a:p>
          <a:p>
            <a:r>
              <a:rPr lang="en-US" dirty="0"/>
              <a:t>Distractor C is the right mechanism with the wrong sign (that is std 1.0); D misses that the factor compounds.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[1:47 – 1:52]  Answer to the break question. He et al. (2016) found that deeper PLAIN networks reach higher TRAINING error than shallower ones — the degradation problem. It is not overfitting, and in their words it is 'unlikely to be caused by vanishing gradients': the plain nets were trained with BatchNorm and the backward gradients had 'healthy norms'. They conjecture that deep plain nets converge exponentially slowly. So good initialization alone does not fix it.</a:t>
            </a:r>
          </a:p>
          <a:p>
            <a:r>
              <a:rPr lang="en-US" dirty="0"/>
              <a:t>The fix: let a block learn a correction F(x) and add the input back, x_{l+1} = x_l + F(x_l). An unhelpful block only has to push F toward 0 to become the identity, so extra blocks should not raise training error. Their residual nets did not degrade; ResNet-152 trained in 2015. Residual connections substantially ease, but do not mathematically guarantee, the optimization of very deep networks: the product of the block Jacobians can still be badly conditioned.</a:t>
            </a:r>
          </a:p>
          <a:p>
            <a:r>
              <a:rPr lang="en-US" dirty="0"/>
              <a:t>A second, complementary view (He et al., ECCV 2016, 'Identity mappings'): the block's Jacobian is I + ∂F/∂x, so the backward product always contains a path with factor exactly 1. Residual connections are in essentially every modern deep architecture, including every Transformer block. Practical trick: initialize the last layer of each residual branch to zero (with normalization, its γ; Goyal et al., 2017) so every block starts as the identity. Real ResNet blocks also contain normalization layers (Appendix B1).</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 – 1:56]  A ravine is steep across and gentle along. The gradient is dominated by the steep direction, so plain SGD bounces between the walls and crawls along the floor: raise η and it diverges, lower it and progress stops. This is ill-conditioning (curvature ratio 25 here).</a:t>
            </a:r>
          </a:p>
          <a:p>
            <a:r>
              <a:rPr lang="en-US" dirty="0"/>
              <a:t>Fair comparison: computed runs, 40 steps each, on a ravine ROTATED by 30° (so it is not aligned with the coordinates, which would unfairly favour Adam's per-coordinate scaling), with each optimizer's learning rate TUNED by grid search for the lowest final loss. Final losses: SGD 8.6e-3 (η = 0.075), momentum 5.8e-3 (η = 0.016), Adam 6.9e-4 (η = 0.32); small_figures.py. A 2-D toy only: rankings on real networks depend on the problem and on tuning.</a:t>
            </a:r>
          </a:p>
          <a:p>
            <a:r>
              <a:rPr lang="en-US" dirty="0"/>
              <a:t>Momentum keeps a decaying sum of gradients: oscillating components cancel, consistent ones add up; with constant gradient the velocity tends to g/(1 − β) = 10g for β = 0.9 — so along a consistent direction its steps are up to 10× larger than plain SGD with the same η. Retune η when you switch; there is no fixed conversion factor (Quick check 6 notes give the exact limit on a quadratic). Adam rescales each coordinate by a running RMS of its own gradients.</a:t>
            </a:r>
          </a:p>
          <a:p>
            <a:r>
              <a:rPr lang="en-US" dirty="0"/>
              <a:t>Why Adam wins on this toy: the ravine is rotated, so Adam's per-coordinate scaling cannot line up with its axes. One plausible reason is its normalized, near-constant-size steps with its own tuned η, but Adam also has momentum and bias correction, and this experiment does not isolate which part helps. It shows only that, tuned for this 40-step budget on this quadratic, Adam reached the lowest loss — not that Adam is generally superior, and not that it 'adapts to the curvature'.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[1:58 – 2:02]  Adam (Kingma &amp; Ba, 2015) keeps a running mean of the gradient (momentum) and of its square (RMSProp), corrects both for starting at zero (with m₀ = 0, E[m_t] = (1 − β₁ᵗ)E[g]), and steps by their ratio — roughly a signal-to-noise ratio: consistent gradients give steps near ±η, noisy ones shrink the step.</a:t>
            </a:r>
          </a:p>
          <a:p>
            <a:r>
              <a:rPr lang="en-US" dirty="0"/>
              <a:t>AdamW (Loshchilov &amp; Hutter, 2019): with plain SGD, an L2 penalty equals weight decay; with Adam it does not, because the λθ term is divided by √v̂ and parameters with large gradient history are barely regularized. AdamW applies decay directly to the weights. Many libraries implement “Adam with weight decay” as the coupled L2 version. PyTorch session preview: Adam(weight_decay=…) is coupled L2 by default (recent versions add decoupled_weight_decay=True); AdamW is the decoupled one (default weight_decay = 0.01). Exclude biases and normalization parameters from decay.</a:t>
            </a:r>
          </a:p>
          <a:p>
            <a:r>
              <a:rPr lang="en-US" dirty="0"/>
              <a:t>SGD with momentum and a tuned schedule remains competitive for image classification; the Adam-versus-SGD generalization gap is real in some settings but small and recipe-dependent.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[1:56 – 1:58]  Peer instruction: everyone votes A–D silently; if votes split, 60 s with a neighbour, then revote.</a:t>
            </a:r>
          </a:p>
          <a:p>
            <a:r>
              <a:rPr lang="en-US" dirty="0"/>
              <a:t>Answer: B. On a quadratic, gradient descent converges only if η &lt; 2/λ_max (the gradient-descent slide). Rotating the ravine does not change its curvatures (1 and 25), so η &lt; 2/25 = 0.08; the tuned SGD rate on the ravine slide (0.075) sits just below it. At that η the gentle direction shrinks only by a factor (1 − 0.08 × 1) = 0.92 per step: the slow crawl that momentum and Adam address.</a:t>
            </a:r>
          </a:p>
          <a:p>
            <a:r>
              <a:rPr lang="en-US" dirty="0"/>
              <a:t>Distractors: A uses the gentle curvature; C (1/λ_max) solves the steep direction in one step but is not the stability limit; D confuses convexity (one minimum) with convergence for any step size.</a:t>
            </a:r>
          </a:p>
          <a:p>
            <a:r>
              <a:rPr lang="en-US" dirty="0"/>
              <a:t>For curious students: heavy-ball momentum (v ← βv + ∇J, θ ← θ − ηv) is stable on a quadratic for η &lt; 2(1 + β)/λ_max. In real networks there is no fixed rule: retune η by experiment when you switch optimizers.</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BatchNorm (Ioffe &amp; Szegedy, 2015) standardizes each feature (each channel in a CNN) over the mini-batch, then applies a learned scale γ and shift β — which can undo the normalization, so no representational power is lost.</a:t>
            </a:r>
          </a:p>
          <a:p>
            <a:r>
              <a:rPr lang="en-US" dirty="0"/>
              <a:t>Train vs eval: training uses the batch's mean and variance and updates running averages; eval uses the running averages, so predictions are deterministic and independent of the other examples in the batch. PyTorch's momentum = 0.1 is the weight of the NEW batch statistic. Detail: training-time normalization uses the biased batch variance, while the running variance stores the unbiased estimate. Forgetting evaluation mode is the classic bug (PyTorch: model.eval()): validation accuracy then changes with validation batch size; with batch size 1, BatchNorm2d normalizes each image by its own spatial statistics (BatchNorm1d raises an error).</a:t>
            </a:r>
          </a:p>
          <a:p>
            <a:r>
              <a:rPr lang="en-US" dirty="0"/>
              <a:t>Why it helps: the original "internal covariate shift" explanation is now doubted (Santurkar et al., 2018 injected extra shift and training still went well). A leading explanation (Santurkar et al., 2018), itself still debated: it smooths the loss landscape so larger learning rates are stable. Also: the output is invariant to the scale of the preceding weights; batch noise adds mild regularization.</a:t>
            </a:r>
          </a:p>
          <a:p>
            <a:r>
              <a:rPr lang="en-US" dirty="0"/>
              <a:t>Variants differ in which statistics they compute, over which axes, and whether evaluation uses the current input or accumulated statistics: LayerNorm (per example — Transformers), RMSNorm (no mean subtraction — many recent LLMs), GroupNorm (small-batch vision). Figure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 – 2:18]  The same MLP trained on only 1,000 of the 55,000 training images (Adam/AdamW, batch 100, 150 epochs), evaluated on the same 5,000 validation images; three seeds per configuration (fmnist_experiments.py; curves show seed 0). Without regularization, training loss reaches ≈ 0 (it memorizes) and validation loss bottoms out around epoch 9–12 (≈ 0.57), then climbs to ≈ 1.0.</a:t>
            </a:r>
          </a:p>
          <a:p>
            <a:r>
              <a:rPr lang="en-US" dirty="0"/>
              <a:t>Dropout (p = 0.5) and decoupled weight decay (AdamW, λ = 0.5 — large because the dataset is tiny) each slow the rise; together they give the lowest best validation loss in every seed (0.534 vs 0.572 on average). In accuracy at the best checkpoint the gain is only 0.4 points (81.1% vs 80.7%) — the same size as seed-to-seed variation and the ≈ 0.55-point sampling error of a 5,000-image validation set. Be honest with students: here regularization mainly improved validation cross-entropy, not accuracy (calibration was not measured separately).</a:t>
            </a:r>
          </a:p>
          <a:p>
            <a:r>
              <a:rPr lang="en-US" dirty="0"/>
              <a:t>Teaching caution: three seeds are too few to claim a reliable improvement; treat 0.57 → 0.53 as an observation. The big lesson is in the bar chart: 55× more data lifts accuracy to 89.1% (+8.4 points), far beyond any noise. That is why augmentation and transfer learning sit near the top of the remedy list.</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Classical statistics predicts a U-shaped test error against model size. Modern networks have far more parameters than examples and still generalize. Simulation (small_figures.py): least squares on p random ReLU features of 20-dimensional Gaussian inputs, n = 60 training points, noise sd 0.3, median of 30 runs.</a:t>
            </a:r>
          </a:p>
          <a:p>
            <a:r>
              <a:t>Unregularized (minimum-norm) fit: test error follows the U (best 0.51 at p = 13), PEAKS at the interpolation threshold p = n = 60 (18.8) — the model can only just fit the noisy training data and must contort — then descends again to 0.20 at p = 3000 (Belkin et al., 2019; deep networks: Nakkiran et al., 2020). With a ridge penalty (λ = 0.01) the peak disappears and the large model reaches 0.19.</a:t>
            </a:r>
          </a:p>
          <a:p>
            <a:r>
              <a:t>Honest caveat: this is not a law. Rerun the same script with 5-dimensional inputs and the classical optimum (0.088 at p = 18) beats the largest unregularized model (0.164). Whether more parameters help depends on the data, the model and the implicit or explicit regularization. Among many exact fits, minimum-norm solutions (which gradient descent from zero initialization finds for least squares) often generalize better than the worst interpolators — but minimum norm is not minimum roughness. Explicit regularization can remove the peak (Nakkiran et al., 2021).</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 – 2:15]  Weight decay adds (λ/2)‖W‖² to the loss, so every step first shrinks W by (1 − ηλ). Weight decay discourages large weights and can limit how sensitive the network is to input changes (for one sigmoid neuron, ‖w‖ sets the sharpness — Part 1; for a deep ReLU net, small layer norms bound its Lipschitz constant). Its actual effect on smoothness and generalization depends on the architecture and optimizer: for weights feeding a normalization layer the function is scale-invariant, and decay mostly acts by changing the effective learning rate; Bayesian reading: a zero-mean Gaussian prior. Typical λ: ≈ 10⁻⁴ – 5×10⁻⁴ for SGD on CNNs; 0.01 – 0.1 with AdamW. Weights only.</a:t>
            </a:r>
          </a:p>
          <a:p>
            <a:r>
              <a:rPr lang="en-US" dirty="0"/>
              <a:t>Dropout (Srivastava et al., 2014): during training zero each unit with probability p, independently per example and per pass, and divide survivors by 1 − p (inverted dropout) so E[a] matches test time, when dropout is off. Explanations: units cannot co-adapt; an implicit ensemble of 2ⁿ weight-sharing sub-networks; noise injection. Typical p: 0.5 for large fully connected layers, 0.1 in many Transformer recipes (many large-scale pre-training runs use none), little or none inside conv layers with batch normalization.</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[2:06 – 2:09]  For images, augmentation is usually the highest-leverage regularizer: a shirt is still a shirt after a small crop or brightness change, while every pixel changes. Think about each transform: horizontal flips suit clothes and natural photos but not digits or text; vertical flips suit satellite and microscopy images, not street scenes; rotation confuses 6 and 9.</a:t>
            </a:r>
          </a:p>
          <a:p>
            <a:r>
              <a:rPr lang="en-US" dirty="0"/>
              <a:t>Never augment validation or test data beyond deterministic resizing/cropping. Stronger methods: Mixup and CutMix (batch-level, producing probability targets), RandAugment/TrivialAugment, and label smoothing. PyTorch session preview: torchvision.transforms.v2 (RandomResizedCrop, RandomHorizontalFlip, ToImage + ToDtype, Normalize).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 – 2:06]  The training–validation gap tells you which problem you have. Validation loss slightly below training loss is usually normal: dropout and augmentation make training harder but are off at evaluation. Point to the teal box: our running example (the 20-epoch curves) sits in row 2 — training loss keeps falling (0.14) while validation loss rises after epoch 5 (0.33 → 0.38): early overfitting. The ladder that follows treats it, in this order; the next slides take rungs 3, then 1 and 4, then 5 and 6.</a:t>
            </a:r>
          </a:p>
          <a:p>
            <a:r>
              <a:rPr lang="en-US" dirty="0"/>
              <a:t>Always keep the checkpoint with the best validation metric — it is nearly free. That is different from early STOPPING (halting when validation stops improving): halting is optional and needs patience matched to the learning-rate schedule, because validation loss often improves again after a learning-rate drop.</a:t>
            </a:r>
          </a:p>
          <a:p>
            <a:r>
              <a:rPr lang="en-US" dirty="0"/>
              <a:t>Then, as a typical order (adapt it to the problem): more data if you can get it (often the most expensive option), augmentation, transfer learning from a pretrained model — for images with a pretrained backbone available, often the first thing to try — weight decay, dropout. Shrinking the model is the last resort: large, well-regularized models usually do at least as well (Appendix B3).</a:t>
            </a:r>
          </a:p>
          <a:p>
            <a:r>
              <a:rPr lang="en-US" dirty="0"/>
              <a:t>Before any of this (Karpathy, 2019): check that the model can overfit one small batch. If it cannot reach near-zero loss on 100 examples, suspect a bug first, then a setup error: learning rate, regularization or augmentation left on, too few steps.</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[2:18 – 2:20]  Peer instruction: everyone votes A–D silently; if votes split, 60 s with a neighbour, then revote.</a:t>
            </a:r>
          </a:p>
          <a:p>
            <a:r>
              <a:rPr lang="en-US" dirty="0"/>
              <a:t>Answer: B. The checks rule out a broken evaluation pipeline, and a related pretrained model exists, so transfer learning is a promising controlled experiment — not a guaranteed winner. Compare it with augmentation and a baseline on the same validation set. A train/validation gap alone cannot distinguish overfitting from data shift, leakage or label problems.</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together, as pseudocode (PyTorch session preview: torch.optim.AdamW, lr_scheduler.OneCycleLR(pct_start=0.1), nn.CrossEntropyLoss(label_smoothing=0.1), clip_grad_norm_, torch.save): AdamW with decoupled weight decay (in practice put biases and normalization parameters in a no-decay group); a one-cycle schedule stepped every BATCH. OneCycleLR's default pct_start is 0.3 (warm up over the first 30% of steps); here we set 0.1. It starts at max_lr/25, anneals with a cosine (anneal_strategy='cos') and ends near max_lr/(25·10⁴). With Adam-family optimizers its cycle_momentum=True default also cycles β₁ between 0.85 and 0.95 — silent unless you know it.</a:t>
            </a:r>
          </a:p>
          <a:p>
            <a:r>
              <a:rPr lang="en-US" dirty="0"/>
              <a:t>Label-smoothed cross-entropy; gradient clipping after backward and before step; evaluation in eval mode under torch.no_grad(); keep the best checkpoint by validation loss. zero_grad() sets gradients to None by default since PyTorch 2.0.</a:t>
            </a:r>
          </a:p>
          <a:p>
            <a:r>
              <a:rPr lang="en-US" dirty="0"/>
              <a:t>Warmup matters for Transformers and large batches because early gradients and Adam's second-moment estimates are unreliable (Goyal et al., 2017; Liu et al., 2020). Stepping a scheduler at the wrong frequency raises no error and silently changes the schedule: print the learning rate (B6).</a:t>
            </a:r>
          </a:p>
          <a:p>
            <a:r>
              <a:rPr lang="en-US" dirty="0"/>
              <a:t>The hyperparameters (weight decay 0.05, label smoothing 0.1, clipping at 1.0, pct_start 0.1) are illustrative starting points, not recommendations: validate them; for a small Fashion-MNIST MLP some are unnecessary.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 – 2:30]  Each part reduces to one sentence; if students can say these and justify them, they have the foundations. Then the one-minute exit ticket: "What was the muddiest point today?" on a card. Read them before next session and open with the top two.</a:t>
            </a:r>
          </a:p>
          <a:p>
            <a:r>
              <a:rPr lang="en-US" dirty="0"/>
              <a:t>Practice before next session, pen and paper only (answers): with x = 1 the forward pass gives z₁ = 0.6, a₁ = 0.6457, z₂ = 0.2166, a₂ = 0.5539, L = 0.0995; 784–256–10 has 200,960 + 2,570 = 203,530 parameters; first loss for 100 classes ≈ ln 100 = 4.61; BP2 for one hidden layer is δ[1] = (W[2]ᵀ δ[2]) ⊙ g′(z[1]); the loop is the five steps of the training-loop slide. Next session turns this pseudocode into PyTorch.</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A: review material for today's lecture. Appendix B (after it) goes further, for later sessions: material kept out of the lecture so the 150 minutes have room for the quick checks and questions.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review. Answers 1–4: C, B, B, B. Derive the reasons; do not ask students to memorize letters.</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review. Q5 RMS scaling under ReLU assumptions. Q6: the steepest curvature sets the stability limit η &lt; 2/λ_max for every direction. Q7: related pretrained model and checked evaluation are given; promising experiment, not guaranteed best.</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index layers; round brackets index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hidden layer suffices in principle (UAT), but depth can be exponentially more efficient. A tent map built from 2 ReLUs, composed k times, has 2^k linear pieces; a shallow network needs roughly one unit per piece. Telgarsky (COLT 2016): networks with Θ(k³) layers and Θ(1) nodes per layer cannot be approximated by networks with O(k) layers unless those have Ω(2^k) nodes. Montúfar et al. (2014): the number of linear regions of ReLU networks can grow exponentially with depth but only polynomially with width.
Parity is NOT a good example: n-bit parity needs only n hidden threshold units at depth 2 (shown in the 1986 PDP-volume chapter by Rumelhart, Hinton &amp; Williams); the exponential lower bounds for parity concern AND/OR circuits.
These are worst-case constructions; that real data rewards depth is an empirical, well-supported observation (compositional data; feature hierarchies visualized by Zeiler &amp; Fergus,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Reverse-mode differentiation: Linnainmaa (1970); proposed for networks by Werbos (1974); popularized by Rumelhart, Hinton &amp; Williams (1986). Deep learning took over around 2012, driven by data (ImageNet, 2009), GPUs and algorithmic training techniques — ReLU, careful initialization, dropout, then BatchNorm, residual connections and Adam — most of which Part 3 teaches. 2024 Nobel Prizes: Physics to Hopfield and Hinton; Chemistry to Baker, Hassabis and Jumper.</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Grinsztajn et al. (NeurIPS 2022): tree ensembles still outperformed deep models on typical medium-sized tabular benchmarks. TabPFN (Hollmann et al., Nature 2025), a pretrained tabular foundation model, outperformed tuned baselines on datasets up to 10,000 samples; TabPFN-2.5 (Prior Labs, November 2025) extends this to about 50,000 rows and 2,000 features. Fit a strong simple baseline first.</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losses take raw logits. PyTorch session preview: nn.MSELoss, nn.HuberLoss, nn.BCEWithLogitsLoss, nn.CrossEntropyLoss. CrossEntropyLoss accepts int64 class indices (m,) or float class probabilities (m, K) since PyTorch 1.10 (used by label smoothing, Mixup, CutMix). Match prediction and target shapes exactly for MSELoss: (m, 1) vs (m,) broadcasts to (m, m) with only a warning.</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BatchNorm, LayerNorm, GroupNorm and InstanceNorm compute (x − mean)/std over different axes, then a learned scale and shift; they also differ in how statistics are used (BatchNorm switches to running averages at evaluation; the others use the current example). Teal cells share one mean and variance; height and width are always pooled. RMSNorm (Zhang &amp; Sennrich, 2019) drops the mean subtraction.</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step frequency raises no error and silently changes the schedule. Print the current learning rate every epoch (PyTorch: optimizer.param_groups[0]["lr"]; schedulers OneCycleLR, LambdaLR, CosineAnnealingLR, MultiStepLR, ReduceLROnPlateau).</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centred difference (error O(ε²)) and a relative error. Use float64, make the loss deterministic (dropout off), and check a random subset of parameters: each check costs two forward passes. Thresholds follow the CS231n notes: above 10⁻² the gradient is probably wrong; 10⁻² to 10⁻⁴ is uncomfortable; below 10⁻⁴ is usually fine for losses with kinks (ReLU at 0) but too high for smooth ones (tanh, softmax); 10⁻⁷ or less is correct.</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Primary sources for the claims in this deck, plus textbooks and courses.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Going further, for later sessions: B1–B3 cover normalization and double descent; B4–B7 support the coding sessions, ending with a full training recipe. All code here is pseudocode; the notes name the PyTorch calls.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[0:58 – 1:00]  Logistic regression’s loss is convex: one bowl, one minimum, any start works. A network’s loss is non-convex: many valleys (local minima), flat regions and saddle points, and many equivalent solutions (swap two hidden units and the function is unchanged).</a:t>
            </a:r>
          </a:p>
          <a:p>
            <a:r>
              <a:rPr lang="en-US" dirty="0"/>
              <a:t>Left (new_figures.py, deterministic): plain gradient descent from three starting weights ends in three different valleys. Right: gradient descent on J(u, v) = u² − v² + v⁴/2, started next to the saddle point at the origin: the loss drops, stalls while the escape direction grows slowly, then drops again. A plateau in a real training curve can look like this.</a:t>
            </a:r>
          </a:p>
          <a:p>
            <a:r>
              <a:rPr lang="en-US" dirty="0"/>
              <a:t>Why training still works: in large networks, most minima that gradient descent reaches have similar loss, and saddle points rather than bad minima are the main obstacle (Dauphin et al., 2014; Choromanska et al., 2015). Mini-batch noise and momentum help escape flat regions.</a:t>
            </a:r>
          </a:p>
          <a:p>
            <a:r>
              <a:rPr lang="en-US" dirty="0"/>
              <a:t>Practical lesson: the random seed sets the initial weights and the order of the mini-batches, so results vary from run to run. That is why this deck reports three seeds for the running example.</a:t>
            </a:r>
          </a:p>
          <a:p>
            <a:r>
              <a:rPr lang="en-US" dirty="0"/>
              <a:t>Bridge: every step so far used all 55,000 images; next, cheaper steps with mini-batches.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 – 1:07]  Build 1 of 4 — students compute. Give about 3 minutes; pairs are fine. Two scalar neurons, both sigmoid, toy loss L = ½(a₂ − y)², chosen so every chain-rule step is visible (for classification we would use cross-entropy).</a:t>
            </a:r>
          </a:p>
          <a:p>
            <a:r>
              <a:rPr lang="en-US" dirty="0"/>
              <a:t>Ask for z₁, a₁, z₂, a₂ and L to four decimals. Answers on the next slide: 1.1, 0.7503, 0.3002, 0.5745, 0.0905. Common slip: forgetting b₂ = −0.3.</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[2:09 – 2:11]  Rungs 1 and 4 of the remedy ladder. Transfer learning reuses the “reusable features” idea from Part 1: a network trained on a large dataset (for images, e.g. ImageNet) already has useful edge and texture detectors.</a:t>
            </a:r>
          </a:p>
          <a:p>
            <a:r>
              <a:rPr lang="en-US" dirty="0"/>
              <a:t>Two ways: (1) freeze the pretrained extractor and train only a new output layer — fast, best with very little data; (2) fine-tune: then update all layers with a small learning rate (often 10× smaller than from scratch), best when your data differ more from the original. The new output layer has as many units as your classes.</a:t>
            </a:r>
          </a:p>
          <a:p>
            <a:r>
              <a:rPr lang="en-US" dirty="0"/>
              <a:t>Early stopping: halt when validation stops improving for some number of epochs (the “patience”), and keep the best checkpoint. Keeping the best checkpoint is nearly free; halting early is optional and its patience must suit the learning-rate schedule, since validation loss can improve again after a learning-rate drop.</a:t>
            </a:r>
          </a:p>
          <a:p>
            <a:r>
              <a:rPr lang="en-US" dirty="0"/>
              <a:t>Quick check 7 at the end of Part 3 tests this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7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7202E"/>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rtlCol="0"/>
          <a:lstStyle>
            <a:lvl1pPr indent="0" marL="0">
              <a:buNone/>
              <a:defRPr lang="en-US" sz="1400" b="1" spc="300" kern="0" dirty="0">
                <a:solidFill>
                  <a:srgbClr val="7FD1CF"/>
                </a:solidFill>
                <a:latin typeface="Calibri" pitchFamily="34" charset="0"/>
                <a:ea typeface="Calibri" pitchFamily="34" charset="-122"/>
                <a:cs typeface="Calibri" pitchFamily="34" charset="-120"/>
              </a:defRPr>
            </a:lvl1pPr>
          </a:lstStyle>
          <a:p>
            <a:pPr indent="0" marL="0">
              <a:buNone/>
            </a:pP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rtlCol="0"/>
          <a:lstStyle>
            <a:lvl1pPr algn="l" indent="0" marL="0">
              <a:buNone/>
              <a:defRPr lang="en-US" sz="36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rtlCol="0"/>
          <a:lstStyle>
            <a:lvl1pPr indent="0" marL="0">
              <a:buNone/>
              <a:defRPr lang="en-US" sz="1800" dirty="0">
                <a:solidFill>
                  <a:srgbClr val="C9D3DF"/>
                </a:solidFill>
                <a:latin typeface="Calibri" pitchFamily="34" charset="0"/>
                <a:ea typeface="Calibri" pitchFamily="34" charset="-122"/>
                <a:cs typeface="Calibri" pitchFamily="34" charset="-120"/>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rtlCol="0"/>
          <a:lstStyle>
            <a:lvl1pPr indent="0" marL="0">
              <a:buNone/>
              <a:defRPr lang="en-US" sz="1200" b="1" spc="200" kern="0" dirty="0">
                <a:solidFill>
                  <a:srgbClr val="0F7C82"/>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rtlCol="0"/>
          <a:lstStyle>
            <a:lvl1pPr algn="l" indent="0" marL="0">
              <a:buNone/>
              <a:defRPr lang="en-US" sz="3200" b="1" dirty="0">
                <a:solidFill>
                  <a:srgbClr val="17202E"/>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1100" dirty="0">
                <a:solidFill>
                  <a:srgbClr val="8A94A3"/>
                </a:solidFill>
                <a:latin typeface="Calibri" pitchFamily="34" charset="0"/>
                <a:ea typeface="Calibri" pitchFamily="34" charset="-122"/>
                <a:cs typeface="Calibri" pitchFamily="34" charset="-120"/>
              </a:rPr>
              <a:t>Deep Neural Networks  ·  Session 1</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6.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4.xml"/><Relationship Id="rId4" Type="http://schemas.openxmlformats.org/officeDocument/2006/relationships/notesSlide" Target="../notesSlides/notesSlide21.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2.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4.xml"/><Relationship Id="rId5" Type="http://schemas.openxmlformats.org/officeDocument/2006/relationships/notesSlide" Target="../notesSlides/notesSlide23.xml"/></Relationships>
</file>

<file path=ppt/slides/_rels/slide23.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chart" Target="../charts/chart7.xml"/><Relationship Id="rId3" Type="http://schemas.openxmlformats.org/officeDocument/2006/relationships/image" Target="../media/image-24-1.png"/><Relationship Id="rId4" Type="http://schemas.openxmlformats.org/officeDocument/2006/relationships/image" Target="../media/image-24-2.png"/><Relationship Id="rId5"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4.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image" Target="../media/image-25-1.png"/><Relationship Id="rId3" Type="http://schemas.openxmlformats.org/officeDocument/2006/relationships/image" Target="../media/image-25-2.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image" Target="../media/image-27-1.png"/><Relationship Id="rId3" Type="http://schemas.openxmlformats.org/officeDocument/2006/relationships/image" Target="../media/image-27-2.png"/><Relationship Id="rId4" Type="http://schemas.openxmlformats.org/officeDocument/2006/relationships/slideLayout" Target="../slideLayouts/slideLayout4.xml"/><Relationship Id="rId5" Type="http://schemas.openxmlformats.org/officeDocument/2006/relationships/notesSlide" Target="../notesSlides/notesSlide27.xml"/></Relationships>
</file>

<file path=ppt/slides/_rels/slide2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28.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4.xml"/><Relationship Id="rId6" Type="http://schemas.openxmlformats.org/officeDocument/2006/relationships/notesSlide" Target="../notesSlides/notesSlide35.xml"/></Relationships>
</file>

<file path=ppt/slides/_rels/slide29.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4.xml"/><Relationship Id="rId3"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4.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slideLayout" Target="../slideLayouts/slideLayout4.xml"/><Relationship Id="rId7"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4.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chart" Target="../charts/chart11.xml"/><Relationship Id="rId3" Type="http://schemas.openxmlformats.org/officeDocument/2006/relationships/slideLayout" Target="../slideLayouts/slideLayout4.xml"/><Relationship Id="rId4" Type="http://schemas.openxmlformats.org/officeDocument/2006/relationships/notesSlide" Target="../notesSlides/notesSlide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1.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chart" Target="../charts/chart12.xml"/><Relationship Id="rId3" Type="http://schemas.openxmlformats.org/officeDocument/2006/relationships/slideLayout" Target="../slideLayouts/slideLayout4.xml"/><Relationship Id="rId4" Type="http://schemas.openxmlformats.org/officeDocument/2006/relationships/notesSlide" Target="../notesSlides/notesSlide42.xml"/></Relationships>
</file>

<file path=ppt/slides/_rels/slide42.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4.xml"/><Relationship Id="rId4" Type="http://schemas.openxmlformats.org/officeDocument/2006/relationships/notesSlide" Target="../notesSlides/notesSlide43.xml"/></Relationships>
</file>

<file path=ppt/slides/_rels/slide43.xml.rels><?xml version='1.0' encoding='UTF-8' standalone='yes'?>
<Relationships xmlns="http://schemas.openxmlformats.org/package/2006/relationships"><Relationship Id="rId1" Type="http://schemas.openxmlformats.org/officeDocument/2006/relationships/chart" Target="../charts/chart13.xml"/><Relationship Id="rId2" Type="http://schemas.openxmlformats.org/officeDocument/2006/relationships/slideLayout" Target="../slideLayouts/slideLayout4.xml"/><Relationship Id="rId3" Type="http://schemas.openxmlformats.org/officeDocument/2006/relationships/notesSlide" Target="../notesSlides/notesSlide4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5.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4.xml"/><Relationship Id="rId4" Type="http://schemas.openxmlformats.org/officeDocument/2006/relationships/notesSlide" Target="../notesSlides/notesSlide46.xml"/></Relationships>
</file>

<file path=ppt/slides/_rels/slide46.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4.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0.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image" Target="../media/image-53-3.png"/><Relationship Id="rId4" Type="http://schemas.openxmlformats.org/officeDocument/2006/relationships/slideLayout" Target="../slideLayouts/slideLayout4.xml"/><Relationship Id="rId5" Type="http://schemas.openxmlformats.org/officeDocument/2006/relationships/notesSlide" Target="../notesSlides/notesSlide5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2.xml.rels><?xml version='1.0' encoding='UTF-8' standalone='yes'?>
<Relationships xmlns="http://schemas.openxmlformats.org/package/2006/relationships"><Relationship Id="rId1" Type="http://schemas.openxmlformats.org/officeDocument/2006/relationships/chart" Target="../charts/chart14.xml"/><Relationship Id="rId2" Type="http://schemas.openxmlformats.org/officeDocument/2006/relationships/chart" Target="../charts/chart15.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59.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4.xml"/><Relationship Id="rId3" Type="http://schemas.openxmlformats.org/officeDocument/2006/relationships/notesSlide" Target="../notesSlides/notesSlide6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2.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64.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65.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4.xml"/><Relationship Id="rId3" Type="http://schemas.openxmlformats.org/officeDocument/2006/relationships/notesSlide" Target="../notesSlides/notesSlide67.xml"/></Relationships>
</file>

<file path=ppt/slides/_rels/slide66.xml.rels><?xml version='1.0' encoding='UTF-8' standalone='yes'?>
<Relationships xmlns="http://schemas.openxmlformats.org/package/2006/relationships"><Relationship Id="rId1" Type="http://schemas.openxmlformats.org/officeDocument/2006/relationships/chart" Target="../charts/chart16.xml"/><Relationship Id="rId2" Type="http://schemas.openxmlformats.org/officeDocument/2006/relationships/slideLayout" Target="../slideLayouts/slideLayout4.xml"/><Relationship Id="rId3" Type="http://schemas.openxmlformats.org/officeDocument/2006/relationships/notesSlide" Target="../notesSlides/notesSlide5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70.xml.rels><?xml version='1.0' encoding='UTF-8' standalone='yes'?>
<Relationships xmlns="http://schemas.openxmlformats.org/package/2006/relationships"><Relationship Id="rId1" Type="http://schemas.openxmlformats.org/officeDocument/2006/relationships/chart" Target="../charts/chart17.xml"/><Relationship Id="rId2" Type="http://schemas.openxmlformats.org/officeDocument/2006/relationships/slideLayout" Target="../slideLayouts/slideLayout4.xml"/><Relationship Id="rId3" Type="http://schemas.openxmlformats.org/officeDocument/2006/relationships/notesSlide" Target="../notesSlides/notesSlide5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0.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3.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74.xml"/></Relationships>
</file>

<file path=ppt/slides/_rels/slide74.xml.rels><?xml version='1.0' encoding='UTF-8' standalone='yes'?>
<Relationships xmlns="http://schemas.openxmlformats.org/package/2006/relationships"><Relationship Id="rId1" Type="http://schemas.openxmlformats.org/officeDocument/2006/relationships/image" Target="../media/image-loss-landscape.png"/><Relationship Id="rId3" Type="http://schemas.openxmlformats.org/officeDocument/2006/relationships/slideLayout" Target="../slideLayouts/slideLayout4.xml"/><Relationship Id="rId4" Type="http://schemas.openxmlformats.org/officeDocument/2006/relationships/notesSlide" Target="../notesSlides/notesSlide73.xml"/></Relationships>
</file>

<file path=ppt/slides/_rels/slide75.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6766560" cy="201168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Deep neural networks: from one neuron to networks that train</a:t>
            </a:r>
            <a:endParaRPr lang="en-US" sz="4000" dirty="0"/>
          </a:p>
        </p:txBody>
      </p:sp>
      <p:sp>
        <p:nvSpPr>
          <p:cNvPr id="3" name="Text 0"/>
          <p:cNvSpPr/>
          <p:nvPr>
            <p:ph idx="101" type="body" hasCustomPrompt="1"/>
          </p:nvPr>
        </p:nvSpPr>
        <p:spPr>
          <a:xfrm>
            <a:off x="548640" y="4023360"/>
            <a:ext cx="6400800" cy="1097280"/>
          </a:xfrm>
          <a:prstGeom prst="rect">
            <a:avLst/>
          </a:prstGeom>
          <a:noFill/>
          <a:ln/>
        </p:spPr>
        <p:txBody>
          <a:bodyPr wrap="square" lIns="0" tIns="0" rIns="0" bIns="0" rtlCol="0" anchor="t"/>
          <a:lstStyle/>
          <a:p>
            <a:pPr indent="0" marL="0">
              <a:buNone/>
            </a:pPr>
            <a:r>
              <a:rPr lang="en-US" sz="1800" dirty="0">
                <a:solidFill>
                  <a:srgbClr val="C9D3DF"/>
                </a:solidFill>
                <a:latin typeface="Calibri" pitchFamily="34" charset="0"/>
                <a:ea typeface="Calibri" pitchFamily="34" charset="-122"/>
                <a:cs typeface="Calibri" pitchFamily="34" charset="-120"/>
              </a:rPr>
              <a:t>Foundations  ·  Learning  ·  Training and generalization</a:t>
            </a:r>
            <a:endParaRPr lang="en-US" sz="1800" dirty="0"/>
          </a:p>
        </p:txBody>
      </p:sp>
      <p:sp>
        <p:nvSpPr>
          <p:cNvPr id="4" name="Text 2"/>
          <p:cNvSpPr txBox="1"/>
          <p:nvPr/>
        </p:nvSpPr>
        <p:spPr>
          <a:xfrm>
            <a:off x="548640" y="1371600"/>
            <a:ext cx="6858000" cy="274320"/>
          </a:xfrm>
          <a:prstGeom prst="rect">
            <a:avLst/>
          </a:prstGeom>
          <a:noFill/>
          <a:ln/>
        </p:spPr>
        <p:txBody>
          <a:bodyPr wrap="square" lIns="0" tIns="0" rIns="0" bIns="0" rtlCol="0" anchor="t"/>
          <a:lstStyle/>
          <a:p>
            <a:pPr indent="0" marL="0">
              <a:buNone/>
            </a:pPr>
            <a:r>
              <a:rPr lang="en-US" sz="1400" b="1" spc="300" kern="0" dirty="0">
                <a:solidFill>
                  <a:srgbClr val="7FD1CF"/>
                </a:solidFill>
                <a:latin typeface="Calibri" pitchFamily="34" charset="0"/>
                <a:ea typeface="Calibri" pitchFamily="34" charset="-122"/>
                <a:cs typeface="Calibri" pitchFamily="34" charset="-120"/>
              </a:rPr>
              <a:t>SESSION 1  ·  150 MINUTES  ·  UNDERGRADUATE ENGINEERING</a:t>
            </a:r>
            <a:endParaRPr lang="en-US" sz="1400" dirty="0"/>
          </a:p>
        </p:txBody>
      </p:sp>
      <p:sp>
        <p:nvSpPr>
          <p:cNvPr id="5" name="Shape 3"/>
          <p:cNvSpPr/>
          <p:nvPr/>
        </p:nvSpPr>
        <p:spPr>
          <a:xfrm flipV="1">
            <a:off x="7845552" y="2002536"/>
            <a:ext cx="1170432" cy="713232"/>
          </a:xfrm>
          <a:prstGeom prst="line">
            <a:avLst/>
          </a:prstGeom>
          <a:noFill/>
          <a:ln w="11430">
            <a:solidFill>
              <a:srgbClr val="33445C"/>
            </a:solidFill>
            <a:prstDash val="solid"/>
          </a:ln>
        </p:spPr>
      </p:sp>
      <p:sp>
        <p:nvSpPr>
          <p:cNvPr id="6" name="Shape 4"/>
          <p:cNvSpPr/>
          <p:nvPr/>
        </p:nvSpPr>
        <p:spPr>
          <a:xfrm>
            <a:off x="7845552" y="2715768"/>
            <a:ext cx="1170432" cy="91"/>
          </a:xfrm>
          <a:prstGeom prst="line">
            <a:avLst/>
          </a:prstGeom>
          <a:noFill/>
          <a:ln w="11430">
            <a:solidFill>
              <a:srgbClr val="33445C"/>
            </a:solidFill>
            <a:prstDash val="solid"/>
          </a:ln>
        </p:spPr>
      </p:sp>
      <p:sp>
        <p:nvSpPr>
          <p:cNvPr id="7" name="Shape 5"/>
          <p:cNvSpPr/>
          <p:nvPr/>
        </p:nvSpPr>
        <p:spPr>
          <a:xfrm>
            <a:off x="7845552" y="2715768"/>
            <a:ext cx="1170432" cy="713232"/>
          </a:xfrm>
          <a:prstGeom prst="line">
            <a:avLst/>
          </a:prstGeom>
          <a:noFill/>
          <a:ln w="11430">
            <a:solidFill>
              <a:srgbClr val="33445C"/>
            </a:solidFill>
            <a:prstDash val="solid"/>
          </a:ln>
        </p:spPr>
      </p:sp>
      <p:sp>
        <p:nvSpPr>
          <p:cNvPr id="8" name="Shape 6"/>
          <p:cNvSpPr/>
          <p:nvPr/>
        </p:nvSpPr>
        <p:spPr>
          <a:xfrm>
            <a:off x="7845552" y="2715768"/>
            <a:ext cx="1170432" cy="1426464"/>
          </a:xfrm>
          <a:prstGeom prst="line">
            <a:avLst/>
          </a:prstGeom>
          <a:noFill/>
          <a:ln w="11430">
            <a:solidFill>
              <a:srgbClr val="33445C"/>
            </a:solidFill>
            <a:prstDash val="solid"/>
          </a:ln>
        </p:spPr>
      </p:sp>
      <p:sp>
        <p:nvSpPr>
          <p:cNvPr id="9" name="Shape 7"/>
          <p:cNvSpPr/>
          <p:nvPr/>
        </p:nvSpPr>
        <p:spPr>
          <a:xfrm>
            <a:off x="7845552" y="2715768"/>
            <a:ext cx="1170432" cy="2139696"/>
          </a:xfrm>
          <a:prstGeom prst="line">
            <a:avLst/>
          </a:prstGeom>
          <a:noFill/>
          <a:ln w="11430">
            <a:solidFill>
              <a:srgbClr val="33445C"/>
            </a:solidFill>
            <a:prstDash val="solid"/>
          </a:ln>
        </p:spPr>
      </p:sp>
      <p:sp>
        <p:nvSpPr>
          <p:cNvPr id="10" name="Shape 8"/>
          <p:cNvSpPr/>
          <p:nvPr/>
        </p:nvSpPr>
        <p:spPr>
          <a:xfrm flipV="1">
            <a:off x="7845552" y="2002536"/>
            <a:ext cx="1170432" cy="1426464"/>
          </a:xfrm>
          <a:prstGeom prst="line">
            <a:avLst/>
          </a:prstGeom>
          <a:noFill/>
          <a:ln w="11430">
            <a:solidFill>
              <a:srgbClr val="33445C"/>
            </a:solidFill>
            <a:prstDash val="solid"/>
          </a:ln>
        </p:spPr>
      </p:sp>
      <p:sp>
        <p:nvSpPr>
          <p:cNvPr id="11" name="Shape 9"/>
          <p:cNvSpPr/>
          <p:nvPr/>
        </p:nvSpPr>
        <p:spPr>
          <a:xfrm flipV="1">
            <a:off x="7845552" y="2715768"/>
            <a:ext cx="1170432" cy="713232"/>
          </a:xfrm>
          <a:prstGeom prst="line">
            <a:avLst/>
          </a:prstGeom>
          <a:noFill/>
          <a:ln w="11430">
            <a:solidFill>
              <a:srgbClr val="33445C"/>
            </a:solidFill>
            <a:prstDash val="solid"/>
          </a:ln>
        </p:spPr>
      </p:sp>
      <p:sp>
        <p:nvSpPr>
          <p:cNvPr id="12" name="Shape 10"/>
          <p:cNvSpPr/>
          <p:nvPr/>
        </p:nvSpPr>
        <p:spPr>
          <a:xfrm>
            <a:off x="7845552" y="3429000"/>
            <a:ext cx="1170432" cy="91"/>
          </a:xfrm>
          <a:prstGeom prst="line">
            <a:avLst/>
          </a:prstGeom>
          <a:noFill/>
          <a:ln w="28575">
            <a:solidFill>
              <a:srgbClr val="C8571B"/>
            </a:solidFill>
            <a:prstDash val="solid"/>
          </a:ln>
        </p:spPr>
      </p:sp>
      <p:sp>
        <p:nvSpPr>
          <p:cNvPr id="13" name="Shape 11"/>
          <p:cNvSpPr/>
          <p:nvPr/>
        </p:nvSpPr>
        <p:spPr>
          <a:xfrm>
            <a:off x="7845552" y="3429000"/>
            <a:ext cx="1170432" cy="713232"/>
          </a:xfrm>
          <a:prstGeom prst="line">
            <a:avLst/>
          </a:prstGeom>
          <a:noFill/>
          <a:ln w="11430">
            <a:solidFill>
              <a:srgbClr val="33445C"/>
            </a:solidFill>
            <a:prstDash val="solid"/>
          </a:ln>
        </p:spPr>
      </p:sp>
      <p:sp>
        <p:nvSpPr>
          <p:cNvPr id="14" name="Shape 12"/>
          <p:cNvSpPr/>
          <p:nvPr/>
        </p:nvSpPr>
        <p:spPr>
          <a:xfrm>
            <a:off x="7845552" y="3429000"/>
            <a:ext cx="1170432" cy="1426464"/>
          </a:xfrm>
          <a:prstGeom prst="line">
            <a:avLst/>
          </a:prstGeom>
          <a:noFill/>
          <a:ln w="11430">
            <a:solidFill>
              <a:srgbClr val="33445C"/>
            </a:solidFill>
            <a:prstDash val="solid"/>
          </a:ln>
        </p:spPr>
      </p:sp>
      <p:sp>
        <p:nvSpPr>
          <p:cNvPr id="15" name="Shape 13"/>
          <p:cNvSpPr/>
          <p:nvPr/>
        </p:nvSpPr>
        <p:spPr>
          <a:xfrm flipV="1">
            <a:off x="7845552" y="2002536"/>
            <a:ext cx="1170432" cy="2139696"/>
          </a:xfrm>
          <a:prstGeom prst="line">
            <a:avLst/>
          </a:prstGeom>
          <a:noFill/>
          <a:ln w="11430">
            <a:solidFill>
              <a:srgbClr val="33445C"/>
            </a:solidFill>
            <a:prstDash val="solid"/>
          </a:ln>
        </p:spPr>
      </p:sp>
      <p:sp>
        <p:nvSpPr>
          <p:cNvPr id="16" name="Shape 14"/>
          <p:cNvSpPr/>
          <p:nvPr/>
        </p:nvSpPr>
        <p:spPr>
          <a:xfrm flipV="1">
            <a:off x="7845552" y="2715768"/>
            <a:ext cx="1170432" cy="1426464"/>
          </a:xfrm>
          <a:prstGeom prst="line">
            <a:avLst/>
          </a:prstGeom>
          <a:noFill/>
          <a:ln w="11430">
            <a:solidFill>
              <a:srgbClr val="33445C"/>
            </a:solidFill>
            <a:prstDash val="solid"/>
          </a:ln>
        </p:spPr>
      </p:sp>
      <p:sp>
        <p:nvSpPr>
          <p:cNvPr id="17" name="Shape 15"/>
          <p:cNvSpPr/>
          <p:nvPr/>
        </p:nvSpPr>
        <p:spPr>
          <a:xfrm flipV="1">
            <a:off x="7845552" y="3429000"/>
            <a:ext cx="1170432" cy="713232"/>
          </a:xfrm>
          <a:prstGeom prst="line">
            <a:avLst/>
          </a:prstGeom>
          <a:noFill/>
          <a:ln w="11430">
            <a:solidFill>
              <a:srgbClr val="33445C"/>
            </a:solidFill>
            <a:prstDash val="solid"/>
          </a:ln>
        </p:spPr>
      </p:sp>
      <p:sp>
        <p:nvSpPr>
          <p:cNvPr id="18" name="Shape 16"/>
          <p:cNvSpPr/>
          <p:nvPr/>
        </p:nvSpPr>
        <p:spPr>
          <a:xfrm>
            <a:off x="7845552" y="4142232"/>
            <a:ext cx="1170432" cy="91"/>
          </a:xfrm>
          <a:prstGeom prst="line">
            <a:avLst/>
          </a:prstGeom>
          <a:noFill/>
          <a:ln w="11430">
            <a:solidFill>
              <a:srgbClr val="33445C"/>
            </a:solidFill>
            <a:prstDash val="solid"/>
          </a:ln>
        </p:spPr>
      </p:sp>
      <p:sp>
        <p:nvSpPr>
          <p:cNvPr id="19" name="Shape 17"/>
          <p:cNvSpPr/>
          <p:nvPr/>
        </p:nvSpPr>
        <p:spPr>
          <a:xfrm>
            <a:off x="7845552" y="4142232"/>
            <a:ext cx="1170432" cy="713232"/>
          </a:xfrm>
          <a:prstGeom prst="line">
            <a:avLst/>
          </a:prstGeom>
          <a:noFill/>
          <a:ln w="11430">
            <a:solidFill>
              <a:srgbClr val="33445C"/>
            </a:solidFill>
            <a:prstDash val="solid"/>
          </a:ln>
        </p:spPr>
      </p:sp>
      <p:sp>
        <p:nvSpPr>
          <p:cNvPr id="20" name="Shape 18"/>
          <p:cNvSpPr/>
          <p:nvPr/>
        </p:nvSpPr>
        <p:spPr>
          <a:xfrm>
            <a:off x="9015984" y="2002536"/>
            <a:ext cx="1170432" cy="91"/>
          </a:xfrm>
          <a:prstGeom prst="line">
            <a:avLst/>
          </a:prstGeom>
          <a:noFill/>
          <a:ln w="11430">
            <a:solidFill>
              <a:srgbClr val="33445C"/>
            </a:solidFill>
            <a:prstDash val="solid"/>
          </a:ln>
        </p:spPr>
      </p:sp>
      <p:sp>
        <p:nvSpPr>
          <p:cNvPr id="21" name="Shape 19"/>
          <p:cNvSpPr/>
          <p:nvPr/>
        </p:nvSpPr>
        <p:spPr>
          <a:xfrm>
            <a:off x="9015984" y="2002536"/>
            <a:ext cx="1170432" cy="713232"/>
          </a:xfrm>
          <a:prstGeom prst="line">
            <a:avLst/>
          </a:prstGeom>
          <a:noFill/>
          <a:ln w="11430">
            <a:solidFill>
              <a:srgbClr val="33445C"/>
            </a:solidFill>
            <a:prstDash val="solid"/>
          </a:ln>
        </p:spPr>
      </p:sp>
      <p:sp>
        <p:nvSpPr>
          <p:cNvPr id="22" name="Shape 20"/>
          <p:cNvSpPr/>
          <p:nvPr/>
        </p:nvSpPr>
        <p:spPr>
          <a:xfrm>
            <a:off x="9015984" y="2002536"/>
            <a:ext cx="1170432" cy="1426464"/>
          </a:xfrm>
          <a:prstGeom prst="line">
            <a:avLst/>
          </a:prstGeom>
          <a:noFill/>
          <a:ln w="11430">
            <a:solidFill>
              <a:srgbClr val="33445C"/>
            </a:solidFill>
            <a:prstDash val="solid"/>
          </a:ln>
        </p:spPr>
      </p:sp>
      <p:sp>
        <p:nvSpPr>
          <p:cNvPr id="23" name="Shape 21"/>
          <p:cNvSpPr/>
          <p:nvPr/>
        </p:nvSpPr>
        <p:spPr>
          <a:xfrm>
            <a:off x="9015984" y="2002536"/>
            <a:ext cx="1170432" cy="2139696"/>
          </a:xfrm>
          <a:prstGeom prst="line">
            <a:avLst/>
          </a:prstGeom>
          <a:noFill/>
          <a:ln w="11430">
            <a:solidFill>
              <a:srgbClr val="33445C"/>
            </a:solidFill>
            <a:prstDash val="solid"/>
          </a:ln>
        </p:spPr>
      </p:sp>
      <p:sp>
        <p:nvSpPr>
          <p:cNvPr id="24" name="Shape 22"/>
          <p:cNvSpPr/>
          <p:nvPr/>
        </p:nvSpPr>
        <p:spPr>
          <a:xfrm>
            <a:off x="9015984" y="2002536"/>
            <a:ext cx="1170432" cy="2852928"/>
          </a:xfrm>
          <a:prstGeom prst="line">
            <a:avLst/>
          </a:prstGeom>
          <a:noFill/>
          <a:ln w="11430">
            <a:solidFill>
              <a:srgbClr val="33445C"/>
            </a:solidFill>
            <a:prstDash val="solid"/>
          </a:ln>
        </p:spPr>
      </p:sp>
      <p:sp>
        <p:nvSpPr>
          <p:cNvPr id="25" name="Shape 23"/>
          <p:cNvSpPr/>
          <p:nvPr/>
        </p:nvSpPr>
        <p:spPr>
          <a:xfrm flipV="1">
            <a:off x="9015984" y="2002536"/>
            <a:ext cx="1170432" cy="713232"/>
          </a:xfrm>
          <a:prstGeom prst="line">
            <a:avLst/>
          </a:prstGeom>
          <a:noFill/>
          <a:ln w="11430">
            <a:solidFill>
              <a:srgbClr val="33445C"/>
            </a:solidFill>
            <a:prstDash val="solid"/>
          </a:ln>
        </p:spPr>
      </p:sp>
      <p:sp>
        <p:nvSpPr>
          <p:cNvPr id="26" name="Shape 24"/>
          <p:cNvSpPr/>
          <p:nvPr/>
        </p:nvSpPr>
        <p:spPr>
          <a:xfrm>
            <a:off x="9015984" y="2715768"/>
            <a:ext cx="1170432" cy="91"/>
          </a:xfrm>
          <a:prstGeom prst="line">
            <a:avLst/>
          </a:prstGeom>
          <a:noFill/>
          <a:ln w="11430">
            <a:solidFill>
              <a:srgbClr val="33445C"/>
            </a:solidFill>
            <a:prstDash val="solid"/>
          </a:ln>
        </p:spPr>
      </p:sp>
      <p:sp>
        <p:nvSpPr>
          <p:cNvPr id="27" name="Shape 25"/>
          <p:cNvSpPr/>
          <p:nvPr/>
        </p:nvSpPr>
        <p:spPr>
          <a:xfrm>
            <a:off x="9015984" y="2715768"/>
            <a:ext cx="1170432" cy="713232"/>
          </a:xfrm>
          <a:prstGeom prst="line">
            <a:avLst/>
          </a:prstGeom>
          <a:noFill/>
          <a:ln w="11430">
            <a:solidFill>
              <a:srgbClr val="33445C"/>
            </a:solidFill>
            <a:prstDash val="solid"/>
          </a:ln>
        </p:spPr>
      </p:sp>
      <p:sp>
        <p:nvSpPr>
          <p:cNvPr id="28" name="Shape 26"/>
          <p:cNvSpPr/>
          <p:nvPr/>
        </p:nvSpPr>
        <p:spPr>
          <a:xfrm>
            <a:off x="9015984" y="2715768"/>
            <a:ext cx="1170432" cy="1426464"/>
          </a:xfrm>
          <a:prstGeom prst="line">
            <a:avLst/>
          </a:prstGeom>
          <a:noFill/>
          <a:ln w="11430">
            <a:solidFill>
              <a:srgbClr val="33445C"/>
            </a:solidFill>
            <a:prstDash val="solid"/>
          </a:ln>
        </p:spPr>
      </p:sp>
      <p:sp>
        <p:nvSpPr>
          <p:cNvPr id="29" name="Shape 27"/>
          <p:cNvSpPr/>
          <p:nvPr/>
        </p:nvSpPr>
        <p:spPr>
          <a:xfrm>
            <a:off x="9015984" y="2715768"/>
            <a:ext cx="1170432" cy="2139696"/>
          </a:xfrm>
          <a:prstGeom prst="line">
            <a:avLst/>
          </a:prstGeom>
          <a:noFill/>
          <a:ln w="11430">
            <a:solidFill>
              <a:srgbClr val="33445C"/>
            </a:solidFill>
            <a:prstDash val="solid"/>
          </a:ln>
        </p:spPr>
      </p:sp>
      <p:sp>
        <p:nvSpPr>
          <p:cNvPr id="30" name="Shape 28"/>
          <p:cNvSpPr/>
          <p:nvPr/>
        </p:nvSpPr>
        <p:spPr>
          <a:xfrm flipV="1">
            <a:off x="9015984" y="2002536"/>
            <a:ext cx="1170432" cy="1426464"/>
          </a:xfrm>
          <a:prstGeom prst="line">
            <a:avLst/>
          </a:prstGeom>
          <a:noFill/>
          <a:ln w="11430">
            <a:solidFill>
              <a:srgbClr val="33445C"/>
            </a:solidFill>
            <a:prstDash val="solid"/>
          </a:ln>
        </p:spPr>
      </p:sp>
      <p:sp>
        <p:nvSpPr>
          <p:cNvPr id="31" name="Shape 29"/>
          <p:cNvSpPr/>
          <p:nvPr/>
        </p:nvSpPr>
        <p:spPr>
          <a:xfrm flipV="1">
            <a:off x="9015984" y="2715768"/>
            <a:ext cx="1170432" cy="713232"/>
          </a:xfrm>
          <a:prstGeom prst="line">
            <a:avLst/>
          </a:prstGeom>
          <a:noFill/>
          <a:ln w="28575">
            <a:solidFill>
              <a:srgbClr val="C8571B"/>
            </a:solidFill>
            <a:prstDash val="solid"/>
          </a:ln>
        </p:spPr>
      </p:sp>
      <p:sp>
        <p:nvSpPr>
          <p:cNvPr id="32" name="Shape 30"/>
          <p:cNvSpPr/>
          <p:nvPr/>
        </p:nvSpPr>
        <p:spPr>
          <a:xfrm>
            <a:off x="9015984" y="3429000"/>
            <a:ext cx="1170432" cy="91"/>
          </a:xfrm>
          <a:prstGeom prst="line">
            <a:avLst/>
          </a:prstGeom>
          <a:noFill/>
          <a:ln w="11430">
            <a:solidFill>
              <a:srgbClr val="33445C"/>
            </a:solidFill>
            <a:prstDash val="solid"/>
          </a:ln>
        </p:spPr>
      </p:sp>
      <p:sp>
        <p:nvSpPr>
          <p:cNvPr id="33" name="Shape 31"/>
          <p:cNvSpPr/>
          <p:nvPr/>
        </p:nvSpPr>
        <p:spPr>
          <a:xfrm>
            <a:off x="9015984" y="3429000"/>
            <a:ext cx="1170432" cy="713232"/>
          </a:xfrm>
          <a:prstGeom prst="line">
            <a:avLst/>
          </a:prstGeom>
          <a:noFill/>
          <a:ln w="11430">
            <a:solidFill>
              <a:srgbClr val="33445C"/>
            </a:solidFill>
            <a:prstDash val="solid"/>
          </a:ln>
        </p:spPr>
      </p:sp>
      <p:sp>
        <p:nvSpPr>
          <p:cNvPr id="34" name="Shape 32"/>
          <p:cNvSpPr/>
          <p:nvPr/>
        </p:nvSpPr>
        <p:spPr>
          <a:xfrm>
            <a:off x="9015984" y="3429000"/>
            <a:ext cx="1170432" cy="1426464"/>
          </a:xfrm>
          <a:prstGeom prst="line">
            <a:avLst/>
          </a:prstGeom>
          <a:noFill/>
          <a:ln w="11430">
            <a:solidFill>
              <a:srgbClr val="33445C"/>
            </a:solidFill>
            <a:prstDash val="solid"/>
          </a:ln>
        </p:spPr>
      </p:sp>
      <p:sp>
        <p:nvSpPr>
          <p:cNvPr id="35" name="Shape 33"/>
          <p:cNvSpPr/>
          <p:nvPr/>
        </p:nvSpPr>
        <p:spPr>
          <a:xfrm flipV="1">
            <a:off x="9015984" y="2002536"/>
            <a:ext cx="1170432" cy="2139696"/>
          </a:xfrm>
          <a:prstGeom prst="line">
            <a:avLst/>
          </a:prstGeom>
          <a:noFill/>
          <a:ln w="11430">
            <a:solidFill>
              <a:srgbClr val="33445C"/>
            </a:solidFill>
            <a:prstDash val="solid"/>
          </a:ln>
        </p:spPr>
      </p:sp>
      <p:sp>
        <p:nvSpPr>
          <p:cNvPr id="36" name="Shape 34"/>
          <p:cNvSpPr/>
          <p:nvPr/>
        </p:nvSpPr>
        <p:spPr>
          <a:xfrm flipV="1">
            <a:off x="9015984" y="2715768"/>
            <a:ext cx="1170432" cy="1426464"/>
          </a:xfrm>
          <a:prstGeom prst="line">
            <a:avLst/>
          </a:prstGeom>
          <a:noFill/>
          <a:ln w="11430">
            <a:solidFill>
              <a:srgbClr val="33445C"/>
            </a:solidFill>
            <a:prstDash val="solid"/>
          </a:ln>
        </p:spPr>
      </p:sp>
      <p:sp>
        <p:nvSpPr>
          <p:cNvPr id="37" name="Shape 35"/>
          <p:cNvSpPr/>
          <p:nvPr/>
        </p:nvSpPr>
        <p:spPr>
          <a:xfrm flipV="1">
            <a:off x="9015984" y="3429000"/>
            <a:ext cx="1170432" cy="713232"/>
          </a:xfrm>
          <a:prstGeom prst="line">
            <a:avLst/>
          </a:prstGeom>
          <a:noFill/>
          <a:ln w="11430">
            <a:solidFill>
              <a:srgbClr val="33445C"/>
            </a:solidFill>
            <a:prstDash val="solid"/>
          </a:ln>
        </p:spPr>
      </p:sp>
      <p:sp>
        <p:nvSpPr>
          <p:cNvPr id="38" name="Shape 36"/>
          <p:cNvSpPr/>
          <p:nvPr/>
        </p:nvSpPr>
        <p:spPr>
          <a:xfrm>
            <a:off x="9015984" y="4142232"/>
            <a:ext cx="1170432" cy="91"/>
          </a:xfrm>
          <a:prstGeom prst="line">
            <a:avLst/>
          </a:prstGeom>
          <a:noFill/>
          <a:ln w="11430">
            <a:solidFill>
              <a:srgbClr val="33445C"/>
            </a:solidFill>
            <a:prstDash val="solid"/>
          </a:ln>
        </p:spPr>
      </p:sp>
      <p:sp>
        <p:nvSpPr>
          <p:cNvPr id="39" name="Shape 37"/>
          <p:cNvSpPr/>
          <p:nvPr/>
        </p:nvSpPr>
        <p:spPr>
          <a:xfrm>
            <a:off x="9015984" y="4142232"/>
            <a:ext cx="1170432" cy="713232"/>
          </a:xfrm>
          <a:prstGeom prst="line">
            <a:avLst/>
          </a:prstGeom>
          <a:noFill/>
          <a:ln w="11430">
            <a:solidFill>
              <a:srgbClr val="33445C"/>
            </a:solidFill>
            <a:prstDash val="solid"/>
          </a:ln>
        </p:spPr>
      </p:sp>
      <p:sp>
        <p:nvSpPr>
          <p:cNvPr id="40" name="Shape 38"/>
          <p:cNvSpPr/>
          <p:nvPr/>
        </p:nvSpPr>
        <p:spPr>
          <a:xfrm flipV="1">
            <a:off x="9015984" y="2002536"/>
            <a:ext cx="1170432" cy="2852928"/>
          </a:xfrm>
          <a:prstGeom prst="line">
            <a:avLst/>
          </a:prstGeom>
          <a:noFill/>
          <a:ln w="11430">
            <a:solidFill>
              <a:srgbClr val="33445C"/>
            </a:solidFill>
            <a:prstDash val="solid"/>
          </a:ln>
        </p:spPr>
      </p:sp>
      <p:sp>
        <p:nvSpPr>
          <p:cNvPr id="41" name="Shape 39"/>
          <p:cNvSpPr/>
          <p:nvPr/>
        </p:nvSpPr>
        <p:spPr>
          <a:xfrm flipV="1">
            <a:off x="9015984" y="2715768"/>
            <a:ext cx="1170432" cy="2139696"/>
          </a:xfrm>
          <a:prstGeom prst="line">
            <a:avLst/>
          </a:prstGeom>
          <a:noFill/>
          <a:ln w="11430">
            <a:solidFill>
              <a:srgbClr val="33445C"/>
            </a:solidFill>
            <a:prstDash val="solid"/>
          </a:ln>
        </p:spPr>
      </p:sp>
      <p:sp>
        <p:nvSpPr>
          <p:cNvPr id="42" name="Shape 40"/>
          <p:cNvSpPr/>
          <p:nvPr/>
        </p:nvSpPr>
        <p:spPr>
          <a:xfrm flipV="1">
            <a:off x="9015984" y="3429000"/>
            <a:ext cx="1170432" cy="1426464"/>
          </a:xfrm>
          <a:prstGeom prst="line">
            <a:avLst/>
          </a:prstGeom>
          <a:noFill/>
          <a:ln w="11430">
            <a:solidFill>
              <a:srgbClr val="33445C"/>
            </a:solidFill>
            <a:prstDash val="solid"/>
          </a:ln>
        </p:spPr>
      </p:sp>
      <p:sp>
        <p:nvSpPr>
          <p:cNvPr id="43" name="Shape 41"/>
          <p:cNvSpPr/>
          <p:nvPr/>
        </p:nvSpPr>
        <p:spPr>
          <a:xfrm flipV="1">
            <a:off x="9015984" y="4142232"/>
            <a:ext cx="1170432" cy="713232"/>
          </a:xfrm>
          <a:prstGeom prst="line">
            <a:avLst/>
          </a:prstGeom>
          <a:noFill/>
          <a:ln w="11430">
            <a:solidFill>
              <a:srgbClr val="33445C"/>
            </a:solidFill>
            <a:prstDash val="solid"/>
          </a:ln>
        </p:spPr>
      </p:sp>
      <p:sp>
        <p:nvSpPr>
          <p:cNvPr id="44" name="Shape 42"/>
          <p:cNvSpPr/>
          <p:nvPr/>
        </p:nvSpPr>
        <p:spPr>
          <a:xfrm>
            <a:off x="9015984" y="4855464"/>
            <a:ext cx="1170432" cy="91"/>
          </a:xfrm>
          <a:prstGeom prst="line">
            <a:avLst/>
          </a:prstGeom>
          <a:noFill/>
          <a:ln w="11430">
            <a:solidFill>
              <a:srgbClr val="33445C"/>
            </a:solidFill>
            <a:prstDash val="solid"/>
          </a:ln>
        </p:spPr>
      </p:sp>
      <p:sp>
        <p:nvSpPr>
          <p:cNvPr id="45" name="Shape 43"/>
          <p:cNvSpPr/>
          <p:nvPr/>
        </p:nvSpPr>
        <p:spPr>
          <a:xfrm>
            <a:off x="10186416" y="2002536"/>
            <a:ext cx="1170432" cy="1069848"/>
          </a:xfrm>
          <a:prstGeom prst="line">
            <a:avLst/>
          </a:prstGeom>
          <a:noFill/>
          <a:ln w="11430">
            <a:solidFill>
              <a:srgbClr val="33445C"/>
            </a:solidFill>
            <a:prstDash val="solid"/>
          </a:ln>
        </p:spPr>
      </p:sp>
      <p:sp>
        <p:nvSpPr>
          <p:cNvPr id="46" name="Shape 44"/>
          <p:cNvSpPr/>
          <p:nvPr/>
        </p:nvSpPr>
        <p:spPr>
          <a:xfrm>
            <a:off x="10186416" y="2002536"/>
            <a:ext cx="1170432" cy="1783080"/>
          </a:xfrm>
          <a:prstGeom prst="line">
            <a:avLst/>
          </a:prstGeom>
          <a:noFill/>
          <a:ln w="11430">
            <a:solidFill>
              <a:srgbClr val="33445C"/>
            </a:solidFill>
            <a:prstDash val="solid"/>
          </a:ln>
        </p:spPr>
      </p:sp>
      <p:sp>
        <p:nvSpPr>
          <p:cNvPr id="47" name="Shape 45"/>
          <p:cNvSpPr/>
          <p:nvPr/>
        </p:nvSpPr>
        <p:spPr>
          <a:xfrm>
            <a:off x="10186416" y="2715768"/>
            <a:ext cx="1170432" cy="356616"/>
          </a:xfrm>
          <a:prstGeom prst="line">
            <a:avLst/>
          </a:prstGeom>
          <a:noFill/>
          <a:ln w="28575">
            <a:solidFill>
              <a:srgbClr val="C8571B"/>
            </a:solidFill>
            <a:prstDash val="solid"/>
          </a:ln>
        </p:spPr>
      </p:sp>
      <p:sp>
        <p:nvSpPr>
          <p:cNvPr id="48" name="Shape 46"/>
          <p:cNvSpPr/>
          <p:nvPr/>
        </p:nvSpPr>
        <p:spPr>
          <a:xfrm>
            <a:off x="10186416" y="2715768"/>
            <a:ext cx="1170432" cy="1069848"/>
          </a:xfrm>
          <a:prstGeom prst="line">
            <a:avLst/>
          </a:prstGeom>
          <a:noFill/>
          <a:ln w="11430">
            <a:solidFill>
              <a:srgbClr val="33445C"/>
            </a:solidFill>
            <a:prstDash val="solid"/>
          </a:ln>
        </p:spPr>
      </p:sp>
      <p:sp>
        <p:nvSpPr>
          <p:cNvPr id="49" name="Shape 47"/>
          <p:cNvSpPr/>
          <p:nvPr/>
        </p:nvSpPr>
        <p:spPr>
          <a:xfrm flipV="1">
            <a:off x="10186416" y="3072384"/>
            <a:ext cx="1170432" cy="356616"/>
          </a:xfrm>
          <a:prstGeom prst="line">
            <a:avLst/>
          </a:prstGeom>
          <a:noFill/>
          <a:ln w="11430">
            <a:solidFill>
              <a:srgbClr val="33445C"/>
            </a:solidFill>
            <a:prstDash val="solid"/>
          </a:ln>
        </p:spPr>
      </p:sp>
      <p:sp>
        <p:nvSpPr>
          <p:cNvPr id="50" name="Shape 48"/>
          <p:cNvSpPr/>
          <p:nvPr/>
        </p:nvSpPr>
        <p:spPr>
          <a:xfrm>
            <a:off x="10186416" y="3429000"/>
            <a:ext cx="1170432" cy="356616"/>
          </a:xfrm>
          <a:prstGeom prst="line">
            <a:avLst/>
          </a:prstGeom>
          <a:noFill/>
          <a:ln w="11430">
            <a:solidFill>
              <a:srgbClr val="33445C"/>
            </a:solidFill>
            <a:prstDash val="solid"/>
          </a:ln>
        </p:spPr>
      </p:sp>
      <p:sp>
        <p:nvSpPr>
          <p:cNvPr id="51" name="Shape 49"/>
          <p:cNvSpPr/>
          <p:nvPr/>
        </p:nvSpPr>
        <p:spPr>
          <a:xfrm flipV="1">
            <a:off x="10186416" y="3072384"/>
            <a:ext cx="1170432" cy="1069848"/>
          </a:xfrm>
          <a:prstGeom prst="line">
            <a:avLst/>
          </a:prstGeom>
          <a:noFill/>
          <a:ln w="11430">
            <a:solidFill>
              <a:srgbClr val="33445C"/>
            </a:solidFill>
            <a:prstDash val="solid"/>
          </a:ln>
        </p:spPr>
      </p:sp>
      <p:sp>
        <p:nvSpPr>
          <p:cNvPr id="52" name="Shape 50"/>
          <p:cNvSpPr/>
          <p:nvPr/>
        </p:nvSpPr>
        <p:spPr>
          <a:xfrm flipV="1">
            <a:off x="10186416" y="3785616"/>
            <a:ext cx="1170432" cy="356616"/>
          </a:xfrm>
          <a:prstGeom prst="line">
            <a:avLst/>
          </a:prstGeom>
          <a:noFill/>
          <a:ln w="11430">
            <a:solidFill>
              <a:srgbClr val="33445C"/>
            </a:solidFill>
            <a:prstDash val="solid"/>
          </a:ln>
        </p:spPr>
      </p:sp>
      <p:sp>
        <p:nvSpPr>
          <p:cNvPr id="53" name="Shape 51"/>
          <p:cNvSpPr/>
          <p:nvPr/>
        </p:nvSpPr>
        <p:spPr>
          <a:xfrm flipV="1">
            <a:off x="10186416" y="3072384"/>
            <a:ext cx="1170432" cy="1783080"/>
          </a:xfrm>
          <a:prstGeom prst="line">
            <a:avLst/>
          </a:prstGeom>
          <a:noFill/>
          <a:ln w="11430">
            <a:solidFill>
              <a:srgbClr val="33445C"/>
            </a:solidFill>
            <a:prstDash val="solid"/>
          </a:ln>
        </p:spPr>
      </p:sp>
      <p:sp>
        <p:nvSpPr>
          <p:cNvPr id="54" name="Shape 52"/>
          <p:cNvSpPr/>
          <p:nvPr/>
        </p:nvSpPr>
        <p:spPr>
          <a:xfrm flipV="1">
            <a:off x="10186416" y="3785616"/>
            <a:ext cx="1170432" cy="1069848"/>
          </a:xfrm>
          <a:prstGeom prst="line">
            <a:avLst/>
          </a:prstGeom>
          <a:noFill/>
          <a:ln w="11430">
            <a:solidFill>
              <a:srgbClr val="33445C"/>
            </a:solidFill>
            <a:prstDash val="solid"/>
          </a:ln>
        </p:spPr>
      </p:sp>
      <p:sp>
        <p:nvSpPr>
          <p:cNvPr id="55" name="Shape 53"/>
          <p:cNvSpPr/>
          <p:nvPr/>
        </p:nvSpPr>
        <p:spPr>
          <a:xfrm>
            <a:off x="7680960" y="2551176"/>
            <a:ext cx="329184" cy="329184"/>
          </a:xfrm>
          <a:prstGeom prst="ellipse">
            <a:avLst/>
          </a:prstGeom>
          <a:solidFill>
            <a:srgbClr val="8A94A3"/>
          </a:solidFill>
          <a:ln/>
        </p:spPr>
      </p:sp>
      <p:sp>
        <p:nvSpPr>
          <p:cNvPr id="56" name="Shape 54"/>
          <p:cNvSpPr/>
          <p:nvPr/>
        </p:nvSpPr>
        <p:spPr>
          <a:xfrm>
            <a:off x="7680960" y="3264408"/>
            <a:ext cx="329184" cy="329184"/>
          </a:xfrm>
          <a:prstGeom prst="ellipse">
            <a:avLst/>
          </a:prstGeom>
          <a:solidFill>
            <a:srgbClr val="8A94A3"/>
          </a:solidFill>
          <a:ln/>
        </p:spPr>
      </p:sp>
      <p:sp>
        <p:nvSpPr>
          <p:cNvPr id="57" name="Shape 55"/>
          <p:cNvSpPr/>
          <p:nvPr/>
        </p:nvSpPr>
        <p:spPr>
          <a:xfrm>
            <a:off x="7680960" y="3977640"/>
            <a:ext cx="329184" cy="329184"/>
          </a:xfrm>
          <a:prstGeom prst="ellipse">
            <a:avLst/>
          </a:prstGeom>
          <a:solidFill>
            <a:srgbClr val="8A94A3"/>
          </a:solidFill>
          <a:ln/>
        </p:spPr>
      </p:sp>
      <p:sp>
        <p:nvSpPr>
          <p:cNvPr id="58" name="Shape 56"/>
          <p:cNvSpPr/>
          <p:nvPr/>
        </p:nvSpPr>
        <p:spPr>
          <a:xfrm>
            <a:off x="8851392" y="1837944"/>
            <a:ext cx="329184" cy="329184"/>
          </a:xfrm>
          <a:prstGeom prst="ellipse">
            <a:avLst/>
          </a:prstGeom>
          <a:solidFill>
            <a:srgbClr val="0F7C82"/>
          </a:solidFill>
          <a:ln/>
        </p:spPr>
      </p:sp>
      <p:sp>
        <p:nvSpPr>
          <p:cNvPr id="59" name="Shape 57"/>
          <p:cNvSpPr/>
          <p:nvPr/>
        </p:nvSpPr>
        <p:spPr>
          <a:xfrm>
            <a:off x="8851392" y="2551176"/>
            <a:ext cx="329184" cy="329184"/>
          </a:xfrm>
          <a:prstGeom prst="ellipse">
            <a:avLst/>
          </a:prstGeom>
          <a:solidFill>
            <a:srgbClr val="0F7C82"/>
          </a:solidFill>
          <a:ln/>
        </p:spPr>
      </p:sp>
      <p:sp>
        <p:nvSpPr>
          <p:cNvPr id="60" name="Shape 58"/>
          <p:cNvSpPr/>
          <p:nvPr/>
        </p:nvSpPr>
        <p:spPr>
          <a:xfrm>
            <a:off x="8851392" y="3264408"/>
            <a:ext cx="329184" cy="329184"/>
          </a:xfrm>
          <a:prstGeom prst="ellipse">
            <a:avLst/>
          </a:prstGeom>
          <a:solidFill>
            <a:srgbClr val="0F7C82"/>
          </a:solidFill>
          <a:ln/>
        </p:spPr>
      </p:sp>
      <p:sp>
        <p:nvSpPr>
          <p:cNvPr id="61" name="Shape 59"/>
          <p:cNvSpPr/>
          <p:nvPr/>
        </p:nvSpPr>
        <p:spPr>
          <a:xfrm>
            <a:off x="8851392" y="3977640"/>
            <a:ext cx="329184" cy="329184"/>
          </a:xfrm>
          <a:prstGeom prst="ellipse">
            <a:avLst/>
          </a:prstGeom>
          <a:solidFill>
            <a:srgbClr val="0F7C82"/>
          </a:solidFill>
          <a:ln/>
        </p:spPr>
      </p:sp>
      <p:sp>
        <p:nvSpPr>
          <p:cNvPr id="62" name="Shape 60"/>
          <p:cNvSpPr/>
          <p:nvPr/>
        </p:nvSpPr>
        <p:spPr>
          <a:xfrm>
            <a:off x="8851392" y="4690872"/>
            <a:ext cx="329184" cy="329184"/>
          </a:xfrm>
          <a:prstGeom prst="ellipse">
            <a:avLst/>
          </a:prstGeom>
          <a:solidFill>
            <a:srgbClr val="0F7C82"/>
          </a:solidFill>
          <a:ln/>
        </p:spPr>
      </p:sp>
      <p:sp>
        <p:nvSpPr>
          <p:cNvPr id="63" name="Shape 61"/>
          <p:cNvSpPr/>
          <p:nvPr/>
        </p:nvSpPr>
        <p:spPr>
          <a:xfrm>
            <a:off x="10021824" y="1837944"/>
            <a:ext cx="329184" cy="329184"/>
          </a:xfrm>
          <a:prstGeom prst="ellipse">
            <a:avLst/>
          </a:prstGeom>
          <a:solidFill>
            <a:srgbClr val="0F7C82"/>
          </a:solidFill>
          <a:ln/>
        </p:spPr>
      </p:sp>
      <p:sp>
        <p:nvSpPr>
          <p:cNvPr id="64" name="Shape 62"/>
          <p:cNvSpPr/>
          <p:nvPr/>
        </p:nvSpPr>
        <p:spPr>
          <a:xfrm>
            <a:off x="10021824" y="2551176"/>
            <a:ext cx="329184" cy="329184"/>
          </a:xfrm>
          <a:prstGeom prst="ellipse">
            <a:avLst/>
          </a:prstGeom>
          <a:solidFill>
            <a:srgbClr val="0F7C82"/>
          </a:solidFill>
          <a:ln/>
        </p:spPr>
      </p:sp>
      <p:sp>
        <p:nvSpPr>
          <p:cNvPr id="65" name="Shape 63"/>
          <p:cNvSpPr/>
          <p:nvPr/>
        </p:nvSpPr>
        <p:spPr>
          <a:xfrm>
            <a:off x="10021824" y="3264408"/>
            <a:ext cx="329184" cy="329184"/>
          </a:xfrm>
          <a:prstGeom prst="ellipse">
            <a:avLst/>
          </a:prstGeom>
          <a:solidFill>
            <a:srgbClr val="0F7C82"/>
          </a:solidFill>
          <a:ln/>
        </p:spPr>
      </p:sp>
      <p:sp>
        <p:nvSpPr>
          <p:cNvPr id="66" name="Shape 64"/>
          <p:cNvSpPr/>
          <p:nvPr/>
        </p:nvSpPr>
        <p:spPr>
          <a:xfrm>
            <a:off x="10021824" y="3977640"/>
            <a:ext cx="329184" cy="329184"/>
          </a:xfrm>
          <a:prstGeom prst="ellipse">
            <a:avLst/>
          </a:prstGeom>
          <a:solidFill>
            <a:srgbClr val="0F7C82"/>
          </a:solidFill>
          <a:ln/>
        </p:spPr>
      </p:sp>
      <p:sp>
        <p:nvSpPr>
          <p:cNvPr id="67" name="Shape 65"/>
          <p:cNvSpPr/>
          <p:nvPr/>
        </p:nvSpPr>
        <p:spPr>
          <a:xfrm>
            <a:off x="10021824" y="4690872"/>
            <a:ext cx="329184" cy="329184"/>
          </a:xfrm>
          <a:prstGeom prst="ellipse">
            <a:avLst/>
          </a:prstGeom>
          <a:solidFill>
            <a:srgbClr val="0F7C82"/>
          </a:solidFill>
          <a:ln/>
        </p:spPr>
      </p:sp>
      <p:sp>
        <p:nvSpPr>
          <p:cNvPr id="68" name="Shape 66"/>
          <p:cNvSpPr/>
          <p:nvPr/>
        </p:nvSpPr>
        <p:spPr>
          <a:xfrm>
            <a:off x="11192256" y="2907792"/>
            <a:ext cx="329184" cy="329184"/>
          </a:xfrm>
          <a:prstGeom prst="ellipse">
            <a:avLst/>
          </a:prstGeom>
          <a:solidFill>
            <a:srgbClr val="C8571B"/>
          </a:solidFill>
          <a:ln/>
        </p:spPr>
      </p:sp>
      <p:sp>
        <p:nvSpPr>
          <p:cNvPr id="69" name="Shape 67"/>
          <p:cNvSpPr/>
          <p:nvPr/>
        </p:nvSpPr>
        <p:spPr>
          <a:xfrm>
            <a:off x="11192256" y="3621024"/>
            <a:ext cx="329184" cy="329184"/>
          </a:xfrm>
          <a:prstGeom prst="ellipse">
            <a:avLst/>
          </a:prstGeom>
          <a:solidFill>
            <a:srgbClr val="C8571B"/>
          </a:solidFill>
          <a:ln/>
        </p:spPr>
      </p:sp>
      <p:sp>
        <p:nvSpPr>
          <p:cNvPr id="70" name="Text 68"/>
          <p:cNvSpPr txBox="1"/>
          <p:nvPr/>
        </p:nvSpPr>
        <p:spPr>
          <a:xfrm>
            <a:off x="7223760" y="5806440"/>
            <a:ext cx="2011680" cy="274320"/>
          </a:xfrm>
          <a:prstGeom prst="rect">
            <a:avLst/>
          </a:prstGeom>
          <a:noFill/>
          <a:ln/>
        </p:spPr>
        <p:txBody>
          <a:bodyPr wrap="square" lIns="0" tIns="0" rIns="0" bIns="0" rtlCol="0" anchor="t"/>
          <a:lstStyle/>
          <a:p>
            <a:pPr indent="0" marL="0">
              <a:buNone/>
            </a:pPr>
            <a:r>
              <a:rPr lang="en-US" sz="1400" dirty="0">
                <a:solidFill>
                  <a:srgbClr val="7FD1CF"/>
                </a:solidFill>
                <a:latin typeface="Calibri" pitchFamily="34" charset="0"/>
                <a:ea typeface="Calibri" pitchFamily="34" charset="-122"/>
                <a:cs typeface="Calibri" pitchFamily="34" charset="-120"/>
              </a:rPr>
              <a:t>teal: forward signal</a:t>
            </a:r>
            <a:endParaRPr lang="en-US" sz="1400" dirty="0"/>
          </a:p>
        </p:txBody>
      </p:sp>
      <p:sp>
        <p:nvSpPr>
          <p:cNvPr id="71" name="Text 69"/>
          <p:cNvSpPr txBox="1"/>
          <p:nvPr/>
        </p:nvSpPr>
        <p:spPr>
          <a:xfrm>
            <a:off x="9144000" y="5806440"/>
            <a:ext cx="2377440" cy="274320"/>
          </a:xfrm>
          <a:prstGeom prst="rect">
            <a:avLst/>
          </a:prstGeom>
          <a:noFill/>
          <a:ln/>
        </p:spPr>
        <p:txBody>
          <a:bodyPr wrap="square" lIns="0" tIns="0" rIns="0" bIns="0" rtlCol="0" anchor="t"/>
          <a:lstStyle/>
          <a:p>
            <a:pPr algn="r" indent="0" marL="0">
              <a:buNone/>
            </a:pPr>
            <a:r>
              <a:rPr lang="en-US" sz="1400" dirty="0">
                <a:solidFill>
                  <a:srgbClr val="F0A47A"/>
                </a:solidFill>
                <a:latin typeface="Calibri" pitchFamily="34" charset="0"/>
                <a:ea typeface="Calibri" pitchFamily="34" charset="-122"/>
                <a:cs typeface="Calibri" pitchFamily="34" charset="-120"/>
              </a:rPr>
              <a:t>orange: gradients, warnings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By the end of today you can…</a:t>
            </a:r>
            <a:endParaRPr lang="en-US" sz="3200" dirty="0"/>
          </a:p>
        </p:txBody>
      </p:sp>
      <p:sp>
        <p:nvSpPr>
          <p:cNvPr id="5" name="Shape 2"/>
          <p:cNvSpPr/>
          <p:nvPr/>
        </p:nvSpPr>
        <p:spPr>
          <a:xfrm>
            <a:off x="548640" y="1417320"/>
            <a:ext cx="3529584" cy="3657600"/>
          </a:xfrm>
          <a:prstGeom prst="roundRect">
            <a:avLst>
              <a:gd name="adj" fmla="val 2073"/>
            </a:avLst>
          </a:prstGeom>
          <a:solidFill>
            <a:srgbClr val="F3F5F8"/>
          </a:solidFill>
          <a:ln/>
        </p:spPr>
        <p:txBody>
          <a:bodyPr/>
          <a:p/>
        </p:txBody>
      </p:sp>
      <p:sp>
        <p:nvSpPr>
          <p:cNvPr id="6" name="Text 3"/>
          <p:cNvSpPr txBox="1"/>
          <p:nvPr/>
        </p:nvSpPr>
        <p:spPr>
          <a:xfrm>
            <a:off x="777240" y="1618488"/>
            <a:ext cx="3072384" cy="411480"/>
          </a:xfrm>
          <a:prstGeom prst="rect">
            <a:avLst/>
          </a:prstGeom>
          <a:noFill/>
          <a:ln/>
        </p:spPr>
        <p:txBody>
          <a:bodyPr wrap="square" lIns="0" tIns="0" rIns="0" bIns="0" rtlCol="0" anchor="t"/>
          <a:lstStyle/>
          <a:p>
            <a:pPr indent="0" marL="0">
              <a:buNone/>
            </a:pPr>
            <a:r>
              <a:rPr lang="en-US" sz="2000" b="1" dirty="0">
                <a:solidFill>
                  <a:srgbClr val="0F7C82"/>
                </a:solidFill>
                <a:latin typeface="Calibri" pitchFamily="34" charset="0"/>
                <a:ea typeface="Calibri" pitchFamily="34" charset="-122"/>
                <a:cs typeface="Calibri" pitchFamily="34" charset="-120"/>
              </a:rPr>
              <a:t>Part 1 · Foundations</a:t>
            </a:r>
            <a:endParaRPr lang="en-US" sz="2000" dirty="0"/>
          </a:p>
        </p:txBody>
      </p:sp>
      <p:sp>
        <p:nvSpPr>
          <p:cNvPr id="7" name="Shape 4"/>
          <p:cNvSpPr/>
          <p:nvPr/>
        </p:nvSpPr>
        <p:spPr>
          <a:xfrm>
            <a:off x="777240" y="2331720"/>
            <a:ext cx="420624" cy="420624"/>
          </a:xfrm>
          <a:prstGeom prst="ellipse">
            <a:avLst/>
          </a:prstGeom>
          <a:solidFill>
            <a:srgbClr val="0F7C82"/>
          </a:solidFill>
          <a:ln/>
        </p:spPr>
        <p:txBody>
          <a:bodyPr/>
          <a:p/>
        </p:txBody>
      </p:sp>
      <p:sp>
        <p:nvSpPr>
          <p:cNvPr id="8" name="Text 5"/>
          <p:cNvSpPr txBox="1"/>
          <p:nvPr/>
        </p:nvSpPr>
        <p:spPr>
          <a:xfrm>
            <a:off x="777240"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1353312"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Explain why linear models fail on XOR and how a hidden layer fixes it</a:t>
            </a:r>
            <a:endParaRPr lang="en-US" sz="1800" dirty="0"/>
          </a:p>
        </p:txBody>
      </p:sp>
      <p:sp>
        <p:nvSpPr>
          <p:cNvPr id="10" name="Shape 7"/>
          <p:cNvSpPr/>
          <p:nvPr/>
        </p:nvSpPr>
        <p:spPr>
          <a:xfrm>
            <a:off x="777240" y="3703320"/>
            <a:ext cx="420624" cy="420624"/>
          </a:xfrm>
          <a:prstGeom prst="ellipse">
            <a:avLst/>
          </a:prstGeom>
          <a:solidFill>
            <a:srgbClr val="0F7C82"/>
          </a:solidFill>
          <a:ln/>
        </p:spPr>
        <p:txBody>
          <a:bodyPr/>
          <a:p/>
        </p:txBody>
      </p:sp>
      <p:sp>
        <p:nvSpPr>
          <p:cNvPr id="11" name="Text 8"/>
          <p:cNvSpPr txBox="1"/>
          <p:nvPr/>
        </p:nvSpPr>
        <p:spPr>
          <a:xfrm>
            <a:off x="777240"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9"/>
          <p:cNvSpPr txBox="1"/>
          <p:nvPr/>
        </p:nvSpPr>
        <p:spPr>
          <a:xfrm>
            <a:off x="1353312"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Compute an MLP's forward pass, shapes and parameter count</a:t>
            </a:r>
            <a:endParaRPr lang="en-US" sz="1800" dirty="0"/>
          </a:p>
        </p:txBody>
      </p:sp>
      <p:sp>
        <p:nvSpPr>
          <p:cNvPr id="13" name="Shape 10"/>
          <p:cNvSpPr/>
          <p:nvPr/>
        </p:nvSpPr>
        <p:spPr>
          <a:xfrm>
            <a:off x="4315968" y="1417320"/>
            <a:ext cx="3529584" cy="3657600"/>
          </a:xfrm>
          <a:prstGeom prst="roundRect">
            <a:avLst>
              <a:gd name="adj" fmla="val 2073"/>
            </a:avLst>
          </a:prstGeom>
          <a:solidFill>
            <a:srgbClr val="F3F5F8"/>
          </a:solidFill>
          <a:ln/>
        </p:spPr>
        <p:txBody>
          <a:bodyPr/>
          <a:p/>
        </p:txBody>
      </p:sp>
      <p:sp>
        <p:nvSpPr>
          <p:cNvPr id="14" name="Text 11"/>
          <p:cNvSpPr txBox="1"/>
          <p:nvPr/>
        </p:nvSpPr>
        <p:spPr>
          <a:xfrm>
            <a:off x="4544568" y="1618488"/>
            <a:ext cx="3072384" cy="411480"/>
          </a:xfrm>
          <a:prstGeom prst="rect">
            <a:avLst/>
          </a:prstGeom>
          <a:noFill/>
          <a:ln/>
        </p:spPr>
        <p:txBody>
          <a:bodyPr wrap="square" lIns="0" tIns="0" rIns="0" bIns="0" rtlCol="0" anchor="t"/>
          <a:lstStyle/>
          <a:p>
            <a:pPr indent="0" marL="0">
              <a:buNone/>
            </a:pPr>
            <a:r>
              <a:rPr lang="en-US" sz="2000" b="1" dirty="0">
                <a:solidFill>
                  <a:srgbClr val="C8571B"/>
                </a:solidFill>
                <a:latin typeface="Calibri" pitchFamily="34" charset="0"/>
                <a:ea typeface="Calibri" pitchFamily="34" charset="-122"/>
                <a:cs typeface="Calibri" pitchFamily="34" charset="-120"/>
              </a:rPr>
              <a:t>Part 2 · Learning</a:t>
            </a:r>
            <a:endParaRPr lang="en-US" sz="2000" dirty="0"/>
          </a:p>
        </p:txBody>
      </p:sp>
      <p:sp>
        <p:nvSpPr>
          <p:cNvPr id="15" name="Shape 12"/>
          <p:cNvSpPr/>
          <p:nvPr/>
        </p:nvSpPr>
        <p:spPr>
          <a:xfrm>
            <a:off x="4544568" y="2331720"/>
            <a:ext cx="420624" cy="420624"/>
          </a:xfrm>
          <a:prstGeom prst="ellipse">
            <a:avLst/>
          </a:prstGeom>
          <a:solidFill>
            <a:srgbClr val="C8571B"/>
          </a:solidFill>
          <a:ln/>
        </p:spPr>
        <p:txBody>
          <a:bodyPr/>
          <a:p/>
        </p:txBody>
      </p:sp>
      <p:sp>
        <p:nvSpPr>
          <p:cNvPr id="16" name="Text 13"/>
          <p:cNvSpPr txBox="1"/>
          <p:nvPr/>
        </p:nvSpPr>
        <p:spPr>
          <a:xfrm>
            <a:off x="4544568"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5120640"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Derive a loss from a noise model and pick the matching loss</a:t>
            </a:r>
            <a:endParaRPr lang="en-US" sz="1800" dirty="0"/>
          </a:p>
        </p:txBody>
      </p:sp>
      <p:sp>
        <p:nvSpPr>
          <p:cNvPr id="18" name="Shape 15"/>
          <p:cNvSpPr/>
          <p:nvPr/>
        </p:nvSpPr>
        <p:spPr>
          <a:xfrm>
            <a:off x="4544568" y="3703320"/>
            <a:ext cx="420624" cy="420624"/>
          </a:xfrm>
          <a:prstGeom prst="ellipse">
            <a:avLst/>
          </a:prstGeom>
          <a:solidFill>
            <a:srgbClr val="C8571B"/>
          </a:solidFill>
          <a:ln/>
        </p:spPr>
        <p:txBody>
          <a:bodyPr/>
          <a:p/>
        </p:txBody>
      </p:sp>
      <p:sp>
        <p:nvSpPr>
          <p:cNvPr id="19" name="Text 16"/>
          <p:cNvSpPr txBox="1"/>
          <p:nvPr/>
        </p:nvSpPr>
        <p:spPr>
          <a:xfrm>
            <a:off x="4544568"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0" name="Text 17"/>
          <p:cNvSpPr txBox="1"/>
          <p:nvPr/>
        </p:nvSpPr>
        <p:spPr>
          <a:xfrm>
            <a:off x="5120640"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 backpropagation by hand and read the four BP equations</a:t>
            </a:r>
            <a:endParaRPr lang="en-US" sz="1800" dirty="0"/>
          </a:p>
        </p:txBody>
      </p:sp>
      <p:sp>
        <p:nvSpPr>
          <p:cNvPr id="21" name="Shape 18"/>
          <p:cNvSpPr/>
          <p:nvPr/>
        </p:nvSpPr>
        <p:spPr>
          <a:xfrm>
            <a:off x="8083296" y="1417320"/>
            <a:ext cx="3529584" cy="3657600"/>
          </a:xfrm>
          <a:prstGeom prst="roundRect">
            <a:avLst>
              <a:gd name="adj" fmla="val 2073"/>
            </a:avLst>
          </a:prstGeom>
          <a:solidFill>
            <a:srgbClr val="F3F5F8"/>
          </a:solidFill>
          <a:ln/>
        </p:spPr>
        <p:txBody>
          <a:bodyPr/>
          <a:p/>
        </p:txBody>
      </p:sp>
      <p:sp>
        <p:nvSpPr>
          <p:cNvPr id="22" name="Text 19"/>
          <p:cNvSpPr txBox="1"/>
          <p:nvPr/>
        </p:nvSpPr>
        <p:spPr>
          <a:xfrm>
            <a:off x="8311896" y="1618488"/>
            <a:ext cx="3072384" cy="411480"/>
          </a:xfrm>
          <a:prstGeom prst="rect">
            <a:avLst/>
          </a:prstGeom>
          <a:noFill/>
          <a:ln/>
        </p:spPr>
        <p:txBody>
          <a:bodyPr wrap="square" lIns="0" tIns="0" rIns="0" bIns="0" rtlCol="0" anchor="t"/>
          <a:lstStyle/>
          <a:p>
            <a:pPr indent="0" marL="0">
              <a:buNone/>
            </a:pPr>
            <a:r>
              <a:rPr lang="en-US" sz="2000" b="1" dirty="0">
                <a:solidFill>
                  <a:srgbClr val="4C5BD4"/>
                </a:solidFill>
                <a:latin typeface="Calibri" pitchFamily="34" charset="0"/>
                <a:ea typeface="Calibri" pitchFamily="34" charset="-122"/>
                <a:cs typeface="Calibri" pitchFamily="34" charset="-120"/>
              </a:rPr>
              <a:t>Part 3 · Train &amp; generalize</a:t>
            </a:r>
            <a:endParaRPr lang="en-US" sz="2000" dirty="0"/>
          </a:p>
        </p:txBody>
      </p:sp>
      <p:sp>
        <p:nvSpPr>
          <p:cNvPr id="23" name="Shape 20"/>
          <p:cNvSpPr/>
          <p:nvPr/>
        </p:nvSpPr>
        <p:spPr>
          <a:xfrm>
            <a:off x="8311896" y="2331720"/>
            <a:ext cx="420624" cy="420624"/>
          </a:xfrm>
          <a:prstGeom prst="ellipse">
            <a:avLst/>
          </a:prstGeom>
          <a:solidFill>
            <a:srgbClr val="4C5BD4"/>
          </a:solidFill>
          <a:ln/>
        </p:spPr>
        <p:txBody>
          <a:bodyPr/>
          <a:p/>
        </p:txBody>
      </p:sp>
      <p:sp>
        <p:nvSpPr>
          <p:cNvPr id="24" name="Text 21"/>
          <p:cNvSpPr txBox="1"/>
          <p:nvPr/>
        </p:nvSpPr>
        <p:spPr>
          <a:xfrm>
            <a:off x="8311896" y="23317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5" name="Text 22"/>
          <p:cNvSpPr txBox="1"/>
          <p:nvPr/>
        </p:nvSpPr>
        <p:spPr>
          <a:xfrm>
            <a:off x="8887968" y="22860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Choose an initialization and an optimizer; explain residual connections</a:t>
            </a:r>
            <a:endParaRPr lang="en-US" sz="1800" dirty="0"/>
          </a:p>
        </p:txBody>
      </p:sp>
      <p:sp>
        <p:nvSpPr>
          <p:cNvPr id="26" name="Shape 23"/>
          <p:cNvSpPr/>
          <p:nvPr/>
        </p:nvSpPr>
        <p:spPr>
          <a:xfrm>
            <a:off x="8311896" y="3703320"/>
            <a:ext cx="420624" cy="420624"/>
          </a:xfrm>
          <a:prstGeom prst="ellipse">
            <a:avLst/>
          </a:prstGeom>
          <a:solidFill>
            <a:srgbClr val="4C5BD4"/>
          </a:solidFill>
          <a:ln/>
        </p:spPr>
      </p:sp>
      <p:sp>
        <p:nvSpPr>
          <p:cNvPr id="27" name="Text 24"/>
          <p:cNvSpPr txBox="1"/>
          <p:nvPr/>
        </p:nvSpPr>
        <p:spPr>
          <a:xfrm>
            <a:off x="8311896" y="37033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8" name="Text 25"/>
          <p:cNvSpPr txBox="1"/>
          <p:nvPr/>
        </p:nvSpPr>
        <p:spPr>
          <a:xfrm>
            <a:off x="8887968" y="3657600"/>
            <a:ext cx="2523744" cy="12801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Diagnose under- and overfitting; pick remedies in order</a:t>
            </a:r>
            <a:endParaRPr lang="en-US" sz="1800" dirty="0"/>
          </a:p>
        </p:txBody>
      </p:sp>
      <p:sp>
        <p:nvSpPr>
          <p:cNvPr id="29" name="Shape 26"/>
          <p:cNvSpPr/>
          <p:nvPr/>
        </p:nvSpPr>
        <p:spPr>
          <a:xfrm>
            <a:off x="548640" y="5349240"/>
            <a:ext cx="11094415" cy="777240"/>
          </a:xfrm>
          <a:prstGeom prst="roundRect">
            <a:avLst>
              <a:gd name="adj" fmla="val 9412"/>
            </a:avLst>
          </a:prstGeom>
          <a:solidFill>
            <a:srgbClr val="FFFFFF"/>
          </a:solidFill>
          <a:ln w="12700">
            <a:solidFill>
              <a:srgbClr val="D5DBE3"/>
            </a:solidFill>
            <a:prstDash val="solid"/>
          </a:ln>
        </p:spPr>
      </p:sp>
      <p:sp>
        <p:nvSpPr>
          <p:cNvPr id="30" name="Text 27"/>
          <p:cNvSpPr txBox="1"/>
          <p:nvPr/>
        </p:nvSpPr>
        <p:spPr>
          <a:xfrm>
            <a:off x="777240" y="5349240"/>
            <a:ext cx="10637215" cy="777240"/>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You should already know:  </a:t>
            </a:r>
            <a:pPr indent="0" marL="0">
              <a:buNone/>
            </a:pPr>
            <a:r>
              <a:rPr lang="en-US" sz="1700" b="1" dirty="0">
                <a:solidFill>
                  <a:srgbClr val="2B3A4F"/>
                </a:solidFill>
                <a:latin typeface="Calibri" pitchFamily="34" charset="0"/>
                <a:ea typeface="Calibri" pitchFamily="34" charset="-122"/>
                <a:cs typeface="Calibri" pitchFamily="34" charset="-120"/>
              </a:rPr>
              <a:t>matrix–vector products · the chain rule · logistic regression · train/validation/test splits · Python and NumPy</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a:t>
            </a:fld>
            <a:endParaRPr lang="en-US"/>
          </a:p>
        </p:txBody>
      </p:sp>
      <p:sp>
        <p:nvSpPr>
          <p:cNvPr id="3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plan, and the example we follow all session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OPENING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Today's plan, and one example we will follow all session</a:t>
            </a:r>
            <a:endParaRPr lang="en-US" sz="3200" dirty="0"/>
          </a:p>
        </p:txBody>
      </p:sp>
      <p:sp>
        <p:nvSpPr>
          <p:cNvPr id="5" name="Shape 2"/>
          <p:cNvSpPr/>
          <p:nvPr/>
        </p:nvSpPr>
        <p:spPr>
          <a:xfrm>
            <a:off x="548640" y="1417320"/>
            <a:ext cx="333238" cy="640080"/>
          </a:xfrm>
          <a:prstGeom prst="rect">
            <a:avLst/>
          </a:prstGeom>
          <a:solidFill>
            <a:srgbClr val="8A94A3"/>
          </a:solidFill>
          <a:ln/>
        </p:spPr>
        <p:txBody>
          <a:bodyPr/>
          <a:p/>
        </p:txBody>
      </p:sp>
      <p:sp>
        <p:nvSpPr>
          <p:cNvPr id="6" name="Text 3"/>
          <p:cNvSpPr txBox="1"/>
          <p:nvPr/>
        </p:nvSpPr>
        <p:spPr>
          <a:xfrm>
            <a:off x="2743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0:00</a:t>
            </a:r>
            <a:endParaRPr lang="en-US" sz="1300" dirty="0"/>
          </a:p>
        </p:txBody>
      </p:sp>
      <p:sp>
        <p:nvSpPr>
          <p:cNvPr id="7" name="Shape 4"/>
          <p:cNvSpPr/>
          <p:nvPr/>
        </p:nvSpPr>
        <p:spPr>
          <a:xfrm>
            <a:off x="918454" y="1417320"/>
            <a:ext cx="2921935" cy="640080"/>
          </a:xfrm>
          <a:prstGeom prst="rect">
            <a:avLst/>
          </a:prstGeom>
          <a:solidFill>
            <a:srgbClr val="0F7C82"/>
          </a:solidFill>
          <a:ln/>
        </p:spPr>
        <p:txBody>
          <a:bodyPr/>
          <a:p/>
        </p:txBody>
      </p:sp>
      <p:sp>
        <p:nvSpPr>
          <p:cNvPr id="8" name="Text 5"/>
          <p:cNvSpPr txBox="1"/>
          <p:nvPr/>
        </p:nvSpPr>
        <p:spPr>
          <a:xfrm>
            <a:off x="1028182" y="1417320"/>
            <a:ext cx="2775631"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1 · Foundations</a:t>
            </a:r>
            <a:endParaRPr lang="en-US" sz="1700" dirty="0"/>
          </a:p>
        </p:txBody>
      </p:sp>
      <p:sp>
        <p:nvSpPr>
          <p:cNvPr id="9" name="Shape 6"/>
          <p:cNvSpPr/>
          <p:nvPr/>
        </p:nvSpPr>
        <p:spPr>
          <a:xfrm>
            <a:off x="3876965" y="1417320"/>
            <a:ext cx="2847972" cy="640080"/>
          </a:xfrm>
          <a:prstGeom prst="rect">
            <a:avLst/>
          </a:prstGeom>
          <a:solidFill>
            <a:srgbClr val="C8571B"/>
          </a:solidFill>
          <a:ln/>
        </p:spPr>
        <p:txBody>
          <a:bodyPr/>
          <a:p/>
        </p:txBody>
      </p:sp>
      <p:sp>
        <p:nvSpPr>
          <p:cNvPr id="10" name="Text 7"/>
          <p:cNvSpPr txBox="1"/>
          <p:nvPr/>
        </p:nvSpPr>
        <p:spPr>
          <a:xfrm>
            <a:off x="3986693" y="1417320"/>
            <a:ext cx="2628516"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2 · Learning</a:t>
            </a:r>
            <a:endParaRPr lang="en-US" sz="1700" dirty="0"/>
          </a:p>
        </p:txBody>
      </p:sp>
      <p:sp>
        <p:nvSpPr>
          <p:cNvPr id="11" name="Text 8"/>
          <p:cNvSpPr txBox="1"/>
          <p:nvPr/>
        </p:nvSpPr>
        <p:spPr>
          <a:xfrm>
            <a:off x="360264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0:43</a:t>
            </a:r>
            <a:endParaRPr lang="en-US" sz="1300" dirty="0"/>
          </a:p>
        </p:txBody>
      </p:sp>
      <p:sp>
        <p:nvSpPr>
          <p:cNvPr id="12" name="Shape 9"/>
          <p:cNvSpPr/>
          <p:nvPr/>
        </p:nvSpPr>
        <p:spPr>
          <a:xfrm>
            <a:off x="6761512" y="1417320"/>
            <a:ext cx="703052" cy="640080"/>
          </a:xfrm>
          <a:prstGeom prst="rect">
            <a:avLst/>
          </a:prstGeom>
          <a:solidFill>
            <a:srgbClr val="B7BFCB"/>
          </a:solidFill>
          <a:ln/>
        </p:spPr>
        <p:txBody>
          <a:bodyPr/>
          <a:p/>
        </p:txBody>
      </p:sp>
      <p:sp>
        <p:nvSpPr>
          <p:cNvPr id="13" name="Text 10"/>
          <p:cNvSpPr txBox="1"/>
          <p:nvPr/>
        </p:nvSpPr>
        <p:spPr>
          <a:xfrm>
            <a:off x="6871240" y="1417320"/>
            <a:ext cx="556748"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Break</a:t>
            </a:r>
            <a:endParaRPr lang="en-US" sz="1400" dirty="0"/>
          </a:p>
        </p:txBody>
      </p:sp>
      <p:sp>
        <p:nvSpPr>
          <p:cNvPr id="14" name="Text 11"/>
          <p:cNvSpPr txBox="1"/>
          <p:nvPr/>
        </p:nvSpPr>
        <p:spPr>
          <a:xfrm>
            <a:off x="6487192"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1:24</a:t>
            </a:r>
            <a:endParaRPr lang="en-US" sz="1300" dirty="0"/>
          </a:p>
        </p:txBody>
      </p:sp>
      <p:sp>
        <p:nvSpPr>
          <p:cNvPr id="15" name="Shape 12"/>
          <p:cNvSpPr/>
          <p:nvPr/>
        </p:nvSpPr>
        <p:spPr>
          <a:xfrm>
            <a:off x="7501140" y="1417320"/>
            <a:ext cx="3365711" cy="640080"/>
          </a:xfrm>
          <a:prstGeom prst="rect">
            <a:avLst/>
          </a:prstGeom>
          <a:solidFill>
            <a:srgbClr val="4C5BD4"/>
          </a:solidFill>
          <a:ln/>
        </p:spPr>
        <p:txBody>
          <a:bodyPr/>
          <a:p/>
        </p:txBody>
      </p:sp>
      <p:sp>
        <p:nvSpPr>
          <p:cNvPr id="16" name="Text 13"/>
          <p:cNvSpPr txBox="1"/>
          <p:nvPr/>
        </p:nvSpPr>
        <p:spPr>
          <a:xfrm>
            <a:off x="7610868" y="1417320"/>
            <a:ext cx="3146255"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Part 3 · Train &amp; generalize</a:t>
            </a:r>
            <a:endParaRPr lang="en-US" sz="1700" dirty="0"/>
          </a:p>
        </p:txBody>
      </p:sp>
      <p:sp>
        <p:nvSpPr>
          <p:cNvPr id="17" name="Text 14"/>
          <p:cNvSpPr txBox="1"/>
          <p:nvPr/>
        </p:nvSpPr>
        <p:spPr>
          <a:xfrm>
            <a:off x="7226820"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1:34</a:t>
            </a:r>
            <a:endParaRPr lang="en-US" sz="1300" dirty="0"/>
          </a:p>
        </p:txBody>
      </p:sp>
      <p:sp>
        <p:nvSpPr>
          <p:cNvPr id="18" name="Shape 15"/>
          <p:cNvSpPr/>
          <p:nvPr/>
        </p:nvSpPr>
        <p:spPr>
          <a:xfrm>
            <a:off x="10903428" y="1417320"/>
            <a:ext cx="703052" cy="640080"/>
          </a:xfrm>
          <a:prstGeom prst="rect">
            <a:avLst/>
          </a:prstGeom>
          <a:solidFill>
            <a:srgbClr val="8A94A3"/>
          </a:solidFill>
          <a:ln/>
        </p:spPr>
        <p:txBody>
          <a:bodyPr/>
          <a:p/>
        </p:txBody>
      </p:sp>
      <p:sp>
        <p:nvSpPr>
          <p:cNvPr id="19" name="Text 16"/>
          <p:cNvSpPr txBox="1"/>
          <p:nvPr/>
        </p:nvSpPr>
        <p:spPr>
          <a:xfrm>
            <a:off x="10629108"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2:20</a:t>
            </a:r>
            <a:endParaRPr lang="en-US" sz="1300" dirty="0"/>
          </a:p>
        </p:txBody>
      </p:sp>
      <p:sp>
        <p:nvSpPr>
          <p:cNvPr id="20" name="Text 17"/>
          <p:cNvSpPr txBox="1"/>
          <p:nvPr/>
        </p:nvSpPr>
        <p:spPr>
          <a:xfrm>
            <a:off x="11231575" y="2103120"/>
            <a:ext cx="54864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2:30</a:t>
            </a:r>
            <a:endParaRPr lang="en-US" sz="1300" dirty="0"/>
          </a:p>
        </p:txBody>
      </p:sp>
      <p:sp>
        <p:nvSpPr>
          <p:cNvPr id="21" name="Shape 18"/>
          <p:cNvSpPr/>
          <p:nvPr/>
        </p:nvSpPr>
        <p:spPr>
          <a:xfrm>
            <a:off x="548640" y="2514600"/>
            <a:ext cx="3529584" cy="1737360"/>
          </a:xfrm>
          <a:prstGeom prst="roundRect">
            <a:avLst>
              <a:gd name="adj" fmla="val 4211"/>
            </a:avLst>
          </a:prstGeom>
          <a:solidFill>
            <a:srgbClr val="F3F5F8"/>
          </a:solidFill>
          <a:ln/>
        </p:spPr>
        <p:txBody>
          <a:bodyPr/>
          <a:p/>
        </p:txBody>
      </p:sp>
      <p:sp>
        <p:nvSpPr>
          <p:cNvPr id="22" name="Text 19"/>
          <p:cNvSpPr txBox="1"/>
          <p:nvPr/>
        </p:nvSpPr>
        <p:spPr>
          <a:xfrm>
            <a:off x="777240" y="2679192"/>
            <a:ext cx="3072384" cy="411480"/>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What a network computes</a:t>
            </a:r>
            <a:endParaRPr lang="en-US" sz="1900" dirty="0"/>
          </a:p>
        </p:txBody>
      </p:sp>
      <p:sp>
        <p:nvSpPr>
          <p:cNvPr id="23" name="Text 20"/>
          <p:cNvSpPr txBox="1"/>
          <p:nvPr/>
        </p:nvSpPr>
        <p:spPr>
          <a:xfrm>
            <a:off x="777240"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XOR, the neuron, activations, the forward pass</a:t>
            </a:r>
            <a:endParaRPr lang="en-US" sz="1700" dirty="0"/>
          </a:p>
        </p:txBody>
      </p:sp>
      <p:sp>
        <p:nvSpPr>
          <p:cNvPr id="24" name="Shape 21"/>
          <p:cNvSpPr/>
          <p:nvPr/>
        </p:nvSpPr>
        <p:spPr>
          <a:xfrm>
            <a:off x="4315968" y="2514600"/>
            <a:ext cx="3529584" cy="1737360"/>
          </a:xfrm>
          <a:prstGeom prst="roundRect">
            <a:avLst>
              <a:gd name="adj" fmla="val 4211"/>
            </a:avLst>
          </a:prstGeom>
          <a:solidFill>
            <a:srgbClr val="F3F5F8"/>
          </a:solidFill>
          <a:ln/>
        </p:spPr>
        <p:txBody>
          <a:bodyPr/>
          <a:p/>
        </p:txBody>
      </p:sp>
      <p:sp>
        <p:nvSpPr>
          <p:cNvPr id="25" name="Text 22"/>
          <p:cNvSpPr txBox="1"/>
          <p:nvPr/>
        </p:nvSpPr>
        <p:spPr>
          <a:xfrm>
            <a:off x="4544568" y="2679192"/>
            <a:ext cx="3072384" cy="411480"/>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How it learns</a:t>
            </a:r>
            <a:endParaRPr lang="en-US" sz="1900" dirty="0"/>
          </a:p>
        </p:txBody>
      </p:sp>
      <p:sp>
        <p:nvSpPr>
          <p:cNvPr id="26" name="Text 23"/>
          <p:cNvSpPr txBox="1"/>
          <p:nvPr/>
        </p:nvSpPr>
        <p:spPr>
          <a:xfrm>
            <a:off x="4544568"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Losses, gradient descent, backpropagation</a:t>
            </a:r>
            <a:endParaRPr lang="en-US" sz="1700" dirty="0"/>
          </a:p>
        </p:txBody>
      </p:sp>
      <p:sp>
        <p:nvSpPr>
          <p:cNvPr id="27" name="Shape 24"/>
          <p:cNvSpPr/>
          <p:nvPr/>
        </p:nvSpPr>
        <p:spPr>
          <a:xfrm>
            <a:off x="8083296" y="2514600"/>
            <a:ext cx="3529584" cy="1737360"/>
          </a:xfrm>
          <a:prstGeom prst="roundRect">
            <a:avLst>
              <a:gd name="adj" fmla="val 4211"/>
            </a:avLst>
          </a:prstGeom>
          <a:solidFill>
            <a:srgbClr val="F3F5F8"/>
          </a:solidFill>
          <a:ln/>
        </p:spPr>
        <p:txBody>
          <a:bodyPr/>
          <a:p/>
        </p:txBody>
      </p:sp>
      <p:sp>
        <p:nvSpPr>
          <p:cNvPr id="28" name="Text 25"/>
          <p:cNvSpPr txBox="1"/>
          <p:nvPr/>
        </p:nvSpPr>
        <p:spPr>
          <a:xfrm>
            <a:off x="8311896" y="2679192"/>
            <a:ext cx="3072384" cy="411480"/>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Making it train and generalize</a:t>
            </a:r>
            <a:endParaRPr lang="en-US" sz="1900" dirty="0"/>
          </a:p>
        </p:txBody>
      </p:sp>
      <p:sp>
        <p:nvSpPr>
          <p:cNvPr id="29" name="Text 26"/>
          <p:cNvSpPr txBox="1"/>
          <p:nvPr/>
        </p:nvSpPr>
        <p:spPr>
          <a:xfrm>
            <a:off x="8311896" y="3172968"/>
            <a:ext cx="3072384"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Initialization, residuals, optimizers, regularization, diagnosis</a:t>
            </a:r>
            <a:endParaRPr lang="en-US" sz="1700" dirty="0"/>
          </a:p>
        </p:txBody>
      </p:sp>
      <p:sp>
        <p:nvSpPr>
          <p:cNvPr id="30" name="Shape 27"/>
          <p:cNvSpPr/>
          <p:nvPr/>
        </p:nvSpPr>
        <p:spPr>
          <a:xfrm>
            <a:off x="548640" y="4526280"/>
            <a:ext cx="11094415" cy="1554480"/>
          </a:xfrm>
          <a:prstGeom prst="roundRect">
            <a:avLst>
              <a:gd name="adj" fmla="val 4706"/>
            </a:avLst>
          </a:prstGeom>
          <a:solidFill>
            <a:srgbClr val="E2F1F1"/>
          </a:solidFill>
          <a:ln/>
        </p:spPr>
        <p:txBody>
          <a:bodyPr/>
          <a:p/>
        </p:txBody>
      </p:sp>
      <p:pic>
        <p:nvPicPr>
          <p:cNvPr id="31" name="Image 0" descr="Ten Fashion-MNIST example images, one per class.">    </p:cNvPr>
          <p:cNvPicPr>
            <a:picLocks noChangeAspect="1"/>
          </p:cNvPicPr>
          <p:nvPr/>
        </p:nvPicPr>
        <p:blipFill>
          <a:blip r:embed="rId1"/>
          <a:stretch>
            <a:fillRect/>
          </a:stretch>
        </p:blipFill>
        <p:spPr>
          <a:xfrm>
            <a:off x="854207" y="4617720"/>
            <a:ext cx="2772146" cy="1371600"/>
          </a:xfrm>
          <a:prstGeom prst="rect">
            <a:avLst/>
          </a:prstGeom>
        </p:spPr>
      </p:pic>
      <p:sp>
        <p:nvSpPr>
          <p:cNvPr id="32" name="Text 28"/>
          <p:cNvSpPr txBox="1"/>
          <p:nvPr/>
        </p:nvSpPr>
        <p:spPr>
          <a:xfrm>
            <a:off x="3931920" y="4709160"/>
            <a:ext cx="7315200" cy="365760"/>
          </a:xfrm>
          <a:prstGeom prst="rect">
            <a:avLst/>
          </a:prstGeom>
          <a:noFill/>
          <a:ln/>
        </p:spPr>
        <p:txBody>
          <a:bodyPr wrap="square" lIns="0" tIns="0" rIns="0" bIns="0" rtlCol="0" anchor="t"/>
          <a:lstStyle/>
          <a:p>
            <a:pPr indent="0" marL="0">
              <a:buNone/>
            </a:pPr>
            <a:r>
              <a:rPr lang="en-US" sz="1900" b="1" dirty="0">
                <a:solidFill>
                  <a:srgbClr val="0A5559"/>
                </a:solidFill>
                <a:latin typeface="Calibri" pitchFamily="34" charset="0"/>
                <a:ea typeface="Calibri" pitchFamily="34" charset="-122"/>
                <a:cs typeface="Calibri" pitchFamily="34" charset="-120"/>
              </a:rPr>
              <a:t>Running example</a:t>
            </a:r>
            <a:endParaRPr lang="en-US" sz="1900" dirty="0"/>
          </a:p>
        </p:txBody>
      </p:sp>
      <p:sp>
        <p:nvSpPr>
          <p:cNvPr id="33" name="Text 29"/>
          <p:cNvSpPr txBox="1"/>
          <p:nvPr/>
        </p:nvSpPr>
        <p:spPr>
          <a:xfrm>
            <a:off x="3931920" y="5120640"/>
            <a:ext cx="7543800" cy="91440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Fashion-MNIST (28 × 28 grey images, 10 classes) and a 784–128–64–10 MLP: built in Part 1, trained in Part 2, regularized in Part 3. Every curve for it comes from a script you can rerun.</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a:t>
            </a:fld>
            <a:endParaRPr lang="en-US"/>
          </a:p>
        </p:txBody>
      </p:sp>
      <p:sp>
        <p:nvSpPr>
          <p:cNvPr id="34"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1: what does one neuron compute?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1  ·  ≈ 38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Foundations: what a network computes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does one neuron compute?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can't one neuron solve XOR?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Why must a nonlinearity sit between layers?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does an MLP map inputs to outputs?</a:t>
            </a:r>
            <a:endParaRPr lang="en-US" sz="1800" dirty="0"/>
          </a:p>
        </p:txBody>
      </p:sp>
      <p:sp>
        <p:nvSpPr>
          <p:cNvPr id="5" name="Shape 3"/>
          <p:cNvSpPr/>
          <p:nvPr/>
        </p:nvSpPr>
        <p:spPr>
          <a:xfrm>
            <a:off x="8092440" y="2606040"/>
            <a:ext cx="1554480" cy="91"/>
          </a:xfrm>
          <a:prstGeom prst="line">
            <a:avLst/>
          </a:prstGeom>
          <a:noFill/>
          <a:ln w="11430">
            <a:solidFill>
              <a:srgbClr val="33445C"/>
            </a:solidFill>
            <a:prstDash val="solid"/>
          </a:ln>
        </p:spPr>
      </p:sp>
      <p:sp>
        <p:nvSpPr>
          <p:cNvPr id="6" name="Shape 4"/>
          <p:cNvSpPr/>
          <p:nvPr/>
        </p:nvSpPr>
        <p:spPr>
          <a:xfrm>
            <a:off x="8092440" y="2606040"/>
            <a:ext cx="1554480" cy="1463040"/>
          </a:xfrm>
          <a:prstGeom prst="line">
            <a:avLst/>
          </a:prstGeom>
          <a:noFill/>
          <a:ln w="11430">
            <a:solidFill>
              <a:srgbClr val="33445C"/>
            </a:solidFill>
            <a:prstDash val="solid"/>
          </a:ln>
        </p:spPr>
      </p:sp>
      <p:sp>
        <p:nvSpPr>
          <p:cNvPr id="7" name="Shape 5"/>
          <p:cNvSpPr/>
          <p:nvPr/>
        </p:nvSpPr>
        <p:spPr>
          <a:xfrm flipV="1">
            <a:off x="8092440" y="2606040"/>
            <a:ext cx="1554480" cy="1463040"/>
          </a:xfrm>
          <a:prstGeom prst="line">
            <a:avLst/>
          </a:prstGeom>
          <a:noFill/>
          <a:ln w="11430">
            <a:solidFill>
              <a:srgbClr val="33445C"/>
            </a:solidFill>
            <a:prstDash val="solid"/>
          </a:ln>
        </p:spPr>
      </p:sp>
      <p:sp>
        <p:nvSpPr>
          <p:cNvPr id="8" name="Shape 6"/>
          <p:cNvSpPr/>
          <p:nvPr/>
        </p:nvSpPr>
        <p:spPr>
          <a:xfrm>
            <a:off x="8092440" y="4069080"/>
            <a:ext cx="1554480" cy="91"/>
          </a:xfrm>
          <a:prstGeom prst="line">
            <a:avLst/>
          </a:prstGeom>
          <a:noFill/>
          <a:ln w="11430">
            <a:solidFill>
              <a:srgbClr val="33445C"/>
            </a:solidFill>
            <a:prstDash val="solid"/>
          </a:ln>
        </p:spPr>
      </p:sp>
      <p:sp>
        <p:nvSpPr>
          <p:cNvPr id="9" name="Shape 7"/>
          <p:cNvSpPr/>
          <p:nvPr/>
        </p:nvSpPr>
        <p:spPr>
          <a:xfrm>
            <a:off x="9646920" y="2606040"/>
            <a:ext cx="1554480" cy="731520"/>
          </a:xfrm>
          <a:prstGeom prst="line">
            <a:avLst/>
          </a:prstGeom>
          <a:noFill/>
          <a:ln w="11430">
            <a:solidFill>
              <a:srgbClr val="33445C"/>
            </a:solidFill>
            <a:prstDash val="solid"/>
          </a:ln>
        </p:spPr>
      </p:sp>
      <p:sp>
        <p:nvSpPr>
          <p:cNvPr id="10" name="Shape 8"/>
          <p:cNvSpPr/>
          <p:nvPr/>
        </p:nvSpPr>
        <p:spPr>
          <a:xfrm flipV="1">
            <a:off x="9646920" y="3337560"/>
            <a:ext cx="1554480" cy="731520"/>
          </a:xfrm>
          <a:prstGeom prst="line">
            <a:avLst/>
          </a:prstGeom>
          <a:noFill/>
          <a:ln w="11430">
            <a:solidFill>
              <a:srgbClr val="33445C"/>
            </a:solidFill>
            <a:prstDash val="solid"/>
          </a:ln>
        </p:spPr>
      </p:sp>
      <p:sp>
        <p:nvSpPr>
          <p:cNvPr id="11" name="Shape 9"/>
          <p:cNvSpPr/>
          <p:nvPr/>
        </p:nvSpPr>
        <p:spPr>
          <a:xfrm>
            <a:off x="7863840" y="2377440"/>
            <a:ext cx="457200" cy="457200"/>
          </a:xfrm>
          <a:prstGeom prst="ellipse">
            <a:avLst/>
          </a:prstGeom>
          <a:solidFill>
            <a:srgbClr val="8A94A3"/>
          </a:solidFill>
          <a:ln/>
        </p:spPr>
      </p:sp>
      <p:sp>
        <p:nvSpPr>
          <p:cNvPr id="12" name="Shape 10"/>
          <p:cNvSpPr/>
          <p:nvPr/>
        </p:nvSpPr>
        <p:spPr>
          <a:xfrm>
            <a:off x="7863840" y="3840480"/>
            <a:ext cx="457200" cy="457200"/>
          </a:xfrm>
          <a:prstGeom prst="ellipse">
            <a:avLst/>
          </a:prstGeom>
          <a:solidFill>
            <a:srgbClr val="8A94A3"/>
          </a:solidFill>
          <a:ln/>
        </p:spPr>
      </p:sp>
      <p:sp>
        <p:nvSpPr>
          <p:cNvPr id="13" name="Shape 11"/>
          <p:cNvSpPr/>
          <p:nvPr/>
        </p:nvSpPr>
        <p:spPr>
          <a:xfrm>
            <a:off x="9418320" y="2377440"/>
            <a:ext cx="457200" cy="457200"/>
          </a:xfrm>
          <a:prstGeom prst="ellipse">
            <a:avLst/>
          </a:prstGeom>
          <a:solidFill>
            <a:srgbClr val="0F7C82"/>
          </a:solidFill>
          <a:ln/>
        </p:spPr>
      </p:sp>
      <p:sp>
        <p:nvSpPr>
          <p:cNvPr id="14" name="Shape 12"/>
          <p:cNvSpPr/>
          <p:nvPr/>
        </p:nvSpPr>
        <p:spPr>
          <a:xfrm>
            <a:off x="9418320" y="3840480"/>
            <a:ext cx="457200" cy="457200"/>
          </a:xfrm>
          <a:prstGeom prst="ellipse">
            <a:avLst/>
          </a:prstGeom>
          <a:solidFill>
            <a:srgbClr val="0F7C82"/>
          </a:solidFill>
          <a:ln/>
        </p:spPr>
      </p:sp>
      <p:sp>
        <p:nvSpPr>
          <p:cNvPr id="15" name="Shape 13"/>
          <p:cNvSpPr/>
          <p:nvPr/>
        </p:nvSpPr>
        <p:spPr>
          <a:xfrm>
            <a:off x="10972800" y="3108960"/>
            <a:ext cx="457200" cy="45720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One neuron: a weighted sum and a threshold</a:t>
            </a:r>
            <a:endParaRPr lang="en-US" sz="3200" dirty="0"/>
          </a:p>
        </p:txBody>
      </p:sp>
      <p:sp>
        <p:nvSpPr>
          <p:cNvPr id="5" name="Shape 2"/>
          <p:cNvSpPr/>
          <p:nvPr/>
        </p:nvSpPr>
        <p:spPr>
          <a:xfrm>
            <a:off x="548640" y="1645920"/>
            <a:ext cx="530352" cy="530352"/>
          </a:xfrm>
          <a:prstGeom prst="ellipse">
            <a:avLst/>
          </a:prstGeom>
          <a:solidFill>
            <a:srgbClr val="F3F5F8"/>
          </a:solidFill>
          <a:ln w="15875">
            <a:solidFill>
              <a:srgbClr val="8A94A3"/>
            </a:solidFill>
            <a:prstDash val="solid"/>
          </a:ln>
        </p:spPr>
        <p:txBody>
          <a:bodyPr/>
          <a:p/>
        </p:txBody>
      </p:sp>
      <p:sp>
        <p:nvSpPr>
          <p:cNvPr id="6" name="Text 3"/>
          <p:cNvSpPr txBox="1"/>
          <p:nvPr/>
        </p:nvSpPr>
        <p:spPr>
          <a:xfrm>
            <a:off x="548640" y="164592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x₁</a:t>
            </a:r>
            <a:endParaRPr lang="en-US" sz="1800" dirty="0"/>
          </a:p>
        </p:txBody>
      </p:sp>
      <p:sp>
        <p:nvSpPr>
          <p:cNvPr id="7" name="Shape 4"/>
          <p:cNvSpPr/>
          <p:nvPr/>
        </p:nvSpPr>
        <p:spPr>
          <a:xfrm>
            <a:off x="1078992" y="1911096"/>
            <a:ext cx="1527048" cy="1152144"/>
          </a:xfrm>
          <a:prstGeom prst="line">
            <a:avLst/>
          </a:prstGeom>
          <a:noFill/>
          <a:ln w="19050">
            <a:solidFill>
              <a:srgbClr val="8A94A3"/>
            </a:solidFill>
            <a:prstDash val="solid"/>
          </a:ln>
        </p:spPr>
        <p:txBody>
          <a:bodyPr/>
          <a:p/>
        </p:txBody>
      </p:sp>
      <p:sp>
        <p:nvSpPr>
          <p:cNvPr id="8" name="Shape 5"/>
          <p:cNvSpPr/>
          <p:nvPr/>
        </p:nvSpPr>
        <p:spPr>
          <a:xfrm>
            <a:off x="548640" y="2423160"/>
            <a:ext cx="530352" cy="530352"/>
          </a:xfrm>
          <a:prstGeom prst="ellipse">
            <a:avLst/>
          </a:prstGeom>
          <a:solidFill>
            <a:srgbClr val="F3F5F8"/>
          </a:solidFill>
          <a:ln w="15875">
            <a:solidFill>
              <a:srgbClr val="8A94A3"/>
            </a:solidFill>
            <a:prstDash val="solid"/>
          </a:ln>
        </p:spPr>
        <p:txBody>
          <a:bodyPr/>
          <a:p/>
        </p:txBody>
      </p:sp>
      <p:sp>
        <p:nvSpPr>
          <p:cNvPr id="9" name="Text 6"/>
          <p:cNvSpPr txBox="1"/>
          <p:nvPr/>
        </p:nvSpPr>
        <p:spPr>
          <a:xfrm>
            <a:off x="548640" y="242316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x₂</a:t>
            </a:r>
            <a:endParaRPr lang="en-US" sz="1800" dirty="0"/>
          </a:p>
        </p:txBody>
      </p:sp>
      <p:sp>
        <p:nvSpPr>
          <p:cNvPr id="10" name="Shape 7"/>
          <p:cNvSpPr/>
          <p:nvPr/>
        </p:nvSpPr>
        <p:spPr>
          <a:xfrm>
            <a:off x="1078992" y="2688336"/>
            <a:ext cx="1527048" cy="374904"/>
          </a:xfrm>
          <a:prstGeom prst="line">
            <a:avLst/>
          </a:prstGeom>
          <a:noFill/>
          <a:ln w="19050">
            <a:solidFill>
              <a:srgbClr val="8A94A3"/>
            </a:solidFill>
            <a:prstDash val="solid"/>
          </a:ln>
        </p:spPr>
        <p:txBody>
          <a:bodyPr/>
          <a:p/>
        </p:txBody>
      </p:sp>
      <p:sp>
        <p:nvSpPr>
          <p:cNvPr id="11" name="Text 8"/>
          <p:cNvSpPr txBox="1"/>
          <p:nvPr/>
        </p:nvSpPr>
        <p:spPr>
          <a:xfrm>
            <a:off x="548640" y="3200400"/>
            <a:ext cx="530352" cy="457200"/>
          </a:xfrm>
          <a:prstGeom prst="rect">
            <a:avLst/>
          </a:prstGeom>
          <a:noFill/>
          <a:ln/>
        </p:spPr>
        <p:txBody>
          <a:bodyPr wrap="square" lIns="0" tIns="0" rIns="0" bIns="0" rtlCol="0" anchor="t"/>
          <a:lstStyle/>
          <a:p>
            <a:pPr algn="ctr" indent="0" marL="0">
              <a:buNone/>
            </a:pPr>
            <a:r>
              <a:rPr lang="en-US" sz="2200" dirty="0">
                <a:solidFill>
                  <a:srgbClr val="5B6675"/>
                </a:solidFill>
                <a:latin typeface="Calibri" pitchFamily="34" charset="0"/>
                <a:ea typeface="Calibri" pitchFamily="34" charset="-122"/>
                <a:cs typeface="Calibri" pitchFamily="34" charset="-120"/>
              </a:rPr>
              <a:t>⋮</a:t>
            </a:r>
            <a:endParaRPr lang="en-US" sz="2200" dirty="0"/>
          </a:p>
        </p:txBody>
      </p:sp>
      <p:sp>
        <p:nvSpPr>
          <p:cNvPr id="12" name="Shape 9"/>
          <p:cNvSpPr/>
          <p:nvPr/>
        </p:nvSpPr>
        <p:spPr>
          <a:xfrm>
            <a:off x="548640" y="3977640"/>
            <a:ext cx="530352" cy="530352"/>
          </a:xfrm>
          <a:prstGeom prst="ellipse">
            <a:avLst/>
          </a:prstGeom>
          <a:solidFill>
            <a:srgbClr val="F3F5F8"/>
          </a:solidFill>
          <a:ln w="15875">
            <a:solidFill>
              <a:srgbClr val="8A94A3"/>
            </a:solidFill>
            <a:prstDash val="solid"/>
          </a:ln>
        </p:spPr>
        <p:txBody>
          <a:bodyPr/>
          <a:p/>
        </p:txBody>
      </p:sp>
      <p:sp>
        <p:nvSpPr>
          <p:cNvPr id="13" name="Text 10"/>
          <p:cNvSpPr txBox="1"/>
          <p:nvPr/>
        </p:nvSpPr>
        <p:spPr>
          <a:xfrm>
            <a:off x="548640" y="3977640"/>
            <a:ext cx="530352" cy="530352"/>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xₙ</a:t>
            </a:r>
            <a:endParaRPr lang="en-US" sz="1800" dirty="0"/>
          </a:p>
        </p:txBody>
      </p:sp>
      <p:sp>
        <p:nvSpPr>
          <p:cNvPr id="14" name="Shape 11"/>
          <p:cNvSpPr/>
          <p:nvPr/>
        </p:nvSpPr>
        <p:spPr>
          <a:xfrm flipV="1">
            <a:off x="1078992" y="3063240"/>
            <a:ext cx="1527048" cy="1179576"/>
          </a:xfrm>
          <a:prstGeom prst="line">
            <a:avLst/>
          </a:prstGeom>
          <a:noFill/>
          <a:ln w="19050">
            <a:solidFill>
              <a:srgbClr val="8A94A3"/>
            </a:solidFill>
            <a:prstDash val="solid"/>
          </a:ln>
        </p:spPr>
        <p:txBody>
          <a:bodyPr/>
          <a:p/>
        </p:txBody>
      </p:sp>
      <p:sp>
        <p:nvSpPr>
          <p:cNvPr id="15" name="Text 12"/>
          <p:cNvSpPr txBox="1"/>
          <p:nvPr/>
        </p:nvSpPr>
        <p:spPr>
          <a:xfrm>
            <a:off x="1325880" y="1920240"/>
            <a:ext cx="118872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weights w</a:t>
            </a:r>
            <a:endParaRPr lang="en-US" sz="1500" dirty="0"/>
          </a:p>
        </p:txBody>
      </p:sp>
      <p:sp>
        <p:nvSpPr>
          <p:cNvPr id="16" name="Shape 13"/>
          <p:cNvSpPr/>
          <p:nvPr/>
        </p:nvSpPr>
        <p:spPr>
          <a:xfrm>
            <a:off x="2606040" y="2679192"/>
            <a:ext cx="768096" cy="768096"/>
          </a:xfrm>
          <a:prstGeom prst="ellipse">
            <a:avLst/>
          </a:prstGeom>
          <a:solidFill>
            <a:srgbClr val="0F7C82"/>
          </a:solidFill>
          <a:ln/>
        </p:spPr>
        <p:txBody>
          <a:bodyPr/>
          <a:p/>
        </p:txBody>
      </p:sp>
      <p:sp>
        <p:nvSpPr>
          <p:cNvPr id="17" name="Text 14"/>
          <p:cNvSpPr txBox="1"/>
          <p:nvPr/>
        </p:nvSpPr>
        <p:spPr>
          <a:xfrm>
            <a:off x="2606040" y="2679192"/>
            <a:ext cx="768096" cy="768096"/>
          </a:xfrm>
          <a:prstGeom prst="rect">
            <a:avLst/>
          </a:prstGeom>
          <a:no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Σ</a:t>
            </a:r>
            <a:endParaRPr lang="en-US" sz="2800" dirty="0"/>
          </a:p>
        </p:txBody>
      </p:sp>
      <p:sp>
        <p:nvSpPr>
          <p:cNvPr id="18" name="Shape 15"/>
          <p:cNvSpPr/>
          <p:nvPr/>
        </p:nvSpPr>
        <p:spPr>
          <a:xfrm>
            <a:off x="2990088" y="2011680"/>
            <a:ext cx="91" cy="640080"/>
          </a:xfrm>
          <a:prstGeom prst="line">
            <a:avLst/>
          </a:prstGeom>
          <a:noFill/>
          <a:ln w="19050">
            <a:solidFill>
              <a:srgbClr val="8A94A3"/>
            </a:solidFill>
            <a:prstDash val="solid"/>
            <a:tailEnd type="triangle"/>
          </a:ln>
        </p:spPr>
        <p:txBody>
          <a:bodyPr/>
          <a:p/>
        </p:txBody>
      </p:sp>
      <p:sp>
        <p:nvSpPr>
          <p:cNvPr id="19" name="Text 16"/>
          <p:cNvSpPr txBox="1"/>
          <p:nvPr/>
        </p:nvSpPr>
        <p:spPr>
          <a:xfrm>
            <a:off x="2834640" y="1664208"/>
            <a:ext cx="320040" cy="320040"/>
          </a:xfrm>
          <a:prstGeom prst="rect">
            <a:avLst/>
          </a:prstGeom>
          <a:noFill/>
          <a:ln/>
        </p:spPr>
        <p:txBody>
          <a:bodyPr wrap="square" lIns="0" tIns="0" rIns="0" bIns="0" rtlCol="0" anchor="t"/>
          <a:lstStyle/>
          <a:p>
            <a:pPr algn="ctr" indent="0" marL="0">
              <a:buNone/>
            </a:pPr>
            <a:r>
              <a:rPr lang="en-US" sz="1800" i="1" dirty="0">
                <a:solidFill>
                  <a:srgbClr val="17202E"/>
                </a:solidFill>
                <a:latin typeface="Cambria" pitchFamily="34" charset="0"/>
                <a:ea typeface="Cambria" pitchFamily="34" charset="-122"/>
                <a:cs typeface="Cambria" pitchFamily="34" charset="-120"/>
              </a:rPr>
              <a:t>b</a:t>
            </a:r>
            <a:endParaRPr lang="en-US" sz="1800" dirty="0"/>
          </a:p>
        </p:txBody>
      </p:sp>
      <p:sp>
        <p:nvSpPr>
          <p:cNvPr id="20" name="Shape 17"/>
          <p:cNvSpPr/>
          <p:nvPr/>
        </p:nvSpPr>
        <p:spPr>
          <a:xfrm>
            <a:off x="3383280" y="3063240"/>
            <a:ext cx="457200" cy="91"/>
          </a:xfrm>
          <a:prstGeom prst="line">
            <a:avLst/>
          </a:prstGeom>
          <a:noFill/>
          <a:ln w="22225">
            <a:solidFill>
              <a:srgbClr val="0F7C82"/>
            </a:solidFill>
            <a:prstDash val="solid"/>
            <a:tailEnd type="triangle"/>
          </a:ln>
        </p:spPr>
        <p:txBody>
          <a:bodyPr/>
          <a:p/>
        </p:txBody>
      </p:sp>
      <p:sp>
        <p:nvSpPr>
          <p:cNvPr id="21" name="Shape 18"/>
          <p:cNvSpPr/>
          <p:nvPr/>
        </p:nvSpPr>
        <p:spPr>
          <a:xfrm>
            <a:off x="3886200" y="2724912"/>
            <a:ext cx="914400" cy="685800"/>
          </a:xfrm>
          <a:prstGeom prst="roundRect">
            <a:avLst>
              <a:gd name="adj" fmla="val 13333"/>
            </a:avLst>
          </a:prstGeom>
          <a:solidFill>
            <a:srgbClr val="E2F1F1"/>
          </a:solidFill>
          <a:ln w="15875">
            <a:solidFill>
              <a:srgbClr val="0F7C82"/>
            </a:solidFill>
            <a:prstDash val="solid"/>
          </a:ln>
        </p:spPr>
        <p:txBody>
          <a:bodyPr/>
          <a:p/>
        </p:txBody>
      </p:sp>
      <p:sp>
        <p:nvSpPr>
          <p:cNvPr id="22" name="Text 19"/>
          <p:cNvSpPr txBox="1"/>
          <p:nvPr/>
        </p:nvSpPr>
        <p:spPr>
          <a:xfrm>
            <a:off x="3931920" y="2724912"/>
            <a:ext cx="822960" cy="68580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step</a:t>
            </a:r>
            <a:endParaRPr lang="en-US" sz="1900" dirty="0"/>
          </a:p>
        </p:txBody>
      </p:sp>
      <p:sp>
        <p:nvSpPr>
          <p:cNvPr id="23" name="Shape 20"/>
          <p:cNvSpPr/>
          <p:nvPr/>
        </p:nvSpPr>
        <p:spPr>
          <a:xfrm>
            <a:off x="4846320" y="3063240"/>
            <a:ext cx="320040" cy="91"/>
          </a:xfrm>
          <a:prstGeom prst="line">
            <a:avLst/>
          </a:prstGeom>
          <a:noFill/>
          <a:ln w="22225">
            <a:solidFill>
              <a:srgbClr val="0F7C82"/>
            </a:solidFill>
            <a:prstDash val="solid"/>
            <a:tailEnd type="triangle"/>
          </a:ln>
        </p:spPr>
        <p:txBody>
          <a:bodyPr/>
          <a:p/>
        </p:txBody>
      </p:sp>
      <p:sp>
        <p:nvSpPr>
          <p:cNvPr id="24" name="Text 21"/>
          <p:cNvSpPr txBox="1"/>
          <p:nvPr/>
        </p:nvSpPr>
        <p:spPr>
          <a:xfrm>
            <a:off x="5193792" y="2862072"/>
            <a:ext cx="365760" cy="411480"/>
          </a:xfrm>
          <a:prstGeom prst="rect">
            <a:avLst/>
          </a:prstGeom>
          <a:noFill/>
          <a:ln/>
        </p:spPr>
        <p:txBody>
          <a:bodyPr wrap="square" lIns="0" tIns="0" rIns="0" bIns="0" rtlCol="0" anchor="t"/>
          <a:lstStyle/>
          <a:p>
            <a:pPr indent="0" marL="0">
              <a:buNone/>
            </a:pPr>
            <a:r>
              <a:rPr lang="en-US" sz="2000" i="1" dirty="0">
                <a:solidFill>
                  <a:srgbClr val="17202E"/>
                </a:solidFill>
                <a:latin typeface="Cambria" pitchFamily="34" charset="0"/>
                <a:ea typeface="Cambria" pitchFamily="34" charset="-122"/>
                <a:cs typeface="Cambria" pitchFamily="34" charset="-120"/>
              </a:rPr>
              <a:t>a</a:t>
            </a:r>
            <a:endParaRPr lang="en-US" sz="2000" dirty="0"/>
          </a:p>
        </p:txBody>
      </p:sp>
      <p:pic>
        <p:nvPicPr>
          <p:cNvPr id="25" name="Image 0" descr="LaTeX: \begin{align*} z &amp;= \w\T\x + b \\ a &amp;= g(z) \end{align*}">    </p:cNvPr>
          <p:cNvPicPr>
            <a:picLocks noChangeAspect="1"/>
          </p:cNvPicPr>
          <p:nvPr/>
        </p:nvPicPr>
        <p:blipFill>
          <a:blip r:embed="rId1"/>
          <a:stretch>
            <a:fillRect/>
          </a:stretch>
        </p:blipFill>
        <p:spPr>
          <a:xfrm>
            <a:off x="731520" y="4736592"/>
            <a:ext cx="1700372" cy="1205087"/>
          </a:xfrm>
          <a:prstGeom prst="rect">
            <a:avLst/>
          </a:prstGeom>
        </p:spPr>
      </p:pic>
      <p:sp>
        <p:nvSpPr>
          <p:cNvPr id="26" name="Text 22"/>
          <p:cNvSpPr txBox="1"/>
          <p:nvPr/>
        </p:nvSpPr>
        <p:spPr>
          <a:xfrm>
            <a:off x="2743200" y="5029200"/>
            <a:ext cx="2560320" cy="73152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z: weighted sum (score)</a:t>
            </a:r>
            <a:endParaRPr lang="en-US" sz="1600" dirty="0"/>
          </a:p>
          <a:p>
            <a:pPr indent="0" marL="0">
              <a:buNone/>
            </a:pPr>
            <a:r>
              <a:rPr lang="en-US" sz="1600" dirty="0">
                <a:solidFill>
                  <a:srgbClr val="5B6675"/>
                </a:solidFill>
                <a:latin typeface="Calibri" pitchFamily="34" charset="0"/>
                <a:ea typeface="Calibri" pitchFamily="34" charset="-122"/>
                <a:cs typeface="Calibri" pitchFamily="34" charset="-120"/>
              </a:rPr>
              <a:t>a: output, 1 = fires</a:t>
            </a:r>
            <a:endParaRPr lang="en-US" sz="1600" dirty="0"/>
          </a:p>
        </p:txBody>
      </p:sp>
      <p:pic>
        <p:nvPicPr>
          <p:cNvPr id="27" name="Image 1" descr="Decision boundary w-transpose-x plus b equals 0 with w perpendicular to it and distance |b|/||w|| from the origin.">    </p:cNvPr>
          <p:cNvPicPr>
            <a:picLocks noChangeAspect="1"/>
          </p:cNvPicPr>
          <p:nvPr/>
        </p:nvPicPr>
        <p:blipFill>
          <a:blip r:embed="rId2"/>
          <a:stretch>
            <a:fillRect/>
          </a:stretch>
        </p:blipFill>
        <p:spPr>
          <a:xfrm>
            <a:off x="5486400" y="1504612"/>
            <a:ext cx="3017520" cy="3254417"/>
          </a:xfrm>
          <a:prstGeom prst="rect">
            <a:avLst/>
          </a:prstGeom>
        </p:spPr>
      </p:pic>
      <p:pic>
        <p:nvPicPr>
          <p:cNvPr id="28" name="Image 2" descr="LaTeX: $\displaystyle \text{signed distance} = \frac{\w\T\x + b}{\lVert\w\rVert}$">    </p:cNvPr>
          <p:cNvPicPr>
            <a:picLocks noChangeAspect="1"/>
          </p:cNvPicPr>
          <p:nvPr/>
        </p:nvPicPr>
        <p:blipFill>
          <a:blip r:embed="rId3"/>
          <a:stretch>
            <a:fillRect/>
          </a:stretch>
        </p:blipFill>
        <p:spPr>
          <a:xfrm>
            <a:off x="5532120" y="5120640"/>
            <a:ext cx="2376373" cy="540944"/>
          </a:xfrm>
          <a:prstGeom prst="rect">
            <a:avLst/>
          </a:prstGeom>
        </p:spPr>
      </p:pic>
      <p:sp>
        <p:nvSpPr>
          <p:cNvPr id="29" name="Shape 23"/>
          <p:cNvSpPr/>
          <p:nvPr/>
        </p:nvSpPr>
        <p:spPr>
          <a:xfrm>
            <a:off x="8732520" y="1463040"/>
            <a:ext cx="365760" cy="365760"/>
          </a:xfrm>
          <a:prstGeom prst="ellipse">
            <a:avLst/>
          </a:prstGeom>
          <a:solidFill>
            <a:srgbClr val="0F7C82"/>
          </a:solidFill>
          <a:ln/>
        </p:spPr>
        <p:txBody>
          <a:bodyPr/>
          <a:p/>
        </p:txBody>
      </p:sp>
      <p:sp>
        <p:nvSpPr>
          <p:cNvPr id="30" name="Text 24"/>
          <p:cNvSpPr txBox="1"/>
          <p:nvPr/>
        </p:nvSpPr>
        <p:spPr>
          <a:xfrm>
            <a:off x="8732520" y="14630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Text 25"/>
          <p:cNvSpPr txBox="1"/>
          <p:nvPr/>
        </p:nvSpPr>
        <p:spPr>
          <a:xfrm>
            <a:off x="9299448" y="144475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 ⟂ boundary</a:t>
            </a:r>
            <a:endParaRPr lang="en-US" sz="1800" dirty="0"/>
          </a:p>
        </p:txBody>
      </p:sp>
      <p:sp>
        <p:nvSpPr>
          <p:cNvPr id="32" name="Text 26"/>
          <p:cNvSpPr txBox="1"/>
          <p:nvPr/>
        </p:nvSpPr>
        <p:spPr>
          <a:xfrm>
            <a:off x="9299448" y="181051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 points toward increasing z.</a:t>
            </a:r>
            <a:endParaRPr lang="en-US" sz="1600" dirty="0"/>
          </a:p>
        </p:txBody>
      </p:sp>
      <p:sp>
        <p:nvSpPr>
          <p:cNvPr id="33" name="Shape 27"/>
          <p:cNvSpPr/>
          <p:nvPr/>
        </p:nvSpPr>
        <p:spPr>
          <a:xfrm>
            <a:off x="8732520" y="2788920"/>
            <a:ext cx="365760" cy="365760"/>
          </a:xfrm>
          <a:prstGeom prst="ellipse">
            <a:avLst/>
          </a:prstGeom>
          <a:solidFill>
            <a:srgbClr val="0F7C82"/>
          </a:solidFill>
          <a:ln/>
        </p:spPr>
        <p:txBody>
          <a:bodyPr/>
          <a:p/>
        </p:txBody>
      </p:sp>
      <p:sp>
        <p:nvSpPr>
          <p:cNvPr id="34" name="Text 28"/>
          <p:cNvSpPr txBox="1"/>
          <p:nvPr/>
        </p:nvSpPr>
        <p:spPr>
          <a:xfrm>
            <a:off x="8732520" y="2788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5" name="Text 29"/>
          <p:cNvSpPr txBox="1"/>
          <p:nvPr/>
        </p:nvSpPr>
        <p:spPr>
          <a:xfrm>
            <a:off x="9299448" y="277063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shifts, never rotates</a:t>
            </a:r>
            <a:endParaRPr lang="en-US" sz="1800" dirty="0"/>
          </a:p>
        </p:txBody>
      </p:sp>
      <p:sp>
        <p:nvSpPr>
          <p:cNvPr id="36" name="Text 30"/>
          <p:cNvSpPr txBox="1"/>
          <p:nvPr/>
        </p:nvSpPr>
        <p:spPr>
          <a:xfrm>
            <a:off x="9299448" y="313639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Distance to origin: |b| / ‖w‖.</a:t>
            </a:r>
            <a:endParaRPr lang="en-US" sz="1600" dirty="0"/>
          </a:p>
        </p:txBody>
      </p:sp>
      <p:sp>
        <p:nvSpPr>
          <p:cNvPr id="37" name="Shape 31"/>
          <p:cNvSpPr/>
          <p:nvPr/>
        </p:nvSpPr>
        <p:spPr>
          <a:xfrm>
            <a:off x="8732520" y="4114800"/>
            <a:ext cx="365760" cy="365760"/>
          </a:xfrm>
          <a:prstGeom prst="ellipse">
            <a:avLst/>
          </a:prstGeom>
          <a:solidFill>
            <a:srgbClr val="0F7C82"/>
          </a:solidFill>
          <a:ln/>
        </p:spPr>
        <p:txBody>
          <a:bodyPr/>
          <a:p/>
        </p:txBody>
      </p:sp>
      <p:sp>
        <p:nvSpPr>
          <p:cNvPr id="38" name="Text 32"/>
          <p:cNvSpPr txBox="1"/>
          <p:nvPr/>
        </p:nvSpPr>
        <p:spPr>
          <a:xfrm>
            <a:off x="8732520" y="41148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9" name="Text 33"/>
          <p:cNvSpPr txBox="1"/>
          <p:nvPr/>
        </p:nvSpPr>
        <p:spPr>
          <a:xfrm>
            <a:off x="9299448" y="4096512"/>
            <a:ext cx="2340864"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Fires on one side</a:t>
            </a:r>
            <a:endParaRPr lang="en-US" sz="1800" dirty="0"/>
          </a:p>
        </p:txBody>
      </p:sp>
      <p:sp>
        <p:nvSpPr>
          <p:cNvPr id="40" name="Text 34"/>
          <p:cNvSpPr txBox="1"/>
          <p:nvPr/>
        </p:nvSpPr>
        <p:spPr>
          <a:xfrm>
            <a:off x="9299448" y="4462272"/>
            <a:ext cx="2340864"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 1 where z &gt; 0: one side of one line.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make the threshold smooth, so the neuron can learn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Linear models can only draw straight boundaries</a:t>
            </a:r>
            <a:endParaRPr lang="en-US" sz="3200" dirty="0"/>
          </a:p>
        </p:txBody>
      </p:sp>
      <p:pic>
        <p:nvPicPr>
          <p:cNvPr id="5" name="Image 0" descr="LaTeX: $\displaystyle \yh = \w\T\x + b = w_1x_1 + w_2x_2 + \dots + w_nx_n + b$">    </p:cNvPr>
          <p:cNvPicPr>
            <a:picLocks noChangeAspect="1"/>
          </p:cNvPicPr>
          <p:nvPr/>
        </p:nvPicPr>
        <p:blipFill>
          <a:blip r:embed="rId1"/>
          <a:stretch>
            <a:fillRect/>
          </a:stretch>
        </p:blipFill>
        <p:spPr>
          <a:xfrm>
            <a:off x="548640" y="1417320"/>
            <a:ext cx="5874014" cy="321777"/>
          </a:xfrm>
          <a:prstGeom prst="rect">
            <a:avLst/>
          </a:prstGeom>
        </p:spPr>
      </p:pic>
      <p:pic>
        <p:nvPicPr>
          <p:cNvPr id="6" name="Image 1" descr="Two-moons data: the logistic-regression boundary is a straight line; the MLP boundary curves around the moons.">    </p:cNvPr>
          <p:cNvPicPr>
            <a:picLocks noChangeAspect="1"/>
          </p:cNvPicPr>
          <p:nvPr/>
        </p:nvPicPr>
        <p:blipFill>
          <a:blip r:embed="rId2"/>
          <a:stretch>
            <a:fillRect/>
          </a:stretch>
        </p:blipFill>
        <p:spPr>
          <a:xfrm>
            <a:off x="1755648" y="1965960"/>
            <a:ext cx="8686800" cy="3474720"/>
          </a:xfrm>
          <a:prstGeom prst="rect">
            <a:avLst/>
          </a:prstGeom>
        </p:spPr>
      </p:pic>
      <p:sp>
        <p:nvSpPr>
          <p:cNvPr id="7" name="Shape 2"/>
          <p:cNvSpPr/>
          <p:nvPr/>
        </p:nvSpPr>
        <p:spPr>
          <a:xfrm>
            <a:off x="548640" y="5486400"/>
            <a:ext cx="11094415" cy="685800"/>
          </a:xfrm>
          <a:prstGeom prst="roundRect">
            <a:avLst>
              <a:gd name="adj" fmla="val 10667"/>
            </a:avLst>
          </a:prstGeom>
          <a:solidFill>
            <a:srgbClr val="E2F1F1"/>
          </a:solidFill>
          <a:ln/>
        </p:spPr>
        <p:txBody>
          <a:bodyPr/>
          <a:p/>
        </p:txBody>
      </p:sp>
      <p:sp>
        <p:nvSpPr>
          <p:cNvPr id="8" name="Text 3"/>
          <p:cNvSpPr txBox="1"/>
          <p:nvPr/>
        </p:nvSpPr>
        <p:spPr>
          <a:xfrm>
            <a:off x="749808" y="553212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One neuron, step or sigmoid: its boundary z = wᵀx + b = 0 is a line (a hyperplane in n-D). No w or b can bend it.</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simplest problem no straight line can solve: XOR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XOR: no straight line separates the classes</a:t>
            </a:r>
            <a:endParaRPr lang="en-US" sz="3200" dirty="0"/>
          </a:p>
        </p:txBody>
      </p:sp>
      <p:pic>
        <p:nvPicPr>
          <p:cNvPr id="5" name="Image 0" descr="XOR points at the corners of the unit square with three failed dashed separating lines.">    </p:cNvPr>
          <p:cNvPicPr>
            <a:picLocks noChangeAspect="1"/>
          </p:cNvPicPr>
          <p:nvPr/>
        </p:nvPicPr>
        <p:blipFill>
          <a:blip r:embed="rId1"/>
          <a:stretch>
            <a:fillRect/>
          </a:stretch>
        </p:blipFill>
        <p:spPr>
          <a:xfrm>
            <a:off x="548640" y="1588090"/>
            <a:ext cx="3931920" cy="4321900"/>
          </a:xfrm>
          <a:prstGeom prst="rect">
            <a:avLst/>
          </a:prstGeom>
        </p:spPr>
      </p:pic>
      <p:sp>
        <p:nvSpPr>
          <p:cNvPr id="6" name="Text 2"/>
          <p:cNvSpPr txBox="1"/>
          <p:nvPr/>
        </p:nvSpPr>
        <p:spPr>
          <a:xfrm>
            <a:off x="4846320" y="14173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PREDICT CLASS 1 WHEN W₁X₁ + W₂X₂ + B &gt; 0. EACH POINT DEMANDS:</a:t>
            </a:r>
            <a:endParaRPr lang="en-US" sz="1300" dirty="0"/>
          </a:p>
        </p:txBody>
      </p:sp>
      <p:sp>
        <p:nvSpPr>
          <p:cNvPr id="7" name="Shape 3"/>
          <p:cNvSpPr/>
          <p:nvPr/>
        </p:nvSpPr>
        <p:spPr>
          <a:xfrm>
            <a:off x="4846320" y="1783080"/>
            <a:ext cx="6793992" cy="1965960"/>
          </a:xfrm>
          <a:prstGeom prst="roundRect">
            <a:avLst>
              <a:gd name="adj" fmla="val 3721"/>
            </a:avLst>
          </a:prstGeom>
          <a:solidFill>
            <a:srgbClr val="F3F5F8"/>
          </a:solidFill>
          <a:ln/>
        </p:spPr>
      </p:sp>
      <p:pic>
        <p:nvPicPr>
          <p:cNvPr id="8" name="Image 1" descr="LaTeX: \begin{align*} (0,0)\mapsto 0 &amp;: \quad b \le 0\\ (0,1)\mapsto 1 &amp;: \quad w_2 + b &gt; 0\\ (1,0)\mapsto 1 &amp;: \quad w_1 + b &gt; 0\\ (1,1)\mapsto 0 &amp;: \quad w_1 + w_2 + b \le 0 \end{align*}">    </p:cNvPr>
          <p:cNvPicPr>
            <a:picLocks noChangeAspect="1"/>
          </p:cNvPicPr>
          <p:nvPr/>
        </p:nvPicPr>
        <p:blipFill>
          <a:blip r:embed="rId2"/>
          <a:stretch>
            <a:fillRect/>
          </a:stretch>
        </p:blipFill>
        <p:spPr>
          <a:xfrm>
            <a:off x="5120640" y="1920240"/>
            <a:ext cx="3199638" cy="1395679"/>
          </a:xfrm>
          <a:prstGeom prst="rect">
            <a:avLst/>
          </a:prstGeom>
        </p:spPr>
      </p:pic>
      <p:sp>
        <p:nvSpPr>
          <p:cNvPr id="9" name="Text 4"/>
          <p:cNvSpPr txBox="1"/>
          <p:nvPr/>
        </p:nvSpPr>
        <p:spPr>
          <a:xfrm>
            <a:off x="4846320" y="3931920"/>
            <a:ext cx="6766560" cy="274320"/>
          </a:xfrm>
          <a:prstGeom prst="rect">
            <a:avLst/>
          </a:prstGeom>
          <a:noFill/>
          <a:ln/>
        </p:spPr>
        <p:txBody>
          <a:bodyPr wrap="square" lIns="0" tIns="0" rIns="0" bIns="0" rtlCol="0" anchor="t"/>
          <a:lstStyle/>
          <a:p>
            <a:pPr indent="0" marL="0">
              <a:buNone/>
            </a:pPr>
            <a:r>
              <a:rPr lang="en-US" sz="1300" b="1" spc="150" kern="0" dirty="0">
                <a:solidFill>
                  <a:srgbClr val="5B6675"/>
                </a:solidFill>
                <a:latin typeface="Calibri" pitchFamily="34" charset="0"/>
                <a:ea typeface="Calibri" pitchFamily="34" charset="-122"/>
                <a:cs typeface="Calibri" pitchFamily="34" charset="-120"/>
              </a:rPr>
              <a:t>COMBINE ROWS 1 – 3</a:t>
            </a:r>
            <a:endParaRPr lang="en-US" sz="1300" dirty="0"/>
          </a:p>
        </p:txBody>
      </p:sp>
      <p:pic>
        <p:nvPicPr>
          <p:cNvPr id="10" name="Image 2" descr="LaTeX: \begin{align*} \text{add rows 2, 3:}\quad &amp; w_1 + w_2 + 2b &gt; 0\\ \text{use } b\le 0:\quad &amp; w_1 + w_2 + b \;&gt;\; -b \;\ge\; 0 \end{align*}">    </p:cNvPr>
          <p:cNvPicPr>
            <a:picLocks noChangeAspect="1"/>
          </p:cNvPicPr>
          <p:nvPr/>
        </p:nvPicPr>
        <p:blipFill>
          <a:blip r:embed="rId3"/>
          <a:stretch>
            <a:fillRect/>
          </a:stretch>
        </p:blipFill>
        <p:spPr>
          <a:xfrm>
            <a:off x="5120640" y="4297680"/>
            <a:ext cx="4340504" cy="634136"/>
          </a:xfrm>
          <a:prstGeom prst="rect">
            <a:avLst/>
          </a:prstGeom>
        </p:spPr>
      </p:pic>
      <p:sp>
        <p:nvSpPr>
          <p:cNvPr id="11" name="Shape 5"/>
          <p:cNvSpPr/>
          <p:nvPr/>
        </p:nvSpPr>
        <p:spPr>
          <a:xfrm>
            <a:off x="4846320" y="5349240"/>
            <a:ext cx="6793992" cy="777240"/>
          </a:xfrm>
          <a:prstGeom prst="roundRect">
            <a:avLst>
              <a:gd name="adj" fmla="val 9412"/>
            </a:avLst>
          </a:prstGeom>
          <a:solidFill>
            <a:srgbClr val="FBEADF"/>
          </a:solidFill>
          <a:ln/>
        </p:spPr>
      </p:sp>
      <p:sp>
        <p:nvSpPr>
          <p:cNvPr id="12" name="Text 6"/>
          <p:cNvSpPr txBox="1"/>
          <p:nvPr/>
        </p:nvSpPr>
        <p:spPr>
          <a:xfrm>
            <a:off x="5047488" y="5394960"/>
            <a:ext cx="6391656"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Contradiction with row 4: no such w₁, w₂, b exist.</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keep the straight line, change the space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better representation makes XOR easy</a:t>
            </a:r>
            <a:endParaRPr lang="en-US" sz="3200" dirty="0"/>
          </a:p>
        </p:txBody>
      </p:sp>
      <p:pic>
        <p:nvPicPr>
          <p:cNvPr id="5" name="Image 0" descr="XOR points lifted to 3-D using the feature x1 times x2, separated by a plane.">    </p:cNvPr>
          <p:cNvPicPr>
            <a:picLocks noChangeAspect="1"/>
          </p:cNvPicPr>
          <p:nvPr/>
        </p:nvPicPr>
        <p:blipFill>
          <a:blip r:embed="rId1"/>
          <a:stretch>
            <a:fillRect/>
          </a:stretch>
        </p:blipFill>
        <p:spPr>
          <a:xfrm>
            <a:off x="672090" y="1325880"/>
            <a:ext cx="4690860" cy="4480560"/>
          </a:xfrm>
          <a:prstGeom prst="rect">
            <a:avLst/>
          </a:prstGeom>
        </p:spPr>
      </p:pic>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852160" y="1417320"/>
          <a:ext cx="3291840" cy="914400"/>
        </p:xfrm>
        <a:graphic>
          <a:graphicData uri="http://schemas.openxmlformats.org/drawingml/2006/table">
            <a:tbl>
              <a:tblPr/>
              <a:tblGrid>
                <a:gridCol w="822960"/>
                <a:gridCol w="822960"/>
                <a:gridCol w="822960"/>
                <a:gridCol w="822960"/>
              </a:tblGrid>
              <a:tr h="45720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x₁x₂</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7" name="Shape 2"/>
          <p:cNvSpPr/>
          <p:nvPr/>
        </p:nvSpPr>
        <p:spPr>
          <a:xfrm>
            <a:off x="5852160" y="4023360"/>
            <a:ext cx="5788152" cy="1143000"/>
          </a:xfrm>
          <a:prstGeom prst="roundRect">
            <a:avLst>
              <a:gd name="adj" fmla="val 6400"/>
            </a:avLst>
          </a:prstGeom>
          <a:solidFill>
            <a:srgbClr val="E2F1F1"/>
          </a:solidFill>
          <a:ln/>
        </p:spPr>
      </p:sp>
      <p:sp>
        <p:nvSpPr>
          <p:cNvPr id="8" name="Text 3"/>
          <p:cNvSpPr txBox="1"/>
          <p:nvPr/>
        </p:nvSpPr>
        <p:spPr>
          <a:xfrm>
            <a:off x="6080760" y="416052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LINEAR IN THE NEW SPACE</a:t>
            </a:r>
            <a:endParaRPr lang="en-US" sz="1300" dirty="0"/>
          </a:p>
        </p:txBody>
      </p:sp>
      <p:pic>
        <p:nvPicPr>
          <p:cNvPr id="9" name="Image 1" descr="LaTeX: $\displaystyle y = x_1 + x_2 - 2\,x_1x_2$">    </p:cNvPr>
          <p:cNvPicPr>
            <a:picLocks noChangeAspect="1"/>
          </p:cNvPicPr>
          <p:nvPr/>
        </p:nvPicPr>
        <p:blipFill>
          <a:blip r:embed="rId2"/>
          <a:stretch>
            <a:fillRect/>
          </a:stretch>
        </p:blipFill>
        <p:spPr>
          <a:xfrm>
            <a:off x="6080760" y="4526280"/>
            <a:ext cx="2337816" cy="289560"/>
          </a:xfrm>
          <a:prstGeom prst="rect">
            <a:avLst/>
          </a:prstGeom>
        </p:spPr>
      </p:pic>
      <p:sp>
        <p:nvSpPr>
          <p:cNvPr id="10" name="Shape 4"/>
          <p:cNvSpPr/>
          <p:nvPr/>
        </p:nvSpPr>
        <p:spPr>
          <a:xfrm>
            <a:off x="5852160" y="5349240"/>
            <a:ext cx="5788152" cy="777240"/>
          </a:xfrm>
          <a:prstGeom prst="roundRect">
            <a:avLst>
              <a:gd name="adj" fmla="val 9412"/>
            </a:avLst>
          </a:prstGeom>
          <a:solidFill>
            <a:srgbClr val="17202E"/>
          </a:solidFill>
          <a:ln/>
        </p:spPr>
      </p:sp>
      <p:sp>
        <p:nvSpPr>
          <p:cNvPr id="11" name="Text 5"/>
          <p:cNvSpPr txBox="1"/>
          <p:nvPr/>
        </p:nvSpPr>
        <p:spPr>
          <a:xfrm>
            <a:off x="6053328" y="5394960"/>
            <a:ext cx="5385816" cy="6858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 hard problem in one representation can be easy in another.</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8</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who designs such features? Let the network learn them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WHY NEURAL NETWORKS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neural-network idea: learn the features too</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Learned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Linear model on top</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both trained together by gradient descent on one loss</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Task-driven</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Shaped by the loss you care about, not by an expert's guess.</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Reusable</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Edge and texture detectors transfer across vision tasks.</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Composable</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Layer 2 builds on layer 1: this hierarchy is what “deep” means.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g must sit between the layers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NEURON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Smooth activations give gradients: the sigmoid neuron</a:t>
            </a:r>
            <a:endParaRPr lang="en-US" sz="3200" dirty="0"/>
          </a:p>
        </p:txBody>
      </p:sp>
      <p:graphicFrame>
        <p:nvGraphicFramePr>
          <p:cNvPr id="5" name="Chart 0" descr="Sigmoid and its derivative; the derivative peaks at 0.25 at z = 0."/>
          <p:cNvGraphicFramePr/>
          <p:nvPr/>
        </p:nvGraphicFramePr>
        <p:xfrm>
          <a:off x="457200" y="141732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5760720" y="1417320"/>
            <a:ext cx="5879592" cy="1417320"/>
          </a:xfrm>
          <a:prstGeom prst="roundRect">
            <a:avLst>
              <a:gd name="adj" fmla="val 5161"/>
            </a:avLst>
          </a:prstGeom>
          <a:solidFill>
            <a:srgbClr val="FBEADF"/>
          </a:solidFill>
          <a:ln/>
        </p:spPr>
        <p:txBody>
          <a:bodyPr/>
          <a:p/>
        </p:txBody>
      </p:sp>
      <p:sp>
        <p:nvSpPr>
          <p:cNvPr id="7" name="Text 3"/>
          <p:cNvSpPr txBox="1"/>
          <p:nvPr/>
        </p:nvSpPr>
        <p:spPr>
          <a:xfrm>
            <a:off x="5961888" y="1581912"/>
            <a:ext cx="5477256"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THE STEP NEURON: NO GRADIENT</a:t>
            </a:r>
            <a:endParaRPr lang="en-US" sz="1300" dirty="0"/>
          </a:p>
        </p:txBody>
      </p:sp>
      <p:sp>
        <p:nvSpPr>
          <p:cNvPr id="8" name="Text 4"/>
          <p:cNvSpPr txBox="1"/>
          <p:nvPr/>
        </p:nvSpPr>
        <p:spPr>
          <a:xfrm>
            <a:off x="5961888" y="1947672"/>
            <a:ext cx="5477256" cy="7772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g′(z) = 0 wherever it is defined: no gradient flows through a stack of steps.</a:t>
            </a:r>
            <a:endParaRPr lang="en-US" sz="1700" dirty="0"/>
          </a:p>
        </p:txBody>
      </p:sp>
      <p:sp>
        <p:nvSpPr>
          <p:cNvPr id="9" name="Shape 5"/>
          <p:cNvSpPr/>
          <p:nvPr/>
        </p:nvSpPr>
        <p:spPr>
          <a:xfrm>
            <a:off x="5760720" y="3017520"/>
            <a:ext cx="5879592" cy="2606040"/>
          </a:xfrm>
          <a:prstGeom prst="roundRect">
            <a:avLst>
              <a:gd name="adj" fmla="val 2807"/>
            </a:avLst>
          </a:prstGeom>
          <a:solidFill>
            <a:srgbClr val="F3F5F8"/>
          </a:solidFill>
          <a:ln/>
        </p:spPr>
        <p:txBody>
          <a:bodyPr/>
          <a:p/>
        </p:txBody>
      </p:sp>
      <p:sp>
        <p:nvSpPr>
          <p:cNvPr id="10" name="Text 6"/>
          <p:cNvSpPr txBox="1"/>
          <p:nvPr/>
        </p:nvSpPr>
        <p:spPr>
          <a:xfrm>
            <a:off x="5961888" y="317296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 LOGIT z IS THE LOG-ODDS; SOLVE FOR P</a:t>
            </a:r>
            <a:endParaRPr lang="en-US" sz="1300" dirty="0"/>
          </a:p>
        </p:txBody>
      </p:sp>
      <p:pic>
        <p:nvPicPr>
          <p:cNvPr id="11" name="Image 0" descr="LaTeX: \begin{align*} \log\frac{p}{1-p} &amp;= \w\T\x + b = z\\[2pt] \Rightarrow\quad p &amp;= \frac{1}{1+e^{-z}} = \sigma(z) \end{align*}">    </p:cNvPr>
          <p:cNvPicPr>
            <a:picLocks noChangeAspect="1"/>
          </p:cNvPicPr>
          <p:nvPr/>
        </p:nvPicPr>
        <p:blipFill>
          <a:blip r:embed="rId2"/>
          <a:stretch>
            <a:fillRect/>
          </a:stretch>
        </p:blipFill>
        <p:spPr>
          <a:xfrm>
            <a:off x="5989320" y="3520440"/>
            <a:ext cx="2616708" cy="1072591"/>
          </a:xfrm>
          <a:prstGeom prst="rect">
            <a:avLst/>
          </a:prstGeom>
        </p:spPr>
      </p:pic>
      <p:pic>
        <p:nvPicPr>
          <p:cNvPr id="12" name="Image 1" descr="LaTeX: $\displaystyle \sigma'(z) = \sigma(z)\,\bigl(1-\sigma(z)\bigr) \;\le\; \tfrac14$">    </p:cNvPr>
          <p:cNvPicPr>
            <a:picLocks noChangeAspect="1"/>
          </p:cNvPicPr>
          <p:nvPr/>
        </p:nvPicPr>
        <p:blipFill>
          <a:blip r:embed="rId3"/>
          <a:stretch>
            <a:fillRect/>
          </a:stretch>
        </p:blipFill>
        <p:spPr>
          <a:xfrm>
            <a:off x="5989320" y="4937760"/>
            <a:ext cx="2746248" cy="321259"/>
          </a:xfrm>
          <a:prstGeom prst="rect">
            <a:avLst/>
          </a:prstGeom>
        </p:spPr>
      </p:pic>
      <p:sp>
        <p:nvSpPr>
          <p:cNvPr id="13" name="Shape 7"/>
          <p:cNvSpPr/>
          <p:nvPr/>
        </p:nvSpPr>
        <p:spPr>
          <a:xfrm>
            <a:off x="5760720" y="5669280"/>
            <a:ext cx="5879592" cy="548640"/>
          </a:xfrm>
          <a:prstGeom prst="roundRect">
            <a:avLst>
              <a:gd name="adj" fmla="val 13333"/>
            </a:avLst>
          </a:prstGeom>
          <a:solidFill>
            <a:srgbClr val="E2F1F1"/>
          </a:solidFill>
          <a:ln/>
        </p:spPr>
        <p:txBody>
          <a:bodyPr/>
          <a:p/>
        </p:txBody>
      </p:sp>
      <p:sp>
        <p:nvSpPr>
          <p:cNvPr id="14" name="Text 8"/>
          <p:cNvSpPr txBox="1"/>
          <p:nvPr/>
        </p:nvSpPr>
        <p:spPr>
          <a:xfrm>
            <a:off x="5961888" y="5715000"/>
            <a:ext cx="547725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Logistic regression is a single sigmoid neuron.</a:t>
            </a:r>
            <a:endParaRPr lang="en-US" sz="1800" dirty="0"/>
          </a:p>
        </p:txBody>
      </p:sp>
      <p:sp>
        <p:nvSpPr>
          <p:cNvPr id="15" name="Text 9"/>
          <p:cNvSpPr txBox="1"/>
          <p:nvPr/>
        </p:nvSpPr>
        <p:spPr>
          <a:xfrm>
            <a:off x="548640" y="5650992"/>
            <a:ext cx="4937760" cy="566928"/>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Maximum slope of σ: 1/4, at z = 0.</a:t>
            </a:r>
            <a:endParaRPr lang="en-US" sz="1600" dirty="0"/>
          </a:p>
          <a:p>
            <a:pPr indent="0" marL="0">
              <a:buNone/>
            </a:pPr>
            <a:r>
              <a:rPr lang="en-US" sz="1400" i="1" dirty="0">
                <a:solidFill>
                  <a:srgbClr val="5B6675"/>
                </a:solidFill>
                <a:latin typeface="Calibri" pitchFamily="34" charset="0"/>
                <a:ea typeface="Calibri" pitchFamily="34" charset="-122"/>
                <a:cs typeface="Calibri" pitchFamily="34" charset="-120"/>
              </a:rPr>
              <a:t>Scaling w and b by k: same boundary, k× steeper switch.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smooth or not, one neuron still draws a straight line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Without a nonlinearity, depth collapses to one layer</a:t>
            </a:r>
            <a:endParaRPr lang="en-US" sz="3200" dirty="0"/>
          </a:p>
        </p:txBody>
      </p:sp>
      <p:sp>
        <p:nvSpPr>
          <p:cNvPr id="5" name="Shape 2"/>
          <p:cNvSpPr/>
          <p:nvPr/>
        </p:nvSpPr>
        <p:spPr>
          <a:xfrm>
            <a:off x="548640" y="1600200"/>
            <a:ext cx="685800" cy="777240"/>
          </a:xfrm>
          <a:prstGeom prst="roundRect">
            <a:avLst>
              <a:gd name="adj" fmla="val 13333"/>
            </a:avLst>
          </a:prstGeom>
          <a:solidFill>
            <a:srgbClr val="FFFFFF"/>
          </a:solidFill>
          <a:ln w="15875">
            <a:solidFill>
              <a:srgbClr val="8A94A3"/>
            </a:solidFill>
            <a:prstDash val="solid"/>
          </a:ln>
        </p:spPr>
      </p:sp>
      <p:sp>
        <p:nvSpPr>
          <p:cNvPr id="6" name="Text 3"/>
          <p:cNvSpPr txBox="1"/>
          <p:nvPr/>
        </p:nvSpPr>
        <p:spPr>
          <a:xfrm>
            <a:off x="5943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7" name="Shape 4"/>
          <p:cNvSpPr/>
          <p:nvPr/>
        </p:nvSpPr>
        <p:spPr>
          <a:xfrm>
            <a:off x="1280160" y="1984248"/>
            <a:ext cx="228600" cy="91"/>
          </a:xfrm>
          <a:prstGeom prst="line">
            <a:avLst/>
          </a:prstGeom>
          <a:noFill/>
          <a:ln w="22225">
            <a:solidFill>
              <a:srgbClr val="5B6675"/>
            </a:solidFill>
            <a:prstDash val="solid"/>
            <a:tailEnd type="triangle"/>
          </a:ln>
        </p:spPr>
      </p:sp>
      <p:sp>
        <p:nvSpPr>
          <p:cNvPr id="8" name="Shape 5"/>
          <p:cNvSpPr/>
          <p:nvPr/>
        </p:nvSpPr>
        <p:spPr>
          <a:xfrm>
            <a:off x="1554480" y="1600200"/>
            <a:ext cx="1371600" cy="777240"/>
          </a:xfrm>
          <a:prstGeom prst="roundRect">
            <a:avLst>
              <a:gd name="adj" fmla="val 11765"/>
            </a:avLst>
          </a:prstGeom>
          <a:solidFill>
            <a:srgbClr val="FFFFFF"/>
          </a:solidFill>
          <a:ln w="15875">
            <a:solidFill>
              <a:srgbClr val="8A94A3"/>
            </a:solidFill>
            <a:prstDash val="solid"/>
          </a:ln>
        </p:spPr>
      </p:sp>
      <p:sp>
        <p:nvSpPr>
          <p:cNvPr id="9" name="Text 6"/>
          <p:cNvSpPr txBox="1"/>
          <p:nvPr/>
        </p:nvSpPr>
        <p:spPr>
          <a:xfrm>
            <a:off x="160020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[1]</a:t>
            </a:r>
            <a:endParaRPr lang="en-US" sz="1800" dirty="0"/>
          </a:p>
        </p:txBody>
      </p:sp>
      <p:sp>
        <p:nvSpPr>
          <p:cNvPr id="10" name="Shape 7"/>
          <p:cNvSpPr/>
          <p:nvPr/>
        </p:nvSpPr>
        <p:spPr>
          <a:xfrm>
            <a:off x="2971800" y="1984248"/>
            <a:ext cx="228600" cy="91"/>
          </a:xfrm>
          <a:prstGeom prst="line">
            <a:avLst/>
          </a:prstGeom>
          <a:noFill/>
          <a:ln w="22225">
            <a:solidFill>
              <a:srgbClr val="5B6675"/>
            </a:solidFill>
            <a:prstDash val="solid"/>
            <a:tailEnd type="triangle"/>
          </a:ln>
        </p:spPr>
      </p:sp>
      <p:sp>
        <p:nvSpPr>
          <p:cNvPr id="11" name="Shape 8"/>
          <p:cNvSpPr/>
          <p:nvPr/>
        </p:nvSpPr>
        <p:spPr>
          <a:xfrm>
            <a:off x="3246120" y="1600200"/>
            <a:ext cx="1371600" cy="777240"/>
          </a:xfrm>
          <a:prstGeom prst="roundRect">
            <a:avLst>
              <a:gd name="adj" fmla="val 11765"/>
            </a:avLst>
          </a:prstGeom>
          <a:solidFill>
            <a:srgbClr val="FFFFFF"/>
          </a:solidFill>
          <a:ln w="15875">
            <a:solidFill>
              <a:srgbClr val="8A94A3"/>
            </a:solidFill>
            <a:prstDash val="solid"/>
          </a:ln>
        </p:spPr>
      </p:sp>
      <p:sp>
        <p:nvSpPr>
          <p:cNvPr id="12" name="Text 9"/>
          <p:cNvSpPr txBox="1"/>
          <p:nvPr/>
        </p:nvSpPr>
        <p:spPr>
          <a:xfrm>
            <a:off x="329184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[2]</a:t>
            </a:r>
            <a:endParaRPr lang="en-US" sz="1800" dirty="0"/>
          </a:p>
        </p:txBody>
      </p:sp>
      <p:sp>
        <p:nvSpPr>
          <p:cNvPr id="13" name="Shape 10"/>
          <p:cNvSpPr/>
          <p:nvPr/>
        </p:nvSpPr>
        <p:spPr>
          <a:xfrm>
            <a:off x="4663440" y="1984248"/>
            <a:ext cx="228600" cy="91"/>
          </a:xfrm>
          <a:prstGeom prst="line">
            <a:avLst/>
          </a:prstGeom>
          <a:noFill/>
          <a:ln w="22225">
            <a:solidFill>
              <a:srgbClr val="5B6675"/>
            </a:solidFill>
            <a:prstDash val="solid"/>
            <a:tailEnd type="triangle"/>
          </a:ln>
        </p:spPr>
      </p:sp>
      <p:sp>
        <p:nvSpPr>
          <p:cNvPr id="14" name="Shape 11"/>
          <p:cNvSpPr/>
          <p:nvPr/>
        </p:nvSpPr>
        <p:spPr>
          <a:xfrm>
            <a:off x="4937760" y="1600200"/>
            <a:ext cx="1371600" cy="777240"/>
          </a:xfrm>
          <a:prstGeom prst="roundRect">
            <a:avLst>
              <a:gd name="adj" fmla="val 11765"/>
            </a:avLst>
          </a:prstGeom>
          <a:solidFill>
            <a:srgbClr val="FFFFFF"/>
          </a:solidFill>
          <a:ln w="15875">
            <a:solidFill>
              <a:srgbClr val="8A94A3"/>
            </a:solidFill>
            <a:prstDash val="solid"/>
          </a:ln>
        </p:spPr>
      </p:sp>
      <p:sp>
        <p:nvSpPr>
          <p:cNvPr id="15" name="Text 12"/>
          <p:cNvSpPr txBox="1"/>
          <p:nvPr/>
        </p:nvSpPr>
        <p:spPr>
          <a:xfrm>
            <a:off x="4983480" y="1600200"/>
            <a:ext cx="12801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pPr algn="ctr" indent="0" marL="0">
              <a:buNone/>
            </a:pPr>
            <a:r>
              <a:rPr lang="en-US" sz="1800" baseline="30000" dirty="0">
                <a:solidFill>
                  <a:srgbClr val="17202E"/>
                </a:solidFill>
                <a:latin typeface="Cambria" pitchFamily="34" charset="0"/>
                <a:ea typeface="Cambria" pitchFamily="34" charset="-122"/>
                <a:cs typeface="Cambria" pitchFamily="34" charset="-120"/>
              </a:rPr>
              <a:t>[3]</a:t>
            </a:r>
            <a:endParaRPr lang="en-US" sz="1800" dirty="0"/>
          </a:p>
        </p:txBody>
      </p:sp>
      <p:sp>
        <p:nvSpPr>
          <p:cNvPr id="16" name="Shape 13"/>
          <p:cNvSpPr/>
          <p:nvPr/>
        </p:nvSpPr>
        <p:spPr>
          <a:xfrm>
            <a:off x="6355080" y="1984248"/>
            <a:ext cx="228600" cy="91"/>
          </a:xfrm>
          <a:prstGeom prst="line">
            <a:avLst/>
          </a:prstGeom>
          <a:noFill/>
          <a:ln w="22225">
            <a:solidFill>
              <a:srgbClr val="5B6675"/>
            </a:solidFill>
            <a:prstDash val="solid"/>
            <a:tailEnd type="triangle"/>
          </a:ln>
        </p:spPr>
      </p:sp>
      <p:sp>
        <p:nvSpPr>
          <p:cNvPr id="17" name="Shape 14"/>
          <p:cNvSpPr/>
          <p:nvPr/>
        </p:nvSpPr>
        <p:spPr>
          <a:xfrm>
            <a:off x="6629400" y="1600200"/>
            <a:ext cx="822960" cy="777240"/>
          </a:xfrm>
          <a:prstGeom prst="roundRect">
            <a:avLst>
              <a:gd name="adj" fmla="val 11765"/>
            </a:avLst>
          </a:prstGeom>
          <a:solidFill>
            <a:srgbClr val="FFFFFF"/>
          </a:solidFill>
          <a:ln w="15875">
            <a:solidFill>
              <a:srgbClr val="8A94A3"/>
            </a:solidFill>
            <a:prstDash val="solid"/>
          </a:ln>
        </p:spPr>
      </p:sp>
      <p:sp>
        <p:nvSpPr>
          <p:cNvPr id="18" name="Text 15"/>
          <p:cNvSpPr txBox="1"/>
          <p:nvPr/>
        </p:nvSpPr>
        <p:spPr>
          <a:xfrm>
            <a:off x="6675120" y="1600200"/>
            <a:ext cx="73152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19" name="Text 16"/>
          <p:cNvSpPr txBox="1"/>
          <p:nvPr/>
        </p:nvSpPr>
        <p:spPr>
          <a:xfrm>
            <a:off x="7635240" y="1600200"/>
            <a:ext cx="548640" cy="777240"/>
          </a:xfrm>
          <a:prstGeom prst="rect">
            <a:avLst/>
          </a:prstGeom>
          <a:noFill/>
          <a:ln/>
        </p:spPr>
        <p:txBody>
          <a:bodyPr wrap="square" lIns="0" tIns="0" rIns="0" bIns="0" rtlCol="0" anchor="ctr"/>
          <a:lstStyle/>
          <a:p>
            <a:pPr algn="ctr" indent="0" marL="0">
              <a:buNone/>
            </a:pPr>
            <a:r>
              <a:rPr lang="en-US" sz="3600" b="1" dirty="0">
                <a:solidFill>
                  <a:srgbClr val="C8571B"/>
                </a:solidFill>
                <a:latin typeface="Calibri" pitchFamily="34" charset="0"/>
                <a:ea typeface="Calibri" pitchFamily="34" charset="-122"/>
                <a:cs typeface="Calibri" pitchFamily="34" charset="-120"/>
              </a:rPr>
              <a:t>≡</a:t>
            </a:r>
            <a:endParaRPr lang="en-US" sz="3600" dirty="0"/>
          </a:p>
        </p:txBody>
      </p:sp>
      <p:sp>
        <p:nvSpPr>
          <p:cNvPr id="20" name="Shape 17"/>
          <p:cNvSpPr/>
          <p:nvPr/>
        </p:nvSpPr>
        <p:spPr>
          <a:xfrm>
            <a:off x="8321040" y="1600200"/>
            <a:ext cx="685800" cy="777240"/>
          </a:xfrm>
          <a:prstGeom prst="roundRect">
            <a:avLst>
              <a:gd name="adj" fmla="val 13333"/>
            </a:avLst>
          </a:prstGeom>
          <a:solidFill>
            <a:srgbClr val="FFFFFF"/>
          </a:solidFill>
          <a:ln w="15875">
            <a:solidFill>
              <a:srgbClr val="8A94A3"/>
            </a:solidFill>
            <a:prstDash val="solid"/>
          </a:ln>
        </p:spPr>
      </p:sp>
      <p:sp>
        <p:nvSpPr>
          <p:cNvPr id="21" name="Text 18"/>
          <p:cNvSpPr txBox="1"/>
          <p:nvPr/>
        </p:nvSpPr>
        <p:spPr>
          <a:xfrm>
            <a:off x="8366760" y="1600200"/>
            <a:ext cx="5943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x</a:t>
            </a:r>
            <a:endParaRPr lang="en-US" sz="1800" dirty="0"/>
          </a:p>
        </p:txBody>
      </p:sp>
      <p:sp>
        <p:nvSpPr>
          <p:cNvPr id="22" name="Shape 19"/>
          <p:cNvSpPr/>
          <p:nvPr/>
        </p:nvSpPr>
        <p:spPr>
          <a:xfrm>
            <a:off x="9052560" y="1984248"/>
            <a:ext cx="228600" cy="91"/>
          </a:xfrm>
          <a:prstGeom prst="line">
            <a:avLst/>
          </a:prstGeom>
          <a:noFill/>
          <a:ln w="22225">
            <a:solidFill>
              <a:srgbClr val="5B6675"/>
            </a:solidFill>
            <a:prstDash val="solid"/>
            <a:tailEnd type="triangle"/>
          </a:ln>
        </p:spPr>
      </p:sp>
      <p:sp>
        <p:nvSpPr>
          <p:cNvPr id="23" name="Shape 20"/>
          <p:cNvSpPr/>
          <p:nvPr/>
        </p:nvSpPr>
        <p:spPr>
          <a:xfrm>
            <a:off x="9326880" y="1600200"/>
            <a:ext cx="1143000" cy="777240"/>
          </a:xfrm>
          <a:prstGeom prst="roundRect">
            <a:avLst>
              <a:gd name="adj" fmla="val 11765"/>
            </a:avLst>
          </a:prstGeom>
          <a:solidFill>
            <a:srgbClr val="FBEADF"/>
          </a:solidFill>
          <a:ln w="15875">
            <a:solidFill>
              <a:srgbClr val="C8571B"/>
            </a:solidFill>
            <a:prstDash val="solid"/>
          </a:ln>
        </p:spPr>
      </p:sp>
      <p:sp>
        <p:nvSpPr>
          <p:cNvPr id="24" name="Text 21"/>
          <p:cNvSpPr txBox="1"/>
          <p:nvPr/>
        </p:nvSpPr>
        <p:spPr>
          <a:xfrm>
            <a:off x="9372600" y="1600200"/>
            <a:ext cx="1051560"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W′</a:t>
            </a:r>
            <a:endParaRPr lang="en-US" sz="1800" dirty="0"/>
          </a:p>
        </p:txBody>
      </p:sp>
      <p:sp>
        <p:nvSpPr>
          <p:cNvPr id="25" name="Shape 22"/>
          <p:cNvSpPr/>
          <p:nvPr/>
        </p:nvSpPr>
        <p:spPr>
          <a:xfrm>
            <a:off x="10515600" y="1984248"/>
            <a:ext cx="228600" cy="91"/>
          </a:xfrm>
          <a:prstGeom prst="line">
            <a:avLst/>
          </a:prstGeom>
          <a:noFill/>
          <a:ln w="22225">
            <a:solidFill>
              <a:srgbClr val="5B6675"/>
            </a:solidFill>
            <a:prstDash val="solid"/>
            <a:tailEnd type="triangle"/>
          </a:ln>
        </p:spPr>
      </p:sp>
      <p:sp>
        <p:nvSpPr>
          <p:cNvPr id="26" name="Shape 23"/>
          <p:cNvSpPr/>
          <p:nvPr/>
        </p:nvSpPr>
        <p:spPr>
          <a:xfrm>
            <a:off x="10789920" y="1600200"/>
            <a:ext cx="850392" cy="777240"/>
          </a:xfrm>
          <a:prstGeom prst="roundRect">
            <a:avLst>
              <a:gd name="adj" fmla="val 11765"/>
            </a:avLst>
          </a:prstGeom>
          <a:solidFill>
            <a:srgbClr val="FFFFFF"/>
          </a:solidFill>
          <a:ln w="15875">
            <a:solidFill>
              <a:srgbClr val="8A94A3"/>
            </a:solidFill>
            <a:prstDash val="solid"/>
          </a:ln>
        </p:spPr>
      </p:sp>
      <p:sp>
        <p:nvSpPr>
          <p:cNvPr id="27" name="Text 24"/>
          <p:cNvSpPr txBox="1"/>
          <p:nvPr/>
        </p:nvSpPr>
        <p:spPr>
          <a:xfrm>
            <a:off x="10835640" y="1600200"/>
            <a:ext cx="758952" cy="777240"/>
          </a:xfrm>
          <a:prstGeom prst="rect">
            <a:avLst/>
          </a:prstGeom>
          <a:noFill/>
          <a:ln/>
        </p:spPr>
        <p:txBody>
          <a:bodyPr wrap="square" lIns="0" tIns="0" rIns="0" bIns="0" rtlCol="0" anchor="ctr"/>
          <a:lstStyle/>
          <a:p>
            <a:pPr algn="ctr" indent="0" marL="0">
              <a:buNone/>
            </a:pPr>
            <a:r>
              <a:rPr lang="en-US" sz="1800" dirty="0">
                <a:solidFill>
                  <a:srgbClr val="17202E"/>
                </a:solidFill>
                <a:latin typeface="Cambria" pitchFamily="34" charset="0"/>
                <a:ea typeface="Cambria" pitchFamily="34" charset="-122"/>
                <a:cs typeface="Cambria" pitchFamily="34" charset="-120"/>
              </a:rPr>
              <a:t>ŷ</a:t>
            </a:r>
            <a:endParaRPr lang="en-US" sz="1800" dirty="0"/>
          </a:p>
        </p:txBody>
      </p:sp>
      <p:sp>
        <p:nvSpPr>
          <p:cNvPr id="28" name="Text 25"/>
          <p:cNvSpPr txBox="1"/>
          <p:nvPr/>
        </p:nvSpPr>
        <p:spPr>
          <a:xfrm>
            <a:off x="1554480" y="2468880"/>
            <a:ext cx="51206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three linear layers, no activation (biases omitted)</a:t>
            </a:r>
            <a:endParaRPr lang="en-US" sz="1500" dirty="0"/>
          </a:p>
        </p:txBody>
      </p:sp>
      <p:sp>
        <p:nvSpPr>
          <p:cNvPr id="29" name="Text 26"/>
          <p:cNvSpPr txBox="1"/>
          <p:nvPr/>
        </p:nvSpPr>
        <p:spPr>
          <a:xfrm>
            <a:off x="8321040" y="2468880"/>
            <a:ext cx="329184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one linear layer</a:t>
            </a:r>
            <a:endParaRPr lang="en-US" sz="1500" dirty="0"/>
          </a:p>
        </p:txBody>
      </p:sp>
      <p:sp>
        <p:nvSpPr>
          <p:cNvPr id="30" name="Shape 27"/>
          <p:cNvSpPr/>
          <p:nvPr/>
        </p:nvSpPr>
        <p:spPr>
          <a:xfrm>
            <a:off x="548640" y="2880360"/>
            <a:ext cx="11094415" cy="2103120"/>
          </a:xfrm>
          <a:prstGeom prst="roundRect">
            <a:avLst>
              <a:gd name="adj" fmla="val 3478"/>
            </a:avLst>
          </a:prstGeom>
          <a:solidFill>
            <a:srgbClr val="F3F5F8"/>
          </a:solidFill>
          <a:ln/>
        </p:spPr>
      </p:sp>
      <p:sp>
        <p:nvSpPr>
          <p:cNvPr id="31" name="Text 28"/>
          <p:cNvSpPr txBox="1"/>
          <p:nvPr/>
        </p:nvSpPr>
        <p:spPr>
          <a:xfrm>
            <a:off x="777240" y="3035808"/>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SUBSTITUTE UPWARD</a:t>
            </a:r>
            <a:endParaRPr lang="en-US" sz="1300" dirty="0"/>
          </a:p>
        </p:txBody>
      </p:sp>
      <p:pic>
        <p:nvPicPr>
          <p:cNvPr id="32" name="Image 0" descr="LaTeX: \begin{align*} \av\Ly{3} &amp;= \W\Ly{3}\bigl(\W\Ly{2}(\W\Ly{1}\x + \bb\Ly{1}) + \bb\Ly{2}\bigr) + \bb\Ly{3}\\ &amp;= \underbrace{\W\Ly{3}\W\Ly{2}\W\Ly{1}}_{\W'}\,\x \;+\; \bb' \end{align*}">    </p:cNvPr>
          <p:cNvPicPr>
            <a:picLocks noChangeAspect="1"/>
          </p:cNvPicPr>
          <p:nvPr/>
        </p:nvPicPr>
        <p:blipFill>
          <a:blip r:embed="rId1"/>
          <a:stretch>
            <a:fillRect/>
          </a:stretch>
        </p:blipFill>
        <p:spPr>
          <a:xfrm>
            <a:off x="822960" y="3429000"/>
            <a:ext cx="5017008" cy="1091184"/>
          </a:xfrm>
          <a:prstGeom prst="rect">
            <a:avLst/>
          </a:prstGeom>
        </p:spPr>
      </p:pic>
      <p:sp>
        <p:nvSpPr>
          <p:cNvPr id="33" name="Shape 29"/>
          <p:cNvSpPr/>
          <p:nvPr/>
        </p:nvSpPr>
        <p:spPr>
          <a:xfrm>
            <a:off x="548640" y="5257800"/>
            <a:ext cx="11094415" cy="777240"/>
          </a:xfrm>
          <a:prstGeom prst="roundRect">
            <a:avLst>
              <a:gd name="adj" fmla="val 9412"/>
            </a:avLst>
          </a:prstGeom>
          <a:solidFill>
            <a:srgbClr val="FBEADF"/>
          </a:solidFill>
          <a:ln/>
        </p:spPr>
      </p:sp>
      <p:sp>
        <p:nvSpPr>
          <p:cNvPr id="34" name="Text 30"/>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2000" b="1" dirty="0">
                <a:solidFill>
                  <a:srgbClr val="8F3A0E"/>
                </a:solidFill>
                <a:latin typeface="Calibri" pitchFamily="34" charset="0"/>
                <a:ea typeface="Calibri" pitchFamily="34" charset="-122"/>
                <a:cs typeface="Calibri" pitchFamily="34" charset="-120"/>
              </a:rPr>
              <a:t>Depth only pays off with a nonlinearity g between the layers.</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11</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1</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5-layer network uses g(z) = z (identity) in every hidden layer and a sigmoid on the output. Which decision boundaries can it draw?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Any smooth curve</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Piecewise-linear curves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a straight line (a hyperplane)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depends on the layer widths</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12</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which g? Sigmoid, tanh or ReLU</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Sigmoid and tanh saturate; ReLU does not for z &gt; 0</a:t>
            </a:r>
            <a:endParaRPr lang="en-US" sz="3200" dirty="0"/>
          </a:p>
        </p:txBody>
      </p:sp>
      <p:graphicFrame>
        <p:nvGraphicFramePr>
          <p:cNvPr id="5" name="Chart 0" descr="Activation g(z): sigmoid, tanh, ReLU"/>
          <p:cNvGraphicFramePr/>
          <p:nvPr/>
        </p:nvGraphicFramePr>
        <p:xfrm>
          <a:off x="457200" y="1417320"/>
          <a:ext cx="53949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Derivative g′(z): what backprop multiplies: sigmoid′, tanh′, ReLU′"/>
          <p:cNvGraphicFramePr/>
          <p:nvPr/>
        </p:nvGraphicFramePr>
        <p:xfrm>
          <a:off x="6263640" y="1417320"/>
          <a:ext cx="5394960" cy="324612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48640" y="4846320"/>
            <a:ext cx="3529584" cy="1325880"/>
          </a:xfrm>
          <a:prstGeom prst="roundRect">
            <a:avLst>
              <a:gd name="adj" fmla="val 5517"/>
            </a:avLst>
          </a:prstGeom>
          <a:solidFill>
            <a:srgbClr val="F3F5F8"/>
          </a:solidFill>
          <a:ln/>
        </p:spPr>
        <p:txBody>
          <a:bodyPr/>
          <a:p/>
        </p:txBody>
      </p:sp>
      <p:sp>
        <p:nvSpPr>
          <p:cNvPr id="8" name="Text 3"/>
          <p:cNvSpPr txBox="1"/>
          <p:nvPr/>
        </p:nvSpPr>
        <p:spPr>
          <a:xfrm>
            <a:off x="731520"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Saturation kills gradients</a:t>
            </a:r>
            <a:endParaRPr lang="en-US" sz="1800" dirty="0"/>
          </a:p>
        </p:txBody>
      </p:sp>
      <p:sp>
        <p:nvSpPr>
          <p:cNvPr id="9" name="Text 4"/>
          <p:cNvSpPr txBox="1"/>
          <p:nvPr/>
        </p:nvSpPr>
        <p:spPr>
          <a:xfrm>
            <a:off x="731520"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σ′ ≤ 0.25: ten sigmoid layers give ≤ 0.25¹⁰ ≈ 10⁻⁶ from σ′ alone.</a:t>
            </a:r>
            <a:endParaRPr lang="en-US" sz="1600" dirty="0"/>
          </a:p>
        </p:txBody>
      </p:sp>
      <p:sp>
        <p:nvSpPr>
          <p:cNvPr id="10" name="Shape 5"/>
          <p:cNvSpPr/>
          <p:nvPr/>
        </p:nvSpPr>
        <p:spPr>
          <a:xfrm>
            <a:off x="4315968" y="4846320"/>
            <a:ext cx="3529584" cy="1325880"/>
          </a:xfrm>
          <a:prstGeom prst="roundRect">
            <a:avLst>
              <a:gd name="adj" fmla="val 5517"/>
            </a:avLst>
          </a:prstGeom>
          <a:solidFill>
            <a:srgbClr val="F3F5F8"/>
          </a:solidFill>
          <a:ln/>
        </p:spPr>
        <p:txBody>
          <a:bodyPr/>
          <a:p/>
        </p:txBody>
      </p:sp>
      <p:sp>
        <p:nvSpPr>
          <p:cNvPr id="11" name="Text 6"/>
          <p:cNvSpPr txBox="1"/>
          <p:nvPr/>
        </p:nvSpPr>
        <p:spPr>
          <a:xfrm>
            <a:off x="4498848" y="4956048"/>
            <a:ext cx="3200400"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ReLU: slope 1 when active</a:t>
            </a:r>
            <a:endParaRPr lang="en-US" sz="1800" dirty="0"/>
          </a:p>
        </p:txBody>
      </p:sp>
      <p:sp>
        <p:nvSpPr>
          <p:cNvPr id="12" name="Text 7"/>
          <p:cNvSpPr txBox="1"/>
          <p:nvPr/>
        </p:nvSpPr>
        <p:spPr>
          <a:xfrm>
            <a:off x="4498848"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activation doesn't shrink the gradient (weights still can); cheap and sparse.</a:t>
            </a:r>
            <a:endParaRPr lang="en-US" sz="1600" dirty="0"/>
          </a:p>
        </p:txBody>
      </p:sp>
      <p:sp>
        <p:nvSpPr>
          <p:cNvPr id="13" name="Shape 8"/>
          <p:cNvSpPr/>
          <p:nvPr/>
        </p:nvSpPr>
        <p:spPr>
          <a:xfrm>
            <a:off x="8083296" y="4846320"/>
            <a:ext cx="3529584" cy="1325880"/>
          </a:xfrm>
          <a:prstGeom prst="roundRect">
            <a:avLst>
              <a:gd name="adj" fmla="val 5517"/>
            </a:avLst>
          </a:prstGeom>
          <a:solidFill>
            <a:srgbClr val="F3F5F8"/>
          </a:solidFill>
          <a:ln/>
        </p:spPr>
        <p:txBody>
          <a:bodyPr/>
          <a:p/>
        </p:txBody>
      </p:sp>
      <p:sp>
        <p:nvSpPr>
          <p:cNvPr id="14" name="Text 9"/>
          <p:cNvSpPr txBox="1"/>
          <p:nvPr/>
        </p:nvSpPr>
        <p:spPr>
          <a:xfrm>
            <a:off x="8266176" y="4956048"/>
            <a:ext cx="3200400" cy="365760"/>
          </a:xfrm>
          <a:prstGeom prst="rect">
            <a:avLst/>
          </a:prstGeom>
          <a:noFill/>
          <a:ln/>
        </p:spPr>
        <p:txBody>
          <a:bodyPr wrap="square" lIns="0" tIns="0" rIns="0" bIns="0" rtlCol="0" anchor="t"/>
          <a:lstStyle/>
          <a:p>
            <a:pPr indent="0" marL="0">
              <a:buNone/>
            </a:pPr>
            <a:r>
              <a:rPr lang="en-US" sz="1800" b="1" dirty="0">
                <a:solidFill>
                  <a:srgbClr val="C8571B"/>
                </a:solidFill>
                <a:latin typeface="Calibri" pitchFamily="34" charset="0"/>
                <a:ea typeface="Calibri" pitchFamily="34" charset="-122"/>
                <a:cs typeface="Calibri" pitchFamily="34" charset="-120"/>
              </a:rPr>
              <a:t>Dying ReLU</a:t>
            </a:r>
            <a:endParaRPr lang="en-US" sz="1800" dirty="0"/>
          </a:p>
        </p:txBody>
      </p:sp>
      <p:sp>
        <p:nvSpPr>
          <p:cNvPr id="15" name="Text 10"/>
          <p:cNvSpPr txBox="1"/>
          <p:nvPr/>
        </p:nvSpPr>
        <p:spPr>
          <a:xfrm>
            <a:off x="8266176" y="53492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Negative on every input: zero gradient, and it may stay off for good.</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two ReLU units are enough to solve XOR</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Two ReLU units solve XOR by remapping the space</a:t>
            </a:r>
            <a:endParaRPr lang="en-US" sz="3200" dirty="0"/>
          </a:p>
        </p:txBody>
      </p:sp>
      <p:sp>
        <p:nvSpPr>
          <p:cNvPr id="5" name="Shape 2"/>
          <p:cNvSpPr/>
          <p:nvPr/>
        </p:nvSpPr>
        <p:spPr>
          <a:xfrm>
            <a:off x="850392" y="2176272"/>
            <a:ext cx="1828800" cy="91"/>
          </a:xfrm>
          <a:prstGeom prst="line">
            <a:avLst/>
          </a:prstGeom>
          <a:noFill/>
          <a:ln w="25400">
            <a:solidFill>
              <a:srgbClr val="8A94A3"/>
            </a:solidFill>
            <a:prstDash val="solid"/>
          </a:ln>
        </p:spPr>
      </p:sp>
      <p:sp>
        <p:nvSpPr>
          <p:cNvPr id="6" name="Shape 3"/>
          <p:cNvSpPr/>
          <p:nvPr/>
        </p:nvSpPr>
        <p:spPr>
          <a:xfrm>
            <a:off x="850392" y="2176272"/>
            <a:ext cx="1828800" cy="1828800"/>
          </a:xfrm>
          <a:prstGeom prst="line">
            <a:avLst/>
          </a:prstGeom>
          <a:noFill/>
          <a:ln w="25400">
            <a:solidFill>
              <a:srgbClr val="8A94A3"/>
            </a:solidFill>
            <a:prstDash val="solid"/>
          </a:ln>
        </p:spPr>
      </p:sp>
      <p:sp>
        <p:nvSpPr>
          <p:cNvPr id="7" name="Shape 4"/>
          <p:cNvSpPr/>
          <p:nvPr/>
        </p:nvSpPr>
        <p:spPr>
          <a:xfrm flipV="1">
            <a:off x="850392" y="2176272"/>
            <a:ext cx="1828800" cy="1828800"/>
          </a:xfrm>
          <a:prstGeom prst="line">
            <a:avLst/>
          </a:prstGeom>
          <a:noFill/>
          <a:ln w="25400">
            <a:solidFill>
              <a:srgbClr val="8A94A3"/>
            </a:solidFill>
            <a:prstDash val="solid"/>
          </a:ln>
        </p:spPr>
      </p:sp>
      <p:sp>
        <p:nvSpPr>
          <p:cNvPr id="8" name="Shape 5"/>
          <p:cNvSpPr/>
          <p:nvPr/>
        </p:nvSpPr>
        <p:spPr>
          <a:xfrm>
            <a:off x="850392" y="4005072"/>
            <a:ext cx="1828800" cy="91"/>
          </a:xfrm>
          <a:prstGeom prst="line">
            <a:avLst/>
          </a:prstGeom>
          <a:noFill/>
          <a:ln w="25400">
            <a:solidFill>
              <a:srgbClr val="8A94A3"/>
            </a:solidFill>
            <a:prstDash val="solid"/>
          </a:ln>
        </p:spPr>
      </p:sp>
      <p:sp>
        <p:nvSpPr>
          <p:cNvPr id="9" name="Shape 6"/>
          <p:cNvSpPr/>
          <p:nvPr/>
        </p:nvSpPr>
        <p:spPr>
          <a:xfrm>
            <a:off x="2679192" y="2176272"/>
            <a:ext cx="1645920" cy="914400"/>
          </a:xfrm>
          <a:prstGeom prst="line">
            <a:avLst/>
          </a:prstGeom>
          <a:noFill/>
          <a:ln w="25400">
            <a:solidFill>
              <a:srgbClr val="0F7C82"/>
            </a:solidFill>
            <a:prstDash val="solid"/>
          </a:ln>
        </p:spPr>
      </p:sp>
      <p:sp>
        <p:nvSpPr>
          <p:cNvPr id="10" name="Shape 7"/>
          <p:cNvSpPr/>
          <p:nvPr/>
        </p:nvSpPr>
        <p:spPr>
          <a:xfrm flipV="1">
            <a:off x="2679192" y="3090672"/>
            <a:ext cx="1645920" cy="914400"/>
          </a:xfrm>
          <a:prstGeom prst="line">
            <a:avLst/>
          </a:prstGeom>
          <a:noFill/>
          <a:ln w="25400">
            <a:solidFill>
              <a:srgbClr val="17202E"/>
            </a:solidFill>
            <a:prstDash val="solid"/>
          </a:ln>
        </p:spPr>
      </p:sp>
      <p:sp>
        <p:nvSpPr>
          <p:cNvPr id="11" name="Shape 8"/>
          <p:cNvSpPr/>
          <p:nvPr/>
        </p:nvSpPr>
        <p:spPr>
          <a:xfrm>
            <a:off x="548640" y="1874520"/>
            <a:ext cx="603504" cy="603504"/>
          </a:xfrm>
          <a:prstGeom prst="ellipse">
            <a:avLst/>
          </a:prstGeom>
          <a:solidFill>
            <a:srgbClr val="F3F5F8"/>
          </a:solidFill>
          <a:ln w="15875">
            <a:solidFill>
              <a:srgbClr val="8A94A3"/>
            </a:solidFill>
            <a:prstDash val="solid"/>
          </a:ln>
        </p:spPr>
      </p:sp>
      <p:sp>
        <p:nvSpPr>
          <p:cNvPr id="12" name="Text 9"/>
          <p:cNvSpPr txBox="1"/>
          <p:nvPr/>
        </p:nvSpPr>
        <p:spPr>
          <a:xfrm>
            <a:off x="548640" y="18745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1</a:t>
            </a:r>
            <a:endParaRPr lang="en-US" sz="2000" dirty="0"/>
          </a:p>
        </p:txBody>
      </p:sp>
      <p:sp>
        <p:nvSpPr>
          <p:cNvPr id="13" name="Shape 10"/>
          <p:cNvSpPr/>
          <p:nvPr/>
        </p:nvSpPr>
        <p:spPr>
          <a:xfrm>
            <a:off x="548640" y="3703320"/>
            <a:ext cx="603504" cy="603504"/>
          </a:xfrm>
          <a:prstGeom prst="ellipse">
            <a:avLst/>
          </a:prstGeom>
          <a:solidFill>
            <a:srgbClr val="F3F5F8"/>
          </a:solidFill>
          <a:ln w="15875">
            <a:solidFill>
              <a:srgbClr val="8A94A3"/>
            </a:solidFill>
            <a:prstDash val="solid"/>
          </a:ln>
        </p:spPr>
      </p:sp>
      <p:sp>
        <p:nvSpPr>
          <p:cNvPr id="14" name="Text 11"/>
          <p:cNvSpPr txBox="1"/>
          <p:nvPr/>
        </p:nvSpPr>
        <p:spPr>
          <a:xfrm>
            <a:off x="548640" y="3703320"/>
            <a:ext cx="603504" cy="603504"/>
          </a:xfrm>
          <a:prstGeom prst="rect">
            <a:avLst/>
          </a:prstGeom>
          <a:noFill/>
          <a:ln/>
        </p:spPr>
        <p:txBody>
          <a:bodyPr wrap="square" lIns="0" tIns="0" rIns="0" bIns="0" rtlCol="0" anchor="ctr"/>
          <a:lstStyle/>
          <a:p>
            <a:pPr algn="ctr" indent="0" marL="0">
              <a:buNone/>
            </a:pPr>
            <a:r>
              <a:rPr lang="en-US" sz="2000" b="1" dirty="0">
                <a:solidFill>
                  <a:srgbClr val="17202E"/>
                </a:solidFill>
                <a:latin typeface="Cambria" pitchFamily="34" charset="0"/>
                <a:ea typeface="Cambria" pitchFamily="34" charset="-122"/>
                <a:cs typeface="Cambria" pitchFamily="34" charset="-120"/>
              </a:rPr>
              <a:t>x</a:t>
            </a:r>
            <a:pPr algn="ctr" indent="0" marL="0">
              <a:buNone/>
            </a:pPr>
            <a:r>
              <a:rPr lang="en-US" sz="2000" b="1" baseline="-40000" dirty="0">
                <a:solidFill>
                  <a:srgbClr val="17202E"/>
                </a:solidFill>
                <a:latin typeface="Cambria" pitchFamily="34" charset="0"/>
                <a:ea typeface="Cambria" pitchFamily="34" charset="-122"/>
                <a:cs typeface="Cambria" pitchFamily="34" charset="-120"/>
              </a:rPr>
              <a:t>2</a:t>
            </a:r>
            <a:endParaRPr lang="en-US" sz="2000" dirty="0"/>
          </a:p>
        </p:txBody>
      </p:sp>
      <p:sp>
        <p:nvSpPr>
          <p:cNvPr id="15" name="Shape 12"/>
          <p:cNvSpPr/>
          <p:nvPr/>
        </p:nvSpPr>
        <p:spPr>
          <a:xfrm>
            <a:off x="2377440" y="1874520"/>
            <a:ext cx="603504" cy="603504"/>
          </a:xfrm>
          <a:prstGeom prst="ellipse">
            <a:avLst/>
          </a:prstGeom>
          <a:solidFill>
            <a:srgbClr val="0F7C82"/>
          </a:solidFill>
          <a:ln/>
        </p:spPr>
      </p:sp>
      <p:sp>
        <p:nvSpPr>
          <p:cNvPr id="16" name="Text 13"/>
          <p:cNvSpPr txBox="1"/>
          <p:nvPr/>
        </p:nvSpPr>
        <p:spPr>
          <a:xfrm>
            <a:off x="2377440" y="18745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1</a:t>
            </a:r>
            <a:endParaRPr lang="en-US" sz="2000" dirty="0"/>
          </a:p>
        </p:txBody>
      </p:sp>
      <p:sp>
        <p:nvSpPr>
          <p:cNvPr id="17" name="Shape 14"/>
          <p:cNvSpPr/>
          <p:nvPr/>
        </p:nvSpPr>
        <p:spPr>
          <a:xfrm>
            <a:off x="2377440" y="3703320"/>
            <a:ext cx="603504" cy="603504"/>
          </a:xfrm>
          <a:prstGeom prst="ellipse">
            <a:avLst/>
          </a:prstGeom>
          <a:solidFill>
            <a:srgbClr val="0F7C82"/>
          </a:solidFill>
          <a:ln/>
        </p:spPr>
      </p:sp>
      <p:sp>
        <p:nvSpPr>
          <p:cNvPr id="18" name="Text 15"/>
          <p:cNvSpPr txBox="1"/>
          <p:nvPr/>
        </p:nvSpPr>
        <p:spPr>
          <a:xfrm>
            <a:off x="2377440" y="37033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h</a:t>
            </a:r>
            <a:pPr algn="ctr" indent="0" marL="0">
              <a:buNone/>
            </a:pPr>
            <a:r>
              <a:rPr lang="en-US" sz="2000" b="1" baseline="-40000" dirty="0">
                <a:solidFill>
                  <a:srgbClr val="FFFFFF"/>
                </a:solidFill>
                <a:latin typeface="Cambria" pitchFamily="34" charset="0"/>
                <a:ea typeface="Cambria" pitchFamily="34" charset="-122"/>
                <a:cs typeface="Cambria" pitchFamily="34" charset="-120"/>
              </a:rPr>
              <a:t>2</a:t>
            </a:r>
            <a:endParaRPr lang="en-US" sz="2000" dirty="0"/>
          </a:p>
        </p:txBody>
      </p:sp>
      <p:sp>
        <p:nvSpPr>
          <p:cNvPr id="19" name="Shape 16"/>
          <p:cNvSpPr/>
          <p:nvPr/>
        </p:nvSpPr>
        <p:spPr>
          <a:xfrm>
            <a:off x="4023360" y="2788920"/>
            <a:ext cx="603504" cy="603504"/>
          </a:xfrm>
          <a:prstGeom prst="ellipse">
            <a:avLst/>
          </a:prstGeom>
          <a:solidFill>
            <a:srgbClr val="17202E"/>
          </a:solidFill>
          <a:ln/>
        </p:spPr>
      </p:sp>
      <p:sp>
        <p:nvSpPr>
          <p:cNvPr id="20" name="Text 17"/>
          <p:cNvSpPr txBox="1"/>
          <p:nvPr/>
        </p:nvSpPr>
        <p:spPr>
          <a:xfrm>
            <a:off x="4023360" y="2788920"/>
            <a:ext cx="603504" cy="603504"/>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y</a:t>
            </a:r>
            <a:endParaRPr lang="en-US" sz="2000" dirty="0"/>
          </a:p>
        </p:txBody>
      </p:sp>
      <p:sp>
        <p:nvSpPr>
          <p:cNvPr id="21" name="Text 18"/>
          <p:cNvSpPr txBox="1"/>
          <p:nvPr/>
        </p:nvSpPr>
        <p:spPr>
          <a:xfrm>
            <a:off x="3291840" y="2057400"/>
            <a:ext cx="548640" cy="32004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+1</a:t>
            </a:r>
            <a:endParaRPr lang="en-US" sz="1800" dirty="0"/>
          </a:p>
        </p:txBody>
      </p:sp>
      <p:sp>
        <p:nvSpPr>
          <p:cNvPr id="22" name="Text 19"/>
          <p:cNvSpPr txBox="1"/>
          <p:nvPr/>
        </p:nvSpPr>
        <p:spPr>
          <a:xfrm>
            <a:off x="3383280" y="3749040"/>
            <a:ext cx="548640" cy="32004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−2</a:t>
            </a:r>
            <a:endParaRPr lang="en-US" sz="1800" dirty="0"/>
          </a:p>
        </p:txBody>
      </p:sp>
      <p:sp>
        <p:nvSpPr>
          <p:cNvPr id="23" name="Text 20"/>
          <p:cNvSpPr txBox="1"/>
          <p:nvPr/>
        </p:nvSpPr>
        <p:spPr>
          <a:xfrm>
            <a:off x="2148840" y="146304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0</a:t>
            </a:r>
            <a:endParaRPr lang="en-US" sz="1500" dirty="0"/>
          </a:p>
        </p:txBody>
      </p:sp>
      <p:sp>
        <p:nvSpPr>
          <p:cNvPr id="24" name="Text 21"/>
          <p:cNvSpPr txBox="1"/>
          <p:nvPr/>
        </p:nvSpPr>
        <p:spPr>
          <a:xfrm>
            <a:off x="2148840" y="4343400"/>
            <a:ext cx="109728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bias −1</a:t>
            </a:r>
            <a:endParaRPr lang="en-US" sz="1500" dirty="0"/>
          </a:p>
        </p:txBody>
      </p:sp>
      <p:sp>
        <p:nvSpPr>
          <p:cNvPr id="25" name="Text 22"/>
          <p:cNvSpPr txBox="1"/>
          <p:nvPr/>
        </p:nvSpPr>
        <p:spPr>
          <a:xfrm>
            <a:off x="548640" y="4754880"/>
            <a:ext cx="4023360" cy="32004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all input weights = 1</a:t>
            </a:r>
            <a:endParaRPr lang="en-US" sz="1500" dirty="0"/>
          </a:p>
        </p:txBody>
      </p:sp>
      <p:pic>
        <p:nvPicPr>
          <p:cNvPr id="26" name="Image 0" descr="LaTeX: \begin{align*} h_1 &amp;= \ReLU(x_1 + x_2) \qquad \text{\color{mu}``OR-like''}\\ h_2 &amp;= \ReLU(x_1 + x_2 - 1) \qquad \text{\color{mu}``AND-like''}\\ y &amp;= h_1 - 2\,h_2 \end{align*}">    </p:cNvPr>
          <p:cNvPicPr>
            <a:picLocks noChangeAspect="1"/>
          </p:cNvPicPr>
          <p:nvPr/>
        </p:nvPicPr>
        <p:blipFill>
          <a:blip r:embed="rId1"/>
          <a:stretch>
            <a:fillRect/>
          </a:stretch>
        </p:blipFill>
        <p:spPr>
          <a:xfrm>
            <a:off x="548640" y="5074920"/>
            <a:ext cx="3800704" cy="917143"/>
          </a:xfrm>
          <a:prstGeom prst="rect">
            <a:avLst/>
          </a:prstGeom>
        </p:spPr>
      </p:pic>
      <p:pic>
        <p:nvPicPr>
          <p:cNvPr id="27" name="Image 1" descr="Left: XOR in input space. Right: after the hidden layer, (0,1) and (1,0) both map to (1,0) and one line separates the classes.">    </p:cNvPr>
          <p:cNvPicPr>
            <a:picLocks noChangeAspect="1"/>
          </p:cNvPicPr>
          <p:nvPr/>
        </p:nvPicPr>
        <p:blipFill>
          <a:blip r:embed="rId2"/>
          <a:stretch>
            <a:fillRect/>
          </a:stretch>
        </p:blipFill>
        <p:spPr>
          <a:xfrm>
            <a:off x="4754880" y="1728858"/>
            <a:ext cx="6885432" cy="2805925"/>
          </a:xfrm>
          <a:prstGeom prst="rect">
            <a:avLst/>
          </a:prstGeom>
        </p:spPr>
      </p:pic>
      <p:sp>
        <p:nvSpPr>
          <p:cNvPr id="28" name="Shape 23"/>
          <p:cNvSpPr/>
          <p:nvPr/>
        </p:nvSpPr>
        <p:spPr>
          <a:xfrm>
            <a:off x="5669280" y="5120640"/>
            <a:ext cx="5971032" cy="960120"/>
          </a:xfrm>
          <a:prstGeom prst="roundRect">
            <a:avLst>
              <a:gd name="adj" fmla="val 7619"/>
            </a:avLst>
          </a:prstGeom>
          <a:solidFill>
            <a:srgbClr val="E2F1F1"/>
          </a:solidFill>
          <a:ln/>
        </p:spPr>
      </p:sp>
      <p:sp>
        <p:nvSpPr>
          <p:cNvPr id="29" name="Text 24"/>
          <p:cNvSpPr txBox="1"/>
          <p:nvPr/>
        </p:nvSpPr>
        <p:spPr>
          <a:xfrm>
            <a:off x="5870448" y="5166360"/>
            <a:ext cx="5568696"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hidden layer makes the classes linearly separable; the output neuron just draws the line.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14</a:t>
            </a:fld>
            <a:endParaRPr lang="en-US"/>
          </a:p>
        </p:txBody>
      </p:sp>
      <p:sp>
        <p:nvSpPr>
          <p:cNvPr id="3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 for any number of layers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ACTIVATIONS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ReLU network computes a patchwork of linear pieces</a:t>
            </a:r>
            <a:endParaRPr lang="en-US" sz="3200" dirty="0"/>
          </a:p>
        </p:txBody>
      </p:sp>
      <p:pic>
        <p:nvPicPr>
          <p:cNvPr id="5" name="Image 0" descr="Input space of a trained 2-12-12-1 ReLU network coloured by activation pattern; the decision boundary is a polyline.">    </p:cNvPr>
          <p:cNvPicPr>
            <a:picLocks noChangeAspect="1"/>
          </p:cNvPicPr>
          <p:nvPr/>
        </p:nvPicPr>
        <p:blipFill>
          <a:blip r:embed="rId1"/>
          <a:stretch>
            <a:fillRect/>
          </a:stretch>
        </p:blipFill>
        <p:spPr>
          <a:xfrm>
            <a:off x="548640" y="1572392"/>
            <a:ext cx="7040880" cy="4444736"/>
          </a:xfrm>
          <a:prstGeom prst="rect">
            <a:avLst/>
          </a:prstGeom>
        </p:spPr>
      </p:pic>
      <p:sp>
        <p:nvSpPr>
          <p:cNvPr id="6" name="Text 2"/>
          <p:cNvSpPr txBox="1"/>
          <p:nvPr/>
        </p:nvSpPr>
        <p:spPr>
          <a:xfrm>
            <a:off x="7863840" y="1463040"/>
            <a:ext cx="3776472" cy="792480"/>
          </a:xfrm>
          <a:prstGeom prst="rect">
            <a:avLst/>
          </a:prstGeom>
          <a:noFill/>
          <a:ln/>
        </p:spPr>
        <p:txBody>
          <a:bodyPr wrap="square" lIns="0" tIns="0" rIns="0" bIns="0" rtlCol="0" anchor="t"/>
          <a:lstStyle/>
          <a:p>
            <a:pPr indent="0" marL="0">
              <a:buNone/>
            </a:pPr>
            <a:r>
              <a:rPr lang="en-US" sz="5200" b="1" dirty="0">
                <a:solidFill>
                  <a:srgbClr val="0F7C82"/>
                </a:solidFill>
                <a:latin typeface="Cambria" pitchFamily="34" charset="0"/>
                <a:ea typeface="Cambria" pitchFamily="34" charset="-122"/>
                <a:cs typeface="Cambria" pitchFamily="34" charset="-120"/>
              </a:rPr>
              <a:t>146</a:t>
            </a:r>
            <a:endParaRPr lang="en-US" sz="5200" dirty="0"/>
          </a:p>
        </p:txBody>
      </p:sp>
      <p:sp>
        <p:nvSpPr>
          <p:cNvPr id="7" name="Text 3"/>
          <p:cNvSpPr txBox="1"/>
          <p:nvPr/>
        </p:nvSpPr>
        <p:spPr>
          <a:xfrm>
            <a:off x="7863840" y="2346960"/>
            <a:ext cx="377647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linear regions (900 × 600 grid) of a 2–12–12–1 ReLU net</a:t>
            </a:r>
            <a:endParaRPr lang="en-US" sz="1700" dirty="0"/>
          </a:p>
        </p:txBody>
      </p:sp>
      <p:sp>
        <p:nvSpPr>
          <p:cNvPr id="8" name="Shape 4"/>
          <p:cNvSpPr/>
          <p:nvPr/>
        </p:nvSpPr>
        <p:spPr>
          <a:xfrm>
            <a:off x="7863840" y="3429000"/>
            <a:ext cx="402336" cy="402336"/>
          </a:xfrm>
          <a:prstGeom prst="ellipse">
            <a:avLst/>
          </a:prstGeom>
          <a:solidFill>
            <a:srgbClr val="0F7C82"/>
          </a:solidFill>
          <a:ln/>
        </p:spPr>
      </p:sp>
      <p:sp>
        <p:nvSpPr>
          <p:cNvPr id="9" name="Text 5"/>
          <p:cNvSpPr txBox="1"/>
          <p:nvPr/>
        </p:nvSpPr>
        <p:spPr>
          <a:xfrm>
            <a:off x="7863840" y="3429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8467344" y="341071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Inside a patch: exactly linear</a:t>
            </a:r>
            <a:endParaRPr lang="en-US" sz="1800" dirty="0"/>
          </a:p>
        </p:txBody>
      </p:sp>
      <p:sp>
        <p:nvSpPr>
          <p:cNvPr id="11" name="Text 7"/>
          <p:cNvSpPr txBox="1"/>
          <p:nvPr/>
        </p:nvSpPr>
        <p:spPr>
          <a:xfrm>
            <a:off x="8467344" y="377647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on/off pattern of all 24 ReLUs.</a:t>
            </a:r>
            <a:endParaRPr lang="en-US" sz="1600" dirty="0"/>
          </a:p>
        </p:txBody>
      </p:sp>
      <p:sp>
        <p:nvSpPr>
          <p:cNvPr id="12" name="Shape 8"/>
          <p:cNvSpPr/>
          <p:nvPr/>
        </p:nvSpPr>
        <p:spPr>
          <a:xfrm>
            <a:off x="7863840" y="4480560"/>
            <a:ext cx="402336" cy="402336"/>
          </a:xfrm>
          <a:prstGeom prst="ellipse">
            <a:avLst/>
          </a:prstGeom>
          <a:solidFill>
            <a:srgbClr val="0F7C82"/>
          </a:solidFill>
          <a:ln/>
        </p:spPr>
      </p:sp>
      <p:sp>
        <p:nvSpPr>
          <p:cNvPr id="13" name="Text 9"/>
          <p:cNvSpPr txBox="1"/>
          <p:nvPr/>
        </p:nvSpPr>
        <p:spPr>
          <a:xfrm>
            <a:off x="7863840"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8467344" y="4462272"/>
            <a:ext cx="317296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Boundary: a polyline</a:t>
            </a:r>
            <a:endParaRPr lang="en-US" sz="1800" dirty="0"/>
          </a:p>
        </p:txBody>
      </p:sp>
      <p:sp>
        <p:nvSpPr>
          <p:cNvPr id="15" name="Text 11"/>
          <p:cNvSpPr txBox="1"/>
          <p:nvPr/>
        </p:nvSpPr>
        <p:spPr>
          <a:xfrm>
            <a:off x="8467344" y="4828032"/>
            <a:ext cx="3172968"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Straight pieces that follow curves.</a:t>
            </a:r>
            <a:endParaRPr lang="en-US" sz="1600" dirty="0"/>
          </a:p>
        </p:txBody>
      </p:sp>
      <p:sp>
        <p:nvSpPr>
          <p:cNvPr id="16" name="Shape 12"/>
          <p:cNvSpPr/>
          <p:nvPr/>
        </p:nvSpPr>
        <p:spPr>
          <a:xfrm>
            <a:off x="7863840" y="5257800"/>
            <a:ext cx="3776472" cy="868680"/>
          </a:xfrm>
          <a:prstGeom prst="roundRect">
            <a:avLst>
              <a:gd name="adj" fmla="val 8421"/>
            </a:avLst>
          </a:prstGeom>
          <a:solidFill>
            <a:srgbClr val="E8EAFB"/>
          </a:solidFill>
          <a:ln/>
        </p:spPr>
      </p:sp>
      <p:sp>
        <p:nvSpPr>
          <p:cNvPr id="17" name="Text 13"/>
          <p:cNvSpPr txBox="1"/>
          <p:nvPr/>
        </p:nvSpPr>
        <p:spPr>
          <a:xfrm>
            <a:off x="8046720" y="5257800"/>
            <a:ext cx="3474720" cy="868680"/>
          </a:xfrm>
          <a:prstGeom prst="rect">
            <a:avLst/>
          </a:prstGeom>
          <a:noFill/>
          <a:ln/>
        </p:spPr>
        <p:txBody>
          <a:bodyPr wrap="square" lIns="0" tIns="0" rIns="0" bIns="0" rtlCol="0" anchor="ctr"/>
          <a:lstStyle/>
          <a:p>
            <a:pPr indent="0" marL="0">
              <a:buNone/>
            </a:pPr>
            <a:r>
              <a:rPr lang="en-US" sz="1700" b="1" dirty="0">
                <a:solidFill>
                  <a:srgbClr val="2E3A9E"/>
                </a:solidFill>
                <a:latin typeface="Calibri" pitchFamily="34" charset="0"/>
                <a:ea typeface="Calibri" pitchFamily="34" charset="-122"/>
                <a:cs typeface="Calibri" pitchFamily="34" charset="-120"/>
              </a:rPr>
              <a:t>Try it: </a:t>
            </a:r>
            <a:pPr indent="0" marL="0">
              <a:buNone/>
            </a:pPr>
            <a:r>
              <a:rPr lang="en-US" sz="1700" b="1" dirty="0">
                <a:solidFill>
                  <a:srgbClr val="2E3A9E"/>
                </a:solidFill>
                <a:latin typeface="Calibri" pitchFamily="34" charset="0"/>
                <a:ea typeface="Calibri" pitchFamily="34" charset="-122"/>
                <a:cs typeface="Calibri" pitchFamily="34" charset="-120"/>
              </a:rPr>
              <a:t>playground.tensorflow.org</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15</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more pieces, better fit: how far can this go?</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EXPRESSIVE POWER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Universal approximation, stated honestly</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Grey: target f(x).   Teal: a hand-built (not trained) one-hidden-layer ReLU network.</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THEOREM (INFORMAL)</a:t>
            </a:r>
            <a:endParaRPr lang="en-US" sz="1300" dirty="0"/>
          </a:p>
        </p:txBody>
      </p:sp>
      <p:sp>
        <p:nvSpPr>
          <p:cNvPr id="9" name="Text 5"/>
          <p:cNvSpPr txBox="1"/>
          <p:nvPr/>
        </p:nvSpPr>
        <p:spPr>
          <a:xfrm>
            <a:off x="749808" y="4800600"/>
            <a:ext cx="4572000" cy="68580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Continuous f on compact K; one hidden layer of enough non-polynomial units (ReLU, sigmoid):</a:t>
            </a:r>
            <a:endParaRPr lang="en-US" sz="1600" dirty="0"/>
          </a:p>
        </p:txBody>
      </p:sp>
      <p:pic>
        <p:nvPicPr>
          <p:cNvPr id="10" name="Image 1" descr="LaTeX: $\displaystyle \sup_{\x\in K}\,\bigl|F(\x) - f(\x)\bigr| &lt; \varepsilon$">    </p:cNvPr>
          <p:cNvPicPr>
            <a:picLocks noChangeAspect="1"/>
          </p:cNvPicPr>
          <p:nvPr/>
        </p:nvPicPr>
        <p:blipFill>
          <a:blip r:embed="rId2"/>
          <a:stretch>
            <a:fillRect/>
          </a:stretch>
        </p:blipFill>
        <p:spPr>
          <a:xfrm>
            <a:off x="1645920" y="5486400"/>
            <a:ext cx="1642415" cy="336804"/>
          </a:xfrm>
          <a:prstGeom prst="rect">
            <a:avLst/>
          </a:prstGeom>
        </p:spPr>
      </p:pic>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Not “any function”</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Continuous, compact domain.</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Width can be huge</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Exponential in input dimension (worst case).</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Existence ≠ findable</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GD may not find it.</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Fit ≠ generalize</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Fitting is not the goal.</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CONSTRUCTED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real network of this kind: our Fashion-MNIST MLP</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THE MLP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forward pass repeats one rule per layer</a:t>
            </a:r>
            <a:endParaRPr lang="en-US" sz="3200" dirty="0"/>
          </a:p>
        </p:txBody>
      </p:sp>
      <p:sp>
        <p:nvSpPr>
          <p:cNvPr id="5" name="Shape 2"/>
          <p:cNvSpPr/>
          <p:nvPr/>
        </p:nvSpPr>
        <p:spPr>
          <a:xfrm flipV="1">
            <a:off x="914400" y="2203704"/>
            <a:ext cx="1402080" cy="329184"/>
          </a:xfrm>
          <a:prstGeom prst="line">
            <a:avLst/>
          </a:prstGeom>
          <a:noFill/>
          <a:ln w="11430">
            <a:solidFill>
              <a:srgbClr val="A9B3C2"/>
            </a:solidFill>
            <a:prstDash val="solid"/>
          </a:ln>
        </p:spPr>
      </p:sp>
      <p:sp>
        <p:nvSpPr>
          <p:cNvPr id="6" name="Shape 3"/>
          <p:cNvSpPr/>
          <p:nvPr/>
        </p:nvSpPr>
        <p:spPr>
          <a:xfrm>
            <a:off x="914400" y="2532888"/>
            <a:ext cx="1402080" cy="329184"/>
          </a:xfrm>
          <a:prstGeom prst="line">
            <a:avLst/>
          </a:prstGeom>
          <a:noFill/>
          <a:ln w="11430">
            <a:solidFill>
              <a:srgbClr val="A9B3C2"/>
            </a:solidFill>
            <a:prstDash val="solid"/>
          </a:ln>
        </p:spPr>
      </p:sp>
      <p:sp>
        <p:nvSpPr>
          <p:cNvPr id="7" name="Shape 4"/>
          <p:cNvSpPr/>
          <p:nvPr/>
        </p:nvSpPr>
        <p:spPr>
          <a:xfrm>
            <a:off x="914400" y="2532888"/>
            <a:ext cx="1402080" cy="987552"/>
          </a:xfrm>
          <a:prstGeom prst="line">
            <a:avLst/>
          </a:prstGeom>
          <a:noFill/>
          <a:ln w="11430">
            <a:solidFill>
              <a:srgbClr val="A9B3C2"/>
            </a:solidFill>
            <a:prstDash val="solid"/>
          </a:ln>
        </p:spPr>
      </p:sp>
      <p:sp>
        <p:nvSpPr>
          <p:cNvPr id="8" name="Shape 5"/>
          <p:cNvSpPr/>
          <p:nvPr/>
        </p:nvSpPr>
        <p:spPr>
          <a:xfrm>
            <a:off x="914400" y="2532888"/>
            <a:ext cx="1402080" cy="1645920"/>
          </a:xfrm>
          <a:prstGeom prst="line">
            <a:avLst/>
          </a:prstGeom>
          <a:noFill/>
          <a:ln w="11430">
            <a:solidFill>
              <a:srgbClr val="A9B3C2"/>
            </a:solidFill>
            <a:prstDash val="solid"/>
          </a:ln>
        </p:spPr>
      </p:sp>
      <p:sp>
        <p:nvSpPr>
          <p:cNvPr id="9" name="Shape 6"/>
          <p:cNvSpPr/>
          <p:nvPr/>
        </p:nvSpPr>
        <p:spPr>
          <a:xfrm>
            <a:off x="914400" y="2532888"/>
            <a:ext cx="1402080" cy="2304288"/>
          </a:xfrm>
          <a:prstGeom prst="line">
            <a:avLst/>
          </a:prstGeom>
          <a:noFill/>
          <a:ln w="11430">
            <a:solidFill>
              <a:srgbClr val="A9B3C2"/>
            </a:solidFill>
            <a:prstDash val="solid"/>
          </a:ln>
        </p:spPr>
      </p:sp>
      <p:sp>
        <p:nvSpPr>
          <p:cNvPr id="10" name="Shape 7"/>
          <p:cNvSpPr/>
          <p:nvPr/>
        </p:nvSpPr>
        <p:spPr>
          <a:xfrm flipV="1">
            <a:off x="914400" y="2203704"/>
            <a:ext cx="1402080" cy="987552"/>
          </a:xfrm>
          <a:prstGeom prst="line">
            <a:avLst/>
          </a:prstGeom>
          <a:noFill/>
          <a:ln w="11430">
            <a:solidFill>
              <a:srgbClr val="A9B3C2"/>
            </a:solidFill>
            <a:prstDash val="solid"/>
          </a:ln>
        </p:spPr>
      </p:sp>
      <p:sp>
        <p:nvSpPr>
          <p:cNvPr id="11" name="Shape 8"/>
          <p:cNvSpPr/>
          <p:nvPr/>
        </p:nvSpPr>
        <p:spPr>
          <a:xfrm flipV="1">
            <a:off x="914400" y="2862072"/>
            <a:ext cx="1402080" cy="329184"/>
          </a:xfrm>
          <a:prstGeom prst="line">
            <a:avLst/>
          </a:prstGeom>
          <a:noFill/>
          <a:ln w="11430">
            <a:solidFill>
              <a:srgbClr val="A9B3C2"/>
            </a:solidFill>
            <a:prstDash val="solid"/>
          </a:ln>
        </p:spPr>
      </p:sp>
      <p:sp>
        <p:nvSpPr>
          <p:cNvPr id="12" name="Shape 9"/>
          <p:cNvSpPr/>
          <p:nvPr/>
        </p:nvSpPr>
        <p:spPr>
          <a:xfrm>
            <a:off x="914400" y="3191256"/>
            <a:ext cx="1402080" cy="329184"/>
          </a:xfrm>
          <a:prstGeom prst="line">
            <a:avLst/>
          </a:prstGeom>
          <a:noFill/>
          <a:ln w="11430">
            <a:solidFill>
              <a:srgbClr val="A9B3C2"/>
            </a:solidFill>
            <a:prstDash val="solid"/>
          </a:ln>
        </p:spPr>
      </p:sp>
      <p:sp>
        <p:nvSpPr>
          <p:cNvPr id="13" name="Shape 10"/>
          <p:cNvSpPr/>
          <p:nvPr/>
        </p:nvSpPr>
        <p:spPr>
          <a:xfrm>
            <a:off x="914400" y="3191256"/>
            <a:ext cx="1402080" cy="987552"/>
          </a:xfrm>
          <a:prstGeom prst="line">
            <a:avLst/>
          </a:prstGeom>
          <a:noFill/>
          <a:ln w="11430">
            <a:solidFill>
              <a:srgbClr val="A9B3C2"/>
            </a:solidFill>
            <a:prstDash val="solid"/>
          </a:ln>
        </p:spPr>
      </p:sp>
      <p:sp>
        <p:nvSpPr>
          <p:cNvPr id="14" name="Shape 11"/>
          <p:cNvSpPr/>
          <p:nvPr/>
        </p:nvSpPr>
        <p:spPr>
          <a:xfrm>
            <a:off x="914400" y="3191256"/>
            <a:ext cx="1402080" cy="1645920"/>
          </a:xfrm>
          <a:prstGeom prst="line">
            <a:avLst/>
          </a:prstGeom>
          <a:noFill/>
          <a:ln w="11430">
            <a:solidFill>
              <a:srgbClr val="A9B3C2"/>
            </a:solidFill>
            <a:prstDash val="solid"/>
          </a:ln>
        </p:spPr>
      </p:sp>
      <p:sp>
        <p:nvSpPr>
          <p:cNvPr id="15" name="Shape 12"/>
          <p:cNvSpPr/>
          <p:nvPr/>
        </p:nvSpPr>
        <p:spPr>
          <a:xfrm flipV="1">
            <a:off x="914400" y="2203704"/>
            <a:ext cx="1402080" cy="1645920"/>
          </a:xfrm>
          <a:prstGeom prst="line">
            <a:avLst/>
          </a:prstGeom>
          <a:noFill/>
          <a:ln w="11430">
            <a:solidFill>
              <a:srgbClr val="A9B3C2"/>
            </a:solidFill>
            <a:prstDash val="solid"/>
          </a:ln>
        </p:spPr>
      </p:sp>
      <p:sp>
        <p:nvSpPr>
          <p:cNvPr id="16" name="Shape 13"/>
          <p:cNvSpPr/>
          <p:nvPr/>
        </p:nvSpPr>
        <p:spPr>
          <a:xfrm flipV="1">
            <a:off x="914400" y="2862072"/>
            <a:ext cx="1402080" cy="987552"/>
          </a:xfrm>
          <a:prstGeom prst="line">
            <a:avLst/>
          </a:prstGeom>
          <a:noFill/>
          <a:ln w="11430">
            <a:solidFill>
              <a:srgbClr val="A9B3C2"/>
            </a:solidFill>
            <a:prstDash val="solid"/>
          </a:ln>
        </p:spPr>
      </p:sp>
      <p:sp>
        <p:nvSpPr>
          <p:cNvPr id="17" name="Shape 14"/>
          <p:cNvSpPr/>
          <p:nvPr/>
        </p:nvSpPr>
        <p:spPr>
          <a:xfrm flipV="1">
            <a:off x="914400" y="3520440"/>
            <a:ext cx="1402080" cy="329184"/>
          </a:xfrm>
          <a:prstGeom prst="line">
            <a:avLst/>
          </a:prstGeom>
          <a:noFill/>
          <a:ln w="11430">
            <a:solidFill>
              <a:srgbClr val="A9B3C2"/>
            </a:solidFill>
            <a:prstDash val="solid"/>
          </a:ln>
        </p:spPr>
      </p:sp>
      <p:sp>
        <p:nvSpPr>
          <p:cNvPr id="18" name="Shape 15"/>
          <p:cNvSpPr/>
          <p:nvPr/>
        </p:nvSpPr>
        <p:spPr>
          <a:xfrm>
            <a:off x="914400" y="3849624"/>
            <a:ext cx="1402080" cy="329184"/>
          </a:xfrm>
          <a:prstGeom prst="line">
            <a:avLst/>
          </a:prstGeom>
          <a:noFill/>
          <a:ln w="11430">
            <a:solidFill>
              <a:srgbClr val="A9B3C2"/>
            </a:solidFill>
            <a:prstDash val="solid"/>
          </a:ln>
        </p:spPr>
      </p:sp>
      <p:sp>
        <p:nvSpPr>
          <p:cNvPr id="19" name="Shape 16"/>
          <p:cNvSpPr/>
          <p:nvPr/>
        </p:nvSpPr>
        <p:spPr>
          <a:xfrm>
            <a:off x="914400" y="3849624"/>
            <a:ext cx="1402080" cy="987552"/>
          </a:xfrm>
          <a:prstGeom prst="line">
            <a:avLst/>
          </a:prstGeom>
          <a:noFill/>
          <a:ln w="11430">
            <a:solidFill>
              <a:srgbClr val="A9B3C2"/>
            </a:solidFill>
            <a:prstDash val="solid"/>
          </a:ln>
        </p:spPr>
      </p:sp>
      <p:sp>
        <p:nvSpPr>
          <p:cNvPr id="20" name="Shape 17"/>
          <p:cNvSpPr/>
          <p:nvPr/>
        </p:nvSpPr>
        <p:spPr>
          <a:xfrm flipV="1">
            <a:off x="914400" y="2203704"/>
            <a:ext cx="1402080" cy="2304288"/>
          </a:xfrm>
          <a:prstGeom prst="line">
            <a:avLst/>
          </a:prstGeom>
          <a:noFill/>
          <a:ln w="11430">
            <a:solidFill>
              <a:srgbClr val="A9B3C2"/>
            </a:solidFill>
            <a:prstDash val="solid"/>
          </a:ln>
        </p:spPr>
      </p:sp>
      <p:sp>
        <p:nvSpPr>
          <p:cNvPr id="21" name="Shape 18"/>
          <p:cNvSpPr/>
          <p:nvPr/>
        </p:nvSpPr>
        <p:spPr>
          <a:xfrm flipV="1">
            <a:off x="914400" y="2862072"/>
            <a:ext cx="1402080" cy="1645920"/>
          </a:xfrm>
          <a:prstGeom prst="line">
            <a:avLst/>
          </a:prstGeom>
          <a:noFill/>
          <a:ln w="11430">
            <a:solidFill>
              <a:srgbClr val="A9B3C2"/>
            </a:solidFill>
            <a:prstDash val="solid"/>
          </a:ln>
        </p:spPr>
      </p:sp>
      <p:sp>
        <p:nvSpPr>
          <p:cNvPr id="22" name="Shape 19"/>
          <p:cNvSpPr/>
          <p:nvPr/>
        </p:nvSpPr>
        <p:spPr>
          <a:xfrm flipV="1">
            <a:off x="914400" y="3520440"/>
            <a:ext cx="1402080" cy="987552"/>
          </a:xfrm>
          <a:prstGeom prst="line">
            <a:avLst/>
          </a:prstGeom>
          <a:noFill/>
          <a:ln w="11430">
            <a:solidFill>
              <a:srgbClr val="A9B3C2"/>
            </a:solidFill>
            <a:prstDash val="solid"/>
          </a:ln>
        </p:spPr>
      </p:sp>
      <p:sp>
        <p:nvSpPr>
          <p:cNvPr id="23" name="Shape 20"/>
          <p:cNvSpPr/>
          <p:nvPr/>
        </p:nvSpPr>
        <p:spPr>
          <a:xfrm flipV="1">
            <a:off x="914400" y="4178808"/>
            <a:ext cx="1402080" cy="329184"/>
          </a:xfrm>
          <a:prstGeom prst="line">
            <a:avLst/>
          </a:prstGeom>
          <a:noFill/>
          <a:ln w="11430">
            <a:solidFill>
              <a:srgbClr val="A9B3C2"/>
            </a:solidFill>
            <a:prstDash val="solid"/>
          </a:ln>
        </p:spPr>
      </p:sp>
      <p:sp>
        <p:nvSpPr>
          <p:cNvPr id="24" name="Shape 21"/>
          <p:cNvSpPr/>
          <p:nvPr/>
        </p:nvSpPr>
        <p:spPr>
          <a:xfrm>
            <a:off x="914400" y="4507992"/>
            <a:ext cx="1402080" cy="329184"/>
          </a:xfrm>
          <a:prstGeom prst="line">
            <a:avLst/>
          </a:prstGeom>
          <a:noFill/>
          <a:ln w="11430">
            <a:solidFill>
              <a:srgbClr val="A9B3C2"/>
            </a:solidFill>
            <a:prstDash val="solid"/>
          </a:ln>
        </p:spPr>
      </p:sp>
      <p:sp>
        <p:nvSpPr>
          <p:cNvPr id="25" name="Shape 22"/>
          <p:cNvSpPr/>
          <p:nvPr/>
        </p:nvSpPr>
        <p:spPr>
          <a:xfrm>
            <a:off x="2316480" y="2203704"/>
            <a:ext cx="1402080" cy="91"/>
          </a:xfrm>
          <a:prstGeom prst="line">
            <a:avLst/>
          </a:prstGeom>
          <a:noFill/>
          <a:ln w="11430">
            <a:solidFill>
              <a:srgbClr val="A9B3C2"/>
            </a:solidFill>
            <a:prstDash val="solid"/>
          </a:ln>
        </p:spPr>
      </p:sp>
      <p:sp>
        <p:nvSpPr>
          <p:cNvPr id="26" name="Shape 23"/>
          <p:cNvSpPr/>
          <p:nvPr/>
        </p:nvSpPr>
        <p:spPr>
          <a:xfrm>
            <a:off x="2316480" y="2203704"/>
            <a:ext cx="1402080" cy="658368"/>
          </a:xfrm>
          <a:prstGeom prst="line">
            <a:avLst/>
          </a:prstGeom>
          <a:noFill/>
          <a:ln w="11430">
            <a:solidFill>
              <a:srgbClr val="A9B3C2"/>
            </a:solidFill>
            <a:prstDash val="solid"/>
          </a:ln>
        </p:spPr>
      </p:sp>
      <p:sp>
        <p:nvSpPr>
          <p:cNvPr id="27" name="Shape 24"/>
          <p:cNvSpPr/>
          <p:nvPr/>
        </p:nvSpPr>
        <p:spPr>
          <a:xfrm>
            <a:off x="2316480" y="2203704"/>
            <a:ext cx="1402080" cy="1316736"/>
          </a:xfrm>
          <a:prstGeom prst="line">
            <a:avLst/>
          </a:prstGeom>
          <a:noFill/>
          <a:ln w="11430">
            <a:solidFill>
              <a:srgbClr val="A9B3C2"/>
            </a:solidFill>
            <a:prstDash val="solid"/>
          </a:ln>
        </p:spPr>
      </p:sp>
      <p:sp>
        <p:nvSpPr>
          <p:cNvPr id="28" name="Shape 25"/>
          <p:cNvSpPr/>
          <p:nvPr/>
        </p:nvSpPr>
        <p:spPr>
          <a:xfrm>
            <a:off x="2316480" y="2203704"/>
            <a:ext cx="1402080" cy="1975104"/>
          </a:xfrm>
          <a:prstGeom prst="line">
            <a:avLst/>
          </a:prstGeom>
          <a:noFill/>
          <a:ln w="11430">
            <a:solidFill>
              <a:srgbClr val="A9B3C2"/>
            </a:solidFill>
            <a:prstDash val="solid"/>
          </a:ln>
        </p:spPr>
      </p:sp>
      <p:sp>
        <p:nvSpPr>
          <p:cNvPr id="29" name="Shape 26"/>
          <p:cNvSpPr/>
          <p:nvPr/>
        </p:nvSpPr>
        <p:spPr>
          <a:xfrm>
            <a:off x="2316480" y="2203704"/>
            <a:ext cx="1402080" cy="2633472"/>
          </a:xfrm>
          <a:prstGeom prst="line">
            <a:avLst/>
          </a:prstGeom>
          <a:noFill/>
          <a:ln w="11430">
            <a:solidFill>
              <a:srgbClr val="A9B3C2"/>
            </a:solidFill>
            <a:prstDash val="solid"/>
          </a:ln>
        </p:spPr>
      </p:sp>
      <p:sp>
        <p:nvSpPr>
          <p:cNvPr id="30" name="Shape 27"/>
          <p:cNvSpPr/>
          <p:nvPr/>
        </p:nvSpPr>
        <p:spPr>
          <a:xfrm flipV="1">
            <a:off x="2316480" y="2203704"/>
            <a:ext cx="1402080" cy="658368"/>
          </a:xfrm>
          <a:prstGeom prst="line">
            <a:avLst/>
          </a:prstGeom>
          <a:noFill/>
          <a:ln w="11430">
            <a:solidFill>
              <a:srgbClr val="A9B3C2"/>
            </a:solidFill>
            <a:prstDash val="solid"/>
          </a:ln>
        </p:spPr>
      </p:sp>
      <p:sp>
        <p:nvSpPr>
          <p:cNvPr id="31" name="Shape 28"/>
          <p:cNvSpPr/>
          <p:nvPr/>
        </p:nvSpPr>
        <p:spPr>
          <a:xfrm>
            <a:off x="2316480" y="2862072"/>
            <a:ext cx="1402080" cy="91"/>
          </a:xfrm>
          <a:prstGeom prst="line">
            <a:avLst/>
          </a:prstGeom>
          <a:noFill/>
          <a:ln w="11430">
            <a:solidFill>
              <a:srgbClr val="A9B3C2"/>
            </a:solidFill>
            <a:prstDash val="solid"/>
          </a:ln>
        </p:spPr>
      </p:sp>
      <p:sp>
        <p:nvSpPr>
          <p:cNvPr id="32" name="Shape 29"/>
          <p:cNvSpPr/>
          <p:nvPr/>
        </p:nvSpPr>
        <p:spPr>
          <a:xfrm>
            <a:off x="2316480" y="2862072"/>
            <a:ext cx="1402080" cy="658368"/>
          </a:xfrm>
          <a:prstGeom prst="line">
            <a:avLst/>
          </a:prstGeom>
          <a:noFill/>
          <a:ln w="11430">
            <a:solidFill>
              <a:srgbClr val="A9B3C2"/>
            </a:solidFill>
            <a:prstDash val="solid"/>
          </a:ln>
        </p:spPr>
      </p:sp>
      <p:sp>
        <p:nvSpPr>
          <p:cNvPr id="33" name="Shape 30"/>
          <p:cNvSpPr/>
          <p:nvPr/>
        </p:nvSpPr>
        <p:spPr>
          <a:xfrm>
            <a:off x="2316480" y="2862072"/>
            <a:ext cx="1402080" cy="1316736"/>
          </a:xfrm>
          <a:prstGeom prst="line">
            <a:avLst/>
          </a:prstGeom>
          <a:noFill/>
          <a:ln w="11430">
            <a:solidFill>
              <a:srgbClr val="A9B3C2"/>
            </a:solidFill>
            <a:prstDash val="solid"/>
          </a:ln>
        </p:spPr>
      </p:sp>
      <p:sp>
        <p:nvSpPr>
          <p:cNvPr id="34" name="Shape 31"/>
          <p:cNvSpPr/>
          <p:nvPr/>
        </p:nvSpPr>
        <p:spPr>
          <a:xfrm>
            <a:off x="2316480" y="2862072"/>
            <a:ext cx="1402080" cy="1975104"/>
          </a:xfrm>
          <a:prstGeom prst="line">
            <a:avLst/>
          </a:prstGeom>
          <a:noFill/>
          <a:ln w="11430">
            <a:solidFill>
              <a:srgbClr val="A9B3C2"/>
            </a:solidFill>
            <a:prstDash val="solid"/>
          </a:ln>
        </p:spPr>
      </p:sp>
      <p:sp>
        <p:nvSpPr>
          <p:cNvPr id="35" name="Shape 32"/>
          <p:cNvSpPr/>
          <p:nvPr/>
        </p:nvSpPr>
        <p:spPr>
          <a:xfrm flipV="1">
            <a:off x="2316480" y="2203704"/>
            <a:ext cx="1402080" cy="1316736"/>
          </a:xfrm>
          <a:prstGeom prst="line">
            <a:avLst/>
          </a:prstGeom>
          <a:noFill/>
          <a:ln w="11430">
            <a:solidFill>
              <a:srgbClr val="A9B3C2"/>
            </a:solidFill>
            <a:prstDash val="solid"/>
          </a:ln>
        </p:spPr>
      </p:sp>
      <p:sp>
        <p:nvSpPr>
          <p:cNvPr id="36" name="Shape 33"/>
          <p:cNvSpPr/>
          <p:nvPr/>
        </p:nvSpPr>
        <p:spPr>
          <a:xfrm flipV="1">
            <a:off x="2316480" y="2862072"/>
            <a:ext cx="1402080" cy="658368"/>
          </a:xfrm>
          <a:prstGeom prst="line">
            <a:avLst/>
          </a:prstGeom>
          <a:noFill/>
          <a:ln w="11430">
            <a:solidFill>
              <a:srgbClr val="A9B3C2"/>
            </a:solidFill>
            <a:prstDash val="solid"/>
          </a:ln>
        </p:spPr>
      </p:sp>
      <p:sp>
        <p:nvSpPr>
          <p:cNvPr id="37" name="Shape 34"/>
          <p:cNvSpPr/>
          <p:nvPr/>
        </p:nvSpPr>
        <p:spPr>
          <a:xfrm>
            <a:off x="2316480" y="3520440"/>
            <a:ext cx="1402080" cy="91"/>
          </a:xfrm>
          <a:prstGeom prst="line">
            <a:avLst/>
          </a:prstGeom>
          <a:noFill/>
          <a:ln w="11430">
            <a:solidFill>
              <a:srgbClr val="A9B3C2"/>
            </a:solidFill>
            <a:prstDash val="solid"/>
          </a:ln>
        </p:spPr>
      </p:sp>
      <p:sp>
        <p:nvSpPr>
          <p:cNvPr id="38" name="Shape 35"/>
          <p:cNvSpPr/>
          <p:nvPr/>
        </p:nvSpPr>
        <p:spPr>
          <a:xfrm>
            <a:off x="2316480" y="3520440"/>
            <a:ext cx="1402080" cy="658368"/>
          </a:xfrm>
          <a:prstGeom prst="line">
            <a:avLst/>
          </a:prstGeom>
          <a:noFill/>
          <a:ln w="11430">
            <a:solidFill>
              <a:srgbClr val="A9B3C2"/>
            </a:solidFill>
            <a:prstDash val="solid"/>
          </a:ln>
        </p:spPr>
      </p:sp>
      <p:sp>
        <p:nvSpPr>
          <p:cNvPr id="39" name="Shape 36"/>
          <p:cNvSpPr/>
          <p:nvPr/>
        </p:nvSpPr>
        <p:spPr>
          <a:xfrm>
            <a:off x="2316480" y="3520440"/>
            <a:ext cx="1402080" cy="1316736"/>
          </a:xfrm>
          <a:prstGeom prst="line">
            <a:avLst/>
          </a:prstGeom>
          <a:noFill/>
          <a:ln w="11430">
            <a:solidFill>
              <a:srgbClr val="A9B3C2"/>
            </a:solidFill>
            <a:prstDash val="solid"/>
          </a:ln>
        </p:spPr>
      </p:sp>
      <p:sp>
        <p:nvSpPr>
          <p:cNvPr id="40" name="Shape 37"/>
          <p:cNvSpPr/>
          <p:nvPr/>
        </p:nvSpPr>
        <p:spPr>
          <a:xfrm flipV="1">
            <a:off x="2316480" y="2203704"/>
            <a:ext cx="1402080" cy="1975104"/>
          </a:xfrm>
          <a:prstGeom prst="line">
            <a:avLst/>
          </a:prstGeom>
          <a:noFill/>
          <a:ln w="11430">
            <a:solidFill>
              <a:srgbClr val="A9B3C2"/>
            </a:solidFill>
            <a:prstDash val="solid"/>
          </a:ln>
        </p:spPr>
      </p:sp>
      <p:sp>
        <p:nvSpPr>
          <p:cNvPr id="41" name="Shape 38"/>
          <p:cNvSpPr/>
          <p:nvPr/>
        </p:nvSpPr>
        <p:spPr>
          <a:xfrm flipV="1">
            <a:off x="2316480" y="2862072"/>
            <a:ext cx="1402080" cy="1316736"/>
          </a:xfrm>
          <a:prstGeom prst="line">
            <a:avLst/>
          </a:prstGeom>
          <a:noFill/>
          <a:ln w="11430">
            <a:solidFill>
              <a:srgbClr val="A9B3C2"/>
            </a:solidFill>
            <a:prstDash val="solid"/>
          </a:ln>
        </p:spPr>
      </p:sp>
      <p:sp>
        <p:nvSpPr>
          <p:cNvPr id="42" name="Shape 39"/>
          <p:cNvSpPr/>
          <p:nvPr/>
        </p:nvSpPr>
        <p:spPr>
          <a:xfrm flipV="1">
            <a:off x="2316480" y="3520440"/>
            <a:ext cx="1402080" cy="658368"/>
          </a:xfrm>
          <a:prstGeom prst="line">
            <a:avLst/>
          </a:prstGeom>
          <a:noFill/>
          <a:ln w="11430">
            <a:solidFill>
              <a:srgbClr val="A9B3C2"/>
            </a:solidFill>
            <a:prstDash val="solid"/>
          </a:ln>
        </p:spPr>
      </p:sp>
      <p:sp>
        <p:nvSpPr>
          <p:cNvPr id="43" name="Shape 40"/>
          <p:cNvSpPr/>
          <p:nvPr/>
        </p:nvSpPr>
        <p:spPr>
          <a:xfrm>
            <a:off x="2316480" y="4178808"/>
            <a:ext cx="1402080" cy="91"/>
          </a:xfrm>
          <a:prstGeom prst="line">
            <a:avLst/>
          </a:prstGeom>
          <a:noFill/>
          <a:ln w="11430">
            <a:solidFill>
              <a:srgbClr val="A9B3C2"/>
            </a:solidFill>
            <a:prstDash val="solid"/>
          </a:ln>
        </p:spPr>
      </p:sp>
      <p:sp>
        <p:nvSpPr>
          <p:cNvPr id="44" name="Shape 41"/>
          <p:cNvSpPr/>
          <p:nvPr/>
        </p:nvSpPr>
        <p:spPr>
          <a:xfrm>
            <a:off x="2316480" y="4178808"/>
            <a:ext cx="1402080" cy="658368"/>
          </a:xfrm>
          <a:prstGeom prst="line">
            <a:avLst/>
          </a:prstGeom>
          <a:noFill/>
          <a:ln w="11430">
            <a:solidFill>
              <a:srgbClr val="A9B3C2"/>
            </a:solidFill>
            <a:prstDash val="solid"/>
          </a:ln>
        </p:spPr>
      </p:sp>
      <p:sp>
        <p:nvSpPr>
          <p:cNvPr id="45" name="Shape 42"/>
          <p:cNvSpPr/>
          <p:nvPr/>
        </p:nvSpPr>
        <p:spPr>
          <a:xfrm flipV="1">
            <a:off x="2316480" y="2203704"/>
            <a:ext cx="1402080" cy="2633472"/>
          </a:xfrm>
          <a:prstGeom prst="line">
            <a:avLst/>
          </a:prstGeom>
          <a:noFill/>
          <a:ln w="11430">
            <a:solidFill>
              <a:srgbClr val="A9B3C2"/>
            </a:solidFill>
            <a:prstDash val="solid"/>
          </a:ln>
        </p:spPr>
      </p:sp>
      <p:sp>
        <p:nvSpPr>
          <p:cNvPr id="46" name="Shape 43"/>
          <p:cNvSpPr/>
          <p:nvPr/>
        </p:nvSpPr>
        <p:spPr>
          <a:xfrm flipV="1">
            <a:off x="2316480" y="2862072"/>
            <a:ext cx="1402080" cy="1975104"/>
          </a:xfrm>
          <a:prstGeom prst="line">
            <a:avLst/>
          </a:prstGeom>
          <a:noFill/>
          <a:ln w="11430">
            <a:solidFill>
              <a:srgbClr val="A9B3C2"/>
            </a:solidFill>
            <a:prstDash val="solid"/>
          </a:ln>
        </p:spPr>
      </p:sp>
      <p:sp>
        <p:nvSpPr>
          <p:cNvPr id="47" name="Shape 44"/>
          <p:cNvSpPr/>
          <p:nvPr/>
        </p:nvSpPr>
        <p:spPr>
          <a:xfrm flipV="1">
            <a:off x="2316480" y="3520440"/>
            <a:ext cx="1402080" cy="1316736"/>
          </a:xfrm>
          <a:prstGeom prst="line">
            <a:avLst/>
          </a:prstGeom>
          <a:noFill/>
          <a:ln w="11430">
            <a:solidFill>
              <a:srgbClr val="A9B3C2"/>
            </a:solidFill>
            <a:prstDash val="solid"/>
          </a:ln>
        </p:spPr>
      </p:sp>
      <p:sp>
        <p:nvSpPr>
          <p:cNvPr id="48" name="Shape 45"/>
          <p:cNvSpPr/>
          <p:nvPr/>
        </p:nvSpPr>
        <p:spPr>
          <a:xfrm flipV="1">
            <a:off x="2316480" y="4178808"/>
            <a:ext cx="1402080" cy="658368"/>
          </a:xfrm>
          <a:prstGeom prst="line">
            <a:avLst/>
          </a:prstGeom>
          <a:noFill/>
          <a:ln w="11430">
            <a:solidFill>
              <a:srgbClr val="A9B3C2"/>
            </a:solidFill>
            <a:prstDash val="solid"/>
          </a:ln>
        </p:spPr>
      </p:sp>
      <p:sp>
        <p:nvSpPr>
          <p:cNvPr id="49" name="Shape 46"/>
          <p:cNvSpPr/>
          <p:nvPr/>
        </p:nvSpPr>
        <p:spPr>
          <a:xfrm>
            <a:off x="2316480" y="4837176"/>
            <a:ext cx="1402080" cy="91"/>
          </a:xfrm>
          <a:prstGeom prst="line">
            <a:avLst/>
          </a:prstGeom>
          <a:noFill/>
          <a:ln w="11430">
            <a:solidFill>
              <a:srgbClr val="A9B3C2"/>
            </a:solidFill>
            <a:prstDash val="solid"/>
          </a:ln>
        </p:spPr>
      </p:sp>
      <p:sp>
        <p:nvSpPr>
          <p:cNvPr id="50" name="Shape 47"/>
          <p:cNvSpPr/>
          <p:nvPr/>
        </p:nvSpPr>
        <p:spPr>
          <a:xfrm>
            <a:off x="3718560" y="2203704"/>
            <a:ext cx="1402080" cy="658368"/>
          </a:xfrm>
          <a:prstGeom prst="line">
            <a:avLst/>
          </a:prstGeom>
          <a:noFill/>
          <a:ln w="11430">
            <a:solidFill>
              <a:srgbClr val="A9B3C2"/>
            </a:solidFill>
            <a:prstDash val="solid"/>
          </a:ln>
        </p:spPr>
      </p:sp>
      <p:sp>
        <p:nvSpPr>
          <p:cNvPr id="51" name="Shape 48"/>
          <p:cNvSpPr/>
          <p:nvPr/>
        </p:nvSpPr>
        <p:spPr>
          <a:xfrm>
            <a:off x="3718560" y="2203704"/>
            <a:ext cx="1402080" cy="1316736"/>
          </a:xfrm>
          <a:prstGeom prst="line">
            <a:avLst/>
          </a:prstGeom>
          <a:noFill/>
          <a:ln w="11430">
            <a:solidFill>
              <a:srgbClr val="A9B3C2"/>
            </a:solidFill>
            <a:prstDash val="solid"/>
          </a:ln>
        </p:spPr>
      </p:sp>
      <p:sp>
        <p:nvSpPr>
          <p:cNvPr id="52" name="Shape 49"/>
          <p:cNvSpPr/>
          <p:nvPr/>
        </p:nvSpPr>
        <p:spPr>
          <a:xfrm>
            <a:off x="3718560" y="2203704"/>
            <a:ext cx="1402080" cy="1975104"/>
          </a:xfrm>
          <a:prstGeom prst="line">
            <a:avLst/>
          </a:prstGeom>
          <a:noFill/>
          <a:ln w="11430">
            <a:solidFill>
              <a:srgbClr val="A9B3C2"/>
            </a:solidFill>
            <a:prstDash val="solid"/>
          </a:ln>
        </p:spPr>
      </p:sp>
      <p:sp>
        <p:nvSpPr>
          <p:cNvPr id="53" name="Shape 50"/>
          <p:cNvSpPr/>
          <p:nvPr/>
        </p:nvSpPr>
        <p:spPr>
          <a:xfrm>
            <a:off x="3718560" y="2862072"/>
            <a:ext cx="1402080" cy="91"/>
          </a:xfrm>
          <a:prstGeom prst="line">
            <a:avLst/>
          </a:prstGeom>
          <a:noFill/>
          <a:ln w="11430">
            <a:solidFill>
              <a:srgbClr val="A9B3C2"/>
            </a:solidFill>
            <a:prstDash val="solid"/>
          </a:ln>
        </p:spPr>
      </p:sp>
      <p:sp>
        <p:nvSpPr>
          <p:cNvPr id="54" name="Shape 51"/>
          <p:cNvSpPr/>
          <p:nvPr/>
        </p:nvSpPr>
        <p:spPr>
          <a:xfrm>
            <a:off x="3718560" y="2862072"/>
            <a:ext cx="1402080" cy="658368"/>
          </a:xfrm>
          <a:prstGeom prst="line">
            <a:avLst/>
          </a:prstGeom>
          <a:noFill/>
          <a:ln w="11430">
            <a:solidFill>
              <a:srgbClr val="A9B3C2"/>
            </a:solidFill>
            <a:prstDash val="solid"/>
          </a:ln>
        </p:spPr>
      </p:sp>
      <p:sp>
        <p:nvSpPr>
          <p:cNvPr id="55" name="Shape 52"/>
          <p:cNvSpPr/>
          <p:nvPr/>
        </p:nvSpPr>
        <p:spPr>
          <a:xfrm>
            <a:off x="3718560" y="2862072"/>
            <a:ext cx="1402080" cy="1316736"/>
          </a:xfrm>
          <a:prstGeom prst="line">
            <a:avLst/>
          </a:prstGeom>
          <a:noFill/>
          <a:ln w="11430">
            <a:solidFill>
              <a:srgbClr val="A9B3C2"/>
            </a:solidFill>
            <a:prstDash val="solid"/>
          </a:ln>
        </p:spPr>
      </p:sp>
      <p:sp>
        <p:nvSpPr>
          <p:cNvPr id="56" name="Shape 53"/>
          <p:cNvSpPr/>
          <p:nvPr/>
        </p:nvSpPr>
        <p:spPr>
          <a:xfrm flipV="1">
            <a:off x="3718560" y="2862072"/>
            <a:ext cx="1402080" cy="658368"/>
          </a:xfrm>
          <a:prstGeom prst="line">
            <a:avLst/>
          </a:prstGeom>
          <a:noFill/>
          <a:ln w="11430">
            <a:solidFill>
              <a:srgbClr val="A9B3C2"/>
            </a:solidFill>
            <a:prstDash val="solid"/>
          </a:ln>
        </p:spPr>
      </p:sp>
      <p:sp>
        <p:nvSpPr>
          <p:cNvPr id="57" name="Shape 54"/>
          <p:cNvSpPr/>
          <p:nvPr/>
        </p:nvSpPr>
        <p:spPr>
          <a:xfrm>
            <a:off x="3718560" y="3520440"/>
            <a:ext cx="1402080" cy="91"/>
          </a:xfrm>
          <a:prstGeom prst="line">
            <a:avLst/>
          </a:prstGeom>
          <a:noFill/>
          <a:ln w="11430">
            <a:solidFill>
              <a:srgbClr val="A9B3C2"/>
            </a:solidFill>
            <a:prstDash val="solid"/>
          </a:ln>
        </p:spPr>
      </p:sp>
      <p:sp>
        <p:nvSpPr>
          <p:cNvPr id="58" name="Shape 55"/>
          <p:cNvSpPr/>
          <p:nvPr/>
        </p:nvSpPr>
        <p:spPr>
          <a:xfrm>
            <a:off x="3718560" y="3520440"/>
            <a:ext cx="1402080" cy="658368"/>
          </a:xfrm>
          <a:prstGeom prst="line">
            <a:avLst/>
          </a:prstGeom>
          <a:noFill/>
          <a:ln w="11430">
            <a:solidFill>
              <a:srgbClr val="A9B3C2"/>
            </a:solidFill>
            <a:prstDash val="solid"/>
          </a:ln>
        </p:spPr>
      </p:sp>
      <p:sp>
        <p:nvSpPr>
          <p:cNvPr id="59" name="Shape 56"/>
          <p:cNvSpPr/>
          <p:nvPr/>
        </p:nvSpPr>
        <p:spPr>
          <a:xfrm flipV="1">
            <a:off x="3718560" y="2862072"/>
            <a:ext cx="1402080" cy="1316736"/>
          </a:xfrm>
          <a:prstGeom prst="line">
            <a:avLst/>
          </a:prstGeom>
          <a:noFill/>
          <a:ln w="11430">
            <a:solidFill>
              <a:srgbClr val="A9B3C2"/>
            </a:solidFill>
            <a:prstDash val="solid"/>
          </a:ln>
        </p:spPr>
      </p:sp>
      <p:sp>
        <p:nvSpPr>
          <p:cNvPr id="60" name="Shape 57"/>
          <p:cNvSpPr/>
          <p:nvPr/>
        </p:nvSpPr>
        <p:spPr>
          <a:xfrm flipV="1">
            <a:off x="3718560" y="3520440"/>
            <a:ext cx="1402080" cy="658368"/>
          </a:xfrm>
          <a:prstGeom prst="line">
            <a:avLst/>
          </a:prstGeom>
          <a:noFill/>
          <a:ln w="11430">
            <a:solidFill>
              <a:srgbClr val="A9B3C2"/>
            </a:solidFill>
            <a:prstDash val="solid"/>
          </a:ln>
        </p:spPr>
      </p:sp>
      <p:sp>
        <p:nvSpPr>
          <p:cNvPr id="61" name="Shape 58"/>
          <p:cNvSpPr/>
          <p:nvPr/>
        </p:nvSpPr>
        <p:spPr>
          <a:xfrm>
            <a:off x="3718560" y="4178808"/>
            <a:ext cx="1402080" cy="91"/>
          </a:xfrm>
          <a:prstGeom prst="line">
            <a:avLst/>
          </a:prstGeom>
          <a:noFill/>
          <a:ln w="11430">
            <a:solidFill>
              <a:srgbClr val="A9B3C2"/>
            </a:solidFill>
            <a:prstDash val="solid"/>
          </a:ln>
        </p:spPr>
      </p:sp>
      <p:sp>
        <p:nvSpPr>
          <p:cNvPr id="62" name="Shape 59"/>
          <p:cNvSpPr/>
          <p:nvPr/>
        </p:nvSpPr>
        <p:spPr>
          <a:xfrm flipV="1">
            <a:off x="3718560" y="2862072"/>
            <a:ext cx="1402080" cy="1975104"/>
          </a:xfrm>
          <a:prstGeom prst="line">
            <a:avLst/>
          </a:prstGeom>
          <a:noFill/>
          <a:ln w="11430">
            <a:solidFill>
              <a:srgbClr val="A9B3C2"/>
            </a:solidFill>
            <a:prstDash val="solid"/>
          </a:ln>
        </p:spPr>
      </p:sp>
      <p:sp>
        <p:nvSpPr>
          <p:cNvPr id="63" name="Shape 60"/>
          <p:cNvSpPr/>
          <p:nvPr/>
        </p:nvSpPr>
        <p:spPr>
          <a:xfrm flipV="1">
            <a:off x="3718560" y="3520440"/>
            <a:ext cx="1402080" cy="1316736"/>
          </a:xfrm>
          <a:prstGeom prst="line">
            <a:avLst/>
          </a:prstGeom>
          <a:noFill/>
          <a:ln w="11430">
            <a:solidFill>
              <a:srgbClr val="A9B3C2"/>
            </a:solidFill>
            <a:prstDash val="solid"/>
          </a:ln>
        </p:spPr>
      </p:sp>
      <p:sp>
        <p:nvSpPr>
          <p:cNvPr id="64" name="Shape 61"/>
          <p:cNvSpPr/>
          <p:nvPr/>
        </p:nvSpPr>
        <p:spPr>
          <a:xfrm flipV="1">
            <a:off x="3718560" y="4178808"/>
            <a:ext cx="1402080" cy="658368"/>
          </a:xfrm>
          <a:prstGeom prst="line">
            <a:avLst/>
          </a:prstGeom>
          <a:noFill/>
          <a:ln w="11430">
            <a:solidFill>
              <a:srgbClr val="A9B3C2"/>
            </a:solidFill>
            <a:prstDash val="solid"/>
          </a:ln>
        </p:spPr>
      </p:sp>
      <p:sp>
        <p:nvSpPr>
          <p:cNvPr id="65" name="Shape 62"/>
          <p:cNvSpPr/>
          <p:nvPr/>
        </p:nvSpPr>
        <p:spPr>
          <a:xfrm>
            <a:off x="731520" y="2350008"/>
            <a:ext cx="365760" cy="365760"/>
          </a:xfrm>
          <a:prstGeom prst="ellipse">
            <a:avLst/>
          </a:prstGeom>
          <a:solidFill>
            <a:srgbClr val="8A94A3"/>
          </a:solidFill>
          <a:ln/>
        </p:spPr>
      </p:sp>
      <p:sp>
        <p:nvSpPr>
          <p:cNvPr id="66" name="Shape 63"/>
          <p:cNvSpPr/>
          <p:nvPr/>
        </p:nvSpPr>
        <p:spPr>
          <a:xfrm>
            <a:off x="731520" y="3008376"/>
            <a:ext cx="365760" cy="365760"/>
          </a:xfrm>
          <a:prstGeom prst="ellipse">
            <a:avLst/>
          </a:prstGeom>
          <a:solidFill>
            <a:srgbClr val="8A94A3"/>
          </a:solidFill>
          <a:ln/>
        </p:spPr>
      </p:sp>
      <p:sp>
        <p:nvSpPr>
          <p:cNvPr id="67" name="Shape 64"/>
          <p:cNvSpPr/>
          <p:nvPr/>
        </p:nvSpPr>
        <p:spPr>
          <a:xfrm>
            <a:off x="731520" y="3666744"/>
            <a:ext cx="365760" cy="365760"/>
          </a:xfrm>
          <a:prstGeom prst="ellipse">
            <a:avLst/>
          </a:prstGeom>
          <a:solidFill>
            <a:srgbClr val="8A94A3"/>
          </a:solidFill>
          <a:ln/>
        </p:spPr>
      </p:sp>
      <p:sp>
        <p:nvSpPr>
          <p:cNvPr id="68" name="Shape 65"/>
          <p:cNvSpPr/>
          <p:nvPr/>
        </p:nvSpPr>
        <p:spPr>
          <a:xfrm>
            <a:off x="731520" y="4325112"/>
            <a:ext cx="365760" cy="365760"/>
          </a:xfrm>
          <a:prstGeom prst="ellipse">
            <a:avLst/>
          </a:prstGeom>
          <a:solidFill>
            <a:srgbClr val="8A94A3"/>
          </a:solidFill>
          <a:ln/>
        </p:spPr>
      </p:sp>
      <p:sp>
        <p:nvSpPr>
          <p:cNvPr id="69" name="Shape 66"/>
          <p:cNvSpPr/>
          <p:nvPr/>
        </p:nvSpPr>
        <p:spPr>
          <a:xfrm>
            <a:off x="2133600" y="2020824"/>
            <a:ext cx="365760" cy="365760"/>
          </a:xfrm>
          <a:prstGeom prst="ellipse">
            <a:avLst/>
          </a:prstGeom>
          <a:solidFill>
            <a:srgbClr val="0F7C82"/>
          </a:solidFill>
          <a:ln/>
        </p:spPr>
      </p:sp>
      <p:sp>
        <p:nvSpPr>
          <p:cNvPr id="70" name="Shape 67"/>
          <p:cNvSpPr/>
          <p:nvPr/>
        </p:nvSpPr>
        <p:spPr>
          <a:xfrm>
            <a:off x="2133600" y="2679192"/>
            <a:ext cx="365760" cy="365760"/>
          </a:xfrm>
          <a:prstGeom prst="ellipse">
            <a:avLst/>
          </a:prstGeom>
          <a:solidFill>
            <a:srgbClr val="0F7C82"/>
          </a:solidFill>
          <a:ln/>
        </p:spPr>
      </p:sp>
      <p:sp>
        <p:nvSpPr>
          <p:cNvPr id="71" name="Shape 68"/>
          <p:cNvSpPr/>
          <p:nvPr/>
        </p:nvSpPr>
        <p:spPr>
          <a:xfrm>
            <a:off x="2133600" y="3337560"/>
            <a:ext cx="365760" cy="365760"/>
          </a:xfrm>
          <a:prstGeom prst="ellipse">
            <a:avLst/>
          </a:prstGeom>
          <a:solidFill>
            <a:srgbClr val="0F7C82"/>
          </a:solidFill>
          <a:ln/>
        </p:spPr>
      </p:sp>
      <p:sp>
        <p:nvSpPr>
          <p:cNvPr id="72" name="Shape 69"/>
          <p:cNvSpPr/>
          <p:nvPr/>
        </p:nvSpPr>
        <p:spPr>
          <a:xfrm>
            <a:off x="2133600" y="3995928"/>
            <a:ext cx="365760" cy="365760"/>
          </a:xfrm>
          <a:prstGeom prst="ellipse">
            <a:avLst/>
          </a:prstGeom>
          <a:solidFill>
            <a:srgbClr val="0F7C82"/>
          </a:solidFill>
          <a:ln/>
        </p:spPr>
      </p:sp>
      <p:sp>
        <p:nvSpPr>
          <p:cNvPr id="73" name="Shape 70"/>
          <p:cNvSpPr/>
          <p:nvPr/>
        </p:nvSpPr>
        <p:spPr>
          <a:xfrm>
            <a:off x="2133600" y="4654296"/>
            <a:ext cx="365760" cy="365760"/>
          </a:xfrm>
          <a:prstGeom prst="ellipse">
            <a:avLst/>
          </a:prstGeom>
          <a:solidFill>
            <a:srgbClr val="0F7C82"/>
          </a:solidFill>
          <a:ln/>
        </p:spPr>
      </p:sp>
      <p:sp>
        <p:nvSpPr>
          <p:cNvPr id="74" name="Shape 71"/>
          <p:cNvSpPr/>
          <p:nvPr/>
        </p:nvSpPr>
        <p:spPr>
          <a:xfrm>
            <a:off x="3535680" y="2020824"/>
            <a:ext cx="365760" cy="365760"/>
          </a:xfrm>
          <a:prstGeom prst="ellipse">
            <a:avLst/>
          </a:prstGeom>
          <a:solidFill>
            <a:srgbClr val="0F7C82"/>
          </a:solidFill>
          <a:ln/>
        </p:spPr>
      </p:sp>
      <p:sp>
        <p:nvSpPr>
          <p:cNvPr id="75" name="Shape 72"/>
          <p:cNvSpPr/>
          <p:nvPr/>
        </p:nvSpPr>
        <p:spPr>
          <a:xfrm>
            <a:off x="3535680" y="2679192"/>
            <a:ext cx="365760" cy="365760"/>
          </a:xfrm>
          <a:prstGeom prst="ellipse">
            <a:avLst/>
          </a:prstGeom>
          <a:solidFill>
            <a:srgbClr val="0F7C82"/>
          </a:solidFill>
          <a:ln/>
        </p:spPr>
      </p:sp>
      <p:sp>
        <p:nvSpPr>
          <p:cNvPr id="76" name="Shape 73"/>
          <p:cNvSpPr/>
          <p:nvPr/>
        </p:nvSpPr>
        <p:spPr>
          <a:xfrm>
            <a:off x="3535680" y="3337560"/>
            <a:ext cx="365760" cy="365760"/>
          </a:xfrm>
          <a:prstGeom prst="ellipse">
            <a:avLst/>
          </a:prstGeom>
          <a:solidFill>
            <a:srgbClr val="0F7C82"/>
          </a:solidFill>
          <a:ln/>
        </p:spPr>
      </p:sp>
      <p:sp>
        <p:nvSpPr>
          <p:cNvPr id="77" name="Shape 74"/>
          <p:cNvSpPr/>
          <p:nvPr/>
        </p:nvSpPr>
        <p:spPr>
          <a:xfrm>
            <a:off x="3535680" y="3995928"/>
            <a:ext cx="365760" cy="365760"/>
          </a:xfrm>
          <a:prstGeom prst="ellipse">
            <a:avLst/>
          </a:prstGeom>
          <a:solidFill>
            <a:srgbClr val="0F7C82"/>
          </a:solidFill>
          <a:ln/>
        </p:spPr>
      </p:sp>
      <p:sp>
        <p:nvSpPr>
          <p:cNvPr id="78" name="Shape 75"/>
          <p:cNvSpPr/>
          <p:nvPr/>
        </p:nvSpPr>
        <p:spPr>
          <a:xfrm>
            <a:off x="3535680" y="4654296"/>
            <a:ext cx="365760" cy="365760"/>
          </a:xfrm>
          <a:prstGeom prst="ellipse">
            <a:avLst/>
          </a:prstGeom>
          <a:solidFill>
            <a:srgbClr val="0F7C82"/>
          </a:solidFill>
          <a:ln/>
        </p:spPr>
      </p:sp>
      <p:sp>
        <p:nvSpPr>
          <p:cNvPr id="79" name="Shape 76"/>
          <p:cNvSpPr/>
          <p:nvPr/>
        </p:nvSpPr>
        <p:spPr>
          <a:xfrm>
            <a:off x="4937760" y="2679192"/>
            <a:ext cx="365760" cy="365760"/>
          </a:xfrm>
          <a:prstGeom prst="ellipse">
            <a:avLst/>
          </a:prstGeom>
          <a:solidFill>
            <a:srgbClr val="C8571B"/>
          </a:solidFill>
          <a:ln/>
        </p:spPr>
      </p:sp>
      <p:sp>
        <p:nvSpPr>
          <p:cNvPr id="80" name="Shape 77"/>
          <p:cNvSpPr/>
          <p:nvPr/>
        </p:nvSpPr>
        <p:spPr>
          <a:xfrm>
            <a:off x="4937760" y="3337560"/>
            <a:ext cx="365760" cy="365760"/>
          </a:xfrm>
          <a:prstGeom prst="ellipse">
            <a:avLst/>
          </a:prstGeom>
          <a:solidFill>
            <a:srgbClr val="C8571B"/>
          </a:solidFill>
          <a:ln/>
        </p:spPr>
      </p:sp>
      <p:sp>
        <p:nvSpPr>
          <p:cNvPr id="81" name="Shape 78"/>
          <p:cNvSpPr/>
          <p:nvPr/>
        </p:nvSpPr>
        <p:spPr>
          <a:xfrm>
            <a:off x="4937760" y="3995928"/>
            <a:ext cx="365760" cy="365760"/>
          </a:xfrm>
          <a:prstGeom prst="ellipse">
            <a:avLst/>
          </a:prstGeom>
          <a:solidFill>
            <a:srgbClr val="C8571B"/>
          </a:solidFill>
          <a:ln/>
        </p:spPr>
      </p:sp>
      <p:sp>
        <p:nvSpPr>
          <p:cNvPr id="82" name="Text 79"/>
          <p:cNvSpPr txBox="1"/>
          <p:nvPr/>
        </p:nvSpPr>
        <p:spPr>
          <a:xfrm>
            <a:off x="32004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[0]</a:t>
            </a:r>
            <a:endParaRPr lang="en-US" sz="1800" dirty="0"/>
          </a:p>
        </p:txBody>
      </p:sp>
      <p:sp>
        <p:nvSpPr>
          <p:cNvPr id="83" name="Text 80"/>
          <p:cNvSpPr txBox="1"/>
          <p:nvPr/>
        </p:nvSpPr>
        <p:spPr>
          <a:xfrm>
            <a:off x="172212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[1]</a:t>
            </a:r>
            <a:endParaRPr lang="en-US" sz="1800" dirty="0"/>
          </a:p>
        </p:txBody>
      </p:sp>
      <p:sp>
        <p:nvSpPr>
          <p:cNvPr id="84" name="Text 81"/>
          <p:cNvSpPr txBox="1"/>
          <p:nvPr/>
        </p:nvSpPr>
        <p:spPr>
          <a:xfrm>
            <a:off x="312420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[2]</a:t>
            </a:r>
            <a:endParaRPr lang="en-US" sz="1800" dirty="0"/>
          </a:p>
        </p:txBody>
      </p:sp>
      <p:sp>
        <p:nvSpPr>
          <p:cNvPr id="85" name="Text 82"/>
          <p:cNvSpPr txBox="1"/>
          <p:nvPr/>
        </p:nvSpPr>
        <p:spPr>
          <a:xfrm>
            <a:off x="4526280" y="5257800"/>
            <a:ext cx="1188720" cy="365760"/>
          </a:xfrm>
          <a:prstGeom prst="rect">
            <a:avLst/>
          </a:prstGeom>
          <a:noFill/>
          <a:ln/>
        </p:spPr>
        <p:txBody>
          <a:bodyPr wrap="square" lIns="0" tIns="0" rIns="0" bIns="0" rtlCol="0" anchor="t"/>
          <a:lstStyle/>
          <a:p>
            <a:pPr algn="ctr" indent="0" marL="0">
              <a:buNone/>
            </a:pPr>
            <a:r>
              <a:rPr lang="en-US" sz="1800" dirty="0">
                <a:solidFill>
                  <a:srgbClr val="2B3A4F"/>
                </a:solidFill>
                <a:latin typeface="Cambria" pitchFamily="34" charset="0"/>
                <a:ea typeface="Cambria" pitchFamily="34" charset="-122"/>
                <a:cs typeface="Cambria" pitchFamily="34" charset="-120"/>
              </a:rPr>
              <a:t>a</a:t>
            </a:r>
            <a:pPr algn="ctr" indent="0" marL="0">
              <a:buNone/>
            </a:pPr>
            <a:r>
              <a:rPr lang="en-US" sz="1800" baseline="30000" dirty="0">
                <a:solidFill>
                  <a:srgbClr val="2B3A4F"/>
                </a:solidFill>
                <a:latin typeface="Cambria" pitchFamily="34" charset="0"/>
                <a:ea typeface="Cambria" pitchFamily="34" charset="-122"/>
                <a:cs typeface="Cambria" pitchFamily="34" charset="-120"/>
              </a:rPr>
              <a:t>[3]</a:t>
            </a:r>
            <a:endParaRPr lang="en-US" sz="1800" dirty="0"/>
          </a:p>
        </p:txBody>
      </p:sp>
      <p:sp>
        <p:nvSpPr>
          <p:cNvPr id="86" name="Text 83"/>
          <p:cNvSpPr txBox="1"/>
          <p:nvPr/>
        </p:nvSpPr>
        <p:spPr>
          <a:xfrm>
            <a:off x="32004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x</a:t>
            </a:r>
            <a:endParaRPr lang="en-US" sz="1500" dirty="0"/>
          </a:p>
        </p:txBody>
      </p:sp>
      <p:sp>
        <p:nvSpPr>
          <p:cNvPr id="87" name="Text 84"/>
          <p:cNvSpPr txBox="1"/>
          <p:nvPr/>
        </p:nvSpPr>
        <p:spPr>
          <a:xfrm>
            <a:off x="4526280" y="5577840"/>
            <a:ext cx="1188720" cy="320040"/>
          </a:xfrm>
          <a:prstGeom prst="rect">
            <a:avLst/>
          </a:prstGeom>
          <a:noFill/>
          <a:ln/>
        </p:spPr>
        <p:txBody>
          <a:bodyPr wrap="square" lIns="0" tIns="0" rIns="0" bIns="0" rtlCol="0" anchor="t"/>
          <a:lstStyle/>
          <a:p>
            <a:pPr algn="ctr" indent="0" marL="0">
              <a:buNone/>
            </a:pPr>
            <a:r>
              <a:rPr lang="en-US" sz="1500" dirty="0">
                <a:solidFill>
                  <a:srgbClr val="5B6675"/>
                </a:solidFill>
                <a:latin typeface="Calibri" pitchFamily="34" charset="0"/>
                <a:ea typeface="Calibri" pitchFamily="34" charset="-122"/>
                <a:cs typeface="Calibri" pitchFamily="34" charset="-120"/>
              </a:rPr>
              <a:t>= ŷ</a:t>
            </a:r>
            <a:endParaRPr lang="en-US" sz="1500" dirty="0"/>
          </a:p>
        </p:txBody>
      </p:sp>
      <p:sp>
        <p:nvSpPr>
          <p:cNvPr id="88" name="Text 85"/>
          <p:cNvSpPr txBox="1"/>
          <p:nvPr/>
        </p:nvSpPr>
        <p:spPr>
          <a:xfrm>
            <a:off x="115824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[1]</a:t>
            </a:r>
            <a:endParaRPr lang="en-US" sz="1800" dirty="0"/>
          </a:p>
        </p:txBody>
      </p:sp>
      <p:sp>
        <p:nvSpPr>
          <p:cNvPr id="89" name="Text 86"/>
          <p:cNvSpPr txBox="1"/>
          <p:nvPr/>
        </p:nvSpPr>
        <p:spPr>
          <a:xfrm>
            <a:off x="256032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[2]</a:t>
            </a:r>
            <a:endParaRPr lang="en-US" sz="1800" dirty="0"/>
          </a:p>
        </p:txBody>
      </p:sp>
      <p:sp>
        <p:nvSpPr>
          <p:cNvPr id="90" name="Text 87"/>
          <p:cNvSpPr txBox="1"/>
          <p:nvPr/>
        </p:nvSpPr>
        <p:spPr>
          <a:xfrm>
            <a:off x="3962400" y="1371600"/>
            <a:ext cx="100584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mbria" pitchFamily="34" charset="0"/>
                <a:ea typeface="Cambria" pitchFamily="34" charset="-122"/>
                <a:cs typeface="Cambria" pitchFamily="34" charset="-120"/>
              </a:rPr>
              <a:t>W</a:t>
            </a:r>
            <a:pPr algn="ctr" indent="0" marL="0">
              <a:buNone/>
            </a:pPr>
            <a:r>
              <a:rPr lang="en-US" sz="1800" b="1" baseline="30000" dirty="0">
                <a:solidFill>
                  <a:srgbClr val="0F7C82"/>
                </a:solidFill>
                <a:latin typeface="Cambria" pitchFamily="34" charset="0"/>
                <a:ea typeface="Cambria" pitchFamily="34" charset="-122"/>
                <a:cs typeface="Cambria" pitchFamily="34" charset="-120"/>
              </a:rPr>
              <a:t>[3]</a:t>
            </a:r>
            <a:endParaRPr lang="en-US" sz="1800" dirty="0"/>
          </a:p>
        </p:txBody>
      </p:sp>
      <p:sp>
        <p:nvSpPr>
          <p:cNvPr id="91" name="Shape 88"/>
          <p:cNvSpPr/>
          <p:nvPr/>
        </p:nvSpPr>
        <p:spPr>
          <a:xfrm>
            <a:off x="5623560" y="1417320"/>
            <a:ext cx="6016752" cy="2926080"/>
          </a:xfrm>
          <a:prstGeom prst="roundRect">
            <a:avLst>
              <a:gd name="adj" fmla="val 2500"/>
            </a:avLst>
          </a:prstGeom>
          <a:solidFill>
            <a:srgbClr val="F3F5F8"/>
          </a:solidFill>
          <a:ln/>
        </p:spPr>
      </p:sp>
      <p:sp>
        <p:nvSpPr>
          <p:cNvPr id="92" name="Text 89"/>
          <p:cNvSpPr txBox="1"/>
          <p:nvPr/>
        </p:nvSpPr>
        <p:spPr>
          <a:xfrm>
            <a:off x="5852160" y="157276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 ONE EXAMPLE</a:t>
            </a:r>
            <a:endParaRPr lang="en-US" sz="1300" dirty="0"/>
          </a:p>
        </p:txBody>
      </p:sp>
      <p:pic>
        <p:nvPicPr>
          <p:cNvPr id="93" name="Image 0" descr="LaTeX: \begin{align*} &amp;\av\Ly{0} = \x\\ &amp;\textbf{for } l = 1,\dots,L:\\ &amp;\qquad \z\Ly{l} = \W\Ly{l}\av\Ly{l-1} + \bb\Ly{l} \qquad \text{\color{mu}pre-activation}\\ &amp;\qquad \av\Ly{l} = g\Ly{l}\bigl(\z\Ly{l}\bigr) \qquad \text{\color{mu}activation}\\ &amp;\yhv = \av\Ly{L} \end{align*}">    </p:cNvPr>
          <p:cNvPicPr>
            <a:picLocks noChangeAspect="1"/>
          </p:cNvPicPr>
          <p:nvPr/>
        </p:nvPicPr>
        <p:blipFill>
          <a:blip r:embed="rId1"/>
          <a:stretch>
            <a:fillRect/>
          </a:stretch>
        </p:blipFill>
        <p:spPr>
          <a:xfrm>
            <a:off x="5897880" y="1920240"/>
            <a:ext cx="4256684" cy="1728064"/>
          </a:xfrm>
          <a:prstGeom prst="rect">
            <a:avLst/>
          </a:prstGeom>
        </p:spPr>
      </p:pic>
      <p:sp>
        <p:nvSpPr>
          <p:cNvPr id="94" name="Shape 90"/>
          <p:cNvSpPr/>
          <p:nvPr/>
        </p:nvSpPr>
        <p:spPr>
          <a:xfrm>
            <a:off x="5623560" y="4572000"/>
            <a:ext cx="6016752" cy="1554480"/>
          </a:xfrm>
          <a:prstGeom prst="roundRect">
            <a:avLst>
              <a:gd name="adj" fmla="val 4706"/>
            </a:avLst>
          </a:prstGeom>
          <a:solidFill>
            <a:srgbClr val="E2F1F1"/>
          </a:solidFill>
          <a:ln/>
        </p:spPr>
      </p:sp>
      <p:sp>
        <p:nvSpPr>
          <p:cNvPr id="95" name="Text 91"/>
          <p:cNvSpPr txBox="1"/>
          <p:nvPr/>
        </p:nvSpPr>
        <p:spPr>
          <a:xfrm>
            <a:off x="5852160" y="4709160"/>
            <a:ext cx="36576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SHAPE CHECK</a:t>
            </a:r>
            <a:endParaRPr lang="en-US" sz="1300" dirty="0"/>
          </a:p>
        </p:txBody>
      </p:sp>
      <p:pic>
        <p:nvPicPr>
          <p:cNvPr id="96" name="Image 1" descr="LaTeX: $\displaystyle \underbrace{\W\Ly{l}}_{(n\Ly{l},\,n\Ly{l-1})}\;\underbrace{\av\Ly{l-1}}_{(n\Ly{l-1},\,1)} + \underbrace{\bb\Ly{l}}_{(n\Ly{l},\,1)} = \underbrace{\z\Ly{l}}_{(n\Ly{l},\,1)}$">    </p:cNvPr>
          <p:cNvPicPr>
            <a:picLocks noChangeAspect="1"/>
          </p:cNvPicPr>
          <p:nvPr/>
        </p:nvPicPr>
        <p:blipFill>
          <a:blip r:embed="rId2"/>
          <a:stretch>
            <a:fillRect/>
          </a:stretch>
        </p:blipFill>
        <p:spPr>
          <a:xfrm>
            <a:off x="5897880" y="5074920"/>
            <a:ext cx="3422447" cy="619201"/>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17</a:t>
            </a:fld>
            <a:endParaRPr lang="en-US"/>
          </a:p>
        </p:txBody>
      </p:sp>
      <p:sp>
        <p:nvSpPr>
          <p:cNvPr id="9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a trained ReLU network actually computes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a 784–128–64–10 MLP</a:t>
            </a:r>
            <a:endParaRPr lang="en-US" sz="3200" dirty="0"/>
          </a:p>
        </p:txBody>
      </p:sp>
      <p:pic>
        <p:nvPicPr>
          <p:cNvPr id="5" name="Image 0" descr="Ten Fashion-MNIST images, one per class: T-shirt, trouser, pullover, dress, coat, sandal, shirt, sneaker, bag, ankle boot.">    </p:cNvPr>
          <p:cNvPicPr>
            <a:picLocks noChangeAspect="1"/>
          </p:cNvPicPr>
          <p:nvPr/>
        </p:nvPicPr>
        <p:blipFill>
          <a:blip r:embed="rId1"/>
          <a:stretch>
            <a:fillRect/>
          </a:stretch>
        </p:blipFill>
        <p:spPr>
          <a:xfrm>
            <a:off x="548640" y="1727628"/>
            <a:ext cx="5029200" cy="2488343"/>
          </a:xfrm>
          <a:prstGeom prst="rect">
            <a:avLst/>
          </a:prstGeom>
        </p:spPr>
      </p:pic>
      <p:sp>
        <p:nvSpPr>
          <p:cNvPr id="6" name="Text 2"/>
          <p:cNvSpPr txBox="1"/>
          <p:nvPr/>
        </p:nvSpPr>
        <p:spPr>
          <a:xfrm>
            <a:off x="548640" y="4526280"/>
            <a:ext cx="5029200" cy="365760"/>
          </a:xfrm>
          <a:prstGeom prst="rect">
            <a:avLst/>
          </a:prstGeom>
          <a:noFill/>
          <a:ln/>
        </p:spPr>
        <p:txBody>
          <a:bodyPr wrap="square" lIns="0" tIns="0" rIns="0" bIns="0" rtlCol="0" anchor="t"/>
          <a:lstStyle/>
          <a:p>
            <a:pPr algn="ctr" indent="0" marL="0">
              <a:buNone/>
            </a:pPr>
            <a:r>
              <a:rPr lang="en-US" sz="1700" dirty="0">
                <a:solidFill>
                  <a:srgbClr val="2B3A4F"/>
                </a:solidFill>
                <a:latin typeface="Calibri" pitchFamily="34" charset="0"/>
                <a:ea typeface="Calibri" pitchFamily="34" charset="-122"/>
                <a:cs typeface="Calibri" pitchFamily="34" charset="-120"/>
              </a:rPr>
              <a:t>70,000 images · 28 × 28 grey · 10 classes</a:t>
            </a:r>
            <a:endParaRPr lang="en-US" sz="1700" dirty="0"/>
          </a:p>
        </p:txBody>
      </p:sp>
      <p:sp>
        <p:nvSpPr>
          <p:cNvPr id="7" name="Text 3"/>
          <p:cNvSpPr txBox="1"/>
          <p:nvPr/>
        </p:nvSpPr>
        <p:spPr>
          <a:xfrm>
            <a:off x="548640" y="4937760"/>
            <a:ext cx="5029200" cy="365760"/>
          </a:xfrm>
          <a:prstGeom prst="rect">
            <a:avLst/>
          </a:prstGeom>
          <a:noFill/>
          <a:ln/>
        </p:spPr>
        <p:txBody>
          <a:bodyPr wrap="square" lIns="0" tIns="0" rIns="0" bIns="0" rtlCol="0" anchor="t"/>
          <a:lstStyle/>
          <a:p>
            <a:pPr algn="ctr" indent="0" marL="0">
              <a:buNone/>
            </a:pPr>
            <a:r>
              <a:rPr lang="en-US" sz="1700" dirty="0">
                <a:solidFill>
                  <a:srgbClr val="5B6675"/>
                </a:solidFill>
                <a:latin typeface="Calibri" pitchFamily="34" charset="0"/>
                <a:ea typeface="Calibri" pitchFamily="34" charset="-122"/>
                <a:cs typeface="Calibri" pitchFamily="34" charset="-120"/>
              </a:rPr>
              <a:t>train 55,000 · validation 5,000 · test 10,000</a:t>
            </a:r>
            <a:endParaRPr lang="en-US" sz="1700" dirty="0"/>
          </a:p>
        </p:txBody>
      </p:sp>
      <p:sp>
        <p:nvSpPr>
          <p:cNvPr id="8" name="Shape 4"/>
          <p:cNvSpPr/>
          <p:nvPr/>
        </p:nvSpPr>
        <p:spPr>
          <a:xfrm>
            <a:off x="5897880" y="1417320"/>
            <a:ext cx="5742432" cy="621792"/>
          </a:xfrm>
          <a:prstGeom prst="roundRect">
            <a:avLst>
              <a:gd name="adj" fmla="val 11765"/>
            </a:avLst>
          </a:prstGeom>
          <a:solidFill>
            <a:srgbClr val="F3F5F8"/>
          </a:solidFill>
          <a:ln/>
        </p:spPr>
      </p:sp>
      <p:sp>
        <p:nvSpPr>
          <p:cNvPr id="9" name="Text 5"/>
          <p:cNvSpPr txBox="1"/>
          <p:nvPr/>
        </p:nvSpPr>
        <p:spPr>
          <a:xfrm>
            <a:off x="6126480" y="141732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Input batch</a:t>
            </a:r>
            <a:endParaRPr lang="en-US" sz="1800" dirty="0"/>
          </a:p>
        </p:txBody>
      </p:sp>
      <p:sp>
        <p:nvSpPr>
          <p:cNvPr id="10" name="Text 6"/>
          <p:cNvSpPr txBox="1"/>
          <p:nvPr/>
        </p:nvSpPr>
        <p:spPr>
          <a:xfrm>
            <a:off x="8549640" y="141732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(128, 1, 28, 28)</a:t>
            </a:r>
            <a:endParaRPr lang="en-US" sz="1800" dirty="0"/>
          </a:p>
        </p:txBody>
      </p:sp>
      <p:sp>
        <p:nvSpPr>
          <p:cNvPr id="11" name="Shape 7"/>
          <p:cNvSpPr/>
          <p:nvPr/>
        </p:nvSpPr>
        <p:spPr>
          <a:xfrm>
            <a:off x="9189720" y="2057400"/>
            <a:ext cx="91" cy="164592"/>
          </a:xfrm>
          <a:prstGeom prst="line">
            <a:avLst/>
          </a:prstGeom>
          <a:noFill/>
          <a:ln w="15875">
            <a:solidFill>
              <a:srgbClr val="8A94A3"/>
            </a:solidFill>
            <a:prstDash val="solid"/>
            <a:tailEnd type="triangle"/>
          </a:ln>
        </p:spPr>
      </p:sp>
      <p:sp>
        <p:nvSpPr>
          <p:cNvPr id="12" name="Shape 8"/>
          <p:cNvSpPr/>
          <p:nvPr/>
        </p:nvSpPr>
        <p:spPr>
          <a:xfrm>
            <a:off x="5897880" y="2240280"/>
            <a:ext cx="5742432" cy="621792"/>
          </a:xfrm>
          <a:prstGeom prst="roundRect">
            <a:avLst>
              <a:gd name="adj" fmla="val 11765"/>
            </a:avLst>
          </a:prstGeom>
          <a:solidFill>
            <a:srgbClr val="F3F5F8"/>
          </a:solidFill>
          <a:ln/>
        </p:spPr>
      </p:sp>
      <p:sp>
        <p:nvSpPr>
          <p:cNvPr id="13" name="Text 9"/>
          <p:cNvSpPr txBox="1"/>
          <p:nvPr/>
        </p:nvSpPr>
        <p:spPr>
          <a:xfrm>
            <a:off x="6126480" y="224028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Flatten</a:t>
            </a:r>
            <a:endParaRPr lang="en-US" sz="1800" dirty="0"/>
          </a:p>
        </p:txBody>
      </p:sp>
      <p:sp>
        <p:nvSpPr>
          <p:cNvPr id="14" name="Text 10"/>
          <p:cNvSpPr txBox="1"/>
          <p:nvPr/>
        </p:nvSpPr>
        <p:spPr>
          <a:xfrm>
            <a:off x="8549640" y="224028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(128, 784)</a:t>
            </a:r>
            <a:endParaRPr lang="en-US" sz="1800" dirty="0"/>
          </a:p>
        </p:txBody>
      </p:sp>
      <p:sp>
        <p:nvSpPr>
          <p:cNvPr id="15" name="Shape 11"/>
          <p:cNvSpPr/>
          <p:nvPr/>
        </p:nvSpPr>
        <p:spPr>
          <a:xfrm>
            <a:off x="9189720" y="2880360"/>
            <a:ext cx="91" cy="164592"/>
          </a:xfrm>
          <a:prstGeom prst="line">
            <a:avLst/>
          </a:prstGeom>
          <a:noFill/>
          <a:ln w="15875">
            <a:solidFill>
              <a:srgbClr val="8A94A3"/>
            </a:solidFill>
            <a:prstDash val="solid"/>
            <a:tailEnd type="triangle"/>
          </a:ln>
        </p:spPr>
      </p:sp>
      <p:sp>
        <p:nvSpPr>
          <p:cNvPr id="16" name="Shape 12"/>
          <p:cNvSpPr/>
          <p:nvPr/>
        </p:nvSpPr>
        <p:spPr>
          <a:xfrm>
            <a:off x="5897880" y="3063240"/>
            <a:ext cx="5742432" cy="621792"/>
          </a:xfrm>
          <a:prstGeom prst="roundRect">
            <a:avLst>
              <a:gd name="adj" fmla="val 11765"/>
            </a:avLst>
          </a:prstGeom>
          <a:solidFill>
            <a:srgbClr val="E2F1F1"/>
          </a:solidFill>
          <a:ln/>
        </p:spPr>
      </p:sp>
      <p:sp>
        <p:nvSpPr>
          <p:cNvPr id="17" name="Text 13"/>
          <p:cNvSpPr txBox="1"/>
          <p:nvPr/>
        </p:nvSpPr>
        <p:spPr>
          <a:xfrm>
            <a:off x="6126480" y="306324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18" name="Text 14"/>
          <p:cNvSpPr txBox="1"/>
          <p:nvPr/>
        </p:nvSpPr>
        <p:spPr>
          <a:xfrm>
            <a:off x="8549640" y="306324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(128, 128)</a:t>
            </a:r>
            <a:endParaRPr lang="en-US" sz="1800" dirty="0"/>
          </a:p>
        </p:txBody>
      </p:sp>
      <p:sp>
        <p:nvSpPr>
          <p:cNvPr id="19" name="Shape 15"/>
          <p:cNvSpPr/>
          <p:nvPr/>
        </p:nvSpPr>
        <p:spPr>
          <a:xfrm>
            <a:off x="9189720" y="3703320"/>
            <a:ext cx="91" cy="164592"/>
          </a:xfrm>
          <a:prstGeom prst="line">
            <a:avLst/>
          </a:prstGeom>
          <a:noFill/>
          <a:ln w="15875">
            <a:solidFill>
              <a:srgbClr val="8A94A3"/>
            </a:solidFill>
            <a:prstDash val="solid"/>
            <a:tailEnd type="triangle"/>
          </a:ln>
        </p:spPr>
      </p:sp>
      <p:sp>
        <p:nvSpPr>
          <p:cNvPr id="20" name="Shape 16"/>
          <p:cNvSpPr/>
          <p:nvPr/>
        </p:nvSpPr>
        <p:spPr>
          <a:xfrm>
            <a:off x="5897880" y="3886200"/>
            <a:ext cx="5742432" cy="621792"/>
          </a:xfrm>
          <a:prstGeom prst="roundRect">
            <a:avLst>
              <a:gd name="adj" fmla="val 11765"/>
            </a:avLst>
          </a:prstGeom>
          <a:solidFill>
            <a:srgbClr val="E2F1F1"/>
          </a:solidFill>
          <a:ln/>
        </p:spPr>
      </p:sp>
      <p:sp>
        <p:nvSpPr>
          <p:cNvPr id="21" name="Text 17"/>
          <p:cNvSpPr txBox="1"/>
          <p:nvPr/>
        </p:nvSpPr>
        <p:spPr>
          <a:xfrm>
            <a:off x="6126480" y="388620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ReLU</a:t>
            </a:r>
            <a:endParaRPr lang="en-US" sz="1800" dirty="0"/>
          </a:p>
        </p:txBody>
      </p:sp>
      <p:sp>
        <p:nvSpPr>
          <p:cNvPr id="22" name="Text 18"/>
          <p:cNvSpPr txBox="1"/>
          <p:nvPr/>
        </p:nvSpPr>
        <p:spPr>
          <a:xfrm>
            <a:off x="8549640" y="388620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(128, 64)</a:t>
            </a:r>
            <a:endParaRPr lang="en-US" sz="1800" dirty="0"/>
          </a:p>
        </p:txBody>
      </p:sp>
      <p:sp>
        <p:nvSpPr>
          <p:cNvPr id="23" name="Shape 19"/>
          <p:cNvSpPr/>
          <p:nvPr/>
        </p:nvSpPr>
        <p:spPr>
          <a:xfrm>
            <a:off x="9189720" y="4526280"/>
            <a:ext cx="91" cy="164592"/>
          </a:xfrm>
          <a:prstGeom prst="line">
            <a:avLst/>
          </a:prstGeom>
          <a:noFill/>
          <a:ln w="15875">
            <a:solidFill>
              <a:srgbClr val="8A94A3"/>
            </a:solidFill>
            <a:prstDash val="solid"/>
            <a:tailEnd type="triangle"/>
          </a:ln>
        </p:spPr>
      </p:sp>
      <p:sp>
        <p:nvSpPr>
          <p:cNvPr id="24" name="Shape 20"/>
          <p:cNvSpPr/>
          <p:nvPr/>
        </p:nvSpPr>
        <p:spPr>
          <a:xfrm>
            <a:off x="5897880" y="4709160"/>
            <a:ext cx="5742432" cy="621792"/>
          </a:xfrm>
          <a:prstGeom prst="roundRect">
            <a:avLst>
              <a:gd name="adj" fmla="val 11765"/>
            </a:avLst>
          </a:prstGeom>
          <a:solidFill>
            <a:srgbClr val="FBEADF"/>
          </a:solidFill>
          <a:ln/>
        </p:spPr>
      </p:sp>
      <p:sp>
        <p:nvSpPr>
          <p:cNvPr id="25" name="Text 21"/>
          <p:cNvSpPr txBox="1"/>
          <p:nvPr/>
        </p:nvSpPr>
        <p:spPr>
          <a:xfrm>
            <a:off x="6126480" y="4709160"/>
            <a:ext cx="2286000" cy="621792"/>
          </a:xfrm>
          <a:prstGeom prst="rect">
            <a:avLst/>
          </a:prstGeom>
          <a:noFill/>
          <a:ln/>
        </p:spPr>
        <p:txBody>
          <a:bodyPr wrap="square" lIns="0" tIns="0" rIns="0" bIns="0" rtlCol="0" anchor="ctr"/>
          <a:lstStyle/>
          <a:p>
            <a:pPr indent="0" marL="0">
              <a:buNone/>
            </a:pPr>
            <a:r>
              <a:rPr lang="en-US" sz="1800" b="1" dirty="0">
                <a:solidFill>
                  <a:srgbClr val="17202E"/>
                </a:solidFill>
                <a:latin typeface="Calibri" pitchFamily="34" charset="0"/>
                <a:ea typeface="Calibri" pitchFamily="34" charset="-122"/>
                <a:cs typeface="Calibri" pitchFamily="34" charset="-120"/>
              </a:rPr>
              <a:t>Linear → logits</a:t>
            </a:r>
            <a:endParaRPr lang="en-US" sz="1800" dirty="0"/>
          </a:p>
        </p:txBody>
      </p:sp>
      <p:sp>
        <p:nvSpPr>
          <p:cNvPr id="26" name="Text 22"/>
          <p:cNvSpPr txBox="1"/>
          <p:nvPr/>
        </p:nvSpPr>
        <p:spPr>
          <a:xfrm>
            <a:off x="8549640" y="4709160"/>
            <a:ext cx="2926080" cy="621792"/>
          </a:xfrm>
          <a:prstGeom prst="rect">
            <a:avLst/>
          </a:prstGeom>
          <a:noFill/>
          <a:ln/>
        </p:spPr>
        <p:txBody>
          <a:bodyPr wrap="square" lIns="0" tIns="0" rIns="0" bIns="0" rtlCol="0" anchor="ctr"/>
          <a:lstStyle/>
          <a:p>
            <a:pPr indent="0" marL="0">
              <a:buNone/>
            </a:pPr>
            <a:r>
              <a:rPr lang="en-US" sz="1800" b="1" dirty="0">
                <a:solidFill>
                  <a:srgbClr val="0F7C82"/>
                </a:solidFill>
                <a:latin typeface="Consolas" pitchFamily="34" charset="0"/>
                <a:ea typeface="Consolas" pitchFamily="34" charset="-122"/>
                <a:cs typeface="Consolas" pitchFamily="34" charset="-120"/>
              </a:rPr>
              <a:t>(128, 10)</a:t>
            </a:r>
            <a:endParaRPr lang="en-US" sz="1800" dirty="0"/>
          </a:p>
        </p:txBody>
      </p:sp>
      <p:sp>
        <p:nvSpPr>
          <p:cNvPr id="27" name="Shape 23"/>
          <p:cNvSpPr/>
          <p:nvPr/>
        </p:nvSpPr>
        <p:spPr>
          <a:xfrm>
            <a:off x="5897880" y="5577840"/>
            <a:ext cx="5742432" cy="548640"/>
          </a:xfrm>
          <a:prstGeom prst="roundRect">
            <a:avLst>
              <a:gd name="adj" fmla="val 13333"/>
            </a:avLst>
          </a:prstGeom>
          <a:solidFill>
            <a:srgbClr val="E2F1F1"/>
          </a:solidFill>
          <a:ln/>
        </p:spPr>
      </p:sp>
      <p:sp>
        <p:nvSpPr>
          <p:cNvPr id="28" name="Text 24"/>
          <p:cNvSpPr txBox="1"/>
          <p:nvPr/>
        </p:nvSpPr>
        <p:spPr>
          <a:xfrm>
            <a:off x="6099048" y="5623560"/>
            <a:ext cx="5340096" cy="45720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The batch dimension (128) never changes.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18</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network, written as pseudocode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 pseudocode: a stack of layers that returns logits</a:t>
            </a:r>
            <a:endParaRPr lang="en-US" sz="3200" dirty="0"/>
          </a:p>
        </p:txBody>
      </p:sp>
      <p:sp>
        <p:nvSpPr>
          <p:cNvPr id="5" name="Shape 2"/>
          <p:cNvSpPr/>
          <p:nvPr/>
        </p:nvSpPr>
        <p:spPr>
          <a:xfrm>
            <a:off x="548640" y="1417320"/>
            <a:ext cx="6675120" cy="4709160"/>
          </a:xfrm>
          <a:prstGeom prst="roundRect">
            <a:avLst>
              <a:gd name="adj" fmla="val 1165"/>
            </a:avLst>
          </a:prstGeom>
          <a:solidFill>
            <a:srgbClr val="1E2735"/>
          </a:solidFill>
          <a:ln/>
        </p:spPr>
      </p:sp>
      <p:sp>
        <p:nvSpPr>
          <p:cNvPr id="6" name="Text 3"/>
          <p:cNvSpPr txBox="1"/>
          <p:nvPr/>
        </p:nvSpPr>
        <p:spPr>
          <a:xfrm>
            <a:off x="749808" y="1563624"/>
            <a:ext cx="6355080" cy="4453128"/>
          </a:xfrm>
          <a:prstGeom prst="rect">
            <a:avLst/>
          </a:prstGeom>
          <a:noFill/>
          <a:ln/>
        </p:spPr>
        <p:txBody>
          <a:bodyPr wrap="square" lIns="0" tIns="0" rIns="0" bIns="0" rtlCol="0" anchor="t"/>
          <a:lstStyle/>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model = these layers, one after another:</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flatten          </a:t>
            </a:r>
            <a:r>
              <a:rPr lang="en-US" sz="1500" dirty="0">
                <a:solidFill>
                  <a:srgbClr val="8D99AB"/>
                </a:solidFill>
                <a:latin typeface="Consolas" pitchFamily="34" charset="0"/>
                <a:ea typeface="Consolas" pitchFamily="34" charset="-122"/>
                <a:cs typeface="Consolas" pitchFamily="34" charset="-120"/>
              </a:rPr>
              <a:t xml:space="preserve"># (B,1,28,28) → (B,784)</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784 → 128,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128 → 64,  ReLU</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linear 64 → 10   </a:t>
            </a:r>
            <a:r>
              <a:rPr lang="en-US" sz="1500" dirty="0">
                <a:solidFill>
                  <a:srgbClr val="8D99AB"/>
                </a:solidFill>
                <a:latin typeface="Consolas" pitchFamily="34" charset="0"/>
                <a:ea typeface="Consolas" pitchFamily="34" charset="-122"/>
                <a:cs typeface="Consolas" pitchFamily="34" charset="-120"/>
              </a:rPr>
              <a:t xml:space="preserve"># raw logits, no softmax</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x      = 128 images  </a:t>
            </a:r>
            <a:r>
              <a:rPr lang="en-US" sz="1500" dirty="0">
                <a:solidFill>
                  <a:srgbClr val="8D99AB"/>
                </a:solidFill>
                <a:latin typeface="Consolas" pitchFamily="34" charset="0"/>
                <a:ea typeface="Consolas" pitchFamily="34" charset="-122"/>
                <a:cs typeface="Consolas" pitchFamily="34" charset="-120"/>
              </a:rPr>
              <a:t xml:space="preserve"># (128, 1, 28, 28)</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logits = model(x)    </a:t>
            </a:r>
            <a:r>
              <a:rPr lang="en-US" sz="1500" dirty="0">
                <a:solidFill>
                  <a:srgbClr val="8D99AB"/>
                </a:solidFill>
                <a:latin typeface="Consolas" pitchFamily="34" charset="0"/>
                <a:ea typeface="Consolas" pitchFamily="34" charset="-122"/>
                <a:cs typeface="Consolas" pitchFamily="34" charset="-120"/>
              </a:rPr>
              <a:t xml:space="preserve"># (128, 10)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parameters = Σ over layers (n[l]·n[l−1] + n[l])</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100,480 + 8,256 + 650</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 109,386</a:t>
            </a:r>
            <a:endParaRPr lang="en-US" sz="1500" dirty="0"/>
          </a:p>
        </p:txBody>
      </p:sp>
      <p:graphicFrame>
        <p:nvGraphicFramePr>
          <p:cNvPr id="7" name="Chart 0" descr="Parameters per layer: Layer 1 = 100480; Layer 2 = 8256; Layer 3 = 650"/>
          <p:cNvGraphicFramePr/>
          <p:nvPr/>
        </p:nvGraphicFramePr>
        <p:xfrm>
          <a:off x="7452360" y="1325880"/>
          <a:ext cx="4206240" cy="233172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7543800" y="3749040"/>
            <a:ext cx="4114800" cy="609600"/>
          </a:xfrm>
          <a:prstGeom prst="rect">
            <a:avLst/>
          </a:prstGeom>
          <a:noFill/>
          <a:ln/>
        </p:spPr>
        <p:txBody>
          <a:bodyPr wrap="square" lIns="0" tIns="0" rIns="0" bIns="0" rtlCol="0" anchor="t"/>
          <a:lstStyle/>
          <a:p>
            <a:pPr indent="0" marL="0">
              <a:buNone/>
            </a:pPr>
            <a:r>
              <a:rPr lang="en-US" sz="4000" b="1" dirty="0">
                <a:solidFill>
                  <a:srgbClr val="C8571B"/>
                </a:solidFill>
                <a:latin typeface="Cambria" pitchFamily="34" charset="0"/>
                <a:ea typeface="Cambria" pitchFamily="34" charset="-122"/>
                <a:cs typeface="Cambria" pitchFamily="34" charset="-120"/>
              </a:rPr>
              <a:t>92%</a:t>
            </a:r>
            <a:endParaRPr lang="en-US" sz="4000" dirty="0"/>
          </a:p>
        </p:txBody>
      </p:sp>
      <p:sp>
        <p:nvSpPr>
          <p:cNvPr id="9" name="Text 5"/>
          <p:cNvSpPr txBox="1"/>
          <p:nvPr/>
        </p:nvSpPr>
        <p:spPr>
          <a:xfrm>
            <a:off x="7543800" y="4450080"/>
            <a:ext cx="4114800"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of 109,386 parameters are in layer 1</a:t>
            </a:r>
            <a:endParaRPr lang="en-US" sz="1700" dirty="0"/>
          </a:p>
        </p:txBody>
      </p:sp>
      <p:sp>
        <p:nvSpPr>
          <p:cNvPr id="10" name="Shape 6"/>
          <p:cNvSpPr/>
          <p:nvPr/>
        </p:nvSpPr>
        <p:spPr>
          <a:xfrm>
            <a:off x="7452360" y="5166360"/>
            <a:ext cx="4187952" cy="960120"/>
          </a:xfrm>
          <a:prstGeom prst="roundRect">
            <a:avLst>
              <a:gd name="adj" fmla="val 7619"/>
            </a:avLst>
          </a:prstGeom>
          <a:solidFill>
            <a:srgbClr val="E2F1F1"/>
          </a:solidFill>
          <a:ln/>
        </p:spPr>
      </p:sp>
      <p:sp>
        <p:nvSpPr>
          <p:cNvPr id="11" name="Text 7"/>
          <p:cNvSpPr txBox="1"/>
          <p:nvPr/>
        </p:nvSpPr>
        <p:spPr>
          <a:xfrm>
            <a:off x="7653528" y="5212080"/>
            <a:ext cx="3785616" cy="868680"/>
          </a:xfrm>
          <a:prstGeom prst="rect">
            <a:avLst/>
          </a:prstGeom>
          <a:noFill/>
          <a:ln/>
        </p:spPr>
        <p:txBody>
          <a:bodyPr wrap="square" lIns="0" tIns="0" rIns="0" bIns="0" rtlCol="0" anchor="ctr"/>
          <a:lstStyle/>
          <a:p>
            <a:pPr indent="0" marL="0">
              <a:buNone/>
            </a:pPr>
            <a:r>
              <a:rPr lang="en-US" sz="1600" b="1" dirty="0">
                <a:solidFill>
                  <a:srgbClr val="0A5559"/>
                </a:solidFill>
                <a:latin typeface="Calibri" pitchFamily="34" charset="0"/>
                <a:ea typeface="Calibri" pitchFamily="34" charset="-122"/>
                <a:cs typeface="Calibri" pitchFamily="34" charset="-120"/>
              </a:rPr>
              <a:t>A batch stores examples as rows, so each layer computes X Wᵀ + b, with W of shape (out, in).</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19</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2: shapes</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1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2</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Layer 1 maps 784 inputs to 128 units. What is the shape of W[1]?</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0F7C82"/>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(784, 128)</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0F7C82"/>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(128, 784)</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0F7C82"/>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(784,)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0F7C82"/>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(128, 128)</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20</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Part 2: how does this network learn?</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2  ·  ≈ 41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How a network learns</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turn “wrong” into a number?</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Which way should the weights move?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How do we get every gradient at once?</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What do real training curves tell us?</a:t>
            </a:r>
            <a:endParaRPr lang="en-US" sz="1800" dirty="0"/>
          </a:p>
        </p:txBody>
      </p:sp>
      <p:sp>
        <p:nvSpPr>
          <p:cNvPr id="5" name="Shape 3"/>
          <p:cNvSpPr/>
          <p:nvPr/>
        </p:nvSpPr>
        <p:spPr>
          <a:xfrm flipV="1">
            <a:off x="8046720" y="2103120"/>
            <a:ext cx="1066800" cy="411480"/>
          </a:xfrm>
          <a:prstGeom prst="line">
            <a:avLst/>
          </a:prstGeom>
          <a:noFill/>
          <a:ln w="11430">
            <a:solidFill>
              <a:srgbClr val="33445C"/>
            </a:solidFill>
            <a:prstDash val="solid"/>
          </a:ln>
        </p:spPr>
      </p:sp>
      <p:sp>
        <p:nvSpPr>
          <p:cNvPr id="6" name="Shape 4"/>
          <p:cNvSpPr/>
          <p:nvPr/>
        </p:nvSpPr>
        <p:spPr>
          <a:xfrm>
            <a:off x="8046720" y="2514600"/>
            <a:ext cx="1066800" cy="411480"/>
          </a:xfrm>
          <a:prstGeom prst="line">
            <a:avLst/>
          </a:prstGeom>
          <a:noFill/>
          <a:ln w="11430">
            <a:solidFill>
              <a:srgbClr val="33445C"/>
            </a:solidFill>
            <a:prstDash val="solid"/>
          </a:ln>
        </p:spPr>
      </p:sp>
      <p:sp>
        <p:nvSpPr>
          <p:cNvPr id="7" name="Shape 5"/>
          <p:cNvSpPr/>
          <p:nvPr/>
        </p:nvSpPr>
        <p:spPr>
          <a:xfrm>
            <a:off x="8046720" y="2514600"/>
            <a:ext cx="1066800" cy="1234440"/>
          </a:xfrm>
          <a:prstGeom prst="line">
            <a:avLst/>
          </a:prstGeom>
          <a:noFill/>
          <a:ln w="11430">
            <a:solidFill>
              <a:srgbClr val="33445C"/>
            </a:solidFill>
            <a:prstDash val="solid"/>
          </a:ln>
        </p:spPr>
      </p:sp>
      <p:sp>
        <p:nvSpPr>
          <p:cNvPr id="8" name="Shape 6"/>
          <p:cNvSpPr/>
          <p:nvPr/>
        </p:nvSpPr>
        <p:spPr>
          <a:xfrm>
            <a:off x="8046720" y="2514600"/>
            <a:ext cx="1066800" cy="2057400"/>
          </a:xfrm>
          <a:prstGeom prst="line">
            <a:avLst/>
          </a:prstGeom>
          <a:noFill/>
          <a:ln w="11430">
            <a:solidFill>
              <a:srgbClr val="33445C"/>
            </a:solidFill>
            <a:prstDash val="solid"/>
          </a:ln>
        </p:spPr>
      </p:sp>
      <p:sp>
        <p:nvSpPr>
          <p:cNvPr id="9" name="Shape 7"/>
          <p:cNvSpPr/>
          <p:nvPr/>
        </p:nvSpPr>
        <p:spPr>
          <a:xfrm flipV="1">
            <a:off x="8046720" y="2103120"/>
            <a:ext cx="1066800" cy="1234440"/>
          </a:xfrm>
          <a:prstGeom prst="line">
            <a:avLst/>
          </a:prstGeom>
          <a:noFill/>
          <a:ln w="11430">
            <a:solidFill>
              <a:srgbClr val="33445C"/>
            </a:solidFill>
            <a:prstDash val="solid"/>
          </a:ln>
        </p:spPr>
      </p:sp>
      <p:sp>
        <p:nvSpPr>
          <p:cNvPr id="10" name="Shape 8"/>
          <p:cNvSpPr/>
          <p:nvPr/>
        </p:nvSpPr>
        <p:spPr>
          <a:xfrm flipV="1">
            <a:off x="8046720" y="2926080"/>
            <a:ext cx="1066800" cy="411480"/>
          </a:xfrm>
          <a:prstGeom prst="line">
            <a:avLst/>
          </a:prstGeom>
          <a:noFill/>
          <a:ln w="11430">
            <a:solidFill>
              <a:srgbClr val="33445C"/>
            </a:solidFill>
            <a:prstDash val="solid"/>
          </a:ln>
        </p:spPr>
      </p:sp>
      <p:sp>
        <p:nvSpPr>
          <p:cNvPr id="11" name="Shape 9"/>
          <p:cNvSpPr/>
          <p:nvPr/>
        </p:nvSpPr>
        <p:spPr>
          <a:xfrm>
            <a:off x="8046720" y="3337560"/>
            <a:ext cx="1066800" cy="411480"/>
          </a:xfrm>
          <a:prstGeom prst="line">
            <a:avLst/>
          </a:prstGeom>
          <a:noFill/>
          <a:ln w="28575">
            <a:solidFill>
              <a:srgbClr val="C8571B"/>
            </a:solidFill>
            <a:prstDash val="solid"/>
          </a:ln>
        </p:spPr>
      </p:sp>
      <p:sp>
        <p:nvSpPr>
          <p:cNvPr id="12" name="Shape 10"/>
          <p:cNvSpPr/>
          <p:nvPr/>
        </p:nvSpPr>
        <p:spPr>
          <a:xfrm>
            <a:off x="8046720" y="3337560"/>
            <a:ext cx="1066800" cy="1234440"/>
          </a:xfrm>
          <a:prstGeom prst="line">
            <a:avLst/>
          </a:prstGeom>
          <a:noFill/>
          <a:ln w="11430">
            <a:solidFill>
              <a:srgbClr val="33445C"/>
            </a:solidFill>
            <a:prstDash val="solid"/>
          </a:ln>
        </p:spPr>
      </p:sp>
      <p:sp>
        <p:nvSpPr>
          <p:cNvPr id="13" name="Shape 11"/>
          <p:cNvSpPr/>
          <p:nvPr/>
        </p:nvSpPr>
        <p:spPr>
          <a:xfrm flipV="1">
            <a:off x="8046720" y="2103120"/>
            <a:ext cx="1066800" cy="2057400"/>
          </a:xfrm>
          <a:prstGeom prst="line">
            <a:avLst/>
          </a:prstGeom>
          <a:noFill/>
          <a:ln w="11430">
            <a:solidFill>
              <a:srgbClr val="33445C"/>
            </a:solidFill>
            <a:prstDash val="solid"/>
          </a:ln>
        </p:spPr>
      </p:sp>
      <p:sp>
        <p:nvSpPr>
          <p:cNvPr id="14" name="Shape 12"/>
          <p:cNvSpPr/>
          <p:nvPr/>
        </p:nvSpPr>
        <p:spPr>
          <a:xfrm flipV="1">
            <a:off x="8046720" y="2926080"/>
            <a:ext cx="1066800" cy="1234440"/>
          </a:xfrm>
          <a:prstGeom prst="line">
            <a:avLst/>
          </a:prstGeom>
          <a:noFill/>
          <a:ln w="11430">
            <a:solidFill>
              <a:srgbClr val="33445C"/>
            </a:solidFill>
            <a:prstDash val="solid"/>
          </a:ln>
        </p:spPr>
      </p:sp>
      <p:sp>
        <p:nvSpPr>
          <p:cNvPr id="15" name="Shape 13"/>
          <p:cNvSpPr/>
          <p:nvPr/>
        </p:nvSpPr>
        <p:spPr>
          <a:xfrm flipV="1">
            <a:off x="8046720" y="3749040"/>
            <a:ext cx="1066800" cy="411480"/>
          </a:xfrm>
          <a:prstGeom prst="line">
            <a:avLst/>
          </a:prstGeom>
          <a:noFill/>
          <a:ln w="11430">
            <a:solidFill>
              <a:srgbClr val="33445C"/>
            </a:solidFill>
            <a:prstDash val="solid"/>
          </a:ln>
        </p:spPr>
      </p:sp>
      <p:sp>
        <p:nvSpPr>
          <p:cNvPr id="16" name="Shape 14"/>
          <p:cNvSpPr/>
          <p:nvPr/>
        </p:nvSpPr>
        <p:spPr>
          <a:xfrm>
            <a:off x="8046720" y="4160520"/>
            <a:ext cx="1066800" cy="411480"/>
          </a:xfrm>
          <a:prstGeom prst="line">
            <a:avLst/>
          </a:prstGeom>
          <a:noFill/>
          <a:ln w="11430">
            <a:solidFill>
              <a:srgbClr val="33445C"/>
            </a:solidFill>
            <a:prstDash val="solid"/>
          </a:ln>
        </p:spPr>
      </p:sp>
      <p:sp>
        <p:nvSpPr>
          <p:cNvPr id="17" name="Shape 15"/>
          <p:cNvSpPr/>
          <p:nvPr/>
        </p:nvSpPr>
        <p:spPr>
          <a:xfrm>
            <a:off x="9113520" y="2103120"/>
            <a:ext cx="1066800" cy="91"/>
          </a:xfrm>
          <a:prstGeom prst="line">
            <a:avLst/>
          </a:prstGeom>
          <a:noFill/>
          <a:ln w="11430">
            <a:solidFill>
              <a:srgbClr val="33445C"/>
            </a:solidFill>
            <a:prstDash val="solid"/>
          </a:ln>
        </p:spPr>
      </p:sp>
      <p:sp>
        <p:nvSpPr>
          <p:cNvPr id="18" name="Shape 16"/>
          <p:cNvSpPr/>
          <p:nvPr/>
        </p:nvSpPr>
        <p:spPr>
          <a:xfrm>
            <a:off x="9113520" y="2103120"/>
            <a:ext cx="1066800" cy="822960"/>
          </a:xfrm>
          <a:prstGeom prst="line">
            <a:avLst/>
          </a:prstGeom>
          <a:noFill/>
          <a:ln w="11430">
            <a:solidFill>
              <a:srgbClr val="33445C"/>
            </a:solidFill>
            <a:prstDash val="solid"/>
          </a:ln>
        </p:spPr>
      </p:sp>
      <p:sp>
        <p:nvSpPr>
          <p:cNvPr id="19" name="Shape 17"/>
          <p:cNvSpPr/>
          <p:nvPr/>
        </p:nvSpPr>
        <p:spPr>
          <a:xfrm>
            <a:off x="9113520" y="2103120"/>
            <a:ext cx="1066800" cy="1645920"/>
          </a:xfrm>
          <a:prstGeom prst="line">
            <a:avLst/>
          </a:prstGeom>
          <a:noFill/>
          <a:ln w="11430">
            <a:solidFill>
              <a:srgbClr val="33445C"/>
            </a:solidFill>
            <a:prstDash val="solid"/>
          </a:ln>
        </p:spPr>
      </p:sp>
      <p:sp>
        <p:nvSpPr>
          <p:cNvPr id="20" name="Shape 18"/>
          <p:cNvSpPr/>
          <p:nvPr/>
        </p:nvSpPr>
        <p:spPr>
          <a:xfrm>
            <a:off x="9113520" y="2103120"/>
            <a:ext cx="1066800" cy="2468880"/>
          </a:xfrm>
          <a:prstGeom prst="line">
            <a:avLst/>
          </a:prstGeom>
          <a:noFill/>
          <a:ln w="11430">
            <a:solidFill>
              <a:srgbClr val="33445C"/>
            </a:solidFill>
            <a:prstDash val="solid"/>
          </a:ln>
        </p:spPr>
      </p:sp>
      <p:sp>
        <p:nvSpPr>
          <p:cNvPr id="21" name="Shape 19"/>
          <p:cNvSpPr/>
          <p:nvPr/>
        </p:nvSpPr>
        <p:spPr>
          <a:xfrm flipV="1">
            <a:off x="9113520" y="2103120"/>
            <a:ext cx="1066800" cy="822960"/>
          </a:xfrm>
          <a:prstGeom prst="line">
            <a:avLst/>
          </a:prstGeom>
          <a:noFill/>
          <a:ln w="11430">
            <a:solidFill>
              <a:srgbClr val="33445C"/>
            </a:solidFill>
            <a:prstDash val="solid"/>
          </a:ln>
        </p:spPr>
      </p:sp>
      <p:sp>
        <p:nvSpPr>
          <p:cNvPr id="22" name="Shape 20"/>
          <p:cNvSpPr/>
          <p:nvPr/>
        </p:nvSpPr>
        <p:spPr>
          <a:xfrm>
            <a:off x="9113520" y="2926080"/>
            <a:ext cx="1066800" cy="91"/>
          </a:xfrm>
          <a:prstGeom prst="line">
            <a:avLst/>
          </a:prstGeom>
          <a:noFill/>
          <a:ln w="11430">
            <a:solidFill>
              <a:srgbClr val="33445C"/>
            </a:solidFill>
            <a:prstDash val="solid"/>
          </a:ln>
        </p:spPr>
      </p:sp>
      <p:sp>
        <p:nvSpPr>
          <p:cNvPr id="23" name="Shape 21"/>
          <p:cNvSpPr/>
          <p:nvPr/>
        </p:nvSpPr>
        <p:spPr>
          <a:xfrm>
            <a:off x="9113520" y="2926080"/>
            <a:ext cx="1066800" cy="822960"/>
          </a:xfrm>
          <a:prstGeom prst="line">
            <a:avLst/>
          </a:prstGeom>
          <a:noFill/>
          <a:ln w="11430">
            <a:solidFill>
              <a:srgbClr val="33445C"/>
            </a:solidFill>
            <a:prstDash val="solid"/>
          </a:ln>
        </p:spPr>
      </p:sp>
      <p:sp>
        <p:nvSpPr>
          <p:cNvPr id="24" name="Shape 22"/>
          <p:cNvSpPr/>
          <p:nvPr/>
        </p:nvSpPr>
        <p:spPr>
          <a:xfrm>
            <a:off x="9113520" y="2926080"/>
            <a:ext cx="1066800" cy="1645920"/>
          </a:xfrm>
          <a:prstGeom prst="line">
            <a:avLst/>
          </a:prstGeom>
          <a:noFill/>
          <a:ln w="11430">
            <a:solidFill>
              <a:srgbClr val="33445C"/>
            </a:solidFill>
            <a:prstDash val="solid"/>
          </a:ln>
        </p:spPr>
      </p:sp>
      <p:sp>
        <p:nvSpPr>
          <p:cNvPr id="25" name="Shape 23"/>
          <p:cNvSpPr/>
          <p:nvPr/>
        </p:nvSpPr>
        <p:spPr>
          <a:xfrm flipV="1">
            <a:off x="9113520" y="2103120"/>
            <a:ext cx="1066800" cy="1645920"/>
          </a:xfrm>
          <a:prstGeom prst="line">
            <a:avLst/>
          </a:prstGeom>
          <a:noFill/>
          <a:ln w="11430">
            <a:solidFill>
              <a:srgbClr val="33445C"/>
            </a:solidFill>
            <a:prstDash val="solid"/>
          </a:ln>
        </p:spPr>
      </p:sp>
      <p:sp>
        <p:nvSpPr>
          <p:cNvPr id="26" name="Shape 24"/>
          <p:cNvSpPr/>
          <p:nvPr/>
        </p:nvSpPr>
        <p:spPr>
          <a:xfrm flipV="1">
            <a:off x="9113520" y="2926080"/>
            <a:ext cx="1066800" cy="822960"/>
          </a:xfrm>
          <a:prstGeom prst="line">
            <a:avLst/>
          </a:prstGeom>
          <a:noFill/>
          <a:ln w="28575">
            <a:solidFill>
              <a:srgbClr val="C8571B"/>
            </a:solidFill>
            <a:prstDash val="solid"/>
          </a:ln>
        </p:spPr>
      </p:sp>
      <p:sp>
        <p:nvSpPr>
          <p:cNvPr id="27" name="Shape 25"/>
          <p:cNvSpPr/>
          <p:nvPr/>
        </p:nvSpPr>
        <p:spPr>
          <a:xfrm>
            <a:off x="9113520" y="3749040"/>
            <a:ext cx="1066800" cy="91"/>
          </a:xfrm>
          <a:prstGeom prst="line">
            <a:avLst/>
          </a:prstGeom>
          <a:noFill/>
          <a:ln w="11430">
            <a:solidFill>
              <a:srgbClr val="33445C"/>
            </a:solidFill>
            <a:prstDash val="solid"/>
          </a:ln>
        </p:spPr>
      </p:sp>
      <p:sp>
        <p:nvSpPr>
          <p:cNvPr id="28" name="Shape 26"/>
          <p:cNvSpPr/>
          <p:nvPr/>
        </p:nvSpPr>
        <p:spPr>
          <a:xfrm>
            <a:off x="9113520" y="3749040"/>
            <a:ext cx="1066800" cy="822960"/>
          </a:xfrm>
          <a:prstGeom prst="line">
            <a:avLst/>
          </a:prstGeom>
          <a:noFill/>
          <a:ln w="11430">
            <a:solidFill>
              <a:srgbClr val="33445C"/>
            </a:solidFill>
            <a:prstDash val="solid"/>
          </a:ln>
        </p:spPr>
      </p:sp>
      <p:sp>
        <p:nvSpPr>
          <p:cNvPr id="29" name="Shape 27"/>
          <p:cNvSpPr/>
          <p:nvPr/>
        </p:nvSpPr>
        <p:spPr>
          <a:xfrm flipV="1">
            <a:off x="9113520" y="2103120"/>
            <a:ext cx="1066800" cy="2468880"/>
          </a:xfrm>
          <a:prstGeom prst="line">
            <a:avLst/>
          </a:prstGeom>
          <a:noFill/>
          <a:ln w="11430">
            <a:solidFill>
              <a:srgbClr val="33445C"/>
            </a:solidFill>
            <a:prstDash val="solid"/>
          </a:ln>
        </p:spPr>
      </p:sp>
      <p:sp>
        <p:nvSpPr>
          <p:cNvPr id="30" name="Shape 28"/>
          <p:cNvSpPr/>
          <p:nvPr/>
        </p:nvSpPr>
        <p:spPr>
          <a:xfrm flipV="1">
            <a:off x="9113520" y="2926080"/>
            <a:ext cx="1066800" cy="1645920"/>
          </a:xfrm>
          <a:prstGeom prst="line">
            <a:avLst/>
          </a:prstGeom>
          <a:noFill/>
          <a:ln w="11430">
            <a:solidFill>
              <a:srgbClr val="33445C"/>
            </a:solidFill>
            <a:prstDash val="solid"/>
          </a:ln>
        </p:spPr>
      </p:sp>
      <p:sp>
        <p:nvSpPr>
          <p:cNvPr id="31" name="Shape 29"/>
          <p:cNvSpPr/>
          <p:nvPr/>
        </p:nvSpPr>
        <p:spPr>
          <a:xfrm flipV="1">
            <a:off x="9113520" y="3749040"/>
            <a:ext cx="1066800" cy="822960"/>
          </a:xfrm>
          <a:prstGeom prst="line">
            <a:avLst/>
          </a:prstGeom>
          <a:noFill/>
          <a:ln w="11430">
            <a:solidFill>
              <a:srgbClr val="33445C"/>
            </a:solidFill>
            <a:prstDash val="solid"/>
          </a:ln>
        </p:spPr>
      </p:sp>
      <p:sp>
        <p:nvSpPr>
          <p:cNvPr id="32" name="Shape 30"/>
          <p:cNvSpPr/>
          <p:nvPr/>
        </p:nvSpPr>
        <p:spPr>
          <a:xfrm>
            <a:off x="9113520" y="4572000"/>
            <a:ext cx="1066800" cy="91"/>
          </a:xfrm>
          <a:prstGeom prst="line">
            <a:avLst/>
          </a:prstGeom>
          <a:noFill/>
          <a:ln w="11430">
            <a:solidFill>
              <a:srgbClr val="33445C"/>
            </a:solidFill>
            <a:prstDash val="solid"/>
          </a:ln>
        </p:spPr>
      </p:sp>
      <p:sp>
        <p:nvSpPr>
          <p:cNvPr id="33" name="Shape 31"/>
          <p:cNvSpPr/>
          <p:nvPr/>
        </p:nvSpPr>
        <p:spPr>
          <a:xfrm>
            <a:off x="10180320" y="2103120"/>
            <a:ext cx="1066800" cy="822960"/>
          </a:xfrm>
          <a:prstGeom prst="line">
            <a:avLst/>
          </a:prstGeom>
          <a:noFill/>
          <a:ln w="11430">
            <a:solidFill>
              <a:srgbClr val="33445C"/>
            </a:solidFill>
            <a:prstDash val="solid"/>
          </a:ln>
        </p:spPr>
      </p:sp>
      <p:sp>
        <p:nvSpPr>
          <p:cNvPr id="34" name="Shape 32"/>
          <p:cNvSpPr/>
          <p:nvPr/>
        </p:nvSpPr>
        <p:spPr>
          <a:xfrm>
            <a:off x="10180320" y="2103120"/>
            <a:ext cx="1066800" cy="1645920"/>
          </a:xfrm>
          <a:prstGeom prst="line">
            <a:avLst/>
          </a:prstGeom>
          <a:noFill/>
          <a:ln w="11430">
            <a:solidFill>
              <a:srgbClr val="33445C"/>
            </a:solidFill>
            <a:prstDash val="solid"/>
          </a:ln>
        </p:spPr>
      </p:sp>
      <p:sp>
        <p:nvSpPr>
          <p:cNvPr id="35" name="Shape 33"/>
          <p:cNvSpPr/>
          <p:nvPr/>
        </p:nvSpPr>
        <p:spPr>
          <a:xfrm>
            <a:off x="10180320" y="2926080"/>
            <a:ext cx="1066800" cy="91"/>
          </a:xfrm>
          <a:prstGeom prst="line">
            <a:avLst/>
          </a:prstGeom>
          <a:noFill/>
          <a:ln w="28575">
            <a:solidFill>
              <a:srgbClr val="C8571B"/>
            </a:solidFill>
            <a:prstDash val="solid"/>
          </a:ln>
        </p:spPr>
      </p:sp>
      <p:sp>
        <p:nvSpPr>
          <p:cNvPr id="36" name="Shape 34"/>
          <p:cNvSpPr/>
          <p:nvPr/>
        </p:nvSpPr>
        <p:spPr>
          <a:xfrm>
            <a:off x="10180320" y="2926080"/>
            <a:ext cx="1066800" cy="822960"/>
          </a:xfrm>
          <a:prstGeom prst="line">
            <a:avLst/>
          </a:prstGeom>
          <a:noFill/>
          <a:ln w="11430">
            <a:solidFill>
              <a:srgbClr val="33445C"/>
            </a:solidFill>
            <a:prstDash val="solid"/>
          </a:ln>
        </p:spPr>
      </p:sp>
      <p:sp>
        <p:nvSpPr>
          <p:cNvPr id="37" name="Shape 35"/>
          <p:cNvSpPr/>
          <p:nvPr/>
        </p:nvSpPr>
        <p:spPr>
          <a:xfrm flipV="1">
            <a:off x="10180320" y="2926080"/>
            <a:ext cx="1066800" cy="822960"/>
          </a:xfrm>
          <a:prstGeom prst="line">
            <a:avLst/>
          </a:prstGeom>
          <a:noFill/>
          <a:ln w="11430">
            <a:solidFill>
              <a:srgbClr val="33445C"/>
            </a:solidFill>
            <a:prstDash val="solid"/>
          </a:ln>
        </p:spPr>
      </p:sp>
      <p:sp>
        <p:nvSpPr>
          <p:cNvPr id="38" name="Shape 36"/>
          <p:cNvSpPr/>
          <p:nvPr/>
        </p:nvSpPr>
        <p:spPr>
          <a:xfrm>
            <a:off x="10180320" y="3749040"/>
            <a:ext cx="1066800" cy="91"/>
          </a:xfrm>
          <a:prstGeom prst="line">
            <a:avLst/>
          </a:prstGeom>
          <a:noFill/>
          <a:ln w="11430">
            <a:solidFill>
              <a:srgbClr val="33445C"/>
            </a:solidFill>
            <a:prstDash val="solid"/>
          </a:ln>
        </p:spPr>
      </p:sp>
      <p:sp>
        <p:nvSpPr>
          <p:cNvPr id="39" name="Shape 37"/>
          <p:cNvSpPr/>
          <p:nvPr/>
        </p:nvSpPr>
        <p:spPr>
          <a:xfrm flipV="1">
            <a:off x="10180320" y="2926080"/>
            <a:ext cx="1066800" cy="1645920"/>
          </a:xfrm>
          <a:prstGeom prst="line">
            <a:avLst/>
          </a:prstGeom>
          <a:noFill/>
          <a:ln w="11430">
            <a:solidFill>
              <a:srgbClr val="33445C"/>
            </a:solidFill>
            <a:prstDash val="solid"/>
          </a:ln>
        </p:spPr>
      </p:sp>
      <p:sp>
        <p:nvSpPr>
          <p:cNvPr id="40" name="Shape 38"/>
          <p:cNvSpPr/>
          <p:nvPr/>
        </p:nvSpPr>
        <p:spPr>
          <a:xfrm flipV="1">
            <a:off x="10180320" y="3749040"/>
            <a:ext cx="1066800" cy="822960"/>
          </a:xfrm>
          <a:prstGeom prst="line">
            <a:avLst/>
          </a:prstGeom>
          <a:noFill/>
          <a:ln w="11430">
            <a:solidFill>
              <a:srgbClr val="33445C"/>
            </a:solidFill>
            <a:prstDash val="solid"/>
          </a:ln>
        </p:spPr>
      </p:sp>
      <p:sp>
        <p:nvSpPr>
          <p:cNvPr id="41" name="Shape 39"/>
          <p:cNvSpPr/>
          <p:nvPr/>
        </p:nvSpPr>
        <p:spPr>
          <a:xfrm>
            <a:off x="7863840" y="2331720"/>
            <a:ext cx="365760" cy="365760"/>
          </a:xfrm>
          <a:prstGeom prst="ellipse">
            <a:avLst/>
          </a:prstGeom>
          <a:solidFill>
            <a:srgbClr val="8A94A3"/>
          </a:solidFill>
          <a:ln/>
        </p:spPr>
      </p:sp>
      <p:sp>
        <p:nvSpPr>
          <p:cNvPr id="42" name="Shape 40"/>
          <p:cNvSpPr/>
          <p:nvPr/>
        </p:nvSpPr>
        <p:spPr>
          <a:xfrm>
            <a:off x="7863840" y="3154680"/>
            <a:ext cx="365760" cy="365760"/>
          </a:xfrm>
          <a:prstGeom prst="ellipse">
            <a:avLst/>
          </a:prstGeom>
          <a:solidFill>
            <a:srgbClr val="8A94A3"/>
          </a:solidFill>
          <a:ln/>
        </p:spPr>
      </p:sp>
      <p:sp>
        <p:nvSpPr>
          <p:cNvPr id="43" name="Shape 41"/>
          <p:cNvSpPr/>
          <p:nvPr/>
        </p:nvSpPr>
        <p:spPr>
          <a:xfrm>
            <a:off x="7863840" y="3977640"/>
            <a:ext cx="365760" cy="365760"/>
          </a:xfrm>
          <a:prstGeom prst="ellipse">
            <a:avLst/>
          </a:prstGeom>
          <a:solidFill>
            <a:srgbClr val="8A94A3"/>
          </a:solidFill>
          <a:ln/>
        </p:spPr>
      </p:sp>
      <p:sp>
        <p:nvSpPr>
          <p:cNvPr id="44" name="Shape 42"/>
          <p:cNvSpPr/>
          <p:nvPr/>
        </p:nvSpPr>
        <p:spPr>
          <a:xfrm>
            <a:off x="8930640" y="1920240"/>
            <a:ext cx="365760" cy="365760"/>
          </a:xfrm>
          <a:prstGeom prst="ellipse">
            <a:avLst/>
          </a:prstGeom>
          <a:solidFill>
            <a:srgbClr val="0F7C82"/>
          </a:solidFill>
          <a:ln/>
        </p:spPr>
      </p:sp>
      <p:sp>
        <p:nvSpPr>
          <p:cNvPr id="45" name="Shape 43"/>
          <p:cNvSpPr/>
          <p:nvPr/>
        </p:nvSpPr>
        <p:spPr>
          <a:xfrm>
            <a:off x="8930640" y="2743200"/>
            <a:ext cx="365760" cy="365760"/>
          </a:xfrm>
          <a:prstGeom prst="ellipse">
            <a:avLst/>
          </a:prstGeom>
          <a:solidFill>
            <a:srgbClr val="0F7C82"/>
          </a:solidFill>
          <a:ln/>
        </p:spPr>
      </p:sp>
      <p:sp>
        <p:nvSpPr>
          <p:cNvPr id="46" name="Shape 44"/>
          <p:cNvSpPr/>
          <p:nvPr/>
        </p:nvSpPr>
        <p:spPr>
          <a:xfrm>
            <a:off x="8930640" y="3566160"/>
            <a:ext cx="365760" cy="365760"/>
          </a:xfrm>
          <a:prstGeom prst="ellipse">
            <a:avLst/>
          </a:prstGeom>
          <a:solidFill>
            <a:srgbClr val="0F7C82"/>
          </a:solidFill>
          <a:ln/>
        </p:spPr>
      </p:sp>
      <p:sp>
        <p:nvSpPr>
          <p:cNvPr id="47" name="Shape 45"/>
          <p:cNvSpPr/>
          <p:nvPr/>
        </p:nvSpPr>
        <p:spPr>
          <a:xfrm>
            <a:off x="8930640" y="4389120"/>
            <a:ext cx="365760" cy="365760"/>
          </a:xfrm>
          <a:prstGeom prst="ellipse">
            <a:avLst/>
          </a:prstGeom>
          <a:solidFill>
            <a:srgbClr val="0F7C82"/>
          </a:solidFill>
          <a:ln/>
        </p:spPr>
      </p:sp>
      <p:sp>
        <p:nvSpPr>
          <p:cNvPr id="48" name="Shape 46"/>
          <p:cNvSpPr/>
          <p:nvPr/>
        </p:nvSpPr>
        <p:spPr>
          <a:xfrm>
            <a:off x="9997440" y="1920240"/>
            <a:ext cx="365760" cy="365760"/>
          </a:xfrm>
          <a:prstGeom prst="ellipse">
            <a:avLst/>
          </a:prstGeom>
          <a:solidFill>
            <a:srgbClr val="0F7C82"/>
          </a:solidFill>
          <a:ln/>
        </p:spPr>
      </p:sp>
      <p:sp>
        <p:nvSpPr>
          <p:cNvPr id="49" name="Shape 47"/>
          <p:cNvSpPr/>
          <p:nvPr/>
        </p:nvSpPr>
        <p:spPr>
          <a:xfrm>
            <a:off x="9997440" y="2743200"/>
            <a:ext cx="365760" cy="365760"/>
          </a:xfrm>
          <a:prstGeom prst="ellipse">
            <a:avLst/>
          </a:prstGeom>
          <a:solidFill>
            <a:srgbClr val="0F7C82"/>
          </a:solidFill>
          <a:ln/>
        </p:spPr>
      </p:sp>
      <p:sp>
        <p:nvSpPr>
          <p:cNvPr id="50" name="Shape 48"/>
          <p:cNvSpPr/>
          <p:nvPr/>
        </p:nvSpPr>
        <p:spPr>
          <a:xfrm>
            <a:off x="9997440" y="3566160"/>
            <a:ext cx="365760" cy="365760"/>
          </a:xfrm>
          <a:prstGeom prst="ellipse">
            <a:avLst/>
          </a:prstGeom>
          <a:solidFill>
            <a:srgbClr val="0F7C82"/>
          </a:solidFill>
          <a:ln/>
        </p:spPr>
      </p:sp>
      <p:sp>
        <p:nvSpPr>
          <p:cNvPr id="51" name="Shape 49"/>
          <p:cNvSpPr/>
          <p:nvPr/>
        </p:nvSpPr>
        <p:spPr>
          <a:xfrm>
            <a:off x="9997440" y="4389120"/>
            <a:ext cx="365760" cy="365760"/>
          </a:xfrm>
          <a:prstGeom prst="ellipse">
            <a:avLst/>
          </a:prstGeom>
          <a:solidFill>
            <a:srgbClr val="0F7C82"/>
          </a:solidFill>
          <a:ln/>
        </p:spPr>
      </p:sp>
      <p:sp>
        <p:nvSpPr>
          <p:cNvPr id="52" name="Shape 50"/>
          <p:cNvSpPr/>
          <p:nvPr/>
        </p:nvSpPr>
        <p:spPr>
          <a:xfrm>
            <a:off x="11064240" y="2743200"/>
            <a:ext cx="365760" cy="365760"/>
          </a:xfrm>
          <a:prstGeom prst="ellipse">
            <a:avLst/>
          </a:prstGeom>
          <a:solidFill>
            <a:srgbClr val="C8571B"/>
          </a:solidFill>
          <a:ln/>
        </p:spPr>
      </p:sp>
      <p:sp>
        <p:nvSpPr>
          <p:cNvPr id="53" name="Shape 51"/>
          <p:cNvSpPr/>
          <p:nvPr/>
        </p:nvSpPr>
        <p:spPr>
          <a:xfrm>
            <a:off x="11064240" y="3566160"/>
            <a:ext cx="365760" cy="365760"/>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Most losses are negative log-likelihoods</a:t>
            </a:r>
            <a:endParaRPr lang="en-US" sz="3200" dirty="0"/>
          </a:p>
        </p:txBody>
      </p:sp>
      <p:sp>
        <p:nvSpPr>
          <p:cNvPr id="5" name="Shape 2"/>
          <p:cNvSpPr/>
          <p:nvPr/>
        </p:nvSpPr>
        <p:spPr>
          <a:xfrm>
            <a:off x="548640" y="1417320"/>
            <a:ext cx="1773936" cy="502920"/>
          </a:xfrm>
          <a:prstGeom prst="roundRect">
            <a:avLst>
              <a:gd name="adj" fmla="val 7273"/>
            </a:avLst>
          </a:prstGeom>
          <a:solidFill>
            <a:srgbClr val="2B3A4F"/>
          </a:solidFill>
          <a:ln/>
        </p:spPr>
      </p:sp>
      <p:sp>
        <p:nvSpPr>
          <p:cNvPr id="6" name="Text 3"/>
          <p:cNvSpPr txBox="1"/>
          <p:nvPr/>
        </p:nvSpPr>
        <p:spPr>
          <a:xfrm>
            <a:off x="685800" y="1417320"/>
            <a:ext cx="15544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Task</a:t>
            </a:r>
            <a:endParaRPr lang="en-US" sz="1700" dirty="0"/>
          </a:p>
        </p:txBody>
      </p:sp>
      <p:sp>
        <p:nvSpPr>
          <p:cNvPr id="7" name="Shape 4"/>
          <p:cNvSpPr/>
          <p:nvPr/>
        </p:nvSpPr>
        <p:spPr>
          <a:xfrm>
            <a:off x="2377440" y="1417320"/>
            <a:ext cx="2231136" cy="502920"/>
          </a:xfrm>
          <a:prstGeom prst="roundRect">
            <a:avLst>
              <a:gd name="adj" fmla="val 7273"/>
            </a:avLst>
          </a:prstGeom>
          <a:solidFill>
            <a:srgbClr val="2B3A4F"/>
          </a:solidFill>
          <a:ln/>
        </p:spPr>
      </p:sp>
      <p:sp>
        <p:nvSpPr>
          <p:cNvPr id="8" name="Text 5"/>
          <p:cNvSpPr txBox="1"/>
          <p:nvPr/>
        </p:nvSpPr>
        <p:spPr>
          <a:xfrm>
            <a:off x="2514600" y="1417320"/>
            <a:ext cx="201168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Target model</a:t>
            </a:r>
            <a:endParaRPr lang="en-US" sz="1700" dirty="0"/>
          </a:p>
        </p:txBody>
      </p:sp>
      <p:sp>
        <p:nvSpPr>
          <p:cNvPr id="9" name="Shape 6"/>
          <p:cNvSpPr/>
          <p:nvPr/>
        </p:nvSpPr>
        <p:spPr>
          <a:xfrm>
            <a:off x="4663440" y="1417320"/>
            <a:ext cx="4151376" cy="502920"/>
          </a:xfrm>
          <a:prstGeom prst="roundRect">
            <a:avLst>
              <a:gd name="adj" fmla="val 7273"/>
            </a:avLst>
          </a:prstGeom>
          <a:solidFill>
            <a:srgbClr val="2B3A4F"/>
          </a:solidFill>
          <a:ln/>
        </p:spPr>
      </p:sp>
      <p:sp>
        <p:nvSpPr>
          <p:cNvPr id="10" name="Text 7"/>
          <p:cNvSpPr txBox="1"/>
          <p:nvPr/>
        </p:nvSpPr>
        <p:spPr>
          <a:xfrm>
            <a:off x="4800600" y="1417320"/>
            <a:ext cx="3931920"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Negative log-likelihood</a:t>
            </a:r>
            <a:endParaRPr lang="en-US" sz="1700" dirty="0"/>
          </a:p>
        </p:txBody>
      </p:sp>
      <p:sp>
        <p:nvSpPr>
          <p:cNvPr id="11" name="Shape 8"/>
          <p:cNvSpPr/>
          <p:nvPr/>
        </p:nvSpPr>
        <p:spPr>
          <a:xfrm>
            <a:off x="8869680" y="1417320"/>
            <a:ext cx="2715768" cy="502920"/>
          </a:xfrm>
          <a:prstGeom prst="roundRect">
            <a:avLst>
              <a:gd name="adj" fmla="val 7273"/>
            </a:avLst>
          </a:prstGeom>
          <a:solidFill>
            <a:srgbClr val="2B3A4F"/>
          </a:solidFill>
          <a:ln/>
        </p:spPr>
      </p:sp>
      <p:sp>
        <p:nvSpPr>
          <p:cNvPr id="12" name="Text 9"/>
          <p:cNvSpPr txBox="1"/>
          <p:nvPr/>
        </p:nvSpPr>
        <p:spPr>
          <a:xfrm>
            <a:off x="9006840" y="1417320"/>
            <a:ext cx="2496312" cy="5029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In pseudocode</a:t>
            </a:r>
            <a:endParaRPr lang="en-US" sz="1700" dirty="0"/>
          </a:p>
        </p:txBody>
      </p:sp>
      <p:sp>
        <p:nvSpPr>
          <p:cNvPr id="13" name="Shape 10"/>
          <p:cNvSpPr/>
          <p:nvPr/>
        </p:nvSpPr>
        <p:spPr>
          <a:xfrm>
            <a:off x="548640" y="2029968"/>
            <a:ext cx="1773936" cy="1024128"/>
          </a:xfrm>
          <a:prstGeom prst="roundRect">
            <a:avLst>
              <a:gd name="adj" fmla="val 3571"/>
            </a:avLst>
          </a:prstGeom>
          <a:solidFill>
            <a:srgbClr val="F3F5F8"/>
          </a:solidFill>
          <a:ln/>
        </p:spPr>
      </p:sp>
      <p:sp>
        <p:nvSpPr>
          <p:cNvPr id="14" name="Shape 11"/>
          <p:cNvSpPr/>
          <p:nvPr/>
        </p:nvSpPr>
        <p:spPr>
          <a:xfrm>
            <a:off x="2377440" y="2029968"/>
            <a:ext cx="2231136" cy="1024128"/>
          </a:xfrm>
          <a:prstGeom prst="roundRect">
            <a:avLst>
              <a:gd name="adj" fmla="val 3571"/>
            </a:avLst>
          </a:prstGeom>
          <a:solidFill>
            <a:srgbClr val="FFFFFF"/>
          </a:solidFill>
          <a:ln w="12700">
            <a:solidFill>
              <a:srgbClr val="D5DBE3"/>
            </a:solidFill>
            <a:prstDash val="solid"/>
          </a:ln>
        </p:spPr>
      </p:sp>
      <p:sp>
        <p:nvSpPr>
          <p:cNvPr id="15" name="Shape 12"/>
          <p:cNvSpPr/>
          <p:nvPr/>
        </p:nvSpPr>
        <p:spPr>
          <a:xfrm>
            <a:off x="4663440" y="2029968"/>
            <a:ext cx="4151376" cy="1024128"/>
          </a:xfrm>
          <a:prstGeom prst="roundRect">
            <a:avLst>
              <a:gd name="adj" fmla="val 3571"/>
            </a:avLst>
          </a:prstGeom>
          <a:solidFill>
            <a:srgbClr val="E2F1F1"/>
          </a:solidFill>
          <a:ln/>
        </p:spPr>
      </p:sp>
      <p:sp>
        <p:nvSpPr>
          <p:cNvPr id="16" name="Shape 13"/>
          <p:cNvSpPr/>
          <p:nvPr/>
        </p:nvSpPr>
        <p:spPr>
          <a:xfrm>
            <a:off x="8869680" y="2029968"/>
            <a:ext cx="2715768" cy="1024128"/>
          </a:xfrm>
          <a:prstGeom prst="roundRect">
            <a:avLst>
              <a:gd name="adj" fmla="val 3571"/>
            </a:avLst>
          </a:prstGeom>
          <a:solidFill>
            <a:srgbClr val="F3F5F8"/>
          </a:solidFill>
          <a:ln/>
        </p:spPr>
      </p:sp>
      <p:sp>
        <p:nvSpPr>
          <p:cNvPr id="17" name="Text 14"/>
          <p:cNvSpPr txBox="1"/>
          <p:nvPr/>
        </p:nvSpPr>
        <p:spPr>
          <a:xfrm>
            <a:off x="685800" y="2029968"/>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Regression</a:t>
            </a:r>
            <a:endParaRPr lang="en-US" sz="1900" dirty="0"/>
          </a:p>
        </p:txBody>
      </p:sp>
      <p:sp>
        <p:nvSpPr>
          <p:cNvPr id="18" name="Text 15"/>
          <p:cNvSpPr txBox="1"/>
          <p:nvPr/>
        </p:nvSpPr>
        <p:spPr>
          <a:xfrm>
            <a:off x="2514600" y="2029968"/>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y = f(x) + Gaussian noise</a:t>
            </a:r>
            <a:endParaRPr lang="en-US" sz="1600" dirty="0"/>
          </a:p>
        </p:txBody>
      </p:sp>
      <p:pic>
        <p:nvPicPr>
          <p:cNvPr id="19" name="Image 0" descr="LaTeX: $\displaystyle L = \tfrac12(\yh - y)^2$">    </p:cNvPr>
          <p:cNvPicPr>
            <a:picLocks noChangeAspect="1"/>
          </p:cNvPicPr>
          <p:nvPr/>
        </p:nvPicPr>
        <p:blipFill>
          <a:blip r:embed="rId1"/>
          <a:stretch>
            <a:fillRect/>
          </a:stretch>
        </p:blipFill>
        <p:spPr>
          <a:xfrm>
            <a:off x="4846320" y="2276120"/>
            <a:ext cx="1998372" cy="531824"/>
          </a:xfrm>
          <a:prstGeom prst="rect">
            <a:avLst/>
          </a:prstGeom>
        </p:spPr>
      </p:pic>
      <p:sp>
        <p:nvSpPr>
          <p:cNvPr id="20" name="Text 16"/>
          <p:cNvSpPr txBox="1"/>
          <p:nvPr/>
        </p:nvSpPr>
        <p:spPr>
          <a:xfrm>
            <a:off x="8979408" y="2029968"/>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mse(ŷ, y)</a:t>
            </a:r>
            <a:endParaRPr lang="en-US" sz="1500" dirty="0"/>
          </a:p>
        </p:txBody>
      </p:sp>
      <p:sp>
        <p:nvSpPr>
          <p:cNvPr id="21" name="Shape 17"/>
          <p:cNvSpPr/>
          <p:nvPr/>
        </p:nvSpPr>
        <p:spPr>
          <a:xfrm>
            <a:off x="548640" y="3145536"/>
            <a:ext cx="1773936" cy="1024128"/>
          </a:xfrm>
          <a:prstGeom prst="roundRect">
            <a:avLst>
              <a:gd name="adj" fmla="val 3571"/>
            </a:avLst>
          </a:prstGeom>
          <a:solidFill>
            <a:srgbClr val="F3F5F8"/>
          </a:solidFill>
          <a:ln/>
        </p:spPr>
      </p:sp>
      <p:sp>
        <p:nvSpPr>
          <p:cNvPr id="22" name="Shape 18"/>
          <p:cNvSpPr/>
          <p:nvPr/>
        </p:nvSpPr>
        <p:spPr>
          <a:xfrm>
            <a:off x="2377440" y="3145536"/>
            <a:ext cx="2231136" cy="1024128"/>
          </a:xfrm>
          <a:prstGeom prst="roundRect">
            <a:avLst>
              <a:gd name="adj" fmla="val 3571"/>
            </a:avLst>
          </a:prstGeom>
          <a:solidFill>
            <a:srgbClr val="FFFFFF"/>
          </a:solidFill>
          <a:ln w="12700">
            <a:solidFill>
              <a:srgbClr val="D5DBE3"/>
            </a:solidFill>
            <a:prstDash val="solid"/>
          </a:ln>
        </p:spPr>
      </p:sp>
      <p:sp>
        <p:nvSpPr>
          <p:cNvPr id="23" name="Shape 19"/>
          <p:cNvSpPr/>
          <p:nvPr/>
        </p:nvSpPr>
        <p:spPr>
          <a:xfrm>
            <a:off x="4663440" y="3145536"/>
            <a:ext cx="4151376" cy="1024128"/>
          </a:xfrm>
          <a:prstGeom prst="roundRect">
            <a:avLst>
              <a:gd name="adj" fmla="val 3571"/>
            </a:avLst>
          </a:prstGeom>
          <a:solidFill>
            <a:srgbClr val="E2F1F1"/>
          </a:solidFill>
          <a:ln/>
        </p:spPr>
      </p:sp>
      <p:sp>
        <p:nvSpPr>
          <p:cNvPr id="24" name="Shape 20"/>
          <p:cNvSpPr/>
          <p:nvPr/>
        </p:nvSpPr>
        <p:spPr>
          <a:xfrm>
            <a:off x="8869680" y="3145536"/>
            <a:ext cx="2715768" cy="1024128"/>
          </a:xfrm>
          <a:prstGeom prst="roundRect">
            <a:avLst>
              <a:gd name="adj" fmla="val 3571"/>
            </a:avLst>
          </a:prstGeom>
          <a:solidFill>
            <a:srgbClr val="F3F5F8"/>
          </a:solidFill>
          <a:ln/>
        </p:spPr>
      </p:sp>
      <p:sp>
        <p:nvSpPr>
          <p:cNvPr id="25" name="Text 21"/>
          <p:cNvSpPr txBox="1"/>
          <p:nvPr/>
        </p:nvSpPr>
        <p:spPr>
          <a:xfrm>
            <a:off x="685800" y="3145536"/>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Binary</a:t>
            </a:r>
            <a:endParaRPr lang="en-US" sz="1900" dirty="0"/>
          </a:p>
        </p:txBody>
      </p:sp>
      <p:sp>
        <p:nvSpPr>
          <p:cNvPr id="26" name="Text 22"/>
          <p:cNvSpPr txBox="1"/>
          <p:nvPr/>
        </p:nvSpPr>
        <p:spPr>
          <a:xfrm>
            <a:off x="2514600" y="3145536"/>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Bernoulli, ŷ = σ(z)</a:t>
            </a:r>
            <a:endParaRPr lang="en-US" sz="1600" dirty="0"/>
          </a:p>
        </p:txBody>
      </p:sp>
      <p:pic>
        <p:nvPicPr>
          <p:cNvPr id="27" name="Image 1" descr="LaTeX: $\displaystyle L = -\bigl[y\log\yh + (1-y)\log(1-\yh)\bigr]$">    </p:cNvPr>
          <p:cNvPicPr>
            <a:picLocks noChangeAspect="1"/>
          </p:cNvPicPr>
          <p:nvPr/>
        </p:nvPicPr>
        <p:blipFill>
          <a:blip r:embed="rId2"/>
          <a:stretch>
            <a:fillRect/>
          </a:stretch>
        </p:blipFill>
        <p:spPr>
          <a:xfrm>
            <a:off x="4846320" y="3496970"/>
            <a:ext cx="3246272" cy="321259"/>
          </a:xfrm>
          <a:prstGeom prst="rect">
            <a:avLst/>
          </a:prstGeom>
        </p:spPr>
      </p:pic>
      <p:sp>
        <p:nvSpPr>
          <p:cNvPr id="28" name="Text 23"/>
          <p:cNvSpPr txBox="1"/>
          <p:nvPr/>
        </p:nvSpPr>
        <p:spPr>
          <a:xfrm>
            <a:off x="8979408" y="3145536"/>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bce_with_logits(z, y)</a:t>
            </a:r>
            <a:endParaRPr lang="en-US" sz="1500" dirty="0"/>
          </a:p>
        </p:txBody>
      </p:sp>
      <p:sp>
        <p:nvSpPr>
          <p:cNvPr id="29" name="Shape 24"/>
          <p:cNvSpPr/>
          <p:nvPr/>
        </p:nvSpPr>
        <p:spPr>
          <a:xfrm>
            <a:off x="548640" y="4261104"/>
            <a:ext cx="1773936" cy="1024128"/>
          </a:xfrm>
          <a:prstGeom prst="roundRect">
            <a:avLst>
              <a:gd name="adj" fmla="val 3571"/>
            </a:avLst>
          </a:prstGeom>
          <a:solidFill>
            <a:srgbClr val="F3F5F8"/>
          </a:solidFill>
          <a:ln/>
        </p:spPr>
      </p:sp>
      <p:sp>
        <p:nvSpPr>
          <p:cNvPr id="30" name="Shape 25"/>
          <p:cNvSpPr/>
          <p:nvPr/>
        </p:nvSpPr>
        <p:spPr>
          <a:xfrm>
            <a:off x="2377440" y="4261104"/>
            <a:ext cx="2231136" cy="1024128"/>
          </a:xfrm>
          <a:prstGeom prst="roundRect">
            <a:avLst>
              <a:gd name="adj" fmla="val 3571"/>
            </a:avLst>
          </a:prstGeom>
          <a:solidFill>
            <a:srgbClr val="FFFFFF"/>
          </a:solidFill>
          <a:ln w="12700">
            <a:solidFill>
              <a:srgbClr val="D5DBE3"/>
            </a:solidFill>
            <a:prstDash val="solid"/>
          </a:ln>
        </p:spPr>
      </p:sp>
      <p:sp>
        <p:nvSpPr>
          <p:cNvPr id="31" name="Shape 26"/>
          <p:cNvSpPr/>
          <p:nvPr/>
        </p:nvSpPr>
        <p:spPr>
          <a:xfrm>
            <a:off x="4663440" y="4261104"/>
            <a:ext cx="4151376" cy="1024128"/>
          </a:xfrm>
          <a:prstGeom prst="roundRect">
            <a:avLst>
              <a:gd name="adj" fmla="val 3571"/>
            </a:avLst>
          </a:prstGeom>
          <a:solidFill>
            <a:srgbClr val="E2F1F1"/>
          </a:solidFill>
          <a:ln/>
        </p:spPr>
      </p:sp>
      <p:sp>
        <p:nvSpPr>
          <p:cNvPr id="32" name="Shape 27"/>
          <p:cNvSpPr/>
          <p:nvPr/>
        </p:nvSpPr>
        <p:spPr>
          <a:xfrm>
            <a:off x="8869680" y="4261104"/>
            <a:ext cx="2715768" cy="1024128"/>
          </a:xfrm>
          <a:prstGeom prst="roundRect">
            <a:avLst>
              <a:gd name="adj" fmla="val 3571"/>
            </a:avLst>
          </a:prstGeom>
          <a:solidFill>
            <a:srgbClr val="F3F5F8"/>
          </a:solidFill>
          <a:ln/>
        </p:spPr>
      </p:sp>
      <p:sp>
        <p:nvSpPr>
          <p:cNvPr id="33" name="Text 28"/>
          <p:cNvSpPr txBox="1"/>
          <p:nvPr/>
        </p:nvSpPr>
        <p:spPr>
          <a:xfrm>
            <a:off x="685800" y="4261104"/>
            <a:ext cx="1554480" cy="1024128"/>
          </a:xfrm>
          <a:prstGeom prst="rect">
            <a:avLst/>
          </a:prstGeom>
          <a:noFill/>
          <a:ln/>
        </p:spPr>
        <p:txBody>
          <a:bodyPr wrap="square" lIns="0" tIns="0" rIns="0" bIns="0" rtlCol="0" anchor="ctr"/>
          <a:lstStyle/>
          <a:p>
            <a:pPr indent="0" marL="0">
              <a:buNone/>
            </a:pPr>
            <a:r>
              <a:rPr lang="en-US" sz="1900" b="1" dirty="0">
                <a:solidFill>
                  <a:srgbClr val="17202E"/>
                </a:solidFill>
                <a:latin typeface="Calibri" pitchFamily="34" charset="0"/>
                <a:ea typeface="Calibri" pitchFamily="34" charset="-122"/>
                <a:cs typeface="Calibri" pitchFamily="34" charset="-120"/>
              </a:rPr>
              <a:t>Multi-class</a:t>
            </a:r>
            <a:endParaRPr lang="en-US" sz="1900" dirty="0"/>
          </a:p>
        </p:txBody>
      </p:sp>
      <p:sp>
        <p:nvSpPr>
          <p:cNvPr id="34" name="Text 29"/>
          <p:cNvSpPr txBox="1"/>
          <p:nvPr/>
        </p:nvSpPr>
        <p:spPr>
          <a:xfrm>
            <a:off x="2514600" y="4261104"/>
            <a:ext cx="2011680" cy="1024128"/>
          </a:xfrm>
          <a:prstGeom prst="rect">
            <a:avLst/>
          </a:prstGeom>
          <a:noFill/>
          <a:ln/>
        </p:spPr>
        <p:txBody>
          <a:bodyPr wrap="square" lIns="0" tIns="0" rIns="0" bIns="0" rtlCol="0" anchor="ctr"/>
          <a:lstStyle/>
          <a:p>
            <a:pPr indent="0" marL="0">
              <a:buNone/>
            </a:pPr>
            <a:r>
              <a:rPr lang="en-US" sz="1600" dirty="0">
                <a:solidFill>
                  <a:srgbClr val="2B3A4F"/>
                </a:solidFill>
                <a:latin typeface="Calibri" pitchFamily="34" charset="0"/>
                <a:ea typeface="Calibri" pitchFamily="34" charset="-122"/>
                <a:cs typeface="Calibri" pitchFamily="34" charset="-120"/>
              </a:rPr>
              <a:t>Categorical, ŷ = softmax(z)</a:t>
            </a:r>
            <a:endParaRPr lang="en-US" sz="1600" dirty="0"/>
          </a:p>
        </p:txBody>
      </p:sp>
      <p:pic>
        <p:nvPicPr>
          <p:cNvPr id="35" name="Image 2" descr="LaTeX: $\displaystyle L = -\sum_k y_k \log \yh_k = -\log \yh_c$">    </p:cNvPr>
          <p:cNvPicPr>
            <a:picLocks noChangeAspect="1"/>
          </p:cNvPicPr>
          <p:nvPr/>
        </p:nvPicPr>
        <p:blipFill>
          <a:blip r:embed="rId3"/>
          <a:stretch>
            <a:fillRect/>
          </a:stretch>
        </p:blipFill>
        <p:spPr>
          <a:xfrm>
            <a:off x="4846320" y="4507611"/>
            <a:ext cx="2795473" cy="531114"/>
          </a:xfrm>
          <a:prstGeom prst="rect">
            <a:avLst/>
          </a:prstGeom>
        </p:spPr>
      </p:pic>
      <p:sp>
        <p:nvSpPr>
          <p:cNvPr id="36" name="Text 30"/>
          <p:cNvSpPr txBox="1"/>
          <p:nvPr/>
        </p:nvSpPr>
        <p:spPr>
          <a:xfrm>
            <a:off x="8979408" y="4261104"/>
            <a:ext cx="2587752" cy="1024128"/>
          </a:xfrm>
          <a:prstGeom prst="rect">
            <a:avLst/>
          </a:prstGeom>
          <a:noFill/>
          <a:ln/>
        </p:spPr>
        <p:txBody>
          <a:bodyPr wrap="square" lIns="0" tIns="0" rIns="0" bIns="0" rtlCol="0" anchor="ctr"/>
          <a:lstStyle/>
          <a:p>
            <a:pPr indent="0" marL="0">
              <a:buNone/>
            </a:pPr>
            <a:r>
              <a:rPr lang="en-US" sz="1500" dirty="0">
                <a:solidFill>
                  <a:srgbClr val="0A5559"/>
                </a:solidFill>
                <a:latin typeface="Consolas" pitchFamily="34" charset="0"/>
                <a:ea typeface="Consolas" pitchFamily="34" charset="-122"/>
                <a:cs typeface="Consolas" pitchFamily="34" charset="-120"/>
              </a:rPr>
              <a:t>cross_entropy(z, y)</a:t>
            </a:r>
            <a:endParaRPr lang="en-US" sz="1500" dirty="0"/>
          </a:p>
        </p:txBody>
      </p:sp>
      <p:sp>
        <p:nvSpPr>
          <p:cNvPr id="37" name="Shape 31"/>
          <p:cNvSpPr/>
          <p:nvPr/>
        </p:nvSpPr>
        <p:spPr>
          <a:xfrm>
            <a:off x="548640" y="5440680"/>
            <a:ext cx="11094415" cy="685800"/>
          </a:xfrm>
          <a:prstGeom prst="roundRect">
            <a:avLst>
              <a:gd name="adj" fmla="val 10667"/>
            </a:avLst>
          </a:prstGeom>
          <a:solidFill>
            <a:srgbClr val="E2F1F1"/>
          </a:solidFill>
          <a:ln/>
        </p:spPr>
      </p:sp>
      <p:sp>
        <p:nvSpPr>
          <p:cNvPr id="38" name="Text 32"/>
          <p:cNvSpPr txBox="1"/>
          <p:nvPr/>
        </p:nvSpPr>
        <p:spPr>
          <a:xfrm>
            <a:off x="749808" y="5486400"/>
            <a:ext cx="10692079" cy="5943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Choose the noise model; the loss follows. Classification losses take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22</a:t>
            </a:fld>
            <a:endParaRPr lang="en-US"/>
          </a:p>
        </p:txBody>
      </p:sp>
      <p:sp>
        <p:nvSpPr>
          <p:cNvPr id="3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many classes: softmax, and a check for step 0</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Softmax, and the first-loss sanity check</a:t>
            </a:r>
            <a:endParaRPr lang="en-US" sz="3200" dirty="0"/>
          </a:p>
        </p:txBody>
      </p:sp>
      <p:graphicFrame>
        <p:nvGraphicFramePr>
          <p:cNvPr id="5" name="Chart 0" descr="Logits z: z₁ = 2; z₂ = 1; z₃ = 0.1"/>
          <p:cNvGraphicFramePr/>
          <p:nvPr/>
        </p:nvGraphicFramePr>
        <p:xfrm>
          <a:off x="457200" y="1417320"/>
          <a:ext cx="2651760" cy="274320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2651760" y="2880360"/>
            <a:ext cx="594360" cy="91"/>
          </a:xfrm>
          <a:prstGeom prst="line">
            <a:avLst/>
          </a:prstGeom>
          <a:noFill/>
          <a:ln w="31750">
            <a:solidFill>
              <a:srgbClr val="0F7C82"/>
            </a:solidFill>
            <a:prstDash val="solid"/>
            <a:tailEnd type="triangle"/>
          </a:ln>
        </p:spPr>
        <p:txBody>
          <a:bodyPr/>
          <a:p/>
        </p:txBody>
      </p:sp>
      <p:sp>
        <p:nvSpPr>
          <p:cNvPr id="7" name="Text 3"/>
          <p:cNvSpPr txBox="1"/>
          <p:nvPr/>
        </p:nvSpPr>
        <p:spPr>
          <a:xfrm>
            <a:off x="2468880" y="2423160"/>
            <a:ext cx="914400" cy="365760"/>
          </a:xfrm>
          <a:prstGeom prst="rect">
            <a:avLst/>
          </a:prstGeom>
          <a:noFill/>
          <a:ln/>
        </p:spPr>
        <p:txBody>
          <a:bodyPr wrap="square" lIns="0" tIns="0" rIns="0" bIns="0" rtlCol="0" anchor="t"/>
          <a:lstStyle/>
          <a:p>
            <a:pPr algn="ctr" indent="0" marL="0">
              <a:buNone/>
            </a:pPr>
            <a:r>
              <a:rPr lang="en-US" sz="1500" b="1" dirty="0">
                <a:solidFill>
                  <a:srgbClr val="0F7C82"/>
                </a:solidFill>
                <a:latin typeface="Calibri" pitchFamily="34" charset="0"/>
                <a:ea typeface="Calibri" pitchFamily="34" charset="-122"/>
                <a:cs typeface="Calibri" pitchFamily="34" charset="-120"/>
              </a:rPr>
              <a:t>softmax</a:t>
            </a:r>
            <a:endParaRPr lang="en-US" sz="1500" dirty="0"/>
          </a:p>
        </p:txBody>
      </p:sp>
      <p:graphicFrame>
        <p:nvGraphicFramePr>
          <p:cNvPr id="8" name="Chart 1" descr="Probabilities (sum 1): ŷ₁ = 0.659; ŷ₂ = 0.242; ŷ₃ = 0.099"/>
          <p:cNvGraphicFramePr/>
          <p:nvPr/>
        </p:nvGraphicFramePr>
        <p:xfrm>
          <a:off x="3246120" y="1417320"/>
          <a:ext cx="2651760" cy="274320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548640" y="4343400"/>
            <a:ext cx="5349240" cy="1783080"/>
          </a:xfrm>
          <a:prstGeom prst="roundRect">
            <a:avLst>
              <a:gd name="adj" fmla="val 4103"/>
            </a:avLst>
          </a:prstGeom>
          <a:solidFill>
            <a:srgbClr val="F3F5F8"/>
          </a:solidFill>
          <a:ln/>
        </p:spPr>
        <p:txBody>
          <a:bodyPr/>
          <a:p/>
        </p:txBody>
      </p:sp>
      <p:pic>
        <p:nvPicPr>
          <p:cNvPr id="10" name="Image 0" descr="LaTeX: $\displaystyle \yh_k = \frac{e^{z_k}}{\sum_j e^{z_j}}$">    </p:cNvPr>
          <p:cNvPicPr>
            <a:picLocks noChangeAspect="1"/>
          </p:cNvPicPr>
          <p:nvPr/>
        </p:nvPicPr>
        <p:blipFill>
          <a:blip r:embed="rId3"/>
          <a:stretch>
            <a:fillRect/>
          </a:stretch>
        </p:blipFill>
        <p:spPr>
          <a:xfrm>
            <a:off x="822960" y="4526280"/>
            <a:ext cx="1209904" cy="595884"/>
          </a:xfrm>
          <a:prstGeom prst="rect">
            <a:avLst/>
          </a:prstGeom>
        </p:spPr>
      </p:pic>
      <p:pic>
        <p:nvPicPr>
          <p:cNvPr id="11" name="Image 1" descr="LaTeX: $\displaystyle L = -\sum_k y_k \log \yh_k = -\log \yh_c$">    </p:cNvPr>
          <p:cNvPicPr>
            <a:picLocks noChangeAspect="1"/>
          </p:cNvPicPr>
          <p:nvPr/>
        </p:nvPicPr>
        <p:blipFill>
          <a:blip r:embed="rId4"/>
          <a:stretch>
            <a:fillRect/>
          </a:stretch>
        </p:blipFill>
        <p:spPr>
          <a:xfrm>
            <a:off x="822960" y="5349240"/>
            <a:ext cx="2384374" cy="453009"/>
          </a:xfrm>
          <a:prstGeom prst="rect">
            <a:avLst/>
          </a:prstGeom>
        </p:spPr>
      </p:pic>
      <p:sp>
        <p:nvSpPr>
          <p:cNvPr id="12" name="Shape 5"/>
          <p:cNvSpPr/>
          <p:nvPr/>
        </p:nvSpPr>
        <p:spPr>
          <a:xfrm>
            <a:off x="6217920" y="1417320"/>
            <a:ext cx="5422392" cy="2514600"/>
          </a:xfrm>
          <a:prstGeom prst="roundRect">
            <a:avLst>
              <a:gd name="adj" fmla="val 2909"/>
            </a:avLst>
          </a:prstGeom>
          <a:solidFill>
            <a:srgbClr val="E2F1F1"/>
          </a:solidFill>
          <a:ln/>
        </p:spPr>
        <p:txBody>
          <a:bodyPr/>
          <a:p/>
        </p:txBody>
      </p:sp>
      <p:sp>
        <p:nvSpPr>
          <p:cNvPr id="13" name="Text 6"/>
          <p:cNvSpPr txBox="1"/>
          <p:nvPr/>
        </p:nvSpPr>
        <p:spPr>
          <a:xfrm>
            <a:off x="6446520" y="158191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SANITY CHECK ON STEP 0</a:t>
            </a:r>
            <a:endParaRPr lang="en-US" sz="1300" dirty="0"/>
          </a:p>
        </p:txBody>
      </p:sp>
      <p:pic>
        <p:nvPicPr>
          <p:cNvPr id="14" name="Image 2" descr="LaTeX: $\displaystyle L_{\text{first}} \approx -\log\tfrac{1}{K} = \ln K \qquad \textcolor{mu}{(\ln 10 = 2.30)}$">    </p:cNvPr>
          <p:cNvPicPr>
            <a:picLocks noChangeAspect="1"/>
          </p:cNvPicPr>
          <p:nvPr/>
        </p:nvPicPr>
        <p:blipFill>
          <a:blip r:embed="rId5"/>
          <a:stretch>
            <a:fillRect/>
          </a:stretch>
        </p:blipFill>
        <p:spPr>
          <a:xfrm>
            <a:off x="6446520" y="1984248"/>
            <a:ext cx="3899154" cy="321259"/>
          </a:xfrm>
          <a:prstGeom prst="rect">
            <a:avLst/>
          </a:prstGeom>
        </p:spPr>
      </p:pic>
      <p:sp>
        <p:nvSpPr>
          <p:cNvPr id="15" name="Text 7"/>
          <p:cNvSpPr txBox="1"/>
          <p:nvPr/>
        </p:nvSpPr>
        <p:spPr>
          <a:xfrm>
            <a:off x="6446520" y="2743200"/>
            <a:ext cx="5029200" cy="1051560"/>
          </a:xfrm>
          <a:prstGeom prst="rect">
            <a:avLst/>
          </a:prstGeom>
          <a:noFill/>
          <a:ln/>
        </p:spPr>
        <p:txBody>
          <a:bodyPr wrap="square" lIns="0" tIns="0" rIns="0" bIns="0" rtlCol="0" anchor="t"/>
          <a:lstStyle/>
          <a:p>
            <a:pPr indent="0" marL="0">
              <a:buNone/>
            </a:pPr>
            <a:r>
              <a:rPr lang="en-US" sz="1800" dirty="0">
                <a:solidFill>
                  <a:srgbClr val="17202E"/>
                </a:solidFill>
                <a:latin typeface="Calibri" pitchFamily="34" charset="0"/>
                <a:ea typeface="Calibri" pitchFamily="34" charset="-122"/>
                <a:cs typeface="Calibri" pitchFamily="34" charset="-120"/>
              </a:rPr>
              <a:t>Running example, first loss: 2.63 (2.6–3.0 over 3 seeds; standard init).</a:t>
            </a:r>
            <a:endParaRPr lang="en-US" sz="1800" dirty="0"/>
          </a:p>
        </p:txBody>
      </p:sp>
      <p:sp>
        <p:nvSpPr>
          <p:cNvPr id="16" name="Shape 8"/>
          <p:cNvSpPr/>
          <p:nvPr/>
        </p:nvSpPr>
        <p:spPr>
          <a:xfrm>
            <a:off x="6217920" y="4160520"/>
            <a:ext cx="5422392" cy="1234440"/>
          </a:xfrm>
          <a:prstGeom prst="roundRect">
            <a:avLst>
              <a:gd name="adj" fmla="val 5926"/>
            </a:avLst>
          </a:prstGeom>
          <a:solidFill>
            <a:srgbClr val="FBEADF"/>
          </a:solidFill>
          <a:ln/>
        </p:spPr>
        <p:txBody>
          <a:bodyPr/>
          <a:p/>
        </p:txBody>
      </p:sp>
      <p:sp>
        <p:nvSpPr>
          <p:cNvPr id="17" name="Text 9"/>
          <p:cNvSpPr txBox="1"/>
          <p:nvPr/>
        </p:nvSpPr>
        <p:spPr>
          <a:xfrm>
            <a:off x="6419088" y="4206240"/>
            <a:ext cx="5020056" cy="114300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First loss ≫ ln K (say 10–15)? Logit differences are huge: check input scaling, initialization and labels.</a:t>
            </a:r>
            <a:endParaRPr lang="en-US" sz="1800" dirty="0"/>
          </a:p>
        </p:txBody>
      </p:sp>
      <p:sp>
        <p:nvSpPr>
          <p:cNvPr id="18" name="Text 10"/>
          <p:cNvSpPr txBox="1"/>
          <p:nvPr/>
        </p:nvSpPr>
        <p:spPr>
          <a:xfrm>
            <a:off x="6217920" y="5623560"/>
            <a:ext cx="5422392" cy="41148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−log 0.9 = 0.105   ·   −log 0.5 = 0.693   ·   −log 0.01 = 4.61</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23</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why not just use squared error?</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Cross-entropy keeps learning when MSE stalls</a:t>
            </a:r>
            <a:endParaRPr lang="en-US" sz="3200" dirty="0"/>
          </a:p>
        </p:txBody>
      </p:sp>
      <p:graphicFrame>
        <p:nvGraphicFramePr>
          <p:cNvPr id="5" name="Chart 0" descr="|∂L/∂z| for a true label y = 1: cross-entropy, MSE on a sigmoid"/>
          <p:cNvGraphicFramePr/>
          <p:nvPr/>
        </p:nvGraphicFramePr>
        <p:xfrm>
          <a:off x="457200" y="1417320"/>
          <a:ext cx="5577840" cy="4251960"/>
        </p:xfrm>
        <a:graphic xmlns:a="http://schemas.openxmlformats.org/drawingml/2006/main">
          <a:graphicData uri="http://schemas.openxmlformats.org/drawingml/2006/chart">
            <c:chart xmlns:c="http://schemas.openxmlformats.org/drawingml/2006/chart" r:id="rId1"/>
          </a:graphicData>
        </a:graphic>
      </p:graphicFrame>
      <p:sp>
        <p:nvSpPr>
          <p:cNvPr id="6" name="Shape 2"/>
          <p:cNvSpPr/>
          <p:nvPr/>
        </p:nvSpPr>
        <p:spPr>
          <a:xfrm>
            <a:off x="6080760" y="1417320"/>
            <a:ext cx="5559552" cy="1600200"/>
          </a:xfrm>
          <a:prstGeom prst="roundRect">
            <a:avLst>
              <a:gd name="adj" fmla="val 4571"/>
            </a:avLst>
          </a:prstGeom>
          <a:solidFill>
            <a:srgbClr val="FBEADF"/>
          </a:solidFill>
          <a:ln/>
        </p:spPr>
        <p:txBody>
          <a:bodyPr/>
          <a:p/>
        </p:txBody>
      </p:sp>
      <p:sp>
        <p:nvSpPr>
          <p:cNvPr id="7" name="Text 3"/>
          <p:cNvSpPr txBox="1"/>
          <p:nvPr/>
        </p:nvSpPr>
        <p:spPr>
          <a:xfrm>
            <a:off x="6281928" y="1554480"/>
            <a:ext cx="50292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MSE ON A SIGMOID</a:t>
            </a:r>
            <a:endParaRPr lang="en-US" sz="1300" dirty="0"/>
          </a:p>
        </p:txBody>
      </p:sp>
      <p:pic>
        <p:nvPicPr>
          <p:cNvPr id="8" name="Image 0" descr="LaTeX: $\displaystyle \frac{\partial L}{\partial z} = (\sigma(z) - y)\,\textcolor{bw}{\sigma(z)(1-\sigma(z))}$">    </p:cNvPr>
          <p:cNvPicPr>
            <a:picLocks noChangeAspect="1"/>
          </p:cNvPicPr>
          <p:nvPr/>
        </p:nvPicPr>
        <p:blipFill>
          <a:blip r:embed="rId2"/>
          <a:stretch>
            <a:fillRect/>
          </a:stretch>
        </p:blipFill>
        <p:spPr>
          <a:xfrm>
            <a:off x="6309360" y="1874520"/>
            <a:ext cx="2791968" cy="477926"/>
          </a:xfrm>
          <a:prstGeom prst="rect">
            <a:avLst/>
          </a:prstGeom>
        </p:spPr>
      </p:pic>
      <p:sp>
        <p:nvSpPr>
          <p:cNvPr id="9" name="Text 4"/>
          <p:cNvSpPr txBox="1"/>
          <p:nvPr/>
        </p:nvSpPr>
        <p:spPr>
          <a:xfrm>
            <a:off x="6281928" y="2560320"/>
            <a:ext cx="5212080" cy="365760"/>
          </a:xfrm>
          <a:prstGeom prst="rect">
            <a:avLst/>
          </a:prstGeom>
          <a:noFill/>
          <a:ln/>
        </p:spPr>
        <p:txBody>
          <a:bodyPr wrap="square" lIns="0" tIns="0" rIns="0" bIns="0" rtlCol="0" anchor="t"/>
          <a:lstStyle/>
          <a:p>
            <a:pPr indent="0" marL="0">
              <a:buNone/>
            </a:pPr>
            <a:r>
              <a:rPr lang="en-US" sz="1600" dirty="0">
                <a:solidFill>
                  <a:srgbClr val="8F3A0E"/>
                </a:solidFill>
                <a:latin typeface="Calibri" pitchFamily="34" charset="0"/>
                <a:ea typeface="Calibri" pitchFamily="34" charset="-122"/>
                <a:cs typeface="Calibri" pitchFamily="34" charset="-120"/>
              </a:rPr>
              <a:t>σ(z) = 0.0001, y = 1  →  ∂L/∂z ≈ −0.0001</a:t>
            </a:r>
            <a:endParaRPr lang="en-US" sz="1600" dirty="0"/>
          </a:p>
        </p:txBody>
      </p:sp>
      <p:sp>
        <p:nvSpPr>
          <p:cNvPr id="10" name="Shape 5"/>
          <p:cNvSpPr/>
          <p:nvPr/>
        </p:nvSpPr>
        <p:spPr>
          <a:xfrm>
            <a:off x="6080760" y="3200400"/>
            <a:ext cx="5559552" cy="1600200"/>
          </a:xfrm>
          <a:prstGeom prst="roundRect">
            <a:avLst>
              <a:gd name="adj" fmla="val 4571"/>
            </a:avLst>
          </a:prstGeom>
          <a:solidFill>
            <a:srgbClr val="E2F1F1"/>
          </a:solidFill>
          <a:ln/>
        </p:spPr>
        <p:txBody>
          <a:bodyPr/>
          <a:p/>
        </p:txBody>
      </p:sp>
      <p:sp>
        <p:nvSpPr>
          <p:cNvPr id="11" name="Text 6"/>
          <p:cNvSpPr txBox="1"/>
          <p:nvPr/>
        </p:nvSpPr>
        <p:spPr>
          <a:xfrm>
            <a:off x="6281928" y="3337560"/>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CROSS-ENTROPY ON A SIGMOID</a:t>
            </a:r>
            <a:endParaRPr lang="en-US" sz="1300" dirty="0"/>
          </a:p>
        </p:txBody>
      </p:sp>
      <p:pic>
        <p:nvPicPr>
          <p:cNvPr id="12" name="Image 1" descr="LaTeX: $\displaystyle \frac{\partial L}{\partial z} = \sigma(z) - y$">    </p:cNvPr>
          <p:cNvPicPr>
            <a:picLocks noChangeAspect="1"/>
          </p:cNvPicPr>
          <p:nvPr/>
        </p:nvPicPr>
        <p:blipFill>
          <a:blip r:embed="rId3"/>
          <a:stretch>
            <a:fillRect/>
          </a:stretch>
        </p:blipFill>
        <p:spPr>
          <a:xfrm>
            <a:off x="6309360" y="3657600"/>
            <a:ext cx="1341120" cy="477926"/>
          </a:xfrm>
          <a:prstGeom prst="rect">
            <a:avLst/>
          </a:prstGeom>
        </p:spPr>
      </p:pic>
      <p:sp>
        <p:nvSpPr>
          <p:cNvPr id="13" name="Text 7"/>
          <p:cNvSpPr txBox="1"/>
          <p:nvPr/>
        </p:nvSpPr>
        <p:spPr>
          <a:xfrm>
            <a:off x="8412480" y="3840480"/>
            <a:ext cx="3108960" cy="41148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same case  →  ∂L/∂z ≈ −1</a:t>
            </a:r>
            <a:endParaRPr lang="en-US" sz="1600" dirty="0"/>
          </a:p>
        </p:txBody>
      </p:sp>
      <p:sp>
        <p:nvSpPr>
          <p:cNvPr id="14" name="Shape 8"/>
          <p:cNvSpPr/>
          <p:nvPr/>
        </p:nvSpPr>
        <p:spPr>
          <a:xfrm>
            <a:off x="6080760" y="5029200"/>
            <a:ext cx="5559552" cy="1051560"/>
          </a:xfrm>
          <a:prstGeom prst="roundRect">
            <a:avLst>
              <a:gd name="adj" fmla="val 6957"/>
            </a:avLst>
          </a:prstGeom>
          <a:solidFill>
            <a:srgbClr val="17202E"/>
          </a:solidFill>
          <a:ln/>
        </p:spPr>
        <p:txBody>
          <a:bodyPr/>
          <a:p/>
        </p:txBody>
      </p:sp>
      <p:sp>
        <p:nvSpPr>
          <p:cNvPr id="15" name="Text 9"/>
          <p:cNvSpPr txBox="1"/>
          <p:nvPr/>
        </p:nvSpPr>
        <p:spPr>
          <a:xfrm>
            <a:off x="6281928" y="5074920"/>
            <a:ext cx="5157216" cy="9601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 cross-entropy for classification: its gradient w.r.t. the logit is largest when the model is confidently wrong.</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3: a common softmax bug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3</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The model ends with a softmax layer, and its output goes to a cross-entropy loss that applies softmax itself. Which change fixes it?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learning rate is too small</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Remove the softmax layer; pass raw logits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needs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The labels should be one-hot</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what this bug does to our running example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Pass raw logits to the loss: softmax twice fails silently</a:t>
            </a:r>
            <a:endParaRPr lang="en-US" sz="3200" dirty="0"/>
          </a:p>
        </p:txBody>
      </p:sp>
      <p:graphicFrame>
        <p:nvGraphicFramePr>
          <p:cNvPr id="5" name="Chart 0" descr="Training loss per epoch. Correct model falls to 0.14; double-softmax bug plateaus at 1.56."/>
          <p:cNvGraphicFramePr/>
          <p:nvPr/>
        </p:nvGraphicFramePr>
        <p:xfrm>
          <a:off x="457200" y="1417320"/>
          <a:ext cx="5623560" cy="3931920"/>
        </p:xfrm>
        <a:graphic xmlns:a="http://schemas.openxmlformats.org/drawingml/2006/main">
          <a:graphicData uri="http://schemas.openxmlformats.org/drawingml/2006/chart">
            <c:chart xmlns:c="http://schemas.openxmlformats.org/drawingml/2006/chart" r:id="rId1"/>
          </a:graphicData>
        </a:graphic>
      </p:graphicFrame>
      <p:sp>
        <p:nvSpPr>
          <p:cNvPr id="7" name="Shape 3"/>
          <p:cNvSpPr/>
          <p:nvPr/>
        </p:nvSpPr>
        <p:spPr>
          <a:xfrm>
            <a:off x="6263640" y="1417320"/>
            <a:ext cx="5376672" cy="2103120"/>
          </a:xfrm>
          <a:prstGeom prst="roundRect">
            <a:avLst>
              <a:gd name="adj" fmla="val 3478"/>
            </a:avLst>
          </a:prstGeom>
          <a:solidFill>
            <a:srgbClr val="F3F5F8"/>
          </a:solidFill>
          <a:ln/>
        </p:spPr>
        <p:txBody>
          <a:bodyPr/>
          <a:p/>
        </p:txBody>
      </p:sp>
      <p:sp>
        <p:nvSpPr>
          <p:cNvPr id="8" name="Text 4"/>
          <p:cNvSpPr txBox="1"/>
          <p:nvPr/>
        </p:nvSpPr>
        <p:spPr>
          <a:xfrm>
            <a:off x="6464808" y="1554480"/>
            <a:ext cx="49377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WITH THE BUG, FOR K CLASSES</a:t>
            </a:r>
            <a:endParaRPr lang="en-US" sz="1300" dirty="0"/>
          </a:p>
        </p:txBody>
      </p:sp>
      <p:pic>
        <p:nvPicPr>
          <p:cNvPr id="9" name="Image 0" descr="LaTeX: \begin{align*} \ln(K - 1 + e) - 1 \;\le\; &amp;L \;\le\; \ln(K - 1 + e)\\ \textcolor{mu}{K = 10:}\quad 1.46 \;\le\; &amp;L \;\le\; 2.46 \end{align*}">    </p:cNvPr>
          <p:cNvPicPr>
            <a:picLocks noChangeAspect="1"/>
          </p:cNvPicPr>
          <p:nvPr/>
        </p:nvPicPr>
        <p:blipFill>
          <a:blip r:embed="rId2"/>
          <a:stretch>
            <a:fillRect/>
          </a:stretch>
        </p:blipFill>
        <p:spPr>
          <a:xfrm>
            <a:off x="6492240" y="1920240"/>
            <a:ext cx="3973830" cy="597408"/>
          </a:xfrm>
          <a:prstGeom prst="rect">
            <a:avLst/>
          </a:prstGeom>
        </p:spPr>
      </p:pic>
      <p:sp>
        <p:nvSpPr>
          <p:cNvPr id="10" name="Text 5"/>
          <p:cNvSpPr txBox="1"/>
          <p:nvPr/>
        </p:nvSpPr>
        <p:spPr>
          <a:xfrm>
            <a:off x="6464808" y="2834640"/>
            <a:ext cx="5029200"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Validation accuracy 82–88% across 3 seeds (vs ≈ 89% without the bug), yet ≈ 99% confident: easy to miss.</a:t>
            </a:r>
            <a:endParaRPr lang="en-US" sz="1600" dirty="0"/>
          </a:p>
        </p:txBody>
      </p:sp>
      <p:sp>
        <p:nvSpPr>
          <p:cNvPr id="11" name="Shape 6"/>
          <p:cNvSpPr/>
          <p:nvPr/>
        </p:nvSpPr>
        <p:spPr>
          <a:xfrm>
            <a:off x="6263640" y="3703320"/>
            <a:ext cx="5376672" cy="1463040"/>
          </a:xfrm>
          <a:prstGeom prst="roundRect">
            <a:avLst>
              <a:gd name="adj" fmla="val 5000"/>
            </a:avLst>
          </a:prstGeom>
          <a:solidFill>
            <a:srgbClr val="F3F5F8"/>
          </a:solidFill>
          <a:ln/>
        </p:spPr>
      </p:sp>
      <p:sp>
        <p:nvSpPr>
          <p:cNvPr id="12" name="Text 7"/>
          <p:cNvSpPr txBox="1"/>
          <p:nvPr/>
        </p:nvSpPr>
        <p:spPr>
          <a:xfrm>
            <a:off x="6464808" y="3822192"/>
            <a:ext cx="493776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INSIDE THE FUSED LOSS: LOG-SUM-EXP</a:t>
            </a:r>
            <a:endParaRPr lang="en-US" sz="1300" dirty="0"/>
          </a:p>
        </p:txBody>
      </p:sp>
      <p:pic>
        <p:nvPicPr>
          <p:cNvPr id="13" name="Image 1" descr="LaTeX: \begin{align*} \log\operatorname{softmax}(\z)_k &amp;= z_k - c - \log\sum_j e^{\,z_j - c},\\ c &amp;= \max_j z_j \end{align*}">    </p:cNvPr>
          <p:cNvPicPr>
            <a:picLocks noChangeAspect="1"/>
          </p:cNvPicPr>
          <p:nvPr/>
        </p:nvPicPr>
        <p:blipFill>
          <a:blip r:embed="rId3"/>
          <a:stretch>
            <a:fillRect/>
          </a:stretch>
        </p:blipFill>
        <p:spPr>
          <a:xfrm>
            <a:off x="6492240" y="4133088"/>
            <a:ext cx="3488969" cy="916534"/>
          </a:xfrm>
          <a:prstGeom prst="rect">
            <a:avLst/>
          </a:prstGeom>
        </p:spPr>
      </p:pic>
      <p:sp>
        <p:nvSpPr>
          <p:cNvPr id="14" name="Shape 8"/>
          <p:cNvSpPr/>
          <p:nvPr/>
        </p:nvSpPr>
        <p:spPr>
          <a:xfrm>
            <a:off x="6263640" y="5303520"/>
            <a:ext cx="5376672" cy="822960"/>
          </a:xfrm>
          <a:prstGeom prst="roundRect">
            <a:avLst>
              <a:gd name="adj" fmla="val 8889"/>
            </a:avLst>
          </a:prstGeom>
          <a:solidFill>
            <a:srgbClr val="E2F1F1"/>
          </a:solidFill>
          <a:ln/>
        </p:spPr>
      </p:sp>
      <p:sp>
        <p:nvSpPr>
          <p:cNvPr id="15" name="Text 9"/>
          <p:cNvSpPr txBox="1"/>
          <p:nvPr/>
        </p:nvSpPr>
        <p:spPr>
          <a:xfrm>
            <a:off x="6464808" y="5349240"/>
            <a:ext cx="4974336" cy="73152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End the model in raw logits; the cross-entropy loss applies log-softmax once.</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so what should each layer end with?</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ACTIVATIONS, REVISITED</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Choose the activation by the layer’s role</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20840" cy="914400"/>
        </p:xfrm>
        <a:graphic>
          <a:graphicData uri="http://schemas.openxmlformats.org/drawingml/2006/table">
            <a:tbl>
              <a:tblPr/>
              <a:tblGrid>
                <a:gridCol w="2240280"/>
                <a:gridCol w="1691640"/>
                <a:gridCol w="278892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Layer role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Hidden layers (MLP, CNN)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Simple, fast; if many units die, lower η or try Leaky ReLU</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Classifier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raw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loss applies sigmoid / softmax stably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None (identity)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A bounded output caps what can be predicted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Positive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Softplus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Smooth and &gt; 0 (or predict log 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6" name="Chart 0" descr="Modern variants: ReLU, Leaky ReLU (α = 0.1), GELU, SiLU"/>
          <p:cNvGraphicFramePr/>
          <p:nvPr/>
        </p:nvGraphicFramePr>
        <p:xfrm>
          <a:off x="7452360" y="1371600"/>
          <a:ext cx="4251960" cy="4023360"/>
        </p:xfrm>
        <a:graphic xmlns:a="http://schemas.openxmlformats.org/drawingml/2006/main">
          <a:graphicData uri="http://schemas.openxmlformats.org/drawingml/2006/chart">
            <c:chart xmlns:c="http://schemas.openxmlformats.org/drawingml/2006/chart" r:id="rId1"/>
          </a:graphicData>
        </a:graphic>
      </p:graphicFrame>
      <p:sp>
        <p:nvSpPr>
          <p:cNvPr id="7" name="Shape 2"/>
          <p:cNvSpPr/>
          <p:nvPr/>
        </p:nvSpPr>
        <p:spPr>
          <a:xfrm>
            <a:off x="548640" y="5532120"/>
            <a:ext cx="11094415" cy="640080"/>
          </a:xfrm>
          <a:prstGeom prst="roundRect">
            <a:avLst>
              <a:gd name="adj" fmla="val 11429"/>
            </a:avLst>
          </a:prstGeom>
          <a:solidFill>
            <a:srgbClr val="FBEADF"/>
          </a:solidFill>
          <a:ln/>
        </p:spPr>
      </p:sp>
      <p:sp>
        <p:nvSpPr>
          <p:cNvPr id="8" name="Text 3"/>
          <p:cNvSpPr txBox="1"/>
          <p:nvPr/>
        </p:nvSpPr>
        <p:spPr>
          <a:xfrm>
            <a:off x="749808" y="5577840"/>
            <a:ext cx="10692079" cy="54864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apply softmax twice: end classifiers in raw logits.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model and loss are set; now step downhill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Gradient descent: the sharpest direction caps η</a:t>
            </a:r>
            <a:endParaRPr lang="en-US" sz="3200" dirty="0"/>
          </a:p>
        </p:txBody>
      </p:sp>
      <p:sp>
        <p:nvSpPr>
          <p:cNvPr id="5" name="Shape 2"/>
          <p:cNvSpPr/>
          <p:nvPr/>
        </p:nvSpPr>
        <p:spPr>
          <a:xfrm>
            <a:off x="548640" y="1417320"/>
            <a:ext cx="3200400" cy="1508760"/>
          </a:xfrm>
          <a:prstGeom prst="roundRect">
            <a:avLst>
              <a:gd name="adj" fmla="val 4848"/>
            </a:avLst>
          </a:prstGeom>
          <a:solidFill>
            <a:srgbClr val="E2F1F1"/>
          </a:solidFill>
          <a:ln/>
        </p:spPr>
        <p:txBody>
          <a:bodyPr/>
          <a:p/>
        </p:txBody>
      </p:sp>
      <p:sp>
        <p:nvSpPr>
          <p:cNvPr id="6" name="Text 3"/>
          <p:cNvSpPr txBox="1"/>
          <p:nvPr/>
        </p:nvSpPr>
        <p:spPr>
          <a:xfrm>
            <a:off x="749808" y="1554480"/>
            <a:ext cx="28346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UPDATE RULE</a:t>
            </a:r>
            <a:endParaRPr lang="en-US" sz="1300" dirty="0"/>
          </a:p>
        </p:txBody>
      </p:sp>
      <p:pic>
        <p:nvPicPr>
          <p:cNvPr id="7" name="Image 0" descr="LaTeX: $\displaystyle \bm\theta \;\leftarrow\; \bm\theta - \eta\,\nabla_{\bm\theta} J$">    </p:cNvPr>
          <p:cNvPicPr>
            <a:picLocks noChangeAspect="1"/>
          </p:cNvPicPr>
          <p:nvPr/>
        </p:nvPicPr>
        <p:blipFill>
          <a:blip r:embed="rId1"/>
          <a:stretch>
            <a:fillRect/>
          </a:stretch>
        </p:blipFill>
        <p:spPr>
          <a:xfrm>
            <a:off x="822960" y="2011680"/>
            <a:ext cx="2075383" cy="331927"/>
          </a:xfrm>
          <a:prstGeom prst="rect">
            <a:avLst/>
          </a:prstGeom>
        </p:spPr>
      </p:pic>
      <p:sp>
        <p:nvSpPr>
          <p:cNvPr id="8" name="Shape 4"/>
          <p:cNvSpPr/>
          <p:nvPr/>
        </p:nvSpPr>
        <p:spPr>
          <a:xfrm>
            <a:off x="3931920" y="1417320"/>
            <a:ext cx="3657600" cy="1508760"/>
          </a:xfrm>
          <a:prstGeom prst="roundRect">
            <a:avLst>
              <a:gd name="adj" fmla="val 4848"/>
            </a:avLst>
          </a:prstGeom>
          <a:solidFill>
            <a:srgbClr val="F3F5F8"/>
          </a:solidFill>
          <a:ln/>
        </p:spPr>
        <p:txBody>
          <a:bodyPr/>
          <a:p/>
        </p:txBody>
      </p:sp>
      <p:sp>
        <p:nvSpPr>
          <p:cNvPr id="9" name="Text 5"/>
          <p:cNvSpPr txBox="1"/>
          <p:nvPr/>
        </p:nvSpPr>
        <p:spPr>
          <a:xfrm>
            <a:off x="4133088" y="1554480"/>
            <a:ext cx="32918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FIRST-ORDER TAYLOR</a:t>
            </a:r>
            <a:endParaRPr lang="en-US" sz="1300" dirty="0"/>
          </a:p>
        </p:txBody>
      </p:sp>
      <p:pic>
        <p:nvPicPr>
          <p:cNvPr id="10" name="Image 1" descr="LaTeX: $\displaystyle J(\bm\theta + \Delta\bm\theta) \approx J(\bm\theta) + \nabla J\T\Delta\bm\theta$">    </p:cNvPr>
          <p:cNvPicPr>
            <a:picLocks noChangeAspect="1"/>
          </p:cNvPicPr>
          <p:nvPr/>
        </p:nvPicPr>
        <p:blipFill>
          <a:blip r:embed="rId2"/>
          <a:stretch>
            <a:fillRect/>
          </a:stretch>
        </p:blipFill>
        <p:spPr>
          <a:xfrm>
            <a:off x="4133088" y="2057400"/>
            <a:ext cx="2883027" cy="320040"/>
          </a:xfrm>
          <a:prstGeom prst="rect">
            <a:avLst/>
          </a:prstGeom>
        </p:spPr>
      </p:pic>
      <p:sp>
        <p:nvSpPr>
          <p:cNvPr id="11" name="Shape 6"/>
          <p:cNvSpPr/>
          <p:nvPr/>
        </p:nvSpPr>
        <p:spPr>
          <a:xfrm>
            <a:off x="7772400" y="1417320"/>
            <a:ext cx="3867912" cy="1508760"/>
          </a:xfrm>
          <a:prstGeom prst="roundRect">
            <a:avLst>
              <a:gd name="adj" fmla="val 4848"/>
            </a:avLst>
          </a:prstGeom>
          <a:solidFill>
            <a:srgbClr val="FBEADF"/>
          </a:solidFill>
          <a:ln/>
        </p:spPr>
        <p:txBody>
          <a:bodyPr/>
          <a:p/>
        </p:txBody>
      </p:sp>
      <p:sp>
        <p:nvSpPr>
          <p:cNvPr id="12" name="Text 7"/>
          <p:cNvSpPr txBox="1"/>
          <p:nvPr/>
        </p:nvSpPr>
        <p:spPr>
          <a:xfrm>
            <a:off x="7973568" y="1554480"/>
            <a:ext cx="34747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STABILITY ON A BOWL</a:t>
            </a:r>
            <a:endParaRPr lang="en-US" sz="1300" dirty="0"/>
          </a:p>
        </p:txBody>
      </p:sp>
      <p:pic>
        <p:nvPicPr>
          <p:cNvPr id="13" name="Image 2" descr="LaTeX: \begin{align*} J = \tfrac12\lambda\theta^2 \;&amp;\Rightarrow\; \theta \leftarrow (1-\eta\lambda)\,\theta\\ \text{converges} \;&amp;\Leftrightarrow\; \eta &lt; 2/\lambda_{\max} \end{align*}">    </p:cNvPr>
          <p:cNvPicPr>
            <a:picLocks noChangeAspect="1"/>
          </p:cNvPicPr>
          <p:nvPr/>
        </p:nvPicPr>
        <p:blipFill>
          <a:blip r:embed="rId3"/>
          <a:stretch>
            <a:fillRect/>
          </a:stretch>
        </p:blipFill>
        <p:spPr>
          <a:xfrm>
            <a:off x="7973568" y="1874520"/>
            <a:ext cx="2594458" cy="592531"/>
          </a:xfrm>
          <a:prstGeom prst="rect">
            <a:avLst/>
          </a:prstGeom>
        </p:spPr>
      </p:pic>
      <p:pic>
        <p:nvPicPr>
          <p:cNvPr id="14" name="Image 3" descr="Gradient descent on an elongated quadratic with learning rates 0.02 (slow), 0.15 (good) and 0.21 (diverges).">    </p:cNvPr>
          <p:cNvPicPr>
            <a:picLocks noChangeAspect="1"/>
          </p:cNvPicPr>
          <p:nvPr/>
        </p:nvPicPr>
        <p:blipFill>
          <a:blip r:embed="rId4"/>
          <a:stretch>
            <a:fillRect/>
          </a:stretch>
        </p:blipFill>
        <p:spPr>
          <a:xfrm>
            <a:off x="1069161" y="3063240"/>
            <a:ext cx="10053374" cy="2697479"/>
          </a:xfrm>
          <a:prstGeom prst="rect">
            <a:avLst/>
          </a:prstGeom>
        </p:spPr>
      </p:pic>
      <p:sp>
        <p:nvSpPr>
          <p:cNvPr id="15" name="Text 8"/>
          <p:cNvSpPr txBox="1"/>
          <p:nvPr/>
        </p:nvSpPr>
        <p:spPr>
          <a:xfrm>
            <a:off x="548640" y="5806440"/>
            <a:ext cx="11094415" cy="36576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Computed on J = ½(θ₁² + 10θ₂²): the largest curvature is 10, so η must stay below 0.2.</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but a network’s loss is not one bowl</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Backpropagation: every gradient for ≈ 3× a forward pass</a:t>
            </a:r>
            <a:endParaRPr lang="en-US" sz="3200" dirty="0"/>
          </a:p>
        </p:txBody>
      </p:sp>
      <p:sp>
        <p:nvSpPr>
          <p:cNvPr id="5" name="Shape 2"/>
          <p:cNvSpPr/>
          <p:nvPr/>
        </p:nvSpPr>
        <p:spPr>
          <a:xfrm>
            <a:off x="548640" y="1417320"/>
            <a:ext cx="3474720" cy="2331720"/>
          </a:xfrm>
          <a:prstGeom prst="roundRect">
            <a:avLst>
              <a:gd name="adj" fmla="val 3137"/>
            </a:avLst>
          </a:prstGeom>
          <a:solidFill>
            <a:srgbClr val="FBEADF"/>
          </a:solidFill>
          <a:ln/>
        </p:spPr>
        <p:txBody>
          <a:bodyPr/>
          <a:p/>
        </p:txBody>
      </p:sp>
      <p:sp>
        <p:nvSpPr>
          <p:cNvPr id="6" name="Text 3"/>
          <p:cNvSpPr txBox="1"/>
          <p:nvPr/>
        </p:nvSpPr>
        <p:spPr>
          <a:xfrm>
            <a:off x="749808" y="1572768"/>
            <a:ext cx="301752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FINITE DIFFERENCES</a:t>
            </a:r>
            <a:endParaRPr lang="en-US" sz="1300" dirty="0"/>
          </a:p>
        </p:txBody>
      </p:sp>
      <p:sp>
        <p:nvSpPr>
          <p:cNvPr id="7" name="Text 4"/>
          <p:cNvSpPr txBox="1"/>
          <p:nvPr/>
        </p:nvSpPr>
        <p:spPr>
          <a:xfrm>
            <a:off x="749808" y="1874520"/>
            <a:ext cx="3017520" cy="822960"/>
          </a:xfrm>
          <a:prstGeom prst="rect">
            <a:avLst/>
          </a:prstGeom>
          <a:noFill/>
          <a:ln/>
        </p:spPr>
        <p:txBody>
          <a:bodyPr wrap="square" lIns="0" tIns="0" rIns="0" bIns="0" rtlCol="0" anchor="t"/>
          <a:lstStyle/>
          <a:p>
            <a:pPr indent="0" marL="0">
              <a:buNone/>
            </a:pPr>
            <a:r>
              <a:rPr lang="en-US" sz="4800" b="1" dirty="0">
                <a:solidFill>
                  <a:srgbClr val="C8571B"/>
                </a:solidFill>
                <a:latin typeface="Cambria" pitchFamily="34" charset="0"/>
                <a:ea typeface="Cambria" pitchFamily="34" charset="-122"/>
                <a:cs typeface="Cambria" pitchFamily="34" charset="-120"/>
              </a:rPr>
              <a:t>10⁸</a:t>
            </a:r>
            <a:endParaRPr lang="en-US" sz="4800" dirty="0"/>
          </a:p>
        </p:txBody>
      </p:sp>
      <p:sp>
        <p:nvSpPr>
          <p:cNvPr id="8" name="Text 5"/>
          <p:cNvSpPr txBox="1"/>
          <p:nvPr/>
        </p:nvSpPr>
        <p:spPr>
          <a:xfrm>
            <a:off x="7498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passes per step for 10⁸ parameters</a:t>
            </a:r>
            <a:endParaRPr lang="en-US" sz="1700" dirty="0"/>
          </a:p>
        </p:txBody>
      </p:sp>
      <p:sp>
        <p:nvSpPr>
          <p:cNvPr id="9" name="Shape 6"/>
          <p:cNvSpPr/>
          <p:nvPr/>
        </p:nvSpPr>
        <p:spPr>
          <a:xfrm>
            <a:off x="4206240" y="1417320"/>
            <a:ext cx="3474720" cy="2331720"/>
          </a:xfrm>
          <a:prstGeom prst="roundRect">
            <a:avLst>
              <a:gd name="adj" fmla="val 3137"/>
            </a:avLst>
          </a:prstGeom>
          <a:solidFill>
            <a:srgbClr val="E2F1F1"/>
          </a:solidFill>
          <a:ln/>
        </p:spPr>
        <p:txBody>
          <a:bodyPr/>
          <a:p/>
        </p:txBody>
      </p:sp>
      <p:sp>
        <p:nvSpPr>
          <p:cNvPr id="10" name="Text 7"/>
          <p:cNvSpPr txBox="1"/>
          <p:nvPr/>
        </p:nvSpPr>
        <p:spPr>
          <a:xfrm>
            <a:off x="4407408" y="1572768"/>
            <a:ext cx="3017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BACKPROPAGATION</a:t>
            </a:r>
            <a:endParaRPr lang="en-US" sz="1300" dirty="0"/>
          </a:p>
        </p:txBody>
      </p:sp>
      <p:sp>
        <p:nvSpPr>
          <p:cNvPr id="11" name="Text 8"/>
          <p:cNvSpPr txBox="1"/>
          <p:nvPr/>
        </p:nvSpPr>
        <p:spPr>
          <a:xfrm>
            <a:off x="4407408" y="1874520"/>
            <a:ext cx="3017520" cy="822960"/>
          </a:xfrm>
          <a:prstGeom prst="rect">
            <a:avLst/>
          </a:prstGeom>
          <a:noFill/>
          <a:ln/>
        </p:spPr>
        <p:txBody>
          <a:bodyPr wrap="square" lIns="0" tIns="0" rIns="0" bIns="0" rtlCol="0" anchor="t"/>
          <a:lstStyle/>
          <a:p>
            <a:pPr indent="0" marL="0">
              <a:buNone/>
            </a:pPr>
            <a:r>
              <a:rPr lang="en-US" sz="4800" b="1" dirty="0">
                <a:solidFill>
                  <a:srgbClr val="0F7C82"/>
                </a:solidFill>
                <a:latin typeface="Cambria" pitchFamily="34" charset="0"/>
                <a:ea typeface="Cambria" pitchFamily="34" charset="-122"/>
                <a:cs typeface="Cambria" pitchFamily="34" charset="-120"/>
              </a:rPr>
              <a:t>≈ 3×</a:t>
            </a:r>
            <a:endParaRPr lang="en-US" sz="4800" dirty="0"/>
          </a:p>
        </p:txBody>
      </p:sp>
      <p:sp>
        <p:nvSpPr>
          <p:cNvPr id="12" name="Text 9"/>
          <p:cNvSpPr txBox="1"/>
          <p:nvPr/>
        </p:nvSpPr>
        <p:spPr>
          <a:xfrm>
            <a:off x="4407408" y="2788920"/>
            <a:ext cx="3108960" cy="86868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forward + backward together cost about three forward passes, for every gradient at once</a:t>
            </a:r>
            <a:endParaRPr lang="en-US" sz="1700" dirty="0"/>
          </a:p>
        </p:txBody>
      </p:sp>
      <p:sp>
        <p:nvSpPr>
          <p:cNvPr id="13" name="Shape 10"/>
          <p:cNvSpPr/>
          <p:nvPr/>
        </p:nvSpPr>
        <p:spPr>
          <a:xfrm>
            <a:off x="731520" y="4206240"/>
            <a:ext cx="658368" cy="658368"/>
          </a:xfrm>
          <a:prstGeom prst="ellipse">
            <a:avLst/>
          </a:prstGeom>
          <a:solidFill>
            <a:srgbClr val="FFFFFF"/>
          </a:solidFill>
          <a:ln w="15875">
            <a:solidFill>
              <a:srgbClr val="8A94A3"/>
            </a:solidFill>
            <a:prstDash val="solid"/>
          </a:ln>
        </p:spPr>
      </p:sp>
      <p:sp>
        <p:nvSpPr>
          <p:cNvPr id="14" name="Text 11"/>
          <p:cNvSpPr txBox="1"/>
          <p:nvPr/>
        </p:nvSpPr>
        <p:spPr>
          <a:xfrm>
            <a:off x="7315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x</a:t>
            </a:r>
            <a:endParaRPr lang="en-US" sz="2200" dirty="0"/>
          </a:p>
        </p:txBody>
      </p:sp>
      <p:sp>
        <p:nvSpPr>
          <p:cNvPr id="15" name="Shape 12"/>
          <p:cNvSpPr/>
          <p:nvPr/>
        </p:nvSpPr>
        <p:spPr>
          <a:xfrm>
            <a:off x="1408176" y="4407408"/>
            <a:ext cx="905256" cy="91"/>
          </a:xfrm>
          <a:prstGeom prst="line">
            <a:avLst/>
          </a:prstGeom>
          <a:noFill/>
          <a:ln w="22225">
            <a:solidFill>
              <a:srgbClr val="0F7C82"/>
            </a:solidFill>
            <a:prstDash val="solid"/>
            <a:tailEnd type="triangle"/>
          </a:ln>
        </p:spPr>
      </p:sp>
      <p:sp>
        <p:nvSpPr>
          <p:cNvPr id="16" name="Shape 13"/>
          <p:cNvSpPr/>
          <p:nvPr/>
        </p:nvSpPr>
        <p:spPr>
          <a:xfrm flipH="1">
            <a:off x="1408176" y="4681728"/>
            <a:ext cx="905256" cy="91"/>
          </a:xfrm>
          <a:prstGeom prst="line">
            <a:avLst/>
          </a:prstGeom>
          <a:noFill/>
          <a:ln w="22225">
            <a:solidFill>
              <a:srgbClr val="C8571B"/>
            </a:solidFill>
            <a:prstDash val="solid"/>
            <a:tailEnd type="triangle"/>
          </a:ln>
        </p:spPr>
      </p:sp>
      <p:sp>
        <p:nvSpPr>
          <p:cNvPr id="17" name="Shape 14"/>
          <p:cNvSpPr/>
          <p:nvPr/>
        </p:nvSpPr>
        <p:spPr>
          <a:xfrm>
            <a:off x="2331720" y="4206240"/>
            <a:ext cx="658368" cy="658368"/>
          </a:xfrm>
          <a:prstGeom prst="ellipse">
            <a:avLst/>
          </a:prstGeom>
          <a:solidFill>
            <a:srgbClr val="FFFFFF"/>
          </a:solidFill>
          <a:ln w="15875">
            <a:solidFill>
              <a:srgbClr val="8A94A3"/>
            </a:solidFill>
            <a:prstDash val="solid"/>
          </a:ln>
        </p:spPr>
      </p:sp>
      <p:sp>
        <p:nvSpPr>
          <p:cNvPr id="18" name="Text 15"/>
          <p:cNvSpPr txBox="1"/>
          <p:nvPr/>
        </p:nvSpPr>
        <p:spPr>
          <a:xfrm>
            <a:off x="23317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a</a:t>
            </a:r>
            <a:endParaRPr lang="en-US" sz="2200" dirty="0"/>
          </a:p>
        </p:txBody>
      </p:sp>
      <p:sp>
        <p:nvSpPr>
          <p:cNvPr id="19" name="Shape 16"/>
          <p:cNvSpPr/>
          <p:nvPr/>
        </p:nvSpPr>
        <p:spPr>
          <a:xfrm>
            <a:off x="3008376" y="4407408"/>
            <a:ext cx="905256" cy="91"/>
          </a:xfrm>
          <a:prstGeom prst="line">
            <a:avLst/>
          </a:prstGeom>
          <a:noFill/>
          <a:ln w="22225">
            <a:solidFill>
              <a:srgbClr val="0F7C82"/>
            </a:solidFill>
            <a:prstDash val="solid"/>
            <a:tailEnd type="triangle"/>
          </a:ln>
        </p:spPr>
      </p:sp>
      <p:sp>
        <p:nvSpPr>
          <p:cNvPr id="20" name="Shape 17"/>
          <p:cNvSpPr/>
          <p:nvPr/>
        </p:nvSpPr>
        <p:spPr>
          <a:xfrm flipH="1">
            <a:off x="3008376" y="4681728"/>
            <a:ext cx="905256" cy="91"/>
          </a:xfrm>
          <a:prstGeom prst="line">
            <a:avLst/>
          </a:prstGeom>
          <a:noFill/>
          <a:ln w="22225">
            <a:solidFill>
              <a:srgbClr val="C8571B"/>
            </a:solidFill>
            <a:prstDash val="solid"/>
            <a:tailEnd type="triangle"/>
          </a:ln>
        </p:spPr>
      </p:sp>
      <p:sp>
        <p:nvSpPr>
          <p:cNvPr id="21" name="Shape 18"/>
          <p:cNvSpPr/>
          <p:nvPr/>
        </p:nvSpPr>
        <p:spPr>
          <a:xfrm>
            <a:off x="3931920" y="4206240"/>
            <a:ext cx="658368" cy="658368"/>
          </a:xfrm>
          <a:prstGeom prst="ellipse">
            <a:avLst/>
          </a:prstGeom>
          <a:solidFill>
            <a:srgbClr val="FFFFFF"/>
          </a:solidFill>
          <a:ln w="15875">
            <a:solidFill>
              <a:srgbClr val="8A94A3"/>
            </a:solidFill>
            <a:prstDash val="solid"/>
          </a:ln>
        </p:spPr>
      </p:sp>
      <p:sp>
        <p:nvSpPr>
          <p:cNvPr id="22" name="Text 19"/>
          <p:cNvSpPr txBox="1"/>
          <p:nvPr/>
        </p:nvSpPr>
        <p:spPr>
          <a:xfrm>
            <a:off x="39319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b</a:t>
            </a:r>
            <a:endParaRPr lang="en-US" sz="2200" dirty="0"/>
          </a:p>
        </p:txBody>
      </p:sp>
      <p:sp>
        <p:nvSpPr>
          <p:cNvPr id="23" name="Shape 20"/>
          <p:cNvSpPr/>
          <p:nvPr/>
        </p:nvSpPr>
        <p:spPr>
          <a:xfrm>
            <a:off x="4608576" y="4407408"/>
            <a:ext cx="905256" cy="91"/>
          </a:xfrm>
          <a:prstGeom prst="line">
            <a:avLst/>
          </a:prstGeom>
          <a:noFill/>
          <a:ln w="22225">
            <a:solidFill>
              <a:srgbClr val="0F7C82"/>
            </a:solidFill>
            <a:prstDash val="solid"/>
            <a:tailEnd type="triangle"/>
          </a:ln>
        </p:spPr>
      </p:sp>
      <p:sp>
        <p:nvSpPr>
          <p:cNvPr id="24" name="Shape 21"/>
          <p:cNvSpPr/>
          <p:nvPr/>
        </p:nvSpPr>
        <p:spPr>
          <a:xfrm flipH="1">
            <a:off x="4608576" y="4681728"/>
            <a:ext cx="905256" cy="91"/>
          </a:xfrm>
          <a:prstGeom prst="line">
            <a:avLst/>
          </a:prstGeom>
          <a:noFill/>
          <a:ln w="22225">
            <a:solidFill>
              <a:srgbClr val="C8571B"/>
            </a:solidFill>
            <a:prstDash val="solid"/>
            <a:tailEnd type="triangle"/>
          </a:ln>
        </p:spPr>
      </p:sp>
      <p:sp>
        <p:nvSpPr>
          <p:cNvPr id="25" name="Shape 22"/>
          <p:cNvSpPr/>
          <p:nvPr/>
        </p:nvSpPr>
        <p:spPr>
          <a:xfrm>
            <a:off x="5532120" y="4206240"/>
            <a:ext cx="658368" cy="658368"/>
          </a:xfrm>
          <a:prstGeom prst="ellipse">
            <a:avLst/>
          </a:prstGeom>
          <a:solidFill>
            <a:srgbClr val="FFFFFF"/>
          </a:solidFill>
          <a:ln w="15875">
            <a:solidFill>
              <a:srgbClr val="8A94A3"/>
            </a:solidFill>
            <a:prstDash val="solid"/>
          </a:ln>
        </p:spPr>
      </p:sp>
      <p:sp>
        <p:nvSpPr>
          <p:cNvPr id="26" name="Text 23"/>
          <p:cNvSpPr txBox="1"/>
          <p:nvPr/>
        </p:nvSpPr>
        <p:spPr>
          <a:xfrm>
            <a:off x="5532120" y="4206240"/>
            <a:ext cx="658368" cy="658368"/>
          </a:xfrm>
          <a:prstGeom prst="rect">
            <a:avLst/>
          </a:prstGeom>
          <a:noFill/>
          <a:ln/>
        </p:spPr>
        <p:txBody>
          <a:bodyPr wrap="square" lIns="0" tIns="0" rIns="0" bIns="0" rtlCol="0" anchor="ctr"/>
          <a:lstStyle/>
          <a:p>
            <a:pPr algn="ctr" indent="0" marL="0">
              <a:buNone/>
            </a:pPr>
            <a:r>
              <a:rPr lang="en-US" sz="2200" i="1" dirty="0">
                <a:solidFill>
                  <a:srgbClr val="17202E"/>
                </a:solidFill>
                <a:latin typeface="Cambria" pitchFamily="34" charset="0"/>
                <a:ea typeface="Cambria" pitchFamily="34" charset="-122"/>
                <a:cs typeface="Cambria" pitchFamily="34" charset="-120"/>
              </a:rPr>
              <a:t>c</a:t>
            </a:r>
            <a:endParaRPr lang="en-US" sz="2200" dirty="0"/>
          </a:p>
        </p:txBody>
      </p:sp>
      <p:sp>
        <p:nvSpPr>
          <p:cNvPr id="27" name="Shape 24"/>
          <p:cNvSpPr/>
          <p:nvPr/>
        </p:nvSpPr>
        <p:spPr>
          <a:xfrm>
            <a:off x="6208776" y="4407408"/>
            <a:ext cx="905256" cy="91"/>
          </a:xfrm>
          <a:prstGeom prst="line">
            <a:avLst/>
          </a:prstGeom>
          <a:noFill/>
          <a:ln w="22225">
            <a:solidFill>
              <a:srgbClr val="0F7C82"/>
            </a:solidFill>
            <a:prstDash val="solid"/>
            <a:tailEnd type="triangle"/>
          </a:ln>
        </p:spPr>
      </p:sp>
      <p:sp>
        <p:nvSpPr>
          <p:cNvPr id="28" name="Shape 25"/>
          <p:cNvSpPr/>
          <p:nvPr/>
        </p:nvSpPr>
        <p:spPr>
          <a:xfrm flipH="1">
            <a:off x="6208776" y="4681728"/>
            <a:ext cx="905256" cy="91"/>
          </a:xfrm>
          <a:prstGeom prst="line">
            <a:avLst/>
          </a:prstGeom>
          <a:noFill/>
          <a:ln w="22225">
            <a:solidFill>
              <a:srgbClr val="C8571B"/>
            </a:solidFill>
            <a:prstDash val="solid"/>
            <a:tailEnd type="triangle"/>
          </a:ln>
        </p:spPr>
      </p:sp>
      <p:sp>
        <p:nvSpPr>
          <p:cNvPr id="29" name="Shape 26"/>
          <p:cNvSpPr/>
          <p:nvPr/>
        </p:nvSpPr>
        <p:spPr>
          <a:xfrm>
            <a:off x="7132320" y="4206240"/>
            <a:ext cx="658368" cy="658368"/>
          </a:xfrm>
          <a:prstGeom prst="ellipse">
            <a:avLst/>
          </a:prstGeom>
          <a:solidFill>
            <a:srgbClr val="17202E"/>
          </a:solidFill>
          <a:ln/>
        </p:spPr>
      </p:sp>
      <p:sp>
        <p:nvSpPr>
          <p:cNvPr id="30" name="Text 27"/>
          <p:cNvSpPr txBox="1"/>
          <p:nvPr/>
        </p:nvSpPr>
        <p:spPr>
          <a:xfrm>
            <a:off x="7132320" y="4206240"/>
            <a:ext cx="658368" cy="658368"/>
          </a:xfrm>
          <a:prstGeom prst="rect">
            <a:avLst/>
          </a:prstGeom>
          <a:noFill/>
          <a:ln/>
        </p:spPr>
        <p:txBody>
          <a:bodyPr wrap="square" lIns="0" tIns="0" rIns="0" bIns="0" rtlCol="0" anchor="ctr"/>
          <a:lstStyle/>
          <a:p>
            <a:pPr algn="ctr" indent="0" marL="0">
              <a:buNone/>
            </a:pPr>
            <a:r>
              <a:rPr lang="en-US" sz="2200" i="1" dirty="0">
                <a:solidFill>
                  <a:srgbClr val="FFFFFF"/>
                </a:solidFill>
                <a:latin typeface="Cambria" pitchFamily="34" charset="0"/>
                <a:ea typeface="Cambria" pitchFamily="34" charset="-122"/>
                <a:cs typeface="Cambria" pitchFamily="34" charset="-120"/>
              </a:rPr>
              <a:t>J</a:t>
            </a:r>
            <a:endParaRPr lang="en-US" sz="2200" dirty="0"/>
          </a:p>
        </p:txBody>
      </p:sp>
      <p:sp>
        <p:nvSpPr>
          <p:cNvPr id="31" name="Text 28"/>
          <p:cNvSpPr txBox="1"/>
          <p:nvPr/>
        </p:nvSpPr>
        <p:spPr>
          <a:xfrm>
            <a:off x="731520" y="3794760"/>
            <a:ext cx="2743200" cy="320040"/>
          </a:xfrm>
          <a:prstGeom prst="rect">
            <a:avLst/>
          </a:prstGeom>
          <a:noFill/>
          <a:ln/>
        </p:spPr>
        <p:txBody>
          <a:bodyPr wrap="square" lIns="0" tIns="0" rIns="0" bIns="0" rtlCol="0" anchor="t"/>
          <a:lstStyle/>
          <a:p>
            <a:pPr indent="0" marL="0">
              <a:buNone/>
            </a:pPr>
            <a:r>
              <a:rPr lang="en-US" sz="1500" b="1" dirty="0">
                <a:solidFill>
                  <a:srgbClr val="0F7C82"/>
                </a:solidFill>
                <a:latin typeface="Calibri" pitchFamily="34" charset="0"/>
                <a:ea typeface="Calibri" pitchFamily="34" charset="-122"/>
                <a:cs typeface="Calibri" pitchFamily="34" charset="-120"/>
              </a:rPr>
              <a:t>forward: values</a:t>
            </a:r>
            <a:endParaRPr lang="en-US" sz="1500" dirty="0"/>
          </a:p>
        </p:txBody>
      </p:sp>
      <p:sp>
        <p:nvSpPr>
          <p:cNvPr id="32" name="Text 29"/>
          <p:cNvSpPr txBox="1"/>
          <p:nvPr/>
        </p:nvSpPr>
        <p:spPr>
          <a:xfrm>
            <a:off x="731520" y="4983480"/>
            <a:ext cx="6583680" cy="320040"/>
          </a:xfrm>
          <a:prstGeom prst="rect">
            <a:avLst/>
          </a:prstGeom>
          <a:noFill/>
          <a:ln/>
        </p:spPr>
        <p:txBody>
          <a:bodyPr wrap="square" lIns="0" tIns="0" rIns="0" bIns="0" rtlCol="0" anchor="t"/>
          <a:lstStyle/>
          <a:p>
            <a:pPr indent="0" marL="0">
              <a:buNone/>
            </a:pPr>
            <a:r>
              <a:rPr lang="en-US" sz="1500" b="1" dirty="0">
                <a:solidFill>
                  <a:srgbClr val="C8571B"/>
                </a:solidFill>
                <a:latin typeface="Calibri" pitchFamily="34" charset="0"/>
                <a:ea typeface="Calibri" pitchFamily="34" charset="-122"/>
                <a:cs typeface="Calibri" pitchFamily="34" charset="-120"/>
              </a:rPr>
              <a:t>backward: reuse the product to the right</a:t>
            </a:r>
            <a:endParaRPr lang="en-US" sz="1500" dirty="0"/>
          </a:p>
        </p:txBody>
      </p:sp>
      <p:pic>
        <p:nvPicPr>
          <p:cNvPr id="33" name="Image 0" descr="LaTeX: $\displaystyle \frac{\partial J}{\partial x} = \frac{\partial J}{\partial c}\,\frac{\partial c}{\partial b}\,\frac{\partial b}{\partial a}\,\frac{\partial a}{\partial x}$">    </p:cNvPr>
          <p:cNvPicPr>
            <a:picLocks noChangeAspect="1"/>
          </p:cNvPicPr>
          <p:nvPr/>
        </p:nvPicPr>
        <p:blipFill>
          <a:blip r:embed="rId1"/>
          <a:stretch>
            <a:fillRect/>
          </a:stretch>
        </p:blipFill>
        <p:spPr>
          <a:xfrm>
            <a:off x="2103120" y="5349240"/>
            <a:ext cx="1458163" cy="388315"/>
          </a:xfrm>
          <a:prstGeom prst="rect">
            <a:avLst/>
          </a:prstGeom>
        </p:spPr>
      </p:pic>
      <p:sp>
        <p:nvSpPr>
          <p:cNvPr id="34" name="Shape 30"/>
          <p:cNvSpPr/>
          <p:nvPr/>
        </p:nvSpPr>
        <p:spPr>
          <a:xfrm>
            <a:off x="7909560" y="1463040"/>
            <a:ext cx="402336" cy="402336"/>
          </a:xfrm>
          <a:prstGeom prst="ellipse">
            <a:avLst/>
          </a:prstGeom>
          <a:solidFill>
            <a:srgbClr val="0F7C82"/>
          </a:solidFill>
          <a:ln/>
        </p:spPr>
      </p:sp>
      <p:sp>
        <p:nvSpPr>
          <p:cNvPr id="35" name="Text 31"/>
          <p:cNvSpPr txBox="1"/>
          <p:nvPr/>
        </p:nvSpPr>
        <p:spPr>
          <a:xfrm>
            <a:off x="790956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6" name="Text 32"/>
          <p:cNvSpPr txBox="1"/>
          <p:nvPr/>
        </p:nvSpPr>
        <p:spPr>
          <a:xfrm>
            <a:off x="8513064" y="144475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It is the chain rule</a:t>
            </a:r>
            <a:endParaRPr lang="en-US" sz="1800" dirty="0"/>
          </a:p>
        </p:txBody>
      </p:sp>
      <p:sp>
        <p:nvSpPr>
          <p:cNvPr id="37" name="Text 33"/>
          <p:cNvSpPr txBox="1"/>
          <p:nvPr/>
        </p:nvSpPr>
        <p:spPr>
          <a:xfrm>
            <a:off x="8513064" y="181051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 value used in two places gets the sum of both gradients.</a:t>
            </a:r>
            <a:endParaRPr lang="en-US" sz="1600" dirty="0"/>
          </a:p>
        </p:txBody>
      </p:sp>
      <p:sp>
        <p:nvSpPr>
          <p:cNvPr id="38" name="Shape 34"/>
          <p:cNvSpPr/>
          <p:nvPr/>
        </p:nvSpPr>
        <p:spPr>
          <a:xfrm>
            <a:off x="7909560" y="2926080"/>
            <a:ext cx="402336" cy="402336"/>
          </a:xfrm>
          <a:prstGeom prst="ellipse">
            <a:avLst/>
          </a:prstGeom>
          <a:solidFill>
            <a:srgbClr val="0F7C82"/>
          </a:solidFill>
          <a:ln/>
        </p:spPr>
      </p:sp>
      <p:sp>
        <p:nvSpPr>
          <p:cNvPr id="39" name="Text 35"/>
          <p:cNvSpPr txBox="1"/>
          <p:nvPr/>
        </p:nvSpPr>
        <p:spPr>
          <a:xfrm>
            <a:off x="7909560" y="2926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0" name="Text 36"/>
          <p:cNvSpPr txBox="1"/>
          <p:nvPr/>
        </p:nvSpPr>
        <p:spPr>
          <a:xfrm>
            <a:off x="8513064" y="290779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Reverse mode reuses work</a:t>
            </a:r>
            <a:endParaRPr lang="en-US" sz="1800" dirty="0"/>
          </a:p>
        </p:txBody>
      </p:sp>
      <p:sp>
        <p:nvSpPr>
          <p:cNvPr id="41" name="Text 37"/>
          <p:cNvSpPr txBox="1"/>
          <p:nvPr/>
        </p:nvSpPr>
        <p:spPr>
          <a:xfrm>
            <a:off x="8513064" y="327355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backward sweep: ideal for one loss, many parameters.</a:t>
            </a:r>
            <a:endParaRPr lang="en-US" sz="1600" dirty="0"/>
          </a:p>
        </p:txBody>
      </p:sp>
      <p:sp>
        <p:nvSpPr>
          <p:cNvPr id="42" name="Shape 38"/>
          <p:cNvSpPr/>
          <p:nvPr/>
        </p:nvSpPr>
        <p:spPr>
          <a:xfrm>
            <a:off x="7909560" y="4389120"/>
            <a:ext cx="402336" cy="402336"/>
          </a:xfrm>
          <a:prstGeom prst="ellipse">
            <a:avLst/>
          </a:prstGeom>
          <a:solidFill>
            <a:srgbClr val="C8571B"/>
          </a:solidFill>
          <a:ln/>
        </p:spPr>
      </p:sp>
      <p:sp>
        <p:nvSpPr>
          <p:cNvPr id="43" name="Text 39"/>
          <p:cNvSpPr txBox="1"/>
          <p:nvPr/>
        </p:nvSpPr>
        <p:spPr>
          <a:xfrm>
            <a:off x="7909560" y="43891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Text 40"/>
          <p:cNvSpPr txBox="1"/>
          <p:nvPr/>
        </p:nvSpPr>
        <p:spPr>
          <a:xfrm>
            <a:off x="8513064" y="4370832"/>
            <a:ext cx="312724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the learning rule</a:t>
            </a:r>
            <a:endParaRPr lang="en-US" sz="1800" dirty="0"/>
          </a:p>
        </p:txBody>
      </p:sp>
      <p:sp>
        <p:nvSpPr>
          <p:cNvPr id="45" name="Text 41"/>
          <p:cNvSpPr txBox="1"/>
          <p:nvPr/>
        </p:nvSpPr>
        <p:spPr>
          <a:xfrm>
            <a:off x="8513064" y="4736592"/>
            <a:ext cx="3127248" cy="10972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Backprop computes gradients; SGD or Adam uses them.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29</a:t>
            </a:fld>
            <a:endParaRPr lang="en-US"/>
          </a:p>
        </p:txBody>
      </p:sp>
      <p:sp>
        <p:nvSpPr>
          <p:cNvPr id="4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try it by hand on a two-neuron network</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FORWARD PASS</a:t>
            </a:r>
            <a:endParaRPr lang="en-US" sz="1300" dirty="0"/>
          </a:p>
        </p:txBody>
      </p:sp>
      <p:pic>
        <p:nvPicPr>
          <p:cNvPr id="35" name="Image 0" descr="LaTeX: \begin{align*} z_1 &amp;= w_1x + b_1 = 0.5(2.0) + 0.1 = \textcolor{fw}{1.1}\\ a_1 &amp;= \sigma(z_1) = \textcolor{fw}{0.7503}\\ z_2 &amp;= w_2a_1 + b_2 = 0.8(0.7503) - 0.3 = \textcolor{fw}{0.3002}\\ a_2 &amp;= \sigma(z_2) = \textcolor{fw}{0.5745}\\ L &amp;= \tfrac12(a_2 - y)^2 = \textcolor{fw}{0.0905} \end{align*}">    </p:cNvPr>
          <p:cNvPicPr>
            <a:picLocks noChangeAspect="1"/>
          </p:cNvPicPr>
          <p:nvPr/>
        </p:nvPicPr>
        <p:blipFill>
          <a:blip r:embed="rId1"/>
          <a:stretch>
            <a:fillRect/>
          </a:stretch>
        </p:blipFill>
        <p:spPr>
          <a:xfrm>
            <a:off x="822960" y="3703320"/>
            <a:ext cx="5441594" cy="2095500"/>
          </a:xfrm>
          <a:prstGeom prst="rect">
            <a:avLst/>
          </a:prstGeom>
        </p:spPr>
      </p:pic>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½(a₂ − y)²</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Check your numbers against these. Next we go backward, one local derivative at a time.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4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now backward, one local derivative at a time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Shape 6"/>
          <p:cNvSpPr/>
          <p:nvPr/>
        </p:nvSpPr>
        <p:spPr>
          <a:xfrm flipH="1">
            <a:off x="1591056" y="2496312"/>
            <a:ext cx="1225296" cy="91"/>
          </a:xfrm>
          <a:prstGeom prst="line">
            <a:avLst/>
          </a:prstGeom>
          <a:noFill/>
          <a:ln w="19050">
            <a:solidFill>
              <a:srgbClr val="C8571B"/>
            </a:solidFill>
            <a:prstDash val="solid"/>
            <a:tailEnd type="triangle"/>
          </a:ln>
        </p:spPr>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6309360" cy="2926080"/>
          </a:xfrm>
          <a:prstGeom prst="roundRect">
            <a:avLst>
              <a:gd name="adj" fmla="val 2500"/>
            </a:avLst>
          </a:prstGeom>
          <a:solidFill>
            <a:srgbClr val="FBEADF"/>
          </a:solidFill>
          <a:ln/>
        </p:spPr>
      </p:sp>
      <p:sp>
        <p:nvSpPr>
          <p:cNvPr id="43" name="Text 40"/>
          <p:cNvSpPr txBox="1"/>
          <p:nvPr/>
        </p:nvSpPr>
        <p:spPr>
          <a:xfrm>
            <a:off x="749808" y="3337560"/>
            <a:ext cx="58521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ERROR SIGNALS, ONE LOCAL DERIVATIVE AT A TIME</a:t>
            </a:r>
            <a:endParaRPr lang="en-US" sz="1300" dirty="0"/>
          </a:p>
        </p:txBody>
      </p:sp>
      <p:pic>
        <p:nvPicPr>
          <p:cNvPr id="44" name="Image 0" descr="LaTeX: \begin{align*} \frac{\partial L}{\partial a_2} &amp;= a_2 - y = \textcolor{bw}{-0.4255}\\ \delta_2 &amp;= \frac{\partial L}{\partial a_2}\,a_2(1-a_2) = \textcolor{bw}{-0.1040}\\ \frac{\partial L}{\partial a_1} &amp;= \delta_2\,w_2 = \textcolor{bw}{-0.0832}\\ \delta_1 &amp;= \frac{\partial L}{\partial a_1}\,a_1(1-a_1) = \textcolor{bw}{-0.0156} \end{align*}">    </p:cNvPr>
          <p:cNvPicPr>
            <a:picLocks noChangeAspect="1"/>
          </p:cNvPicPr>
          <p:nvPr/>
        </p:nvPicPr>
        <p:blipFill>
          <a:blip r:embed="rId1"/>
          <a:stretch>
            <a:fillRect/>
          </a:stretch>
        </p:blipFill>
        <p:spPr>
          <a:xfrm>
            <a:off x="822960" y="3657600"/>
            <a:ext cx="3417113" cy="2421865"/>
          </a:xfrm>
          <a:prstGeom prst="rect">
            <a:avLst/>
          </a:prstGeom>
        </p:spPr>
      </p:pic>
      <p:sp>
        <p:nvSpPr>
          <p:cNvPr id="45" name="Text 41"/>
          <p:cNvSpPr txBox="1"/>
          <p:nvPr/>
        </p:nvSpPr>
        <p:spPr>
          <a:xfrm>
            <a:off x="7040880" y="3246120"/>
            <a:ext cx="4599432" cy="670560"/>
          </a:xfrm>
          <a:prstGeom prst="rect">
            <a:avLst/>
          </a:prstGeom>
          <a:noFill/>
          <a:ln/>
        </p:spPr>
        <p:txBody>
          <a:bodyPr wrap="square" lIns="0" tIns="0" rIns="0" bIns="0" rtlCol="0" anchor="t"/>
          <a:lstStyle/>
          <a:p>
            <a:pPr indent="0" marL="0">
              <a:buNone/>
            </a:pPr>
            <a:r>
              <a:rPr lang="en-US" sz="4400" b="1" dirty="0">
                <a:solidFill>
                  <a:srgbClr val="C8571B"/>
                </a:solidFill>
                <a:latin typeface="Cambria" pitchFamily="34" charset="0"/>
                <a:ea typeface="Cambria" pitchFamily="34" charset="-122"/>
                <a:cs typeface="Cambria" pitchFamily="34" charset="-120"/>
              </a:rPr>
              <a:t>6.7×</a:t>
            </a:r>
            <a:endParaRPr lang="en-US" sz="4400" dirty="0"/>
          </a:p>
        </p:txBody>
      </p:sp>
      <p:sp>
        <p:nvSpPr>
          <p:cNvPr id="46" name="Text 42"/>
          <p:cNvSpPr txBox="1"/>
          <p:nvPr/>
        </p:nvSpPr>
        <p:spPr>
          <a:xfrm>
            <a:off x="7040880" y="4008120"/>
            <a:ext cx="4599432" cy="10058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smaller: δ₁ vs δ₂ after ONE sigmoid layer, since w₂·σ′(z₁) = 0.8 × 0.187</a:t>
            </a:r>
            <a:endParaRPr lang="en-US" sz="1700" dirty="0"/>
          </a:p>
        </p:txBody>
      </p:sp>
      <p:sp>
        <p:nvSpPr>
          <p:cNvPr id="47" name="Shape 43"/>
          <p:cNvSpPr/>
          <p:nvPr/>
        </p:nvSpPr>
        <p:spPr>
          <a:xfrm>
            <a:off x="7040880" y="5029200"/>
            <a:ext cx="4599432" cy="1097280"/>
          </a:xfrm>
          <a:prstGeom prst="roundRect">
            <a:avLst>
              <a:gd name="adj" fmla="val 6667"/>
            </a:avLst>
          </a:prstGeom>
          <a:solidFill>
            <a:srgbClr val="FBEADF"/>
          </a:solidFill>
          <a:ln/>
        </p:spPr>
      </p:sp>
      <p:sp>
        <p:nvSpPr>
          <p:cNvPr id="48" name="Text 44"/>
          <p:cNvSpPr txBox="1"/>
          <p:nvPr/>
        </p:nvSpPr>
        <p:spPr>
          <a:xfrm>
            <a:off x="7242048" y="5074920"/>
            <a:ext cx="4197096" cy="100584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Twenty such layers and almost nothing reaches the front: vanishing gradients.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31</a:t>
            </a:fld>
            <a:endParaRPr lang="en-US"/>
          </a:p>
        </p:txBody>
      </p:sp>
      <p:sp>
        <p:nvSpPr>
          <p:cNvPr id="4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turn the error signals into weight gradients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forward, then backward, by hand</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txBody>
          <a:bodyPr/>
          <a:p/>
        </p:txBody>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txBody>
          <a:bodyPr/>
          <a:p/>
        </p:txBody>
      </p:sp>
      <p:sp>
        <p:nvSpPr>
          <p:cNvPr id="9" name="Shape 6"/>
          <p:cNvSpPr/>
          <p:nvPr/>
        </p:nvSpPr>
        <p:spPr>
          <a:xfrm flipH="1">
            <a:off x="1591056" y="2496312"/>
            <a:ext cx="1225296" cy="91"/>
          </a:xfrm>
          <a:prstGeom prst="line">
            <a:avLst/>
          </a:prstGeom>
          <a:noFill/>
          <a:ln w="19050">
            <a:solidFill>
              <a:srgbClr val="C8571B"/>
            </a:solidFill>
            <a:prstDash val="solid"/>
            <a:tailEnd type="triangle"/>
          </a:ln>
        </p:spPr>
        <p:txBody>
          <a:bodyPr/>
          <a:p/>
        </p:txBody>
      </p:sp>
      <p:sp>
        <p:nvSpPr>
          <p:cNvPr id="10" name="Text 7"/>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1" name="Shape 8"/>
          <p:cNvSpPr/>
          <p:nvPr/>
        </p:nvSpPr>
        <p:spPr>
          <a:xfrm>
            <a:off x="2834640" y="2011680"/>
            <a:ext cx="749808" cy="749808"/>
          </a:xfrm>
          <a:prstGeom prst="ellipse">
            <a:avLst/>
          </a:prstGeom>
          <a:solidFill>
            <a:srgbClr val="FFFFFF"/>
          </a:solidFill>
          <a:ln w="15875">
            <a:solidFill>
              <a:srgbClr val="8A94A3"/>
            </a:solidFill>
            <a:prstDash val="solid"/>
          </a:ln>
        </p:spPr>
        <p:txBody>
          <a:bodyPr/>
          <a:p/>
        </p:txBody>
      </p:sp>
      <p:sp>
        <p:nvSpPr>
          <p:cNvPr id="12" name="Text 9"/>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3" name="Text 10"/>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1.1</a:t>
            </a:r>
            <a:endParaRPr lang="en-US" sz="1800" dirty="0"/>
          </a:p>
        </p:txBody>
      </p:sp>
      <p:sp>
        <p:nvSpPr>
          <p:cNvPr id="14" name="Text 11"/>
          <p:cNvSpPr txBox="1"/>
          <p:nvPr/>
        </p:nvSpPr>
        <p:spPr>
          <a:xfrm>
            <a:off x="228600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δ₁ = −0.0156</a:t>
            </a:r>
            <a:endParaRPr lang="en-US" sz="1700" dirty="0"/>
          </a:p>
        </p:txBody>
      </p:sp>
      <p:sp>
        <p:nvSpPr>
          <p:cNvPr id="15" name="Shape 12"/>
          <p:cNvSpPr/>
          <p:nvPr/>
        </p:nvSpPr>
        <p:spPr>
          <a:xfrm>
            <a:off x="3602736" y="2295144"/>
            <a:ext cx="1225296" cy="91"/>
          </a:xfrm>
          <a:prstGeom prst="line">
            <a:avLst/>
          </a:prstGeom>
          <a:noFill/>
          <a:ln w="22225">
            <a:solidFill>
              <a:srgbClr val="0F7C82"/>
            </a:solidFill>
            <a:prstDash val="solid"/>
            <a:tailEnd type="triangle"/>
          </a:ln>
        </p:spPr>
        <p:txBody>
          <a:bodyPr/>
          <a:p/>
        </p:txBody>
      </p:sp>
      <p:sp>
        <p:nvSpPr>
          <p:cNvPr id="16" name="Shape 13"/>
          <p:cNvSpPr/>
          <p:nvPr/>
        </p:nvSpPr>
        <p:spPr>
          <a:xfrm flipH="1">
            <a:off x="3602736" y="2496312"/>
            <a:ext cx="1225296" cy="91"/>
          </a:xfrm>
          <a:prstGeom prst="line">
            <a:avLst/>
          </a:prstGeom>
          <a:noFill/>
          <a:ln w="19050">
            <a:solidFill>
              <a:srgbClr val="C8571B"/>
            </a:solidFill>
            <a:prstDash val="solid"/>
            <a:tailEnd type="triangle"/>
          </a:ln>
        </p:spPr>
        <p:txBody>
          <a:bodyPr/>
          <a:p/>
        </p:txBody>
      </p:sp>
      <p:sp>
        <p:nvSpPr>
          <p:cNvPr id="17" name="Text 14"/>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8" name="Shape 15"/>
          <p:cNvSpPr/>
          <p:nvPr/>
        </p:nvSpPr>
        <p:spPr>
          <a:xfrm>
            <a:off x="4846320" y="2011680"/>
            <a:ext cx="749808" cy="749808"/>
          </a:xfrm>
          <a:prstGeom prst="ellipse">
            <a:avLst/>
          </a:prstGeom>
          <a:solidFill>
            <a:srgbClr val="FFFFFF"/>
          </a:solidFill>
          <a:ln w="15875">
            <a:solidFill>
              <a:srgbClr val="8A94A3"/>
            </a:solidFill>
            <a:prstDash val="solid"/>
          </a:ln>
        </p:spPr>
        <p:txBody>
          <a:bodyPr/>
          <a:p/>
        </p:txBody>
      </p:sp>
      <p:sp>
        <p:nvSpPr>
          <p:cNvPr id="19" name="Text 16"/>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20" name="Text 17"/>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0.7503</a:t>
            </a:r>
            <a:endParaRPr lang="en-US" sz="1800" dirty="0"/>
          </a:p>
        </p:txBody>
      </p:sp>
      <p:sp>
        <p:nvSpPr>
          <p:cNvPr id="21" name="Text 18"/>
          <p:cNvSpPr txBox="1"/>
          <p:nvPr/>
        </p:nvSpPr>
        <p:spPr>
          <a:xfrm>
            <a:off x="429768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−0.0832</a:t>
            </a:r>
            <a:endParaRPr lang="en-US" sz="1700" dirty="0"/>
          </a:p>
        </p:txBody>
      </p:sp>
      <p:sp>
        <p:nvSpPr>
          <p:cNvPr id="22" name="Shape 19"/>
          <p:cNvSpPr/>
          <p:nvPr/>
        </p:nvSpPr>
        <p:spPr>
          <a:xfrm>
            <a:off x="5614416" y="2295144"/>
            <a:ext cx="1225296" cy="91"/>
          </a:xfrm>
          <a:prstGeom prst="line">
            <a:avLst/>
          </a:prstGeom>
          <a:noFill/>
          <a:ln w="22225">
            <a:solidFill>
              <a:srgbClr val="0F7C82"/>
            </a:solidFill>
            <a:prstDash val="solid"/>
            <a:tailEnd type="triangle"/>
          </a:ln>
        </p:spPr>
        <p:txBody>
          <a:bodyPr/>
          <a:p/>
        </p:txBody>
      </p:sp>
      <p:sp>
        <p:nvSpPr>
          <p:cNvPr id="23" name="Shape 20"/>
          <p:cNvSpPr/>
          <p:nvPr/>
        </p:nvSpPr>
        <p:spPr>
          <a:xfrm flipH="1">
            <a:off x="5614416" y="2496312"/>
            <a:ext cx="1225296" cy="91"/>
          </a:xfrm>
          <a:prstGeom prst="line">
            <a:avLst/>
          </a:prstGeom>
          <a:noFill/>
          <a:ln w="19050">
            <a:solidFill>
              <a:srgbClr val="C8571B"/>
            </a:solidFill>
            <a:prstDash val="solid"/>
            <a:tailEnd type="triangle"/>
          </a:ln>
        </p:spPr>
        <p:txBody>
          <a:bodyPr/>
          <a:p/>
        </p:txBody>
      </p:sp>
      <p:sp>
        <p:nvSpPr>
          <p:cNvPr id="24" name="Text 21"/>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5" name="Shape 22"/>
          <p:cNvSpPr/>
          <p:nvPr/>
        </p:nvSpPr>
        <p:spPr>
          <a:xfrm>
            <a:off x="6858000" y="2011680"/>
            <a:ext cx="749808" cy="749808"/>
          </a:xfrm>
          <a:prstGeom prst="ellipse">
            <a:avLst/>
          </a:prstGeom>
          <a:solidFill>
            <a:srgbClr val="FFFFFF"/>
          </a:solidFill>
          <a:ln w="15875">
            <a:solidFill>
              <a:srgbClr val="8A94A3"/>
            </a:solidFill>
            <a:prstDash val="solid"/>
          </a:ln>
        </p:spPr>
        <p:txBody>
          <a:bodyPr/>
          <a:p/>
        </p:txBody>
      </p:sp>
      <p:sp>
        <p:nvSpPr>
          <p:cNvPr id="26" name="Text 23"/>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0.3002</a:t>
            </a:r>
            <a:endParaRPr lang="en-US" sz="1800" dirty="0"/>
          </a:p>
        </p:txBody>
      </p:sp>
      <p:sp>
        <p:nvSpPr>
          <p:cNvPr id="28" name="Text 25"/>
          <p:cNvSpPr txBox="1"/>
          <p:nvPr/>
        </p:nvSpPr>
        <p:spPr>
          <a:xfrm>
            <a:off x="630936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δ₂ = −0.1040</a:t>
            </a:r>
            <a:endParaRPr lang="en-US" sz="1700" dirty="0"/>
          </a:p>
        </p:txBody>
      </p:sp>
      <p:sp>
        <p:nvSpPr>
          <p:cNvPr id="29" name="Shape 26"/>
          <p:cNvSpPr/>
          <p:nvPr/>
        </p:nvSpPr>
        <p:spPr>
          <a:xfrm>
            <a:off x="7626096" y="2295144"/>
            <a:ext cx="1225296" cy="91"/>
          </a:xfrm>
          <a:prstGeom prst="line">
            <a:avLst/>
          </a:prstGeom>
          <a:noFill/>
          <a:ln w="22225">
            <a:solidFill>
              <a:srgbClr val="0F7C82"/>
            </a:solidFill>
            <a:prstDash val="solid"/>
            <a:tailEnd type="triangle"/>
          </a:ln>
        </p:spPr>
        <p:txBody>
          <a:bodyPr/>
          <a:p/>
        </p:txBody>
      </p:sp>
      <p:sp>
        <p:nvSpPr>
          <p:cNvPr id="30" name="Shape 27"/>
          <p:cNvSpPr/>
          <p:nvPr/>
        </p:nvSpPr>
        <p:spPr>
          <a:xfrm flipH="1">
            <a:off x="7626096" y="2496312"/>
            <a:ext cx="1225296" cy="91"/>
          </a:xfrm>
          <a:prstGeom prst="line">
            <a:avLst/>
          </a:prstGeom>
          <a:noFill/>
          <a:ln w="19050">
            <a:solidFill>
              <a:srgbClr val="C8571B"/>
            </a:solidFill>
            <a:prstDash val="solid"/>
            <a:tailEnd type="triangle"/>
          </a:ln>
        </p:spPr>
        <p:txBody>
          <a:bodyPr/>
          <a:p/>
        </p:txBody>
      </p:sp>
      <p:sp>
        <p:nvSpPr>
          <p:cNvPr id="31" name="Text 28"/>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32" name="Shape 29"/>
          <p:cNvSpPr/>
          <p:nvPr/>
        </p:nvSpPr>
        <p:spPr>
          <a:xfrm>
            <a:off x="8869680" y="2011680"/>
            <a:ext cx="749808" cy="749808"/>
          </a:xfrm>
          <a:prstGeom prst="ellipse">
            <a:avLst/>
          </a:prstGeom>
          <a:solidFill>
            <a:srgbClr val="FFFFFF"/>
          </a:solidFill>
          <a:ln w="15875">
            <a:solidFill>
              <a:srgbClr val="8A94A3"/>
            </a:solidFill>
            <a:prstDash val="solid"/>
          </a:ln>
        </p:spPr>
        <p:txBody>
          <a:bodyPr/>
          <a:p/>
        </p:txBody>
      </p:sp>
      <p:sp>
        <p:nvSpPr>
          <p:cNvPr id="33" name="Text 30"/>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34" name="Text 31"/>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0.5745</a:t>
            </a:r>
            <a:endParaRPr lang="en-US" sz="1800" dirty="0"/>
          </a:p>
        </p:txBody>
      </p:sp>
      <p:sp>
        <p:nvSpPr>
          <p:cNvPr id="35" name="Text 32"/>
          <p:cNvSpPr txBox="1"/>
          <p:nvPr/>
        </p:nvSpPr>
        <p:spPr>
          <a:xfrm>
            <a:off x="8321040" y="2852928"/>
            <a:ext cx="1847088" cy="365760"/>
          </a:xfrm>
          <a:prstGeom prst="rect">
            <a:avLst/>
          </a:prstGeom>
          <a:noFill/>
          <a:ln/>
        </p:spPr>
        <p:txBody>
          <a:bodyPr wrap="square" lIns="0" tIns="0" rIns="0" bIns="0" rtlCol="0" anchor="t"/>
          <a:lstStyle/>
          <a:p>
            <a:pPr algn="ctr" indent="0" marL="0">
              <a:buNone/>
            </a:pPr>
            <a:r>
              <a:rPr lang="en-US" sz="1700" b="1" dirty="0">
                <a:solidFill>
                  <a:srgbClr val="C8571B"/>
                </a:solidFill>
                <a:latin typeface="Calibri" pitchFamily="34" charset="0"/>
                <a:ea typeface="Calibri" pitchFamily="34" charset="-122"/>
                <a:cs typeface="Calibri" pitchFamily="34" charset="-120"/>
              </a:rPr>
              <a:t>−0.4255</a:t>
            </a:r>
            <a:endParaRPr lang="en-US" sz="1700" dirty="0"/>
          </a:p>
        </p:txBody>
      </p:sp>
      <p:sp>
        <p:nvSpPr>
          <p:cNvPr id="36" name="Shape 33"/>
          <p:cNvSpPr/>
          <p:nvPr/>
        </p:nvSpPr>
        <p:spPr>
          <a:xfrm>
            <a:off x="9637776" y="2295144"/>
            <a:ext cx="1225296" cy="91"/>
          </a:xfrm>
          <a:prstGeom prst="line">
            <a:avLst/>
          </a:prstGeom>
          <a:noFill/>
          <a:ln w="22225">
            <a:solidFill>
              <a:srgbClr val="0F7C82"/>
            </a:solidFill>
            <a:prstDash val="solid"/>
            <a:tailEnd type="triangle"/>
          </a:ln>
        </p:spPr>
        <p:txBody>
          <a:bodyPr/>
          <a:p/>
        </p:txBody>
      </p:sp>
      <p:sp>
        <p:nvSpPr>
          <p:cNvPr id="37" name="Shape 34"/>
          <p:cNvSpPr/>
          <p:nvPr/>
        </p:nvSpPr>
        <p:spPr>
          <a:xfrm flipH="1">
            <a:off x="9637776" y="2496312"/>
            <a:ext cx="1225296" cy="91"/>
          </a:xfrm>
          <a:prstGeom prst="line">
            <a:avLst/>
          </a:prstGeom>
          <a:noFill/>
          <a:ln w="19050">
            <a:solidFill>
              <a:srgbClr val="C8571B"/>
            </a:solidFill>
            <a:prstDash val="solid"/>
            <a:tailEnd type="triangle"/>
          </a:ln>
        </p:spPr>
        <p:txBody>
          <a:bodyPr/>
          <a:p/>
        </p:txBody>
      </p:sp>
      <p:sp>
        <p:nvSpPr>
          <p:cNvPr id="38" name="Text 35"/>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9" name="Shape 36"/>
          <p:cNvSpPr/>
          <p:nvPr/>
        </p:nvSpPr>
        <p:spPr>
          <a:xfrm>
            <a:off x="10881360" y="2011680"/>
            <a:ext cx="749808" cy="749808"/>
          </a:xfrm>
          <a:prstGeom prst="ellipse">
            <a:avLst/>
          </a:prstGeom>
          <a:solidFill>
            <a:srgbClr val="17202E"/>
          </a:solidFill>
          <a:ln/>
        </p:spPr>
        <p:txBody>
          <a:bodyPr/>
          <a:p/>
        </p:txBody>
      </p:sp>
      <p:sp>
        <p:nvSpPr>
          <p:cNvPr id="40" name="Text 37"/>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41" name="Text 38"/>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0.0905</a:t>
            </a:r>
            <a:endParaRPr lang="en-US" sz="1800" dirty="0"/>
          </a:p>
        </p:txBody>
      </p:sp>
      <p:sp>
        <p:nvSpPr>
          <p:cNvPr id="42" name="Shape 39"/>
          <p:cNvSpPr/>
          <p:nvPr/>
        </p:nvSpPr>
        <p:spPr>
          <a:xfrm>
            <a:off x="548640" y="3200400"/>
            <a:ext cx="7223760" cy="1874520"/>
          </a:xfrm>
          <a:prstGeom prst="roundRect">
            <a:avLst>
              <a:gd name="adj" fmla="val 3902"/>
            </a:avLst>
          </a:prstGeom>
          <a:solidFill>
            <a:srgbClr val="E2F1F1"/>
          </a:solidFill>
          <a:ln/>
        </p:spPr>
        <p:txBody>
          <a:bodyPr/>
          <a:p/>
        </p:txBody>
      </p:sp>
      <p:sp>
        <p:nvSpPr>
          <p:cNvPr id="43" name="Text 40"/>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PARAMETER GRADIENTS</a:t>
            </a:r>
            <a:endParaRPr lang="en-US" sz="1300" dirty="0"/>
          </a:p>
        </p:txBody>
      </p:sp>
      <p:pic>
        <p:nvPicPr>
          <p:cNvPr id="44" name="Image 0" descr="LaTeX: \begin{alignat*}{2} \frac{\partial L}{\partial w_2} &amp;= \delta_2\,a_1 = \textcolor{bw}{-0.0780} &amp;\qquad \frac{\partial L}{\partial b_2} &amp;= \delta_2 = \textcolor{bw}{-0.1040}\\ \frac{\partial L}{\partial w_1} &amp;= \delta_1\,x = \textcolor{bw}{-0.0312} &amp;\qquad \frac{\partial L}{\partial b_1} &amp;= \delta_1 = \textcolor{bw}{-0.0156} \end{alignat*}">    </p:cNvPr>
          <p:cNvPicPr>
            <a:picLocks noChangeAspect="1"/>
          </p:cNvPicPr>
          <p:nvPr/>
        </p:nvPicPr>
        <p:blipFill>
          <a:blip r:embed="rId1"/>
          <a:stretch>
            <a:fillRect/>
          </a:stretch>
        </p:blipFill>
        <p:spPr>
          <a:xfrm>
            <a:off x="822960" y="3703320"/>
            <a:ext cx="5367528" cy="1298448"/>
          </a:xfrm>
          <a:prstGeom prst="rect">
            <a:avLst/>
          </a:prstGeom>
        </p:spPr>
      </p:pic>
      <p:sp>
        <p:nvSpPr>
          <p:cNvPr id="45" name="Shape 41"/>
          <p:cNvSpPr/>
          <p:nvPr/>
        </p:nvSpPr>
        <p:spPr>
          <a:xfrm>
            <a:off x="548640" y="5257800"/>
            <a:ext cx="3520440" cy="868680"/>
          </a:xfrm>
          <a:prstGeom prst="roundRect">
            <a:avLst>
              <a:gd name="adj" fmla="val 8421"/>
            </a:avLst>
          </a:prstGeom>
          <a:solidFill>
            <a:srgbClr val="F3F5F8"/>
          </a:solidFill>
          <a:ln/>
        </p:spPr>
        <p:txBody>
          <a:bodyPr/>
          <a:p/>
        </p:txBody>
      </p:sp>
      <p:sp>
        <p:nvSpPr>
          <p:cNvPr id="46" name="Text 42"/>
          <p:cNvSpPr txBox="1"/>
          <p:nvPr/>
        </p:nvSpPr>
        <p:spPr>
          <a:xfrm>
            <a:off x="74980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 error × input</a:t>
            </a:r>
            <a:endParaRPr lang="en-US" sz="1800" dirty="0"/>
          </a:p>
        </p:txBody>
      </p:sp>
      <p:sp>
        <p:nvSpPr>
          <p:cNvPr id="47" name="Shape 43"/>
          <p:cNvSpPr/>
          <p:nvPr/>
        </p:nvSpPr>
        <p:spPr>
          <a:xfrm>
            <a:off x="4251960" y="5257800"/>
            <a:ext cx="3520440" cy="868680"/>
          </a:xfrm>
          <a:prstGeom prst="roundRect">
            <a:avLst>
              <a:gd name="adj" fmla="val 8421"/>
            </a:avLst>
          </a:prstGeom>
          <a:solidFill>
            <a:srgbClr val="F3F5F8"/>
          </a:solidFill>
          <a:ln/>
        </p:spPr>
        <p:txBody>
          <a:bodyPr/>
          <a:p/>
        </p:txBody>
      </p:sp>
      <p:sp>
        <p:nvSpPr>
          <p:cNvPr id="48" name="Text 44"/>
          <p:cNvSpPr txBox="1"/>
          <p:nvPr/>
        </p:nvSpPr>
        <p:spPr>
          <a:xfrm>
            <a:off x="4453128" y="5422392"/>
            <a:ext cx="3118104" cy="41148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Bias: the error itself</a:t>
            </a:r>
            <a:endParaRPr lang="en-US" sz="1800" dirty="0"/>
          </a:p>
        </p:txBody>
      </p:sp>
      <p:sp>
        <p:nvSpPr>
          <p:cNvPr id="49" name="Shape 45"/>
          <p:cNvSpPr/>
          <p:nvPr/>
        </p:nvSpPr>
        <p:spPr>
          <a:xfrm>
            <a:off x="8001000" y="3200400"/>
            <a:ext cx="3639312" cy="2926080"/>
          </a:xfrm>
          <a:prstGeom prst="roundRect">
            <a:avLst>
              <a:gd name="adj" fmla="val 2500"/>
            </a:avLst>
          </a:prstGeom>
          <a:solidFill>
            <a:srgbClr val="17202E"/>
          </a:solidFill>
          <a:ln/>
        </p:spPr>
        <p:txBody>
          <a:bodyPr/>
          <a:p/>
        </p:txBody>
      </p:sp>
      <p:sp>
        <p:nvSpPr>
          <p:cNvPr id="50" name="Text 46"/>
          <p:cNvSpPr txBox="1"/>
          <p:nvPr/>
        </p:nvSpPr>
        <p:spPr>
          <a:xfrm>
            <a:off x="8202168" y="3246120"/>
            <a:ext cx="3236976" cy="28346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Automatic differentiation reproduces −0.0312 and −0.0780 exactly (after the four BP equations).</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32</a:t>
            </a:fld>
            <a:endParaRPr lang="en-US"/>
          </a:p>
        </p:txBody>
      </p:sp>
      <p:sp>
        <p:nvSpPr>
          <p:cNvPr id="51"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4: what if w₂ = 0?</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4</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In the worked example, set w₂ = 0 (everything else unchanged). What is ∂L/∂w₁?</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C8571B"/>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Unchanged: −0.0312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C8571B"/>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Exactly 0</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C8571B"/>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Larger in magnitude</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C8571B"/>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Undefined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same rules for any layer: four equations</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four equations of backpropagation</a:t>
            </a:r>
            <a:endParaRPr lang="en-US" sz="3200" dirty="0"/>
          </a:p>
        </p:txBody>
      </p:sp>
      <p:sp>
        <p:nvSpPr>
          <p:cNvPr id="5" name="Shape 2"/>
          <p:cNvSpPr/>
          <p:nvPr/>
        </p:nvSpPr>
        <p:spPr>
          <a:xfrm>
            <a:off x="548640" y="1417320"/>
            <a:ext cx="11094415" cy="896112"/>
          </a:xfrm>
          <a:prstGeom prst="roundRect">
            <a:avLst>
              <a:gd name="adj" fmla="val 8163"/>
            </a:avLst>
          </a:prstGeom>
          <a:solidFill>
            <a:srgbClr val="F3F5F8"/>
          </a:solidFill>
          <a:ln/>
        </p:spPr>
      </p:sp>
      <p:sp>
        <p:nvSpPr>
          <p:cNvPr id="6" name="Shape 3"/>
          <p:cNvSpPr/>
          <p:nvPr/>
        </p:nvSpPr>
        <p:spPr>
          <a:xfrm>
            <a:off x="713232" y="1618488"/>
            <a:ext cx="868680" cy="493776"/>
          </a:xfrm>
          <a:prstGeom prst="roundRect">
            <a:avLst>
              <a:gd name="adj" fmla="val 18519"/>
            </a:avLst>
          </a:prstGeom>
          <a:solidFill>
            <a:srgbClr val="0F7C82"/>
          </a:solidFill>
          <a:ln w="15875">
            <a:solidFill>
              <a:srgbClr val="0F7C82"/>
            </a:solidFill>
            <a:prstDash val="solid"/>
          </a:ln>
        </p:spPr>
      </p:sp>
      <p:sp>
        <p:nvSpPr>
          <p:cNvPr id="7" name="Text 4"/>
          <p:cNvSpPr txBox="1"/>
          <p:nvPr/>
        </p:nvSpPr>
        <p:spPr>
          <a:xfrm>
            <a:off x="758952" y="161848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BP1</a:t>
            </a:r>
            <a:endParaRPr lang="en-US" sz="1700" dirty="0"/>
          </a:p>
        </p:txBody>
      </p:sp>
      <p:pic>
        <p:nvPicPr>
          <p:cNvPr id="8" name="Image 0" descr="LaTeX: $\displaystyle \dl\Ly{L} = \nabla_{\av}L \odot g'(\z\Ly{L})$">    </p:cNvPr>
          <p:cNvPicPr>
            <a:picLocks noChangeAspect="1"/>
          </p:cNvPicPr>
          <p:nvPr/>
        </p:nvPicPr>
        <p:blipFill>
          <a:blip r:embed="rId1"/>
          <a:stretch>
            <a:fillRect/>
          </a:stretch>
        </p:blipFill>
        <p:spPr>
          <a:xfrm>
            <a:off x="1828800" y="1731617"/>
            <a:ext cx="1998805" cy="267516"/>
          </a:xfrm>
          <a:prstGeom prst="rect">
            <a:avLst/>
          </a:prstGeom>
        </p:spPr>
      </p:pic>
      <p:sp>
        <p:nvSpPr>
          <p:cNvPr id="9" name="Text 5"/>
          <p:cNvSpPr txBox="1"/>
          <p:nvPr/>
        </p:nvSpPr>
        <p:spPr>
          <a:xfrm>
            <a:off x="6400800" y="141732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Output error: loss gradient × the unit's own slope (elementwise g).</a:t>
            </a:r>
            <a:endParaRPr lang="en-US" sz="1700" dirty="0"/>
          </a:p>
        </p:txBody>
      </p:sp>
      <p:sp>
        <p:nvSpPr>
          <p:cNvPr id="10" name="Shape 6"/>
          <p:cNvSpPr/>
          <p:nvPr/>
        </p:nvSpPr>
        <p:spPr>
          <a:xfrm>
            <a:off x="548640" y="2423160"/>
            <a:ext cx="11094415" cy="896112"/>
          </a:xfrm>
          <a:prstGeom prst="roundRect">
            <a:avLst>
              <a:gd name="adj" fmla="val 8163"/>
            </a:avLst>
          </a:prstGeom>
          <a:solidFill>
            <a:srgbClr val="FFFFFF"/>
          </a:solidFill>
          <a:ln w="12700">
            <a:solidFill>
              <a:srgbClr val="D5DBE3"/>
            </a:solidFill>
            <a:prstDash val="solid"/>
          </a:ln>
        </p:spPr>
      </p:sp>
      <p:sp>
        <p:nvSpPr>
          <p:cNvPr id="11" name="Shape 7"/>
          <p:cNvSpPr/>
          <p:nvPr/>
        </p:nvSpPr>
        <p:spPr>
          <a:xfrm>
            <a:off x="713232" y="2624328"/>
            <a:ext cx="868680" cy="493776"/>
          </a:xfrm>
          <a:prstGeom prst="roundRect">
            <a:avLst>
              <a:gd name="adj" fmla="val 18519"/>
            </a:avLst>
          </a:prstGeom>
          <a:solidFill>
            <a:srgbClr val="C8571B"/>
          </a:solidFill>
          <a:ln w="15875">
            <a:solidFill>
              <a:srgbClr val="C8571B"/>
            </a:solidFill>
            <a:prstDash val="solid"/>
          </a:ln>
        </p:spPr>
      </p:sp>
      <p:sp>
        <p:nvSpPr>
          <p:cNvPr id="12" name="Text 8"/>
          <p:cNvSpPr txBox="1"/>
          <p:nvPr/>
        </p:nvSpPr>
        <p:spPr>
          <a:xfrm>
            <a:off x="758952" y="262432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BP2</a:t>
            </a:r>
            <a:endParaRPr lang="en-US" sz="1700" dirty="0"/>
          </a:p>
        </p:txBody>
      </p:sp>
      <p:pic>
        <p:nvPicPr>
          <p:cNvPr id="13" name="Image 1" descr="LaTeX: $\displaystyle \dl\Ly{l} = \bigl(\W\Ly{l+1}{}\T\,\dl\Ly{l+1}\bigr) \odot g'(\z\Ly{l})$">    </p:cNvPr>
          <p:cNvPicPr>
            <a:picLocks noChangeAspect="1"/>
          </p:cNvPicPr>
          <p:nvPr/>
        </p:nvPicPr>
        <p:blipFill>
          <a:blip r:embed="rId2"/>
          <a:stretch>
            <a:fillRect/>
          </a:stretch>
        </p:blipFill>
        <p:spPr>
          <a:xfrm>
            <a:off x="1828800" y="2710282"/>
            <a:ext cx="2821229" cy="321869"/>
          </a:xfrm>
          <a:prstGeom prst="rect">
            <a:avLst/>
          </a:prstGeom>
        </p:spPr>
      </p:pic>
      <p:sp>
        <p:nvSpPr>
          <p:cNvPr id="14" name="Text 9"/>
          <p:cNvSpPr txBox="1"/>
          <p:nvPr/>
        </p:nvSpPr>
        <p:spPr>
          <a:xfrm>
            <a:off x="6400800" y="242316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Send the error back through Wᵀ, then gate it by g′.</a:t>
            </a:r>
            <a:endParaRPr lang="en-US" sz="1700" dirty="0"/>
          </a:p>
        </p:txBody>
      </p:sp>
      <p:sp>
        <p:nvSpPr>
          <p:cNvPr id="15" name="Shape 10"/>
          <p:cNvSpPr/>
          <p:nvPr/>
        </p:nvSpPr>
        <p:spPr>
          <a:xfrm>
            <a:off x="548640" y="3429000"/>
            <a:ext cx="11094415" cy="896112"/>
          </a:xfrm>
          <a:prstGeom prst="roundRect">
            <a:avLst>
              <a:gd name="adj" fmla="val 8163"/>
            </a:avLst>
          </a:prstGeom>
          <a:solidFill>
            <a:srgbClr val="F3F5F8"/>
          </a:solidFill>
          <a:ln/>
        </p:spPr>
      </p:sp>
      <p:sp>
        <p:nvSpPr>
          <p:cNvPr id="16" name="Shape 11"/>
          <p:cNvSpPr/>
          <p:nvPr/>
        </p:nvSpPr>
        <p:spPr>
          <a:xfrm>
            <a:off x="713232" y="3630168"/>
            <a:ext cx="868680" cy="493776"/>
          </a:xfrm>
          <a:prstGeom prst="roundRect">
            <a:avLst>
              <a:gd name="adj" fmla="val 18519"/>
            </a:avLst>
          </a:prstGeom>
          <a:solidFill>
            <a:srgbClr val="0F7C82"/>
          </a:solidFill>
          <a:ln w="15875">
            <a:solidFill>
              <a:srgbClr val="0F7C82"/>
            </a:solidFill>
            <a:prstDash val="solid"/>
          </a:ln>
        </p:spPr>
      </p:sp>
      <p:sp>
        <p:nvSpPr>
          <p:cNvPr id="17" name="Text 12"/>
          <p:cNvSpPr txBox="1"/>
          <p:nvPr/>
        </p:nvSpPr>
        <p:spPr>
          <a:xfrm>
            <a:off x="758952" y="363016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BP3</a:t>
            </a:r>
            <a:endParaRPr lang="en-US" sz="1700" dirty="0"/>
          </a:p>
        </p:txBody>
      </p:sp>
      <p:pic>
        <p:nvPicPr>
          <p:cNvPr id="18" name="Image 2" descr="LaTeX: $\displaystyle \frac{\partial L}{\partial \bb\Ly{l}} = \dl\Ly{l}$">    </p:cNvPr>
          <p:cNvPicPr>
            <a:picLocks noChangeAspect="1"/>
          </p:cNvPicPr>
          <p:nvPr/>
        </p:nvPicPr>
        <p:blipFill>
          <a:blip r:embed="rId3"/>
          <a:stretch>
            <a:fillRect/>
          </a:stretch>
        </p:blipFill>
        <p:spPr>
          <a:xfrm>
            <a:off x="1828800" y="3635654"/>
            <a:ext cx="994867" cy="482803"/>
          </a:xfrm>
          <a:prstGeom prst="rect">
            <a:avLst/>
          </a:prstGeom>
        </p:spPr>
      </p:pic>
      <p:sp>
        <p:nvSpPr>
          <p:cNvPr id="19" name="Text 13"/>
          <p:cNvSpPr txBox="1"/>
          <p:nvPr/>
        </p:nvSpPr>
        <p:spPr>
          <a:xfrm>
            <a:off x="6400800" y="342900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Bias gradient = the error signal.</a:t>
            </a:r>
            <a:endParaRPr lang="en-US" sz="1700" dirty="0"/>
          </a:p>
        </p:txBody>
      </p:sp>
      <p:sp>
        <p:nvSpPr>
          <p:cNvPr id="20" name="Shape 14"/>
          <p:cNvSpPr/>
          <p:nvPr/>
        </p:nvSpPr>
        <p:spPr>
          <a:xfrm>
            <a:off x="548640" y="4434840"/>
            <a:ext cx="11094415" cy="896112"/>
          </a:xfrm>
          <a:prstGeom prst="roundRect">
            <a:avLst>
              <a:gd name="adj" fmla="val 8163"/>
            </a:avLst>
          </a:prstGeom>
          <a:solidFill>
            <a:srgbClr val="FFFFFF"/>
          </a:solidFill>
          <a:ln w="12700">
            <a:solidFill>
              <a:srgbClr val="D5DBE3"/>
            </a:solidFill>
            <a:prstDash val="solid"/>
          </a:ln>
        </p:spPr>
      </p:sp>
      <p:sp>
        <p:nvSpPr>
          <p:cNvPr id="21" name="Shape 15"/>
          <p:cNvSpPr/>
          <p:nvPr/>
        </p:nvSpPr>
        <p:spPr>
          <a:xfrm>
            <a:off x="713232" y="4636008"/>
            <a:ext cx="868680" cy="493776"/>
          </a:xfrm>
          <a:prstGeom prst="roundRect">
            <a:avLst>
              <a:gd name="adj" fmla="val 18519"/>
            </a:avLst>
          </a:prstGeom>
          <a:solidFill>
            <a:srgbClr val="0F7C82"/>
          </a:solidFill>
          <a:ln w="15875">
            <a:solidFill>
              <a:srgbClr val="0F7C82"/>
            </a:solidFill>
            <a:prstDash val="solid"/>
          </a:ln>
        </p:spPr>
      </p:sp>
      <p:sp>
        <p:nvSpPr>
          <p:cNvPr id="22" name="Text 16"/>
          <p:cNvSpPr txBox="1"/>
          <p:nvPr/>
        </p:nvSpPr>
        <p:spPr>
          <a:xfrm>
            <a:off x="758952" y="4636008"/>
            <a:ext cx="777240"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BP4</a:t>
            </a:r>
            <a:endParaRPr lang="en-US" sz="1700" dirty="0"/>
          </a:p>
        </p:txBody>
      </p:sp>
      <p:pic>
        <p:nvPicPr>
          <p:cNvPr id="23" name="Image 3" descr="LaTeX: $\displaystyle \frac{\partial L}{\partial \W\Ly{l}} = \dl\Ly{l}\,\av\Ly{l-1}{}\T$">    </p:cNvPr>
          <p:cNvPicPr>
            <a:picLocks noChangeAspect="1"/>
          </p:cNvPicPr>
          <p:nvPr/>
        </p:nvPicPr>
        <p:blipFill>
          <a:blip r:embed="rId4"/>
          <a:stretch>
            <a:fillRect/>
          </a:stretch>
        </p:blipFill>
        <p:spPr>
          <a:xfrm>
            <a:off x="1828800" y="4641494"/>
            <a:ext cx="1762963" cy="482803"/>
          </a:xfrm>
          <a:prstGeom prst="rect">
            <a:avLst/>
          </a:prstGeom>
        </p:spPr>
      </p:pic>
      <p:sp>
        <p:nvSpPr>
          <p:cNvPr id="24" name="Text 17"/>
          <p:cNvSpPr txBox="1"/>
          <p:nvPr/>
        </p:nvSpPr>
        <p:spPr>
          <a:xfrm>
            <a:off x="6400800" y="4434840"/>
            <a:ext cx="5120640" cy="896112"/>
          </a:xfrm>
          <a:prstGeom prst="rect">
            <a:avLst/>
          </a:prstGeom>
          <a:noFill/>
          <a:ln/>
        </p:spPr>
        <p:txBody>
          <a:bodyPr wrap="square" lIns="0" tIns="0" rIns="0" bIns="0" rtlCol="0" anchor="ctr"/>
          <a:lstStyle/>
          <a:p>
            <a:pPr indent="0" marL="0">
              <a:buNone/>
            </a:pPr>
            <a:r>
              <a:rPr lang="en-US" sz="1700" dirty="0">
                <a:solidFill>
                  <a:srgbClr val="2B3A4F"/>
                </a:solidFill>
                <a:latin typeface="Calibri" pitchFamily="34" charset="0"/>
                <a:ea typeface="Calibri" pitchFamily="34" charset="-122"/>
                <a:cs typeface="Calibri" pitchFamily="34" charset="-120"/>
              </a:rPr>
              <a:t>Weight gradient = error × input activation (outer product).</a:t>
            </a:r>
            <a:endParaRPr lang="en-US" sz="1700" dirty="0"/>
          </a:p>
        </p:txBody>
      </p:sp>
      <p:sp>
        <p:nvSpPr>
          <p:cNvPr id="25" name="Shape 18"/>
          <p:cNvSpPr/>
          <p:nvPr/>
        </p:nvSpPr>
        <p:spPr>
          <a:xfrm>
            <a:off x="548640" y="5486400"/>
            <a:ext cx="11094415" cy="685800"/>
          </a:xfrm>
          <a:prstGeom prst="roundRect">
            <a:avLst>
              <a:gd name="adj" fmla="val 10667"/>
            </a:avLst>
          </a:prstGeom>
          <a:solidFill>
            <a:srgbClr val="E2F1F1"/>
          </a:solidFill>
          <a:ln/>
        </p:spPr>
      </p:sp>
      <p:pic>
        <p:nvPicPr>
          <p:cNvPr id="26" name="Image 4" descr="LaTeX: $\displaystyle \text{softmax + cross-entropy:}\quad \dl\Ly{L} = \frac{\partial L}{\partial \z\Ly{L}} = \yhv - \yv$">    </p:cNvPr>
          <p:cNvPicPr>
            <a:picLocks noChangeAspect="1"/>
          </p:cNvPicPr>
          <p:nvPr/>
        </p:nvPicPr>
        <p:blipFill>
          <a:blip r:embed="rId5"/>
          <a:stretch>
            <a:fillRect/>
          </a:stretch>
        </p:blipFill>
        <p:spPr>
          <a:xfrm>
            <a:off x="822960" y="5559552"/>
            <a:ext cx="3906926" cy="437540"/>
          </a:xfrm>
          <a:prstGeom prst="rect">
            <a:avLst/>
          </a:prstGeom>
        </p:spPr>
      </p:pic>
      <p:sp>
        <p:nvSpPr>
          <p:cNvPr id="27" name="Text 19"/>
          <p:cNvSpPr txBox="1"/>
          <p:nvPr/>
        </p:nvSpPr>
        <p:spPr>
          <a:xfrm>
            <a:off x="6949440" y="5486400"/>
            <a:ext cx="4572000" cy="685800"/>
          </a:xfrm>
          <a:prstGeom prst="rect">
            <a:avLst/>
          </a:prstGeom>
          <a:noFill/>
          <a:ln/>
        </p:spPr>
        <p:txBody>
          <a:bodyPr wrap="square" lIns="0" tIns="0" rIns="0" bIns="0" rtlCol="0" anchor="ctr"/>
          <a:lstStyle/>
          <a:p>
            <a:pPr indent="0" marL="0">
              <a:buNone/>
            </a:pPr>
            <a:r>
              <a:rPr lang="en-US" sz="1600" i="1" dirty="0">
                <a:solidFill>
                  <a:srgbClr val="0A5559"/>
                </a:solidFill>
                <a:latin typeface="Calibri" pitchFamily="34" charset="0"/>
                <a:ea typeface="Calibri" pitchFamily="34" charset="-122"/>
                <a:cs typeface="Calibri" pitchFamily="34" charset="-120"/>
              </a:rPr>
              <a:t>derived directly: softmax is not elementwise</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34</a:t>
            </a:fld>
            <a:endParaRPr lang="en-US"/>
          </a:p>
        </p:txBody>
      </p:sp>
      <p:sp>
        <p:nvSpPr>
          <p:cNvPr id="2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computer can apply these rules for us</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Automatic differentiation runs these equations for you</a:t>
            </a:r>
            <a:endParaRPr lang="en-US" sz="3200" dirty="0"/>
          </a:p>
        </p:txBody>
      </p:sp>
      <p:sp>
        <p:nvSpPr>
          <p:cNvPr id="5" name="Shape 2"/>
          <p:cNvSpPr/>
          <p:nvPr/>
        </p:nvSpPr>
        <p:spPr>
          <a:xfrm>
            <a:off x="548640" y="1417320"/>
            <a:ext cx="6720840" cy="4709160"/>
          </a:xfrm>
          <a:prstGeom prst="roundRect">
            <a:avLst>
              <a:gd name="adj" fmla="val 1165"/>
            </a:avLst>
          </a:prstGeom>
          <a:solidFill>
            <a:srgbClr val="1E2735"/>
          </a:solidFill>
          <a:ln/>
        </p:spPr>
      </p:sp>
      <p:sp>
        <p:nvSpPr>
          <p:cNvPr id="6" name="Text 3"/>
          <p:cNvSpPr txBox="1"/>
          <p:nvPr/>
        </p:nvSpPr>
        <p:spPr>
          <a:xfrm>
            <a:off x="749808" y="1563624"/>
            <a:ext cx="6400800" cy="4453128"/>
          </a:xfrm>
          <a:prstGeom prst="rect">
            <a:avLst/>
          </a:prstGeom>
          <a:noFill/>
          <a:ln/>
        </p:spPr>
        <p:txBody>
          <a:bodyPr wrap="square" lIns="0" tIns="0" rIns="0" bIns="0" rtlCol="0" anchor="t"/>
          <a:lstStyle/>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x, y = 2.0, 1.0</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w1, b1, w2, b2 = 0.5, 0.1, 0.8, −0.3</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mark each one: "track gradients"</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a1 = sigmoid(w1·x + b1)    </a:t>
            </a:r>
            <a:r>
              <a:rPr lang="en-US" sz="1600" dirty="0">
                <a:solidFill>
                  <a:srgbClr val="8D99AB"/>
                </a:solidFill>
                <a:latin typeface="Consolas" pitchFamily="34" charset="0"/>
                <a:ea typeface="Consolas" pitchFamily="34" charset="-122"/>
                <a:cs typeface="Consolas" pitchFamily="34" charset="-120"/>
              </a:rPr>
              <a:t xml:space="preserve"># every operation</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a2 = sigmoid(w2·a1 + b2)   </a:t>
            </a:r>
            <a:r>
              <a:rPr lang="en-US" sz="1600" dirty="0">
                <a:solidFill>
                  <a:srgbClr val="8D99AB"/>
                </a:solidFill>
                <a:latin typeface="Consolas" pitchFamily="34" charset="0"/>
                <a:ea typeface="Consolas" pitchFamily="34" charset="-122"/>
                <a:cs typeface="Consolas" pitchFamily="34" charset="-120"/>
              </a:rPr>
              <a:t xml:space="preserve"># is recorded in a graph</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L  = ½ (a2 − y)²</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backward(L)                </a:t>
            </a:r>
            <a:r>
              <a:rPr lang="en-US" sz="1600" dirty="0">
                <a:solidFill>
                  <a:srgbClr val="8D99AB"/>
                </a:solidFill>
                <a:latin typeface="Consolas" pitchFamily="34" charset="0"/>
                <a:ea typeface="Consolas" pitchFamily="34" charset="-122"/>
                <a:cs typeface="Consolas" pitchFamily="34" charset="-120"/>
              </a:rPr>
              <a:t xml:space="preserve"># reverse-mode autodiff:</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                           </a:t>
            </a:r>
            <a:r>
              <a:rPr lang="en-US" sz="1600" dirty="0">
                <a:solidFill>
                  <a:srgbClr val="8D99AB"/>
                </a:solidFill>
                <a:latin typeface="Consolas" pitchFamily="34" charset="0"/>
                <a:ea typeface="Consolas" pitchFamily="34" charset="-122"/>
                <a:cs typeface="Consolas" pitchFamily="34" charset="-120"/>
              </a:rPr>
              <a:t xml:space="preserve"># runs BP1–BP4 for you</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grad(w1)  →  −0.0312       </a:t>
            </a:r>
            <a:r>
              <a:rPr lang="en-US" sz="1600" dirty="0">
                <a:solidFill>
                  <a:srgbClr val="8D99AB"/>
                </a:solidFill>
                <a:latin typeface="Consolas" pitchFamily="34" charset="0"/>
                <a:ea typeface="Consolas" pitchFamily="34" charset="-122"/>
                <a:cs typeface="Consolas" pitchFamily="34" charset="-120"/>
              </a:rPr>
              <a:t xml:space="preserve"># same as by hand</a:t>
            </a:r>
            <a:endParaRPr lang="en-US" sz="1600" dirty="0"/>
          </a:p>
          <a:p>
            <a:pPr indent="0" marL="0">
              <a:lnSpc>
                <a:spcPct val="105000"/>
              </a:lnSpc>
              <a:buNone/>
            </a:pPr>
            <a:r>
              <a:rPr lang="en-US" sz="1600" dirty="0">
                <a:solidFill>
                  <a:srgbClr val="E6EAF0"/>
                </a:solidFill>
                <a:latin typeface="Consolas" pitchFamily="34" charset="0"/>
                <a:ea typeface="Consolas" pitchFamily="34" charset="-122"/>
                <a:cs typeface="Consolas" pitchFamily="34" charset="-120"/>
              </a:rPr>
              <a:t xml:space="preserve">grad(w2)  →  −0.0780</a:t>
            </a:r>
            <a:endParaRPr lang="en-US" sz="1600" dirty="0"/>
          </a:p>
        </p:txBody>
      </p:sp>
      <p:sp>
        <p:nvSpPr>
          <p:cNvPr id="7" name="Shape 4"/>
          <p:cNvSpPr/>
          <p:nvPr/>
        </p:nvSpPr>
        <p:spPr>
          <a:xfrm>
            <a:off x="7498080" y="1463040"/>
            <a:ext cx="402336" cy="402336"/>
          </a:xfrm>
          <a:prstGeom prst="ellipse">
            <a:avLst/>
          </a:prstGeom>
          <a:solidFill>
            <a:srgbClr val="0F7C82"/>
          </a:solidFill>
          <a:ln/>
        </p:spPr>
      </p:sp>
      <p:sp>
        <p:nvSpPr>
          <p:cNvPr id="8" name="Text 5"/>
          <p:cNvSpPr txBox="1"/>
          <p:nvPr/>
        </p:nvSpPr>
        <p:spPr>
          <a:xfrm>
            <a:off x="74980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6"/>
          <p:cNvSpPr txBox="1"/>
          <p:nvPr/>
        </p:nvSpPr>
        <p:spPr>
          <a:xfrm>
            <a:off x="8101584" y="1444752"/>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Gradients accumulate</a:t>
            </a:r>
            <a:endParaRPr lang="en-US" sz="1800" dirty="0"/>
          </a:p>
        </p:txBody>
      </p:sp>
      <p:sp>
        <p:nvSpPr>
          <p:cNvPr id="10" name="Text 7"/>
          <p:cNvSpPr txBox="1"/>
          <p:nvPr/>
        </p:nvSpPr>
        <p:spPr>
          <a:xfrm>
            <a:off x="8101584" y="1810512"/>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So clear them before every step.</a:t>
            </a:r>
            <a:endParaRPr lang="en-US" sz="1600" dirty="0"/>
          </a:p>
        </p:txBody>
      </p:sp>
      <p:sp>
        <p:nvSpPr>
          <p:cNvPr id="11" name="Shape 8"/>
          <p:cNvSpPr/>
          <p:nvPr/>
        </p:nvSpPr>
        <p:spPr>
          <a:xfrm>
            <a:off x="7498080" y="2633472"/>
            <a:ext cx="402336" cy="402336"/>
          </a:xfrm>
          <a:prstGeom prst="ellipse">
            <a:avLst/>
          </a:prstGeom>
          <a:solidFill>
            <a:srgbClr val="0F7C82"/>
          </a:solidFill>
          <a:ln/>
        </p:spPr>
      </p:sp>
      <p:sp>
        <p:nvSpPr>
          <p:cNvPr id="12" name="Text 9"/>
          <p:cNvSpPr txBox="1"/>
          <p:nvPr/>
        </p:nvSpPr>
        <p:spPr>
          <a:xfrm>
            <a:off x="7498080" y="26334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8101584" y="2615184"/>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Activations are stored</a:t>
            </a:r>
            <a:endParaRPr lang="en-US" sz="1800" dirty="0"/>
          </a:p>
        </p:txBody>
      </p:sp>
      <p:sp>
        <p:nvSpPr>
          <p:cNvPr id="14" name="Text 11"/>
          <p:cNvSpPr txBox="1"/>
          <p:nvPr/>
        </p:nvSpPr>
        <p:spPr>
          <a:xfrm>
            <a:off x="8101584" y="2980944"/>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Memory grows with batch size.</a:t>
            </a:r>
            <a:endParaRPr lang="en-US" sz="1600" dirty="0"/>
          </a:p>
        </p:txBody>
      </p:sp>
      <p:sp>
        <p:nvSpPr>
          <p:cNvPr id="15" name="Shape 12"/>
          <p:cNvSpPr/>
          <p:nvPr/>
        </p:nvSpPr>
        <p:spPr>
          <a:xfrm>
            <a:off x="7498080" y="3803904"/>
            <a:ext cx="402336" cy="402336"/>
          </a:xfrm>
          <a:prstGeom prst="ellipse">
            <a:avLst/>
          </a:prstGeom>
          <a:solidFill>
            <a:srgbClr val="0F7C82"/>
          </a:solidFill>
          <a:ln/>
        </p:spPr>
      </p:sp>
      <p:sp>
        <p:nvSpPr>
          <p:cNvPr id="16" name="Text 13"/>
          <p:cNvSpPr txBox="1"/>
          <p:nvPr/>
        </p:nvSpPr>
        <p:spPr>
          <a:xfrm>
            <a:off x="7498080" y="38039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4"/>
          <p:cNvSpPr txBox="1"/>
          <p:nvPr/>
        </p:nvSpPr>
        <p:spPr>
          <a:xfrm>
            <a:off x="8101584" y="3785616"/>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Evaluate without a graph</a:t>
            </a:r>
            <a:endParaRPr lang="en-US" sz="1800" dirty="0"/>
          </a:p>
        </p:txBody>
      </p:sp>
      <p:sp>
        <p:nvSpPr>
          <p:cNvPr id="18" name="Text 15"/>
          <p:cNvSpPr txBox="1"/>
          <p:nvPr/>
        </p:nvSpPr>
        <p:spPr>
          <a:xfrm>
            <a:off x="8101584" y="4151376"/>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Turn off gradient tracking to save memory.</a:t>
            </a:r>
            <a:endParaRPr lang="en-US" sz="1600" dirty="0"/>
          </a:p>
        </p:txBody>
      </p:sp>
      <p:sp>
        <p:nvSpPr>
          <p:cNvPr id="19" name="Shape 16"/>
          <p:cNvSpPr/>
          <p:nvPr/>
        </p:nvSpPr>
        <p:spPr>
          <a:xfrm>
            <a:off x="7498080" y="4974336"/>
            <a:ext cx="402336" cy="402336"/>
          </a:xfrm>
          <a:prstGeom prst="ellipse">
            <a:avLst/>
          </a:prstGeom>
          <a:solidFill>
            <a:srgbClr val="C8571B"/>
          </a:solidFill>
          <a:ln/>
        </p:spPr>
      </p:sp>
      <p:sp>
        <p:nvSpPr>
          <p:cNvPr id="20" name="Text 17"/>
          <p:cNvSpPr txBox="1"/>
          <p:nvPr/>
        </p:nvSpPr>
        <p:spPr>
          <a:xfrm>
            <a:off x="7498080" y="497433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1" name="Text 18"/>
          <p:cNvSpPr txBox="1"/>
          <p:nvPr/>
        </p:nvSpPr>
        <p:spPr>
          <a:xfrm>
            <a:off x="8101584" y="4956048"/>
            <a:ext cx="35387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Same numbers as by hand</a:t>
            </a:r>
            <a:endParaRPr lang="en-US" sz="1800" dirty="0"/>
          </a:p>
        </p:txBody>
      </p:sp>
      <p:sp>
        <p:nvSpPr>
          <p:cNvPr id="22" name="Text 19"/>
          <p:cNvSpPr txBox="1"/>
          <p:nvPr/>
        </p:nvSpPr>
        <p:spPr>
          <a:xfrm>
            <a:off x="8101584" y="5321808"/>
            <a:ext cx="3538728" cy="80467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−0.0312 and −0.0780.</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35</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put it all together: the training loop</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DATA</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Feeding the network: splits, standardization, mini-batches</a:t>
            </a:r>
            <a:endParaRPr lang="en-US" sz="3200" dirty="0"/>
          </a:p>
        </p:txBody>
      </p:sp>
      <p:sp>
        <p:nvSpPr>
          <p:cNvPr id="5" name="Shape 2"/>
          <p:cNvSpPr/>
          <p:nvPr/>
        </p:nvSpPr>
        <p:spPr>
          <a:xfrm>
            <a:off x="548640" y="1417320"/>
            <a:ext cx="5280007" cy="685800"/>
          </a:xfrm>
          <a:prstGeom prst="rect">
            <a:avLst/>
          </a:prstGeom>
          <a:solidFill>
            <a:srgbClr val="0F7C82"/>
          </a:solidFill>
          <a:ln/>
        </p:spPr>
        <p:txBody>
          <a:bodyPr/>
          <a:p/>
        </p:txBody>
      </p:sp>
      <p:sp>
        <p:nvSpPr>
          <p:cNvPr id="6" name="Text 3"/>
          <p:cNvSpPr txBox="1"/>
          <p:nvPr/>
        </p:nvSpPr>
        <p:spPr>
          <a:xfrm>
            <a:off x="640080" y="1417320"/>
            <a:ext cx="5179423"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Train 55k</a:t>
            </a:r>
            <a:endParaRPr lang="en-US" sz="1700" dirty="0"/>
          </a:p>
        </p:txBody>
      </p:sp>
      <p:sp>
        <p:nvSpPr>
          <p:cNvPr id="7" name="Shape 4"/>
          <p:cNvSpPr/>
          <p:nvPr/>
        </p:nvSpPr>
        <p:spPr>
          <a:xfrm>
            <a:off x="5865223" y="1417320"/>
            <a:ext cx="446750" cy="685800"/>
          </a:xfrm>
          <a:prstGeom prst="rect">
            <a:avLst/>
          </a:prstGeom>
          <a:solidFill>
            <a:srgbClr val="C8571B"/>
          </a:solidFill>
          <a:ln/>
        </p:spPr>
        <p:txBody>
          <a:bodyPr/>
          <a:p/>
        </p:txBody>
      </p:sp>
      <p:sp>
        <p:nvSpPr>
          <p:cNvPr id="8" name="Text 5"/>
          <p:cNvSpPr txBox="1"/>
          <p:nvPr/>
        </p:nvSpPr>
        <p:spPr>
          <a:xfrm>
            <a:off x="5956663" y="1417320"/>
            <a:ext cx="346166" cy="6858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Val 5k</a:t>
            </a:r>
            <a:endParaRPr lang="en-US" sz="1300" dirty="0"/>
          </a:p>
        </p:txBody>
      </p:sp>
      <p:sp>
        <p:nvSpPr>
          <p:cNvPr id="9" name="Shape 6"/>
          <p:cNvSpPr/>
          <p:nvPr/>
        </p:nvSpPr>
        <p:spPr>
          <a:xfrm>
            <a:off x="6348549" y="1417320"/>
            <a:ext cx="930075" cy="685800"/>
          </a:xfrm>
          <a:prstGeom prst="rect">
            <a:avLst/>
          </a:prstGeom>
          <a:solidFill>
            <a:srgbClr val="2B3A4F"/>
          </a:solidFill>
          <a:ln/>
        </p:spPr>
        <p:txBody>
          <a:bodyPr/>
          <a:p/>
        </p:txBody>
      </p:sp>
      <p:sp>
        <p:nvSpPr>
          <p:cNvPr id="10" name="Text 7"/>
          <p:cNvSpPr txBox="1"/>
          <p:nvPr/>
        </p:nvSpPr>
        <p:spPr>
          <a:xfrm>
            <a:off x="6439989" y="1417320"/>
            <a:ext cx="829491" cy="6858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Test 10k</a:t>
            </a:r>
            <a:endParaRPr lang="en-US" sz="1700" dirty="0"/>
          </a:p>
        </p:txBody>
      </p:sp>
      <p:sp>
        <p:nvSpPr>
          <p:cNvPr id="11" name="Text 8"/>
          <p:cNvSpPr txBox="1"/>
          <p:nvPr/>
        </p:nvSpPr>
        <p:spPr>
          <a:xfrm>
            <a:off x="548640" y="2194560"/>
            <a:ext cx="6766560" cy="365760"/>
          </a:xfrm>
          <a:prstGeom prst="rect">
            <a:avLst/>
          </a:prstGeom>
          <a:noFill/>
          <a:ln/>
        </p:spPr>
        <p:txBody>
          <a:bodyPr wrap="square" lIns="0" tIns="0" rIns="0" bIns="0" rtlCol="0" anchor="t"/>
          <a:lstStyle/>
          <a:p>
            <a:pPr indent="0" marL="0">
              <a:buNone/>
            </a:pPr>
            <a:r>
              <a:rPr lang="en-US" sz="1500" dirty="0">
                <a:solidFill>
                  <a:srgbClr val="5B6675"/>
                </a:solidFill>
                <a:latin typeface="Calibri" pitchFamily="34" charset="0"/>
                <a:ea typeface="Calibri" pitchFamily="34" charset="-122"/>
                <a:cs typeface="Calibri" pitchFamily="34" charset="-120"/>
              </a:rPr>
              <a:t>Train: learn parameters  ·  Val: pick hyperparameters (η, epochs)  ·  Test: once</a:t>
            </a:r>
            <a:endParaRPr lang="en-US" sz="1500" dirty="0"/>
          </a:p>
        </p:txBody>
      </p:sp>
      <p:sp>
        <p:nvSpPr>
          <p:cNvPr id="12" name="Shape 9"/>
          <p:cNvSpPr/>
          <p:nvPr/>
        </p:nvSpPr>
        <p:spPr>
          <a:xfrm>
            <a:off x="548640" y="2788920"/>
            <a:ext cx="6766560" cy="1371600"/>
          </a:xfrm>
          <a:prstGeom prst="roundRect">
            <a:avLst>
              <a:gd name="adj" fmla="val 5333"/>
            </a:avLst>
          </a:prstGeom>
          <a:solidFill>
            <a:srgbClr val="E2F1F1"/>
          </a:solidFill>
          <a:ln/>
        </p:spPr>
        <p:txBody>
          <a:bodyPr/>
          <a:p/>
        </p:txBody>
      </p:sp>
      <p:sp>
        <p:nvSpPr>
          <p:cNvPr id="13" name="Text 10"/>
          <p:cNvSpPr txBox="1"/>
          <p:nvPr/>
        </p:nvSpPr>
        <p:spPr>
          <a:xfrm>
            <a:off x="749808" y="2907792"/>
            <a:ext cx="62179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STANDARDIZE WITH TRAINING STATISTICS</a:t>
            </a:r>
            <a:endParaRPr lang="en-US" sz="1300" dirty="0"/>
          </a:p>
        </p:txBody>
      </p:sp>
      <p:pic>
        <p:nvPicPr>
          <p:cNvPr id="14" name="Image 0" descr="LaTeX: $\displaystyle \tilde{x} = \frac{x - \mu_{\text{train}}}{\sigma_{\text{train}}}$">    </p:cNvPr>
          <p:cNvPicPr>
            <a:picLocks noChangeAspect="1"/>
          </p:cNvPicPr>
          <p:nvPr/>
        </p:nvPicPr>
        <p:blipFill>
          <a:blip r:embed="rId1"/>
          <a:stretch>
            <a:fillRect/>
          </a:stretch>
        </p:blipFill>
        <p:spPr>
          <a:xfrm>
            <a:off x="822960" y="3246120"/>
            <a:ext cx="1304544" cy="455981"/>
          </a:xfrm>
          <a:prstGeom prst="rect">
            <a:avLst/>
          </a:prstGeom>
        </p:spPr>
      </p:pic>
      <p:sp>
        <p:nvSpPr>
          <p:cNvPr id="15" name="Text 11"/>
          <p:cNvSpPr txBox="1"/>
          <p:nvPr/>
        </p:nvSpPr>
        <p:spPr>
          <a:xfrm>
            <a:off x="3108960" y="3246120"/>
            <a:ext cx="4023360" cy="822960"/>
          </a:xfrm>
          <a:prstGeom prst="rect">
            <a:avLst/>
          </a:prstGeom>
          <a:noFill/>
          <a:ln/>
        </p:spPr>
        <p:txBody>
          <a:bodyPr wrap="square" lIns="0" tIns="0" rIns="0" bIns="0" rtlCol="0" anchor="t"/>
          <a:lstStyle/>
          <a:p>
            <a:pPr indent="0" marL="0">
              <a:buNone/>
            </a:pPr>
            <a:r>
              <a:rPr lang="en-US" sz="1600" dirty="0">
                <a:solidFill>
                  <a:srgbClr val="0A5559"/>
                </a:solidFill>
                <a:latin typeface="Calibri" pitchFamily="34" charset="0"/>
                <a:ea typeface="Calibri" pitchFamily="34" charset="-122"/>
                <a:cs typeface="Calibri" pitchFamily="34" charset="-120"/>
              </a:rPr>
              <a:t>Never compute μ, σ on validation or test data: that leaks information.</a:t>
            </a:r>
            <a:endParaRPr lang="en-US" sz="1600" dirty="0"/>
          </a:p>
        </p:txBody>
      </p:sp>
      <p:sp>
        <p:nvSpPr>
          <p:cNvPr id="16" name="Shape 12"/>
          <p:cNvSpPr/>
          <p:nvPr/>
        </p:nvSpPr>
        <p:spPr>
          <a:xfrm>
            <a:off x="548640" y="4343400"/>
            <a:ext cx="6766560" cy="1783080"/>
          </a:xfrm>
          <a:prstGeom prst="roundRect">
            <a:avLst>
              <a:gd name="adj" fmla="val 4444"/>
            </a:avLst>
          </a:prstGeom>
          <a:solidFill>
            <a:srgbClr val="1E2735"/>
          </a:solidFill>
          <a:ln/>
        </p:spPr>
        <p:txBody>
          <a:bodyPr/>
          <a:p/>
        </p:txBody>
      </p:sp>
      <p:sp>
        <p:nvSpPr>
          <p:cNvPr id="17" name="Text 13"/>
          <p:cNvSpPr txBox="1"/>
          <p:nvPr/>
        </p:nvSpPr>
        <p:spPr>
          <a:xfrm>
            <a:off x="749808" y="4480560"/>
            <a:ext cx="6446520" cy="1554480"/>
          </a:xfrm>
          <a:prstGeom prst="rect">
            <a:avLst/>
          </a:prstGeom>
          <a:noFill/>
          <a:ln/>
        </p:spPr>
        <p:txBody>
          <a:bodyPr wrap="square" lIns="0" tIns="0" rIns="0" bIns="0" rtlCol="0" anchor="t"/>
          <a:lstStyle/>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 shuffle the 55,000 training examples,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cut them into mini-batches of 128</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 430 updates per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validation: batches of 512, no shuffle, no updates</a:t>
            </a:r>
            <a:endParaRPr lang="en-US" sz="14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543800" y="1417320"/>
          <a:ext cx="4096512" cy="914400"/>
        </p:xfrm>
        <a:graphic>
          <a:graphicData uri="http://schemas.openxmlformats.org/drawingml/2006/table">
            <a:tbl>
              <a:tblPr/>
              <a:tblGrid>
                <a:gridCol w="1170432"/>
                <a:gridCol w="914400"/>
                <a:gridCol w="1097280"/>
                <a:gridCol w="914400"/>
              </a:tblGrid>
              <a:tr h="50292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Full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Mini</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Single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Gradient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exact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noisy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Hardware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costly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best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poor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Verdict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use this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rare</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bl>
          </a:graphicData>
        </a:graphic>
      </p:graphicFrame>
      <p:sp>
        <p:nvSpPr>
          <p:cNvPr id="19" name="Shape 14"/>
          <p:cNvSpPr/>
          <p:nvPr/>
        </p:nvSpPr>
        <p:spPr>
          <a:xfrm>
            <a:off x="7543800" y="3657600"/>
            <a:ext cx="4096512" cy="2468880"/>
          </a:xfrm>
          <a:prstGeom prst="roundRect">
            <a:avLst>
              <a:gd name="adj" fmla="val 2963"/>
            </a:avLst>
          </a:prstGeom>
          <a:solidFill>
            <a:srgbClr val="F3F5F8"/>
          </a:solidFill>
          <a:ln/>
        </p:spPr>
        <p:txBody>
          <a:bodyPr/>
          <a:p/>
        </p:txBody>
      </p:sp>
      <p:sp>
        <p:nvSpPr>
          <p:cNvPr id="20" name="Text 15"/>
          <p:cNvSpPr txBox="1"/>
          <p:nvPr/>
        </p:nvSpPr>
        <p:spPr>
          <a:xfrm>
            <a:off x="7726680" y="3749040"/>
            <a:ext cx="374904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gradient noise ∝ 1/√m</a:t>
            </a:r>
            <a:endParaRPr lang="en-US" sz="2600" dirty="0"/>
          </a:p>
        </p:txBody>
      </p:sp>
      <p:sp>
        <p:nvSpPr>
          <p:cNvPr id="21" name="Text 16"/>
          <p:cNvSpPr txBox="1"/>
          <p:nvPr/>
        </p:nvSpPr>
        <p:spPr>
          <a:xfrm>
            <a:off x="7726680" y="4389120"/>
            <a:ext cx="3749040" cy="1645920"/>
          </a:xfrm>
          <a:prstGeom prst="rect">
            <a:avLst/>
          </a:prstGeom>
          <a:noFill/>
          <a:ln/>
        </p:spPr>
        <p:txBody>
          <a:bodyPr wrap="square" lIns="0" tIns="0" rIns="0" bIns="0" rtlCol="0" anchor="t"/>
          <a:lstStyle/>
          <a:p>
            <a:pPr indent="0" marL="0">
              <a:buNone/>
            </a:pPr>
            <a:r>
              <a:rPr lang="en-US" sz="1600" dirty="0">
                <a:solidFill>
                  <a:srgbClr val="17202E"/>
                </a:solidFill>
                <a:latin typeface="Calibri" pitchFamily="34" charset="0"/>
                <a:ea typeface="Calibri" pitchFamily="34" charset="-122"/>
                <a:cs typeface="Calibri" pitchFamily="34" charset="-120"/>
              </a:rPr>
              <a:t>m = batch size. Epoch: one pass over the data. Iteration: one update.</a:t>
            </a:r>
            <a:endParaRPr lang="en-US" sz="1600" dirty="0"/>
          </a:p>
          <a:p>
            <a:pPr indent="0" marL="0">
              <a:buNone/>
            </a:pPr>
            <a:r>
              <a:rPr lang="en-US" sz="1600" dirty="0">
                <a:solidFill>
                  <a:srgbClr val="17202E"/>
                </a:solidFill>
                <a:latin typeface="Calibri" pitchFamily="34" charset="0"/>
                <a:ea typeface="Calibri" pitchFamily="34" charset="-122"/>
                <a:cs typeface="Calibri" pitchFamily="34" charset="-120"/>
              </a:rPr>
              <a:t>55,000 images, batch 128 → 430 iterations per epoch.</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36</a:t>
            </a:fld>
            <a:endParaRPr lang="en-US"/>
          </a:p>
        </p:txBody>
      </p:sp>
      <p:sp>
        <p:nvSpPr>
          <p:cNvPr id="38"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every step needs ∇J for every parameter: backpropagation</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The training loop: five steps, every mini-batch</a:t>
            </a:r>
            <a:endParaRPr lang="en-US" sz="3200" dirty="0"/>
          </a:p>
        </p:txBody>
      </p:sp>
      <p:sp>
        <p:nvSpPr>
          <p:cNvPr id="5" name="Shape 2"/>
          <p:cNvSpPr/>
          <p:nvPr/>
        </p:nvSpPr>
        <p:spPr>
          <a:xfrm>
            <a:off x="548640" y="1417320"/>
            <a:ext cx="6675120" cy="3977640"/>
          </a:xfrm>
          <a:prstGeom prst="roundRect">
            <a:avLst>
              <a:gd name="adj" fmla="val 1379"/>
            </a:avLst>
          </a:prstGeom>
          <a:solidFill>
            <a:srgbClr val="1E2735"/>
          </a:solidFill>
          <a:ln/>
        </p:spPr>
      </p:sp>
      <p:sp>
        <p:nvSpPr>
          <p:cNvPr id="6" name="Text 3"/>
          <p:cNvSpPr txBox="1"/>
          <p:nvPr/>
        </p:nvSpPr>
        <p:spPr>
          <a:xfrm>
            <a:off x="749808" y="1563624"/>
            <a:ext cx="6355080" cy="3721608"/>
          </a:xfrm>
          <a:prstGeom prst="rect">
            <a:avLst/>
          </a:prstGeom>
          <a:noFill/>
          <a:ln/>
        </p:spPr>
        <p:txBody>
          <a:bodyPr wrap="square" lIns="0" tIns="0" rIns="0" bIns="0" rtlCol="0" anchor="t"/>
          <a:lstStyle/>
          <a:p>
            <a:pPr indent="0" marL="0">
              <a:lnSpc>
                <a:spcPct val="105000"/>
              </a:lnSpc>
              <a:buNone/>
            </a:pP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epoch:</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training mode            </a:t>
            </a:r>
            <a:r>
              <a:rPr lang="en-US" sz="1500" dirty="0">
                <a:solidFill>
                  <a:srgbClr val="8D99AB"/>
                </a:solidFill>
                <a:latin typeface="Consolas" pitchFamily="34" charset="0"/>
                <a:ea typeface="Consolas" pitchFamily="34" charset="-122"/>
                <a:cs typeface="Consolas" pitchFamily="34" charset="-120"/>
              </a:rPr>
              <a:t xml:space="preserve"># dropout on</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for</a:t>
            </a: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each</a:t>
            </a:r>
            <a:r>
              <a:rPr lang="en-US" sz="1500" dirty="0">
                <a:solidFill>
                  <a:srgbClr val="E6EAF0"/>
                </a:solidFill>
                <a:latin typeface="Consolas" pitchFamily="34" charset="0"/>
                <a:ea typeface="Consolas" pitchFamily="34" charset="-122"/>
                <a:cs typeface="Consolas" pitchFamily="34" charset="-120"/>
              </a:rPr>
              <a:t xml:space="preserve"> mini-batch (x, y):</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clear old gradients      </a:t>
            </a:r>
            <a:r>
              <a:rPr lang="en-US" sz="1500" dirty="0">
                <a:solidFill>
                  <a:srgbClr val="8D99AB"/>
                </a:solidFill>
                <a:latin typeface="Consolas" pitchFamily="34" charset="0"/>
                <a:ea typeface="Consolas" pitchFamily="34" charset="-122"/>
                <a:cs typeface="Consolas" pitchFamily="34" charset="-120"/>
              </a:rPr>
              <a:t xml:space="preserve"># 1 clear old ∇</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logits = model(x)        </a:t>
            </a:r>
            <a:r>
              <a:rPr lang="en-US" sz="1500" dirty="0">
                <a:solidFill>
                  <a:srgbClr val="8D99AB"/>
                </a:solidFill>
                <a:latin typeface="Consolas" pitchFamily="34" charset="0"/>
                <a:ea typeface="Consolas" pitchFamily="34" charset="-122"/>
                <a:cs typeface="Consolas" pitchFamily="34" charset="-120"/>
              </a:rPr>
              <a:t xml:space="preserve"># 2 forward</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loss = loss_fn(logits, y)  </a:t>
            </a:r>
            <a:r>
              <a:rPr lang="en-US" sz="1500" dirty="0">
                <a:solidFill>
                  <a:srgbClr val="8D99AB"/>
                </a:solidFill>
                <a:latin typeface="Consolas" pitchFamily="34" charset="0"/>
                <a:ea typeface="Consolas" pitchFamily="34" charset="-122"/>
                <a:cs typeface="Consolas" pitchFamily="34" charset="-120"/>
              </a:rPr>
              <a:t xml:space="preserve"># 3 loss</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backward(loss)           </a:t>
            </a:r>
            <a:r>
              <a:rPr lang="en-US" sz="1500" dirty="0">
                <a:solidFill>
                  <a:srgbClr val="8D99AB"/>
                </a:solidFill>
                <a:latin typeface="Consolas" pitchFamily="34" charset="0"/>
                <a:ea typeface="Consolas" pitchFamily="34" charset="-122"/>
                <a:cs typeface="Consolas" pitchFamily="34" charset="-120"/>
              </a:rPr>
              <a:t xml:space="preserve"># 4 backprop</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θ ← θ − η∇J              </a:t>
            </a:r>
            <a:r>
              <a:rPr lang="en-US" sz="1500" dirty="0">
                <a:solidFill>
                  <a:srgbClr val="8D99AB"/>
                </a:solidFill>
                <a:latin typeface="Consolas" pitchFamily="34" charset="0"/>
                <a:ea typeface="Consolas" pitchFamily="34" charset="-122"/>
                <a:cs typeface="Consolas" pitchFamily="34" charset="-120"/>
              </a:rPr>
              <a:t xml:space="preserve"># 5 update</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set evaluation mode          </a:t>
            </a:r>
            <a:r>
              <a:rPr lang="en-US" sz="1500" dirty="0">
                <a:solidFill>
                  <a:srgbClr val="8D99AB"/>
                </a:solidFill>
                <a:latin typeface="Consolas" pitchFamily="34" charset="0"/>
                <a:ea typeface="Consolas" pitchFamily="34" charset="-122"/>
                <a:cs typeface="Consolas" pitchFamily="34" charset="-120"/>
              </a:rPr>
              <a:t xml:space="preserve"># dropout off</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a:t>
            </a:r>
            <a:r>
              <a:rPr lang="en-US" sz="1500" dirty="0">
                <a:solidFill>
                  <a:srgbClr val="7FD1CF"/>
                </a:solidFill>
                <a:latin typeface="Consolas" pitchFamily="34" charset="0"/>
                <a:ea typeface="Consolas" pitchFamily="34" charset="-122"/>
                <a:cs typeface="Consolas" pitchFamily="34" charset="-120"/>
              </a:rPr>
              <a:t xml:space="preserve">without</a:t>
            </a:r>
            <a:r>
              <a:rPr lang="en-US" sz="1500" dirty="0">
                <a:solidFill>
                  <a:srgbClr val="E6EAF0"/>
                </a:solidFill>
                <a:latin typeface="Consolas" pitchFamily="34" charset="0"/>
                <a:ea typeface="Consolas" pitchFamily="34" charset="-122"/>
                <a:cs typeface="Consolas" pitchFamily="34" charset="-120"/>
              </a:rPr>
              <a:t xml:space="preserve"> gradient tracking:</a:t>
            </a:r>
            <a:endParaRPr lang="en-US" sz="1500" dirty="0"/>
          </a:p>
          <a:p>
            <a:pPr indent="0" marL="0">
              <a:lnSpc>
                <a:spcPct val="105000"/>
              </a:lnSpc>
              <a:buNone/>
            </a:pPr>
            <a:r>
              <a:rPr lang="en-US" sz="1500" dirty="0">
                <a:solidFill>
                  <a:srgbClr val="E6EAF0"/>
                </a:solidFill>
                <a:latin typeface="Consolas" pitchFamily="34" charset="0"/>
                <a:ea typeface="Consolas" pitchFamily="34" charset="-122"/>
                <a:cs typeface="Consolas" pitchFamily="34" charset="-120"/>
              </a:rPr>
              <a:t xml:space="preserve">        val_loss = evaluate(model, val_batches)</a:t>
            </a:r>
            <a:endParaRPr lang="en-US" sz="1500" dirty="0"/>
          </a:p>
        </p:txBody>
      </p:sp>
      <p:sp>
        <p:nvSpPr>
          <p:cNvPr id="7" name="Shape 4"/>
          <p:cNvSpPr/>
          <p:nvPr/>
        </p:nvSpPr>
        <p:spPr>
          <a:xfrm>
            <a:off x="8046720" y="2103120"/>
            <a:ext cx="2834640" cy="2834640"/>
          </a:xfrm>
          <a:prstGeom prst="ellipse">
            <a:avLst/>
          </a:prstGeom>
          <a:ln w="25400">
            <a:solidFill>
              <a:srgbClr val="D5DBE3"/>
            </a:solidFill>
            <a:prstDash val="dash"/>
          </a:ln>
        </p:spPr>
      </p:sp>
      <p:sp>
        <p:nvSpPr>
          <p:cNvPr id="8" name="Shape 5"/>
          <p:cNvSpPr/>
          <p:nvPr/>
        </p:nvSpPr>
        <p:spPr>
          <a:xfrm>
            <a:off x="8750808" y="1847088"/>
            <a:ext cx="1417320" cy="512064"/>
          </a:xfrm>
          <a:prstGeom prst="roundRect">
            <a:avLst>
              <a:gd name="adj" fmla="val 17857"/>
            </a:avLst>
          </a:prstGeom>
          <a:solidFill>
            <a:srgbClr val="E2F1F1"/>
          </a:solidFill>
          <a:ln w="15875">
            <a:solidFill>
              <a:srgbClr val="0F7C82"/>
            </a:solidFill>
            <a:prstDash val="solid"/>
          </a:ln>
        </p:spPr>
      </p:sp>
      <p:sp>
        <p:nvSpPr>
          <p:cNvPr id="9" name="Text 6"/>
          <p:cNvSpPr txBox="1"/>
          <p:nvPr/>
        </p:nvSpPr>
        <p:spPr>
          <a:xfrm>
            <a:off x="8796528" y="1847088"/>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1  clear ∇</a:t>
            </a:r>
            <a:endParaRPr lang="en-US" sz="1600" dirty="0"/>
          </a:p>
        </p:txBody>
      </p:sp>
      <p:sp>
        <p:nvSpPr>
          <p:cNvPr id="10" name="Shape 7"/>
          <p:cNvSpPr/>
          <p:nvPr/>
        </p:nvSpPr>
        <p:spPr>
          <a:xfrm>
            <a:off x="10098759" y="2826432"/>
            <a:ext cx="1417320" cy="512064"/>
          </a:xfrm>
          <a:prstGeom prst="roundRect">
            <a:avLst>
              <a:gd name="adj" fmla="val 17857"/>
            </a:avLst>
          </a:prstGeom>
          <a:solidFill>
            <a:srgbClr val="E2F1F1"/>
          </a:solidFill>
          <a:ln w="15875">
            <a:solidFill>
              <a:srgbClr val="0F7C82"/>
            </a:solidFill>
            <a:prstDash val="solid"/>
          </a:ln>
        </p:spPr>
      </p:sp>
      <p:sp>
        <p:nvSpPr>
          <p:cNvPr id="11" name="Text 8"/>
          <p:cNvSpPr txBox="1"/>
          <p:nvPr/>
        </p:nvSpPr>
        <p:spPr>
          <a:xfrm>
            <a:off x="10144479"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2  forward</a:t>
            </a:r>
            <a:endParaRPr lang="en-US" sz="1600" dirty="0"/>
          </a:p>
        </p:txBody>
      </p:sp>
      <p:sp>
        <p:nvSpPr>
          <p:cNvPr id="12" name="Shape 9"/>
          <p:cNvSpPr/>
          <p:nvPr/>
        </p:nvSpPr>
        <p:spPr>
          <a:xfrm>
            <a:off x="9583888" y="4411044"/>
            <a:ext cx="1417320" cy="512064"/>
          </a:xfrm>
          <a:prstGeom prst="roundRect">
            <a:avLst>
              <a:gd name="adj" fmla="val 17857"/>
            </a:avLst>
          </a:prstGeom>
          <a:solidFill>
            <a:srgbClr val="E2F1F1"/>
          </a:solidFill>
          <a:ln w="15875">
            <a:solidFill>
              <a:srgbClr val="0F7C82"/>
            </a:solidFill>
            <a:prstDash val="solid"/>
          </a:ln>
        </p:spPr>
      </p:sp>
      <p:sp>
        <p:nvSpPr>
          <p:cNvPr id="13" name="Text 10"/>
          <p:cNvSpPr txBox="1"/>
          <p:nvPr/>
        </p:nvSpPr>
        <p:spPr>
          <a:xfrm>
            <a:off x="962960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3  loss</a:t>
            </a:r>
            <a:endParaRPr lang="en-US" sz="1600" dirty="0"/>
          </a:p>
        </p:txBody>
      </p:sp>
      <p:sp>
        <p:nvSpPr>
          <p:cNvPr id="14" name="Shape 11"/>
          <p:cNvSpPr/>
          <p:nvPr/>
        </p:nvSpPr>
        <p:spPr>
          <a:xfrm>
            <a:off x="7917728" y="4411044"/>
            <a:ext cx="1417320" cy="512064"/>
          </a:xfrm>
          <a:prstGeom prst="roundRect">
            <a:avLst>
              <a:gd name="adj" fmla="val 17857"/>
            </a:avLst>
          </a:prstGeom>
          <a:solidFill>
            <a:srgbClr val="FBEADF"/>
          </a:solidFill>
          <a:ln w="15875">
            <a:solidFill>
              <a:srgbClr val="C8571B"/>
            </a:solidFill>
            <a:prstDash val="solid"/>
          </a:ln>
        </p:spPr>
      </p:sp>
      <p:sp>
        <p:nvSpPr>
          <p:cNvPr id="15" name="Text 12"/>
          <p:cNvSpPr txBox="1"/>
          <p:nvPr/>
        </p:nvSpPr>
        <p:spPr>
          <a:xfrm>
            <a:off x="7963448" y="4411044"/>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4  backward</a:t>
            </a:r>
            <a:endParaRPr lang="en-US" sz="1600" dirty="0"/>
          </a:p>
        </p:txBody>
      </p:sp>
      <p:sp>
        <p:nvSpPr>
          <p:cNvPr id="16" name="Shape 13"/>
          <p:cNvSpPr/>
          <p:nvPr/>
        </p:nvSpPr>
        <p:spPr>
          <a:xfrm>
            <a:off x="7402857" y="2826432"/>
            <a:ext cx="1417320" cy="512064"/>
          </a:xfrm>
          <a:prstGeom prst="roundRect">
            <a:avLst>
              <a:gd name="adj" fmla="val 17857"/>
            </a:avLst>
          </a:prstGeom>
          <a:solidFill>
            <a:srgbClr val="E2F1F1"/>
          </a:solidFill>
          <a:ln w="15875">
            <a:solidFill>
              <a:srgbClr val="0F7C82"/>
            </a:solidFill>
            <a:prstDash val="solid"/>
          </a:ln>
        </p:spPr>
      </p:sp>
      <p:sp>
        <p:nvSpPr>
          <p:cNvPr id="17" name="Text 14"/>
          <p:cNvSpPr txBox="1"/>
          <p:nvPr/>
        </p:nvSpPr>
        <p:spPr>
          <a:xfrm>
            <a:off x="7448577" y="2826432"/>
            <a:ext cx="1325880" cy="512064"/>
          </a:xfrm>
          <a:prstGeom prst="rect">
            <a:avLst/>
          </a:prstGeom>
          <a:noFill/>
          <a:ln/>
        </p:spPr>
        <p:txBody>
          <a:bodyPr wrap="square" lIns="0" tIns="0" rIns="0" bIns="0" rtlCol="0" anchor="ctr"/>
          <a:lstStyle/>
          <a:p>
            <a:pPr algn="ctr" indent="0" marL="0">
              <a:buNone/>
            </a:pPr>
            <a:r>
              <a:rPr lang="en-US" sz="1600" b="1" dirty="0">
                <a:solidFill>
                  <a:srgbClr val="17202E"/>
                </a:solidFill>
                <a:latin typeface="Calibri" pitchFamily="34" charset="0"/>
                <a:ea typeface="Calibri" pitchFamily="34" charset="-122"/>
                <a:cs typeface="Calibri" pitchFamily="34" charset="-120"/>
              </a:rPr>
              <a:t>5  update</a:t>
            </a:r>
            <a:endParaRPr lang="en-US" sz="1600" dirty="0"/>
          </a:p>
        </p:txBody>
      </p:sp>
      <p:sp>
        <p:nvSpPr>
          <p:cNvPr id="18" name="Text 15"/>
          <p:cNvSpPr txBox="1"/>
          <p:nvPr/>
        </p:nvSpPr>
        <p:spPr>
          <a:xfrm>
            <a:off x="8869680" y="3154680"/>
            <a:ext cx="1188720" cy="731520"/>
          </a:xfrm>
          <a:prstGeom prst="rect">
            <a:avLst/>
          </a:prstGeom>
          <a:noFill/>
          <a:ln/>
        </p:spPr>
        <p:txBody>
          <a:bodyPr wrap="square" lIns="0" tIns="0" rIns="0" bIns="0" rtlCol="0" anchor="ctr"/>
          <a:lstStyle/>
          <a:p>
            <a:pPr algn="ctr" indent="0" marL="0">
              <a:buNone/>
            </a:pPr>
            <a:r>
              <a:rPr lang="en-US" sz="1500" dirty="0">
                <a:solidFill>
                  <a:srgbClr val="5B6675"/>
                </a:solidFill>
                <a:latin typeface="Calibri" pitchFamily="34" charset="0"/>
                <a:ea typeface="Calibri" pitchFamily="34" charset="-122"/>
                <a:cs typeface="Calibri" pitchFamily="34" charset="-120"/>
              </a:rPr>
              <a:t>every</a:t>
            </a:r>
            <a:endParaRPr lang="en-US" sz="1500" dirty="0"/>
          </a:p>
          <a:p>
            <a:pPr algn="ctr" indent="0" marL="0">
              <a:buNone/>
            </a:pPr>
            <a:r>
              <a:rPr lang="en-US" sz="1500" dirty="0">
                <a:solidFill>
                  <a:srgbClr val="5B6675"/>
                </a:solidFill>
                <a:latin typeface="Calibri" pitchFamily="34" charset="0"/>
                <a:ea typeface="Calibri" pitchFamily="34" charset="-122"/>
                <a:cs typeface="Calibri" pitchFamily="34" charset="-120"/>
              </a:rPr>
              <a:t>mini-batch</a:t>
            </a:r>
            <a:endParaRPr lang="en-US" sz="1500" dirty="0"/>
          </a:p>
        </p:txBody>
      </p:sp>
      <p:sp>
        <p:nvSpPr>
          <p:cNvPr id="19" name="Shape 16"/>
          <p:cNvSpPr/>
          <p:nvPr/>
        </p:nvSpPr>
        <p:spPr>
          <a:xfrm>
            <a:off x="548640" y="5577840"/>
            <a:ext cx="11094415" cy="594360"/>
          </a:xfrm>
          <a:prstGeom prst="roundRect">
            <a:avLst>
              <a:gd name="adj" fmla="val 12308"/>
            </a:avLst>
          </a:prstGeom>
          <a:solidFill>
            <a:srgbClr val="E2F1F1"/>
          </a:solidFill>
          <a:ln/>
        </p:spPr>
      </p:sp>
      <p:sp>
        <p:nvSpPr>
          <p:cNvPr id="20" name="Text 17"/>
          <p:cNvSpPr txBox="1"/>
          <p:nvPr/>
        </p:nvSpPr>
        <p:spPr>
          <a:xfrm>
            <a:off x="749808" y="5623560"/>
            <a:ext cx="10692079" cy="50292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Training mode to learn; evaluation mode, no gradient tracking, to validate.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run it on our running example</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training curves after 20 epochs</a:t>
            </a:r>
            <a:endParaRPr lang="en-US" sz="3200" dirty="0"/>
          </a:p>
        </p:txBody>
      </p:sp>
      <p:graphicFrame>
        <p:nvGraphicFramePr>
          <p:cNvPr id="5" name="Chart 0" descr="Running example loss curves: training falls to 0.14, validation is lowest at epoch 5 then rises."/>
          <p:cNvGraphicFramePr/>
          <p:nvPr/>
        </p:nvGraphicFramePr>
        <p:xfrm>
          <a:off x="457200" y="1417320"/>
          <a:ext cx="548640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Running example accuracy: validation about 89.3%, training 94.5%."/>
          <p:cNvGraphicFramePr/>
          <p:nvPr/>
        </p:nvGraphicFramePr>
        <p:xfrm>
          <a:off x="5897880" y="1417320"/>
          <a:ext cx="5806440" cy="29260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5989320" y="4526280"/>
            <a:ext cx="5650992" cy="1600200"/>
          </a:xfrm>
          <a:prstGeom prst="roundRect">
            <a:avLst>
              <a:gd name="adj" fmla="val 4571"/>
            </a:avLst>
          </a:prstGeom>
          <a:solidFill>
            <a:srgbClr val="FBEADF"/>
          </a:solidFill>
          <a:ln/>
        </p:spPr>
        <p:txBody>
          <a:bodyPr/>
          <a:p/>
        </p:txBody>
      </p:sp>
      <p:sp>
        <p:nvSpPr>
          <p:cNvPr id="8" name="Text 3"/>
          <p:cNvSpPr txBox="1"/>
          <p:nvPr/>
        </p:nvSpPr>
        <p:spPr>
          <a:xfrm>
            <a:off x="6190488" y="4572000"/>
            <a:ext cx="5248656" cy="150876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Val loss is best at epoch 5 (other seeds: 15, 9), yet val accuracy still creeps up: the model grows over-confident. Keep the checkpoint that is best on the metric you care about.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38</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SEED 0 OF 3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break, then: making deep networks train and generalize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10-MINUTE BREAK</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Back at 1:34</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Something to think about:</a:t>
            </a:r>
            <a:endParaRPr lang="en-US" sz="1800" dirty="0"/>
          </a:p>
          <a:p>
            <a:pPr indent="0" marL="0">
              <a:buNone/>
            </a:pPr>
            <a:r>
              <a:rPr lang="en-US" sz="1800" dirty="0">
                <a:solidFill>
                  <a:srgbClr val="C9D3DF"/>
                </a:solidFill>
                <a:latin typeface="Calibri" pitchFamily="34" charset="0"/>
                <a:ea typeface="Calibri" pitchFamily="34" charset="-122"/>
                <a:cs typeface="Calibri" pitchFamily="34" charset="-120"/>
              </a:rPr>
              <a:t>A 30-layer plain MLP trains worse than a 10-layer one — on the TRAINING set, not just validation. Is that overfitting? What could cause it?</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PART 3  ·  ≈ 46 MINUTES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Making deep networks train and generalize</a:t>
            </a:r>
            <a:endParaRPr lang="en-US" sz="3600" dirty="0"/>
          </a:p>
        </p:txBody>
      </p:sp>
      <p:sp>
        <p:nvSpPr>
          <p:cNvPr id="4"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Keep gradients alive: initialization, residuals</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Handle ravines: momentum, Adam, AdamW</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Diagnose the gap: under- vs overfitting</a:t>
            </a:r>
            <a:endParaRPr lang="en-US" sz="1800" dirty="0"/>
          </a:p>
          <a:p>
            <a:pPr marL="342900" indent="-342900">
              <a:spcAft>
                <a:spcPts val="1000"/>
              </a:spcAft>
              <a:buSzPct val="100000"/>
              <a:buChar char="•"/>
            </a:pPr>
            <a:r>
              <a:rPr lang="en-US" sz="1800" dirty="0">
                <a:solidFill>
                  <a:srgbClr val="C9D3DF"/>
                </a:solidFill>
                <a:latin typeface="Calibri" pitchFamily="34" charset="0"/>
                <a:ea typeface="Calibri" pitchFamily="34" charset="-122"/>
                <a:cs typeface="Calibri" pitchFamily="34" charset="-120"/>
              </a:rPr>
              <a:t>Close the gap: data, augmentation, regularization</a:t>
            </a:r>
            <a:endParaRPr lang="en-US" sz="1800" dirty="0"/>
          </a:p>
          <a:p>
            <a:pPr marL="0" indent="0">
              <a:spcBef>
                <a:spcPts val="800"/>
              </a:spcBef>
              <a:buNone/>
            </a:pPr>
            <a:r>
              <a:rPr lang="en-US" sz="1600" b="1" dirty="0">
                <a:solidFill>
                  <a:srgbClr val="7FD1CF"/>
                </a:solidFill>
                <a:latin typeface="Calibri" pitchFamily="34" charset="0"/>
                <a:ea typeface="Calibri" pitchFamily="34" charset="-122"/>
                <a:cs typeface="Calibri" pitchFamily="34" charset="-120"/>
              </a:rPr>
              <a:t>Break question: answered once gradients can flow (residual connections).</a:t>
            </a:r>
            <a:endParaRPr lang="en-US" sz="1600" dirty="0"/>
          </a:p>
        </p:txBody>
      </p:sp>
      <p:sp>
        <p:nvSpPr>
          <p:cNvPr id="5" name="Shape 3"/>
          <p:cNvSpPr/>
          <p:nvPr/>
        </p:nvSpPr>
        <p:spPr>
          <a:xfrm flipV="1">
            <a:off x="8028432" y="2171700"/>
            <a:ext cx="809244" cy="388620"/>
          </a:xfrm>
          <a:prstGeom prst="line">
            <a:avLst/>
          </a:prstGeom>
          <a:noFill/>
          <a:ln w="11430">
            <a:solidFill>
              <a:srgbClr val="33445C"/>
            </a:solidFill>
            <a:prstDash val="solid"/>
          </a:ln>
        </p:spPr>
      </p:sp>
      <p:sp>
        <p:nvSpPr>
          <p:cNvPr id="6" name="Shape 4"/>
          <p:cNvSpPr/>
          <p:nvPr/>
        </p:nvSpPr>
        <p:spPr>
          <a:xfrm>
            <a:off x="8028432" y="2560320"/>
            <a:ext cx="809244" cy="388620"/>
          </a:xfrm>
          <a:prstGeom prst="line">
            <a:avLst/>
          </a:prstGeom>
          <a:noFill/>
          <a:ln w="11430">
            <a:solidFill>
              <a:srgbClr val="33445C"/>
            </a:solidFill>
            <a:prstDash val="solid"/>
          </a:ln>
        </p:spPr>
      </p:sp>
      <p:sp>
        <p:nvSpPr>
          <p:cNvPr id="7" name="Shape 5"/>
          <p:cNvSpPr/>
          <p:nvPr/>
        </p:nvSpPr>
        <p:spPr>
          <a:xfrm>
            <a:off x="8028432" y="2560320"/>
            <a:ext cx="809244" cy="1165860"/>
          </a:xfrm>
          <a:prstGeom prst="line">
            <a:avLst/>
          </a:prstGeom>
          <a:noFill/>
          <a:ln w="11430">
            <a:solidFill>
              <a:srgbClr val="33445C"/>
            </a:solidFill>
            <a:prstDash val="solid"/>
          </a:ln>
        </p:spPr>
      </p:sp>
      <p:sp>
        <p:nvSpPr>
          <p:cNvPr id="8" name="Shape 6"/>
          <p:cNvSpPr/>
          <p:nvPr/>
        </p:nvSpPr>
        <p:spPr>
          <a:xfrm>
            <a:off x="8028432" y="2560320"/>
            <a:ext cx="809244" cy="1943100"/>
          </a:xfrm>
          <a:prstGeom prst="line">
            <a:avLst/>
          </a:prstGeom>
          <a:noFill/>
          <a:ln w="11430">
            <a:solidFill>
              <a:srgbClr val="33445C"/>
            </a:solidFill>
            <a:prstDash val="solid"/>
          </a:ln>
        </p:spPr>
      </p:sp>
      <p:sp>
        <p:nvSpPr>
          <p:cNvPr id="9" name="Shape 7"/>
          <p:cNvSpPr/>
          <p:nvPr/>
        </p:nvSpPr>
        <p:spPr>
          <a:xfrm flipV="1">
            <a:off x="8028432" y="2171700"/>
            <a:ext cx="809244" cy="1165860"/>
          </a:xfrm>
          <a:prstGeom prst="line">
            <a:avLst/>
          </a:prstGeom>
          <a:noFill/>
          <a:ln w="11430">
            <a:solidFill>
              <a:srgbClr val="33445C"/>
            </a:solidFill>
            <a:prstDash val="solid"/>
          </a:ln>
        </p:spPr>
      </p:sp>
      <p:sp>
        <p:nvSpPr>
          <p:cNvPr id="10" name="Shape 8"/>
          <p:cNvSpPr/>
          <p:nvPr/>
        </p:nvSpPr>
        <p:spPr>
          <a:xfrm flipV="1">
            <a:off x="8028432" y="2948940"/>
            <a:ext cx="809244" cy="388620"/>
          </a:xfrm>
          <a:prstGeom prst="line">
            <a:avLst/>
          </a:prstGeom>
          <a:noFill/>
          <a:ln w="11430">
            <a:solidFill>
              <a:srgbClr val="33445C"/>
            </a:solidFill>
            <a:prstDash val="solid"/>
          </a:ln>
        </p:spPr>
      </p:sp>
      <p:sp>
        <p:nvSpPr>
          <p:cNvPr id="11" name="Shape 9"/>
          <p:cNvSpPr/>
          <p:nvPr/>
        </p:nvSpPr>
        <p:spPr>
          <a:xfrm>
            <a:off x="8028432" y="3337560"/>
            <a:ext cx="809244" cy="388620"/>
          </a:xfrm>
          <a:prstGeom prst="line">
            <a:avLst/>
          </a:prstGeom>
          <a:noFill/>
          <a:ln w="11430">
            <a:solidFill>
              <a:srgbClr val="33445C"/>
            </a:solidFill>
            <a:prstDash val="solid"/>
          </a:ln>
        </p:spPr>
      </p:sp>
      <p:sp>
        <p:nvSpPr>
          <p:cNvPr id="12" name="Shape 10"/>
          <p:cNvSpPr/>
          <p:nvPr/>
        </p:nvSpPr>
        <p:spPr>
          <a:xfrm>
            <a:off x="8028432" y="3337560"/>
            <a:ext cx="809244" cy="1165860"/>
          </a:xfrm>
          <a:prstGeom prst="line">
            <a:avLst/>
          </a:prstGeom>
          <a:noFill/>
          <a:ln w="11430">
            <a:solidFill>
              <a:srgbClr val="33445C"/>
            </a:solidFill>
            <a:prstDash val="solid"/>
          </a:ln>
        </p:spPr>
      </p:sp>
      <p:sp>
        <p:nvSpPr>
          <p:cNvPr id="13" name="Shape 11"/>
          <p:cNvSpPr/>
          <p:nvPr/>
        </p:nvSpPr>
        <p:spPr>
          <a:xfrm flipV="1">
            <a:off x="8028432" y="2171700"/>
            <a:ext cx="809244" cy="1943100"/>
          </a:xfrm>
          <a:prstGeom prst="line">
            <a:avLst/>
          </a:prstGeom>
          <a:noFill/>
          <a:ln w="11430">
            <a:solidFill>
              <a:srgbClr val="33445C"/>
            </a:solidFill>
            <a:prstDash val="solid"/>
          </a:ln>
        </p:spPr>
      </p:sp>
      <p:sp>
        <p:nvSpPr>
          <p:cNvPr id="14" name="Shape 12"/>
          <p:cNvSpPr/>
          <p:nvPr/>
        </p:nvSpPr>
        <p:spPr>
          <a:xfrm flipV="1">
            <a:off x="8028432" y="2948940"/>
            <a:ext cx="809244" cy="1165860"/>
          </a:xfrm>
          <a:prstGeom prst="line">
            <a:avLst/>
          </a:prstGeom>
          <a:noFill/>
          <a:ln w="11430">
            <a:solidFill>
              <a:srgbClr val="33445C"/>
            </a:solidFill>
            <a:prstDash val="solid"/>
          </a:ln>
        </p:spPr>
      </p:sp>
      <p:sp>
        <p:nvSpPr>
          <p:cNvPr id="15" name="Shape 13"/>
          <p:cNvSpPr/>
          <p:nvPr/>
        </p:nvSpPr>
        <p:spPr>
          <a:xfrm flipV="1">
            <a:off x="8028432" y="3726180"/>
            <a:ext cx="809244" cy="388620"/>
          </a:xfrm>
          <a:prstGeom prst="line">
            <a:avLst/>
          </a:prstGeom>
          <a:noFill/>
          <a:ln w="11430">
            <a:solidFill>
              <a:srgbClr val="33445C"/>
            </a:solidFill>
            <a:prstDash val="solid"/>
          </a:ln>
        </p:spPr>
      </p:sp>
      <p:sp>
        <p:nvSpPr>
          <p:cNvPr id="16" name="Shape 14"/>
          <p:cNvSpPr/>
          <p:nvPr/>
        </p:nvSpPr>
        <p:spPr>
          <a:xfrm>
            <a:off x="8028432" y="4114800"/>
            <a:ext cx="809244" cy="388620"/>
          </a:xfrm>
          <a:prstGeom prst="line">
            <a:avLst/>
          </a:prstGeom>
          <a:noFill/>
          <a:ln w="11430">
            <a:solidFill>
              <a:srgbClr val="33445C"/>
            </a:solidFill>
            <a:prstDash val="solid"/>
          </a:ln>
        </p:spPr>
      </p:sp>
      <p:sp>
        <p:nvSpPr>
          <p:cNvPr id="17" name="Shape 15"/>
          <p:cNvSpPr/>
          <p:nvPr/>
        </p:nvSpPr>
        <p:spPr>
          <a:xfrm>
            <a:off x="8837676" y="2171700"/>
            <a:ext cx="809244" cy="91"/>
          </a:xfrm>
          <a:prstGeom prst="line">
            <a:avLst/>
          </a:prstGeom>
          <a:noFill/>
          <a:ln w="11430">
            <a:solidFill>
              <a:srgbClr val="33445C"/>
            </a:solidFill>
            <a:prstDash val="solid"/>
          </a:ln>
        </p:spPr>
      </p:sp>
      <p:sp>
        <p:nvSpPr>
          <p:cNvPr id="18" name="Shape 16"/>
          <p:cNvSpPr/>
          <p:nvPr/>
        </p:nvSpPr>
        <p:spPr>
          <a:xfrm>
            <a:off x="8837676" y="2171700"/>
            <a:ext cx="809244" cy="777240"/>
          </a:xfrm>
          <a:prstGeom prst="line">
            <a:avLst/>
          </a:prstGeom>
          <a:noFill/>
          <a:ln w="11430">
            <a:solidFill>
              <a:srgbClr val="33445C"/>
            </a:solidFill>
            <a:prstDash val="solid"/>
          </a:ln>
        </p:spPr>
      </p:sp>
      <p:sp>
        <p:nvSpPr>
          <p:cNvPr id="19" name="Shape 17"/>
          <p:cNvSpPr/>
          <p:nvPr/>
        </p:nvSpPr>
        <p:spPr>
          <a:xfrm>
            <a:off x="8837676" y="2171700"/>
            <a:ext cx="809244" cy="1554480"/>
          </a:xfrm>
          <a:prstGeom prst="line">
            <a:avLst/>
          </a:prstGeom>
          <a:noFill/>
          <a:ln w="11430">
            <a:solidFill>
              <a:srgbClr val="33445C"/>
            </a:solidFill>
            <a:prstDash val="solid"/>
          </a:ln>
        </p:spPr>
      </p:sp>
      <p:sp>
        <p:nvSpPr>
          <p:cNvPr id="20" name="Shape 18"/>
          <p:cNvSpPr/>
          <p:nvPr/>
        </p:nvSpPr>
        <p:spPr>
          <a:xfrm>
            <a:off x="8837676" y="2171700"/>
            <a:ext cx="809244" cy="2331720"/>
          </a:xfrm>
          <a:prstGeom prst="line">
            <a:avLst/>
          </a:prstGeom>
          <a:noFill/>
          <a:ln w="11430">
            <a:solidFill>
              <a:srgbClr val="33445C"/>
            </a:solidFill>
            <a:prstDash val="solid"/>
          </a:ln>
        </p:spPr>
      </p:sp>
      <p:sp>
        <p:nvSpPr>
          <p:cNvPr id="21" name="Shape 19"/>
          <p:cNvSpPr/>
          <p:nvPr/>
        </p:nvSpPr>
        <p:spPr>
          <a:xfrm flipV="1">
            <a:off x="8837676" y="2171700"/>
            <a:ext cx="809244" cy="777240"/>
          </a:xfrm>
          <a:prstGeom prst="line">
            <a:avLst/>
          </a:prstGeom>
          <a:noFill/>
          <a:ln w="11430">
            <a:solidFill>
              <a:srgbClr val="33445C"/>
            </a:solidFill>
            <a:prstDash val="solid"/>
          </a:ln>
        </p:spPr>
      </p:sp>
      <p:sp>
        <p:nvSpPr>
          <p:cNvPr id="22" name="Shape 20"/>
          <p:cNvSpPr/>
          <p:nvPr/>
        </p:nvSpPr>
        <p:spPr>
          <a:xfrm>
            <a:off x="8837676" y="2948940"/>
            <a:ext cx="809244" cy="91"/>
          </a:xfrm>
          <a:prstGeom prst="line">
            <a:avLst/>
          </a:prstGeom>
          <a:noFill/>
          <a:ln w="11430">
            <a:solidFill>
              <a:srgbClr val="33445C"/>
            </a:solidFill>
            <a:prstDash val="solid"/>
          </a:ln>
        </p:spPr>
      </p:sp>
      <p:sp>
        <p:nvSpPr>
          <p:cNvPr id="23" name="Shape 21"/>
          <p:cNvSpPr/>
          <p:nvPr/>
        </p:nvSpPr>
        <p:spPr>
          <a:xfrm>
            <a:off x="8837676" y="2948940"/>
            <a:ext cx="809244" cy="777240"/>
          </a:xfrm>
          <a:prstGeom prst="line">
            <a:avLst/>
          </a:prstGeom>
          <a:noFill/>
          <a:ln w="11430">
            <a:solidFill>
              <a:srgbClr val="33445C"/>
            </a:solidFill>
            <a:prstDash val="solid"/>
          </a:ln>
        </p:spPr>
      </p:sp>
      <p:sp>
        <p:nvSpPr>
          <p:cNvPr id="24" name="Shape 22"/>
          <p:cNvSpPr/>
          <p:nvPr/>
        </p:nvSpPr>
        <p:spPr>
          <a:xfrm>
            <a:off x="8837676" y="2948940"/>
            <a:ext cx="809244" cy="1554480"/>
          </a:xfrm>
          <a:prstGeom prst="line">
            <a:avLst/>
          </a:prstGeom>
          <a:noFill/>
          <a:ln w="11430">
            <a:solidFill>
              <a:srgbClr val="33445C"/>
            </a:solidFill>
            <a:prstDash val="solid"/>
          </a:ln>
        </p:spPr>
      </p:sp>
      <p:sp>
        <p:nvSpPr>
          <p:cNvPr id="25" name="Shape 23"/>
          <p:cNvSpPr/>
          <p:nvPr/>
        </p:nvSpPr>
        <p:spPr>
          <a:xfrm flipV="1">
            <a:off x="8837676" y="2171700"/>
            <a:ext cx="809244" cy="1554480"/>
          </a:xfrm>
          <a:prstGeom prst="line">
            <a:avLst/>
          </a:prstGeom>
          <a:noFill/>
          <a:ln w="11430">
            <a:solidFill>
              <a:srgbClr val="33445C"/>
            </a:solidFill>
            <a:prstDash val="solid"/>
          </a:ln>
        </p:spPr>
      </p:sp>
      <p:sp>
        <p:nvSpPr>
          <p:cNvPr id="26" name="Shape 24"/>
          <p:cNvSpPr/>
          <p:nvPr/>
        </p:nvSpPr>
        <p:spPr>
          <a:xfrm flipV="1">
            <a:off x="8837676" y="2948940"/>
            <a:ext cx="809244" cy="777240"/>
          </a:xfrm>
          <a:prstGeom prst="line">
            <a:avLst/>
          </a:prstGeom>
          <a:noFill/>
          <a:ln w="11430">
            <a:solidFill>
              <a:srgbClr val="33445C"/>
            </a:solidFill>
            <a:prstDash val="solid"/>
          </a:ln>
        </p:spPr>
      </p:sp>
      <p:sp>
        <p:nvSpPr>
          <p:cNvPr id="27" name="Shape 25"/>
          <p:cNvSpPr/>
          <p:nvPr/>
        </p:nvSpPr>
        <p:spPr>
          <a:xfrm>
            <a:off x="8837676" y="3726180"/>
            <a:ext cx="809244" cy="91"/>
          </a:xfrm>
          <a:prstGeom prst="line">
            <a:avLst/>
          </a:prstGeom>
          <a:noFill/>
          <a:ln w="11430">
            <a:solidFill>
              <a:srgbClr val="33445C"/>
            </a:solidFill>
            <a:prstDash val="solid"/>
          </a:ln>
        </p:spPr>
      </p:sp>
      <p:sp>
        <p:nvSpPr>
          <p:cNvPr id="28" name="Shape 26"/>
          <p:cNvSpPr/>
          <p:nvPr/>
        </p:nvSpPr>
        <p:spPr>
          <a:xfrm>
            <a:off x="8837676" y="3726180"/>
            <a:ext cx="809244" cy="777240"/>
          </a:xfrm>
          <a:prstGeom prst="line">
            <a:avLst/>
          </a:prstGeom>
          <a:noFill/>
          <a:ln w="11430">
            <a:solidFill>
              <a:srgbClr val="33445C"/>
            </a:solidFill>
            <a:prstDash val="solid"/>
          </a:ln>
        </p:spPr>
      </p:sp>
      <p:sp>
        <p:nvSpPr>
          <p:cNvPr id="29" name="Shape 27"/>
          <p:cNvSpPr/>
          <p:nvPr/>
        </p:nvSpPr>
        <p:spPr>
          <a:xfrm flipV="1">
            <a:off x="8837676" y="2171700"/>
            <a:ext cx="809244" cy="2331720"/>
          </a:xfrm>
          <a:prstGeom prst="line">
            <a:avLst/>
          </a:prstGeom>
          <a:noFill/>
          <a:ln w="11430">
            <a:solidFill>
              <a:srgbClr val="33445C"/>
            </a:solidFill>
            <a:prstDash val="solid"/>
          </a:ln>
        </p:spPr>
      </p:sp>
      <p:sp>
        <p:nvSpPr>
          <p:cNvPr id="30" name="Shape 28"/>
          <p:cNvSpPr/>
          <p:nvPr/>
        </p:nvSpPr>
        <p:spPr>
          <a:xfrm flipV="1">
            <a:off x="8837676" y="2948940"/>
            <a:ext cx="809244" cy="1554480"/>
          </a:xfrm>
          <a:prstGeom prst="line">
            <a:avLst/>
          </a:prstGeom>
          <a:noFill/>
          <a:ln w="11430">
            <a:solidFill>
              <a:srgbClr val="33445C"/>
            </a:solidFill>
            <a:prstDash val="solid"/>
          </a:ln>
        </p:spPr>
      </p:sp>
      <p:sp>
        <p:nvSpPr>
          <p:cNvPr id="31" name="Shape 29"/>
          <p:cNvSpPr/>
          <p:nvPr/>
        </p:nvSpPr>
        <p:spPr>
          <a:xfrm flipV="1">
            <a:off x="8837676" y="3726180"/>
            <a:ext cx="809244" cy="777240"/>
          </a:xfrm>
          <a:prstGeom prst="line">
            <a:avLst/>
          </a:prstGeom>
          <a:noFill/>
          <a:ln w="11430">
            <a:solidFill>
              <a:srgbClr val="33445C"/>
            </a:solidFill>
            <a:prstDash val="solid"/>
          </a:ln>
        </p:spPr>
      </p:sp>
      <p:sp>
        <p:nvSpPr>
          <p:cNvPr id="32" name="Shape 30"/>
          <p:cNvSpPr/>
          <p:nvPr/>
        </p:nvSpPr>
        <p:spPr>
          <a:xfrm>
            <a:off x="8837676" y="4503420"/>
            <a:ext cx="809244" cy="91"/>
          </a:xfrm>
          <a:prstGeom prst="line">
            <a:avLst/>
          </a:prstGeom>
          <a:noFill/>
          <a:ln w="11430">
            <a:solidFill>
              <a:srgbClr val="33445C"/>
            </a:solidFill>
            <a:prstDash val="solid"/>
          </a:ln>
        </p:spPr>
      </p:sp>
      <p:sp>
        <p:nvSpPr>
          <p:cNvPr id="33" name="Shape 31"/>
          <p:cNvSpPr/>
          <p:nvPr/>
        </p:nvSpPr>
        <p:spPr>
          <a:xfrm>
            <a:off x="9646920" y="2171700"/>
            <a:ext cx="809244" cy="91"/>
          </a:xfrm>
          <a:prstGeom prst="line">
            <a:avLst/>
          </a:prstGeom>
          <a:noFill/>
          <a:ln w="11430">
            <a:solidFill>
              <a:srgbClr val="33445C"/>
            </a:solidFill>
            <a:prstDash val="solid"/>
          </a:ln>
        </p:spPr>
      </p:sp>
      <p:sp>
        <p:nvSpPr>
          <p:cNvPr id="34" name="Shape 32"/>
          <p:cNvSpPr/>
          <p:nvPr/>
        </p:nvSpPr>
        <p:spPr>
          <a:xfrm>
            <a:off x="9646920" y="2171700"/>
            <a:ext cx="809244" cy="777240"/>
          </a:xfrm>
          <a:prstGeom prst="line">
            <a:avLst/>
          </a:prstGeom>
          <a:noFill/>
          <a:ln w="11430">
            <a:solidFill>
              <a:srgbClr val="33445C"/>
            </a:solidFill>
            <a:prstDash val="solid"/>
          </a:ln>
        </p:spPr>
      </p:sp>
      <p:sp>
        <p:nvSpPr>
          <p:cNvPr id="35" name="Shape 33"/>
          <p:cNvSpPr/>
          <p:nvPr/>
        </p:nvSpPr>
        <p:spPr>
          <a:xfrm>
            <a:off x="9646920" y="2171700"/>
            <a:ext cx="809244" cy="1554480"/>
          </a:xfrm>
          <a:prstGeom prst="line">
            <a:avLst/>
          </a:prstGeom>
          <a:noFill/>
          <a:ln w="11430">
            <a:solidFill>
              <a:srgbClr val="33445C"/>
            </a:solidFill>
            <a:prstDash val="solid"/>
          </a:ln>
        </p:spPr>
      </p:sp>
      <p:sp>
        <p:nvSpPr>
          <p:cNvPr id="36" name="Shape 34"/>
          <p:cNvSpPr/>
          <p:nvPr/>
        </p:nvSpPr>
        <p:spPr>
          <a:xfrm>
            <a:off x="9646920" y="2171700"/>
            <a:ext cx="809244" cy="2331720"/>
          </a:xfrm>
          <a:prstGeom prst="line">
            <a:avLst/>
          </a:prstGeom>
          <a:noFill/>
          <a:ln w="11430">
            <a:solidFill>
              <a:srgbClr val="33445C"/>
            </a:solidFill>
            <a:prstDash val="solid"/>
          </a:ln>
        </p:spPr>
      </p:sp>
      <p:sp>
        <p:nvSpPr>
          <p:cNvPr id="37" name="Shape 35"/>
          <p:cNvSpPr/>
          <p:nvPr/>
        </p:nvSpPr>
        <p:spPr>
          <a:xfrm flipV="1">
            <a:off x="9646920" y="2171700"/>
            <a:ext cx="809244" cy="777240"/>
          </a:xfrm>
          <a:prstGeom prst="line">
            <a:avLst/>
          </a:prstGeom>
          <a:noFill/>
          <a:ln w="11430">
            <a:solidFill>
              <a:srgbClr val="33445C"/>
            </a:solidFill>
            <a:prstDash val="solid"/>
          </a:ln>
        </p:spPr>
      </p:sp>
      <p:sp>
        <p:nvSpPr>
          <p:cNvPr id="38" name="Shape 36"/>
          <p:cNvSpPr/>
          <p:nvPr/>
        </p:nvSpPr>
        <p:spPr>
          <a:xfrm>
            <a:off x="9646920" y="2948940"/>
            <a:ext cx="809244" cy="91"/>
          </a:xfrm>
          <a:prstGeom prst="line">
            <a:avLst/>
          </a:prstGeom>
          <a:noFill/>
          <a:ln w="11430">
            <a:solidFill>
              <a:srgbClr val="33445C"/>
            </a:solidFill>
            <a:prstDash val="solid"/>
          </a:ln>
        </p:spPr>
      </p:sp>
      <p:sp>
        <p:nvSpPr>
          <p:cNvPr id="39" name="Shape 37"/>
          <p:cNvSpPr/>
          <p:nvPr/>
        </p:nvSpPr>
        <p:spPr>
          <a:xfrm>
            <a:off x="9646920" y="2948940"/>
            <a:ext cx="809244" cy="777240"/>
          </a:xfrm>
          <a:prstGeom prst="line">
            <a:avLst/>
          </a:prstGeom>
          <a:noFill/>
          <a:ln w="11430">
            <a:solidFill>
              <a:srgbClr val="33445C"/>
            </a:solidFill>
            <a:prstDash val="solid"/>
          </a:ln>
        </p:spPr>
      </p:sp>
      <p:sp>
        <p:nvSpPr>
          <p:cNvPr id="40" name="Shape 38"/>
          <p:cNvSpPr/>
          <p:nvPr/>
        </p:nvSpPr>
        <p:spPr>
          <a:xfrm>
            <a:off x="9646920" y="2948940"/>
            <a:ext cx="809244" cy="1554480"/>
          </a:xfrm>
          <a:prstGeom prst="line">
            <a:avLst/>
          </a:prstGeom>
          <a:noFill/>
          <a:ln w="11430">
            <a:solidFill>
              <a:srgbClr val="33445C"/>
            </a:solidFill>
            <a:prstDash val="solid"/>
          </a:ln>
        </p:spPr>
      </p:sp>
      <p:sp>
        <p:nvSpPr>
          <p:cNvPr id="41" name="Shape 39"/>
          <p:cNvSpPr/>
          <p:nvPr/>
        </p:nvSpPr>
        <p:spPr>
          <a:xfrm flipV="1">
            <a:off x="9646920" y="2171700"/>
            <a:ext cx="809244" cy="1554480"/>
          </a:xfrm>
          <a:prstGeom prst="line">
            <a:avLst/>
          </a:prstGeom>
          <a:noFill/>
          <a:ln w="11430">
            <a:solidFill>
              <a:srgbClr val="33445C"/>
            </a:solidFill>
            <a:prstDash val="solid"/>
          </a:ln>
        </p:spPr>
      </p:sp>
      <p:sp>
        <p:nvSpPr>
          <p:cNvPr id="42" name="Shape 40"/>
          <p:cNvSpPr/>
          <p:nvPr/>
        </p:nvSpPr>
        <p:spPr>
          <a:xfrm flipV="1">
            <a:off x="9646920" y="2948940"/>
            <a:ext cx="809244" cy="777240"/>
          </a:xfrm>
          <a:prstGeom prst="line">
            <a:avLst/>
          </a:prstGeom>
          <a:noFill/>
          <a:ln w="11430">
            <a:solidFill>
              <a:srgbClr val="33445C"/>
            </a:solidFill>
            <a:prstDash val="solid"/>
          </a:ln>
        </p:spPr>
      </p:sp>
      <p:sp>
        <p:nvSpPr>
          <p:cNvPr id="43" name="Shape 41"/>
          <p:cNvSpPr/>
          <p:nvPr/>
        </p:nvSpPr>
        <p:spPr>
          <a:xfrm>
            <a:off x="9646920" y="3726180"/>
            <a:ext cx="809244" cy="91"/>
          </a:xfrm>
          <a:prstGeom prst="line">
            <a:avLst/>
          </a:prstGeom>
          <a:noFill/>
          <a:ln w="11430">
            <a:solidFill>
              <a:srgbClr val="33445C"/>
            </a:solidFill>
            <a:prstDash val="solid"/>
          </a:ln>
        </p:spPr>
      </p:sp>
      <p:sp>
        <p:nvSpPr>
          <p:cNvPr id="44" name="Shape 42"/>
          <p:cNvSpPr/>
          <p:nvPr/>
        </p:nvSpPr>
        <p:spPr>
          <a:xfrm>
            <a:off x="9646920" y="3726180"/>
            <a:ext cx="809244" cy="777240"/>
          </a:xfrm>
          <a:prstGeom prst="line">
            <a:avLst/>
          </a:prstGeom>
          <a:noFill/>
          <a:ln w="11430">
            <a:solidFill>
              <a:srgbClr val="33445C"/>
            </a:solidFill>
            <a:prstDash val="solid"/>
          </a:ln>
        </p:spPr>
      </p:sp>
      <p:sp>
        <p:nvSpPr>
          <p:cNvPr id="45" name="Shape 43"/>
          <p:cNvSpPr/>
          <p:nvPr/>
        </p:nvSpPr>
        <p:spPr>
          <a:xfrm flipV="1">
            <a:off x="9646920" y="2171700"/>
            <a:ext cx="809244" cy="2331720"/>
          </a:xfrm>
          <a:prstGeom prst="line">
            <a:avLst/>
          </a:prstGeom>
          <a:noFill/>
          <a:ln w="11430">
            <a:solidFill>
              <a:srgbClr val="33445C"/>
            </a:solidFill>
            <a:prstDash val="solid"/>
          </a:ln>
        </p:spPr>
      </p:sp>
      <p:sp>
        <p:nvSpPr>
          <p:cNvPr id="46" name="Shape 44"/>
          <p:cNvSpPr/>
          <p:nvPr/>
        </p:nvSpPr>
        <p:spPr>
          <a:xfrm flipV="1">
            <a:off x="9646920" y="2948940"/>
            <a:ext cx="809244" cy="1554480"/>
          </a:xfrm>
          <a:prstGeom prst="line">
            <a:avLst/>
          </a:prstGeom>
          <a:noFill/>
          <a:ln w="11430">
            <a:solidFill>
              <a:srgbClr val="33445C"/>
            </a:solidFill>
            <a:prstDash val="solid"/>
          </a:ln>
        </p:spPr>
      </p:sp>
      <p:sp>
        <p:nvSpPr>
          <p:cNvPr id="47" name="Shape 45"/>
          <p:cNvSpPr/>
          <p:nvPr/>
        </p:nvSpPr>
        <p:spPr>
          <a:xfrm flipV="1">
            <a:off x="9646920" y="3726180"/>
            <a:ext cx="809244" cy="777240"/>
          </a:xfrm>
          <a:prstGeom prst="line">
            <a:avLst/>
          </a:prstGeom>
          <a:noFill/>
          <a:ln w="11430">
            <a:solidFill>
              <a:srgbClr val="33445C"/>
            </a:solidFill>
            <a:prstDash val="solid"/>
          </a:ln>
        </p:spPr>
      </p:sp>
      <p:sp>
        <p:nvSpPr>
          <p:cNvPr id="48" name="Shape 46"/>
          <p:cNvSpPr/>
          <p:nvPr/>
        </p:nvSpPr>
        <p:spPr>
          <a:xfrm>
            <a:off x="9646920" y="4503420"/>
            <a:ext cx="809244" cy="91"/>
          </a:xfrm>
          <a:prstGeom prst="line">
            <a:avLst/>
          </a:prstGeom>
          <a:noFill/>
          <a:ln w="11430">
            <a:solidFill>
              <a:srgbClr val="33445C"/>
            </a:solidFill>
            <a:prstDash val="solid"/>
          </a:ln>
        </p:spPr>
      </p:sp>
      <p:sp>
        <p:nvSpPr>
          <p:cNvPr id="49" name="Shape 47"/>
          <p:cNvSpPr/>
          <p:nvPr/>
        </p:nvSpPr>
        <p:spPr>
          <a:xfrm>
            <a:off x="10456164" y="2171700"/>
            <a:ext cx="809244" cy="777240"/>
          </a:xfrm>
          <a:prstGeom prst="line">
            <a:avLst/>
          </a:prstGeom>
          <a:noFill/>
          <a:ln w="11430">
            <a:solidFill>
              <a:srgbClr val="33445C"/>
            </a:solidFill>
            <a:prstDash val="solid"/>
          </a:ln>
        </p:spPr>
      </p:sp>
      <p:sp>
        <p:nvSpPr>
          <p:cNvPr id="50" name="Shape 48"/>
          <p:cNvSpPr/>
          <p:nvPr/>
        </p:nvSpPr>
        <p:spPr>
          <a:xfrm>
            <a:off x="10456164" y="2171700"/>
            <a:ext cx="809244" cy="1554480"/>
          </a:xfrm>
          <a:prstGeom prst="line">
            <a:avLst/>
          </a:prstGeom>
          <a:noFill/>
          <a:ln w="11430">
            <a:solidFill>
              <a:srgbClr val="33445C"/>
            </a:solidFill>
            <a:prstDash val="solid"/>
          </a:ln>
        </p:spPr>
      </p:sp>
      <p:sp>
        <p:nvSpPr>
          <p:cNvPr id="51" name="Shape 49"/>
          <p:cNvSpPr/>
          <p:nvPr/>
        </p:nvSpPr>
        <p:spPr>
          <a:xfrm>
            <a:off x="10456164" y="2948940"/>
            <a:ext cx="809244" cy="91"/>
          </a:xfrm>
          <a:prstGeom prst="line">
            <a:avLst/>
          </a:prstGeom>
          <a:noFill/>
          <a:ln w="11430">
            <a:solidFill>
              <a:srgbClr val="33445C"/>
            </a:solidFill>
            <a:prstDash val="solid"/>
          </a:ln>
        </p:spPr>
      </p:sp>
      <p:sp>
        <p:nvSpPr>
          <p:cNvPr id="52" name="Shape 50"/>
          <p:cNvSpPr/>
          <p:nvPr/>
        </p:nvSpPr>
        <p:spPr>
          <a:xfrm>
            <a:off x="10456164" y="2948940"/>
            <a:ext cx="809244" cy="777240"/>
          </a:xfrm>
          <a:prstGeom prst="line">
            <a:avLst/>
          </a:prstGeom>
          <a:noFill/>
          <a:ln w="11430">
            <a:solidFill>
              <a:srgbClr val="33445C"/>
            </a:solidFill>
            <a:prstDash val="solid"/>
          </a:ln>
        </p:spPr>
      </p:sp>
      <p:sp>
        <p:nvSpPr>
          <p:cNvPr id="53" name="Shape 51"/>
          <p:cNvSpPr/>
          <p:nvPr/>
        </p:nvSpPr>
        <p:spPr>
          <a:xfrm flipV="1">
            <a:off x="10456164" y="2948940"/>
            <a:ext cx="809244" cy="777240"/>
          </a:xfrm>
          <a:prstGeom prst="line">
            <a:avLst/>
          </a:prstGeom>
          <a:noFill/>
          <a:ln w="11430">
            <a:solidFill>
              <a:srgbClr val="33445C"/>
            </a:solidFill>
            <a:prstDash val="solid"/>
          </a:ln>
        </p:spPr>
      </p:sp>
      <p:sp>
        <p:nvSpPr>
          <p:cNvPr id="54" name="Shape 52"/>
          <p:cNvSpPr/>
          <p:nvPr/>
        </p:nvSpPr>
        <p:spPr>
          <a:xfrm>
            <a:off x="10456164" y="3726180"/>
            <a:ext cx="809244" cy="91"/>
          </a:xfrm>
          <a:prstGeom prst="line">
            <a:avLst/>
          </a:prstGeom>
          <a:noFill/>
          <a:ln w="11430">
            <a:solidFill>
              <a:srgbClr val="33445C"/>
            </a:solidFill>
            <a:prstDash val="solid"/>
          </a:ln>
        </p:spPr>
      </p:sp>
      <p:sp>
        <p:nvSpPr>
          <p:cNvPr id="55" name="Shape 53"/>
          <p:cNvSpPr/>
          <p:nvPr/>
        </p:nvSpPr>
        <p:spPr>
          <a:xfrm flipV="1">
            <a:off x="10456164" y="2948940"/>
            <a:ext cx="809244" cy="1554480"/>
          </a:xfrm>
          <a:prstGeom prst="line">
            <a:avLst/>
          </a:prstGeom>
          <a:noFill/>
          <a:ln w="11430">
            <a:solidFill>
              <a:srgbClr val="33445C"/>
            </a:solidFill>
            <a:prstDash val="solid"/>
          </a:ln>
        </p:spPr>
      </p:sp>
      <p:sp>
        <p:nvSpPr>
          <p:cNvPr id="56" name="Shape 54"/>
          <p:cNvSpPr/>
          <p:nvPr/>
        </p:nvSpPr>
        <p:spPr>
          <a:xfrm flipV="1">
            <a:off x="10456164" y="3726180"/>
            <a:ext cx="809244" cy="777240"/>
          </a:xfrm>
          <a:prstGeom prst="line">
            <a:avLst/>
          </a:prstGeom>
          <a:noFill/>
          <a:ln w="11430">
            <a:solidFill>
              <a:srgbClr val="33445C"/>
            </a:solidFill>
            <a:prstDash val="solid"/>
          </a:ln>
        </p:spPr>
      </p:sp>
      <p:sp>
        <p:nvSpPr>
          <p:cNvPr id="57" name="Shape 55"/>
          <p:cNvSpPr/>
          <p:nvPr/>
        </p:nvSpPr>
        <p:spPr>
          <a:xfrm>
            <a:off x="7863840" y="2395728"/>
            <a:ext cx="329184" cy="329184"/>
          </a:xfrm>
          <a:prstGeom prst="ellipse">
            <a:avLst/>
          </a:prstGeom>
          <a:solidFill>
            <a:srgbClr val="8A94A3"/>
          </a:solidFill>
          <a:ln/>
        </p:spPr>
      </p:sp>
      <p:sp>
        <p:nvSpPr>
          <p:cNvPr id="58" name="Shape 56"/>
          <p:cNvSpPr/>
          <p:nvPr/>
        </p:nvSpPr>
        <p:spPr>
          <a:xfrm>
            <a:off x="7863840" y="3172968"/>
            <a:ext cx="329184" cy="329184"/>
          </a:xfrm>
          <a:prstGeom prst="ellipse">
            <a:avLst/>
          </a:prstGeom>
          <a:solidFill>
            <a:srgbClr val="8A94A3"/>
          </a:solidFill>
          <a:ln/>
        </p:spPr>
      </p:sp>
      <p:sp>
        <p:nvSpPr>
          <p:cNvPr id="59" name="Shape 57"/>
          <p:cNvSpPr/>
          <p:nvPr/>
        </p:nvSpPr>
        <p:spPr>
          <a:xfrm>
            <a:off x="7863840" y="3950208"/>
            <a:ext cx="329184" cy="329184"/>
          </a:xfrm>
          <a:prstGeom prst="ellipse">
            <a:avLst/>
          </a:prstGeom>
          <a:solidFill>
            <a:srgbClr val="8A94A3"/>
          </a:solidFill>
          <a:ln/>
        </p:spPr>
      </p:sp>
      <p:sp>
        <p:nvSpPr>
          <p:cNvPr id="60" name="Shape 58"/>
          <p:cNvSpPr/>
          <p:nvPr/>
        </p:nvSpPr>
        <p:spPr>
          <a:xfrm>
            <a:off x="8673084" y="2007108"/>
            <a:ext cx="329184" cy="329184"/>
          </a:xfrm>
          <a:prstGeom prst="ellipse">
            <a:avLst/>
          </a:prstGeom>
          <a:solidFill>
            <a:srgbClr val="4C5BD4"/>
          </a:solidFill>
          <a:ln/>
        </p:spPr>
      </p:sp>
      <p:sp>
        <p:nvSpPr>
          <p:cNvPr id="61" name="Shape 59"/>
          <p:cNvSpPr/>
          <p:nvPr/>
        </p:nvSpPr>
        <p:spPr>
          <a:xfrm>
            <a:off x="8673084" y="2784348"/>
            <a:ext cx="329184" cy="329184"/>
          </a:xfrm>
          <a:prstGeom prst="ellipse">
            <a:avLst/>
          </a:prstGeom>
          <a:solidFill>
            <a:srgbClr val="4C5BD4"/>
          </a:solidFill>
          <a:ln/>
        </p:spPr>
      </p:sp>
      <p:sp>
        <p:nvSpPr>
          <p:cNvPr id="62" name="Shape 60"/>
          <p:cNvSpPr/>
          <p:nvPr/>
        </p:nvSpPr>
        <p:spPr>
          <a:xfrm>
            <a:off x="8673084" y="3561588"/>
            <a:ext cx="329184" cy="329184"/>
          </a:xfrm>
          <a:prstGeom prst="ellipse">
            <a:avLst/>
          </a:prstGeom>
          <a:solidFill>
            <a:srgbClr val="4C5BD4"/>
          </a:solidFill>
          <a:ln/>
        </p:spPr>
      </p:sp>
      <p:sp>
        <p:nvSpPr>
          <p:cNvPr id="63" name="Shape 61"/>
          <p:cNvSpPr/>
          <p:nvPr/>
        </p:nvSpPr>
        <p:spPr>
          <a:xfrm>
            <a:off x="8673084" y="4338828"/>
            <a:ext cx="329184" cy="329184"/>
          </a:xfrm>
          <a:prstGeom prst="ellipse">
            <a:avLst/>
          </a:prstGeom>
          <a:solidFill>
            <a:srgbClr val="4C5BD4"/>
          </a:solidFill>
          <a:ln/>
        </p:spPr>
      </p:sp>
      <p:sp>
        <p:nvSpPr>
          <p:cNvPr id="64" name="Shape 62"/>
          <p:cNvSpPr/>
          <p:nvPr/>
        </p:nvSpPr>
        <p:spPr>
          <a:xfrm>
            <a:off x="9482328" y="2007108"/>
            <a:ext cx="329184" cy="329184"/>
          </a:xfrm>
          <a:prstGeom prst="ellipse">
            <a:avLst/>
          </a:prstGeom>
          <a:solidFill>
            <a:srgbClr val="4C5BD4"/>
          </a:solidFill>
          <a:ln/>
        </p:spPr>
      </p:sp>
      <p:sp>
        <p:nvSpPr>
          <p:cNvPr id="65" name="Shape 63"/>
          <p:cNvSpPr/>
          <p:nvPr/>
        </p:nvSpPr>
        <p:spPr>
          <a:xfrm>
            <a:off x="9482328" y="2784348"/>
            <a:ext cx="329184" cy="329184"/>
          </a:xfrm>
          <a:prstGeom prst="ellipse">
            <a:avLst/>
          </a:prstGeom>
          <a:solidFill>
            <a:srgbClr val="4C5BD4"/>
          </a:solidFill>
          <a:ln/>
        </p:spPr>
      </p:sp>
      <p:sp>
        <p:nvSpPr>
          <p:cNvPr id="66" name="Shape 64"/>
          <p:cNvSpPr/>
          <p:nvPr/>
        </p:nvSpPr>
        <p:spPr>
          <a:xfrm>
            <a:off x="9482328" y="3561588"/>
            <a:ext cx="329184" cy="329184"/>
          </a:xfrm>
          <a:prstGeom prst="ellipse">
            <a:avLst/>
          </a:prstGeom>
          <a:solidFill>
            <a:srgbClr val="4C5BD4"/>
          </a:solidFill>
          <a:ln/>
        </p:spPr>
      </p:sp>
      <p:sp>
        <p:nvSpPr>
          <p:cNvPr id="67" name="Shape 65"/>
          <p:cNvSpPr/>
          <p:nvPr/>
        </p:nvSpPr>
        <p:spPr>
          <a:xfrm>
            <a:off x="9482328" y="4338828"/>
            <a:ext cx="329184" cy="329184"/>
          </a:xfrm>
          <a:prstGeom prst="ellipse">
            <a:avLst/>
          </a:prstGeom>
          <a:solidFill>
            <a:srgbClr val="4C5BD4"/>
          </a:solidFill>
          <a:ln/>
        </p:spPr>
      </p:sp>
      <p:sp>
        <p:nvSpPr>
          <p:cNvPr id="68" name="Shape 66"/>
          <p:cNvSpPr/>
          <p:nvPr/>
        </p:nvSpPr>
        <p:spPr>
          <a:xfrm>
            <a:off x="10291572" y="2007108"/>
            <a:ext cx="329184" cy="329184"/>
          </a:xfrm>
          <a:prstGeom prst="ellipse">
            <a:avLst/>
          </a:prstGeom>
          <a:solidFill>
            <a:srgbClr val="4C5BD4"/>
          </a:solidFill>
          <a:ln/>
        </p:spPr>
      </p:sp>
      <p:sp>
        <p:nvSpPr>
          <p:cNvPr id="69" name="Shape 67"/>
          <p:cNvSpPr/>
          <p:nvPr/>
        </p:nvSpPr>
        <p:spPr>
          <a:xfrm>
            <a:off x="10291572" y="2784348"/>
            <a:ext cx="329184" cy="329184"/>
          </a:xfrm>
          <a:prstGeom prst="ellipse">
            <a:avLst/>
          </a:prstGeom>
          <a:solidFill>
            <a:srgbClr val="4C5BD4"/>
          </a:solidFill>
          <a:ln/>
        </p:spPr>
      </p:sp>
      <p:sp>
        <p:nvSpPr>
          <p:cNvPr id="70" name="Shape 68"/>
          <p:cNvSpPr/>
          <p:nvPr/>
        </p:nvSpPr>
        <p:spPr>
          <a:xfrm>
            <a:off x="10291572" y="3561588"/>
            <a:ext cx="329184" cy="329184"/>
          </a:xfrm>
          <a:prstGeom prst="ellipse">
            <a:avLst/>
          </a:prstGeom>
          <a:solidFill>
            <a:srgbClr val="4C5BD4"/>
          </a:solidFill>
          <a:ln/>
        </p:spPr>
      </p:sp>
      <p:sp>
        <p:nvSpPr>
          <p:cNvPr id="71" name="Shape 69"/>
          <p:cNvSpPr/>
          <p:nvPr/>
        </p:nvSpPr>
        <p:spPr>
          <a:xfrm>
            <a:off x="10291572" y="4338828"/>
            <a:ext cx="329184" cy="329184"/>
          </a:xfrm>
          <a:prstGeom prst="ellipse">
            <a:avLst/>
          </a:prstGeom>
          <a:solidFill>
            <a:srgbClr val="4C5BD4"/>
          </a:solidFill>
          <a:ln/>
        </p:spPr>
      </p:sp>
      <p:sp>
        <p:nvSpPr>
          <p:cNvPr id="72" name="Shape 70"/>
          <p:cNvSpPr/>
          <p:nvPr/>
        </p:nvSpPr>
        <p:spPr>
          <a:xfrm>
            <a:off x="11100816" y="2784348"/>
            <a:ext cx="329184" cy="329184"/>
          </a:xfrm>
          <a:prstGeom prst="ellipse">
            <a:avLst/>
          </a:prstGeom>
          <a:solidFill>
            <a:srgbClr val="C8571B"/>
          </a:solidFill>
          <a:ln/>
        </p:spPr>
      </p:sp>
      <p:sp>
        <p:nvSpPr>
          <p:cNvPr id="73" name="Shape 71"/>
          <p:cNvSpPr/>
          <p:nvPr/>
        </p:nvSpPr>
        <p:spPr>
          <a:xfrm>
            <a:off x="11100816" y="3561588"/>
            <a:ext cx="329184" cy="329184"/>
          </a:xfrm>
          <a:prstGeom prst="ellipse">
            <a:avLst/>
          </a:prstGeom>
          <a:solidFill>
            <a:srgbClr val="C8571B"/>
          </a:solidFill>
          <a:ln/>
        </p:spPr>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GRADIENT FLOW</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Depth multiplies: gradients vanish or explode</a:t>
            </a:r>
            <a:endParaRPr lang="en-US" sz="3200" dirty="0"/>
          </a:p>
        </p:txBody>
      </p:sp>
      <p:sp>
        <p:nvSpPr>
          <p:cNvPr id="5" name="Shape 2"/>
          <p:cNvSpPr/>
          <p:nvPr/>
        </p:nvSpPr>
        <p:spPr>
          <a:xfrm>
            <a:off x="548640" y="1417320"/>
            <a:ext cx="5760720" cy="1371600"/>
          </a:xfrm>
          <a:prstGeom prst="roundRect">
            <a:avLst>
              <a:gd name="adj" fmla="val 5333"/>
            </a:avLst>
          </a:prstGeom>
          <a:solidFill>
            <a:srgbClr val="F3F5F8"/>
          </a:solidFill>
          <a:ln/>
        </p:spPr>
        <p:txBody>
          <a:bodyPr/>
          <a:p/>
        </p:txBody>
      </p:sp>
      <p:sp>
        <p:nvSpPr>
          <p:cNvPr id="6" name="Text 3"/>
          <p:cNvSpPr txBox="1"/>
          <p:nvPr/>
        </p:nvSpPr>
        <p:spPr>
          <a:xfrm>
            <a:off x="749808" y="1527048"/>
            <a:ext cx="50292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UNROLL BP2 DOWN TO LAYER 1</a:t>
            </a:r>
            <a:endParaRPr lang="en-US" sz="1300" dirty="0"/>
          </a:p>
        </p:txBody>
      </p:sp>
      <p:pic>
        <p:nvPicPr>
          <p:cNvPr id="7" name="Image 0" descr="LaTeX: $\displaystyle \dl\Ly{1} = \Bigl(\prod_{l=2}^{L} \textcolor{mu}{\text{diag}}\bigl(g'(\z\Ly{l-1})\bigr)\,\W\Ly{l}{}\T\Bigr)\,\dl\Ly{L}$">    </p:cNvPr>
          <p:cNvPicPr>
            <a:picLocks noChangeAspect="1"/>
          </p:cNvPicPr>
          <p:nvPr/>
        </p:nvPicPr>
        <p:blipFill>
          <a:blip r:embed="rId1"/>
          <a:stretch>
            <a:fillRect/>
          </a:stretch>
        </p:blipFill>
        <p:spPr>
          <a:xfrm>
            <a:off x="822960" y="1828800"/>
            <a:ext cx="3707130" cy="717423"/>
          </a:xfrm>
          <a:prstGeom prst="rect">
            <a:avLst/>
          </a:prstGeom>
        </p:spPr>
      </p:pic>
      <p:graphicFrame>
        <p:nvGraphicFramePr>
          <p:cNvPr id="8" name="Chart 0" descr="Product of L equal factors (log scale): 1.5, 1.1, 1.0, 0.9, 0.5"/>
          <p:cNvGraphicFramePr/>
          <p:nvPr/>
        </p:nvGraphicFramePr>
        <p:xfrm>
          <a:off x="457200" y="2880360"/>
          <a:ext cx="5943600" cy="3291840"/>
        </p:xfrm>
        <a:graphic xmlns:a="http://schemas.openxmlformats.org/drawingml/2006/main">
          <a:graphicData uri="http://schemas.openxmlformats.org/drawingml/2006/chart">
            <c:chart xmlns:c="http://schemas.openxmlformats.org/drawingml/2006/chart" r:id="rId2"/>
          </a:graphicData>
        </a:graphic>
      </p:graphicFrame>
      <p:sp>
        <p:nvSpPr>
          <p:cNvPr id="9" name="Shape 4"/>
          <p:cNvSpPr/>
          <p:nvPr/>
        </p:nvSpPr>
        <p:spPr>
          <a:xfrm>
            <a:off x="6537960" y="1417320"/>
            <a:ext cx="5102352" cy="1170432"/>
          </a:xfrm>
          <a:prstGeom prst="roundRect">
            <a:avLst>
              <a:gd name="adj" fmla="val 6250"/>
            </a:avLst>
          </a:prstGeom>
          <a:solidFill>
            <a:srgbClr val="F3F5F8"/>
          </a:solidFill>
          <a:ln/>
        </p:spPr>
        <p:txBody>
          <a:bodyPr/>
          <a:p/>
        </p:txBody>
      </p:sp>
      <p:sp>
        <p:nvSpPr>
          <p:cNvPr id="10" name="Text 5"/>
          <p:cNvSpPr txBox="1"/>
          <p:nvPr/>
        </p:nvSpPr>
        <p:spPr>
          <a:xfrm>
            <a:off x="6739128" y="1527048"/>
            <a:ext cx="475488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Vanishing</a:t>
            </a:r>
            <a:endParaRPr lang="en-US" sz="1900" dirty="0"/>
          </a:p>
        </p:txBody>
      </p:sp>
      <p:sp>
        <p:nvSpPr>
          <p:cNvPr id="11" name="Text 6"/>
          <p:cNvSpPr txBox="1"/>
          <p:nvPr/>
        </p:nvSpPr>
        <p:spPr>
          <a:xfrm>
            <a:off x="6739128" y="1929384"/>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Early layers stay near random; loss plateaus, no error.</a:t>
            </a:r>
            <a:endParaRPr lang="en-US" sz="1600" dirty="0"/>
          </a:p>
        </p:txBody>
      </p:sp>
      <p:sp>
        <p:nvSpPr>
          <p:cNvPr id="12" name="Shape 7"/>
          <p:cNvSpPr/>
          <p:nvPr/>
        </p:nvSpPr>
        <p:spPr>
          <a:xfrm>
            <a:off x="6537960" y="2715768"/>
            <a:ext cx="5102352" cy="1170432"/>
          </a:xfrm>
          <a:prstGeom prst="roundRect">
            <a:avLst>
              <a:gd name="adj" fmla="val 6250"/>
            </a:avLst>
          </a:prstGeom>
          <a:solidFill>
            <a:srgbClr val="F3F5F8"/>
          </a:solidFill>
          <a:ln/>
        </p:spPr>
        <p:txBody>
          <a:bodyPr/>
          <a:p/>
        </p:txBody>
      </p:sp>
      <p:sp>
        <p:nvSpPr>
          <p:cNvPr id="13" name="Text 8"/>
          <p:cNvSpPr txBox="1"/>
          <p:nvPr/>
        </p:nvSpPr>
        <p:spPr>
          <a:xfrm>
            <a:off x="6739128" y="2825496"/>
            <a:ext cx="475488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Exploding</a:t>
            </a:r>
            <a:endParaRPr lang="en-US" sz="1900" dirty="0"/>
          </a:p>
        </p:txBody>
      </p:sp>
      <p:sp>
        <p:nvSpPr>
          <p:cNvPr id="14" name="Text 9"/>
          <p:cNvSpPr txBox="1"/>
          <p:nvPr/>
        </p:nvSpPr>
        <p:spPr>
          <a:xfrm>
            <a:off x="6739128" y="3227832"/>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jumps to inf or nan within a few steps.</a:t>
            </a:r>
            <a:endParaRPr lang="en-US" sz="1600" dirty="0"/>
          </a:p>
        </p:txBody>
      </p:sp>
      <p:sp>
        <p:nvSpPr>
          <p:cNvPr id="15" name="Shape 10"/>
          <p:cNvSpPr/>
          <p:nvPr/>
        </p:nvSpPr>
        <p:spPr>
          <a:xfrm>
            <a:off x="6537960" y="4014216"/>
            <a:ext cx="5102352" cy="1170432"/>
          </a:xfrm>
          <a:prstGeom prst="roundRect">
            <a:avLst>
              <a:gd name="adj" fmla="val 6250"/>
            </a:avLst>
          </a:prstGeom>
          <a:solidFill>
            <a:srgbClr val="F3F5F8"/>
          </a:solidFill>
          <a:ln/>
        </p:spPr>
        <p:txBody>
          <a:bodyPr/>
          <a:p/>
        </p:txBody>
      </p:sp>
      <p:sp>
        <p:nvSpPr>
          <p:cNvPr id="16" name="Text 11"/>
          <p:cNvSpPr txBox="1"/>
          <p:nvPr/>
        </p:nvSpPr>
        <p:spPr>
          <a:xfrm>
            <a:off x="6739128" y="4123944"/>
            <a:ext cx="475488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Diagnose it</a:t>
            </a:r>
            <a:endParaRPr lang="en-US" sz="1900" dirty="0"/>
          </a:p>
        </p:txBody>
      </p:sp>
      <p:sp>
        <p:nvSpPr>
          <p:cNvPr id="17" name="Text 12"/>
          <p:cNvSpPr txBox="1"/>
          <p:nvPr/>
        </p:nvSpPr>
        <p:spPr>
          <a:xfrm>
            <a:off x="6739128" y="4526280"/>
            <a:ext cx="4754880"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Plot each layer's gradient norm: early ≪ late means vanishing.</a:t>
            </a:r>
            <a:endParaRPr lang="en-US" sz="1600" dirty="0"/>
          </a:p>
        </p:txBody>
      </p:sp>
      <p:sp>
        <p:nvSpPr>
          <p:cNvPr id="18" name="Shape 13"/>
          <p:cNvSpPr/>
          <p:nvPr/>
        </p:nvSpPr>
        <p:spPr>
          <a:xfrm>
            <a:off x="6537960" y="5349240"/>
            <a:ext cx="5102352" cy="777240"/>
          </a:xfrm>
          <a:prstGeom prst="roundRect">
            <a:avLst>
              <a:gd name="adj" fmla="val 9412"/>
            </a:avLst>
          </a:prstGeom>
          <a:solidFill>
            <a:srgbClr val="E2F1F1"/>
          </a:solidFill>
          <a:ln/>
        </p:spPr>
      </p:sp>
      <p:sp>
        <p:nvSpPr>
          <p:cNvPr id="19" name="Text 14"/>
          <p:cNvSpPr txBox="1"/>
          <p:nvPr/>
        </p:nvSpPr>
        <p:spPr>
          <a:xfrm>
            <a:off x="6739128" y="5394960"/>
            <a:ext cx="4700016" cy="68580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Fixes: initialization, residual connections, gradient clipping, normalization (Appendix B).</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41</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first fix: start with the right weight scale</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Initialize to keep the pre-activation variance constant</a:t>
            </a:r>
            <a:endParaRPr lang="en-US" sz="3200" dirty="0"/>
          </a:p>
        </p:txBody>
      </p:sp>
      <p:sp>
        <p:nvSpPr>
          <p:cNvPr id="5" name="Shape 2"/>
          <p:cNvSpPr/>
          <p:nvPr/>
        </p:nvSpPr>
        <p:spPr>
          <a:xfrm>
            <a:off x="548640" y="1417320"/>
            <a:ext cx="5120640" cy="2514600"/>
          </a:xfrm>
          <a:prstGeom prst="roundRect">
            <a:avLst>
              <a:gd name="adj" fmla="val 2909"/>
            </a:avLst>
          </a:prstGeom>
          <a:solidFill>
            <a:srgbClr val="F3F5F8"/>
          </a:solidFill>
          <a:ln/>
        </p:spPr>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KEEP THE VARIANCE CONSTANT</a:t>
            </a:r>
            <a:endParaRPr lang="en-US" sz="1300" dirty="0"/>
          </a:p>
        </p:txBody>
      </p:sp>
      <p:pic>
        <p:nvPicPr>
          <p:cNvPr id="7" name="Image 0" descr="LaTeX: \begin{align*} z &amp;= \textstyle\sum_{i=1}^{n_{\text{in}}} w_i x_i\\ \Var(z) &amp;= n_{\text{in}}\,\Var(w)\,\Var(x)\\ \Var(z) = \Var(x) \;&amp;\Leftrightarrow\; \Var(w) = 1/n_{\text{in}} \end{align*}">    </p:cNvPr>
          <p:cNvPicPr>
            <a:picLocks noChangeAspect="1"/>
          </p:cNvPicPr>
          <p:nvPr/>
        </p:nvPicPr>
        <p:blipFill>
          <a:blip r:embed="rId1"/>
          <a:stretch>
            <a:fillRect/>
          </a:stretch>
        </p:blipFill>
        <p:spPr>
          <a:xfrm>
            <a:off x="822960" y="1920240"/>
            <a:ext cx="4663440" cy="876684"/>
          </a:xfrm>
          <a:prstGeom prst="rect">
            <a:avLst/>
          </a:prstGeom>
        </p:spPr>
      </p:pic>
      <p:sp>
        <p:nvSpPr>
          <p:cNvPr id="8" name="Shape 4"/>
          <p:cNvSpPr/>
          <p:nvPr/>
        </p:nvSpPr>
        <p:spPr>
          <a:xfrm>
            <a:off x="548640" y="4114800"/>
            <a:ext cx="5120640" cy="1188720"/>
          </a:xfrm>
          <a:prstGeom prst="roundRect">
            <a:avLst>
              <a:gd name="adj" fmla="val 6154"/>
            </a:avLst>
          </a:prstGeom>
          <a:solidFill>
            <a:srgbClr val="E2F1F1"/>
          </a:solidFill>
          <a:ln/>
        </p:spPr>
      </p:sp>
      <p:sp>
        <p:nvSpPr>
          <p:cNvPr id="9" name="Text 5"/>
          <p:cNvSpPr txBox="1"/>
          <p:nvPr/>
        </p:nvSpPr>
        <p:spPr>
          <a:xfrm>
            <a:off x="74980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RELU HALVES IT, SO DOUBLE IT (HE)</a:t>
            </a:r>
            <a:endParaRPr lang="en-US" sz="1300" dirty="0"/>
          </a:p>
        </p:txBody>
      </p:sp>
      <p:pic>
        <p:nvPicPr>
          <p:cNvPr id="10" name="Image 1" descr="LaTeX: $\displaystyle \E[\ReLU(z)^2] = \tfrac12\E[z^2] \;\Rightarrow\; \Var(w) = \frac{2}{n_{\text{in}}}$">    </p:cNvPr>
          <p:cNvPicPr>
            <a:picLocks noChangeAspect="1"/>
          </p:cNvPicPr>
          <p:nvPr/>
        </p:nvPicPr>
        <p:blipFill>
          <a:blip r:embed="rId2"/>
          <a:stretch>
            <a:fillRect/>
          </a:stretch>
        </p:blipFill>
        <p:spPr>
          <a:xfrm>
            <a:off x="822960" y="4507992"/>
            <a:ext cx="3399282" cy="464058"/>
          </a:xfrm>
          <a:prstGeom prst="rect">
            <a:avLst/>
          </a:prstGeom>
        </p:spPr>
      </p:pic>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943600" y="1417320"/>
          <a:ext cx="5696712" cy="914400"/>
        </p:xfrm>
        <a:graphic>
          <a:graphicData uri="http://schemas.openxmlformats.org/drawingml/2006/table">
            <a:tbl>
              <a:tblPr/>
              <a:tblGrid>
                <a:gridCol w="1691640"/>
                <a:gridCol w="1828800"/>
                <a:gridCol w="217627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Activation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Initialization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Var(w)</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ReLU, GELU</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He / Kaiming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tanh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Xavier / Glorot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2 / (n_in + n_out)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SELU, linear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LeCun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1 / n_in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12" name="Shape 6"/>
          <p:cNvSpPr/>
          <p:nvPr/>
        </p:nvSpPr>
        <p:spPr>
          <a:xfrm>
            <a:off x="5943600" y="3840480"/>
            <a:ext cx="5696712" cy="1234440"/>
          </a:xfrm>
          <a:prstGeom prst="roundRect">
            <a:avLst>
              <a:gd name="adj" fmla="val 4444"/>
            </a:avLst>
          </a:prstGeom>
          <a:solidFill>
            <a:srgbClr val="1E2735"/>
          </a:solidFill>
          <a:ln/>
        </p:spPr>
      </p:sp>
      <p:sp>
        <p:nvSpPr>
          <p:cNvPr id="13" name="Text 7"/>
          <p:cNvSpPr txBox="1"/>
          <p:nvPr/>
        </p:nvSpPr>
        <p:spPr>
          <a:xfrm>
            <a:off x="6144768" y="3986784"/>
            <a:ext cx="5376672" cy="9784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W ~ Normal(0, 2 / n_in)   </a:t>
            </a:r>
            <a:r>
              <a:rPr lang="en-US" sz="1300" dirty="0">
                <a:solidFill>
                  <a:srgbClr val="8D99AB"/>
                </a:solidFill>
                <a:latin typeface="Consolas" pitchFamily="34" charset="0"/>
                <a:ea typeface="Consolas" pitchFamily="34" charset="-122"/>
                <a:cs typeface="Consolas" pitchFamily="34" charset="-120"/>
              </a:rPr>
              <a:t xml:space="preserve"># He initialization</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b = 0                     </a:t>
            </a:r>
            <a:r>
              <a:rPr lang="en-US" sz="1300" dirty="0">
                <a:solidFill>
                  <a:srgbClr val="8D99AB"/>
                </a:solidFill>
                <a:latin typeface="Consolas" pitchFamily="34" charset="0"/>
                <a:ea typeface="Consolas" pitchFamily="34" charset="-122"/>
                <a:cs typeface="Consolas" pitchFamily="34" charset="-120"/>
              </a:rPr>
              <a:t xml:space="preserve"># biases may start at 0</a:t>
            </a:r>
            <a:endParaRPr lang="en-US" sz="1300" dirty="0"/>
          </a:p>
        </p:txBody>
      </p:sp>
      <p:sp>
        <p:nvSpPr>
          <p:cNvPr id="14" name="Shape 8"/>
          <p:cNvSpPr/>
          <p:nvPr/>
        </p:nvSpPr>
        <p:spPr>
          <a:xfrm>
            <a:off x="5943600" y="5303520"/>
            <a:ext cx="5696712" cy="822960"/>
          </a:xfrm>
          <a:prstGeom prst="roundRect">
            <a:avLst>
              <a:gd name="adj" fmla="val 8889"/>
            </a:avLst>
          </a:prstGeom>
          <a:solidFill>
            <a:srgbClr val="FBEADF"/>
          </a:solidFill>
          <a:ln/>
        </p:spPr>
      </p:sp>
      <p:sp>
        <p:nvSpPr>
          <p:cNvPr id="15" name="Text 9"/>
          <p:cNvSpPr txBox="1"/>
          <p:nvPr/>
        </p:nvSpPr>
        <p:spPr>
          <a:xfrm>
            <a:off x="6144768" y="5349240"/>
            <a:ext cx="5294376" cy="731520"/>
          </a:xfrm>
          <a:prstGeom prst="rect">
            <a:avLst/>
          </a:prstGeom>
          <a:noFill/>
          <a:ln/>
        </p:spPr>
        <p:txBody>
          <a:bodyPr wrap="square" lIns="0" tIns="0" rIns="0" bIns="0" rtlCol="0" anchor="ctr"/>
          <a:lstStyle/>
          <a:p>
            <a:pPr indent="0" marL="0">
              <a:buNone/>
            </a:pPr>
            <a:r>
              <a:rPr lang="en-US" sz="1700" b="1" dirty="0">
                <a:solidFill>
                  <a:srgbClr val="8F3A0E"/>
                </a:solidFill>
                <a:latin typeface="Calibri" pitchFamily="34" charset="0"/>
                <a:ea typeface="Calibri" pitchFamily="34" charset="-122"/>
                <a:cs typeface="Calibri" pitchFamily="34" charset="-120"/>
              </a:rPr>
              <a:t>Never all-zero weights: identical units stay identical forever.</a:t>
            </a:r>
            <a:endParaRPr lang="en-US" sz="1700" dirty="0"/>
          </a:p>
        </p:txBody>
      </p:sp>
      <p:sp>
        <p:nvSpPr>
          <p:cNvPr id="16" name="Text 10"/>
          <p:cNvSpPr txBox="1"/>
          <p:nvPr/>
        </p:nvSpPr>
        <p:spPr>
          <a:xfrm>
            <a:off x="548640" y="5486400"/>
            <a:ext cx="5120640" cy="77724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Assumes weights i.i.d., zero-mean, independent of x. Library defaults can be smaller (e.g. Var(w) = 1/(3 n_in)): set He explicitly for deep ReLU nets.</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42</a:t>
            </a:fld>
            <a:endParaRPr lang="en-US"/>
          </a:p>
        </p:txBody>
      </p:sp>
      <p:sp>
        <p:nvSpPr>
          <p:cNvPr id="4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5: predict before the simulation</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INITIALIZATION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Simulation: 20 ReLU layers, four initializations</a:t>
            </a:r>
            <a:endParaRPr lang="en-US" sz="3200" dirty="0"/>
          </a:p>
        </p:txBody>
      </p:sp>
      <p:graphicFrame>
        <p:nvGraphicFramePr>
          <p:cNvPr id="5" name="Chart 0" descr="Std of activations by layer (log scale): std 1.0, He, Xavier, std 0.01"/>
          <p:cNvGraphicFramePr/>
          <p:nvPr/>
        </p:nvGraphicFramePr>
        <p:xfrm>
          <a:off x="457200" y="1417320"/>
          <a:ext cx="626364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903720" y="1417320"/>
          <a:ext cx="4736592" cy="914400"/>
        </p:xfrm>
        <a:graphic>
          <a:graphicData uri="http://schemas.openxmlformats.org/drawingml/2006/table">
            <a:tbl>
              <a:tblPr/>
              <a:tblGrid>
                <a:gridCol w="1005840"/>
                <a:gridCol w="1143000"/>
                <a:gridCol w="1280160"/>
                <a:gridCol w="1307592"/>
              </a:tblGrid>
              <a:tr h="5029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Init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 20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0.82</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0.83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1.14</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Xavier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0.58</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0.03</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1.1 × 10⁻³</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0.01</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0.09</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10⁻¹⁹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std 1.0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9.30</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2.8 × 10¹⁰</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1.3 × 10²¹</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7" name="Shape 2"/>
          <p:cNvSpPr/>
          <p:nvPr/>
        </p:nvSpPr>
        <p:spPr>
          <a:xfrm>
            <a:off x="6903720" y="4160520"/>
            <a:ext cx="4736592" cy="914400"/>
          </a:xfrm>
          <a:prstGeom prst="roundRect">
            <a:avLst>
              <a:gd name="adj" fmla="val 8000"/>
            </a:avLst>
          </a:prstGeom>
          <a:solidFill>
            <a:srgbClr val="E2F1F1"/>
          </a:solidFill>
          <a:ln/>
        </p:spPr>
        <p:txBody>
          <a:bodyPr/>
          <a:p/>
        </p:txBody>
      </p:sp>
      <p:sp>
        <p:nvSpPr>
          <p:cNvPr id="8" name="Text 3"/>
          <p:cNvSpPr txBox="1"/>
          <p:nvPr/>
        </p:nvSpPr>
        <p:spPr>
          <a:xfrm>
            <a:off x="7104888" y="4206240"/>
            <a:ext cx="4334256" cy="82296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Of these four, only He keeps the signal at a stable scale through 20 ReLU layers.</a:t>
            </a:r>
            <a:endParaRPr lang="en-US" sz="1800" dirty="0"/>
          </a:p>
        </p:txBody>
      </p:sp>
      <p:sp>
        <p:nvSpPr>
          <p:cNvPr id="9" name="Text 4"/>
          <p:cNvSpPr txBox="1"/>
          <p:nvPr/>
        </p:nvSpPr>
        <p:spPr>
          <a:xfrm>
            <a:off x="6903720" y="5303520"/>
            <a:ext cx="4736592" cy="45720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Width 256, 1,000 random inputs, one seeded NumPy run. Chart: He vs Xavier; std 0.01 and 1.0 are in the table.</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43</a:t>
            </a:fld>
            <a:endParaRPr lang="en-US"/>
          </a:p>
        </p:txBody>
      </p:sp>
      <p:sp>
        <p:nvSpPr>
          <p:cNvPr id="4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SEED 0 · small_figures.py</a:t>
            </a:r>
          </a:p>
        </p:txBody>
      </p:sp>
      <p:sp>
        <p:nvSpPr>
          <p:cNvPr id="4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good start, yet deep plain nets still train worse: the break question</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5</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A tanh network trains well. You switch every activation to ReLU but keep Xavier initialization (30 layers, all 256 wide). What happens to the forward signal?</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Nothing: Xavier works for any activation</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shrinks by about √2 per layer and vanishes</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It grows by about √2 per layer and explodes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Only the output layer is affected</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44</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the simulation: four initializations, 20 layers</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RESIDUAL CONNECTIONS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Residual connections: why deeper can still train</a:t>
            </a:r>
            <a:endParaRPr lang="en-US" sz="3200" dirty="0"/>
          </a:p>
        </p:txBody>
      </p:sp>
      <p:sp>
        <p:nvSpPr>
          <p:cNvPr id="5" name="Shape 2"/>
          <p:cNvSpPr/>
          <p:nvPr/>
        </p:nvSpPr>
        <p:spPr>
          <a:xfrm>
            <a:off x="2148840" y="1417320"/>
            <a:ext cx="1188720" cy="548640"/>
          </a:xfrm>
          <a:prstGeom prst="roundRect">
            <a:avLst>
              <a:gd name="adj" fmla="val 16667"/>
            </a:avLst>
          </a:prstGeom>
          <a:solidFill>
            <a:srgbClr val="F3F5F8"/>
          </a:solidFill>
          <a:ln w="15875">
            <a:solidFill>
              <a:srgbClr val="8A94A3"/>
            </a:solidFill>
            <a:prstDash val="solid"/>
          </a:ln>
        </p:spPr>
        <p:txBody>
          <a:bodyPr/>
          <a:p/>
        </p:txBody>
      </p:sp>
      <p:sp>
        <p:nvSpPr>
          <p:cNvPr id="6" name="Text 3"/>
          <p:cNvSpPr txBox="1"/>
          <p:nvPr/>
        </p:nvSpPr>
        <p:spPr>
          <a:xfrm>
            <a:off x="2194560" y="1417320"/>
            <a:ext cx="109728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a:t>
            </a:r>
            <a:endParaRPr lang="en-US" sz="1900" dirty="0"/>
          </a:p>
        </p:txBody>
      </p:sp>
      <p:sp>
        <p:nvSpPr>
          <p:cNvPr id="7" name="Shape 4"/>
          <p:cNvSpPr/>
          <p:nvPr/>
        </p:nvSpPr>
        <p:spPr>
          <a:xfrm>
            <a:off x="2743200" y="1984248"/>
            <a:ext cx="91" cy="274320"/>
          </a:xfrm>
          <a:prstGeom prst="line">
            <a:avLst/>
          </a:prstGeom>
          <a:noFill/>
          <a:ln w="22225">
            <a:solidFill>
              <a:srgbClr val="0F7C82"/>
            </a:solidFill>
            <a:prstDash val="solid"/>
            <a:tailEnd type="triangle"/>
          </a:ln>
        </p:spPr>
        <p:txBody>
          <a:bodyPr/>
          <a:p/>
        </p:txBody>
      </p:sp>
      <p:sp>
        <p:nvSpPr>
          <p:cNvPr id="8" name="Shape 5"/>
          <p:cNvSpPr/>
          <p:nvPr/>
        </p:nvSpPr>
        <p:spPr>
          <a:xfrm>
            <a:off x="1645920" y="2276856"/>
            <a:ext cx="2194560" cy="2377440"/>
          </a:xfrm>
          <a:prstGeom prst="roundRect">
            <a:avLst>
              <a:gd name="adj" fmla="val 3333"/>
            </a:avLst>
          </a:prstGeom>
          <a:solidFill>
            <a:srgbClr val="E2F1F1"/>
          </a:solidFill>
          <a:ln w="12700">
            <a:solidFill>
              <a:srgbClr val="0F7C82"/>
            </a:solidFill>
            <a:prstDash val="solid"/>
          </a:ln>
        </p:spPr>
        <p:txBody>
          <a:bodyPr/>
          <a:p/>
        </p:txBody>
      </p:sp>
      <p:sp>
        <p:nvSpPr>
          <p:cNvPr id="9" name="Text 6"/>
          <p:cNvSpPr txBox="1"/>
          <p:nvPr/>
        </p:nvSpPr>
        <p:spPr>
          <a:xfrm>
            <a:off x="1737360" y="2331720"/>
            <a:ext cx="2011680" cy="365760"/>
          </a:xfrm>
          <a:prstGeom prst="rect">
            <a:avLst/>
          </a:prstGeom>
          <a:noFill/>
          <a:ln/>
        </p:spPr>
        <p:txBody>
          <a:bodyPr wrap="square" lIns="0" tIns="0" rIns="0" bIns="0" rtlCol="0" anchor="t"/>
          <a:lstStyle/>
          <a:p>
            <a:pPr algn="ctr" indent="0" marL="0">
              <a:buNone/>
            </a:pPr>
            <a:r>
              <a:rPr lang="en-US" sz="1700" b="1" dirty="0">
                <a:solidFill>
                  <a:srgbClr val="0A5559"/>
                </a:solidFill>
                <a:latin typeface="Calibri" pitchFamily="34" charset="0"/>
                <a:ea typeface="Calibri" pitchFamily="34" charset="-122"/>
                <a:cs typeface="Calibri" pitchFamily="34" charset="-120"/>
              </a:rPr>
              <a:t>F(x</a:t>
            </a:r>
            <a:pPr algn="ctr" indent="0" marL="0">
              <a:buNone/>
            </a:pPr>
            <a:r>
              <a:rPr lang="en-US" sz="1700" b="1" baseline="-40000" dirty="0">
                <a:solidFill>
                  <a:srgbClr val="0A5559"/>
                </a:solidFill>
                <a:latin typeface="Calibri" pitchFamily="34" charset="0"/>
                <a:ea typeface="Calibri" pitchFamily="34" charset="-122"/>
                <a:cs typeface="Calibri" pitchFamily="34" charset="-120"/>
              </a:rPr>
              <a:t>l</a:t>
            </a:r>
            <a:pPr algn="ctr" indent="0" marL="0">
              <a:buNone/>
            </a:pPr>
            <a:r>
              <a:rPr lang="en-US" sz="1700" b="1" dirty="0">
                <a:solidFill>
                  <a:srgbClr val="0A5559"/>
                </a:solidFill>
                <a:latin typeface="Calibri" pitchFamily="34" charset="0"/>
                <a:ea typeface="Calibri" pitchFamily="34" charset="-122"/>
                <a:cs typeface="Calibri" pitchFamily="34" charset="-120"/>
              </a:rPr>
              <a:t>)</a:t>
            </a:r>
            <a:endParaRPr lang="en-US" sz="1700" dirty="0"/>
          </a:p>
        </p:txBody>
      </p:sp>
      <p:sp>
        <p:nvSpPr>
          <p:cNvPr id="10" name="Shape 7"/>
          <p:cNvSpPr/>
          <p:nvPr/>
        </p:nvSpPr>
        <p:spPr>
          <a:xfrm>
            <a:off x="1828800" y="2743200"/>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1" name="Text 8"/>
          <p:cNvSpPr txBox="1"/>
          <p:nvPr/>
        </p:nvSpPr>
        <p:spPr>
          <a:xfrm>
            <a:off x="1874520" y="2743200"/>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2" name="Shape 9"/>
          <p:cNvSpPr/>
          <p:nvPr/>
        </p:nvSpPr>
        <p:spPr>
          <a:xfrm>
            <a:off x="1828800" y="3364992"/>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3" name="Text 10"/>
          <p:cNvSpPr txBox="1"/>
          <p:nvPr/>
        </p:nvSpPr>
        <p:spPr>
          <a:xfrm>
            <a:off x="1874520" y="3364992"/>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ReLU</a:t>
            </a:r>
            <a:endParaRPr lang="en-US" sz="1500" dirty="0"/>
          </a:p>
        </p:txBody>
      </p:sp>
      <p:sp>
        <p:nvSpPr>
          <p:cNvPr id="14" name="Shape 11"/>
          <p:cNvSpPr/>
          <p:nvPr/>
        </p:nvSpPr>
        <p:spPr>
          <a:xfrm>
            <a:off x="1828800" y="3986784"/>
            <a:ext cx="1828800" cy="475488"/>
          </a:xfrm>
          <a:prstGeom prst="roundRect">
            <a:avLst>
              <a:gd name="adj" fmla="val 19231"/>
            </a:avLst>
          </a:prstGeom>
          <a:solidFill>
            <a:srgbClr val="FFFFFF"/>
          </a:solidFill>
          <a:ln w="15875">
            <a:solidFill>
              <a:srgbClr val="0F7C82"/>
            </a:solidFill>
            <a:prstDash val="solid"/>
          </a:ln>
        </p:spPr>
        <p:txBody>
          <a:bodyPr/>
          <a:p/>
        </p:txBody>
      </p:sp>
      <p:sp>
        <p:nvSpPr>
          <p:cNvPr id="15" name="Text 12"/>
          <p:cNvSpPr txBox="1"/>
          <p:nvPr/>
        </p:nvSpPr>
        <p:spPr>
          <a:xfrm>
            <a:off x="1874520" y="3986784"/>
            <a:ext cx="1737360" cy="475488"/>
          </a:xfrm>
          <a:prstGeom prst="rect">
            <a:avLst/>
          </a:prstGeom>
          <a:noFill/>
          <a:ln/>
        </p:spPr>
        <p:txBody>
          <a:bodyPr wrap="square" lIns="0" tIns="0" rIns="0" bIns="0" rtlCol="0" anchor="ctr"/>
          <a:lstStyle/>
          <a:p>
            <a:pPr algn="ctr" indent="0" marL="0">
              <a:buNone/>
            </a:pPr>
            <a:r>
              <a:rPr lang="en-US" sz="1500" dirty="0">
                <a:solidFill>
                  <a:srgbClr val="17202E"/>
                </a:solidFill>
                <a:latin typeface="Calibri" pitchFamily="34" charset="0"/>
                <a:ea typeface="Calibri" pitchFamily="34" charset="-122"/>
                <a:cs typeface="Calibri" pitchFamily="34" charset="-120"/>
              </a:rPr>
              <a:t>Linear / Conv</a:t>
            </a:r>
            <a:endParaRPr lang="en-US" sz="1500" dirty="0"/>
          </a:p>
        </p:txBody>
      </p:sp>
      <p:sp>
        <p:nvSpPr>
          <p:cNvPr id="16" name="Shape 13"/>
          <p:cNvSpPr/>
          <p:nvPr/>
        </p:nvSpPr>
        <p:spPr>
          <a:xfrm>
            <a:off x="2743200" y="4672584"/>
            <a:ext cx="91" cy="237744"/>
          </a:xfrm>
          <a:prstGeom prst="line">
            <a:avLst/>
          </a:prstGeom>
          <a:noFill/>
          <a:ln w="22225">
            <a:solidFill>
              <a:srgbClr val="0F7C82"/>
            </a:solidFill>
            <a:prstDash val="solid"/>
            <a:tailEnd type="triangle"/>
          </a:ln>
        </p:spPr>
        <p:txBody>
          <a:bodyPr/>
          <a:p/>
        </p:txBody>
      </p:sp>
      <p:sp>
        <p:nvSpPr>
          <p:cNvPr id="17" name="Shape 14"/>
          <p:cNvSpPr/>
          <p:nvPr/>
        </p:nvSpPr>
        <p:spPr>
          <a:xfrm>
            <a:off x="2468880" y="4928616"/>
            <a:ext cx="548640" cy="548640"/>
          </a:xfrm>
          <a:prstGeom prst="ellipse">
            <a:avLst/>
          </a:prstGeom>
          <a:solidFill>
            <a:srgbClr val="FFFFFF"/>
          </a:solidFill>
          <a:ln w="15875">
            <a:solidFill>
              <a:srgbClr val="17202E"/>
            </a:solidFill>
            <a:prstDash val="solid"/>
          </a:ln>
        </p:spPr>
        <p:txBody>
          <a:bodyPr/>
          <a:p/>
        </p:txBody>
      </p:sp>
      <p:sp>
        <p:nvSpPr>
          <p:cNvPr id="18" name="Text 15"/>
          <p:cNvSpPr txBox="1"/>
          <p:nvPr/>
        </p:nvSpPr>
        <p:spPr>
          <a:xfrm>
            <a:off x="2468880" y="4928616"/>
            <a:ext cx="548640" cy="548640"/>
          </a:xfrm>
          <a:prstGeom prst="rect">
            <a:avLst/>
          </a:prstGeom>
          <a:noFill/>
          <a:ln/>
        </p:spPr>
        <p:txBody>
          <a:bodyPr wrap="square" lIns="0" tIns="0" rIns="0" bIns="0" rtlCol="0" anchor="ctr"/>
          <a:lstStyle/>
          <a:p>
            <a:pPr algn="ctr" indent="0" marL="0">
              <a:buNone/>
            </a:pPr>
            <a:r>
              <a:rPr lang="en-US" sz="2600" b="1" dirty="0">
                <a:solidFill>
                  <a:srgbClr val="17202E"/>
                </a:solidFill>
                <a:latin typeface="Calibri" pitchFamily="34" charset="0"/>
                <a:ea typeface="Calibri" pitchFamily="34" charset="-122"/>
                <a:cs typeface="Calibri" pitchFamily="34" charset="-120"/>
              </a:rPr>
              <a:t>+</a:t>
            </a:r>
            <a:endParaRPr lang="en-US" sz="2600" dirty="0"/>
          </a:p>
        </p:txBody>
      </p:sp>
      <p:sp>
        <p:nvSpPr>
          <p:cNvPr id="19" name="Shape 16"/>
          <p:cNvSpPr/>
          <p:nvPr/>
        </p:nvSpPr>
        <p:spPr>
          <a:xfrm>
            <a:off x="2743200" y="5495544"/>
            <a:ext cx="91" cy="265176"/>
          </a:xfrm>
          <a:prstGeom prst="line">
            <a:avLst/>
          </a:prstGeom>
          <a:noFill/>
          <a:ln w="22225">
            <a:solidFill>
              <a:srgbClr val="0F7C82"/>
            </a:solidFill>
            <a:prstDash val="solid"/>
            <a:tailEnd type="triangle"/>
          </a:ln>
        </p:spPr>
        <p:txBody>
          <a:bodyPr/>
          <a:p/>
        </p:txBody>
      </p:sp>
      <p:sp>
        <p:nvSpPr>
          <p:cNvPr id="20" name="Shape 17"/>
          <p:cNvSpPr/>
          <p:nvPr/>
        </p:nvSpPr>
        <p:spPr>
          <a:xfrm>
            <a:off x="2057400" y="5779008"/>
            <a:ext cx="1371600" cy="548640"/>
          </a:xfrm>
          <a:prstGeom prst="roundRect">
            <a:avLst>
              <a:gd name="adj" fmla="val 16667"/>
            </a:avLst>
          </a:prstGeom>
          <a:solidFill>
            <a:srgbClr val="F3F5F8"/>
          </a:solidFill>
          <a:ln w="15875">
            <a:solidFill>
              <a:srgbClr val="8A94A3"/>
            </a:solidFill>
            <a:prstDash val="solid"/>
          </a:ln>
        </p:spPr>
        <p:txBody>
          <a:bodyPr/>
          <a:p/>
        </p:txBody>
      </p:sp>
      <p:sp>
        <p:nvSpPr>
          <p:cNvPr id="21" name="Text 18"/>
          <p:cNvSpPr txBox="1"/>
          <p:nvPr/>
        </p:nvSpPr>
        <p:spPr>
          <a:xfrm>
            <a:off x="2103120" y="5779008"/>
            <a:ext cx="1280160" cy="548640"/>
          </a:xfrm>
          <a:prstGeom prst="rect">
            <a:avLst/>
          </a:prstGeom>
          <a:noFill/>
          <a:ln/>
        </p:spPr>
        <p:txBody>
          <a:bodyPr wrap="square" lIns="0" tIns="0" rIns="0" bIns="0" rtlCol="0" anchor="ctr"/>
          <a:lstStyle/>
          <a:p>
            <a:pPr algn="ctr" indent="0" marL="0">
              <a:buNone/>
            </a:pPr>
            <a:r>
              <a:rPr lang="en-US" sz="1900" dirty="0">
                <a:solidFill>
                  <a:srgbClr val="17202E"/>
                </a:solidFill>
                <a:latin typeface="Cambria" pitchFamily="34" charset="0"/>
                <a:ea typeface="Cambria" pitchFamily="34" charset="-122"/>
                <a:cs typeface="Cambria" pitchFamily="34" charset="-120"/>
              </a:rPr>
              <a:t>x</a:t>
            </a:r>
            <a:pPr algn="ctr" indent="0" marL="0">
              <a:buNone/>
            </a:pPr>
            <a:r>
              <a:rPr lang="en-US" sz="1900" baseline="-40000" dirty="0">
                <a:solidFill>
                  <a:srgbClr val="17202E"/>
                </a:solidFill>
                <a:latin typeface="Cambria" pitchFamily="34" charset="0"/>
                <a:ea typeface="Cambria" pitchFamily="34" charset="-122"/>
                <a:cs typeface="Cambria" pitchFamily="34" charset="-120"/>
              </a:rPr>
              <a:t>l+1</a:t>
            </a:r>
            <a:endParaRPr lang="en-US" sz="1900" dirty="0"/>
          </a:p>
        </p:txBody>
      </p:sp>
      <p:sp>
        <p:nvSpPr>
          <p:cNvPr id="22" name="Shape 19"/>
          <p:cNvSpPr/>
          <p:nvPr/>
        </p:nvSpPr>
        <p:spPr>
          <a:xfrm>
            <a:off x="3355848" y="1691640"/>
            <a:ext cx="1170432" cy="91"/>
          </a:xfrm>
          <a:prstGeom prst="line">
            <a:avLst/>
          </a:prstGeom>
          <a:noFill/>
          <a:ln w="31750">
            <a:solidFill>
              <a:srgbClr val="C8571B"/>
            </a:solidFill>
            <a:prstDash val="solid"/>
          </a:ln>
        </p:spPr>
        <p:txBody>
          <a:bodyPr/>
          <a:p/>
        </p:txBody>
      </p:sp>
      <p:sp>
        <p:nvSpPr>
          <p:cNvPr id="23" name="Shape 20"/>
          <p:cNvSpPr/>
          <p:nvPr/>
        </p:nvSpPr>
        <p:spPr>
          <a:xfrm>
            <a:off x="4526280" y="1691640"/>
            <a:ext cx="91" cy="3511296"/>
          </a:xfrm>
          <a:prstGeom prst="line">
            <a:avLst/>
          </a:prstGeom>
          <a:noFill/>
          <a:ln w="31750">
            <a:solidFill>
              <a:srgbClr val="C8571B"/>
            </a:solidFill>
            <a:prstDash val="solid"/>
          </a:ln>
        </p:spPr>
        <p:txBody>
          <a:bodyPr/>
          <a:p/>
        </p:txBody>
      </p:sp>
      <p:sp>
        <p:nvSpPr>
          <p:cNvPr id="24" name="Shape 21"/>
          <p:cNvSpPr/>
          <p:nvPr/>
        </p:nvSpPr>
        <p:spPr>
          <a:xfrm flipH="1">
            <a:off x="3035808" y="5202936"/>
            <a:ext cx="1490472" cy="91"/>
          </a:xfrm>
          <a:prstGeom prst="line">
            <a:avLst/>
          </a:prstGeom>
          <a:noFill/>
          <a:ln w="31750">
            <a:solidFill>
              <a:srgbClr val="C8571B"/>
            </a:solidFill>
            <a:prstDash val="solid"/>
            <a:tailEnd type="triangle"/>
          </a:ln>
        </p:spPr>
        <p:txBody>
          <a:bodyPr/>
          <a:p/>
        </p:txBody>
      </p:sp>
      <p:sp>
        <p:nvSpPr>
          <p:cNvPr id="25" name="Text 22"/>
          <p:cNvSpPr txBox="1"/>
          <p:nvPr/>
        </p:nvSpPr>
        <p:spPr>
          <a:xfrm>
            <a:off x="4617720" y="3063240"/>
            <a:ext cx="1097280" cy="731520"/>
          </a:xfrm>
          <a:prstGeom prst="rect">
            <a:avLst/>
          </a:prstGeom>
          <a:noFill/>
          <a:ln/>
        </p:spPr>
        <p:txBody>
          <a:bodyPr wrap="square" lIns="0" tIns="0" rIns="0" bIns="0" rtlCol="0" anchor="t"/>
          <a:lstStyle/>
          <a:p>
            <a:pPr indent="0" marL="0">
              <a:buNone/>
            </a:pPr>
            <a:r>
              <a:rPr lang="en-US" sz="1700" b="1" dirty="0">
                <a:solidFill>
                  <a:srgbClr val="C8571B"/>
                </a:solidFill>
                <a:latin typeface="Calibri" pitchFamily="34" charset="0"/>
                <a:ea typeface="Calibri" pitchFamily="34" charset="-122"/>
                <a:cs typeface="Calibri" pitchFamily="34" charset="-120"/>
              </a:rPr>
              <a:t>identity</a:t>
            </a:r>
            <a:endParaRPr lang="en-US" sz="1700" dirty="0"/>
          </a:p>
          <a:p>
            <a:pPr indent="0" marL="0">
              <a:buNone/>
            </a:pPr>
            <a:r>
              <a:rPr lang="en-US" sz="1700" b="1" dirty="0">
                <a:solidFill>
                  <a:srgbClr val="C8571B"/>
                </a:solidFill>
                <a:latin typeface="Calibri" pitchFamily="34" charset="0"/>
                <a:ea typeface="Calibri" pitchFamily="34" charset="-122"/>
                <a:cs typeface="Calibri" pitchFamily="34" charset="-120"/>
              </a:rPr>
              <a:t>skip</a:t>
            </a:r>
            <a:endParaRPr lang="en-US" sz="1700" dirty="0"/>
          </a:p>
        </p:txBody>
      </p:sp>
      <p:sp>
        <p:nvSpPr>
          <p:cNvPr id="26" name="Shape 23"/>
          <p:cNvSpPr/>
          <p:nvPr/>
        </p:nvSpPr>
        <p:spPr>
          <a:xfrm>
            <a:off x="5669280" y="1417320"/>
            <a:ext cx="5971032" cy="1783080"/>
          </a:xfrm>
          <a:prstGeom prst="roundRect">
            <a:avLst>
              <a:gd name="adj" fmla="val 4103"/>
            </a:avLst>
          </a:prstGeom>
          <a:solidFill>
            <a:srgbClr val="F3F5F8"/>
          </a:solidFill>
          <a:ln/>
        </p:spPr>
        <p:txBody>
          <a:bodyPr/>
          <a:p/>
        </p:txBody>
      </p:sp>
      <p:sp>
        <p:nvSpPr>
          <p:cNvPr id="27" name="Text 24"/>
          <p:cNvSpPr txBox="1"/>
          <p:nvPr/>
        </p:nvSpPr>
        <p:spPr>
          <a:xfrm>
            <a:off x="587044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LEARN A CORRECTION, NOT THE WHOLE MAP</a:t>
            </a:r>
            <a:endParaRPr lang="en-US" sz="1300" dirty="0"/>
          </a:p>
        </p:txBody>
      </p:sp>
      <p:pic>
        <p:nvPicPr>
          <p:cNvPr id="28" name="Image 0" descr="LaTeX: $\displaystyle \x_{l+1} = \x_l + F(\x_l)$">    </p:cNvPr>
          <p:cNvPicPr>
            <a:picLocks noChangeAspect="1"/>
          </p:cNvPicPr>
          <p:nvPr/>
        </p:nvPicPr>
        <p:blipFill>
          <a:blip r:embed="rId1"/>
          <a:stretch>
            <a:fillRect/>
          </a:stretch>
        </p:blipFill>
        <p:spPr>
          <a:xfrm>
            <a:off x="5897880" y="1984248"/>
            <a:ext cx="1934261" cy="312725"/>
          </a:xfrm>
          <a:prstGeom prst="rect">
            <a:avLst/>
          </a:prstGeom>
        </p:spPr>
      </p:pic>
      <p:pic>
        <p:nvPicPr>
          <p:cNvPr id="29" name="Image 1" descr="LaTeX: $\displaystyle \frac{\partial \x_{l+1}}{\partial \x_l} = \mathbf{I} + \frac{\partial F}{\partial \x_l}$">    </p:cNvPr>
          <p:cNvPicPr>
            <a:picLocks noChangeAspect="1"/>
          </p:cNvPicPr>
          <p:nvPr/>
        </p:nvPicPr>
        <p:blipFill>
          <a:blip r:embed="rId2"/>
          <a:stretch>
            <a:fillRect/>
          </a:stretch>
        </p:blipFill>
        <p:spPr>
          <a:xfrm>
            <a:off x="8732520" y="1874520"/>
            <a:ext cx="1526438" cy="509626"/>
          </a:xfrm>
          <a:prstGeom prst="rect">
            <a:avLst/>
          </a:prstGeom>
        </p:spPr>
      </p:pic>
      <p:sp>
        <p:nvSpPr>
          <p:cNvPr id="30" name="Text 25"/>
          <p:cNvSpPr txBox="1"/>
          <p:nvPr/>
        </p:nvSpPr>
        <p:spPr>
          <a:xfrm>
            <a:off x="5870448" y="2715768"/>
            <a:ext cx="5669280" cy="4114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identity I also gives every gradient a path with factor 1.</a:t>
            </a:r>
            <a:endParaRPr lang="en-US" sz="1600" dirty="0"/>
          </a:p>
        </p:txBody>
      </p:sp>
      <p:sp>
        <p:nvSpPr>
          <p:cNvPr id="31" name="Shape 26"/>
          <p:cNvSpPr/>
          <p:nvPr/>
        </p:nvSpPr>
        <p:spPr>
          <a:xfrm>
            <a:off x="5669280" y="3520440"/>
            <a:ext cx="402336" cy="402336"/>
          </a:xfrm>
          <a:prstGeom prst="ellipse">
            <a:avLst/>
          </a:prstGeom>
          <a:solidFill>
            <a:srgbClr val="0F7C82"/>
          </a:solidFill>
          <a:ln/>
        </p:spPr>
        <p:txBody>
          <a:bodyPr/>
          <a:p/>
        </p:txBody>
      </p:sp>
      <p:sp>
        <p:nvSpPr>
          <p:cNvPr id="32" name="Text 27"/>
          <p:cNvSpPr txBox="1"/>
          <p:nvPr/>
        </p:nvSpPr>
        <p:spPr>
          <a:xfrm>
            <a:off x="5669280" y="35204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3" name="Text 28"/>
          <p:cNvSpPr txBox="1"/>
          <p:nvPr/>
        </p:nvSpPr>
        <p:spPr>
          <a:xfrm>
            <a:off x="6272784" y="3502152"/>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Eases degradation</a:t>
            </a:r>
            <a:endParaRPr lang="en-US" sz="1800" dirty="0"/>
          </a:p>
        </p:txBody>
      </p:sp>
      <p:sp>
        <p:nvSpPr>
          <p:cNvPr id="34" name="Text 29"/>
          <p:cNvSpPr txBox="1"/>
          <p:nvPr/>
        </p:nvSpPr>
        <p:spPr>
          <a:xfrm>
            <a:off x="6272784" y="3867912"/>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In He et al.'s runs, deeper plain nets trained worse; residual ones did not.</a:t>
            </a:r>
            <a:endParaRPr lang="en-US" sz="1600" dirty="0"/>
          </a:p>
        </p:txBody>
      </p:sp>
      <p:sp>
        <p:nvSpPr>
          <p:cNvPr id="35" name="Shape 30"/>
          <p:cNvSpPr/>
          <p:nvPr/>
        </p:nvSpPr>
        <p:spPr>
          <a:xfrm>
            <a:off x="5669280" y="4507992"/>
            <a:ext cx="402336" cy="402336"/>
          </a:xfrm>
          <a:prstGeom prst="ellipse">
            <a:avLst/>
          </a:prstGeom>
          <a:solidFill>
            <a:srgbClr val="0F7C82"/>
          </a:solidFill>
          <a:ln/>
        </p:spPr>
      </p:sp>
      <p:sp>
        <p:nvSpPr>
          <p:cNvPr id="36" name="Text 31"/>
          <p:cNvSpPr txBox="1"/>
          <p:nvPr/>
        </p:nvSpPr>
        <p:spPr>
          <a:xfrm>
            <a:off x="5669280"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7" name="Text 32"/>
          <p:cNvSpPr txBox="1"/>
          <p:nvPr/>
        </p:nvSpPr>
        <p:spPr>
          <a:xfrm>
            <a:off x="6272784" y="4489704"/>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Extra blocks are cheap to ignore</a:t>
            </a:r>
            <a:endParaRPr lang="en-US" sz="1800" dirty="0"/>
          </a:p>
        </p:txBody>
      </p:sp>
      <p:sp>
        <p:nvSpPr>
          <p:cNvPr id="38" name="Text 33"/>
          <p:cNvSpPr txBox="1"/>
          <p:nvPr/>
        </p:nvSpPr>
        <p:spPr>
          <a:xfrm>
            <a:off x="6272784" y="4855464"/>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F → 0 makes a block the identity.</a:t>
            </a:r>
            <a:endParaRPr lang="en-US" sz="1600" dirty="0"/>
          </a:p>
        </p:txBody>
      </p:sp>
      <p:sp>
        <p:nvSpPr>
          <p:cNvPr id="39" name="Shape 34"/>
          <p:cNvSpPr/>
          <p:nvPr/>
        </p:nvSpPr>
        <p:spPr>
          <a:xfrm>
            <a:off x="5669280" y="5495544"/>
            <a:ext cx="402336" cy="402336"/>
          </a:xfrm>
          <a:prstGeom prst="ellipse">
            <a:avLst/>
          </a:prstGeom>
          <a:solidFill>
            <a:srgbClr val="0F7C82"/>
          </a:solidFill>
          <a:ln/>
        </p:spPr>
      </p:sp>
      <p:sp>
        <p:nvSpPr>
          <p:cNvPr id="40" name="Text 35"/>
          <p:cNvSpPr txBox="1"/>
          <p:nvPr/>
        </p:nvSpPr>
        <p:spPr>
          <a:xfrm>
            <a:off x="5669280" y="54955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1" name="Text 36"/>
          <p:cNvSpPr txBox="1"/>
          <p:nvPr/>
        </p:nvSpPr>
        <p:spPr>
          <a:xfrm>
            <a:off x="6272784" y="5477256"/>
            <a:ext cx="53675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Everywhere since 2015</a:t>
            </a:r>
            <a:endParaRPr lang="en-US" sz="1800" dirty="0"/>
          </a:p>
        </p:txBody>
      </p:sp>
      <p:sp>
        <p:nvSpPr>
          <p:cNvPr id="42" name="Text 37"/>
          <p:cNvSpPr txBox="1"/>
          <p:nvPr/>
        </p:nvSpPr>
        <p:spPr>
          <a:xfrm>
            <a:off x="6272784" y="5843016"/>
            <a:ext cx="5367528" cy="62179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ResNets; every Transformer block.</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45</a:t>
            </a:fld>
            <a:endParaRPr lang="en-US"/>
          </a:p>
        </p:txBody>
      </p:sp>
      <p:sp>
        <p:nvSpPr>
          <p:cNvPr id="4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gradients flow; now the ravines from the gradient-descent slide</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Ravines defeat plain SGD; momentum and Adam help</a:t>
            </a:r>
            <a:endParaRPr lang="en-US" sz="3200" dirty="0"/>
          </a:p>
        </p:txBody>
      </p:sp>
      <p:pic>
        <p:nvPicPr>
          <p:cNvPr id="5" name="Image 0" descr="Trajectories of SGD, SGD with momentum and Adam on a rotated elongated quadratic, 40 steps each with tuned learning rates.">    </p:cNvPr>
          <p:cNvPicPr>
            <a:picLocks noChangeAspect="1"/>
          </p:cNvPicPr>
          <p:nvPr/>
        </p:nvPicPr>
        <p:blipFill>
          <a:blip r:embed="rId1"/>
          <a:stretch>
            <a:fillRect/>
          </a:stretch>
        </p:blipFill>
        <p:spPr>
          <a:xfrm>
            <a:off x="581283" y="1325880"/>
            <a:ext cx="11029129" cy="2514600"/>
          </a:xfrm>
          <a:prstGeom prst="rect">
            <a:avLst/>
          </a:prstGeom>
        </p:spPr>
      </p:pic>
      <p:sp>
        <p:nvSpPr>
          <p:cNvPr id="6" name="Shape 2"/>
          <p:cNvSpPr/>
          <p:nvPr/>
        </p:nvSpPr>
        <p:spPr>
          <a:xfrm>
            <a:off x="548640" y="4389120"/>
            <a:ext cx="3529584" cy="1737360"/>
          </a:xfrm>
          <a:prstGeom prst="roundRect">
            <a:avLst>
              <a:gd name="adj" fmla="val 4211"/>
            </a:avLst>
          </a:prstGeom>
          <a:solidFill>
            <a:srgbClr val="F3F5F8"/>
          </a:solidFill>
          <a:ln/>
        </p:spPr>
        <p:txBody>
          <a:bodyPr/>
          <a:p/>
        </p:txBody>
      </p:sp>
      <p:sp>
        <p:nvSpPr>
          <p:cNvPr id="7" name="Text 3"/>
          <p:cNvSpPr txBox="1"/>
          <p:nvPr/>
        </p:nvSpPr>
        <p:spPr>
          <a:xfrm>
            <a:off x="731520" y="4498848"/>
            <a:ext cx="3200400" cy="384048"/>
          </a:xfrm>
          <a:prstGeom prst="rect">
            <a:avLst/>
          </a:prstGeom>
          <a:noFill/>
          <a:ln/>
        </p:spPr>
        <p:txBody>
          <a:bodyPr wrap="square" lIns="0" tIns="0" rIns="0" bIns="0" rtlCol="0" anchor="t"/>
          <a:lstStyle/>
          <a:p>
            <a:pPr indent="0" marL="0">
              <a:buNone/>
            </a:pPr>
            <a:r>
              <a:rPr lang="en-US" sz="1900" b="1" dirty="0">
                <a:solidFill>
                  <a:srgbClr val="5B6675"/>
                </a:solidFill>
                <a:latin typeface="Calibri" pitchFamily="34" charset="0"/>
                <a:ea typeface="Calibri" pitchFamily="34" charset="-122"/>
                <a:cs typeface="Calibri" pitchFamily="34" charset="-120"/>
              </a:rPr>
              <a:t>SGD</a:t>
            </a:r>
            <a:endParaRPr lang="en-US" sz="1900" dirty="0"/>
          </a:p>
        </p:txBody>
      </p:sp>
      <p:sp>
        <p:nvSpPr>
          <p:cNvPr id="8" name="Text 4"/>
          <p:cNvSpPr txBox="1"/>
          <p:nvPr/>
        </p:nvSpPr>
        <p:spPr>
          <a:xfrm>
            <a:off x="731520"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One η for every direction: bounces across, creeps along.</a:t>
            </a:r>
            <a:endParaRPr lang="en-US" sz="1600" dirty="0"/>
          </a:p>
        </p:txBody>
      </p:sp>
      <p:sp>
        <p:nvSpPr>
          <p:cNvPr id="9" name="Text 5"/>
          <p:cNvSpPr txBox="1"/>
          <p:nvPr/>
        </p:nvSpPr>
        <p:spPr>
          <a:xfrm>
            <a:off x="731520"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8.6e-3</a:t>
            </a:r>
            <a:endParaRPr lang="en-US" sz="1500" dirty="0"/>
          </a:p>
        </p:txBody>
      </p:sp>
      <p:sp>
        <p:nvSpPr>
          <p:cNvPr id="10" name="Shape 6"/>
          <p:cNvSpPr/>
          <p:nvPr/>
        </p:nvSpPr>
        <p:spPr>
          <a:xfrm>
            <a:off x="4315968" y="4389120"/>
            <a:ext cx="3529584" cy="1737360"/>
          </a:xfrm>
          <a:prstGeom prst="roundRect">
            <a:avLst>
              <a:gd name="adj" fmla="val 4211"/>
            </a:avLst>
          </a:prstGeom>
          <a:solidFill>
            <a:srgbClr val="F3F5F8"/>
          </a:solidFill>
          <a:ln/>
        </p:spPr>
        <p:txBody>
          <a:bodyPr/>
          <a:p/>
        </p:txBody>
      </p:sp>
      <p:sp>
        <p:nvSpPr>
          <p:cNvPr id="11" name="Text 7"/>
          <p:cNvSpPr txBox="1"/>
          <p:nvPr/>
        </p:nvSpPr>
        <p:spPr>
          <a:xfrm>
            <a:off x="4498848" y="4498848"/>
            <a:ext cx="32004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SGD + momentum</a:t>
            </a:r>
            <a:endParaRPr lang="en-US" sz="1900" dirty="0"/>
          </a:p>
        </p:txBody>
      </p:sp>
      <p:sp>
        <p:nvSpPr>
          <p:cNvPr id="12" name="Text 8"/>
          <p:cNvSpPr txBox="1"/>
          <p:nvPr/>
        </p:nvSpPr>
        <p:spPr>
          <a:xfrm>
            <a:off x="4498848"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v ← βv + g,  θ ← θ − ηv: oscillations cancel, speed builds.</a:t>
            </a:r>
            <a:endParaRPr lang="en-US" sz="1600" dirty="0"/>
          </a:p>
        </p:txBody>
      </p:sp>
      <p:sp>
        <p:nvSpPr>
          <p:cNvPr id="13" name="Text 9"/>
          <p:cNvSpPr txBox="1"/>
          <p:nvPr/>
        </p:nvSpPr>
        <p:spPr>
          <a:xfrm>
            <a:off x="4498848"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5.8e-3</a:t>
            </a:r>
            <a:endParaRPr lang="en-US" sz="1500" dirty="0"/>
          </a:p>
        </p:txBody>
      </p:sp>
      <p:sp>
        <p:nvSpPr>
          <p:cNvPr id="14" name="Shape 10"/>
          <p:cNvSpPr/>
          <p:nvPr/>
        </p:nvSpPr>
        <p:spPr>
          <a:xfrm>
            <a:off x="8083296" y="4389120"/>
            <a:ext cx="3529584" cy="1737360"/>
          </a:xfrm>
          <a:prstGeom prst="roundRect">
            <a:avLst>
              <a:gd name="adj" fmla="val 4211"/>
            </a:avLst>
          </a:prstGeom>
          <a:solidFill>
            <a:srgbClr val="F3F5F8"/>
          </a:solidFill>
          <a:ln/>
        </p:spPr>
        <p:txBody>
          <a:bodyPr/>
          <a:p/>
        </p:txBody>
      </p:sp>
      <p:sp>
        <p:nvSpPr>
          <p:cNvPr id="15" name="Text 11"/>
          <p:cNvSpPr txBox="1"/>
          <p:nvPr/>
        </p:nvSpPr>
        <p:spPr>
          <a:xfrm>
            <a:off x="8266176" y="4498848"/>
            <a:ext cx="32004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Adam</a:t>
            </a:r>
            <a:endParaRPr lang="en-US" sz="1900" dirty="0"/>
          </a:p>
        </p:txBody>
      </p:sp>
      <p:sp>
        <p:nvSpPr>
          <p:cNvPr id="16" name="Text 12"/>
          <p:cNvSpPr txBox="1"/>
          <p:nvPr/>
        </p:nvSpPr>
        <p:spPr>
          <a:xfrm>
            <a:off x="8266176" y="4892040"/>
            <a:ext cx="3200400" cy="7772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Divides each coordinate by its gradient RMS: steps of roughly size η.</a:t>
            </a:r>
            <a:endParaRPr lang="en-US" sz="1600" dirty="0"/>
          </a:p>
        </p:txBody>
      </p:sp>
      <p:sp>
        <p:nvSpPr>
          <p:cNvPr id="17" name="Text 13"/>
          <p:cNvSpPr txBox="1"/>
          <p:nvPr/>
        </p:nvSpPr>
        <p:spPr>
          <a:xfrm>
            <a:off x="8266176" y="5715000"/>
            <a:ext cx="3200400"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loss after 40 steps: 6.9e-4</a:t>
            </a:r>
            <a:endParaRPr lang="en-US" sz="1500" dirty="0"/>
          </a:p>
        </p:txBody>
      </p:sp>
      <p:sp>
        <p:nvSpPr>
          <p:cNvPr id="18" name="Text 14"/>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Rotated ravine (curvatures 1 and 25), learning rates tuned per optimizer. A 2-D toy: rankings on real networks vary.</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TUNED STEP SIZES · small_figures.py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6: how large can η be here?</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6</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Plain gradient descent on the ravine you just saw (curvatures 1 and 25). It converges only if the learning rate η is below:</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sp>
      <p:sp>
        <p:nvSpPr>
          <p:cNvPr id="7" name="Shape 4"/>
          <p:cNvSpPr/>
          <p:nvPr/>
        </p:nvSpPr>
        <p:spPr>
          <a:xfrm>
            <a:off x="777240" y="3136392"/>
            <a:ext cx="548640" cy="548640"/>
          </a:xfrm>
          <a:prstGeom prst="ellipse">
            <a:avLst/>
          </a:prstGeom>
          <a:solidFill>
            <a:srgbClr val="4C5BD4"/>
          </a:solidFill>
          <a:ln/>
        </p:spPr>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1 = 2</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sp>
      <p:sp>
        <p:nvSpPr>
          <p:cNvPr id="11" name="Shape 8"/>
          <p:cNvSpPr/>
          <p:nvPr/>
        </p:nvSpPr>
        <p:spPr>
          <a:xfrm>
            <a:off x="6419088" y="3136392"/>
            <a:ext cx="548640" cy="548640"/>
          </a:xfrm>
          <a:prstGeom prst="ellipse">
            <a:avLst/>
          </a:prstGeom>
          <a:solidFill>
            <a:srgbClr val="4C5BD4"/>
          </a:solidFill>
          <a:ln/>
        </p:spPr>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2 / 25 = 0.08</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sp>
      <p:sp>
        <p:nvSpPr>
          <p:cNvPr id="15" name="Shape 12"/>
          <p:cNvSpPr/>
          <p:nvPr/>
        </p:nvSpPr>
        <p:spPr>
          <a:xfrm>
            <a:off x="777240" y="4553712"/>
            <a:ext cx="548640" cy="548640"/>
          </a:xfrm>
          <a:prstGeom prst="ellipse">
            <a:avLst/>
          </a:prstGeom>
          <a:solidFill>
            <a:srgbClr val="4C5BD4"/>
          </a:solidFill>
          <a:ln/>
        </p:spPr>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1 / 25 = 0.04</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sp>
      <p:sp>
        <p:nvSpPr>
          <p:cNvPr id="19" name="Shape 16"/>
          <p:cNvSpPr/>
          <p:nvPr/>
        </p:nvSpPr>
        <p:spPr>
          <a:xfrm>
            <a:off x="6419088" y="4553712"/>
            <a:ext cx="548640" cy="548640"/>
          </a:xfrm>
          <a:prstGeom prst="ellipse">
            <a:avLst/>
          </a:prstGeom>
          <a:solidFill>
            <a:srgbClr val="4C5BD4"/>
          </a:solidFill>
          <a:ln/>
        </p:spPr>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No limit: the loss is convex</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47</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Adam in full, and why to use AdamW</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OPTIMIZERS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Adam = momentum + per-parameter steps; use AdamW</a:t>
            </a:r>
            <a:endParaRPr lang="en-US" sz="3200" dirty="0"/>
          </a:p>
        </p:txBody>
      </p:sp>
      <p:sp>
        <p:nvSpPr>
          <p:cNvPr id="5" name="Shape 2"/>
          <p:cNvSpPr/>
          <p:nvPr/>
        </p:nvSpPr>
        <p:spPr>
          <a:xfrm>
            <a:off x="548640" y="1417320"/>
            <a:ext cx="6400800" cy="2926080"/>
          </a:xfrm>
          <a:prstGeom prst="roundRect">
            <a:avLst>
              <a:gd name="adj" fmla="val 2500"/>
            </a:avLst>
          </a:prstGeom>
          <a:solidFill>
            <a:srgbClr val="F3F5F8"/>
          </a:solidFill>
          <a:ln/>
        </p:spPr>
        <p:txBody>
          <a:bodyPr/>
          <a:p/>
        </p:txBody>
      </p:sp>
      <p:sp>
        <p:nvSpPr>
          <p:cNvPr id="6" name="Text 3"/>
          <p:cNvSpPr txBox="1"/>
          <p:nvPr/>
        </p:nvSpPr>
        <p:spPr>
          <a:xfrm>
            <a:off x="749808" y="155448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ADAM (KINGMA &amp; BA, 2015)</a:t>
            </a:r>
            <a:endParaRPr lang="en-US" sz="1300" dirty="0"/>
          </a:p>
        </p:txBody>
      </p:sp>
      <p:pic>
        <p:nvPicPr>
          <p:cNvPr id="7" name="Image 0" descr="LaTeX: \begin{align*} \mathbf{m}_t &amp;= \beta_1\mathbf{m}_{t-1} + (1-\beta_1)\,\mathbf{g}_t \qquad \textcolor{mu}{\text{mean (momentum)}}\\ \mathbf{v}_t &amp;= \beta_2\mathbf{v}_{t-1} + (1-\beta_2)\,\mathbf{g}_t^2 \qquad \textcolor{mu}{\text{scale (RMSProp)}}\\ \hat{\mathbf{m}}_t &amp;= \frac{\mathbf{m}_t}{1-\beta_1^t},\quad \hat{\mathbf{v}}_t = \frac{\mathbf{v}_t}{1-\beta_2^t} \qquad \textcolor{mu}{\text{bias correction}}\\ \bm\theta_t &amp;= \bm\theta_{t-1} - \eta\,\frac{\hat{\mathbf{m}}_t}{\sqrt{\hat{\mathbf{v}}_t} + \epsilon} \end{align*}">    </p:cNvPr>
          <p:cNvPicPr>
            <a:picLocks noChangeAspect="1"/>
          </p:cNvPicPr>
          <p:nvPr/>
        </p:nvPicPr>
        <p:blipFill>
          <a:blip r:embed="rId1"/>
          <a:stretch>
            <a:fillRect/>
          </a:stretch>
        </p:blipFill>
        <p:spPr>
          <a:xfrm>
            <a:off x="822960" y="1874520"/>
            <a:ext cx="4518355" cy="1665427"/>
          </a:xfrm>
          <a:prstGeom prst="rect">
            <a:avLst/>
          </a:prstGeom>
        </p:spPr>
      </p:pic>
      <p:sp>
        <p:nvSpPr>
          <p:cNvPr id="8" name="Text 4"/>
          <p:cNvSpPr txBox="1"/>
          <p:nvPr/>
        </p:nvSpPr>
        <p:spPr>
          <a:xfrm>
            <a:off x="749808" y="3931920"/>
            <a:ext cx="5943600" cy="365760"/>
          </a:xfrm>
          <a:prstGeom prst="rect">
            <a:avLst/>
          </a:prstGeom>
          <a:noFill/>
          <a:ln/>
        </p:spPr>
        <p:txBody>
          <a:bodyPr wrap="square" lIns="0" tIns="0" rIns="0" bIns="0" rtlCol="0" anchor="t"/>
          <a:lstStyle/>
          <a:p>
            <a:pPr indent="0" marL="0">
              <a:buNone/>
            </a:pPr>
            <a:r>
              <a:rPr lang="en-US" sz="1600" dirty="0">
                <a:solidFill>
                  <a:srgbClr val="5B6675"/>
                </a:solidFill>
                <a:latin typeface="Calibri" pitchFamily="34" charset="0"/>
                <a:ea typeface="Calibri" pitchFamily="34" charset="-122"/>
                <a:cs typeface="Calibri" pitchFamily="34" charset="-120"/>
              </a:rPr>
              <a:t>Defaults: β₁ = 0.9, β₂ = 0.999, ε = 10⁻⁸</a:t>
            </a:r>
            <a:endParaRPr lang="en-US" sz="1600" dirty="0"/>
          </a:p>
        </p:txBody>
      </p:sp>
      <p:sp>
        <p:nvSpPr>
          <p:cNvPr id="9" name="Shape 5"/>
          <p:cNvSpPr/>
          <p:nvPr/>
        </p:nvSpPr>
        <p:spPr>
          <a:xfrm>
            <a:off x="548640" y="4526280"/>
            <a:ext cx="6400800" cy="1600200"/>
          </a:xfrm>
          <a:prstGeom prst="roundRect">
            <a:avLst>
              <a:gd name="adj" fmla="val 4571"/>
            </a:avLst>
          </a:prstGeom>
          <a:solidFill>
            <a:srgbClr val="FBEADF"/>
          </a:solidFill>
          <a:ln/>
        </p:spPr>
        <p:txBody>
          <a:bodyPr/>
          <a:p/>
        </p:txBody>
      </p:sp>
      <p:sp>
        <p:nvSpPr>
          <p:cNvPr id="10" name="Text 6"/>
          <p:cNvSpPr txBox="1"/>
          <p:nvPr/>
        </p:nvSpPr>
        <p:spPr>
          <a:xfrm>
            <a:off x="749808" y="4663440"/>
            <a:ext cx="548640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ADAMW: DECAY THE WEIGHTS DIRECTLY</a:t>
            </a:r>
            <a:endParaRPr lang="en-US" sz="1300" dirty="0"/>
          </a:p>
        </p:txBody>
      </p:sp>
      <p:pic>
        <p:nvPicPr>
          <p:cNvPr id="11" name="Image 1" descr="LaTeX: $\displaystyle \bm\theta_t = \bm\theta_{t-1} - \eta\Bigl(\frac{\hat{\mathbf{m}}_t}{\sqrt{\hat{\mathbf{v}}_t}+\epsilon} + \textcolor{bw}{\lambda\,\bm\theta_{t-1}}\Bigr)$">    </p:cNvPr>
          <p:cNvPicPr>
            <a:picLocks noChangeAspect="1"/>
          </p:cNvPicPr>
          <p:nvPr/>
        </p:nvPicPr>
        <p:blipFill>
          <a:blip r:embed="rId2"/>
          <a:stretch>
            <a:fillRect/>
          </a:stretch>
        </p:blipFill>
        <p:spPr>
          <a:xfrm>
            <a:off x="822960" y="5029200"/>
            <a:ext cx="2991917" cy="529133"/>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7178040" y="1417320"/>
          <a:ext cx="4462272" cy="914400"/>
        </p:xfrm>
        <a:graphic>
          <a:graphicData uri="http://schemas.openxmlformats.org/drawingml/2006/table">
            <a:tbl>
              <a:tblPr/>
              <a:tblGrid>
                <a:gridCol w="1417320"/>
                <a:gridCol w="1783080"/>
                <a:gridCol w="1261872"/>
              </a:tblGrid>
              <a:tr h="68580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Optimizer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Good default for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η</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AdamW</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Most new work, Transformers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3 × 10⁻⁴</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8580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SGD + momentum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 image classifiers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0.1 (batch 256)</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13" name="Shape 7"/>
          <p:cNvSpPr/>
          <p:nvPr/>
        </p:nvSpPr>
        <p:spPr>
          <a:xfrm>
            <a:off x="7178040" y="3794760"/>
            <a:ext cx="4462272" cy="1188720"/>
          </a:xfrm>
          <a:prstGeom prst="roundRect">
            <a:avLst>
              <a:gd name="adj" fmla="val 6154"/>
            </a:avLst>
          </a:prstGeom>
          <a:solidFill>
            <a:srgbClr val="E2F1F1"/>
          </a:solidFill>
          <a:ln/>
        </p:spPr>
        <p:txBody>
          <a:bodyPr/>
          <a:p/>
        </p:txBody>
      </p:sp>
      <p:sp>
        <p:nvSpPr>
          <p:cNvPr id="14" name="Text 8"/>
          <p:cNvSpPr txBox="1"/>
          <p:nvPr/>
        </p:nvSpPr>
        <p:spPr>
          <a:xfrm>
            <a:off x="7379208" y="3840480"/>
            <a:ext cx="4059936" cy="10972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Start with AdamW (weight decay 0.01 – 0.1). Do not decay biases (or normalization scales).</a:t>
            </a:r>
            <a:endParaRPr lang="en-US" sz="1700" dirty="0"/>
          </a:p>
        </p:txBody>
      </p:sp>
      <p:sp>
        <p:nvSpPr>
          <p:cNvPr id="15" name="Text 9"/>
          <p:cNvSpPr txBox="1"/>
          <p:nvPr/>
        </p:nvSpPr>
        <p:spPr>
          <a:xfrm>
            <a:off x="7178040" y="5212080"/>
            <a:ext cx="4462272" cy="73152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Check your library: “Adam + weight decay” is often plain L2, not AdamW.</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48</a:t>
            </a:fld>
            <a:endParaRPr lang="en-US"/>
          </a:p>
        </p:txBody>
      </p:sp>
      <p:sp>
        <p:nvSpPr>
          <p:cNvPr id="5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does the fit generalize? Back to our 20-epoch curves</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DIAGNOSIS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Diagnose the gap first, then pick remedies</a:t>
            </a:r>
            <a:endParaRPr lang="en-US" sz="32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675120" cy="914400"/>
        </p:xfrm>
        <a:graphic>
          <a:graphicData uri="http://schemas.openxmlformats.org/drawingml/2006/table">
            <a:tbl>
              <a:tblPr/>
              <a:tblGrid>
                <a:gridCol w="2423160"/>
                <a:gridCol w="1600200"/>
                <a:gridCol w="2651760"/>
              </a:tblGrid>
              <a:tr h="65836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Symptom</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Diagnosis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Action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high, val high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Underfitting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Bigger model, train longer, check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low, val much higher</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Overfitting</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The ladder on the right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2F1F1"/>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Train ≈ val, both good</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Good fit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Scale up; compare baselines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5836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Loss flat from the start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Bug or bad η</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Overfit one small batch</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5029200"/>
            <a:ext cx="3200400" cy="1051560"/>
          </a:xfrm>
          <a:prstGeom prst="roundRect">
            <a:avLst>
              <a:gd name="adj" fmla="val 6957"/>
            </a:avLst>
          </a:prstGeom>
          <a:solidFill>
            <a:srgbClr val="FBEADF"/>
          </a:solidFill>
          <a:ln/>
        </p:spPr>
        <p:txBody>
          <a:bodyPr/>
          <a:p/>
        </p:txBody>
      </p:sp>
      <p:sp>
        <p:nvSpPr>
          <p:cNvPr id="7" name="Text 3"/>
          <p:cNvSpPr txBox="1"/>
          <p:nvPr/>
        </p:nvSpPr>
        <p:spPr>
          <a:xfrm>
            <a:off x="731520" y="5074920"/>
            <a:ext cx="2834640" cy="960120"/>
          </a:xfrm>
          <a:prstGeom prst="rect">
            <a:avLst/>
          </a:prstGeom>
          <a:noFill/>
          <a:ln/>
        </p:spPr>
        <p:txBody>
          <a:bodyPr wrap="square" lIns="0" tIns="0" rIns="0" bIns="0" rtlCol="0" anchor="ctr"/>
          <a:lstStyle/>
          <a:p>
            <a:pPr indent="0" marL="0">
              <a:buNone/>
            </a:pPr>
            <a:r>
              <a:rPr lang="en-US" sz="1400" b="1" dirty="0">
                <a:solidFill>
                  <a:srgbClr val="8F3A0E"/>
                </a:solidFill>
                <a:latin typeface="Calibri" pitchFamily="34" charset="0"/>
                <a:ea typeface="Calibri" pitchFamily="34" charset="-122"/>
                <a:cs typeface="Calibri" pitchFamily="34" charset="-120"/>
              </a:rPr>
              <a:t>First check: can it overfit 100 examples? If not, suspect a bug or a setup error (η, regularization left on).</a:t>
            </a:r>
            <a:endParaRPr lang="en-US" sz="1800" dirty="0"/>
          </a:p>
        </p:txBody>
      </p:sp>
      <p:sp>
        <p:nvSpPr>
          <p:cNvPr id="8" name="Text 4"/>
          <p:cNvSpPr txBox="1"/>
          <p:nvPr/>
        </p:nvSpPr>
        <p:spPr>
          <a:xfrm>
            <a:off x="7543800" y="1417320"/>
            <a:ext cx="4023360" cy="274320"/>
          </a:xfrm>
          <a:prstGeom prst="rect">
            <a:avLst/>
          </a:prstGeom>
          <a:noFill/>
          <a:ln/>
        </p:spPr>
        <p:txBody>
          <a:bodyPr wrap="square" lIns="0" tIns="0" rIns="0" bIns="0" rtlCol="0" anchor="t"/>
          <a:lstStyle/>
          <a:p>
            <a:pPr indent="0" marL="0">
              <a:buNone/>
            </a:pPr>
            <a:r>
              <a:rPr lang="en-US" sz="1300" b="1" spc="150" kern="0" dirty="0">
                <a:solidFill>
                  <a:srgbClr val="C8571B"/>
                </a:solidFill>
                <a:latin typeface="Calibri" pitchFamily="34" charset="0"/>
                <a:ea typeface="Calibri" pitchFamily="34" charset="-122"/>
                <a:cs typeface="Calibri" pitchFamily="34" charset="-120"/>
              </a:rPr>
              <a:t>WHEN OVERFITTING: A TYPICAL ORDER</a:t>
            </a:r>
            <a:endParaRPr lang="en-US" sz="1300" dirty="0"/>
          </a:p>
        </p:txBody>
      </p:sp>
      <p:sp>
        <p:nvSpPr>
          <p:cNvPr id="9" name="Shape 5"/>
          <p:cNvSpPr/>
          <p:nvPr/>
        </p:nvSpPr>
        <p:spPr>
          <a:xfrm>
            <a:off x="7543800" y="1828800"/>
            <a:ext cx="438912" cy="438912"/>
          </a:xfrm>
          <a:prstGeom prst="ellipse">
            <a:avLst/>
          </a:prstGeom>
          <a:solidFill>
            <a:srgbClr val="0F7C82"/>
          </a:solidFill>
          <a:ln/>
        </p:spPr>
        <p:txBody>
          <a:bodyPr/>
          <a:p/>
        </p:txBody>
      </p:sp>
      <p:sp>
        <p:nvSpPr>
          <p:cNvPr id="10" name="Text 6"/>
          <p:cNvSpPr txBox="1"/>
          <p:nvPr/>
        </p:nvSpPr>
        <p:spPr>
          <a:xfrm>
            <a:off x="7543800" y="18288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Shape 7"/>
          <p:cNvSpPr/>
          <p:nvPr/>
        </p:nvSpPr>
        <p:spPr>
          <a:xfrm>
            <a:off x="8119872" y="1810512"/>
            <a:ext cx="3520440" cy="475488"/>
          </a:xfrm>
          <a:prstGeom prst="roundRect">
            <a:avLst>
              <a:gd name="adj" fmla="val 15385"/>
            </a:avLst>
          </a:prstGeom>
          <a:solidFill>
            <a:srgbClr val="E2F1F1"/>
          </a:solidFill>
          <a:ln/>
        </p:spPr>
        <p:txBody>
          <a:bodyPr/>
          <a:p/>
        </p:txBody>
      </p:sp>
      <p:sp>
        <p:nvSpPr>
          <p:cNvPr id="12" name="Text 8"/>
          <p:cNvSpPr txBox="1"/>
          <p:nvPr/>
        </p:nvSpPr>
        <p:spPr>
          <a:xfrm>
            <a:off x="8275320" y="1810512"/>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Keep best-validation checkpoint</a:t>
            </a:r>
            <a:endParaRPr lang="en-US" sz="1700" dirty="0"/>
          </a:p>
        </p:txBody>
      </p:sp>
      <p:sp>
        <p:nvSpPr>
          <p:cNvPr id="13" name="Shape 9"/>
          <p:cNvSpPr/>
          <p:nvPr/>
        </p:nvSpPr>
        <p:spPr>
          <a:xfrm>
            <a:off x="7543800" y="2432304"/>
            <a:ext cx="438912" cy="438912"/>
          </a:xfrm>
          <a:prstGeom prst="ellipse">
            <a:avLst/>
          </a:prstGeom>
          <a:solidFill>
            <a:srgbClr val="0F7C82"/>
          </a:solidFill>
          <a:ln/>
        </p:spPr>
      </p:sp>
      <p:sp>
        <p:nvSpPr>
          <p:cNvPr id="14" name="Text 10"/>
          <p:cNvSpPr txBox="1"/>
          <p:nvPr/>
        </p:nvSpPr>
        <p:spPr>
          <a:xfrm>
            <a:off x="7543800" y="243230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5" name="Shape 11"/>
          <p:cNvSpPr/>
          <p:nvPr/>
        </p:nvSpPr>
        <p:spPr>
          <a:xfrm>
            <a:off x="8119872" y="2414016"/>
            <a:ext cx="3520440" cy="475488"/>
          </a:xfrm>
          <a:prstGeom prst="roundRect">
            <a:avLst>
              <a:gd name="adj" fmla="val 15385"/>
            </a:avLst>
          </a:prstGeom>
          <a:solidFill>
            <a:srgbClr val="E2F1F1"/>
          </a:solidFill>
          <a:ln/>
        </p:spPr>
      </p:sp>
      <p:sp>
        <p:nvSpPr>
          <p:cNvPr id="16" name="Text 12"/>
          <p:cNvSpPr txBox="1"/>
          <p:nvPr/>
        </p:nvSpPr>
        <p:spPr>
          <a:xfrm>
            <a:off x="8275320" y="2414016"/>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More data, if you can get it</a:t>
            </a:r>
            <a:endParaRPr lang="en-US" sz="1700" dirty="0"/>
          </a:p>
        </p:txBody>
      </p:sp>
      <p:sp>
        <p:nvSpPr>
          <p:cNvPr id="17" name="Shape 13"/>
          <p:cNvSpPr/>
          <p:nvPr/>
        </p:nvSpPr>
        <p:spPr>
          <a:xfrm>
            <a:off x="7543800" y="3035808"/>
            <a:ext cx="438912" cy="438912"/>
          </a:xfrm>
          <a:prstGeom prst="ellipse">
            <a:avLst/>
          </a:prstGeom>
          <a:solidFill>
            <a:srgbClr val="0F7C82"/>
          </a:solidFill>
          <a:ln/>
        </p:spPr>
      </p:sp>
      <p:sp>
        <p:nvSpPr>
          <p:cNvPr id="18" name="Text 14"/>
          <p:cNvSpPr txBox="1"/>
          <p:nvPr/>
        </p:nvSpPr>
        <p:spPr>
          <a:xfrm>
            <a:off x="7543800" y="303580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Shape 15"/>
          <p:cNvSpPr/>
          <p:nvPr/>
        </p:nvSpPr>
        <p:spPr>
          <a:xfrm>
            <a:off x="8119872" y="3017520"/>
            <a:ext cx="3520440" cy="475488"/>
          </a:xfrm>
          <a:prstGeom prst="roundRect">
            <a:avLst>
              <a:gd name="adj" fmla="val 15385"/>
            </a:avLst>
          </a:prstGeom>
          <a:solidFill>
            <a:srgbClr val="E2F1F1"/>
          </a:solidFill>
          <a:ln/>
        </p:spPr>
      </p:sp>
      <p:sp>
        <p:nvSpPr>
          <p:cNvPr id="20" name="Text 16"/>
          <p:cNvSpPr txBox="1"/>
          <p:nvPr/>
        </p:nvSpPr>
        <p:spPr>
          <a:xfrm>
            <a:off x="8275320" y="3017520"/>
            <a:ext cx="3291840" cy="475488"/>
          </a:xfrm>
          <a:prstGeom prst="rect">
            <a:avLst/>
          </a:prstGeom>
          <a:noFill/>
          <a:ln/>
        </p:spPr>
        <p:txBody>
          <a:bodyPr wrap="square" lIns="0" tIns="0" rIns="0" bIns="0" rtlCol="0" anchor="ctr"/>
          <a:lstStyle/>
          <a:p>
            <a:pPr indent="0" marL="0">
              <a:buNone/>
            </a:pPr>
            <a:r>
              <a:rPr lang="en-US" sz="1700" b="1" dirty="0">
                <a:solidFill>
                  <a:srgbClr val="17202E"/>
                </a:solidFill>
                <a:latin typeface="Calibri" pitchFamily="34" charset="0"/>
                <a:ea typeface="Calibri" pitchFamily="34" charset="-122"/>
                <a:cs typeface="Calibri" pitchFamily="34" charset="-120"/>
              </a:rPr>
              <a:t>Data augmentation</a:t>
            </a:r>
            <a:endParaRPr lang="en-US" sz="1700" dirty="0"/>
          </a:p>
        </p:txBody>
      </p:sp>
      <p:sp>
        <p:nvSpPr>
          <p:cNvPr id="21" name="Shape 17"/>
          <p:cNvSpPr/>
          <p:nvPr/>
        </p:nvSpPr>
        <p:spPr>
          <a:xfrm>
            <a:off x="7543800" y="3639312"/>
            <a:ext cx="438912" cy="438912"/>
          </a:xfrm>
          <a:prstGeom prst="ellipse">
            <a:avLst/>
          </a:prstGeom>
          <a:solidFill>
            <a:srgbClr val="0F7C82"/>
          </a:solidFill>
          <a:ln/>
        </p:spPr>
      </p:sp>
      <p:sp>
        <p:nvSpPr>
          <p:cNvPr id="22" name="Text 18"/>
          <p:cNvSpPr txBox="1"/>
          <p:nvPr/>
        </p:nvSpPr>
        <p:spPr>
          <a:xfrm>
            <a:off x="7543800" y="363931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Shape 19"/>
          <p:cNvSpPr/>
          <p:nvPr/>
        </p:nvSpPr>
        <p:spPr>
          <a:xfrm>
            <a:off x="8119872" y="3621024"/>
            <a:ext cx="3520440" cy="475488"/>
          </a:xfrm>
          <a:prstGeom prst="roundRect">
            <a:avLst>
              <a:gd name="adj" fmla="val 15385"/>
            </a:avLst>
          </a:prstGeom>
          <a:solidFill>
            <a:srgbClr val="F3F5F8"/>
          </a:solidFill>
          <a:ln/>
        </p:spPr>
      </p:sp>
      <p:sp>
        <p:nvSpPr>
          <p:cNvPr id="24" name="Text 20"/>
          <p:cNvSpPr txBox="1"/>
          <p:nvPr/>
        </p:nvSpPr>
        <p:spPr>
          <a:xfrm>
            <a:off x="8275320" y="3621024"/>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Transfer learning</a:t>
            </a:r>
            <a:endParaRPr lang="en-US" sz="1700" dirty="0"/>
          </a:p>
        </p:txBody>
      </p:sp>
      <p:sp>
        <p:nvSpPr>
          <p:cNvPr id="25" name="Shape 21"/>
          <p:cNvSpPr/>
          <p:nvPr/>
        </p:nvSpPr>
        <p:spPr>
          <a:xfrm>
            <a:off x="7543800" y="4242816"/>
            <a:ext cx="438912" cy="438912"/>
          </a:xfrm>
          <a:prstGeom prst="ellipse">
            <a:avLst/>
          </a:prstGeom>
          <a:solidFill>
            <a:srgbClr val="0F7C82"/>
          </a:solidFill>
          <a:ln/>
        </p:spPr>
      </p:sp>
      <p:sp>
        <p:nvSpPr>
          <p:cNvPr id="26" name="Text 22"/>
          <p:cNvSpPr txBox="1"/>
          <p:nvPr/>
        </p:nvSpPr>
        <p:spPr>
          <a:xfrm>
            <a:off x="7543800" y="424281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Shape 23"/>
          <p:cNvSpPr/>
          <p:nvPr/>
        </p:nvSpPr>
        <p:spPr>
          <a:xfrm>
            <a:off x="8119872" y="4224528"/>
            <a:ext cx="3520440" cy="475488"/>
          </a:xfrm>
          <a:prstGeom prst="roundRect">
            <a:avLst>
              <a:gd name="adj" fmla="val 15385"/>
            </a:avLst>
          </a:prstGeom>
          <a:solidFill>
            <a:srgbClr val="F3F5F8"/>
          </a:solidFill>
          <a:ln/>
        </p:spPr>
      </p:sp>
      <p:sp>
        <p:nvSpPr>
          <p:cNvPr id="28" name="Text 24"/>
          <p:cNvSpPr txBox="1"/>
          <p:nvPr/>
        </p:nvSpPr>
        <p:spPr>
          <a:xfrm>
            <a:off x="8275320" y="4224528"/>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Weight decay</a:t>
            </a:r>
            <a:endParaRPr lang="en-US" sz="1700" dirty="0"/>
          </a:p>
        </p:txBody>
      </p:sp>
      <p:sp>
        <p:nvSpPr>
          <p:cNvPr id="29" name="Shape 25"/>
          <p:cNvSpPr/>
          <p:nvPr/>
        </p:nvSpPr>
        <p:spPr>
          <a:xfrm>
            <a:off x="7543800" y="4846320"/>
            <a:ext cx="438912" cy="438912"/>
          </a:xfrm>
          <a:prstGeom prst="ellipse">
            <a:avLst/>
          </a:prstGeom>
          <a:solidFill>
            <a:srgbClr val="0F7C82"/>
          </a:solidFill>
          <a:ln/>
        </p:spPr>
      </p:sp>
      <p:sp>
        <p:nvSpPr>
          <p:cNvPr id="30" name="Text 26"/>
          <p:cNvSpPr txBox="1"/>
          <p:nvPr/>
        </p:nvSpPr>
        <p:spPr>
          <a:xfrm>
            <a:off x="7543800" y="48463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1" name="Shape 27"/>
          <p:cNvSpPr/>
          <p:nvPr/>
        </p:nvSpPr>
        <p:spPr>
          <a:xfrm>
            <a:off x="8119872" y="4828032"/>
            <a:ext cx="3520440" cy="475488"/>
          </a:xfrm>
          <a:prstGeom prst="roundRect">
            <a:avLst>
              <a:gd name="adj" fmla="val 15385"/>
            </a:avLst>
          </a:prstGeom>
          <a:solidFill>
            <a:srgbClr val="F3F5F8"/>
          </a:solidFill>
          <a:ln/>
        </p:spPr>
      </p:sp>
      <p:sp>
        <p:nvSpPr>
          <p:cNvPr id="32" name="Text 28"/>
          <p:cNvSpPr txBox="1"/>
          <p:nvPr/>
        </p:nvSpPr>
        <p:spPr>
          <a:xfrm>
            <a:off x="8275320" y="4828032"/>
            <a:ext cx="3291840" cy="475488"/>
          </a:xfrm>
          <a:prstGeom prst="rect">
            <a:avLst/>
          </a:prstGeom>
          <a:noFill/>
          <a:ln/>
        </p:spPr>
        <p:txBody>
          <a:bodyPr wrap="square" lIns="0" tIns="0" rIns="0" bIns="0" rtlCol="0" anchor="ctr"/>
          <a:lstStyle/>
          <a:p>
            <a:pPr indent="0" marL="0">
              <a:buNone/>
            </a:pPr>
            <a:r>
              <a:rPr lang="en-US" sz="1700" dirty="0">
                <a:solidFill>
                  <a:srgbClr val="17202E"/>
                </a:solidFill>
                <a:latin typeface="Calibri" pitchFamily="34" charset="0"/>
                <a:ea typeface="Calibri" pitchFamily="34" charset="-122"/>
                <a:cs typeface="Calibri" pitchFamily="34" charset="-120"/>
              </a:rPr>
              <a:t>Dropout</a:t>
            </a:r>
            <a:endParaRPr lang="en-US" sz="1700" dirty="0"/>
          </a:p>
        </p:txBody>
      </p:sp>
      <p:sp>
        <p:nvSpPr>
          <p:cNvPr id="33" name="Shape 29"/>
          <p:cNvSpPr/>
          <p:nvPr/>
        </p:nvSpPr>
        <p:spPr>
          <a:xfrm>
            <a:off x="7543800" y="5449824"/>
            <a:ext cx="438912" cy="438912"/>
          </a:xfrm>
          <a:prstGeom prst="ellipse">
            <a:avLst/>
          </a:prstGeom>
          <a:solidFill>
            <a:srgbClr val="8A94A3"/>
          </a:solidFill>
          <a:ln/>
        </p:spPr>
      </p:sp>
      <p:sp>
        <p:nvSpPr>
          <p:cNvPr id="34" name="Text 30"/>
          <p:cNvSpPr txBox="1"/>
          <p:nvPr/>
        </p:nvSpPr>
        <p:spPr>
          <a:xfrm>
            <a:off x="7543800" y="5449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35" name="Shape 31"/>
          <p:cNvSpPr/>
          <p:nvPr/>
        </p:nvSpPr>
        <p:spPr>
          <a:xfrm>
            <a:off x="8119872" y="5431536"/>
            <a:ext cx="3520440" cy="475488"/>
          </a:xfrm>
          <a:prstGeom prst="roundRect">
            <a:avLst>
              <a:gd name="adj" fmla="val 15385"/>
            </a:avLst>
          </a:prstGeom>
          <a:solidFill>
            <a:srgbClr val="F3F5F8"/>
          </a:solidFill>
          <a:ln/>
        </p:spPr>
      </p:sp>
      <p:sp>
        <p:nvSpPr>
          <p:cNvPr id="36" name="Text 32"/>
          <p:cNvSpPr txBox="1"/>
          <p:nvPr/>
        </p:nvSpPr>
        <p:spPr>
          <a:xfrm>
            <a:off x="8275320" y="5431536"/>
            <a:ext cx="3291840" cy="475488"/>
          </a:xfrm>
          <a:prstGeom prst="rect">
            <a:avLst/>
          </a:prstGeom>
          <a:noFill/>
          <a:ln/>
        </p:spPr>
        <p:txBody>
          <a:bodyPr wrap="square" lIns="0" tIns="0" rIns="0" bIns="0" rtlCol="0" anchor="ctr"/>
          <a:lstStyle/>
          <a:p>
            <a:pPr indent="0" marL="0">
              <a:buNone/>
            </a:pPr>
            <a:r>
              <a:rPr lang="en-US" sz="1700" dirty="0">
                <a:solidFill>
                  <a:srgbClr val="5B6675"/>
                </a:solidFill>
                <a:latin typeface="Calibri" pitchFamily="34" charset="0"/>
                <a:ea typeface="Calibri" pitchFamily="34" charset="-122"/>
                <a:cs typeface="Calibri" pitchFamily="34" charset="-120"/>
              </a:rPr>
              <a:t>Smaller model (last)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49</a:t>
            </a:fld>
            <a:endParaRPr lang="en-US"/>
          </a:p>
        </p:txBody>
      </p:sp>
      <p:sp>
        <p:nvSpPr>
          <p:cNvPr id="901" name="Running example box"/>
          <p:cNvSpPr/>
          <p:nvPr/>
        </p:nvSpPr>
        <p:spPr>
          <a:xfrm>
            <a:off x="3931920" y="5029200"/>
            <a:ext cx="3291840" cy="1051560"/>
          </a:xfrm>
          <a:prstGeom prst="roundRect">
            <a:avLst>
              <a:gd name="adj" fmla="val 6957"/>
            </a:avLst>
          </a:prstGeom>
          <a:solidFill>
            <a:srgbClr val="E2F1F1"/>
          </a:solidFill>
          <a:ln/>
        </p:spPr>
        <p:txBody>
          <a:bodyPr/>
          <a:p/>
        </p:txBody>
      </p:sp>
      <p:sp>
        <p:nvSpPr>
          <p:cNvPr id="902" name="Running example text"/>
          <p:cNvSpPr txBox="1"/>
          <p:nvPr/>
        </p:nvSpPr>
        <p:spPr>
          <a:xfrm>
            <a:off x="4114800" y="5120640"/>
            <a:ext cx="2926080" cy="868680"/>
          </a:xfrm>
          <a:prstGeom prst="rect">
            <a:avLst/>
          </a:prstGeom>
          <a:noFill/>
          <a:ln/>
        </p:spPr>
        <p:txBody>
          <a:bodyPr wrap="square" lIns="0" tIns="0" rIns="0" bIns="0" rtlCol="0" anchor="ctr"/>
          <a:lstStyle/>
          <a:p>
            <a:pPr indent="0" marL="0">
              <a:spcAft>
                <a:spcPts val="300"/>
              </a:spcAft>
              <a:buNone/>
            </a:pPr>
            <a:r>
              <a:rPr lang="en-US" sz="1200" b="1" spc="100" dirty="0">
                <a:solidFill>
                  <a:srgbClr val="0F7C82"/>
                </a:solidFill>
                <a:latin typeface="Calibri" pitchFamily="34" charset="0"/>
                <a:ea typeface="Calibri" pitchFamily="34" charset="-122"/>
                <a:cs typeface="Calibri" pitchFamily="34" charset="-120"/>
              </a:rPr>
              <a:t>OUR RUNNING EXAMPLE</a:t>
            </a:r>
          </a:p>
          <a:p>
            <a:pPr indent="0" marL="0">
              <a:buNone/>
            </a:pPr>
            <a:r>
              <a:rPr lang="en-US" sz="1400" dirty="0">
                <a:solidFill>
                  <a:srgbClr val="17202E"/>
                </a:solidFill>
                <a:latin typeface="Calibri" pitchFamily="34" charset="0"/>
                <a:ea typeface="Calibri" pitchFamily="34" charset="-122"/>
                <a:cs typeface="Calibri" pitchFamily="34" charset="-120"/>
              </a:rPr>
              <a:t>Train loss 0.14 and falling; val loss up from 0.33 (epoch 5) to 0.38. Which row?</a:t>
            </a:r>
            <a:endParaRPr lang="en-US" sz="1500" dirty="0"/>
          </a:p>
        </p:txBody>
      </p:sp>
      <p:sp>
        <p:nvSpPr>
          <p:cNvPr id="903"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remedy 3: augmentation, more data for free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Weight decay and dropout</a:t>
            </a:r>
            <a:endParaRPr lang="en-US" sz="3200" dirty="0"/>
          </a:p>
        </p:txBody>
      </p:sp>
      <p:sp>
        <p:nvSpPr>
          <p:cNvPr id="5" name="Shape 2"/>
          <p:cNvSpPr/>
          <p:nvPr/>
        </p:nvSpPr>
        <p:spPr>
          <a:xfrm>
            <a:off x="548640" y="1417320"/>
            <a:ext cx="5349240" cy="2011680"/>
          </a:xfrm>
          <a:prstGeom prst="roundRect">
            <a:avLst>
              <a:gd name="adj" fmla="val 3636"/>
            </a:avLst>
          </a:prstGeom>
          <a:solidFill>
            <a:srgbClr val="F3F5F8"/>
          </a:solidFill>
          <a:ln/>
        </p:spPr>
        <p:txBody>
          <a:bodyPr/>
          <a:p/>
        </p:txBody>
      </p:sp>
      <p:sp>
        <p:nvSpPr>
          <p:cNvPr id="6" name="Text 3"/>
          <p:cNvSpPr txBox="1"/>
          <p:nvPr/>
        </p:nvSpPr>
        <p:spPr>
          <a:xfrm>
            <a:off x="749808" y="1554480"/>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L2 WEIGHT DECAY</a:t>
            </a:r>
            <a:endParaRPr lang="en-US" sz="1300" dirty="0"/>
          </a:p>
        </p:txBody>
      </p:sp>
      <p:pic>
        <p:nvPicPr>
          <p:cNvPr id="7" name="Image 0" descr="LaTeX: \begin{align*} J' &amp;= J + \tfrac{\lambda}{2}\lVert\W\rVert^2\\ \W &amp;\leftarrow (1-\eta\lambda)\,\W - \eta\,\nabla_{\W} J \end{align*}">    </p:cNvPr>
          <p:cNvPicPr>
            <a:picLocks noChangeAspect="1"/>
          </p:cNvPicPr>
          <p:nvPr/>
        </p:nvPicPr>
        <p:blipFill>
          <a:blip r:embed="rId1"/>
          <a:stretch>
            <a:fillRect/>
          </a:stretch>
        </p:blipFill>
        <p:spPr>
          <a:xfrm>
            <a:off x="822960" y="1920240"/>
            <a:ext cx="3139440" cy="740664"/>
          </a:xfrm>
          <a:prstGeom prst="rect">
            <a:avLst/>
          </a:prstGeom>
        </p:spPr>
      </p:pic>
      <p:sp>
        <p:nvSpPr>
          <p:cNvPr id="8" name="Shape 4"/>
          <p:cNvSpPr/>
          <p:nvPr/>
        </p:nvSpPr>
        <p:spPr>
          <a:xfrm>
            <a:off x="548640" y="3657600"/>
            <a:ext cx="402336" cy="402336"/>
          </a:xfrm>
          <a:prstGeom prst="ellipse">
            <a:avLst/>
          </a:prstGeom>
          <a:solidFill>
            <a:srgbClr val="0F7C82"/>
          </a:solidFill>
          <a:ln/>
        </p:spPr>
        <p:txBody>
          <a:bodyPr/>
          <a:p/>
        </p:txBody>
      </p:sp>
      <p:sp>
        <p:nvSpPr>
          <p:cNvPr id="9" name="Text 5"/>
          <p:cNvSpPr txBox="1"/>
          <p:nvPr/>
        </p:nvSpPr>
        <p:spPr>
          <a:xfrm>
            <a:off x="548640" y="36576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6"/>
          <p:cNvSpPr txBox="1"/>
          <p:nvPr/>
        </p:nvSpPr>
        <p:spPr>
          <a:xfrm>
            <a:off x="1152144" y="3639312"/>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Shrink, then step</a:t>
            </a:r>
            <a:endParaRPr lang="en-US" sz="1800" dirty="0"/>
          </a:p>
        </p:txBody>
      </p:sp>
      <p:sp>
        <p:nvSpPr>
          <p:cNvPr id="11" name="Text 7"/>
          <p:cNvSpPr txBox="1"/>
          <p:nvPr/>
        </p:nvSpPr>
        <p:spPr>
          <a:xfrm>
            <a:off x="1152144" y="4005072"/>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Each update multiplies W by (1 − ηλ).</a:t>
            </a:r>
            <a:endParaRPr lang="en-US" sz="1600" dirty="0"/>
          </a:p>
        </p:txBody>
      </p:sp>
      <p:sp>
        <p:nvSpPr>
          <p:cNvPr id="12" name="Shape 8"/>
          <p:cNvSpPr/>
          <p:nvPr/>
        </p:nvSpPr>
        <p:spPr>
          <a:xfrm>
            <a:off x="548640" y="4553712"/>
            <a:ext cx="402336" cy="402336"/>
          </a:xfrm>
          <a:prstGeom prst="ellipse">
            <a:avLst/>
          </a:prstGeom>
          <a:solidFill>
            <a:srgbClr val="0F7C82"/>
          </a:solidFill>
          <a:ln/>
        </p:spPr>
        <p:txBody>
          <a:bodyPr/>
          <a:p/>
        </p:txBody>
      </p:sp>
      <p:sp>
        <p:nvSpPr>
          <p:cNvPr id="13" name="Text 9"/>
          <p:cNvSpPr txBox="1"/>
          <p:nvPr/>
        </p:nvSpPr>
        <p:spPr>
          <a:xfrm>
            <a:off x="548640" y="455371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0"/>
          <p:cNvSpPr txBox="1"/>
          <p:nvPr/>
        </p:nvSpPr>
        <p:spPr>
          <a:xfrm>
            <a:off x="1152144" y="4535424"/>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Less sensitive functions</a:t>
            </a:r>
            <a:endParaRPr lang="en-US" sz="1800" dirty="0"/>
          </a:p>
        </p:txBody>
      </p:sp>
      <p:sp>
        <p:nvSpPr>
          <p:cNvPr id="15" name="Text 11"/>
          <p:cNvSpPr txBox="1"/>
          <p:nvPr/>
        </p:nvSpPr>
        <p:spPr>
          <a:xfrm>
            <a:off x="1152144" y="4901184"/>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An intuition: small weights, gentler outputs.</a:t>
            </a:r>
            <a:endParaRPr lang="en-US" sz="1600" dirty="0"/>
          </a:p>
        </p:txBody>
      </p:sp>
      <p:sp>
        <p:nvSpPr>
          <p:cNvPr id="16" name="Shape 12"/>
          <p:cNvSpPr/>
          <p:nvPr/>
        </p:nvSpPr>
        <p:spPr>
          <a:xfrm>
            <a:off x="548640" y="5449824"/>
            <a:ext cx="402336" cy="402336"/>
          </a:xfrm>
          <a:prstGeom prst="ellipse">
            <a:avLst/>
          </a:prstGeom>
          <a:solidFill>
            <a:srgbClr val="0F7C82"/>
          </a:solidFill>
          <a:ln/>
        </p:spPr>
      </p:sp>
      <p:sp>
        <p:nvSpPr>
          <p:cNvPr id="17" name="Text 13"/>
          <p:cNvSpPr txBox="1"/>
          <p:nvPr/>
        </p:nvSpPr>
        <p:spPr>
          <a:xfrm>
            <a:off x="548640" y="54498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4"/>
          <p:cNvSpPr txBox="1"/>
          <p:nvPr/>
        </p:nvSpPr>
        <p:spPr>
          <a:xfrm>
            <a:off x="1152144" y="5431536"/>
            <a:ext cx="474573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Weights only</a:t>
            </a:r>
            <a:endParaRPr lang="en-US" sz="1800" dirty="0"/>
          </a:p>
        </p:txBody>
      </p:sp>
      <p:sp>
        <p:nvSpPr>
          <p:cNvPr id="19" name="Text 15"/>
          <p:cNvSpPr txBox="1"/>
          <p:nvPr/>
        </p:nvSpPr>
        <p:spPr>
          <a:xfrm>
            <a:off x="1152144" y="5797296"/>
            <a:ext cx="4745736" cy="530352"/>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Not biases (nor normalization scales).</a:t>
            </a:r>
            <a:endParaRPr lang="en-US" sz="1600" dirty="0"/>
          </a:p>
        </p:txBody>
      </p:sp>
      <p:pic>
        <p:nvPicPr>
          <p:cNvPr id="20" name="Image 1" descr="Network with several hidden units crossed out by dropout.">    </p:cNvPr>
          <p:cNvPicPr>
            <a:picLocks noChangeAspect="1"/>
          </p:cNvPicPr>
          <p:nvPr/>
        </p:nvPicPr>
        <p:blipFill>
          <a:blip r:embed="rId2"/>
          <a:stretch>
            <a:fillRect/>
          </a:stretch>
        </p:blipFill>
        <p:spPr>
          <a:xfrm>
            <a:off x="6172200" y="1346553"/>
            <a:ext cx="2788920" cy="2244654"/>
          </a:xfrm>
          <a:prstGeom prst="rect">
            <a:avLst/>
          </a:prstGeom>
        </p:spPr>
      </p:pic>
      <p:sp>
        <p:nvSpPr>
          <p:cNvPr id="21" name="Text 16"/>
          <p:cNvSpPr txBox="1"/>
          <p:nvPr/>
        </p:nvSpPr>
        <p:spPr>
          <a:xfrm>
            <a:off x="6172200" y="3566160"/>
            <a:ext cx="2788920" cy="320040"/>
          </a:xfrm>
          <a:prstGeom prst="rect">
            <a:avLst/>
          </a:prstGeom>
          <a:noFill/>
          <a:ln/>
        </p:spPr>
        <p:txBody>
          <a:bodyPr wrap="square" lIns="0" tIns="0" rIns="0" bIns="0" rtlCol="0" anchor="t"/>
          <a:lstStyle/>
          <a:p>
            <a:pPr algn="ctr" indent="0" marL="0">
              <a:buNone/>
            </a:pPr>
            <a:r>
              <a:rPr lang="en-US" sz="1400" i="1" dirty="0">
                <a:solidFill>
                  <a:srgbClr val="5B6675"/>
                </a:solidFill>
                <a:latin typeface="Calibri" pitchFamily="34" charset="0"/>
                <a:ea typeface="Calibri" pitchFamily="34" charset="-122"/>
                <a:cs typeface="Calibri" pitchFamily="34" charset="-120"/>
              </a:rPr>
              <a:t>one training step, p = 0.5</a:t>
            </a:r>
            <a:endParaRPr lang="en-US" sz="1400" dirty="0"/>
          </a:p>
        </p:txBody>
      </p:sp>
      <p:sp>
        <p:nvSpPr>
          <p:cNvPr id="22" name="Shape 17"/>
          <p:cNvSpPr/>
          <p:nvPr/>
        </p:nvSpPr>
        <p:spPr>
          <a:xfrm>
            <a:off x="9098280" y="1417320"/>
            <a:ext cx="2542032" cy="2468880"/>
          </a:xfrm>
          <a:prstGeom prst="roundRect">
            <a:avLst>
              <a:gd name="adj" fmla="val 2963"/>
            </a:avLst>
          </a:prstGeom>
          <a:solidFill>
            <a:srgbClr val="F3F5F8"/>
          </a:solidFill>
          <a:ln/>
        </p:spPr>
      </p:sp>
      <p:sp>
        <p:nvSpPr>
          <p:cNvPr id="23" name="Text 18"/>
          <p:cNvSpPr txBox="1"/>
          <p:nvPr/>
        </p:nvSpPr>
        <p:spPr>
          <a:xfrm>
            <a:off x="9299448" y="1581912"/>
            <a:ext cx="21396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TYPICAL P</a:t>
            </a:r>
            <a:endParaRPr lang="en-US" sz="1300" dirty="0"/>
          </a:p>
        </p:txBody>
      </p:sp>
      <p:sp>
        <p:nvSpPr>
          <p:cNvPr id="24" name="Text 19"/>
          <p:cNvSpPr txBox="1"/>
          <p:nvPr/>
        </p:nvSpPr>
        <p:spPr>
          <a:xfrm>
            <a:off x="9299448" y="1947672"/>
            <a:ext cx="2139696" cy="182880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Large FC layers: 0.5</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Transformers: 0.1</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Conv nets with normalization: ≈ 0</a:t>
            </a:r>
            <a:endParaRPr lang="en-US" sz="1700" dirty="0"/>
          </a:p>
        </p:txBody>
      </p:sp>
      <p:sp>
        <p:nvSpPr>
          <p:cNvPr id="25" name="Shape 20"/>
          <p:cNvSpPr/>
          <p:nvPr/>
        </p:nvSpPr>
        <p:spPr>
          <a:xfrm>
            <a:off x="6172200" y="4114800"/>
            <a:ext cx="5468112" cy="1371600"/>
          </a:xfrm>
          <a:prstGeom prst="roundRect">
            <a:avLst>
              <a:gd name="adj" fmla="val 5333"/>
            </a:avLst>
          </a:prstGeom>
          <a:solidFill>
            <a:srgbClr val="E2F1F1"/>
          </a:solidFill>
          <a:ln/>
        </p:spPr>
      </p:sp>
      <p:sp>
        <p:nvSpPr>
          <p:cNvPr id="26" name="Text 21"/>
          <p:cNvSpPr txBox="1"/>
          <p:nvPr/>
        </p:nvSpPr>
        <p:spPr>
          <a:xfrm>
            <a:off x="6373368" y="4224528"/>
            <a:ext cx="45720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INVERTED DROPOUT</a:t>
            </a:r>
            <a:endParaRPr lang="en-US" sz="1300" dirty="0"/>
          </a:p>
        </p:txBody>
      </p:sp>
      <p:pic>
        <p:nvPicPr>
          <p:cNvPr id="27" name="Image 2" descr="LaTeX: \begin{align*} \text{train:}\quad &amp; \mathbf{m}\sim\text{Bernoulli}(1-p),\quad \av \leftarrow \frac{\av\odot\mathbf{m}}{1-p}\\ \text{test:}\quad &amp; \av \leftarrow \av \end{align*}">    </p:cNvPr>
          <p:cNvPicPr>
            <a:picLocks noChangeAspect="1"/>
          </p:cNvPicPr>
          <p:nvPr/>
        </p:nvPicPr>
        <p:blipFill>
          <a:blip r:embed="rId3"/>
          <a:stretch>
            <a:fillRect/>
          </a:stretch>
        </p:blipFill>
        <p:spPr>
          <a:xfrm>
            <a:off x="6373368" y="4498848"/>
            <a:ext cx="3800780" cy="725195"/>
          </a:xfrm>
          <a:prstGeom prst="rect">
            <a:avLst/>
          </a:prstGeom>
        </p:spPr>
      </p:pic>
      <p:sp>
        <p:nvSpPr>
          <p:cNvPr id="28" name="Text 22"/>
          <p:cNvSpPr txBox="1"/>
          <p:nvPr/>
        </p:nvSpPr>
        <p:spPr>
          <a:xfrm>
            <a:off x="6172200" y="5596128"/>
            <a:ext cx="5468112"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E[a] is the same in training and testing; evaluation mode turns dropout off.</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50</a:t>
            </a:fld>
            <a:endParaRPr lang="en-US"/>
          </a:p>
        </p:txBody>
      </p:sp>
      <p:sp>
        <p:nvSpPr>
          <p:cNvPr id="29"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do they help our running example with only 1,000 images?</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Data augmentation: free data, if the label survives</a:t>
            </a:r>
            <a:endParaRPr lang="en-US" sz="32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5577840" cy="914400"/>
        </p:xfrm>
        <a:graphic>
          <a:graphicData uri="http://schemas.openxmlformats.org/drawingml/2006/table">
            <a:tbl>
              <a:tblPr/>
              <a:tblGrid>
                <a:gridCol w="1737360"/>
                <a:gridCol w="2011680"/>
                <a:gridCol w="1828800"/>
              </a:tblGrid>
              <a:tr h="566928">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Transform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Keeps the label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Breaks it for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Horizontal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clothes, photos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digits, text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Vertical flip</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satellite, cells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street scenes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Rotation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microscopy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6 vs 9</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jitter</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most objects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colour = the class</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Shape 2"/>
          <p:cNvSpPr/>
          <p:nvPr/>
        </p:nvSpPr>
        <p:spPr>
          <a:xfrm>
            <a:off x="548640" y="4572000"/>
            <a:ext cx="5577840" cy="731520"/>
          </a:xfrm>
          <a:prstGeom prst="roundRect">
            <a:avLst>
              <a:gd name="adj" fmla="val 10000"/>
            </a:avLst>
          </a:prstGeom>
          <a:solidFill>
            <a:srgbClr val="FBEADF"/>
          </a:solidFill>
          <a:ln/>
        </p:spPr>
        <p:txBody>
          <a:bodyPr/>
          <a:p/>
        </p:txBody>
      </p:sp>
      <p:sp>
        <p:nvSpPr>
          <p:cNvPr id="7" name="Text 3"/>
          <p:cNvSpPr txBox="1"/>
          <p:nvPr/>
        </p:nvSpPr>
        <p:spPr>
          <a:xfrm>
            <a:off x="749808" y="4617720"/>
            <a:ext cx="5175504" cy="640080"/>
          </a:xfrm>
          <a:prstGeom prst="rect">
            <a:avLst/>
          </a:prstGeom>
          <a:noFill/>
          <a:ln/>
        </p:spPr>
        <p:txBody>
          <a:bodyPr wrap="square" lIns="0" tIns="0" rIns="0" bIns="0" rtlCol="0" anchor="ctr"/>
          <a:lstStyle/>
          <a:p>
            <a:pPr indent="0" marL="0">
              <a:buNone/>
            </a:pPr>
            <a:r>
              <a:rPr lang="en-US" sz="1800" b="1" dirty="0">
                <a:solidFill>
                  <a:srgbClr val="8F3A0E"/>
                </a:solidFill>
                <a:latin typeface="Calibri" pitchFamily="34" charset="0"/>
                <a:ea typeface="Calibri" pitchFamily="34" charset="-122"/>
                <a:cs typeface="Calibri" pitchFamily="34" charset="-120"/>
              </a:rPr>
              <a:t>Never augment validation or test data.</a:t>
            </a:r>
            <a:endParaRPr lang="en-US" sz="1800" dirty="0"/>
          </a:p>
        </p:txBody>
      </p:sp>
      <p:sp>
        <p:nvSpPr>
          <p:cNvPr id="8" name="Text 4"/>
          <p:cNvSpPr txBox="1"/>
          <p:nvPr/>
        </p:nvSpPr>
        <p:spPr>
          <a:xfrm>
            <a:off x="548640" y="5486400"/>
            <a:ext cx="5577840" cy="5486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Stronger (later sessions): Mixup, CutMix, RandAugment. Label smoothing softens the targets instead.</a:t>
            </a:r>
            <a:endParaRPr lang="en-US" sz="1700" dirty="0"/>
          </a:p>
        </p:txBody>
      </p:sp>
      <p:sp>
        <p:nvSpPr>
          <p:cNvPr id="9" name="Shape 5"/>
          <p:cNvSpPr/>
          <p:nvPr/>
        </p:nvSpPr>
        <p:spPr>
          <a:xfrm>
            <a:off x="6355080" y="1417320"/>
            <a:ext cx="5285232" cy="3291840"/>
          </a:xfrm>
          <a:prstGeom prst="roundRect">
            <a:avLst>
              <a:gd name="adj" fmla="val 1667"/>
            </a:avLst>
          </a:prstGeom>
          <a:solidFill>
            <a:srgbClr val="1E2735"/>
          </a:solidFill>
          <a:ln/>
        </p:spPr>
      </p:sp>
      <p:sp>
        <p:nvSpPr>
          <p:cNvPr id="10" name="Text 6"/>
          <p:cNvSpPr txBox="1"/>
          <p:nvPr/>
        </p:nvSpPr>
        <p:spPr>
          <a:xfrm>
            <a:off x="6556248" y="1563624"/>
            <a:ext cx="4965192" cy="3035808"/>
          </a:xfrm>
          <a:prstGeom prst="rect">
            <a:avLst/>
          </a:prstGeom>
          <a:noFill/>
          <a:ln/>
        </p:spPr>
        <p:txBody>
          <a:bodyPr wrap="square" lIns="0" tIns="0" rIns="0" bIns="0" rtlCol="0" anchor="t"/>
          <a:lstStyle/>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training transform, fresh draw every epoch:</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crop 80–100 % of the image, resize to 28×28</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flip left–right with probability 0.5</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pixels to numbers in [0, 1]</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standardize: (x − 0.286) / 0.353</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validation and test transform:</a:t>
            </a:r>
            <a:endParaRPr lang="en-US" sz="1300" dirty="0"/>
          </a:p>
          <a:p>
            <a:pPr indent="0" marL="0">
              <a:lnSpc>
                <a:spcPct val="105000"/>
              </a:lnSpc>
              <a:buNone/>
            </a:pPr>
            <a:r>
              <a:rPr lang="en-US" sz="1300" dirty="0">
                <a:solidFill>
                  <a:srgbClr val="E6EAF0"/>
                </a:solidFill>
                <a:latin typeface="Consolas" pitchFamily="34" charset="0"/>
                <a:ea typeface="Consolas" pitchFamily="34" charset="-122"/>
                <a:cs typeface="Consolas" pitchFamily="34" charset="-120"/>
              </a:rPr>
              <a:t xml:space="preserve">  convert to [0, 1], then standardize only</a:t>
            </a:r>
            <a:endParaRPr lang="en-US" sz="1300" dirty="0"/>
          </a:p>
        </p:txBody>
      </p:sp>
      <p:sp>
        <p:nvSpPr>
          <p:cNvPr id="11" name="Text 7"/>
          <p:cNvSpPr txBox="1"/>
          <p:nvPr/>
        </p:nvSpPr>
        <p:spPr>
          <a:xfrm>
            <a:off x="6355080" y="4846320"/>
            <a:ext cx="5285232" cy="5486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Fashion-MNIST mean and std of the training pixels.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51</a:t>
            </a:fld>
            <a:endParaRPr lang="en-US"/>
          </a:p>
        </p:txBody>
      </p:sp>
      <p:sp>
        <p:nvSpPr>
          <p:cNvPr id="5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remedies 1 and 4: early stopping and transfer learning</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RUNNING EXAMPLE</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Running example: 1,000 images overfit</a:t>
            </a:r>
            <a:endParaRPr lang="en-US" sz="3200" dirty="0"/>
          </a:p>
        </p:txBody>
      </p:sp>
      <p:graphicFrame>
        <p:nvGraphicFramePr>
          <p:cNvPr id="5" name="Chart 0" descr="Validation loss, 1,000 training images (real runs): no regularization, dropout 0.5, weight decay, both"/>
          <p:cNvGraphicFramePr/>
          <p:nvPr/>
        </p:nvGraphicFramePr>
        <p:xfrm>
          <a:off x="457200" y="1417320"/>
          <a:ext cx="6446520" cy="43434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Best validation accuracy: 1k, none = 80.74; 1k, both = 81.8; 55k, none = 89.42"/>
          <p:cNvGraphicFramePr/>
          <p:nvPr/>
        </p:nvGraphicFramePr>
        <p:xfrm>
          <a:off x="7086600" y="1325880"/>
          <a:ext cx="4572000" cy="2468880"/>
        </p:xfrm>
        <a:graphic xmlns:a="http://schemas.openxmlformats.org/drawingml/2006/main">
          <a:graphicData uri="http://schemas.openxmlformats.org/drawingml/2006/chart">
            <c:chart xmlns:c="http://schemas.openxmlformats.org/drawingml/2006/chart" r:id="rId2"/>
          </a:graphicData>
        </a:graphic>
      </p:graphicFrame>
      <p:sp>
        <p:nvSpPr>
          <p:cNvPr id="7" name="Shape 2"/>
          <p:cNvSpPr/>
          <p:nvPr/>
        </p:nvSpPr>
        <p:spPr>
          <a:xfrm>
            <a:off x="7086600" y="4023360"/>
            <a:ext cx="4553712" cy="1188720"/>
          </a:xfrm>
          <a:prstGeom prst="roundRect">
            <a:avLst>
              <a:gd name="adj" fmla="val 6154"/>
            </a:avLst>
          </a:prstGeom>
          <a:solidFill>
            <a:srgbClr val="17202E"/>
          </a:solidFill>
          <a:ln/>
        </p:spPr>
        <p:txBody>
          <a:bodyPr/>
          <a:p/>
        </p:txBody>
      </p:sp>
      <p:sp>
        <p:nvSpPr>
          <p:cNvPr id="8" name="Text 3"/>
          <p:cNvSpPr txBox="1"/>
          <p:nvPr/>
        </p:nvSpPr>
        <p:spPr>
          <a:xfrm>
            <a:off x="7287768" y="4069080"/>
            <a:ext cx="4151376" cy="10972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3-seed observations: val loss 0.57 → 0.53; val accuracy +0.4 pp (inconclusive). 55× data: +8.4 pp in these runs.</a:t>
            </a:r>
            <a:endParaRPr lang="en-US" sz="1800" dirty="0"/>
          </a:p>
        </p:txBody>
      </p:sp>
      <p:sp>
        <p:nvSpPr>
          <p:cNvPr id="9" name="Text 4"/>
          <p:cNvSpPr txBox="1"/>
          <p:nvPr/>
        </p:nvSpPr>
        <p:spPr>
          <a:xfrm>
            <a:off x="7086600" y="5394960"/>
            <a:ext cx="4553712" cy="73152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best-validation checkpoint.</a:t>
            </a:r>
            <a:endParaRPr lang="en-US" sz="1700" dirty="0"/>
          </a:p>
        </p:txBody>
      </p:sp>
      <p:sp>
        <p:nvSpPr>
          <p:cNvPr id="10" name="Text 5"/>
          <p:cNvSpPr txBox="1"/>
          <p:nvPr/>
        </p:nvSpPr>
        <p:spPr>
          <a:xfrm>
            <a:off x="548640" y="5852160"/>
            <a:ext cx="6400800" cy="320040"/>
          </a:xfrm>
          <a:prstGeom prst="rect">
            <a:avLst/>
          </a:prstGeom>
          <a:noFill/>
          <a:ln/>
        </p:spPr>
        <p:txBody>
          <a:bodyPr wrap="square" lIns="0" tIns="0" rIns="0" bIns="0" rtlCol="0" anchor="t"/>
          <a:lstStyle/>
          <a:p>
            <a:pPr indent="0" marL="0">
              <a:buNone/>
            </a:pPr>
            <a:r>
              <a:rPr lang="en-US" sz="1400" i="1" dirty="0">
                <a:solidFill>
                  <a:srgbClr val="5B6675"/>
                </a:solidFill>
                <a:latin typeface="Calibri" pitchFamily="34" charset="0"/>
                <a:ea typeface="Calibri" pitchFamily="34" charset="-122"/>
                <a:cs typeface="Calibri" pitchFamily="34" charset="-120"/>
              </a:rPr>
              <a:t>Dropout and weight-decay values chosen for this tiny dataset.</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52</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EXPERIMENT · 3 SEEDS · fmnist_experiments.py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Quick check 7: pick the next experiment</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QUICK CHECK</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 check 7</a:t>
            </a:r>
            <a:endParaRPr lang="en-US" sz="3200" dirty="0"/>
          </a:p>
        </p:txBody>
      </p:sp>
      <p:sp>
        <p:nvSpPr>
          <p:cNvPr id="5" name="Text 2"/>
          <p:cNvSpPr txBox="1"/>
          <p:nvPr/>
        </p:nvSpPr>
        <p:spPr>
          <a:xfrm>
            <a:off x="548640" y="1417320"/>
            <a:ext cx="11094415" cy="1097280"/>
          </a:xfrm>
          <a:prstGeom prst="rect">
            <a:avLst/>
          </a:prstGeom>
          <a:noFill/>
          <a:ln/>
        </p:spPr>
        <p:txBody>
          <a:bodyPr wrap="square" lIns="0" tIns="0" rIns="0" bIns="0" rtlCol="0" anchor="t"/>
          <a:lstStyle/>
          <a:p>
            <a:pPr indent="0" marL="0">
              <a:buNone/>
            </a:pPr>
            <a:r>
              <a:rPr lang="en-US" sz="2400" dirty="0">
                <a:solidFill>
                  <a:srgbClr val="17202E"/>
                </a:solidFill>
                <a:latin typeface="Calibri" pitchFamily="34" charset="0"/>
                <a:ea typeface="Calibri" pitchFamily="34" charset="-122"/>
                <a:cs typeface="Calibri" pitchFamily="34" charset="-120"/>
              </a:rPr>
              <a:t>2,000 labeled images: train 99.8%, validation 71%. Data checks pass; a related pretrained model exists. Promising next experiment?</a:t>
            </a:r>
            <a:endParaRPr lang="en-US" sz="2400" dirty="0"/>
          </a:p>
        </p:txBody>
      </p:sp>
      <p:sp>
        <p:nvSpPr>
          <p:cNvPr id="6" name="Shape 3"/>
          <p:cNvSpPr/>
          <p:nvPr/>
        </p:nvSpPr>
        <p:spPr>
          <a:xfrm>
            <a:off x="548640" y="2788920"/>
            <a:ext cx="5449824" cy="1234440"/>
          </a:xfrm>
          <a:prstGeom prst="roundRect">
            <a:avLst>
              <a:gd name="adj" fmla="val 5926"/>
            </a:avLst>
          </a:prstGeom>
          <a:solidFill>
            <a:srgbClr val="F3F5F8"/>
          </a:solidFill>
          <a:ln/>
        </p:spPr>
        <p:txBody>
          <a:bodyPr/>
          <a:p/>
        </p:txBody>
      </p:sp>
      <p:sp>
        <p:nvSpPr>
          <p:cNvPr id="7" name="Shape 4"/>
          <p:cNvSpPr/>
          <p:nvPr/>
        </p:nvSpPr>
        <p:spPr>
          <a:xfrm>
            <a:off x="777240" y="3136392"/>
            <a:ext cx="548640" cy="548640"/>
          </a:xfrm>
          <a:prstGeom prst="ellipse">
            <a:avLst/>
          </a:prstGeom>
          <a:solidFill>
            <a:srgbClr val="4C5BD4"/>
          </a:solidFill>
          <a:ln/>
        </p:spPr>
        <p:txBody>
          <a:bodyPr/>
          <a:p/>
        </p:txBody>
      </p:sp>
      <p:sp>
        <p:nvSpPr>
          <p:cNvPr id="8" name="Text 5"/>
          <p:cNvSpPr txBox="1"/>
          <p:nvPr/>
        </p:nvSpPr>
        <p:spPr>
          <a:xfrm>
            <a:off x="777240"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a:t>
            </a:r>
            <a:endParaRPr lang="en-US" sz="1500" dirty="0"/>
          </a:p>
        </p:txBody>
      </p:sp>
      <p:sp>
        <p:nvSpPr>
          <p:cNvPr id="9" name="Text 6"/>
          <p:cNvSpPr txBox="1"/>
          <p:nvPr/>
        </p:nvSpPr>
        <p:spPr>
          <a:xfrm>
            <a:off x="1554480"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Use a smaller network</a:t>
            </a:r>
            <a:endParaRPr lang="en-US" sz="2000" dirty="0"/>
          </a:p>
        </p:txBody>
      </p:sp>
      <p:sp>
        <p:nvSpPr>
          <p:cNvPr id="10" name="Shape 7"/>
          <p:cNvSpPr/>
          <p:nvPr/>
        </p:nvSpPr>
        <p:spPr>
          <a:xfrm>
            <a:off x="6190488" y="2788920"/>
            <a:ext cx="5449824" cy="1234440"/>
          </a:xfrm>
          <a:prstGeom prst="roundRect">
            <a:avLst>
              <a:gd name="adj" fmla="val 5926"/>
            </a:avLst>
          </a:prstGeom>
          <a:solidFill>
            <a:srgbClr val="F3F5F8"/>
          </a:solidFill>
          <a:ln/>
        </p:spPr>
        <p:txBody>
          <a:bodyPr/>
          <a:p/>
        </p:txBody>
      </p:sp>
      <p:sp>
        <p:nvSpPr>
          <p:cNvPr id="11" name="Shape 8"/>
          <p:cNvSpPr/>
          <p:nvPr/>
        </p:nvSpPr>
        <p:spPr>
          <a:xfrm>
            <a:off x="6419088" y="3136392"/>
            <a:ext cx="548640" cy="548640"/>
          </a:xfrm>
          <a:prstGeom prst="ellipse">
            <a:avLst/>
          </a:prstGeom>
          <a:solidFill>
            <a:srgbClr val="4C5BD4"/>
          </a:solidFill>
          <a:ln/>
        </p:spPr>
        <p:txBody>
          <a:bodyPr/>
          <a:p/>
        </p:txBody>
      </p:sp>
      <p:sp>
        <p:nvSpPr>
          <p:cNvPr id="12" name="Text 9"/>
          <p:cNvSpPr txBox="1"/>
          <p:nvPr/>
        </p:nvSpPr>
        <p:spPr>
          <a:xfrm>
            <a:off x="6419088" y="313639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a:t>
            </a:r>
            <a:endParaRPr lang="en-US" sz="1500" dirty="0"/>
          </a:p>
        </p:txBody>
      </p:sp>
      <p:sp>
        <p:nvSpPr>
          <p:cNvPr id="13" name="Text 10"/>
          <p:cNvSpPr txBox="1"/>
          <p:nvPr/>
        </p:nvSpPr>
        <p:spPr>
          <a:xfrm>
            <a:off x="7196328" y="278892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Evaluate transfer learning with that model</a:t>
            </a:r>
            <a:endParaRPr lang="en-US" sz="2000" dirty="0"/>
          </a:p>
        </p:txBody>
      </p:sp>
      <p:sp>
        <p:nvSpPr>
          <p:cNvPr id="14" name="Shape 11"/>
          <p:cNvSpPr/>
          <p:nvPr/>
        </p:nvSpPr>
        <p:spPr>
          <a:xfrm>
            <a:off x="548640" y="4206240"/>
            <a:ext cx="5449824" cy="1234440"/>
          </a:xfrm>
          <a:prstGeom prst="roundRect">
            <a:avLst>
              <a:gd name="adj" fmla="val 5926"/>
            </a:avLst>
          </a:prstGeom>
          <a:solidFill>
            <a:srgbClr val="F3F5F8"/>
          </a:solidFill>
          <a:ln/>
        </p:spPr>
        <p:txBody>
          <a:bodyPr/>
          <a:p/>
        </p:txBody>
      </p:sp>
      <p:sp>
        <p:nvSpPr>
          <p:cNvPr id="15" name="Shape 12"/>
          <p:cNvSpPr/>
          <p:nvPr/>
        </p:nvSpPr>
        <p:spPr>
          <a:xfrm>
            <a:off x="777240" y="4553712"/>
            <a:ext cx="548640" cy="548640"/>
          </a:xfrm>
          <a:prstGeom prst="ellipse">
            <a:avLst/>
          </a:prstGeom>
          <a:solidFill>
            <a:srgbClr val="4C5BD4"/>
          </a:solidFill>
          <a:ln/>
        </p:spPr>
        <p:txBody>
          <a:bodyPr/>
          <a:p/>
        </p:txBody>
      </p:sp>
      <p:sp>
        <p:nvSpPr>
          <p:cNvPr id="16" name="Text 13"/>
          <p:cNvSpPr txBox="1"/>
          <p:nvPr/>
        </p:nvSpPr>
        <p:spPr>
          <a:xfrm>
            <a:off x="777240"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a:t>
            </a:r>
            <a:endParaRPr lang="en-US" sz="1500" dirty="0"/>
          </a:p>
        </p:txBody>
      </p:sp>
      <p:sp>
        <p:nvSpPr>
          <p:cNvPr id="17" name="Text 14"/>
          <p:cNvSpPr txBox="1"/>
          <p:nvPr/>
        </p:nvSpPr>
        <p:spPr>
          <a:xfrm>
            <a:off x="1554480"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Train for more epochs</a:t>
            </a:r>
            <a:endParaRPr lang="en-US" sz="2000" dirty="0"/>
          </a:p>
        </p:txBody>
      </p:sp>
      <p:sp>
        <p:nvSpPr>
          <p:cNvPr id="18" name="Shape 15"/>
          <p:cNvSpPr/>
          <p:nvPr/>
        </p:nvSpPr>
        <p:spPr>
          <a:xfrm>
            <a:off x="6190488" y="4206240"/>
            <a:ext cx="5449824" cy="1234440"/>
          </a:xfrm>
          <a:prstGeom prst="roundRect">
            <a:avLst>
              <a:gd name="adj" fmla="val 5926"/>
            </a:avLst>
          </a:prstGeom>
          <a:solidFill>
            <a:srgbClr val="F3F5F8"/>
          </a:solidFill>
          <a:ln/>
        </p:spPr>
        <p:txBody>
          <a:bodyPr/>
          <a:p/>
        </p:txBody>
      </p:sp>
      <p:sp>
        <p:nvSpPr>
          <p:cNvPr id="19" name="Shape 16"/>
          <p:cNvSpPr/>
          <p:nvPr/>
        </p:nvSpPr>
        <p:spPr>
          <a:xfrm>
            <a:off x="6419088" y="4553712"/>
            <a:ext cx="548640" cy="548640"/>
          </a:xfrm>
          <a:prstGeom prst="ellipse">
            <a:avLst/>
          </a:prstGeom>
          <a:solidFill>
            <a:srgbClr val="4C5BD4"/>
          </a:solidFill>
          <a:ln/>
        </p:spPr>
        <p:txBody>
          <a:bodyPr/>
          <a:p/>
        </p:txBody>
      </p:sp>
      <p:sp>
        <p:nvSpPr>
          <p:cNvPr id="20" name="Text 17"/>
          <p:cNvSpPr txBox="1"/>
          <p:nvPr/>
        </p:nvSpPr>
        <p:spPr>
          <a:xfrm>
            <a:off x="6419088" y="4553712"/>
            <a:ext cx="54864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21" name="Text 18"/>
          <p:cNvSpPr txBox="1"/>
          <p:nvPr/>
        </p:nvSpPr>
        <p:spPr>
          <a:xfrm>
            <a:off x="7196328" y="4206240"/>
            <a:ext cx="4261104" cy="1234440"/>
          </a:xfrm>
          <a:prstGeom prst="rect">
            <a:avLst/>
          </a:prstGeom>
          <a:noFill/>
          <a:ln/>
        </p:spPr>
        <p:txBody>
          <a:bodyPr wrap="square" lIns="0" tIns="0" rIns="0" bIns="0" rtlCol="0" anchor="ctr"/>
          <a:lstStyle/>
          <a:p>
            <a:pPr indent="0" marL="0">
              <a:buNone/>
            </a:pPr>
            <a:r>
              <a:rPr lang="en-US" sz="2000" dirty="0">
                <a:solidFill>
                  <a:srgbClr val="17202E"/>
                </a:solidFill>
                <a:latin typeface="Calibri" pitchFamily="34" charset="0"/>
                <a:ea typeface="Calibri" pitchFamily="34" charset="-122"/>
                <a:cs typeface="Calibri" pitchFamily="34" charset="-120"/>
              </a:rPr>
              <a:t>Add dropout to every layer</a:t>
            </a:r>
            <a:endParaRPr lang="en-US" sz="2000" dirty="0"/>
          </a:p>
        </p:txBody>
      </p:sp>
      <p:sp>
        <p:nvSpPr>
          <p:cNvPr id="22" name="Text 19"/>
          <p:cNvSpPr txBox="1"/>
          <p:nvPr/>
        </p:nvSpPr>
        <p:spPr>
          <a:xfrm>
            <a:off x="548640" y="5760720"/>
            <a:ext cx="11094415" cy="36576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Vote silently  →  convince your neighbour  →  revote.   Answers: appendix.</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53</a:t>
            </a:fld>
            <a:endParaRPr lang="en-US"/>
          </a:p>
        </p:txBody>
      </p:sp>
      <p:sp>
        <p:nvSpPr>
          <p:cNvPr id="26"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wrap-up: today in three sentences</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WRAP-UP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Today in three sentences</a:t>
            </a:r>
            <a:endParaRPr lang="en-US" sz="3200" dirty="0"/>
          </a:p>
        </p:txBody>
      </p:sp>
      <p:sp>
        <p:nvSpPr>
          <p:cNvPr id="5" name="Shape 2"/>
          <p:cNvSpPr/>
          <p:nvPr/>
        </p:nvSpPr>
        <p:spPr>
          <a:xfrm>
            <a:off x="548640" y="1508760"/>
            <a:ext cx="502920" cy="502920"/>
          </a:xfrm>
          <a:prstGeom prst="ellipse">
            <a:avLst/>
          </a:prstGeom>
          <a:solidFill>
            <a:srgbClr val="0F7C82"/>
          </a:solidFill>
          <a:ln/>
        </p:spPr>
        <p:txBody>
          <a:bodyPr/>
          <a:p/>
        </p:txBody>
      </p:sp>
      <p:sp>
        <p:nvSpPr>
          <p:cNvPr id="6" name="Text 3"/>
          <p:cNvSpPr txBox="1"/>
          <p:nvPr/>
        </p:nvSpPr>
        <p:spPr>
          <a:xfrm>
            <a:off x="548640" y="1508760"/>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80160" y="1417320"/>
            <a:ext cx="3657600" cy="384048"/>
          </a:xfrm>
          <a:prstGeom prst="rect">
            <a:avLst/>
          </a:prstGeom>
          <a:noFill/>
          <a:ln/>
        </p:spPr>
        <p:txBody>
          <a:bodyPr wrap="square" lIns="0" tIns="0" rIns="0" bIns="0" rtlCol="0" anchor="t"/>
          <a:lstStyle/>
          <a:p>
            <a:pPr indent="0" marL="0">
              <a:buNone/>
            </a:pPr>
            <a:r>
              <a:rPr lang="en-US" sz="1900" b="1" dirty="0">
                <a:solidFill>
                  <a:srgbClr val="0F7C82"/>
                </a:solidFill>
                <a:latin typeface="Calibri" pitchFamily="34" charset="0"/>
                <a:ea typeface="Calibri" pitchFamily="34" charset="-122"/>
                <a:cs typeface="Calibri" pitchFamily="34" charset="-120"/>
              </a:rPr>
              <a:t>Part 1 · Foundations</a:t>
            </a:r>
            <a:endParaRPr lang="en-US" sz="1900" dirty="0"/>
          </a:p>
        </p:txBody>
      </p:sp>
      <p:sp>
        <p:nvSpPr>
          <p:cNvPr id="8" name="Text 5"/>
          <p:cNvSpPr txBox="1"/>
          <p:nvPr/>
        </p:nvSpPr>
        <p:spPr>
          <a:xfrm>
            <a:off x="1280160" y="1801368"/>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A network learns its own features: linear layers interleaved with nonlinearities. Without g, depth collapses.</a:t>
            </a:r>
            <a:endParaRPr lang="en-US" sz="1700" dirty="0"/>
          </a:p>
        </p:txBody>
      </p:sp>
      <p:sp>
        <p:nvSpPr>
          <p:cNvPr id="9" name="Shape 6"/>
          <p:cNvSpPr/>
          <p:nvPr/>
        </p:nvSpPr>
        <p:spPr>
          <a:xfrm>
            <a:off x="548640" y="2715768"/>
            <a:ext cx="502920" cy="502920"/>
          </a:xfrm>
          <a:prstGeom prst="ellipse">
            <a:avLst/>
          </a:prstGeom>
          <a:solidFill>
            <a:srgbClr val="C8571B"/>
          </a:solidFill>
          <a:ln/>
        </p:spPr>
        <p:txBody>
          <a:bodyPr/>
          <a:p/>
        </p:txBody>
      </p:sp>
      <p:sp>
        <p:nvSpPr>
          <p:cNvPr id="10" name="Text 7"/>
          <p:cNvSpPr txBox="1"/>
          <p:nvPr/>
        </p:nvSpPr>
        <p:spPr>
          <a:xfrm>
            <a:off x="548640" y="2715768"/>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80160" y="2624328"/>
            <a:ext cx="3657600" cy="384048"/>
          </a:xfrm>
          <a:prstGeom prst="rect">
            <a:avLst/>
          </a:prstGeom>
          <a:noFill/>
          <a:ln/>
        </p:spPr>
        <p:txBody>
          <a:bodyPr wrap="square" lIns="0" tIns="0" rIns="0" bIns="0" rtlCol="0" anchor="t"/>
          <a:lstStyle/>
          <a:p>
            <a:pPr indent="0" marL="0">
              <a:buNone/>
            </a:pPr>
            <a:r>
              <a:rPr lang="en-US" sz="1900" b="1" dirty="0">
                <a:solidFill>
                  <a:srgbClr val="C8571B"/>
                </a:solidFill>
                <a:latin typeface="Calibri" pitchFamily="34" charset="0"/>
                <a:ea typeface="Calibri" pitchFamily="34" charset="-122"/>
                <a:cs typeface="Calibri" pitchFamily="34" charset="-120"/>
              </a:rPr>
              <a:t>Part 2 · Learning</a:t>
            </a:r>
            <a:endParaRPr lang="en-US" sz="1900" dirty="0"/>
          </a:p>
        </p:txBody>
      </p:sp>
      <p:sp>
        <p:nvSpPr>
          <p:cNvPr id="12" name="Text 9"/>
          <p:cNvSpPr txBox="1"/>
          <p:nvPr/>
        </p:nvSpPr>
        <p:spPr>
          <a:xfrm>
            <a:off x="1280160" y="3008376"/>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Losses are negative log-likelihoods; the sharpest curvature caps η; backprop gets every gradient for ≈ 3× a forward pass.</a:t>
            </a:r>
            <a:endParaRPr lang="en-US" sz="1700" dirty="0"/>
          </a:p>
        </p:txBody>
      </p:sp>
      <p:sp>
        <p:nvSpPr>
          <p:cNvPr id="13" name="Shape 10"/>
          <p:cNvSpPr/>
          <p:nvPr/>
        </p:nvSpPr>
        <p:spPr>
          <a:xfrm>
            <a:off x="548640" y="3922776"/>
            <a:ext cx="502920" cy="502920"/>
          </a:xfrm>
          <a:prstGeom prst="ellipse">
            <a:avLst/>
          </a:prstGeom>
          <a:solidFill>
            <a:srgbClr val="4C5BD4"/>
          </a:solidFill>
          <a:ln/>
        </p:spPr>
        <p:txBody>
          <a:bodyPr/>
          <a:p/>
        </p:txBody>
      </p:sp>
      <p:sp>
        <p:nvSpPr>
          <p:cNvPr id="14" name="Text 11"/>
          <p:cNvSpPr txBox="1"/>
          <p:nvPr/>
        </p:nvSpPr>
        <p:spPr>
          <a:xfrm>
            <a:off x="548640" y="3922776"/>
            <a:ext cx="50292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80160" y="3831336"/>
            <a:ext cx="3657600" cy="384048"/>
          </a:xfrm>
          <a:prstGeom prst="rect">
            <a:avLst/>
          </a:prstGeom>
          <a:noFill/>
          <a:ln/>
        </p:spPr>
        <p:txBody>
          <a:bodyPr wrap="square" lIns="0" tIns="0" rIns="0" bIns="0" rtlCol="0" anchor="t"/>
          <a:lstStyle/>
          <a:p>
            <a:pPr indent="0" marL="0">
              <a:buNone/>
            </a:pPr>
            <a:r>
              <a:rPr lang="en-US" sz="1900" b="1" dirty="0">
                <a:solidFill>
                  <a:srgbClr val="4C5BD4"/>
                </a:solidFill>
                <a:latin typeface="Calibri" pitchFamily="34" charset="0"/>
                <a:ea typeface="Calibri" pitchFamily="34" charset="-122"/>
                <a:cs typeface="Calibri" pitchFamily="34" charset="-120"/>
              </a:rPr>
              <a:t>Part 3 · Train &amp; generalize</a:t>
            </a:r>
            <a:endParaRPr lang="en-US" sz="1900" dirty="0"/>
          </a:p>
        </p:txBody>
      </p:sp>
      <p:sp>
        <p:nvSpPr>
          <p:cNvPr id="16" name="Text 13"/>
          <p:cNvSpPr txBox="1"/>
          <p:nvPr/>
        </p:nvSpPr>
        <p:spPr>
          <a:xfrm>
            <a:off x="1280160" y="4215384"/>
            <a:ext cx="6583680" cy="777240"/>
          </a:xfrm>
          <a:prstGeom prst="rect">
            <a:avLst/>
          </a:prstGeom>
          <a:noFill/>
          <a:ln/>
        </p:spPr>
        <p:txBody>
          <a:bodyPr wrap="square" lIns="0" tIns="0" rIns="0" bIns="0" rtlCol="0" anchor="t"/>
          <a:lstStyle/>
          <a:p>
            <a:pPr indent="0" marL="0">
              <a:buNone/>
            </a:pPr>
            <a:r>
              <a:rPr lang="en-US" sz="1700" dirty="0">
                <a:solidFill>
                  <a:srgbClr val="17202E"/>
                </a:solidFill>
                <a:latin typeface="Calibri" pitchFamily="34" charset="0"/>
                <a:ea typeface="Calibri" pitchFamily="34" charset="-122"/>
                <a:cs typeface="Calibri" pitchFamily="34" charset="-120"/>
              </a:rPr>
              <a:t>He init and residuals keep gradients alive; momentum and Adam(W) handle ravines; diagnose the gap, then add data before regularizers.</a:t>
            </a:r>
            <a:endParaRPr lang="en-US" sz="1700" dirty="0"/>
          </a:p>
        </p:txBody>
      </p:sp>
      <p:sp>
        <p:nvSpPr>
          <p:cNvPr id="17" name="Shape 14"/>
          <p:cNvSpPr/>
          <p:nvPr/>
        </p:nvSpPr>
        <p:spPr>
          <a:xfrm>
            <a:off x="8092440" y="1417320"/>
            <a:ext cx="3547872" cy="3520440"/>
          </a:xfrm>
          <a:prstGeom prst="roundRect">
            <a:avLst>
              <a:gd name="adj" fmla="val 2078"/>
            </a:avLst>
          </a:prstGeom>
          <a:solidFill>
            <a:srgbClr val="E2F1F1"/>
          </a:solidFill>
          <a:ln/>
        </p:spPr>
      </p:sp>
      <p:sp>
        <p:nvSpPr>
          <p:cNvPr id="18" name="Text 15"/>
          <p:cNvSpPr txBox="1"/>
          <p:nvPr/>
        </p:nvSpPr>
        <p:spPr>
          <a:xfrm>
            <a:off x="8293608" y="1581912"/>
            <a:ext cx="3200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BEFORE NEXT SESSION</a:t>
            </a:r>
            <a:endParaRPr lang="en-US" sz="1300" dirty="0"/>
          </a:p>
        </p:txBody>
      </p:sp>
      <p:sp>
        <p:nvSpPr>
          <p:cNvPr id="19" name="Text 16"/>
          <p:cNvSpPr txBox="1"/>
          <p:nvPr/>
        </p:nvSpPr>
        <p:spPr>
          <a:xfrm>
            <a:off x="8293608" y="1965960"/>
            <a:ext cx="3246120" cy="283464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Redo the worked example, x = 1</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Count parameters: 784–256–10</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Predict the first loss for 100 classes</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Derive BP2 for one hidden layer</a:t>
            </a:r>
            <a:endParaRPr lang="en-US" sz="1700" dirty="0"/>
          </a:p>
          <a:p>
            <a:pPr marL="342900" indent="-342900">
              <a:spcAft>
                <a:spcPts val="600"/>
              </a:spcAft>
              <a:buSzPct val="100000"/>
              <a:buChar char="•"/>
            </a:pPr>
            <a:r>
              <a:rPr lang="en-US" sz="1700" dirty="0">
                <a:solidFill>
                  <a:srgbClr val="17202E"/>
                </a:solidFill>
                <a:latin typeface="Calibri" pitchFamily="34" charset="0"/>
                <a:ea typeface="Calibri" pitchFamily="34" charset="-122"/>
                <a:cs typeface="Calibri" pitchFamily="34" charset="-120"/>
              </a:rPr>
              <a:t>Write the training loop as pseudocode</a:t>
            </a:r>
            <a:endParaRPr lang="en-US" sz="1700" dirty="0"/>
          </a:p>
        </p:txBody>
      </p:sp>
      <p:sp>
        <p:nvSpPr>
          <p:cNvPr id="20" name="Shape 17"/>
          <p:cNvSpPr/>
          <p:nvPr/>
        </p:nvSpPr>
        <p:spPr>
          <a:xfrm>
            <a:off x="548640" y="5257800"/>
            <a:ext cx="11094415" cy="868680"/>
          </a:xfrm>
          <a:prstGeom prst="roundRect">
            <a:avLst>
              <a:gd name="adj" fmla="val 8421"/>
            </a:avLst>
          </a:prstGeom>
          <a:solidFill>
            <a:srgbClr val="17202E"/>
          </a:solidFill>
          <a:ln/>
        </p:spPr>
      </p:sp>
      <p:sp>
        <p:nvSpPr>
          <p:cNvPr id="21" name="Text 18"/>
          <p:cNvSpPr txBox="1"/>
          <p:nvPr/>
        </p:nvSpPr>
        <p:spPr>
          <a:xfrm>
            <a:off x="749808" y="5303520"/>
            <a:ext cx="10692079" cy="77724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Exit ticket (1 minute): what was the muddiest point today?</a:t>
            </a:r>
            <a:endParaRPr lang="en-US" sz="2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A  ·  REVIEW OF TODAY</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Appendix A</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A1  Quick-check answers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A2  Notation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A3  Why deep? Depth separations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A4  From 1943 to today</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A5  When not to use a neural network</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A6  Gradient checking</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(1–4)</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C:</a:t>
            </a:r>
            <a:pPr indent="0" marL="0">
              <a:buNone/>
            </a:pPr>
            <a:r>
              <a:rPr lang="en-US" sz="1800" b="1" dirty="0">
                <a:solidFill>
                  <a:srgbClr val="17202E"/>
                </a:solidFill>
                <a:latin typeface="Calibri" pitchFamily="34" charset="0"/>
                <a:ea typeface="Calibri" pitchFamily="34" charset="-122"/>
                <a:cs typeface="Calibri" pitchFamily="34" charset="-120"/>
              </a:rPr>
              <a:t> Only a straight line (a hyperplane)</a:t>
            </a:r>
            <a:endParaRPr lang="en-US" sz="1800" dirty="0"/>
          </a:p>
        </p:txBody>
      </p:sp>
      <p:sp>
        <p:nvSpPr>
          <p:cNvPr id="8" name="Text 5"/>
          <p:cNvSpPr txBox="1"/>
          <p:nvPr/>
        </p:nvSpPr>
        <p:spPr>
          <a:xfrm>
            <a:off x="1234440" y="180136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hidden layers compose into one affine map z = W′x + b′; the sigmoid is monotone, so ŷ &gt; 0.5 exactly when z &gt; 0. The boundary is a hyperplane whatever the width or depth.</a:t>
            </a:r>
            <a:endParaRPr lang="en-US" sz="1500" dirty="0"/>
          </a:p>
        </p:txBody>
      </p:sp>
      <p:sp>
        <p:nvSpPr>
          <p:cNvPr id="9" name="Shape 6"/>
          <p:cNvSpPr/>
          <p:nvPr/>
        </p:nvSpPr>
        <p:spPr>
          <a:xfrm>
            <a:off x="548640" y="2640330"/>
            <a:ext cx="457200" cy="457200"/>
          </a:xfrm>
          <a:prstGeom prst="ellipse">
            <a:avLst/>
          </a:prstGeom>
          <a:solidFill>
            <a:srgbClr val="2B3A4F"/>
          </a:solidFill>
          <a:ln/>
        </p:spPr>
        <p:txBody>
          <a:bodyPr/>
          <a:p/>
        </p:txBody>
      </p:sp>
      <p:sp>
        <p:nvSpPr>
          <p:cNvPr id="10" name="Text 7"/>
          <p:cNvSpPr txBox="1"/>
          <p:nvPr/>
        </p:nvSpPr>
        <p:spPr>
          <a:xfrm>
            <a:off x="548640" y="264033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8"/>
          <p:cNvSpPr txBox="1"/>
          <p:nvPr/>
        </p:nvSpPr>
        <p:spPr>
          <a:xfrm>
            <a:off x="1234440" y="259461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(128, 784)</a:t>
            </a:r>
            <a:endParaRPr lang="en-US" sz="1800" dirty="0"/>
          </a:p>
        </p:txBody>
      </p:sp>
      <p:sp>
        <p:nvSpPr>
          <p:cNvPr id="12" name="Text 9"/>
          <p:cNvSpPr txBox="1"/>
          <p:nvPr/>
        </p:nvSpPr>
        <p:spPr>
          <a:xfrm>
            <a:off x="1234440" y="297865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W[l] has shape (n[l], n[l−1]): one row per output unit. With a batch stored as rows, the layer computes X Wᵀ + b.</a:t>
            </a:r>
            <a:endParaRPr lang="en-US" sz="1500" dirty="0"/>
          </a:p>
        </p:txBody>
      </p:sp>
      <p:sp>
        <p:nvSpPr>
          <p:cNvPr id="13" name="Shape 10"/>
          <p:cNvSpPr/>
          <p:nvPr/>
        </p:nvSpPr>
        <p:spPr>
          <a:xfrm>
            <a:off x="548640" y="3817620"/>
            <a:ext cx="457200" cy="457200"/>
          </a:xfrm>
          <a:prstGeom prst="ellipse">
            <a:avLst/>
          </a:prstGeom>
          <a:solidFill>
            <a:srgbClr val="2B3A4F"/>
          </a:solidFill>
          <a:ln/>
        </p:spPr>
        <p:txBody>
          <a:bodyPr/>
          <a:p/>
        </p:txBody>
      </p:sp>
      <p:sp>
        <p:nvSpPr>
          <p:cNvPr id="14" name="Text 11"/>
          <p:cNvSpPr txBox="1"/>
          <p:nvPr/>
        </p:nvSpPr>
        <p:spPr>
          <a:xfrm>
            <a:off x="548640" y="38176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2"/>
          <p:cNvSpPr txBox="1"/>
          <p:nvPr/>
        </p:nvSpPr>
        <p:spPr>
          <a:xfrm>
            <a:off x="1234440" y="377190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Remove the softmax layer; pass raw logits</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15594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The model applies softmax, then the loss applies log-softmax again. The bug gives a 10-class loss floor near 1.46. Reading the model, not the loss plateau alone, identifies the error.</a:t>
            </a:r>
            <a:endParaRPr lang="en-US" sz="1500" dirty="0"/>
          </a:p>
        </p:txBody>
      </p:sp>
      <p:sp>
        <p:nvSpPr>
          <p:cNvPr id="17" name="Shape 14"/>
          <p:cNvSpPr/>
          <p:nvPr/>
        </p:nvSpPr>
        <p:spPr>
          <a:xfrm>
            <a:off x="548640" y="4994910"/>
            <a:ext cx="457200" cy="457200"/>
          </a:xfrm>
          <a:prstGeom prst="ellipse">
            <a:avLst/>
          </a:prstGeom>
          <a:solidFill>
            <a:srgbClr val="2B3A4F"/>
          </a:solidFill>
          <a:ln/>
        </p:spPr>
      </p:sp>
      <p:sp>
        <p:nvSpPr>
          <p:cNvPr id="18" name="Text 15"/>
          <p:cNvSpPr txBox="1"/>
          <p:nvPr/>
        </p:nvSpPr>
        <p:spPr>
          <a:xfrm>
            <a:off x="548640" y="499491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6"/>
          <p:cNvSpPr txBox="1"/>
          <p:nvPr/>
        </p:nvSpPr>
        <p:spPr>
          <a:xfrm>
            <a:off x="1234440" y="494919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a:t>
            </a:r>
            <a:pPr indent="0" marL="0">
              <a:buNone/>
            </a:pPr>
            <a:r>
              <a:rPr lang="en-US" sz="1800" b="1" dirty="0">
                <a:solidFill>
                  <a:srgbClr val="17202E"/>
                </a:solidFill>
                <a:latin typeface="Calibri" pitchFamily="34" charset="0"/>
                <a:ea typeface="Calibri" pitchFamily="34" charset="-122"/>
                <a:cs typeface="Calibri" pitchFamily="34" charset="-120"/>
              </a:rPr>
              <a:t>Exactly 0</a:t>
            </a:r>
            <a:endParaRPr lang="en-US" sz="1800" dirty="0"/>
          </a:p>
        </p:txBody>
      </p:sp>
      <p:sp>
        <p:nvSpPr>
          <p:cNvPr id="20" name="Text 17"/>
          <p:cNvSpPr txBox="1"/>
          <p:nvPr/>
        </p:nvSpPr>
        <p:spPr>
          <a:xfrm>
            <a:off x="1234440" y="5333238"/>
            <a:ext cx="10408615" cy="74752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Layer 1's error arrives only through w₂: ∂L/∂a₁ = δ₂·w₂ = 0, so δ₁ = 0 and ∂L/∂w₁ = δ₁·x = 0. Vanishing gradients and dead units block learning by the same mechanism.</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A1 · QUICK-CHECK ANSWERS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Quick-check answers (5–7)</a:t>
            </a:r>
            <a:endParaRPr lang="en-US" sz="3200" dirty="0"/>
          </a:p>
        </p:txBody>
      </p:sp>
      <p:sp>
        <p:nvSpPr>
          <p:cNvPr id="5" name="Shape 2"/>
          <p:cNvSpPr/>
          <p:nvPr/>
        </p:nvSpPr>
        <p:spPr>
          <a:xfrm>
            <a:off x="548640" y="1463040"/>
            <a:ext cx="457200" cy="457200"/>
          </a:xfrm>
          <a:prstGeom prst="ellipse">
            <a:avLst/>
          </a:prstGeom>
          <a:solidFill>
            <a:srgbClr val="2B3A4F"/>
          </a:solidFill>
          <a:ln/>
        </p:spPr>
        <p:txBody>
          <a:bodyPr/>
          <a:p/>
        </p:txBody>
      </p:sp>
      <p:sp>
        <p:nvSpPr>
          <p:cNvPr id="6" name="Text 3"/>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7" name="Text 4"/>
          <p:cNvSpPr txBox="1"/>
          <p:nvPr/>
        </p:nvSpPr>
        <p:spPr>
          <a:xfrm>
            <a:off x="1234440" y="141732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a:t>
            </a:r>
            <a:pPr indent="0" marL="0">
              <a:buNone/>
            </a:pPr>
            <a:r>
              <a:rPr lang="en-US" sz="1800" b="1" dirty="0">
                <a:solidFill>
                  <a:srgbClr val="17202E"/>
                </a:solidFill>
                <a:latin typeface="Calibri" pitchFamily="34" charset="0"/>
                <a:ea typeface="Calibri" pitchFamily="34" charset="-122"/>
                <a:cs typeface="Calibri" pitchFamily="34" charset="-120"/>
              </a:rPr>
              <a:t> It shrinks by about √2 per layer and vanishes</a:t>
            </a:r>
            <a:endParaRPr lang="en-US" sz="1800" dirty="0"/>
          </a:p>
        </p:txBody>
      </p:sp>
      <p:sp>
        <p:nvSpPr>
          <p:cNvPr id="8" name="Text 5"/>
          <p:cNvSpPr txBox="1"/>
          <p:nvPr/>
        </p:nvSpPr>
        <p:spPr>
          <a:xfrm>
            <a:off x="1234440" y="180136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Xavier with n_in = n_out = 256 gives Var(w) = 1/256, half of He's 2/256. ReLU halves the mean square per layer, so the std falls by √2 per layer: ≈ (1/√2)²⁹ ≈ 4×10⁻⁵ after 30 layers. Fix: He initialization.</a:t>
            </a:r>
            <a:endParaRPr lang="en-US" sz="1500" dirty="0"/>
          </a:p>
        </p:txBody>
      </p:sp>
      <p:sp>
        <p:nvSpPr>
          <p:cNvPr id="9" name="Shape 6"/>
          <p:cNvSpPr/>
          <p:nvPr/>
        </p:nvSpPr>
        <p:spPr>
          <a:xfrm>
            <a:off x="548640" y="3032760"/>
            <a:ext cx="457200" cy="457200"/>
          </a:xfrm>
          <a:prstGeom prst="ellipse">
            <a:avLst/>
          </a:prstGeom>
          <a:solidFill>
            <a:srgbClr val="2B3A4F"/>
          </a:solidFill>
          <a:ln/>
        </p:spPr>
        <p:txBody>
          <a:bodyPr/>
          <a:p/>
        </p:txBody>
      </p:sp>
      <p:sp>
        <p:nvSpPr>
          <p:cNvPr id="10" name="Text 7"/>
          <p:cNvSpPr txBox="1"/>
          <p:nvPr/>
        </p:nvSpPr>
        <p:spPr>
          <a:xfrm>
            <a:off x="548640" y="303276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1" name="Text 8"/>
          <p:cNvSpPr txBox="1"/>
          <p:nvPr/>
        </p:nvSpPr>
        <p:spPr>
          <a:xfrm>
            <a:off x="1234440" y="298704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 xml:space="preserve">Answer B: </a:t>
            </a:r>
            <a:pPr indent="0" marL="0">
              <a:buNone/>
            </a:pPr>
            <a:r>
              <a:rPr lang="en-US" sz="1800" b="1" dirty="0">
                <a:solidFill>
                  <a:srgbClr val="17202E"/>
                </a:solidFill>
                <a:latin typeface="Calibri" pitchFamily="34" charset="0"/>
                <a:ea typeface="Calibri" pitchFamily="34" charset="-122"/>
                <a:cs typeface="Calibri" pitchFamily="34" charset="-120"/>
              </a:rPr>
              <a:t>2 / 25 = 0.08 — the steepest direction sets the limit</a:t>
            </a:r>
            <a:endParaRPr lang="en-US" sz="1800" dirty="0"/>
          </a:p>
        </p:txBody>
      </p:sp>
      <p:sp>
        <p:nvSpPr>
          <p:cNvPr id="12" name="Text 9"/>
          <p:cNvSpPr txBox="1"/>
          <p:nvPr/>
        </p:nvSpPr>
        <p:spPr>
          <a:xfrm>
            <a:off x="1234440" y="337108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 a quadratic, gradient descent converges only if η &lt; 2/λ_max; rotating the ravine does not change its curvatures. Just below 0.08 the gentle direction shrinks only by 0.92 per step: the crawl that momentum and Adam address.</a:t>
            </a:r>
            <a:endParaRPr lang="en-US" sz="1500" dirty="0"/>
          </a:p>
        </p:txBody>
      </p:sp>
      <p:sp>
        <p:nvSpPr>
          <p:cNvPr id="13" name="Shape 10"/>
          <p:cNvSpPr/>
          <p:nvPr/>
        </p:nvSpPr>
        <p:spPr>
          <a:xfrm>
            <a:off x="548640" y="4602480"/>
            <a:ext cx="457200" cy="457200"/>
          </a:xfrm>
          <a:prstGeom prst="ellipse">
            <a:avLst/>
          </a:prstGeom>
          <a:solidFill>
            <a:srgbClr val="2B3A4F"/>
          </a:solidFill>
          <a:ln/>
        </p:spPr>
        <p:txBody>
          <a:bodyPr/>
          <a:p/>
        </p:txBody>
      </p:sp>
      <p:sp>
        <p:nvSpPr>
          <p:cNvPr id="14" name="Text 11"/>
          <p:cNvSpPr txBox="1"/>
          <p:nvPr/>
        </p:nvSpPr>
        <p:spPr>
          <a:xfrm>
            <a:off x="548640" y="460248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15" name="Text 12"/>
          <p:cNvSpPr txBox="1"/>
          <p:nvPr/>
        </p:nvSpPr>
        <p:spPr>
          <a:xfrm>
            <a:off x="1234440" y="4556760"/>
            <a:ext cx="10408615" cy="365760"/>
          </a:xfrm>
          <a:prstGeom prst="rect">
            <a:avLst/>
          </a:prstGeom>
          <a:noFill/>
          <a:ln/>
        </p:spPr>
        <p:txBody>
          <a:bodyPr wrap="square" lIns="0" tIns="0" rIns="0" bIns="0" rtlCol="0" anchor="t"/>
          <a:lstStyle/>
          <a:p>
            <a:pPr indent="0" marL="0">
              <a:buNone/>
            </a:pPr>
            <a:r>
              <a:rPr lang="en-US" sz="1800" b="1" dirty="0">
                <a:solidFill>
                  <a:srgbClr val="0F7C82"/>
                </a:solidFill>
                <a:latin typeface="Calibri" pitchFamily="34" charset="0"/>
                <a:ea typeface="Calibri" pitchFamily="34" charset="-122"/>
                <a:cs typeface="Calibri" pitchFamily="34" charset="-120"/>
              </a:rPr>
              <a:t>Answer B: Evaluate transfer learning with a related pretrained model</a:t>
            </a:r>
            <a:pPr indent="0" marL="0">
              <a:buNone/>
            </a:pPr>
            <a:r>
              <a:rPr lang="en-US" sz="1800" b="1" dirty="0">
                <a:solidFill>
                  <a:srgbClr val="17202E"/>
                </a:solidFill>
                <a:latin typeface="Calibri" pitchFamily="34" charset="0"/>
                <a:ea typeface="Calibri" pitchFamily="34" charset="-122"/>
                <a:cs typeface="Calibri" pitchFamily="34" charset="-120"/>
              </a:rPr>
              <a:t/>
            </a:r>
            <a:endParaRPr lang="en-US" sz="1800" dirty="0"/>
          </a:p>
        </p:txBody>
      </p:sp>
      <p:sp>
        <p:nvSpPr>
          <p:cNvPr id="16" name="Text 13"/>
          <p:cNvSpPr txBox="1"/>
          <p:nvPr/>
        </p:nvSpPr>
        <p:spPr>
          <a:xfrm>
            <a:off x="1234440" y="4940808"/>
            <a:ext cx="10408615" cy="1139952"/>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Given checked evaluation data and a relevant pretrained representation, transfer learning is a promising experiment. It is not guaranteed to outperform augmentation or other remedies.</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A2 · NOTATION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Notation used all session</a:t>
            </a:r>
            <a:endParaRPr lang="en-US" sz="32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63040"/>
                <a:gridCol w="4023360"/>
                <a:gridCol w="1463040"/>
                <a:gridCol w="4142232"/>
              </a:tblGrid>
              <a:tr h="54864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Symbol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Meaning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 𝐱, 𝐖</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scalar, vector, matrix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pre-activation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x(i)</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the i-th training example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of layer l; a[0] = x</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W[l], b[l]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weights, bias of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g, g′</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activation, its derivative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n[l]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units in layer 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ŷ, y</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prediction, target</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examples in a mini-batch</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δ[l]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error signal ∂L/∂z[l]</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η</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learning rate</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 J</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700" dirty="0">
                          <a:solidFill>
                            <a:srgbClr val="17202E"/>
                          </a:solidFill>
                          <a:latin typeface="Calibri" pitchFamily="34" charset="0"/>
                          <a:ea typeface="Calibri" pitchFamily="34" charset="-122"/>
                          <a:cs typeface="Calibri" pitchFamily="34" charset="-120"/>
                        </a:rPr>
                        <a:t>loss on one example; batch mean</a:t>
                      </a:r>
                      <a:endParaRPr lang="en-US" sz="17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bl>
          </a:graphicData>
        </a:graphic>
      </p:graphicFrame>
      <p:sp>
        <p:nvSpPr>
          <p:cNvPr id="6" name="Text 2"/>
          <p:cNvSpPr txBox="1"/>
          <p:nvPr/>
        </p:nvSpPr>
        <p:spPr>
          <a:xfrm>
            <a:off x="548640" y="5486400"/>
            <a:ext cx="11094415" cy="64008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Derivations: one example is a column vector. In code, a batch stores examples as rows, so a layer computes X Wᵀ + b.</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A3 · WHY DEEP?</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Why deep? Composition multiplies what each layer can do</a:t>
            </a:r>
            <a:endParaRPr lang="en-US" sz="3200" dirty="0"/>
          </a:p>
        </p:txBody>
      </p:sp>
      <p:pic>
        <p:nvPicPr>
          <p:cNvPr id="5" name="Image 0" descr="Repeatedly composing a tent map: 1 to 4 layers give 2, 4, 8 and 16 linear pieces.">    </p:cNvPr>
          <p:cNvPicPr>
            <a:picLocks noChangeAspect="1"/>
          </p:cNvPicPr>
          <p:nvPr/>
        </p:nvPicPr>
        <p:blipFill>
          <a:blip r:embed="rId1"/>
          <a:stretch>
            <a:fillRect/>
          </a:stretch>
        </p:blipFill>
        <p:spPr>
          <a:xfrm>
            <a:off x="548640" y="1713597"/>
            <a:ext cx="5303520" cy="3888006"/>
          </a:xfrm>
          <a:prstGeom prst="rect">
            <a:avLst/>
          </a:prstGeom>
        </p:spPr>
      </p:pic>
      <p:sp>
        <p:nvSpPr>
          <p:cNvPr id="6" name="Shape 2"/>
          <p:cNvSpPr/>
          <p:nvPr/>
        </p:nvSpPr>
        <p:spPr>
          <a:xfrm>
            <a:off x="6126480" y="1463040"/>
            <a:ext cx="402336" cy="402336"/>
          </a:xfrm>
          <a:prstGeom prst="ellipse">
            <a:avLst/>
          </a:prstGeom>
          <a:solidFill>
            <a:srgbClr val="0F7C82"/>
          </a:solidFill>
          <a:ln/>
        </p:spPr>
      </p:sp>
      <p:sp>
        <p:nvSpPr>
          <p:cNvPr id="7" name="Text 3"/>
          <p:cNvSpPr txBox="1"/>
          <p:nvPr/>
        </p:nvSpPr>
        <p:spPr>
          <a:xfrm>
            <a:off x="612648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4"/>
          <p:cNvSpPr txBox="1"/>
          <p:nvPr/>
        </p:nvSpPr>
        <p:spPr>
          <a:xfrm>
            <a:off x="6729984" y="144475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Each layer can fold the input</a:t>
            </a:r>
            <a:endParaRPr lang="en-US" sz="1800" dirty="0"/>
          </a:p>
        </p:txBody>
      </p:sp>
      <p:sp>
        <p:nvSpPr>
          <p:cNvPr id="9" name="Text 5"/>
          <p:cNvSpPr txBox="1"/>
          <p:nvPr/>
        </p:nvSpPr>
        <p:spPr>
          <a:xfrm>
            <a:off x="6729984" y="181051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k layers, constant width: 2ᵏ pieces.</a:t>
            </a:r>
            <a:endParaRPr lang="en-US" sz="1600" dirty="0"/>
          </a:p>
        </p:txBody>
      </p:sp>
      <p:sp>
        <p:nvSpPr>
          <p:cNvPr id="10" name="Shape 6"/>
          <p:cNvSpPr/>
          <p:nvPr/>
        </p:nvSpPr>
        <p:spPr>
          <a:xfrm>
            <a:off x="6126480" y="2788920"/>
            <a:ext cx="402336" cy="402336"/>
          </a:xfrm>
          <a:prstGeom prst="ellipse">
            <a:avLst/>
          </a:prstGeom>
          <a:solidFill>
            <a:srgbClr val="0F7C82"/>
          </a:solidFill>
          <a:ln/>
        </p:spPr>
      </p:sp>
      <p:sp>
        <p:nvSpPr>
          <p:cNvPr id="11" name="Text 7"/>
          <p:cNvSpPr txBox="1"/>
          <p:nvPr/>
        </p:nvSpPr>
        <p:spPr>
          <a:xfrm>
            <a:off x="6126480" y="27889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8"/>
          <p:cNvSpPr txBox="1"/>
          <p:nvPr/>
        </p:nvSpPr>
        <p:spPr>
          <a:xfrm>
            <a:off x="6729984" y="277063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Proven separations</a:t>
            </a:r>
            <a:endParaRPr lang="en-US" sz="1800" dirty="0"/>
          </a:p>
        </p:txBody>
      </p:sp>
      <p:sp>
        <p:nvSpPr>
          <p:cNvPr id="13" name="Text 9"/>
          <p:cNvSpPr txBox="1"/>
          <p:nvPr/>
        </p:nvSpPr>
        <p:spPr>
          <a:xfrm>
            <a:off x="6729984" y="313639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Θ(k³) layers × Θ(1) width vs O(k) layers needing Ω(2ᵏ) nodes (Telgarsky, 2016).</a:t>
            </a:r>
            <a:endParaRPr lang="en-US" sz="1600" dirty="0"/>
          </a:p>
        </p:txBody>
      </p:sp>
      <p:sp>
        <p:nvSpPr>
          <p:cNvPr id="14" name="Shape 10"/>
          <p:cNvSpPr/>
          <p:nvPr/>
        </p:nvSpPr>
        <p:spPr>
          <a:xfrm>
            <a:off x="6126480" y="4114800"/>
            <a:ext cx="402336" cy="402336"/>
          </a:xfrm>
          <a:prstGeom prst="ellipse">
            <a:avLst/>
          </a:prstGeom>
          <a:solidFill>
            <a:srgbClr val="C8571B"/>
          </a:solidFill>
          <a:ln/>
        </p:spPr>
      </p:sp>
      <p:sp>
        <p:nvSpPr>
          <p:cNvPr id="15" name="Text 11"/>
          <p:cNvSpPr txBox="1"/>
          <p:nvPr/>
        </p:nvSpPr>
        <p:spPr>
          <a:xfrm>
            <a:off x="6126480" y="4114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6" name="Text 12"/>
          <p:cNvSpPr txBox="1"/>
          <p:nvPr/>
        </p:nvSpPr>
        <p:spPr>
          <a:xfrm>
            <a:off x="6729984" y="4096512"/>
            <a:ext cx="491032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Honest caveat</a:t>
            </a:r>
            <a:endParaRPr lang="en-US" sz="1800" dirty="0"/>
          </a:p>
        </p:txBody>
      </p:sp>
      <p:sp>
        <p:nvSpPr>
          <p:cNvPr id="17" name="Text 13"/>
          <p:cNvSpPr txBox="1"/>
          <p:nvPr/>
        </p:nvSpPr>
        <p:spPr>
          <a:xfrm>
            <a:off x="6729984" y="4462272"/>
            <a:ext cx="4910328" cy="96012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Worst-case constructions; the benefit on real data is empirical.</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A4 · HISTORY</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From 1943 to today: backprop was not the bottleneck</a:t>
            </a:r>
            <a:endParaRPr lang="en-US" sz="3200" dirty="0"/>
          </a:p>
        </p:txBody>
      </p:sp>
      <p:sp>
        <p:nvSpPr>
          <p:cNvPr id="5" name="Shape 2"/>
          <p:cNvSpPr/>
          <p:nvPr/>
        </p:nvSpPr>
        <p:spPr>
          <a:xfrm>
            <a:off x="1097280" y="3108960"/>
            <a:ext cx="9997135" cy="91"/>
          </a:xfrm>
          <a:prstGeom prst="line">
            <a:avLst/>
          </a:prstGeom>
          <a:noFill/>
          <a:ln w="25400">
            <a:solidFill>
              <a:srgbClr val="8A94A3"/>
            </a:solidFill>
            <a:prstDash val="solid"/>
          </a:ln>
        </p:spPr>
        <p:txBody>
          <a:bodyPr/>
          <a:p/>
        </p:txBody>
      </p:sp>
      <p:sp>
        <p:nvSpPr>
          <p:cNvPr id="6" name="Shape 3"/>
          <p:cNvSpPr/>
          <p:nvPr/>
        </p:nvSpPr>
        <p:spPr>
          <a:xfrm>
            <a:off x="969264" y="2980944"/>
            <a:ext cx="256032" cy="256032"/>
          </a:xfrm>
          <a:prstGeom prst="ellipse">
            <a:avLst/>
          </a:prstGeom>
          <a:solidFill>
            <a:srgbClr val="0F7C82"/>
          </a:solidFill>
          <a:ln/>
        </p:spPr>
        <p:txBody>
          <a:bodyPr/>
          <a:p/>
        </p:txBody>
      </p:sp>
      <p:sp>
        <p:nvSpPr>
          <p:cNvPr id="7" name="Text 4"/>
          <p:cNvSpPr txBox="1"/>
          <p:nvPr/>
        </p:nvSpPr>
        <p:spPr>
          <a:xfrm>
            <a:off x="457200"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1943</a:t>
            </a:r>
            <a:endParaRPr lang="en-US" sz="1800" dirty="0"/>
          </a:p>
        </p:txBody>
      </p:sp>
      <p:sp>
        <p:nvSpPr>
          <p:cNvPr id="8" name="Text 5"/>
          <p:cNvSpPr txBox="1"/>
          <p:nvPr/>
        </p:nvSpPr>
        <p:spPr>
          <a:xfrm>
            <a:off x="411480"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McCulloch &amp; Pitts</a:t>
            </a:r>
            <a:endParaRPr lang="en-US" sz="1400" dirty="0"/>
          </a:p>
        </p:txBody>
      </p:sp>
      <p:sp>
        <p:nvSpPr>
          <p:cNvPr id="9" name="Text 6"/>
          <p:cNvSpPr txBox="1"/>
          <p:nvPr/>
        </p:nvSpPr>
        <p:spPr>
          <a:xfrm>
            <a:off x="411480"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threshold neuron</a:t>
            </a:r>
            <a:endParaRPr lang="en-US" sz="1300" dirty="0"/>
          </a:p>
        </p:txBody>
      </p:sp>
      <p:sp>
        <p:nvSpPr>
          <p:cNvPr id="10" name="Shape 7"/>
          <p:cNvSpPr/>
          <p:nvPr/>
        </p:nvSpPr>
        <p:spPr>
          <a:xfrm>
            <a:off x="2080057" y="2980944"/>
            <a:ext cx="256032" cy="256032"/>
          </a:xfrm>
          <a:prstGeom prst="ellipse">
            <a:avLst/>
          </a:prstGeom>
          <a:solidFill>
            <a:srgbClr val="0F7C82"/>
          </a:solidFill>
          <a:ln/>
        </p:spPr>
        <p:txBody>
          <a:bodyPr/>
          <a:p/>
        </p:txBody>
      </p:sp>
      <p:sp>
        <p:nvSpPr>
          <p:cNvPr id="11" name="Text 8"/>
          <p:cNvSpPr txBox="1"/>
          <p:nvPr/>
        </p:nvSpPr>
        <p:spPr>
          <a:xfrm>
            <a:off x="1567993"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1958</a:t>
            </a:r>
            <a:endParaRPr lang="en-US" sz="1800" dirty="0"/>
          </a:p>
        </p:txBody>
      </p:sp>
      <p:sp>
        <p:nvSpPr>
          <p:cNvPr id="12" name="Text 9"/>
          <p:cNvSpPr txBox="1"/>
          <p:nvPr/>
        </p:nvSpPr>
        <p:spPr>
          <a:xfrm>
            <a:off x="1522273"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Rosenblatt</a:t>
            </a:r>
            <a:endParaRPr lang="en-US" sz="1400" dirty="0"/>
          </a:p>
        </p:txBody>
      </p:sp>
      <p:sp>
        <p:nvSpPr>
          <p:cNvPr id="13" name="Text 10"/>
          <p:cNvSpPr txBox="1"/>
          <p:nvPr/>
        </p:nvSpPr>
        <p:spPr>
          <a:xfrm>
            <a:off x="1522273"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perceptron</a:t>
            </a:r>
            <a:endParaRPr lang="en-US" sz="1300" dirty="0"/>
          </a:p>
        </p:txBody>
      </p:sp>
      <p:sp>
        <p:nvSpPr>
          <p:cNvPr id="14" name="Shape 11"/>
          <p:cNvSpPr/>
          <p:nvPr/>
        </p:nvSpPr>
        <p:spPr>
          <a:xfrm>
            <a:off x="3190850" y="2980944"/>
            <a:ext cx="256032" cy="256032"/>
          </a:xfrm>
          <a:prstGeom prst="ellipse">
            <a:avLst/>
          </a:prstGeom>
          <a:solidFill>
            <a:srgbClr val="0F7C82"/>
          </a:solidFill>
          <a:ln/>
        </p:spPr>
        <p:txBody>
          <a:bodyPr/>
          <a:p/>
        </p:txBody>
      </p:sp>
      <p:sp>
        <p:nvSpPr>
          <p:cNvPr id="15" name="Text 12"/>
          <p:cNvSpPr txBox="1"/>
          <p:nvPr/>
        </p:nvSpPr>
        <p:spPr>
          <a:xfrm>
            <a:off x="2678786"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1969</a:t>
            </a:r>
            <a:endParaRPr lang="en-US" sz="1800" dirty="0"/>
          </a:p>
        </p:txBody>
      </p:sp>
      <p:sp>
        <p:nvSpPr>
          <p:cNvPr id="16" name="Text 13"/>
          <p:cNvSpPr txBox="1"/>
          <p:nvPr/>
        </p:nvSpPr>
        <p:spPr>
          <a:xfrm>
            <a:off x="2633066"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Minsky &amp; Papert</a:t>
            </a:r>
            <a:endParaRPr lang="en-US" sz="1400" dirty="0"/>
          </a:p>
        </p:txBody>
      </p:sp>
      <p:sp>
        <p:nvSpPr>
          <p:cNvPr id="17" name="Text 14"/>
          <p:cNvSpPr txBox="1"/>
          <p:nvPr/>
        </p:nvSpPr>
        <p:spPr>
          <a:xfrm>
            <a:off x="2633066"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limits of 1 layer</a:t>
            </a:r>
            <a:endParaRPr lang="en-US" sz="1300" dirty="0"/>
          </a:p>
        </p:txBody>
      </p:sp>
      <p:sp>
        <p:nvSpPr>
          <p:cNvPr id="18" name="Shape 15"/>
          <p:cNvSpPr/>
          <p:nvPr/>
        </p:nvSpPr>
        <p:spPr>
          <a:xfrm>
            <a:off x="4301642" y="2980944"/>
            <a:ext cx="256032" cy="256032"/>
          </a:xfrm>
          <a:prstGeom prst="ellipse">
            <a:avLst/>
          </a:prstGeom>
          <a:solidFill>
            <a:srgbClr val="C8571B"/>
          </a:solidFill>
          <a:ln/>
        </p:spPr>
        <p:txBody>
          <a:bodyPr/>
          <a:p/>
        </p:txBody>
      </p:sp>
      <p:sp>
        <p:nvSpPr>
          <p:cNvPr id="19" name="Text 16"/>
          <p:cNvSpPr txBox="1"/>
          <p:nvPr/>
        </p:nvSpPr>
        <p:spPr>
          <a:xfrm>
            <a:off x="3789578"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1986</a:t>
            </a:r>
            <a:endParaRPr lang="en-US" sz="1800" dirty="0"/>
          </a:p>
        </p:txBody>
      </p:sp>
      <p:sp>
        <p:nvSpPr>
          <p:cNvPr id="20" name="Text 17"/>
          <p:cNvSpPr txBox="1"/>
          <p:nvPr/>
        </p:nvSpPr>
        <p:spPr>
          <a:xfrm>
            <a:off x="3743858"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Rumelhart et al.</a:t>
            </a:r>
            <a:endParaRPr lang="en-US" sz="1400" dirty="0"/>
          </a:p>
        </p:txBody>
      </p:sp>
      <p:sp>
        <p:nvSpPr>
          <p:cNvPr id="21" name="Text 18"/>
          <p:cNvSpPr txBox="1"/>
          <p:nvPr/>
        </p:nvSpPr>
        <p:spPr>
          <a:xfrm>
            <a:off x="3743858"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backprop popular</a:t>
            </a:r>
            <a:endParaRPr lang="en-US" sz="1300" dirty="0"/>
          </a:p>
        </p:txBody>
      </p:sp>
      <p:sp>
        <p:nvSpPr>
          <p:cNvPr id="22" name="Shape 19"/>
          <p:cNvSpPr/>
          <p:nvPr/>
        </p:nvSpPr>
        <p:spPr>
          <a:xfrm>
            <a:off x="5412435" y="2980944"/>
            <a:ext cx="256032" cy="256032"/>
          </a:xfrm>
          <a:prstGeom prst="ellipse">
            <a:avLst/>
          </a:prstGeom>
          <a:solidFill>
            <a:srgbClr val="0F7C82"/>
          </a:solidFill>
          <a:ln/>
        </p:spPr>
        <p:txBody>
          <a:bodyPr/>
          <a:p/>
        </p:txBody>
      </p:sp>
      <p:sp>
        <p:nvSpPr>
          <p:cNvPr id="23" name="Text 20"/>
          <p:cNvSpPr txBox="1"/>
          <p:nvPr/>
        </p:nvSpPr>
        <p:spPr>
          <a:xfrm>
            <a:off x="4900371"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1998</a:t>
            </a:r>
            <a:endParaRPr lang="en-US" sz="1800" dirty="0"/>
          </a:p>
        </p:txBody>
      </p:sp>
      <p:sp>
        <p:nvSpPr>
          <p:cNvPr id="24" name="Text 21"/>
          <p:cNvSpPr txBox="1"/>
          <p:nvPr/>
        </p:nvSpPr>
        <p:spPr>
          <a:xfrm>
            <a:off x="4854651"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LeCun et al.</a:t>
            </a:r>
            <a:endParaRPr lang="en-US" sz="1400" dirty="0"/>
          </a:p>
        </p:txBody>
      </p:sp>
      <p:sp>
        <p:nvSpPr>
          <p:cNvPr id="25" name="Text 22"/>
          <p:cNvSpPr txBox="1"/>
          <p:nvPr/>
        </p:nvSpPr>
        <p:spPr>
          <a:xfrm>
            <a:off x="4854651"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LeNet-5</a:t>
            </a:r>
            <a:endParaRPr lang="en-US" sz="1300" dirty="0"/>
          </a:p>
        </p:txBody>
      </p:sp>
      <p:sp>
        <p:nvSpPr>
          <p:cNvPr id="26" name="Shape 23"/>
          <p:cNvSpPr/>
          <p:nvPr/>
        </p:nvSpPr>
        <p:spPr>
          <a:xfrm>
            <a:off x="6523228" y="2980944"/>
            <a:ext cx="256032" cy="256032"/>
          </a:xfrm>
          <a:prstGeom prst="ellipse">
            <a:avLst/>
          </a:prstGeom>
          <a:solidFill>
            <a:srgbClr val="C8571B"/>
          </a:solidFill>
          <a:ln/>
        </p:spPr>
        <p:txBody>
          <a:bodyPr/>
          <a:p/>
        </p:txBody>
      </p:sp>
      <p:sp>
        <p:nvSpPr>
          <p:cNvPr id="27" name="Text 24"/>
          <p:cNvSpPr txBox="1"/>
          <p:nvPr/>
        </p:nvSpPr>
        <p:spPr>
          <a:xfrm>
            <a:off x="6011164" y="3383280"/>
            <a:ext cx="1280160" cy="365760"/>
          </a:xfrm>
          <a:prstGeom prst="rect">
            <a:avLst/>
          </a:prstGeom>
          <a:noFill/>
          <a:ln/>
        </p:spPr>
        <p:txBody>
          <a:bodyPr wrap="square" lIns="0" tIns="0" rIns="0" bIns="0" rtlCol="0" anchor="t"/>
          <a:lstStyle/>
          <a:p>
            <a:pPr algn="ctr" indent="0" marL="0">
              <a:buNone/>
            </a:pPr>
            <a:r>
              <a:rPr lang="en-US" sz="1800" b="1" dirty="0">
                <a:solidFill>
                  <a:srgbClr val="C8571B"/>
                </a:solidFill>
                <a:latin typeface="Calibri" pitchFamily="34" charset="0"/>
                <a:ea typeface="Calibri" pitchFamily="34" charset="-122"/>
                <a:cs typeface="Calibri" pitchFamily="34" charset="-120"/>
              </a:rPr>
              <a:t>2012</a:t>
            </a:r>
            <a:endParaRPr lang="en-US" sz="1800" dirty="0"/>
          </a:p>
        </p:txBody>
      </p:sp>
      <p:sp>
        <p:nvSpPr>
          <p:cNvPr id="28" name="Text 25"/>
          <p:cNvSpPr txBox="1"/>
          <p:nvPr/>
        </p:nvSpPr>
        <p:spPr>
          <a:xfrm>
            <a:off x="5965444"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AlexNet</a:t>
            </a:r>
            <a:endParaRPr lang="en-US" sz="1400" dirty="0"/>
          </a:p>
        </p:txBody>
      </p:sp>
      <p:sp>
        <p:nvSpPr>
          <p:cNvPr id="29" name="Text 26"/>
          <p:cNvSpPr txBox="1"/>
          <p:nvPr/>
        </p:nvSpPr>
        <p:spPr>
          <a:xfrm>
            <a:off x="5965444"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GPUs + ReLU</a:t>
            </a:r>
            <a:endParaRPr lang="en-US" sz="1300" dirty="0"/>
          </a:p>
        </p:txBody>
      </p:sp>
      <p:sp>
        <p:nvSpPr>
          <p:cNvPr id="30" name="Shape 27"/>
          <p:cNvSpPr/>
          <p:nvPr/>
        </p:nvSpPr>
        <p:spPr>
          <a:xfrm>
            <a:off x="7634021" y="2980944"/>
            <a:ext cx="256032" cy="256032"/>
          </a:xfrm>
          <a:prstGeom prst="ellipse">
            <a:avLst/>
          </a:prstGeom>
          <a:solidFill>
            <a:srgbClr val="0F7C82"/>
          </a:solidFill>
          <a:ln/>
        </p:spPr>
        <p:txBody>
          <a:bodyPr/>
          <a:p/>
        </p:txBody>
      </p:sp>
      <p:sp>
        <p:nvSpPr>
          <p:cNvPr id="31" name="Text 28"/>
          <p:cNvSpPr txBox="1"/>
          <p:nvPr/>
        </p:nvSpPr>
        <p:spPr>
          <a:xfrm>
            <a:off x="7121957"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2015</a:t>
            </a:r>
            <a:endParaRPr lang="en-US" sz="1800" dirty="0"/>
          </a:p>
        </p:txBody>
      </p:sp>
      <p:sp>
        <p:nvSpPr>
          <p:cNvPr id="32" name="Text 29"/>
          <p:cNvSpPr txBox="1"/>
          <p:nvPr/>
        </p:nvSpPr>
        <p:spPr>
          <a:xfrm>
            <a:off x="7076237"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ResNet</a:t>
            </a:r>
            <a:endParaRPr lang="en-US" sz="1400" dirty="0"/>
          </a:p>
        </p:txBody>
      </p:sp>
      <p:sp>
        <p:nvSpPr>
          <p:cNvPr id="33" name="Text 30"/>
          <p:cNvSpPr txBox="1"/>
          <p:nvPr/>
        </p:nvSpPr>
        <p:spPr>
          <a:xfrm>
            <a:off x="7076237" y="269748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152 layers</a:t>
            </a:r>
            <a:endParaRPr lang="en-US" sz="1300" dirty="0"/>
          </a:p>
        </p:txBody>
      </p:sp>
      <p:sp>
        <p:nvSpPr>
          <p:cNvPr id="34" name="Shape 31"/>
          <p:cNvSpPr/>
          <p:nvPr/>
        </p:nvSpPr>
        <p:spPr>
          <a:xfrm>
            <a:off x="8744814" y="2980944"/>
            <a:ext cx="256032" cy="256032"/>
          </a:xfrm>
          <a:prstGeom prst="ellipse">
            <a:avLst/>
          </a:prstGeom>
          <a:solidFill>
            <a:srgbClr val="0F7C82"/>
          </a:solidFill>
          <a:ln/>
        </p:spPr>
        <p:txBody>
          <a:bodyPr/>
          <a:p/>
        </p:txBody>
      </p:sp>
      <p:sp>
        <p:nvSpPr>
          <p:cNvPr id="35" name="Text 32"/>
          <p:cNvSpPr txBox="1"/>
          <p:nvPr/>
        </p:nvSpPr>
        <p:spPr>
          <a:xfrm>
            <a:off x="8232750"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2017</a:t>
            </a:r>
            <a:endParaRPr lang="en-US" sz="1800" dirty="0"/>
          </a:p>
        </p:txBody>
      </p:sp>
      <p:sp>
        <p:nvSpPr>
          <p:cNvPr id="36" name="Text 33"/>
          <p:cNvSpPr txBox="1"/>
          <p:nvPr/>
        </p:nvSpPr>
        <p:spPr>
          <a:xfrm>
            <a:off x="8187030"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Transformer</a:t>
            </a:r>
            <a:endParaRPr lang="en-US" sz="1400" dirty="0"/>
          </a:p>
        </p:txBody>
      </p:sp>
      <p:sp>
        <p:nvSpPr>
          <p:cNvPr id="37" name="Text 34"/>
          <p:cNvSpPr txBox="1"/>
          <p:nvPr/>
        </p:nvSpPr>
        <p:spPr>
          <a:xfrm>
            <a:off x="8187030"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attention</a:t>
            </a:r>
            <a:endParaRPr lang="en-US" sz="1300" dirty="0"/>
          </a:p>
        </p:txBody>
      </p:sp>
      <p:sp>
        <p:nvSpPr>
          <p:cNvPr id="38" name="Shape 35"/>
          <p:cNvSpPr/>
          <p:nvPr/>
        </p:nvSpPr>
        <p:spPr>
          <a:xfrm>
            <a:off x="9855606" y="2980944"/>
            <a:ext cx="256032" cy="256032"/>
          </a:xfrm>
          <a:prstGeom prst="ellipse">
            <a:avLst/>
          </a:prstGeom>
          <a:solidFill>
            <a:srgbClr val="0F7C82"/>
          </a:solidFill>
          <a:ln/>
        </p:spPr>
        <p:txBody>
          <a:bodyPr/>
          <a:p/>
        </p:txBody>
      </p:sp>
      <p:sp>
        <p:nvSpPr>
          <p:cNvPr id="39" name="Text 36"/>
          <p:cNvSpPr txBox="1"/>
          <p:nvPr/>
        </p:nvSpPr>
        <p:spPr>
          <a:xfrm>
            <a:off x="9343542" y="187452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2020–22</a:t>
            </a:r>
            <a:endParaRPr lang="en-US" sz="1800" dirty="0"/>
          </a:p>
        </p:txBody>
      </p:sp>
      <p:sp>
        <p:nvSpPr>
          <p:cNvPr id="40" name="Text 37"/>
          <p:cNvSpPr txBox="1"/>
          <p:nvPr/>
        </p:nvSpPr>
        <p:spPr>
          <a:xfrm>
            <a:off x="9297822" y="224028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AlphaFold 2, GPT-3, ChatGPT</a:t>
            </a:r>
            <a:endParaRPr lang="en-US" sz="1400" dirty="0"/>
          </a:p>
        </p:txBody>
      </p:sp>
      <p:sp>
        <p:nvSpPr>
          <p:cNvPr id="41" name="Shape 38"/>
          <p:cNvSpPr/>
          <p:nvPr/>
        </p:nvSpPr>
        <p:spPr>
          <a:xfrm>
            <a:off x="10966399" y="2980944"/>
            <a:ext cx="256032" cy="256032"/>
          </a:xfrm>
          <a:prstGeom prst="ellipse">
            <a:avLst/>
          </a:prstGeom>
          <a:solidFill>
            <a:srgbClr val="0F7C82"/>
          </a:solidFill>
          <a:ln/>
        </p:spPr>
        <p:txBody>
          <a:bodyPr/>
          <a:p/>
        </p:txBody>
      </p:sp>
      <p:sp>
        <p:nvSpPr>
          <p:cNvPr id="42" name="Text 39"/>
          <p:cNvSpPr txBox="1"/>
          <p:nvPr/>
        </p:nvSpPr>
        <p:spPr>
          <a:xfrm>
            <a:off x="10454335" y="3383280"/>
            <a:ext cx="1280160"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2024</a:t>
            </a:r>
            <a:endParaRPr lang="en-US" sz="1800" dirty="0"/>
          </a:p>
        </p:txBody>
      </p:sp>
      <p:sp>
        <p:nvSpPr>
          <p:cNvPr id="43" name="Text 40"/>
          <p:cNvSpPr txBox="1"/>
          <p:nvPr/>
        </p:nvSpPr>
        <p:spPr>
          <a:xfrm>
            <a:off x="10408615" y="3749040"/>
            <a:ext cx="1371600" cy="502920"/>
          </a:xfrm>
          <a:prstGeom prst="rect">
            <a:avLst/>
          </a:prstGeom>
          <a:noFill/>
          <a:ln/>
        </p:spPr>
        <p:txBody>
          <a:bodyPr wrap="square" lIns="0" tIns="0" rIns="0" bIns="0" rtlCol="0" anchor="t"/>
          <a:lstStyle/>
          <a:p>
            <a:pPr algn="ctr" indent="0" marL="0">
              <a:buNone/>
            </a:pPr>
            <a:r>
              <a:rPr lang="en-US" sz="1400" b="1" dirty="0">
                <a:solidFill>
                  <a:srgbClr val="17202E"/>
                </a:solidFill>
                <a:latin typeface="Calibri" pitchFamily="34" charset="0"/>
                <a:ea typeface="Calibri" pitchFamily="34" charset="-122"/>
                <a:cs typeface="Calibri" pitchFamily="34" charset="-120"/>
              </a:rPr>
              <a:t>Nobel Prizes</a:t>
            </a:r>
            <a:endParaRPr lang="en-US" sz="1400" dirty="0"/>
          </a:p>
        </p:txBody>
      </p:sp>
      <p:sp>
        <p:nvSpPr>
          <p:cNvPr id="44" name="Text 41"/>
          <p:cNvSpPr txBox="1"/>
          <p:nvPr/>
        </p:nvSpPr>
        <p:spPr>
          <a:xfrm>
            <a:off x="10408615" y="4251960"/>
            <a:ext cx="1371600" cy="274320"/>
          </a:xfrm>
          <a:prstGeom prst="rect">
            <a:avLst/>
          </a:prstGeom>
          <a:noFill/>
          <a:ln/>
        </p:spPr>
        <p:txBody>
          <a:bodyPr wrap="square" lIns="0" tIns="0" rIns="0" bIns="0" rtlCol="0" anchor="t"/>
          <a:lstStyle/>
          <a:p>
            <a:pPr algn="ctr" indent="0" marL="0">
              <a:buNone/>
            </a:pPr>
            <a:r>
              <a:rPr lang="en-US" sz="1300" dirty="0">
                <a:solidFill>
                  <a:srgbClr val="5B6675"/>
                </a:solidFill>
                <a:latin typeface="Calibri" pitchFamily="34" charset="0"/>
                <a:ea typeface="Calibri" pitchFamily="34" charset="-122"/>
                <a:cs typeface="Calibri" pitchFamily="34" charset="-120"/>
              </a:rPr>
              <a:t>Physics, Chemistry</a:t>
            </a:r>
            <a:endParaRPr lang="en-US" sz="1300" dirty="0"/>
          </a:p>
        </p:txBody>
      </p:sp>
      <p:sp>
        <p:nvSpPr>
          <p:cNvPr id="45" name="Shape 42"/>
          <p:cNvSpPr/>
          <p:nvPr/>
        </p:nvSpPr>
        <p:spPr>
          <a:xfrm>
            <a:off x="548640" y="5120640"/>
            <a:ext cx="11094415" cy="960120"/>
          </a:xfrm>
          <a:prstGeom prst="roundRect">
            <a:avLst>
              <a:gd name="adj" fmla="val 7619"/>
            </a:avLst>
          </a:prstGeom>
          <a:solidFill>
            <a:srgbClr val="E2F1F1"/>
          </a:solidFill>
          <a:ln/>
        </p:spPr>
        <p:txBody>
          <a:bodyPr/>
          <a:p/>
        </p:txBody>
      </p:sp>
      <p:sp>
        <p:nvSpPr>
          <p:cNvPr id="46" name="Text 43"/>
          <p:cNvSpPr txBox="1"/>
          <p:nvPr/>
        </p:nvSpPr>
        <p:spPr>
          <a:xfrm>
            <a:off x="749808" y="5166360"/>
            <a:ext cx="10692079" cy="86868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Backprop was popularized in 1986; deep learning took over around 2012, once data (ImageNet), GPUs and training techniques (ReLU, better initialization, dropout, later normalization and residuals) caught up.</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A5 · JUDGMENT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When not to reach for a neural network</a:t>
            </a:r>
            <a:endParaRPr lang="en-US" sz="3200" dirty="0"/>
          </a:p>
        </p:txBody>
      </p:sp>
      <p:sp>
        <p:nvSpPr>
          <p:cNvPr id="5" name="Shape 2"/>
          <p:cNvSpPr/>
          <p:nvPr/>
        </p:nvSpPr>
        <p:spPr>
          <a:xfrm>
            <a:off x="548640" y="1417320"/>
            <a:ext cx="5449824" cy="1737360"/>
          </a:xfrm>
          <a:prstGeom prst="roundRect">
            <a:avLst>
              <a:gd name="adj" fmla="val 4211"/>
            </a:avLst>
          </a:prstGeom>
          <a:solidFill>
            <a:srgbClr val="F3F5F8"/>
          </a:solidFill>
          <a:ln/>
        </p:spPr>
        <p:txBody>
          <a:bodyPr/>
          <a:p/>
        </p:txBody>
      </p:sp>
      <p:sp>
        <p:nvSpPr>
          <p:cNvPr id="6" name="Text 3"/>
          <p:cNvSpPr txBox="1"/>
          <p:nvPr/>
        </p:nvSpPr>
        <p:spPr>
          <a:xfrm>
            <a:off x="749808"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Small data</a:t>
            </a:r>
            <a:endParaRPr lang="en-US" sz="1900" dirty="0"/>
          </a:p>
        </p:txBody>
      </p:sp>
      <p:sp>
        <p:nvSpPr>
          <p:cNvPr id="7" name="Text 4"/>
          <p:cNvSpPr txBox="1"/>
          <p:nvPr/>
        </p:nvSpPr>
        <p:spPr>
          <a:xfrm>
            <a:off x="749808"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few hundred rows: regularized linear models, boosted trees or a Gaussian process.</a:t>
            </a:r>
            <a:endParaRPr lang="en-US" sz="1700" dirty="0"/>
          </a:p>
        </p:txBody>
      </p:sp>
      <p:sp>
        <p:nvSpPr>
          <p:cNvPr id="8" name="Shape 5"/>
          <p:cNvSpPr/>
          <p:nvPr/>
        </p:nvSpPr>
        <p:spPr>
          <a:xfrm>
            <a:off x="6190488" y="1417320"/>
            <a:ext cx="5449824" cy="1737360"/>
          </a:xfrm>
          <a:prstGeom prst="roundRect">
            <a:avLst>
              <a:gd name="adj" fmla="val 4211"/>
            </a:avLst>
          </a:prstGeom>
          <a:solidFill>
            <a:srgbClr val="F3F5F8"/>
          </a:solidFill>
          <a:ln/>
        </p:spPr>
        <p:txBody>
          <a:bodyPr/>
          <a:p/>
        </p:txBody>
      </p:sp>
      <p:sp>
        <p:nvSpPr>
          <p:cNvPr id="9" name="Text 6"/>
          <p:cNvSpPr txBox="1"/>
          <p:nvPr/>
        </p:nvSpPr>
        <p:spPr>
          <a:xfrm>
            <a:off x="6391656" y="158191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Tabular data</a:t>
            </a:r>
            <a:endParaRPr lang="en-US" sz="1900" dirty="0"/>
          </a:p>
        </p:txBody>
      </p:sp>
      <p:sp>
        <p:nvSpPr>
          <p:cNvPr id="10" name="Text 7"/>
          <p:cNvSpPr txBox="1"/>
          <p:nvPr/>
        </p:nvSpPr>
        <p:spPr>
          <a:xfrm>
            <a:off x="6391656" y="203911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Boosted trees (XGBoost, LightGBM, CatBoost) are hard to beat; tabular foundation models such as TabPFN-2.5 (2025) are competitive on many datasets up to ~50k rows.</a:t>
            </a:r>
            <a:endParaRPr lang="en-US" sz="1700" dirty="0"/>
          </a:p>
        </p:txBody>
      </p:sp>
      <p:sp>
        <p:nvSpPr>
          <p:cNvPr id="11" name="Shape 8"/>
          <p:cNvSpPr/>
          <p:nvPr/>
        </p:nvSpPr>
        <p:spPr>
          <a:xfrm>
            <a:off x="548640" y="3337560"/>
            <a:ext cx="5449824" cy="1737360"/>
          </a:xfrm>
          <a:prstGeom prst="roundRect">
            <a:avLst>
              <a:gd name="adj" fmla="val 4211"/>
            </a:avLst>
          </a:prstGeom>
          <a:solidFill>
            <a:srgbClr val="F3F5F8"/>
          </a:solidFill>
          <a:ln/>
        </p:spPr>
      </p:sp>
      <p:sp>
        <p:nvSpPr>
          <p:cNvPr id="12" name="Text 9"/>
          <p:cNvSpPr txBox="1"/>
          <p:nvPr/>
        </p:nvSpPr>
        <p:spPr>
          <a:xfrm>
            <a:off x="749808"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Each decision must be audited</a:t>
            </a:r>
            <a:endParaRPr lang="en-US" sz="1900" dirty="0"/>
          </a:p>
        </p:txBody>
      </p:sp>
      <p:sp>
        <p:nvSpPr>
          <p:cNvPr id="13" name="Text 10"/>
          <p:cNvSpPr txBox="1"/>
          <p:nvPr/>
        </p:nvSpPr>
        <p:spPr>
          <a:xfrm>
            <a:off x="749808"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A logistic regression or a small tree is easier to defend.</a:t>
            </a:r>
            <a:endParaRPr lang="en-US" sz="1700" dirty="0"/>
          </a:p>
        </p:txBody>
      </p:sp>
      <p:sp>
        <p:nvSpPr>
          <p:cNvPr id="14" name="Shape 11"/>
          <p:cNvSpPr/>
          <p:nvPr/>
        </p:nvSpPr>
        <p:spPr>
          <a:xfrm>
            <a:off x="6190488" y="3337560"/>
            <a:ext cx="5449824" cy="1737360"/>
          </a:xfrm>
          <a:prstGeom prst="roundRect">
            <a:avLst>
              <a:gd name="adj" fmla="val 4211"/>
            </a:avLst>
          </a:prstGeom>
          <a:solidFill>
            <a:srgbClr val="F3F5F8"/>
          </a:solidFill>
          <a:ln/>
        </p:spPr>
      </p:sp>
      <p:sp>
        <p:nvSpPr>
          <p:cNvPr id="15" name="Text 12"/>
          <p:cNvSpPr txBox="1"/>
          <p:nvPr/>
        </p:nvSpPr>
        <p:spPr>
          <a:xfrm>
            <a:off x="6391656" y="3502152"/>
            <a:ext cx="5047488"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baseline yet</a:t>
            </a:r>
            <a:endParaRPr lang="en-US" sz="1900" dirty="0"/>
          </a:p>
        </p:txBody>
      </p:sp>
      <p:sp>
        <p:nvSpPr>
          <p:cNvPr id="16" name="Text 13"/>
          <p:cNvSpPr txBox="1"/>
          <p:nvPr/>
        </p:nvSpPr>
        <p:spPr>
          <a:xfrm>
            <a:off x="6391656" y="3959352"/>
            <a:ext cx="5047488" cy="100584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Fit the simple model first; it tells you what score is easy.</a:t>
            </a:r>
            <a:endParaRPr lang="en-US" sz="1700" dirty="0"/>
          </a:p>
        </p:txBody>
      </p:sp>
      <p:sp>
        <p:nvSpPr>
          <p:cNvPr id="17" name="Shape 14"/>
          <p:cNvSpPr/>
          <p:nvPr/>
        </p:nvSpPr>
        <p:spPr>
          <a:xfrm>
            <a:off x="548640" y="5440680"/>
            <a:ext cx="11094415" cy="731520"/>
          </a:xfrm>
          <a:prstGeom prst="roundRect">
            <a:avLst>
              <a:gd name="adj" fmla="val 10000"/>
            </a:avLst>
          </a:prstGeom>
          <a:solidFill>
            <a:srgbClr val="E2F1F1"/>
          </a:solidFill>
          <a:ln/>
        </p:spPr>
      </p:sp>
      <p:sp>
        <p:nvSpPr>
          <p:cNvPr id="18" name="Text 15"/>
          <p:cNvSpPr txBox="1"/>
          <p:nvPr/>
        </p:nvSpPr>
        <p:spPr>
          <a:xfrm>
            <a:off x="749808" y="5486400"/>
            <a:ext cx="10692079" cy="640080"/>
          </a:xfrm>
          <a:prstGeom prst="rect">
            <a:avLst/>
          </a:prstGeom>
          <a:noFill/>
          <a:ln/>
        </p:spPr>
        <p:txBody>
          <a:bodyPr wrap="square" lIns="0" tIns="0" rIns="0" bIns="0" rtlCol="0" anchor="ctr"/>
          <a:lstStyle/>
          <a:p>
            <a:pPr indent="0" marL="0">
              <a:buNone/>
            </a:pPr>
            <a:r>
              <a:rPr lang="en-US" sz="1700" b="1" dirty="0">
                <a:solidFill>
                  <a:srgbClr val="0A5559"/>
                </a:solidFill>
                <a:latin typeface="Calibri" pitchFamily="34" charset="0"/>
                <a:ea typeface="Calibri" pitchFamily="34" charset="-122"/>
                <a:cs typeface="Calibri" pitchFamily="34" charset="-120"/>
              </a:rPr>
              <a:t>Neural networks win on abundant data whose structure is hard to describe by hand: images, audio, text, molecules.</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A6 · GRADIENT CHECKING</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Verify hand-written gradients with centred differences</a:t>
            </a:r>
            <a:endParaRPr lang="en-US" sz="3200" dirty="0"/>
          </a:p>
        </p:txBody>
      </p:sp>
      <p:sp>
        <p:nvSpPr>
          <p:cNvPr id="5" name="Shape 2"/>
          <p:cNvSpPr/>
          <p:nvPr/>
        </p:nvSpPr>
        <p:spPr>
          <a:xfrm>
            <a:off x="548640" y="1417320"/>
            <a:ext cx="11094415" cy="1463040"/>
          </a:xfrm>
          <a:prstGeom prst="roundRect">
            <a:avLst>
              <a:gd name="adj" fmla="val 5000"/>
            </a:avLst>
          </a:prstGeom>
          <a:solidFill>
            <a:srgbClr val="F3F5F8"/>
          </a:solidFill>
          <a:ln/>
        </p:spPr>
        <p:txBody>
          <a:bodyPr/>
          <a:p/>
        </p:txBody>
      </p:sp>
      <p:pic>
        <p:nvPicPr>
          <p:cNvPr id="6" name="Image 0" descr="LaTeX: $\displaystyle \frac{\partial J}{\partial \theta} \approx \frac{J(\theta + \varepsilon) - J(\theta - \varepsilon)}{2\varepsilon}, \qquad \text{rel. err} = \frac{|g_{\text{bp}} - g_{\text{num}}|}{\max(|g_{\text{bp}}|, |g_{\text{num}}|)}$">    </p:cNvPr>
          <p:cNvPicPr>
            <a:picLocks noChangeAspect="1"/>
          </p:cNvPicPr>
          <p:nvPr/>
        </p:nvPicPr>
        <p:blipFill>
          <a:blip r:embed="rId1"/>
          <a:stretch>
            <a:fillRect/>
          </a:stretch>
        </p:blipFill>
        <p:spPr>
          <a:xfrm>
            <a:off x="822960" y="1737360"/>
            <a:ext cx="5323027" cy="543763"/>
          </a:xfrm>
          <a:prstGeom prst="rect">
            <a:avLst/>
          </a:prstGeom>
        </p:spPr>
      </p:pic>
      <p:sp>
        <p:nvSpPr>
          <p:cNvPr id="7" name="Shape 3"/>
          <p:cNvSpPr/>
          <p:nvPr/>
        </p:nvSpPr>
        <p:spPr>
          <a:xfrm>
            <a:off x="548640" y="3200400"/>
            <a:ext cx="3529584" cy="1371600"/>
          </a:xfrm>
          <a:prstGeom prst="roundRect">
            <a:avLst>
              <a:gd name="adj" fmla="val 5333"/>
            </a:avLst>
          </a:prstGeom>
          <a:solidFill>
            <a:srgbClr val="E2F1F1"/>
          </a:solidFill>
          <a:ln/>
        </p:spPr>
        <p:txBody>
          <a:bodyPr/>
          <a:p/>
        </p:txBody>
      </p:sp>
      <p:sp>
        <p:nvSpPr>
          <p:cNvPr id="8" name="Text 4"/>
          <p:cNvSpPr txBox="1"/>
          <p:nvPr/>
        </p:nvSpPr>
        <p:spPr>
          <a:xfrm>
            <a:off x="731520" y="3291840"/>
            <a:ext cx="3200400" cy="548640"/>
          </a:xfrm>
          <a:prstGeom prst="rect">
            <a:avLst/>
          </a:prstGeom>
          <a:noFill/>
          <a:ln/>
        </p:spPr>
        <p:txBody>
          <a:bodyPr wrap="square" lIns="0" tIns="0" rIns="0" bIns="0" rtlCol="0" anchor="t"/>
          <a:lstStyle/>
          <a:p>
            <a:pPr indent="0" marL="0">
              <a:buNone/>
            </a:pPr>
            <a:r>
              <a:rPr lang="en-US" sz="2600" b="1" dirty="0">
                <a:solidFill>
                  <a:srgbClr val="0F7C82"/>
                </a:solidFill>
                <a:latin typeface="Cambria" pitchFamily="34" charset="0"/>
                <a:ea typeface="Cambria" pitchFamily="34" charset="-122"/>
                <a:cs typeface="Cambria" pitchFamily="34" charset="-120"/>
              </a:rPr>
              <a:t>≤ 10⁻⁷</a:t>
            </a:r>
            <a:endParaRPr lang="en-US" sz="2600" dirty="0"/>
          </a:p>
        </p:txBody>
      </p:sp>
      <p:sp>
        <p:nvSpPr>
          <p:cNvPr id="9" name="Text 5"/>
          <p:cNvSpPr txBox="1"/>
          <p:nvPr/>
        </p:nvSpPr>
        <p:spPr>
          <a:xfrm>
            <a:off x="731520"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correct</a:t>
            </a:r>
            <a:endParaRPr lang="en-US" sz="1900" dirty="0"/>
          </a:p>
        </p:txBody>
      </p:sp>
      <p:sp>
        <p:nvSpPr>
          <p:cNvPr id="10" name="Shape 6"/>
          <p:cNvSpPr/>
          <p:nvPr/>
        </p:nvSpPr>
        <p:spPr>
          <a:xfrm>
            <a:off x="4315968" y="3200400"/>
            <a:ext cx="3529584" cy="1371600"/>
          </a:xfrm>
          <a:prstGeom prst="roundRect">
            <a:avLst>
              <a:gd name="adj" fmla="val 5333"/>
            </a:avLst>
          </a:prstGeom>
          <a:solidFill>
            <a:srgbClr val="FFF3CC"/>
          </a:solidFill>
          <a:ln/>
        </p:spPr>
        <p:txBody>
          <a:bodyPr/>
          <a:p/>
        </p:txBody>
      </p:sp>
      <p:sp>
        <p:nvSpPr>
          <p:cNvPr id="11" name="Text 7"/>
          <p:cNvSpPr txBox="1"/>
          <p:nvPr/>
        </p:nvSpPr>
        <p:spPr>
          <a:xfrm>
            <a:off x="4498848" y="3291840"/>
            <a:ext cx="3200400" cy="548640"/>
          </a:xfrm>
          <a:prstGeom prst="rect">
            <a:avLst/>
          </a:prstGeom>
          <a:noFill/>
          <a:ln/>
        </p:spPr>
        <p:txBody>
          <a:bodyPr wrap="square" lIns="0" tIns="0" rIns="0" bIns="0" rtlCol="0" anchor="t"/>
          <a:lstStyle/>
          <a:p>
            <a:pPr indent="0" marL="0">
              <a:buNone/>
            </a:pPr>
            <a:r>
              <a:rPr lang="en-US" sz="2600" b="1" dirty="0">
                <a:solidFill>
                  <a:srgbClr val="8A6A00"/>
                </a:solidFill>
                <a:latin typeface="Cambria" pitchFamily="34" charset="0"/>
                <a:ea typeface="Cambria" pitchFamily="34" charset="-122"/>
                <a:cs typeface="Cambria" pitchFamily="34" charset="-120"/>
              </a:rPr>
              <a:t>10⁻⁷ – 10⁻²</a:t>
            </a:r>
            <a:endParaRPr lang="en-US" sz="2600" dirty="0"/>
          </a:p>
        </p:txBody>
      </p:sp>
      <p:sp>
        <p:nvSpPr>
          <p:cNvPr id="12" name="Text 8"/>
          <p:cNvSpPr txBox="1"/>
          <p:nvPr/>
        </p:nvSpPr>
        <p:spPr>
          <a:xfrm>
            <a:off x="4498848"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investigate</a:t>
            </a:r>
            <a:endParaRPr lang="en-US" sz="1900" dirty="0"/>
          </a:p>
        </p:txBody>
      </p:sp>
      <p:sp>
        <p:nvSpPr>
          <p:cNvPr id="13" name="Shape 9"/>
          <p:cNvSpPr/>
          <p:nvPr/>
        </p:nvSpPr>
        <p:spPr>
          <a:xfrm>
            <a:off x="8083296" y="3200400"/>
            <a:ext cx="3529584" cy="1371600"/>
          </a:xfrm>
          <a:prstGeom prst="roundRect">
            <a:avLst>
              <a:gd name="adj" fmla="val 5333"/>
            </a:avLst>
          </a:prstGeom>
          <a:solidFill>
            <a:srgbClr val="FBEADF"/>
          </a:solidFill>
          <a:ln/>
        </p:spPr>
        <p:txBody>
          <a:bodyPr/>
          <a:p/>
        </p:txBody>
      </p:sp>
      <p:sp>
        <p:nvSpPr>
          <p:cNvPr id="14" name="Text 10"/>
          <p:cNvSpPr txBox="1"/>
          <p:nvPr/>
        </p:nvSpPr>
        <p:spPr>
          <a:xfrm>
            <a:off x="8266176" y="3291840"/>
            <a:ext cx="3200400" cy="548640"/>
          </a:xfrm>
          <a:prstGeom prst="rect">
            <a:avLst/>
          </a:prstGeom>
          <a:noFill/>
          <a:ln/>
        </p:spPr>
        <p:txBody>
          <a:bodyPr wrap="square" lIns="0" tIns="0" rIns="0" bIns="0" rtlCol="0" anchor="t"/>
          <a:lstStyle/>
          <a:p>
            <a:pPr indent="0" marL="0">
              <a:buNone/>
            </a:pPr>
            <a:r>
              <a:rPr lang="en-US" sz="2600" b="1" dirty="0">
                <a:solidFill>
                  <a:srgbClr val="C8571B"/>
                </a:solidFill>
                <a:latin typeface="Cambria" pitchFamily="34" charset="0"/>
                <a:ea typeface="Cambria" pitchFamily="34" charset="-122"/>
                <a:cs typeface="Cambria" pitchFamily="34" charset="-120"/>
              </a:rPr>
              <a:t>&gt; 10⁻²</a:t>
            </a:r>
            <a:endParaRPr lang="en-US" sz="2600" dirty="0"/>
          </a:p>
        </p:txBody>
      </p:sp>
      <p:sp>
        <p:nvSpPr>
          <p:cNvPr id="15" name="Text 11"/>
          <p:cNvSpPr txBox="1"/>
          <p:nvPr/>
        </p:nvSpPr>
        <p:spPr>
          <a:xfrm>
            <a:off x="8266176" y="3931920"/>
            <a:ext cx="3200400" cy="457200"/>
          </a:xfrm>
          <a:prstGeom prst="rect">
            <a:avLst/>
          </a:prstGeom>
          <a:noFill/>
          <a:ln/>
        </p:spPr>
        <p:txBody>
          <a:bodyPr wrap="square" lIns="0" tIns="0" rIns="0" bIns="0" rtlCol="0" anchor="t"/>
          <a:lstStyle/>
          <a:p>
            <a:pPr indent="0" marL="0">
              <a:buNone/>
            </a:pPr>
            <a:r>
              <a:rPr lang="en-US" sz="1900" dirty="0">
                <a:solidFill>
                  <a:srgbClr val="17202E"/>
                </a:solidFill>
                <a:latin typeface="Calibri" pitchFamily="34" charset="0"/>
                <a:ea typeface="Calibri" pitchFamily="34" charset="-122"/>
                <a:cs typeface="Calibri" pitchFamily="34" charset="-120"/>
              </a:rPr>
              <a:t>probably a bug</a:t>
            </a:r>
            <a:endParaRPr lang="en-US" sz="1900" dirty="0"/>
          </a:p>
        </p:txBody>
      </p:sp>
      <p:sp>
        <p:nvSpPr>
          <p:cNvPr id="16" name="Text 12"/>
          <p:cNvSpPr txBox="1"/>
          <p:nvPr/>
        </p:nvSpPr>
        <p:spPr>
          <a:xfrm>
            <a:off x="548640" y="4937760"/>
            <a:ext cx="11094415" cy="45720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float64 · dropout off · sample parameters · two forward passes per check · rules of thumb (CS231n); with kinks (ReLU at 0), up to 10⁻⁴ is usually fine</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548640" y="1463040"/>
            <a:ext cx="6400800" cy="365760"/>
          </a:xfrm>
          <a:prstGeom prst="rect">
            <a:avLst/>
          </a:prstGeom>
          <a:noFill/>
          <a:ln/>
        </p:spPr>
        <p:txBody>
          <a:bodyPr wrap="square" lIns="0" tIns="0" rIns="0" bIns="0" rtlCol="0"/>
          <a:lstStyle/>
          <a:p>
            <a:pPr indent="0" marL="0">
              <a:buNone/>
            </a:pPr>
            <a:r>
              <a:rPr lang="en-US" sz="1400" b="1" spc="300" kern="0" dirty="0">
                <a:solidFill>
                  <a:srgbClr val="7FD1CF"/>
                </a:solidFill>
                <a:latin typeface="Calibri" pitchFamily="34" charset="0"/>
                <a:ea typeface="Calibri" pitchFamily="34" charset="-122"/>
                <a:cs typeface="Calibri" pitchFamily="34" charset="-120"/>
              </a:rPr>
              <a:t>APPENDIX B  ·  GOING FURTHER (LATER SESSIONS)</a:t>
            </a:r>
            <a:endParaRPr lang="en-US" sz="1400" dirty="0"/>
          </a:p>
        </p:txBody>
      </p:sp>
      <p:sp>
        <p:nvSpPr>
          <p:cNvPr id="3" name="Text 0"/>
          <p:cNvSpPr/>
          <p:nvPr>
            <p:ph idx="101" type="title" hasCustomPrompt="1"/>
          </p:nvPr>
        </p:nvSpPr>
        <p:spPr>
          <a:xfrm>
            <a:off x="548640" y="1874520"/>
            <a:ext cx="6949440" cy="173736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Going further</a:t>
            </a:r>
            <a:endParaRPr lang="en-US" sz="3600" dirty="0"/>
          </a:p>
        </p:txBody>
      </p:sp>
      <p:sp>
        <p:nvSpPr>
          <p:cNvPr id="4" name="Text 2"/>
          <p:cNvSpPr txBox="1"/>
          <p:nvPr/>
        </p:nvSpPr>
        <p:spPr>
          <a:xfrm>
            <a:off x="54864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B1  Batch normalization</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B2  Normalization variants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B3  Double descent</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B4  Losses and target formats</a:t>
            </a:r>
            <a:endParaRPr lang="en-US" sz="1800" dirty="0"/>
          </a:p>
        </p:txBody>
      </p:sp>
      <p:sp>
        <p:nvSpPr>
          <p:cNvPr id="5" name="Text 3"/>
          <p:cNvSpPr txBox="1"/>
          <p:nvPr/>
        </p:nvSpPr>
        <p:spPr>
          <a:xfrm>
            <a:off x="5669280" y="3566160"/>
            <a:ext cx="4937760" cy="2377440"/>
          </a:xfrm>
          <a:prstGeom prst="rect">
            <a:avLst/>
          </a:prstGeom>
          <a:noFill/>
          <a:ln/>
        </p:spPr>
        <p:txBody>
          <a:bodyPr wrap="square" lIns="0" tIns="0" rIns="0" bIns="0" rtlCol="0" anchor="t"/>
          <a:lstStyle/>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B5  Six silent training mistakes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B6  Learning-rate schedules</a:t>
            </a:r>
            <a:endParaRPr lang="en-US" sz="1800" dirty="0"/>
          </a:p>
          <a:p>
            <a:pPr indent="0" marL="0">
              <a:spcAft>
                <a:spcPts val="600"/>
              </a:spcAft>
              <a:buNone/>
            </a:pPr>
            <a:r>
              <a:rPr lang="en-US" sz="1800" dirty="0">
                <a:solidFill>
                  <a:srgbClr val="C9D3DF"/>
                </a:solidFill>
                <a:latin typeface="Calibri" pitchFamily="34" charset="0"/>
                <a:ea typeface="Calibri" pitchFamily="34" charset="-122"/>
                <a:cs typeface="Calibri" pitchFamily="34" charset="-120"/>
              </a:rPr>
              <a:t>B7  A modern training recipe</a:t>
            </a:r>
            <a:endParaRPr lang="en-US" sz="1800" dirty="0"/>
          </a:p>
        </p:txBody>
      </p:sp>
      <p:sp>
        <p:nvSpPr>
          <p:cNvPr id="7" name="Text 0"/>
          <p:cNvSpPr/>
          <p:nvPr>
            <p:ph idx="102" type="body" hasCustomPrompt="1"/>
          </p:nvPr>
        </p:nvSpPr>
        <p:spPr>
          <a:xfrm>
            <a:off x="548640" y="3749040"/>
            <a:ext cx="6400800" cy="228600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4A3"/>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B1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Batch normalization: standardize, then rescale</a:t>
            </a:r>
            <a:endParaRPr lang="en-US" sz="3200" dirty="0"/>
          </a:p>
        </p:txBody>
      </p:sp>
      <p:sp>
        <p:nvSpPr>
          <p:cNvPr id="5" name="Shape 2"/>
          <p:cNvSpPr/>
          <p:nvPr/>
        </p:nvSpPr>
        <p:spPr>
          <a:xfrm>
            <a:off x="548640" y="1417320"/>
            <a:ext cx="5760720" cy="2651760"/>
          </a:xfrm>
          <a:prstGeom prst="roundRect">
            <a:avLst>
              <a:gd name="adj" fmla="val 2759"/>
            </a:avLst>
          </a:prstGeom>
          <a:solidFill>
            <a:srgbClr val="F3F5F8"/>
          </a:solidFill>
          <a:ln/>
        </p:spPr>
        <p:txBody>
          <a:bodyPr/>
          <a:p/>
        </p:txBody>
      </p:sp>
      <p:sp>
        <p:nvSpPr>
          <p:cNvPr id="6" name="Text 3"/>
          <p:cNvSpPr txBox="1"/>
          <p:nvPr/>
        </p:nvSpPr>
        <p:spPr>
          <a:xfrm>
            <a:off x="749808" y="1554480"/>
            <a:ext cx="530352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FOR EACH FEATURE, OVER A MINI-BATCH OF M</a:t>
            </a:r>
            <a:endParaRPr lang="en-US" sz="1300" dirty="0"/>
          </a:p>
        </p:txBody>
      </p:sp>
      <p:pic>
        <p:nvPicPr>
          <p:cNvPr id="7" name="Image 0" descr="LaTeX: \begin{align*} \mu &amp;= \tfrac1m\textstyle\sum_i x_i, \qquad \sigma^2 = \tfrac1m\sum_i (x_i - \mu)^2\\ \hat{x}_i &amp;= \frac{x_i - \mu}{\sqrt{\sigma^2 + \epsilon}}\\ y_i &amp;= \gamma\,\hat{x}_i + \beta \qquad \textcolor{mu}{\gamma,\beta \text{ learned}} \end{align*}">    </p:cNvPr>
          <p:cNvPicPr>
            <a:picLocks noChangeAspect="1"/>
          </p:cNvPicPr>
          <p:nvPr/>
        </p:nvPicPr>
        <p:blipFill>
          <a:blip r:embed="rId1"/>
          <a:stretch>
            <a:fillRect/>
          </a:stretch>
        </p:blipFill>
        <p:spPr>
          <a:xfrm>
            <a:off x="822960" y="1920240"/>
            <a:ext cx="3827145" cy="1232154"/>
          </a:xfrm>
          <a:prstGeom prst="rect">
            <a:avLst/>
          </a:prstGeom>
        </p:spPr>
      </p:pic>
      <p:sp>
        <p:nvSpPr>
          <p:cNvPr id="8" name="Shape 4"/>
          <p:cNvSpPr/>
          <p:nvPr/>
        </p:nvSpPr>
        <p:spPr>
          <a:xfrm>
            <a:off x="6492240" y="1417320"/>
            <a:ext cx="2496312" cy="2651760"/>
          </a:xfrm>
          <a:prstGeom prst="roundRect">
            <a:avLst>
              <a:gd name="adj" fmla="val 2930"/>
            </a:avLst>
          </a:prstGeom>
          <a:solidFill>
            <a:srgbClr val="F3F5F8"/>
          </a:solidFill>
          <a:ln/>
        </p:spPr>
        <p:txBody>
          <a:bodyPr/>
          <a:p/>
        </p:txBody>
      </p:sp>
      <p:sp>
        <p:nvSpPr>
          <p:cNvPr id="9" name="Text 5"/>
          <p:cNvSpPr txBox="1"/>
          <p:nvPr/>
        </p:nvSpPr>
        <p:spPr>
          <a:xfrm>
            <a:off x="669340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TRAINING MODE</a:t>
            </a:r>
            <a:endParaRPr lang="en-US" sz="1300" dirty="0"/>
          </a:p>
        </p:txBody>
      </p:sp>
      <p:sp>
        <p:nvSpPr>
          <p:cNvPr id="10" name="Text 6"/>
          <p:cNvSpPr txBox="1"/>
          <p:nvPr/>
        </p:nvSpPr>
        <p:spPr>
          <a:xfrm>
            <a:off x="669340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this batch's μ and σ²; update running averages.</a:t>
            </a:r>
            <a:endParaRPr lang="en-US" sz="1600" dirty="0"/>
          </a:p>
        </p:txBody>
      </p:sp>
      <p:sp>
        <p:nvSpPr>
          <p:cNvPr id="11" name="Shape 7"/>
          <p:cNvSpPr/>
          <p:nvPr/>
        </p:nvSpPr>
        <p:spPr>
          <a:xfrm>
            <a:off x="9144000" y="1417320"/>
            <a:ext cx="2496312" cy="2651760"/>
          </a:xfrm>
          <a:prstGeom prst="roundRect">
            <a:avLst>
              <a:gd name="adj" fmla="val 2930"/>
            </a:avLst>
          </a:prstGeom>
          <a:solidFill>
            <a:srgbClr val="E2F1F1"/>
          </a:solidFill>
          <a:ln/>
        </p:spPr>
        <p:txBody>
          <a:bodyPr/>
          <a:p/>
        </p:txBody>
      </p:sp>
      <p:sp>
        <p:nvSpPr>
          <p:cNvPr id="12" name="Text 8"/>
          <p:cNvSpPr txBox="1"/>
          <p:nvPr/>
        </p:nvSpPr>
        <p:spPr>
          <a:xfrm>
            <a:off x="9345168" y="1581912"/>
            <a:ext cx="209397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EVALUATION MODE</a:t>
            </a:r>
            <a:endParaRPr lang="en-US" sz="1300" dirty="0"/>
          </a:p>
        </p:txBody>
      </p:sp>
      <p:sp>
        <p:nvSpPr>
          <p:cNvPr id="13" name="Text 9"/>
          <p:cNvSpPr txBox="1"/>
          <p:nvPr/>
        </p:nvSpPr>
        <p:spPr>
          <a:xfrm>
            <a:off x="9345168" y="1947672"/>
            <a:ext cx="2093976" cy="2011680"/>
          </a:xfrm>
          <a:prstGeom prst="rect">
            <a:avLst/>
          </a:prstGeom>
          <a:noFill/>
          <a:ln/>
        </p:spPr>
        <p:txBody>
          <a:bodyPr wrap="square" lIns="0" tIns="0" rIns="0" bIns="0" rtlCol="0" anchor="t"/>
          <a:lstStyle/>
          <a:p>
            <a:pPr indent="0" marL="0">
              <a:spcAft>
                <a:spcPts val="600"/>
              </a:spcAft>
              <a:buNone/>
            </a:pPr>
            <a:r>
              <a:rPr lang="en-US" sz="1600" dirty="0">
                <a:solidFill>
                  <a:srgbClr val="17202E"/>
                </a:solidFill>
                <a:latin typeface="Calibri" pitchFamily="34" charset="0"/>
                <a:ea typeface="Calibri" pitchFamily="34" charset="-122"/>
                <a:cs typeface="Calibri" pitchFamily="34" charset="-120"/>
              </a:rPr>
              <a:t>Use the running averages: deterministic.</a:t>
            </a:r>
            <a:endParaRPr lang="en-US" sz="1600" dirty="0"/>
          </a:p>
        </p:txBody>
      </p:sp>
      <p:sp>
        <p:nvSpPr>
          <p:cNvPr id="14" name="Shape 10"/>
          <p:cNvSpPr/>
          <p:nvPr/>
        </p:nvSpPr>
        <p:spPr>
          <a:xfrm>
            <a:off x="548640" y="4343400"/>
            <a:ext cx="402336" cy="402336"/>
          </a:xfrm>
          <a:prstGeom prst="ellipse">
            <a:avLst/>
          </a:prstGeom>
          <a:solidFill>
            <a:srgbClr val="0F7C82"/>
          </a:solidFill>
          <a:ln/>
        </p:spPr>
        <p:txBody>
          <a:bodyPr/>
          <a:p/>
        </p:txBody>
      </p:sp>
      <p:sp>
        <p:nvSpPr>
          <p:cNvPr id="15" name="Text 11"/>
          <p:cNvSpPr txBox="1"/>
          <p:nvPr/>
        </p:nvSpPr>
        <p:spPr>
          <a:xfrm>
            <a:off x="548640" y="43434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6" name="Text 12"/>
          <p:cNvSpPr txBox="1"/>
          <p:nvPr/>
        </p:nvSpPr>
        <p:spPr>
          <a:xfrm>
            <a:off x="1152144" y="43251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Smoother loss landscape (one explanation)</a:t>
            </a:r>
            <a:endParaRPr lang="en-US" sz="1800" dirty="0"/>
          </a:p>
        </p:txBody>
      </p:sp>
      <p:sp>
        <p:nvSpPr>
          <p:cNvPr id="17" name="Text 13"/>
          <p:cNvSpPr txBox="1"/>
          <p:nvPr/>
        </p:nvSpPr>
        <p:spPr>
          <a:xfrm>
            <a:off x="1152144" y="46908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Larger learning rates stay stable.</a:t>
            </a:r>
            <a:endParaRPr lang="en-US" sz="1600" dirty="0"/>
          </a:p>
        </p:txBody>
      </p:sp>
      <p:sp>
        <p:nvSpPr>
          <p:cNvPr id="18" name="Shape 14"/>
          <p:cNvSpPr/>
          <p:nvPr/>
        </p:nvSpPr>
        <p:spPr>
          <a:xfrm>
            <a:off x="548640" y="5257800"/>
            <a:ext cx="402336" cy="402336"/>
          </a:xfrm>
          <a:prstGeom prst="ellipse">
            <a:avLst/>
          </a:prstGeom>
          <a:solidFill>
            <a:srgbClr val="C8571B"/>
          </a:solidFill>
          <a:ln/>
        </p:spPr>
      </p:sp>
      <p:sp>
        <p:nvSpPr>
          <p:cNvPr id="19" name="Text 15"/>
          <p:cNvSpPr txBox="1"/>
          <p:nvPr/>
        </p:nvSpPr>
        <p:spPr>
          <a:xfrm>
            <a:off x="548640" y="52578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6"/>
          <p:cNvSpPr txBox="1"/>
          <p:nvPr/>
        </p:nvSpPr>
        <p:spPr>
          <a:xfrm>
            <a:off x="1152144" y="5239512"/>
            <a:ext cx="5157216"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Not mainly “covariate shift”</a:t>
            </a:r>
            <a:endParaRPr lang="en-US" sz="1800" dirty="0"/>
          </a:p>
        </p:txBody>
      </p:sp>
      <p:sp>
        <p:nvSpPr>
          <p:cNvPr id="21" name="Text 17"/>
          <p:cNvSpPr txBox="1"/>
          <p:nvPr/>
        </p:nvSpPr>
        <p:spPr>
          <a:xfrm>
            <a:off x="1152144" y="5605272"/>
            <a:ext cx="5157216" cy="54864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The original motivation; later doubted.</a:t>
            </a:r>
            <a:endParaRPr lang="en-US" sz="1600" dirty="0"/>
          </a:p>
        </p:txBody>
      </p:sp>
      <p:sp>
        <p:nvSpPr>
          <p:cNvPr id="22" name="Shape 18"/>
          <p:cNvSpPr/>
          <p:nvPr/>
        </p:nvSpPr>
        <p:spPr>
          <a:xfrm>
            <a:off x="6492240" y="4206240"/>
            <a:ext cx="5148072" cy="1371600"/>
          </a:xfrm>
          <a:prstGeom prst="roundRect">
            <a:avLst>
              <a:gd name="adj" fmla="val 4000"/>
            </a:avLst>
          </a:prstGeom>
          <a:solidFill>
            <a:srgbClr val="1E2735"/>
          </a:solidFill>
          <a:ln/>
        </p:spPr>
      </p:sp>
      <p:sp>
        <p:nvSpPr>
          <p:cNvPr id="23" name="Text 19"/>
          <p:cNvSpPr txBox="1"/>
          <p:nvPr/>
        </p:nvSpPr>
        <p:spPr>
          <a:xfrm>
            <a:off x="6693408" y="4352544"/>
            <a:ext cx="4828032" cy="1115568"/>
          </a:xfrm>
          <a:prstGeom prst="rect">
            <a:avLst/>
          </a:prstGeom>
          <a:noFill/>
          <a:ln/>
        </p:spPr>
        <p:txBody>
          <a:bodyPr wrap="square" lIns="0" tIns="0" rIns="0" bIns="0" rtlCol="0" anchor="t"/>
          <a:lstStyle/>
          <a:p>
            <a:pPr indent="0" marL="0">
              <a:lnSpc>
                <a:spcPct val="105000"/>
              </a:lnSpc>
              <a:buNone/>
            </a:pPr>
            <a:r>
              <a:rPr lang="en-US" sz="1200" dirty="0">
                <a:solidFill>
                  <a:srgbClr val="E6EAF0"/>
                </a:solidFill>
                <a:latin typeface="Consolas" pitchFamily="34" charset="0"/>
                <a:ea typeface="Consolas" pitchFamily="34" charset="-122"/>
                <a:cs typeface="Consolas" pitchFamily="34" charset="-120"/>
              </a:rPr>
              <a:t xml:space="preserve">conv → batch norm → ReLU</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conv: 64 → 128 channels, 3×3, no bias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bias off: batch norm's β already shifts</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batch norm over 128 channels: learns γ, β</a:t>
            </a:r>
            <a:endParaRPr lang="en-US" sz="1200" dirty="0"/>
          </a:p>
          <a:p>
            <a:pPr indent="0" marL="0">
              <a:lnSpc>
                <a:spcPct val="105000"/>
              </a:lnSpc>
              <a:buNone/>
            </a:pPr>
            <a:r>
              <a:rPr lang="en-US" sz="1200" dirty="0">
                <a:solidFill>
                  <a:srgbClr val="8D99AB"/>
                </a:solidFill>
                <a:latin typeface="Consolas" pitchFamily="34" charset="0"/>
                <a:ea typeface="Consolas" pitchFamily="34" charset="-122"/>
                <a:cs typeface="Consolas" pitchFamily="34" charset="-120"/>
              </a:rPr>
              <a:t xml:space="preserve"># ReLU</a:t>
            </a:r>
            <a:endParaRPr lang="en-US" sz="1200" dirty="0"/>
          </a:p>
        </p:txBody>
      </p:sp>
      <p:sp>
        <p:nvSpPr>
          <p:cNvPr id="24" name="Text 20"/>
          <p:cNvSpPr txBox="1"/>
          <p:nvPr/>
        </p:nvSpPr>
        <p:spPr>
          <a:xfrm>
            <a:off x="6492240" y="5623560"/>
            <a:ext cx="5148072" cy="502920"/>
          </a:xfrm>
          <a:prstGeom prst="rect">
            <a:avLst/>
          </a:prstGeom>
          <a:noFill/>
          <a:ln/>
        </p:spPr>
        <p:txBody>
          <a:bodyPr wrap="square" lIns="0" tIns="0" rIns="0" bIns="0" rtlCol="0" anchor="t"/>
          <a:lstStyle/>
          <a:p>
            <a:pPr indent="0" marL="0">
              <a:buNone/>
            </a:pPr>
            <a:r>
              <a:rPr lang="en-US" sz="1600" i="1" dirty="0">
                <a:solidFill>
                  <a:srgbClr val="5B6675"/>
                </a:solidFill>
                <a:latin typeface="Calibri" pitchFamily="34" charset="0"/>
                <a:ea typeface="Calibri" pitchFamily="34" charset="-122"/>
                <a:cs typeface="Calibri" pitchFamily="34" charset="-120"/>
              </a:rPr>
              <a:t>Transformers: LayerNorm or RMSNorm.  Tiny batches: GroupNorm.</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B2 · NORMALIZATION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Normalization variants: which axes, which statistics</a:t>
            </a:r>
            <a:endParaRPr lang="en-US" sz="3200" dirty="0"/>
          </a:p>
        </p:txBody>
      </p:sp>
      <p:pic>
        <p:nvPicPr>
          <p:cNvPr id="5" name="Image 0" descr="Four normalization schemes drawn as N by C blocks; shaded cells share statistics.">    </p:cNvPr>
          <p:cNvPicPr>
            <a:picLocks noChangeAspect="1"/>
          </p:cNvPicPr>
          <p:nvPr/>
        </p:nvPicPr>
        <p:blipFill>
          <a:blip r:embed="rId1"/>
          <a:stretch>
            <a:fillRect/>
          </a:stretch>
        </p:blipFill>
        <p:spPr>
          <a:xfrm>
            <a:off x="1249046" y="1325880"/>
            <a:ext cx="9693603" cy="2468880"/>
          </a:xfrm>
          <a:prstGeom prst="rect">
            <a:avLst/>
          </a:prstGeom>
        </p:spPr>
      </p:pic>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48640" y="3977640"/>
          <a:ext cx="11094415" cy="914400"/>
        </p:xfrm>
        <a:graphic>
          <a:graphicData uri="http://schemas.openxmlformats.org/drawingml/2006/table">
            <a:tbl>
              <a:tblPr/>
              <a:tblGrid>
                <a:gridCol w="1828800"/>
                <a:gridCol w="3931920"/>
                <a:gridCol w="2103120"/>
                <a:gridCol w="3227832"/>
              </a:tblGrid>
              <a:tr h="36576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Layer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Statistics over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Batch-dependent?</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Typical use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BatchNorm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 H, W per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CNNs, decent batch size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LayerNorm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all features of one example</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Transformers, RNNs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GroupNorm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and a channel group</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Small-batch vision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InstanceNorm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H, W per example and channel</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Style transfer</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365760">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RMSNorm</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like LayerNorm, no mean</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500" dirty="0">
                          <a:solidFill>
                            <a:srgbClr val="17202E"/>
                          </a:solidFill>
                          <a:latin typeface="Calibri" pitchFamily="34" charset="0"/>
                          <a:ea typeface="Calibri" pitchFamily="34" charset="-122"/>
                          <a:cs typeface="Calibri" pitchFamily="34" charset="-120"/>
                        </a:rPr>
                        <a:t>Many recent LLMs</a:t>
                      </a:r>
                      <a:endParaRPr lang="en-US" sz="15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B3 · GENERALIZATION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Double descent: test error can fall again</a:t>
            </a:r>
            <a:endParaRPr lang="en-US" sz="3200" dirty="0"/>
          </a:p>
        </p:txBody>
      </p:sp>
      <p:graphicFrame>
        <p:nvGraphicFramePr>
          <p:cNvPr id="5" name="Chart 0" descr="Line chart: test error, no regularization, test error, ridge"/>
          <p:cNvGraphicFramePr/>
          <p:nvPr/>
        </p:nvGraphicFramePr>
        <p:xfrm>
          <a:off x="45720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4343400" y="1828800"/>
            <a:ext cx="1645920" cy="320040"/>
          </a:xfrm>
          <a:prstGeom prst="rect">
            <a:avLst/>
          </a:prstGeom>
          <a:noFill/>
          <a:ln/>
        </p:spPr>
        <p:txBody>
          <a:bodyPr wrap="square" lIns="0" tIns="0" rIns="0" bIns="0" rtlCol="0" anchor="t"/>
          <a:lstStyle/>
          <a:p>
            <a:pPr indent="0" marL="0">
              <a:buNone/>
            </a:pPr>
            <a:r>
              <a:rPr lang="en-US" sz="1600" b="1" dirty="0">
                <a:solidFill>
                  <a:srgbClr val="C8571B"/>
                </a:solidFill>
                <a:latin typeface="Calibri" pitchFamily="34" charset="0"/>
                <a:ea typeface="Calibri" pitchFamily="34" charset="-122"/>
                <a:cs typeface="Calibri" pitchFamily="34" charset="-120"/>
              </a:rPr>
              <a:t>p = n = 60</a:t>
            </a:r>
            <a:endParaRPr lang="en-US" sz="1600" dirty="0"/>
          </a:p>
        </p:txBody>
      </p:sp>
      <p:sp>
        <p:nvSpPr>
          <p:cNvPr id="7" name="Shape 3"/>
          <p:cNvSpPr/>
          <p:nvPr/>
        </p:nvSpPr>
        <p:spPr>
          <a:xfrm>
            <a:off x="7589520" y="1463040"/>
            <a:ext cx="402336" cy="402336"/>
          </a:xfrm>
          <a:prstGeom prst="ellipse">
            <a:avLst/>
          </a:prstGeom>
          <a:solidFill>
            <a:srgbClr val="0F7C82"/>
          </a:solidFill>
          <a:ln/>
        </p:spPr>
        <p:txBody>
          <a:bodyPr/>
          <a:p/>
        </p:txBody>
      </p:sp>
      <p:sp>
        <p:nvSpPr>
          <p:cNvPr id="8" name="Text 4"/>
          <p:cNvSpPr txBox="1"/>
          <p:nvPr/>
        </p:nvSpPr>
        <p:spPr>
          <a:xfrm>
            <a:off x="7589520" y="1463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5"/>
          <p:cNvSpPr txBox="1"/>
          <p:nvPr/>
        </p:nvSpPr>
        <p:spPr>
          <a:xfrm>
            <a:off x="8193024" y="1444752"/>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&lt; n: the classical U</a:t>
            </a:r>
            <a:endParaRPr lang="en-US" sz="1800" dirty="0"/>
          </a:p>
        </p:txBody>
      </p:sp>
      <p:sp>
        <p:nvSpPr>
          <p:cNvPr id="10" name="Text 6"/>
          <p:cNvSpPr txBox="1"/>
          <p:nvPr/>
        </p:nvSpPr>
        <p:spPr>
          <a:xfrm>
            <a:off x="8193024" y="1810512"/>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Too simple, then too variable.</a:t>
            </a:r>
            <a:endParaRPr lang="en-US" sz="1600" dirty="0"/>
          </a:p>
        </p:txBody>
      </p:sp>
      <p:sp>
        <p:nvSpPr>
          <p:cNvPr id="11" name="Shape 7"/>
          <p:cNvSpPr/>
          <p:nvPr/>
        </p:nvSpPr>
        <p:spPr>
          <a:xfrm>
            <a:off x="7589520" y="2487168"/>
            <a:ext cx="402336" cy="402336"/>
          </a:xfrm>
          <a:prstGeom prst="ellipse">
            <a:avLst/>
          </a:prstGeom>
          <a:solidFill>
            <a:srgbClr val="C8571B"/>
          </a:solidFill>
          <a:ln/>
        </p:spPr>
        <p:txBody>
          <a:bodyPr/>
          <a:p/>
        </p:txBody>
      </p:sp>
      <p:sp>
        <p:nvSpPr>
          <p:cNvPr id="12" name="Text 8"/>
          <p:cNvSpPr txBox="1"/>
          <p:nvPr/>
        </p:nvSpPr>
        <p:spPr>
          <a:xfrm>
            <a:off x="7589520" y="248716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9"/>
          <p:cNvSpPr txBox="1"/>
          <p:nvPr/>
        </p:nvSpPr>
        <p:spPr>
          <a:xfrm>
            <a:off x="8193024" y="2468880"/>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the peak</a:t>
            </a:r>
            <a:endParaRPr lang="en-US" sz="1800" dirty="0"/>
          </a:p>
        </p:txBody>
      </p:sp>
      <p:sp>
        <p:nvSpPr>
          <p:cNvPr id="14" name="Text 10"/>
          <p:cNvSpPr txBox="1"/>
          <p:nvPr/>
        </p:nvSpPr>
        <p:spPr>
          <a:xfrm>
            <a:off x="8193024" y="2834640"/>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Just enough capacity to fit the noise.</a:t>
            </a:r>
            <a:endParaRPr lang="en-US" sz="1600" dirty="0"/>
          </a:p>
        </p:txBody>
      </p:sp>
      <p:sp>
        <p:nvSpPr>
          <p:cNvPr id="15" name="Shape 11"/>
          <p:cNvSpPr/>
          <p:nvPr/>
        </p:nvSpPr>
        <p:spPr>
          <a:xfrm>
            <a:off x="7589520" y="3511296"/>
            <a:ext cx="402336" cy="402336"/>
          </a:xfrm>
          <a:prstGeom prst="ellipse">
            <a:avLst/>
          </a:prstGeom>
          <a:solidFill>
            <a:srgbClr val="0F7C82"/>
          </a:solidFill>
          <a:ln/>
        </p:spPr>
        <p:txBody>
          <a:bodyPr/>
          <a:p/>
        </p:txBody>
      </p:sp>
      <p:sp>
        <p:nvSpPr>
          <p:cNvPr id="16" name="Text 12"/>
          <p:cNvSpPr txBox="1"/>
          <p:nvPr/>
        </p:nvSpPr>
        <p:spPr>
          <a:xfrm>
            <a:off x="7589520" y="35112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3"/>
          <p:cNvSpPr txBox="1"/>
          <p:nvPr/>
        </p:nvSpPr>
        <p:spPr>
          <a:xfrm>
            <a:off x="8193024" y="3493008"/>
            <a:ext cx="3447288" cy="365760"/>
          </a:xfrm>
          <a:prstGeom prst="rect">
            <a:avLst/>
          </a:prstGeom>
          <a:noFill/>
          <a:ln/>
        </p:spPr>
        <p:txBody>
          <a:bodyPr wrap="square" lIns="0" tIns="0" rIns="0" bIns="0" rtlCol="0" anchor="t"/>
          <a:lstStyle/>
          <a:p>
            <a:pPr indent="0" marL="0">
              <a:buNone/>
            </a:pPr>
            <a:r>
              <a:rPr lang="en-US" sz="1800" b="1" dirty="0">
                <a:solidFill>
                  <a:srgbClr val="17202E"/>
                </a:solidFill>
                <a:latin typeface="Calibri" pitchFamily="34" charset="0"/>
                <a:ea typeface="Calibri" pitchFamily="34" charset="-122"/>
                <a:cs typeface="Calibri" pitchFamily="34" charset="-120"/>
              </a:rPr>
              <a:t>p ≫ n: second descent</a:t>
            </a:r>
            <a:endParaRPr lang="en-US" sz="1800" dirty="0"/>
          </a:p>
        </p:txBody>
      </p:sp>
      <p:sp>
        <p:nvSpPr>
          <p:cNvPr id="18" name="Text 14"/>
          <p:cNvSpPr txBox="1"/>
          <p:nvPr/>
        </p:nvSpPr>
        <p:spPr>
          <a:xfrm>
            <a:off x="8193024" y="3858768"/>
            <a:ext cx="3447288" cy="658368"/>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Many exact fits exist; the minimum-norm one can generalize again.</a:t>
            </a:r>
            <a:endParaRPr lang="en-US" sz="1600" dirty="0"/>
          </a:p>
        </p:txBody>
      </p:sp>
      <p:sp>
        <p:nvSpPr>
          <p:cNvPr id="19" name="Shape 15"/>
          <p:cNvSpPr/>
          <p:nvPr/>
        </p:nvSpPr>
        <p:spPr>
          <a:xfrm>
            <a:off x="7589520" y="4572000"/>
            <a:ext cx="4050792" cy="1097280"/>
          </a:xfrm>
          <a:prstGeom prst="roundRect">
            <a:avLst>
              <a:gd name="adj" fmla="val 6667"/>
            </a:avLst>
          </a:prstGeom>
          <a:solidFill>
            <a:srgbClr val="E2F1F1"/>
          </a:solidFill>
          <a:ln/>
        </p:spPr>
      </p:sp>
      <p:sp>
        <p:nvSpPr>
          <p:cNvPr id="20" name="Text 16"/>
          <p:cNvSpPr txBox="1"/>
          <p:nvPr/>
        </p:nvSpPr>
        <p:spPr>
          <a:xfrm>
            <a:off x="7790688" y="4617720"/>
            <a:ext cx="3648456" cy="1005840"/>
          </a:xfrm>
          <a:prstGeom prst="rect">
            <a:avLst/>
          </a:prstGeom>
          <a:noFill/>
          <a:ln/>
        </p:spPr>
        <p:txBody>
          <a:bodyPr wrap="square" lIns="0" tIns="0" rIns="0" bIns="0" rtlCol="0" anchor="ctr"/>
          <a:lstStyle/>
          <a:p>
            <a:pPr indent="0" marL="0">
              <a:buNone/>
            </a:pPr>
            <a:r>
              <a:rPr lang="en-US" sz="1800" b="1" dirty="0">
                <a:solidFill>
                  <a:srgbClr val="0A5559"/>
                </a:solidFill>
                <a:latin typeface="Calibri" pitchFamily="34" charset="0"/>
                <a:ea typeface="Calibri" pitchFamily="34" charset="-122"/>
                <a:cs typeface="Calibri" pitchFamily="34" charset="-120"/>
              </a:rPr>
              <a:t>Large and regularized beats small here: ridge removes the peak.</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SIMULATION · MEDIAN OF 30 RUNS · small_figures.py</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B4 · LOSSES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Loss functions and target formats</a:t>
            </a:r>
            <a:endParaRPr lang="en-US" sz="32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1680"/>
                <a:gridCol w="3611880"/>
                <a:gridCol w="1737360"/>
                <a:gridCol w="3730752"/>
              </a:tblGrid>
              <a:tr h="56692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Task</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Loss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Model output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Target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mse</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Robust regression</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huber</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raw</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Binary</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1)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Multi-class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cross_entropy</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class indices, or (m, K) probabilities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566928">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Multi-label</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onsolas" pitchFamily="34" charset="0"/>
                          <a:ea typeface="Consolas" pitchFamily="34" charset="-122"/>
                          <a:cs typeface="Consolas" pitchFamily="34" charset="-120"/>
                        </a:rPr>
                        <a:t>bce_with_logits</a:t>
                      </a:r>
                      <a:endParaRPr lang="en-US" sz="1600" dirty="0">
                        <a:latin typeface="Consolas" charset="0"/>
                        <a:ea typeface="Consolas" charset="0"/>
                        <a:cs typeface="Consolas"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logits</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600" dirty="0">
                          <a:solidFill>
                            <a:srgbClr val="17202E"/>
                          </a:solidFill>
                          <a:latin typeface="Calibri" pitchFamily="34" charset="0"/>
                          <a:ea typeface="Calibri" pitchFamily="34" charset="-122"/>
                          <a:cs typeface="Calibri" pitchFamily="34" charset="-120"/>
                        </a:rPr>
                        <a:t>(m, K) float 0/1</a:t>
                      </a:r>
                      <a:endParaRPr lang="en-US" sz="16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257800"/>
            <a:ext cx="11094415" cy="777240"/>
          </a:xfrm>
          <a:prstGeom prst="roundRect">
            <a:avLst>
              <a:gd name="adj" fmla="val 9412"/>
            </a:avLst>
          </a:prstGeom>
          <a:solidFill>
            <a:srgbClr val="FBEADF"/>
          </a:solidFill>
          <a:ln/>
        </p:spPr>
      </p:sp>
      <p:sp>
        <p:nvSpPr>
          <p:cNvPr id="7" name="Text 3"/>
          <p:cNvSpPr txBox="1"/>
          <p:nvPr/>
        </p:nvSpPr>
        <p:spPr>
          <a:xfrm>
            <a:off x="749808" y="5303520"/>
            <a:ext cx="10692079" cy="68580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These losses apply sigmoid or softmax themselves: pass raw outputs.</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B5 · SILENT BUGS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Six training mistakes that may not raise an exception</a:t>
            </a:r>
            <a:endParaRPr lang="en-US" sz="3200" dirty="0"/>
          </a:p>
        </p:txBody>
      </p:sp>
      <p:sp>
        <p:nvSpPr>
          <p:cNvPr id="5" name="Shape 2"/>
          <p:cNvSpPr/>
          <p:nvPr/>
        </p:nvSpPr>
        <p:spPr>
          <a:xfrm>
            <a:off x="548640" y="1417320"/>
            <a:ext cx="5449824" cy="1417320"/>
          </a:xfrm>
          <a:prstGeom prst="roundRect">
            <a:avLst>
              <a:gd name="adj" fmla="val 5161"/>
            </a:avLst>
          </a:prstGeom>
          <a:solidFill>
            <a:srgbClr val="FBEADF"/>
          </a:solidFill>
          <a:ln/>
        </p:spPr>
        <p:txBody>
          <a:bodyPr/>
          <a:p/>
        </p:txBody>
      </p:sp>
      <p:sp>
        <p:nvSpPr>
          <p:cNvPr id="6" name="Shape 3"/>
          <p:cNvSpPr/>
          <p:nvPr/>
        </p:nvSpPr>
        <p:spPr>
          <a:xfrm>
            <a:off x="749808" y="1618488"/>
            <a:ext cx="420624" cy="420624"/>
          </a:xfrm>
          <a:prstGeom prst="ellipse">
            <a:avLst/>
          </a:prstGeom>
          <a:solidFill>
            <a:srgbClr val="C8571B"/>
          </a:solidFill>
          <a:ln/>
        </p:spPr>
        <p:txBody>
          <a:bodyPr/>
          <a:p/>
        </p:txBody>
      </p:sp>
      <p:sp>
        <p:nvSpPr>
          <p:cNvPr id="7" name="Text 4"/>
          <p:cNvSpPr txBox="1"/>
          <p:nvPr/>
        </p:nvSpPr>
        <p:spPr>
          <a:xfrm>
            <a:off x="749808"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5"/>
          <p:cNvSpPr txBox="1"/>
          <p:nvPr/>
        </p:nvSpPr>
        <p:spPr>
          <a:xfrm>
            <a:off x="1325880"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Softmax applied twice</a:t>
            </a:r>
            <a:endParaRPr lang="en-US" sz="1900" dirty="0"/>
          </a:p>
        </p:txBody>
      </p:sp>
      <p:sp>
        <p:nvSpPr>
          <p:cNvPr id="9" name="Text 6"/>
          <p:cNvSpPr txBox="1"/>
          <p:nvPr/>
        </p:nvSpPr>
        <p:spPr>
          <a:xfrm>
            <a:off x="1325880"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Loss floor ≈ 1.46 for 10 classes; miscalibrated outputs.</a:t>
            </a:r>
            <a:endParaRPr lang="en-US" sz="1600" dirty="0"/>
          </a:p>
        </p:txBody>
      </p:sp>
      <p:sp>
        <p:nvSpPr>
          <p:cNvPr id="10" name="Shape 7"/>
          <p:cNvSpPr/>
          <p:nvPr/>
        </p:nvSpPr>
        <p:spPr>
          <a:xfrm>
            <a:off x="6190488" y="1417320"/>
            <a:ext cx="5449824" cy="1417320"/>
          </a:xfrm>
          <a:prstGeom prst="roundRect">
            <a:avLst>
              <a:gd name="adj" fmla="val 5161"/>
            </a:avLst>
          </a:prstGeom>
          <a:solidFill>
            <a:srgbClr val="F3F5F8"/>
          </a:solidFill>
          <a:ln/>
        </p:spPr>
        <p:txBody>
          <a:bodyPr/>
          <a:p/>
        </p:txBody>
      </p:sp>
      <p:sp>
        <p:nvSpPr>
          <p:cNvPr id="11" name="Shape 8"/>
          <p:cNvSpPr/>
          <p:nvPr/>
        </p:nvSpPr>
        <p:spPr>
          <a:xfrm>
            <a:off x="6391656" y="1618488"/>
            <a:ext cx="420624" cy="420624"/>
          </a:xfrm>
          <a:prstGeom prst="ellipse">
            <a:avLst/>
          </a:prstGeom>
          <a:solidFill>
            <a:srgbClr val="C8571B"/>
          </a:solidFill>
          <a:ln/>
        </p:spPr>
        <p:txBody>
          <a:bodyPr/>
          <a:p/>
        </p:txBody>
      </p:sp>
      <p:sp>
        <p:nvSpPr>
          <p:cNvPr id="12" name="Text 9"/>
          <p:cNvSpPr txBox="1"/>
          <p:nvPr/>
        </p:nvSpPr>
        <p:spPr>
          <a:xfrm>
            <a:off x="6391656" y="161848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0"/>
          <p:cNvSpPr txBox="1"/>
          <p:nvPr/>
        </p:nvSpPr>
        <p:spPr>
          <a:xfrm>
            <a:off x="6967728" y="1600200"/>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Unintended gradient accumulation</a:t>
            </a:r>
            <a:endParaRPr lang="en-US" sz="1900" dirty="0"/>
          </a:p>
        </p:txBody>
      </p:sp>
      <p:sp>
        <p:nvSpPr>
          <p:cNvPr id="14" name="Text 11"/>
          <p:cNvSpPr txBox="1"/>
          <p:nvPr/>
        </p:nvSpPr>
        <p:spPr>
          <a:xfrm>
            <a:off x="6967728" y="2075688"/>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Gradients not cleared: they sum across steps (fine only when intended).</a:t>
            </a:r>
            <a:endParaRPr lang="en-US" sz="1600" dirty="0"/>
          </a:p>
        </p:txBody>
      </p:sp>
      <p:sp>
        <p:nvSpPr>
          <p:cNvPr id="15" name="Shape 12"/>
          <p:cNvSpPr/>
          <p:nvPr/>
        </p:nvSpPr>
        <p:spPr>
          <a:xfrm>
            <a:off x="548640" y="2990088"/>
            <a:ext cx="5449824" cy="1417320"/>
          </a:xfrm>
          <a:prstGeom prst="roundRect">
            <a:avLst>
              <a:gd name="adj" fmla="val 5161"/>
            </a:avLst>
          </a:prstGeom>
          <a:solidFill>
            <a:srgbClr val="F3F5F8"/>
          </a:solidFill>
          <a:ln/>
        </p:spPr>
        <p:txBody>
          <a:bodyPr/>
          <a:p/>
        </p:txBody>
      </p:sp>
      <p:sp>
        <p:nvSpPr>
          <p:cNvPr id="16" name="Shape 13"/>
          <p:cNvSpPr/>
          <p:nvPr/>
        </p:nvSpPr>
        <p:spPr>
          <a:xfrm>
            <a:off x="749808" y="3191256"/>
            <a:ext cx="420624" cy="420624"/>
          </a:xfrm>
          <a:prstGeom prst="ellipse">
            <a:avLst/>
          </a:prstGeom>
          <a:solidFill>
            <a:srgbClr val="C8571B"/>
          </a:solidFill>
          <a:ln/>
        </p:spPr>
        <p:txBody>
          <a:bodyPr/>
          <a:p/>
        </p:txBody>
      </p:sp>
      <p:sp>
        <p:nvSpPr>
          <p:cNvPr id="17" name="Text 14"/>
          <p:cNvSpPr txBox="1"/>
          <p:nvPr/>
        </p:nvSpPr>
        <p:spPr>
          <a:xfrm>
            <a:off x="749808"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5"/>
          <p:cNvSpPr txBox="1"/>
          <p:nvPr/>
        </p:nvSpPr>
        <p:spPr>
          <a:xfrm>
            <a:off x="1325880"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No evaluation mode for validation</a:t>
            </a:r>
            <a:endParaRPr lang="en-US" sz="1900" dirty="0"/>
          </a:p>
        </p:txBody>
      </p:sp>
      <p:sp>
        <p:nvSpPr>
          <p:cNvPr id="19" name="Text 16"/>
          <p:cNvSpPr txBox="1"/>
          <p:nvPr/>
        </p:nvSpPr>
        <p:spPr>
          <a:xfrm>
            <a:off x="1325880"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Dropout stays on; BatchNorm uses batch statistics.</a:t>
            </a:r>
            <a:endParaRPr lang="en-US" sz="1600" dirty="0"/>
          </a:p>
        </p:txBody>
      </p:sp>
      <p:sp>
        <p:nvSpPr>
          <p:cNvPr id="20" name="Shape 17"/>
          <p:cNvSpPr/>
          <p:nvPr/>
        </p:nvSpPr>
        <p:spPr>
          <a:xfrm>
            <a:off x="6190488" y="2990088"/>
            <a:ext cx="5449824" cy="1417320"/>
          </a:xfrm>
          <a:prstGeom prst="roundRect">
            <a:avLst>
              <a:gd name="adj" fmla="val 5161"/>
            </a:avLst>
          </a:prstGeom>
          <a:solidFill>
            <a:srgbClr val="FBEADF"/>
          </a:solidFill>
          <a:ln/>
        </p:spPr>
        <p:txBody>
          <a:bodyPr/>
          <a:p/>
        </p:txBody>
      </p:sp>
      <p:sp>
        <p:nvSpPr>
          <p:cNvPr id="21" name="Shape 18"/>
          <p:cNvSpPr/>
          <p:nvPr/>
        </p:nvSpPr>
        <p:spPr>
          <a:xfrm>
            <a:off x="6391656" y="3191256"/>
            <a:ext cx="420624" cy="420624"/>
          </a:xfrm>
          <a:prstGeom prst="ellipse">
            <a:avLst/>
          </a:prstGeom>
          <a:solidFill>
            <a:srgbClr val="C8571B"/>
          </a:solidFill>
          <a:ln/>
        </p:spPr>
        <p:txBody>
          <a:bodyPr/>
          <a:p/>
        </p:txBody>
      </p:sp>
      <p:sp>
        <p:nvSpPr>
          <p:cNvPr id="22" name="Text 19"/>
          <p:cNvSpPr txBox="1"/>
          <p:nvPr/>
        </p:nvSpPr>
        <p:spPr>
          <a:xfrm>
            <a:off x="6391656" y="319125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3" name="Text 20"/>
          <p:cNvSpPr txBox="1"/>
          <p:nvPr/>
        </p:nvSpPr>
        <p:spPr>
          <a:xfrm>
            <a:off x="6967728" y="3172968"/>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Layers the framework cannot see</a:t>
            </a:r>
            <a:endParaRPr lang="en-US" sz="1900" dirty="0"/>
          </a:p>
        </p:txBody>
      </p:sp>
      <p:sp>
        <p:nvSpPr>
          <p:cNvPr id="24" name="Text 21"/>
          <p:cNvSpPr txBox="1"/>
          <p:nvPr/>
        </p:nvSpPr>
        <p:spPr>
          <a:xfrm>
            <a:off x="6967728" y="3648456"/>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Stored in a plain list, not registered: never updated.</a:t>
            </a:r>
            <a:endParaRPr lang="en-US" sz="1600" dirty="0"/>
          </a:p>
        </p:txBody>
      </p:sp>
      <p:sp>
        <p:nvSpPr>
          <p:cNvPr id="25" name="Shape 22"/>
          <p:cNvSpPr/>
          <p:nvPr/>
        </p:nvSpPr>
        <p:spPr>
          <a:xfrm>
            <a:off x="548640" y="4562856"/>
            <a:ext cx="5449824" cy="1417320"/>
          </a:xfrm>
          <a:prstGeom prst="roundRect">
            <a:avLst>
              <a:gd name="adj" fmla="val 5161"/>
            </a:avLst>
          </a:prstGeom>
          <a:solidFill>
            <a:srgbClr val="F3F5F8"/>
          </a:solidFill>
          <a:ln/>
        </p:spPr>
        <p:txBody>
          <a:bodyPr/>
          <a:p/>
        </p:txBody>
      </p:sp>
      <p:sp>
        <p:nvSpPr>
          <p:cNvPr id="26" name="Shape 23"/>
          <p:cNvSpPr/>
          <p:nvPr/>
        </p:nvSpPr>
        <p:spPr>
          <a:xfrm>
            <a:off x="749808" y="4764024"/>
            <a:ext cx="420624" cy="420624"/>
          </a:xfrm>
          <a:prstGeom prst="ellipse">
            <a:avLst/>
          </a:prstGeom>
          <a:solidFill>
            <a:srgbClr val="C8571B"/>
          </a:solidFill>
          <a:ln/>
        </p:spPr>
        <p:txBody>
          <a:bodyPr/>
          <a:p/>
        </p:txBody>
      </p:sp>
      <p:sp>
        <p:nvSpPr>
          <p:cNvPr id="27" name="Text 24"/>
          <p:cNvSpPr txBox="1"/>
          <p:nvPr/>
        </p:nvSpPr>
        <p:spPr>
          <a:xfrm>
            <a:off x="749808"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8" name="Text 25"/>
          <p:cNvSpPr txBox="1"/>
          <p:nvPr/>
        </p:nvSpPr>
        <p:spPr>
          <a:xfrm>
            <a:off x="1325880"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Optimizer built for another model</a:t>
            </a:r>
            <a:endParaRPr lang="en-US" sz="1900" dirty="0"/>
          </a:p>
        </p:txBody>
      </p:sp>
      <p:sp>
        <p:nvSpPr>
          <p:cNvPr id="29" name="Text 26"/>
          <p:cNvSpPr txBox="1"/>
          <p:nvPr/>
        </p:nvSpPr>
        <p:spPr>
          <a:xfrm>
            <a:off x="1325880"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Re-created model after the optimizer: loss never moves.</a:t>
            </a:r>
            <a:endParaRPr lang="en-US" sz="1600" dirty="0"/>
          </a:p>
        </p:txBody>
      </p:sp>
      <p:sp>
        <p:nvSpPr>
          <p:cNvPr id="30" name="Shape 27"/>
          <p:cNvSpPr/>
          <p:nvPr/>
        </p:nvSpPr>
        <p:spPr>
          <a:xfrm>
            <a:off x="6190488" y="4562856"/>
            <a:ext cx="5449824" cy="1417320"/>
          </a:xfrm>
          <a:prstGeom prst="roundRect">
            <a:avLst>
              <a:gd name="adj" fmla="val 5161"/>
            </a:avLst>
          </a:prstGeom>
          <a:solidFill>
            <a:srgbClr val="F3F5F8"/>
          </a:solidFill>
          <a:ln/>
        </p:spPr>
        <p:txBody>
          <a:bodyPr/>
          <a:p/>
        </p:txBody>
      </p:sp>
      <p:sp>
        <p:nvSpPr>
          <p:cNvPr id="31" name="Shape 28"/>
          <p:cNvSpPr/>
          <p:nvPr/>
        </p:nvSpPr>
        <p:spPr>
          <a:xfrm>
            <a:off x="6391656" y="4764024"/>
            <a:ext cx="420624" cy="420624"/>
          </a:xfrm>
          <a:prstGeom prst="ellipse">
            <a:avLst/>
          </a:prstGeom>
          <a:solidFill>
            <a:srgbClr val="C8571B"/>
          </a:solidFill>
          <a:ln/>
        </p:spPr>
        <p:txBody>
          <a:bodyPr/>
          <a:p/>
        </p:txBody>
      </p:sp>
      <p:sp>
        <p:nvSpPr>
          <p:cNvPr id="32" name="Text 29"/>
          <p:cNvSpPr txBox="1"/>
          <p:nvPr/>
        </p:nvSpPr>
        <p:spPr>
          <a:xfrm>
            <a:off x="6391656" y="47640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txBox="1"/>
          <p:nvPr/>
        </p:nvSpPr>
        <p:spPr>
          <a:xfrm>
            <a:off x="6967728" y="4745736"/>
            <a:ext cx="452628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Shape mismatch in a squared-error loss</a:t>
            </a:r>
            <a:endParaRPr lang="en-US" sz="1900" dirty="0"/>
          </a:p>
        </p:txBody>
      </p:sp>
      <p:sp>
        <p:nvSpPr>
          <p:cNvPr id="34" name="Text 31"/>
          <p:cNvSpPr txBox="1"/>
          <p:nvPr/>
        </p:nvSpPr>
        <p:spPr>
          <a:xfrm>
            <a:off x="6967728" y="5221224"/>
            <a:ext cx="4526280" cy="685800"/>
          </a:xfrm>
          <a:prstGeom prst="rect">
            <a:avLst/>
          </a:prstGeom>
          <a:noFill/>
          <a:ln/>
        </p:spPr>
        <p:txBody>
          <a:bodyPr wrap="square" lIns="0" tIns="0" rIns="0" bIns="0" rtlCol="0" anchor="t"/>
          <a:lstStyle/>
          <a:p>
            <a:pPr indent="0" marL="0">
              <a:buNone/>
            </a:pPr>
            <a:r>
              <a:rPr lang="en-US" sz="1600" dirty="0">
                <a:solidFill>
                  <a:srgbClr val="2B3A4F"/>
                </a:solidFill>
                <a:latin typeface="Calibri" pitchFamily="34" charset="0"/>
                <a:ea typeface="Calibri" pitchFamily="34" charset="-122"/>
                <a:cs typeface="Calibri" pitchFamily="34" charset="-120"/>
              </a:rPr>
              <a:t>(m, 1) vs (m,) broadcasts to (m, m); at most a warning.</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B6 · SCHEDULES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Update each learning-rate schedule at the right frequency</a:t>
            </a:r>
            <a:endParaRPr lang="en-US" sz="32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91840"/>
                <a:gridCol w="7799832"/>
              </a:tblGrid>
              <a:tr h="603504">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Schedule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Update the rate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2B3A4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One-cycle</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Linear warmup</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every batch; warmup counted in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Cosine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or per batch (period = epochs or steps)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Step decay</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(e.g. ×0.1 at epochs 30, 60, 90)</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7F8FA"/>
                    </a:solidFill>
                  </a:tcPr>
                </a:tc>
              </a:tr>
              <a:tr h="603504">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Reduce on plateau</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800" dirty="0">
                          <a:solidFill>
                            <a:srgbClr val="17202E"/>
                          </a:solidFill>
                          <a:latin typeface="Calibri" pitchFamily="34" charset="0"/>
                          <a:ea typeface="Calibri" pitchFamily="34" charset="-122"/>
                          <a:cs typeface="Calibri" pitchFamily="34" charset="-120"/>
                        </a:rPr>
                        <a:t>per epoch, fed the validation loss</a:t>
                      </a:r>
                      <a:endParaRPr lang="en-US" sz="1800" dirty="0">
                        <a:latin typeface="Calibri" charset="0"/>
                        <a:ea typeface="Calibri" charset="0"/>
                        <a:cs typeface="Calibri" charset="0"/>
                      </a:endParaRPr>
                    </a:p>
                  </a:txBody>
                  <a:tcPr marL="101600" marR="101600" marT="50800" marB="508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6" name="Shape 2"/>
          <p:cNvSpPr/>
          <p:nvPr/>
        </p:nvSpPr>
        <p:spPr>
          <a:xfrm>
            <a:off x="548640" y="5349240"/>
            <a:ext cx="11094415" cy="731520"/>
          </a:xfrm>
          <a:prstGeom prst="roundRect">
            <a:avLst>
              <a:gd name="adj" fmla="val 10000"/>
            </a:avLst>
          </a:prstGeom>
          <a:solidFill>
            <a:srgbClr val="FBEADF"/>
          </a:solidFill>
          <a:ln/>
        </p:spPr>
      </p:sp>
      <p:sp>
        <p:nvSpPr>
          <p:cNvPr id="7" name="Text 3"/>
          <p:cNvSpPr txBox="1"/>
          <p:nvPr/>
        </p:nvSpPr>
        <p:spPr>
          <a:xfrm>
            <a:off x="749808" y="5394960"/>
            <a:ext cx="10692079" cy="640080"/>
          </a:xfrm>
          <a:prstGeom prst="rect">
            <a:avLst/>
          </a:prstGeom>
          <a:noFill/>
          <a:ln/>
        </p:spPr>
        <p:txBody>
          <a:bodyPr wrap="square" lIns="0" tIns="0" rIns="0" bIns="0" rtlCol="0" anchor="ctr"/>
          <a:lstStyle/>
          <a:p>
            <a:pPr indent="0" marL="0">
              <a:buNone/>
            </a:pPr>
            <a:r>
              <a:rPr lang="en-US" sz="1900" b="1" dirty="0">
                <a:solidFill>
                  <a:srgbClr val="8F3A0E"/>
                </a:solidFill>
                <a:latin typeface="Calibri" pitchFamily="34" charset="0"/>
                <a:ea typeface="Calibri" pitchFamily="34" charset="-122"/>
                <a:cs typeface="Calibri" pitchFamily="34" charset="-120"/>
              </a:rPr>
              <a:t>Print the learning rate every epoch.</a:t>
            </a:r>
            <a:endParaRPr lang="en-US" sz="1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B7 · PUTTING IT TOGETHER</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complete training recipe (illustrative settings)</a:t>
            </a:r>
            <a:endParaRPr lang="en-US" sz="3200" dirty="0"/>
          </a:p>
        </p:txBody>
      </p:sp>
      <p:sp>
        <p:nvSpPr>
          <p:cNvPr id="5" name="Shape 2"/>
          <p:cNvSpPr/>
          <p:nvPr/>
        </p:nvSpPr>
        <p:spPr>
          <a:xfrm>
            <a:off x="548640" y="1417320"/>
            <a:ext cx="7772400" cy="4754880"/>
          </a:xfrm>
          <a:prstGeom prst="roundRect">
            <a:avLst>
              <a:gd name="adj" fmla="val 1154"/>
            </a:avLst>
          </a:prstGeom>
          <a:solidFill>
            <a:srgbClr val="1E2735"/>
          </a:solidFill>
          <a:ln/>
        </p:spPr>
        <p:txBody>
          <a:bodyPr/>
          <a:p/>
        </p:txBody>
      </p:sp>
      <p:sp>
        <p:nvSpPr>
          <p:cNvPr id="6" name="Text 3"/>
          <p:cNvSpPr txBox="1"/>
          <p:nvPr/>
        </p:nvSpPr>
        <p:spPr>
          <a:xfrm>
            <a:off x="749808" y="1563624"/>
            <a:ext cx="7452360" cy="4498848"/>
          </a:xfrm>
          <a:prstGeom prst="rect">
            <a:avLst/>
          </a:prstGeom>
          <a:noFill/>
          <a:ln/>
        </p:spPr>
        <p:txBody>
          <a:bodyPr wrap="square" lIns="0" tIns="0" rIns="0" bIns="0" rtlCol="0" anchor="t"/>
          <a:lstStyle/>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optimizer ← AdamW, η 3e-4, weight decay 0.05</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schedule  ← one cycle: warm up 10 %, cosine decay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loss_fn   ← cross-entropy, label smoothing 0.1</a:t>
            </a:r>
            <a:endParaRPr lang="en-US" sz="1400" dirty="0"/>
          </a:p>
          <a:p>
            <a:pPr indent="0" marL="0">
              <a:lnSpc>
                <a:spcPct val="105000"/>
              </a:lnSpc>
              <a:buNone/>
            </a:pP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epoch: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training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for</a:t>
            </a: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each</a:t>
            </a:r>
            <a:r>
              <a:rPr lang="en-US" sz="1400" dirty="0">
                <a:solidFill>
                  <a:srgbClr val="E6EAF0"/>
                </a:solidFill>
                <a:latin typeface="Consolas" pitchFamily="34" charset="0"/>
                <a:ea typeface="Consolas" pitchFamily="34" charset="-122"/>
                <a:cs typeface="Consolas" pitchFamily="34" charset="-120"/>
              </a:rPr>
              <a:t xml:space="preserve"> mini-batch (x,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clear gradients</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backward(loss_fn(model(x), y))</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clip gradient norm to 1.0</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update θ; advance schedule  </a:t>
            </a:r>
            <a:r>
              <a:rPr lang="en-US" sz="1400" dirty="0">
                <a:solidFill>
                  <a:srgbClr val="8D99AB"/>
                </a:solidFill>
                <a:latin typeface="Consolas" pitchFamily="34" charset="0"/>
                <a:ea typeface="Consolas" pitchFamily="34" charset="-122"/>
                <a:cs typeface="Consolas" pitchFamily="34" charset="-120"/>
              </a:rPr>
              <a:t xml:space="preserve"># every batch</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set evaluation mode</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val ← evaluate(model)        </a:t>
            </a:r>
            <a:r>
              <a:rPr lang="en-US" sz="1400" dirty="0">
                <a:solidFill>
                  <a:srgbClr val="8D99AB"/>
                </a:solidFill>
                <a:latin typeface="Consolas" pitchFamily="34" charset="0"/>
                <a:ea typeface="Consolas" pitchFamily="34" charset="-122"/>
                <a:cs typeface="Consolas" pitchFamily="34" charset="-120"/>
              </a:rPr>
              <a:t xml:space="preserve"># no gradient tracking</a:t>
            </a:r>
            <a:endParaRPr lang="en-US" sz="1400" dirty="0"/>
          </a:p>
          <a:p>
            <a:pPr indent="0" marL="0">
              <a:lnSpc>
                <a:spcPct val="105000"/>
              </a:lnSpc>
              <a:buNone/>
            </a:pPr>
            <a:r>
              <a:rPr lang="en-US" sz="1400" dirty="0">
                <a:solidFill>
                  <a:srgbClr val="E6EAF0"/>
                </a:solidFill>
                <a:latin typeface="Consolas" pitchFamily="34" charset="0"/>
                <a:ea typeface="Consolas" pitchFamily="34" charset="-122"/>
                <a:cs typeface="Consolas" pitchFamily="34" charset="-120"/>
              </a:rPr>
              <a:t xml:space="preserve">    </a:t>
            </a:r>
            <a:r>
              <a:rPr lang="en-US" sz="1400" dirty="0">
                <a:solidFill>
                  <a:srgbClr val="7FD1CF"/>
                </a:solidFill>
                <a:latin typeface="Consolas" pitchFamily="34" charset="0"/>
                <a:ea typeface="Consolas" pitchFamily="34" charset="-122"/>
                <a:cs typeface="Consolas" pitchFamily="34" charset="-120"/>
              </a:rPr>
              <a:t xml:space="preserve">if</a:t>
            </a:r>
            <a:r>
              <a:rPr lang="en-US" sz="1400" dirty="0">
                <a:solidFill>
                  <a:srgbClr val="E6EAF0"/>
                </a:solidFill>
                <a:latin typeface="Consolas" pitchFamily="34" charset="0"/>
                <a:ea typeface="Consolas" pitchFamily="34" charset="-122"/>
                <a:cs typeface="Consolas" pitchFamily="34" charset="-120"/>
              </a:rPr>
              <a:t xml:space="preserve"> val &lt; best: save checkpoint</a:t>
            </a:r>
            <a:endParaRPr lang="en-US" sz="1400" dirty="0"/>
          </a:p>
        </p:txBody>
      </p:sp>
      <p:graphicFrame>
        <p:nvGraphicFramePr>
          <p:cNvPr id="7" name="Chart 0" descr="Warmup + cosine (shape): warmup + cosine"/>
          <p:cNvGraphicFramePr/>
          <p:nvPr/>
        </p:nvGraphicFramePr>
        <p:xfrm>
          <a:off x="8321040" y="1325880"/>
          <a:ext cx="3383280" cy="246888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8321040" y="3657600"/>
            <a:ext cx="347472" cy="347472"/>
          </a:xfrm>
          <a:prstGeom prst="ellipse">
            <a:avLst/>
          </a:prstGeom>
          <a:solidFill>
            <a:srgbClr val="0F7C82"/>
          </a:solidFill>
          <a:ln/>
        </p:spPr>
        <p:txBody>
          <a:bodyPr/>
          <a:p/>
        </p:txBody>
      </p:sp>
      <p:sp>
        <p:nvSpPr>
          <p:cNvPr id="9" name="Text 5"/>
          <p:cNvSpPr txBox="1"/>
          <p:nvPr/>
        </p:nvSpPr>
        <p:spPr>
          <a:xfrm>
            <a:off x="8321040" y="365760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6"/>
          <p:cNvSpPr txBox="1"/>
          <p:nvPr/>
        </p:nvSpPr>
        <p:spPr>
          <a:xfrm>
            <a:off x="8869680" y="3639312"/>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Warm up, then decay</a:t>
            </a:r>
            <a:endParaRPr lang="en-US" sz="1700" dirty="0"/>
          </a:p>
        </p:txBody>
      </p:sp>
      <p:sp>
        <p:nvSpPr>
          <p:cNvPr id="11" name="Text 7"/>
          <p:cNvSpPr txBox="1"/>
          <p:nvPr/>
        </p:nvSpPr>
        <p:spPr>
          <a:xfrm>
            <a:off x="8869680" y="4005072"/>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Every batch; peak at 10 %.</a:t>
            </a:r>
            <a:endParaRPr lang="en-US" sz="1500" dirty="0"/>
          </a:p>
        </p:txBody>
      </p:sp>
      <p:sp>
        <p:nvSpPr>
          <p:cNvPr id="12" name="Shape 8"/>
          <p:cNvSpPr/>
          <p:nvPr/>
        </p:nvSpPr>
        <p:spPr>
          <a:xfrm>
            <a:off x="8321040" y="4498848"/>
            <a:ext cx="347472" cy="347472"/>
          </a:xfrm>
          <a:prstGeom prst="ellipse">
            <a:avLst/>
          </a:prstGeom>
          <a:solidFill>
            <a:srgbClr val="0F7C82"/>
          </a:solidFill>
          <a:ln/>
        </p:spPr>
      </p:sp>
      <p:sp>
        <p:nvSpPr>
          <p:cNvPr id="13" name="Text 9"/>
          <p:cNvSpPr txBox="1"/>
          <p:nvPr/>
        </p:nvSpPr>
        <p:spPr>
          <a:xfrm>
            <a:off x="8321040" y="44988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4" name="Text 10"/>
          <p:cNvSpPr txBox="1"/>
          <p:nvPr/>
        </p:nvSpPr>
        <p:spPr>
          <a:xfrm>
            <a:off x="8869680" y="4480560"/>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Clip after backward</a:t>
            </a:r>
            <a:endParaRPr lang="en-US" sz="1700" dirty="0"/>
          </a:p>
        </p:txBody>
      </p:sp>
      <p:sp>
        <p:nvSpPr>
          <p:cNvPr id="15" name="Text 11"/>
          <p:cNvSpPr txBox="1"/>
          <p:nvPr/>
        </p:nvSpPr>
        <p:spPr>
          <a:xfrm>
            <a:off x="8869680" y="4846320"/>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Caps rare gradient spikes.</a:t>
            </a:r>
            <a:endParaRPr lang="en-US" sz="1500" dirty="0"/>
          </a:p>
        </p:txBody>
      </p:sp>
      <p:sp>
        <p:nvSpPr>
          <p:cNvPr id="16" name="Shape 12"/>
          <p:cNvSpPr/>
          <p:nvPr/>
        </p:nvSpPr>
        <p:spPr>
          <a:xfrm>
            <a:off x="8321040" y="5340096"/>
            <a:ext cx="347472" cy="347472"/>
          </a:xfrm>
          <a:prstGeom prst="ellipse">
            <a:avLst/>
          </a:prstGeom>
          <a:solidFill>
            <a:srgbClr val="0F7C82"/>
          </a:solidFill>
          <a:ln/>
        </p:spPr>
      </p:sp>
      <p:sp>
        <p:nvSpPr>
          <p:cNvPr id="17" name="Text 13"/>
          <p:cNvSpPr txBox="1"/>
          <p:nvPr/>
        </p:nvSpPr>
        <p:spPr>
          <a:xfrm>
            <a:off x="8321040" y="534009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4"/>
          <p:cNvSpPr txBox="1"/>
          <p:nvPr/>
        </p:nvSpPr>
        <p:spPr>
          <a:xfrm>
            <a:off x="8869680" y="5321808"/>
            <a:ext cx="2770632" cy="365760"/>
          </a:xfrm>
          <a:prstGeom prst="rect">
            <a:avLst/>
          </a:prstGeom>
          <a:noFill/>
          <a:ln/>
        </p:spPr>
        <p:txBody>
          <a:bodyPr wrap="square" lIns="0" tIns="0" rIns="0" bIns="0" rtlCol="0" anchor="t"/>
          <a:lstStyle/>
          <a:p>
            <a:pPr indent="0" marL="0">
              <a:buNone/>
            </a:pPr>
            <a:r>
              <a:rPr lang="en-US" sz="1700" b="1" dirty="0">
                <a:solidFill>
                  <a:srgbClr val="17202E"/>
                </a:solidFill>
                <a:latin typeface="Calibri" pitchFamily="34" charset="0"/>
                <a:ea typeface="Calibri" pitchFamily="34" charset="-122"/>
                <a:cs typeface="Calibri" pitchFamily="34" charset="-120"/>
              </a:rPr>
              <a:t>Keep the best checkpoint</a:t>
            </a:r>
            <a:endParaRPr lang="en-US" sz="1700" dirty="0"/>
          </a:p>
        </p:txBody>
      </p:sp>
      <p:sp>
        <p:nvSpPr>
          <p:cNvPr id="19" name="Text 15"/>
          <p:cNvSpPr txBox="1"/>
          <p:nvPr/>
        </p:nvSpPr>
        <p:spPr>
          <a:xfrm>
            <a:off x="8869680" y="5687568"/>
            <a:ext cx="2770632" cy="47548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Chosen on validation.</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(1/2)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Textbooks and courses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Goodfellow, Bengio &amp; Courville (2016).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Prince, S. (2023). Understanding Deep Learning. MIT Press.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Lipton, Li &amp; Smola (2023). Dive into Deep Learning. Cambridge UP.</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Stanford CS231n course notes. Karpathy, A. (2019). A recipe for training neural networks.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Mazur, E. (1997). Peer Instruction. Prentice Hall.</a:t>
            </a:r>
            <a:endParaRPr lang="en-US" sz="1400" dirty="0"/>
          </a:p>
          <a:p>
            <a:pPr indent="0" marL="0">
              <a:spcBef>
                <a:spcPts val="800"/>
              </a:spcBef>
              <a:spcAft>
                <a:spcPts val="400"/>
              </a:spcAft>
              <a:buNone/>
            </a:pPr>
            <a:r>
              <a:rPr lang="en-US" sz="1500" b="1" dirty="0">
                <a:solidFill>
                  <a:srgbClr val="0F7C82"/>
                </a:solidFill>
                <a:latin typeface="Calibri" pitchFamily="34" charset="0"/>
                <a:ea typeface="Calibri" pitchFamily="34" charset="-122"/>
                <a:cs typeface="Calibri" pitchFamily="34" charset="-120"/>
              </a:rPr>
              <a:t>Data</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Xiao, Rasul &amp; Vollgraf (2017). Fashion-MNIST. arXiv:1708.07747.</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1</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McCulloch &amp; Pitts (1943); Rosenblatt (1958); Novikoff (1962); Minsky &amp; Papert (1969).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Cybenko (1989); Hornik (1991); Leshno et al. (1993); Lu et al. (2017).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Bordes &amp; Bengio (2011). Deep sparse rectifier networks.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Hendrycks &amp; Gimpel (2016). GELUs. Shazeer (2020). GLU variants.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Grinsztajn et al. (2022). NeurIPS. Hollmann et al. (2025). Nature 637.</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Krizhevsky, Sutskever &amp; Hinton (2012). ImageNet classification with deep CNNs. NeurIPS.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Prior Labs (2025). TabPFN-2.5. arXiv:2511.08667.</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REFERENCES</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References and further reading (2/2)</a:t>
            </a:r>
            <a:endParaRPr lang="en-US" sz="3200" dirty="0"/>
          </a:p>
        </p:txBody>
      </p:sp>
      <p:sp>
        <p:nvSpPr>
          <p:cNvPr id="5" name="Text 2"/>
          <p:cNvSpPr txBox="1"/>
          <p:nvPr/>
        </p:nvSpPr>
        <p:spPr>
          <a:xfrm>
            <a:off x="54864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2</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Linnainmaa (1970); Werbos (1974); Rumelhart, Hinton &amp; Williams (1986). Nature 323; and PDP Vol. 1, Ch. 8.</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Chen et al. (2016). Sublinear memory cost (checkpointing).</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Smith (2017). Cyclical learning rates. WACV. Dauphin et al. (2014). NeurIPS. Choromanska et al. (2015). AISTATS.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Montúfar et al. (2014). NeurIPS. Telgarsky (2016). COLT. Zeiler &amp; Fergus (2014). ECCV.</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Cohen et al. (2021). Gradient descent on neural networks typically occurs at the edge of stability. ICLR.</a:t>
            </a:r>
            <a:endParaRPr lang="en-US" sz="1400" dirty="0"/>
          </a:p>
        </p:txBody>
      </p:sp>
      <p:sp>
        <p:nvSpPr>
          <p:cNvPr id="6" name="Text 3"/>
          <p:cNvSpPr txBox="1"/>
          <p:nvPr/>
        </p:nvSpPr>
        <p:spPr>
          <a:xfrm>
            <a:off x="6217920" y="1417320"/>
            <a:ext cx="5440680" cy="4754880"/>
          </a:xfrm>
          <a:prstGeom prst="rect">
            <a:avLst/>
          </a:prstGeom>
          <a:noFill/>
          <a:ln/>
        </p:spPr>
        <p:txBody>
          <a:bodyPr wrap="square" lIns="0" tIns="0" rIns="0" bIns="0" rtlCol="0" anchor="t"/>
          <a:lstStyle/>
          <a:p>
            <a:pPr indent="0" marL="0">
              <a:spcAft>
                <a:spcPts val="400"/>
              </a:spcAft>
              <a:buNone/>
            </a:pPr>
            <a:r>
              <a:rPr lang="en-US" sz="1500" b="1" dirty="0">
                <a:solidFill>
                  <a:srgbClr val="0F7C82"/>
                </a:solidFill>
                <a:latin typeface="Calibri" pitchFamily="34" charset="0"/>
                <a:ea typeface="Calibri" pitchFamily="34" charset="-122"/>
                <a:cs typeface="Calibri" pitchFamily="34" charset="-120"/>
              </a:rPr>
              <a:t>Part 3</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Glorot &amp; Bengio (2010). AISTATS. He et al. (2015). ICCV. He et al. (2016). CVPR.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Kingma &amp; Ba (2015). Adam. Loshchilov &amp; Hutter (2017, 2019). SGDR; AdamW.</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Goyal et al. (2017). Large minibatch SGD. Ioffe &amp; Szegedy (2015). Batch norm.</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Santurkar et al. (2018). Ba et al. (2016). Wu &amp; He (2018). Zhang &amp; Sennrich (2019).</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Srivastava et al. (2014). Dropout. Belkin et al. (2019). PNAS.</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Nakkiran et al. (2020). ICLR. Nakkiran et al. (2021). Optimal regularization can mitigate double descent.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Zhang et al. (2018). mixup. Yun et al. (2019). CutMix. Cubuk et al. (2020). RandAugment.</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Liu et al. (2020). On the variance of the adaptive learning rate and beyond (RAdam). ICLR.</a:t>
            </a:r>
            <a:endParaRPr lang="en-US" sz="1400" dirty="0"/>
          </a:p>
          <a:p>
            <a:pPr indent="0" marL="0">
              <a:spcAft>
                <a:spcPts val="400"/>
              </a:spcAft>
              <a:buNone/>
            </a:pPr>
            <a:r>
              <a:rPr lang="en-US" sz="1400" dirty="0">
                <a:solidFill>
                  <a:srgbClr val="2B3A4F"/>
                </a:solidFill>
                <a:latin typeface="Calibri" pitchFamily="34" charset="0"/>
                <a:ea typeface="Calibri" pitchFamily="34" charset="-122"/>
                <a:cs typeface="Calibri" pitchFamily="34" charset="-120"/>
              </a:rPr>
              <a:t>He, Zhang, Ren &amp; Sun (2016b). Identity mappings in deep residual networks. ECCV.</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BACKPROPAGATION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Worked example: your turn, forward pass first</a:t>
            </a:r>
            <a:endParaRPr lang="en-US" sz="3200" dirty="0"/>
          </a:p>
        </p:txBody>
      </p:sp>
      <p:sp>
        <p:nvSpPr>
          <p:cNvPr id="5" name="Shape 2"/>
          <p:cNvSpPr/>
          <p:nvPr/>
        </p:nvSpPr>
        <p:spPr>
          <a:xfrm>
            <a:off x="822960" y="2011680"/>
            <a:ext cx="749808" cy="749808"/>
          </a:xfrm>
          <a:prstGeom prst="ellipse">
            <a:avLst/>
          </a:prstGeom>
          <a:solidFill>
            <a:srgbClr val="FFFFFF"/>
          </a:solidFill>
          <a:ln w="15875">
            <a:solidFill>
              <a:srgbClr val="8A94A3"/>
            </a:solidFill>
            <a:prstDash val="solid"/>
          </a:ln>
        </p:spPr>
      </p:sp>
      <p:sp>
        <p:nvSpPr>
          <p:cNvPr id="6" name="Text 3"/>
          <p:cNvSpPr txBox="1"/>
          <p:nvPr/>
        </p:nvSpPr>
        <p:spPr>
          <a:xfrm>
            <a:off x="82296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x</a:t>
            </a:r>
            <a:endParaRPr lang="en-US" sz="2100" dirty="0"/>
          </a:p>
        </p:txBody>
      </p:sp>
      <p:sp>
        <p:nvSpPr>
          <p:cNvPr id="7" name="Text 4"/>
          <p:cNvSpPr txBox="1"/>
          <p:nvPr/>
        </p:nvSpPr>
        <p:spPr>
          <a:xfrm>
            <a:off x="4114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2.0</a:t>
            </a:r>
            <a:endParaRPr lang="en-US" sz="1800" dirty="0"/>
          </a:p>
        </p:txBody>
      </p:sp>
      <p:sp>
        <p:nvSpPr>
          <p:cNvPr id="8" name="Shape 5"/>
          <p:cNvSpPr/>
          <p:nvPr/>
        </p:nvSpPr>
        <p:spPr>
          <a:xfrm>
            <a:off x="1591056" y="2295144"/>
            <a:ext cx="1225296" cy="91"/>
          </a:xfrm>
          <a:prstGeom prst="line">
            <a:avLst/>
          </a:prstGeom>
          <a:noFill/>
          <a:ln w="22225">
            <a:solidFill>
              <a:srgbClr val="0F7C82"/>
            </a:solidFill>
            <a:prstDash val="solid"/>
            <a:tailEnd type="triangle"/>
          </a:ln>
        </p:spPr>
      </p:sp>
      <p:sp>
        <p:nvSpPr>
          <p:cNvPr id="9" name="Text 6"/>
          <p:cNvSpPr txBox="1"/>
          <p:nvPr/>
        </p:nvSpPr>
        <p:spPr>
          <a:xfrm>
            <a:off x="157276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w₁, b₁</a:t>
            </a:r>
            <a:endParaRPr lang="en-US" sz="1400" dirty="0"/>
          </a:p>
        </p:txBody>
      </p:sp>
      <p:sp>
        <p:nvSpPr>
          <p:cNvPr id="10" name="Shape 7"/>
          <p:cNvSpPr/>
          <p:nvPr/>
        </p:nvSpPr>
        <p:spPr>
          <a:xfrm>
            <a:off x="2834640" y="2011680"/>
            <a:ext cx="749808" cy="749808"/>
          </a:xfrm>
          <a:prstGeom prst="ellipse">
            <a:avLst/>
          </a:prstGeom>
          <a:solidFill>
            <a:srgbClr val="FFFFFF"/>
          </a:solidFill>
          <a:ln w="15875">
            <a:solidFill>
              <a:srgbClr val="8A94A3"/>
            </a:solidFill>
            <a:prstDash val="solid"/>
          </a:ln>
        </p:spPr>
      </p:sp>
      <p:sp>
        <p:nvSpPr>
          <p:cNvPr id="11" name="Text 8"/>
          <p:cNvSpPr txBox="1"/>
          <p:nvPr/>
        </p:nvSpPr>
        <p:spPr>
          <a:xfrm>
            <a:off x="283464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2" name="Text 9"/>
          <p:cNvSpPr txBox="1"/>
          <p:nvPr/>
        </p:nvSpPr>
        <p:spPr>
          <a:xfrm>
            <a:off x="242316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3602736" y="2295144"/>
            <a:ext cx="1225296" cy="91"/>
          </a:xfrm>
          <a:prstGeom prst="line">
            <a:avLst/>
          </a:prstGeom>
          <a:noFill/>
          <a:ln w="22225">
            <a:solidFill>
              <a:srgbClr val="0F7C82"/>
            </a:solidFill>
            <a:prstDash val="solid"/>
            <a:tailEnd type="triangle"/>
          </a:ln>
        </p:spPr>
      </p:sp>
      <p:sp>
        <p:nvSpPr>
          <p:cNvPr id="14" name="Text 11"/>
          <p:cNvSpPr txBox="1"/>
          <p:nvPr/>
        </p:nvSpPr>
        <p:spPr>
          <a:xfrm>
            <a:off x="358444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15" name="Shape 12"/>
          <p:cNvSpPr/>
          <p:nvPr/>
        </p:nvSpPr>
        <p:spPr>
          <a:xfrm>
            <a:off x="4846320" y="2011680"/>
            <a:ext cx="749808" cy="749808"/>
          </a:xfrm>
          <a:prstGeom prst="ellipse">
            <a:avLst/>
          </a:prstGeom>
          <a:solidFill>
            <a:srgbClr val="FFFFFF"/>
          </a:solidFill>
          <a:ln w="15875">
            <a:solidFill>
              <a:srgbClr val="8A94A3"/>
            </a:solidFill>
            <a:prstDash val="solid"/>
          </a:ln>
        </p:spPr>
      </p:sp>
      <p:sp>
        <p:nvSpPr>
          <p:cNvPr id="16" name="Text 13"/>
          <p:cNvSpPr txBox="1"/>
          <p:nvPr/>
        </p:nvSpPr>
        <p:spPr>
          <a:xfrm>
            <a:off x="484632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1</a:t>
            </a:r>
            <a:endParaRPr lang="en-US" sz="2100" dirty="0"/>
          </a:p>
        </p:txBody>
      </p:sp>
      <p:sp>
        <p:nvSpPr>
          <p:cNvPr id="17" name="Text 14"/>
          <p:cNvSpPr txBox="1"/>
          <p:nvPr/>
        </p:nvSpPr>
        <p:spPr>
          <a:xfrm>
            <a:off x="443484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18" name="Shape 15"/>
          <p:cNvSpPr/>
          <p:nvPr/>
        </p:nvSpPr>
        <p:spPr>
          <a:xfrm>
            <a:off x="5614416" y="2295144"/>
            <a:ext cx="1225296" cy="91"/>
          </a:xfrm>
          <a:prstGeom prst="line">
            <a:avLst/>
          </a:prstGeom>
          <a:noFill/>
          <a:ln w="22225">
            <a:solidFill>
              <a:srgbClr val="0F7C82"/>
            </a:solidFill>
            <a:prstDash val="solid"/>
            <a:tailEnd type="triangle"/>
          </a:ln>
        </p:spPr>
      </p:sp>
      <p:sp>
        <p:nvSpPr>
          <p:cNvPr id="19" name="Text 16"/>
          <p:cNvSpPr txBox="1"/>
          <p:nvPr/>
        </p:nvSpPr>
        <p:spPr>
          <a:xfrm>
            <a:off x="559612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w₂, b₂</a:t>
            </a:r>
            <a:endParaRPr lang="en-US" sz="1400" dirty="0"/>
          </a:p>
        </p:txBody>
      </p:sp>
      <p:sp>
        <p:nvSpPr>
          <p:cNvPr id="20" name="Shape 17"/>
          <p:cNvSpPr/>
          <p:nvPr/>
        </p:nvSpPr>
        <p:spPr>
          <a:xfrm>
            <a:off x="6858000" y="2011680"/>
            <a:ext cx="749808" cy="749808"/>
          </a:xfrm>
          <a:prstGeom prst="ellipse">
            <a:avLst/>
          </a:prstGeom>
          <a:solidFill>
            <a:srgbClr val="FFFFFF"/>
          </a:solidFill>
          <a:ln w="15875">
            <a:solidFill>
              <a:srgbClr val="8A94A3"/>
            </a:solidFill>
            <a:prstDash val="solid"/>
          </a:ln>
        </p:spPr>
      </p:sp>
      <p:sp>
        <p:nvSpPr>
          <p:cNvPr id="21" name="Text 18"/>
          <p:cNvSpPr txBox="1"/>
          <p:nvPr/>
        </p:nvSpPr>
        <p:spPr>
          <a:xfrm>
            <a:off x="685800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z</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2" name="Text 19"/>
          <p:cNvSpPr txBox="1"/>
          <p:nvPr/>
        </p:nvSpPr>
        <p:spPr>
          <a:xfrm>
            <a:off x="644652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3" name="Shape 20"/>
          <p:cNvSpPr/>
          <p:nvPr/>
        </p:nvSpPr>
        <p:spPr>
          <a:xfrm>
            <a:off x="7626096" y="2295144"/>
            <a:ext cx="1225296" cy="91"/>
          </a:xfrm>
          <a:prstGeom prst="line">
            <a:avLst/>
          </a:prstGeom>
          <a:noFill/>
          <a:ln w="22225">
            <a:solidFill>
              <a:srgbClr val="0F7C82"/>
            </a:solidFill>
            <a:prstDash val="solid"/>
            <a:tailEnd type="triangle"/>
          </a:ln>
        </p:spPr>
      </p:sp>
      <p:sp>
        <p:nvSpPr>
          <p:cNvPr id="24" name="Text 21"/>
          <p:cNvSpPr txBox="1"/>
          <p:nvPr/>
        </p:nvSpPr>
        <p:spPr>
          <a:xfrm>
            <a:off x="760780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σ</a:t>
            </a:r>
            <a:endParaRPr lang="en-US" sz="1400" dirty="0"/>
          </a:p>
        </p:txBody>
      </p:sp>
      <p:sp>
        <p:nvSpPr>
          <p:cNvPr id="25" name="Shape 22"/>
          <p:cNvSpPr/>
          <p:nvPr/>
        </p:nvSpPr>
        <p:spPr>
          <a:xfrm>
            <a:off x="8869680" y="2011680"/>
            <a:ext cx="749808" cy="749808"/>
          </a:xfrm>
          <a:prstGeom prst="ellipse">
            <a:avLst/>
          </a:prstGeom>
          <a:solidFill>
            <a:srgbClr val="FFFFFF"/>
          </a:solidFill>
          <a:ln w="15875">
            <a:solidFill>
              <a:srgbClr val="8A94A3"/>
            </a:solidFill>
            <a:prstDash val="solid"/>
          </a:ln>
        </p:spPr>
      </p:sp>
      <p:sp>
        <p:nvSpPr>
          <p:cNvPr id="26" name="Text 23"/>
          <p:cNvSpPr txBox="1"/>
          <p:nvPr/>
        </p:nvSpPr>
        <p:spPr>
          <a:xfrm>
            <a:off x="8869680" y="2011680"/>
            <a:ext cx="749808" cy="749808"/>
          </a:xfrm>
          <a:prstGeom prst="rect">
            <a:avLst/>
          </a:prstGeom>
          <a:noFill/>
          <a:ln/>
        </p:spPr>
        <p:txBody>
          <a:bodyPr wrap="square" lIns="0" tIns="0" rIns="0" bIns="0" rtlCol="0" anchor="ctr"/>
          <a:lstStyle/>
          <a:p>
            <a:pPr algn="ctr" indent="0" marL="0">
              <a:buNone/>
            </a:pPr>
            <a:r>
              <a:rPr lang="en-US" sz="2100" i="1" dirty="0">
                <a:solidFill>
                  <a:srgbClr val="17202E"/>
                </a:solidFill>
                <a:latin typeface="Cambria" pitchFamily="34" charset="0"/>
                <a:ea typeface="Cambria" pitchFamily="34" charset="-122"/>
                <a:cs typeface="Cambria" pitchFamily="34" charset="-120"/>
              </a:rPr>
              <a:t>a</a:t>
            </a:r>
            <a:pPr algn="ctr" indent="0" marL="0">
              <a:buNone/>
            </a:pPr>
            <a:r>
              <a:rPr lang="en-US" sz="2100" i="1" baseline="-40000" dirty="0">
                <a:solidFill>
                  <a:srgbClr val="17202E"/>
                </a:solidFill>
                <a:latin typeface="Cambria" pitchFamily="34" charset="0"/>
                <a:ea typeface="Cambria" pitchFamily="34" charset="-122"/>
                <a:cs typeface="Cambria" pitchFamily="34" charset="-120"/>
              </a:rPr>
              <a:t>2</a:t>
            </a:r>
            <a:endParaRPr lang="en-US" sz="2100" dirty="0"/>
          </a:p>
        </p:txBody>
      </p:sp>
      <p:sp>
        <p:nvSpPr>
          <p:cNvPr id="27" name="Text 24"/>
          <p:cNvSpPr txBox="1"/>
          <p:nvPr/>
        </p:nvSpPr>
        <p:spPr>
          <a:xfrm>
            <a:off x="845820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28" name="Shape 25"/>
          <p:cNvSpPr/>
          <p:nvPr/>
        </p:nvSpPr>
        <p:spPr>
          <a:xfrm>
            <a:off x="9637776" y="2295144"/>
            <a:ext cx="1225296" cy="91"/>
          </a:xfrm>
          <a:prstGeom prst="line">
            <a:avLst/>
          </a:prstGeom>
          <a:noFill/>
          <a:ln w="22225">
            <a:solidFill>
              <a:srgbClr val="0F7C82"/>
            </a:solidFill>
            <a:prstDash val="solid"/>
            <a:tailEnd type="triangle"/>
          </a:ln>
        </p:spPr>
      </p:sp>
      <p:sp>
        <p:nvSpPr>
          <p:cNvPr id="29" name="Text 26"/>
          <p:cNvSpPr txBox="1"/>
          <p:nvPr/>
        </p:nvSpPr>
        <p:spPr>
          <a:xfrm>
            <a:off x="9619488" y="1719072"/>
            <a:ext cx="1261872" cy="274320"/>
          </a:xfrm>
          <a:prstGeom prst="rect">
            <a:avLst/>
          </a:prstGeom>
          <a:noFill/>
          <a:ln/>
        </p:spPr>
        <p:txBody>
          <a:bodyPr wrap="square" lIns="0" tIns="0" rIns="0" bIns="0" rtlCol="0" anchor="t"/>
          <a:lstStyle/>
          <a:p>
            <a:pPr algn="ctr" indent="0" marL="0">
              <a:buNone/>
            </a:pPr>
            <a:r>
              <a:rPr lang="en-US" sz="1400" dirty="0">
                <a:solidFill>
                  <a:srgbClr val="5B6675"/>
                </a:solidFill>
                <a:latin typeface="Calibri" pitchFamily="34" charset="0"/>
                <a:ea typeface="Calibri" pitchFamily="34" charset="-122"/>
                <a:cs typeface="Calibri" pitchFamily="34" charset="-120"/>
              </a:rPr>
              <a:t>½(a₂ − y)²</a:t>
            </a:r>
            <a:endParaRPr lang="en-US" sz="1400" dirty="0"/>
          </a:p>
        </p:txBody>
      </p:sp>
      <p:sp>
        <p:nvSpPr>
          <p:cNvPr id="30" name="Shape 27"/>
          <p:cNvSpPr/>
          <p:nvPr/>
        </p:nvSpPr>
        <p:spPr>
          <a:xfrm>
            <a:off x="10881360" y="2011680"/>
            <a:ext cx="749808" cy="749808"/>
          </a:xfrm>
          <a:prstGeom prst="ellipse">
            <a:avLst/>
          </a:prstGeom>
          <a:solidFill>
            <a:srgbClr val="17202E"/>
          </a:solidFill>
          <a:ln/>
        </p:spPr>
      </p:sp>
      <p:sp>
        <p:nvSpPr>
          <p:cNvPr id="31" name="Text 28"/>
          <p:cNvSpPr txBox="1"/>
          <p:nvPr/>
        </p:nvSpPr>
        <p:spPr>
          <a:xfrm>
            <a:off x="10881360" y="2011680"/>
            <a:ext cx="749808" cy="749808"/>
          </a:xfrm>
          <a:prstGeom prst="rect">
            <a:avLst/>
          </a:prstGeom>
          <a:noFill/>
          <a:ln/>
        </p:spPr>
        <p:txBody>
          <a:bodyPr wrap="square" lIns="0" tIns="0" rIns="0" bIns="0" rtlCol="0" anchor="ctr"/>
          <a:lstStyle/>
          <a:p>
            <a:pPr algn="ctr" indent="0" marL="0">
              <a:buNone/>
            </a:pPr>
            <a:r>
              <a:rPr lang="en-US" sz="2100" i="1" dirty="0">
                <a:solidFill>
                  <a:srgbClr val="FFFFFF"/>
                </a:solidFill>
                <a:latin typeface="Cambria" pitchFamily="34" charset="0"/>
                <a:ea typeface="Cambria" pitchFamily="34" charset="-122"/>
                <a:cs typeface="Cambria" pitchFamily="34" charset="-120"/>
              </a:rPr>
              <a:t>L</a:t>
            </a:r>
            <a:endParaRPr lang="en-US" sz="2100" dirty="0"/>
          </a:p>
        </p:txBody>
      </p:sp>
      <p:sp>
        <p:nvSpPr>
          <p:cNvPr id="32" name="Text 29"/>
          <p:cNvSpPr txBox="1"/>
          <p:nvPr/>
        </p:nvSpPr>
        <p:spPr>
          <a:xfrm>
            <a:off x="10469880" y="1508760"/>
            <a:ext cx="1572768" cy="365760"/>
          </a:xfrm>
          <a:prstGeom prst="rect">
            <a:avLst/>
          </a:prstGeom>
          <a:noFill/>
          <a:ln/>
        </p:spPr>
        <p:txBody>
          <a:bodyPr wrap="square" lIns="0" tIns="0" rIns="0" bIns="0" rtlCol="0" anchor="t"/>
          <a:lstStyle/>
          <a:p>
            <a:pPr algn="ctr" indent="0" marL="0">
              <a:buNone/>
            </a:pPr>
            <a:r>
              <a:rPr lang="en-US" sz="1800" b="1" dirty="0">
                <a:solidFill>
                  <a:srgbClr val="0F7C82"/>
                </a:solidFill>
                <a:latin typeface="Calibri" pitchFamily="34" charset="0"/>
                <a:ea typeface="Calibri" pitchFamily="34" charset="-122"/>
                <a:cs typeface="Calibri" pitchFamily="34" charset="-120"/>
              </a:rPr>
              <a:t>?</a:t>
            </a:r>
            <a:endParaRPr lang="en-US" sz="1800" dirty="0"/>
          </a:p>
        </p:txBody>
      </p:sp>
      <p:sp>
        <p:nvSpPr>
          <p:cNvPr id="33" name="Shape 30"/>
          <p:cNvSpPr/>
          <p:nvPr/>
        </p:nvSpPr>
        <p:spPr>
          <a:xfrm>
            <a:off x="548640" y="3200400"/>
            <a:ext cx="6309360" cy="2926080"/>
          </a:xfrm>
          <a:prstGeom prst="roundRect">
            <a:avLst>
              <a:gd name="adj" fmla="val 2500"/>
            </a:avLst>
          </a:prstGeom>
          <a:solidFill>
            <a:srgbClr val="E2F1F1"/>
          </a:solidFill>
          <a:ln/>
        </p:spPr>
      </p:sp>
      <p:sp>
        <p:nvSpPr>
          <p:cNvPr id="34" name="Text 31"/>
          <p:cNvSpPr txBox="1"/>
          <p:nvPr/>
        </p:nvSpPr>
        <p:spPr>
          <a:xfrm>
            <a:off x="749808" y="3337560"/>
            <a:ext cx="548640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YOUR TURN · 3 MINUTES</a:t>
            </a:r>
            <a:endParaRPr lang="en-US" sz="1300" dirty="0"/>
          </a:p>
        </p:txBody>
      </p:sp>
      <p:sp>
        <p:nvSpPr>
          <p:cNvPr id="36" name="Shape 32"/>
          <p:cNvSpPr/>
          <p:nvPr/>
        </p:nvSpPr>
        <p:spPr>
          <a:xfrm>
            <a:off x="7040880" y="3200400"/>
            <a:ext cx="4599432" cy="1463040"/>
          </a:xfrm>
          <a:prstGeom prst="roundRect">
            <a:avLst>
              <a:gd name="adj" fmla="val 5000"/>
            </a:avLst>
          </a:prstGeom>
          <a:solidFill>
            <a:srgbClr val="F3F5F8"/>
          </a:solidFill>
          <a:ln/>
        </p:spPr>
      </p:sp>
      <p:sp>
        <p:nvSpPr>
          <p:cNvPr id="37" name="Text 33"/>
          <p:cNvSpPr txBox="1"/>
          <p:nvPr/>
        </p:nvSpPr>
        <p:spPr>
          <a:xfrm>
            <a:off x="7242048" y="3364992"/>
            <a:ext cx="4197096"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SETUP</a:t>
            </a:r>
            <a:endParaRPr lang="en-US" sz="1300" dirty="0"/>
          </a:p>
        </p:txBody>
      </p:sp>
      <p:sp>
        <p:nvSpPr>
          <p:cNvPr id="38" name="Text 34"/>
          <p:cNvSpPr txBox="1"/>
          <p:nvPr/>
        </p:nvSpPr>
        <p:spPr>
          <a:xfrm>
            <a:off x="7242048" y="3730752"/>
            <a:ext cx="4197096" cy="8229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w₁ = 0.5, b₁ = 0.1, w₂ = 0.8, b₂ = −0.3</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x = 2.0, y = 1.0, L = ½(a₂ − y)²</a:t>
            </a:r>
            <a:endParaRPr lang="en-US" sz="1700" dirty="0"/>
          </a:p>
        </p:txBody>
      </p:sp>
      <p:sp>
        <p:nvSpPr>
          <p:cNvPr id="39" name="Shape 35"/>
          <p:cNvSpPr/>
          <p:nvPr/>
        </p:nvSpPr>
        <p:spPr>
          <a:xfrm>
            <a:off x="7040880" y="4846320"/>
            <a:ext cx="4599432" cy="1280160"/>
          </a:xfrm>
          <a:prstGeom prst="roundRect">
            <a:avLst>
              <a:gd name="adj" fmla="val 5714"/>
            </a:avLst>
          </a:prstGeom>
          <a:solidFill>
            <a:srgbClr val="17202E"/>
          </a:solidFill>
          <a:ln/>
        </p:spPr>
      </p:sp>
      <p:sp>
        <p:nvSpPr>
          <p:cNvPr id="40" name="Text 36"/>
          <p:cNvSpPr txBox="1"/>
          <p:nvPr/>
        </p:nvSpPr>
        <p:spPr>
          <a:xfrm>
            <a:off x="7242048" y="4892040"/>
            <a:ext cx="4197096" cy="11887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Compute z₁, a₁, z₂, a₂ and L to four decimals. Tip: e^(−1.1) ≈ 0.3329.</a:t>
            </a:r>
            <a:endParaRPr lang="en-US" sz="1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30</a:t>
            </a:fld>
            <a:endParaRPr lang="en-US"/>
          </a:p>
        </p:txBody>
      </p:sp>
      <p:sp>
        <p:nvSpPr>
          <p:cNvPr id="99" name="Steps"/>
          <p:cNvSpPr txBox="1"/>
          <p:nvPr/>
        </p:nvSpPr>
        <p:spPr>
          <a:xfrm>
            <a:off x="822960" y="3749039"/>
            <a:ext cx="5760720" cy="2194560"/>
          </a:xfrm>
          <a:prstGeom prst="rect">
            <a:avLst/>
          </a:prstGeom>
          <a:noFill/>
          <a:ln/>
        </p:spPr>
        <p:txBody>
          <a:bodyPr wrap="square" lIns="0" tIns="0" rIns="0" bIns="0" rtlCol="0" anchor="t"/>
          <a:lstStyle/>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1.  z₁ = w₁x + b₁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2.  a₁ = σ(z₁) = 1 / (1 + e^(−z₁))</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3.  z₂ = w₂a₁ + b₂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4.  a₂ = σ(z₂)</a:t>
            </a:r>
            <a:endParaRPr lang="en-US" sz="1700" dirty="0"/>
          </a:p>
          <a:p>
            <a:pPr indent="0" marL="0">
              <a:spcAft>
                <a:spcPts val="600"/>
              </a:spcAft>
              <a:buNone/>
            </a:pPr>
            <a:r>
              <a:rPr lang="en-US" sz="1700" dirty="0">
                <a:solidFill>
                  <a:srgbClr val="17202E"/>
                </a:solidFill>
                <a:latin typeface="Calibri" pitchFamily="34" charset="0"/>
                <a:ea typeface="Calibri" pitchFamily="34" charset="-122"/>
                <a:cs typeface="Calibri" pitchFamily="34" charset="-120"/>
              </a:rPr>
              <a:t>5.  L = ½(a₂ − y)²</a:t>
            </a:r>
            <a:endParaRPr lang="en-US" sz="1700" dirty="0"/>
          </a:p>
        </p:txBody>
      </p:sp>
      <p:sp>
        <p:nvSpPr>
          <p:cNvPr id="100"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check your forward pass</a:t>
            </a:r>
            <a:endParaRPr lang="en-US" sz="11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2 · GRADIENT DESCENT</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A network’s loss is not one bowl</a:t>
            </a:r>
            <a:endParaRPr lang="en-US" sz="3200" dirty="0"/>
          </a:p>
        </p:txBody>
      </p:sp>
      <p:pic>
        <p:nvPicPr>
          <p:cNvPr id="5" name="Image 0" descr="A smooth target curve approximated by ReLU networks with 3, 6 and 24 hidden units; the maximum error falls from 0.65 to 0.01.">    </p:cNvPr>
          <p:cNvPicPr>
            <a:picLocks noChangeAspect="1"/>
          </p:cNvPicPr>
          <p:nvPr/>
        </p:nvPicPr>
        <p:blipFill>
          <a:blip r:embed="rId1"/>
          <a:stretch>
            <a:fillRect/>
          </a:stretch>
        </p:blipFill>
        <p:spPr>
          <a:xfrm>
            <a:off x="2030646" y="1371600"/>
            <a:ext cx="8130403" cy="2514599"/>
          </a:xfrm>
          <a:prstGeom prst="rect">
            <a:avLst/>
          </a:prstGeom>
        </p:spPr>
      </p:pic>
      <p:sp>
        <p:nvSpPr>
          <p:cNvPr id="6" name="Text 2"/>
          <p:cNvSpPr txBox="1"/>
          <p:nvPr/>
        </p:nvSpPr>
        <p:spPr>
          <a:xfrm>
            <a:off x="548640" y="3931920"/>
            <a:ext cx="11094415" cy="320040"/>
          </a:xfrm>
          <a:prstGeom prst="rect">
            <a:avLst/>
          </a:prstGeom>
          <a:noFill/>
          <a:ln/>
        </p:spPr>
        <p:txBody>
          <a:bodyPr wrap="square" lIns="0" tIns="0" rIns="0" bIns="0" rtlCol="0" anchor="t"/>
          <a:lstStyle/>
          <a:p>
            <a:pPr indent="0" marL="0">
              <a:buNone/>
            </a:pPr>
            <a:r>
              <a:rPr lang="en-US" sz="1500" i="1" dirty="0">
                <a:solidFill>
                  <a:srgbClr val="5B6675"/>
                </a:solidFill>
                <a:latin typeface="Calibri" pitchFamily="34" charset="0"/>
                <a:ea typeface="Calibri" pitchFamily="34" charset="-122"/>
                <a:cs typeface="Calibri" pitchFamily="34" charset="-120"/>
              </a:rPr>
              <a:t>Left: gradient descent from three starts ends in three different valleys.   Right: near a saddle point the loss stalls, then drops.</a:t>
            </a:r>
            <a:endParaRPr lang="en-US" sz="1500" dirty="0"/>
          </a:p>
        </p:txBody>
      </p:sp>
      <p:sp>
        <p:nvSpPr>
          <p:cNvPr id="7" name="Shape 3"/>
          <p:cNvSpPr/>
          <p:nvPr/>
        </p:nvSpPr>
        <p:spPr>
          <a:xfrm>
            <a:off x="548640" y="4343400"/>
            <a:ext cx="4937760" cy="1783080"/>
          </a:xfrm>
          <a:prstGeom prst="roundRect">
            <a:avLst>
              <a:gd name="adj" fmla="val 4103"/>
            </a:avLst>
          </a:prstGeom>
          <a:solidFill>
            <a:srgbClr val="E2F1F1"/>
          </a:solidFill>
          <a:ln/>
        </p:spPr>
        <p:txBody>
          <a:bodyPr/>
          <a:p/>
        </p:txBody>
      </p:sp>
      <p:sp>
        <p:nvSpPr>
          <p:cNvPr id="8" name="Text 4"/>
          <p:cNvSpPr txBox="1"/>
          <p:nvPr/>
        </p:nvSpPr>
        <p:spPr>
          <a:xfrm>
            <a:off x="749808" y="4462272"/>
            <a:ext cx="4663440" cy="274320"/>
          </a:xfrm>
          <a:prstGeom prst="rect">
            <a:avLst/>
          </a:prstGeom>
          <a:noFill/>
          <a:ln/>
        </p:spPr>
        <p:txBody>
          <a:bodyPr wrap="square" lIns="0" tIns="0" rIns="0" bIns="0" rtlCol="0" anchor="t"/>
          <a:lstStyle/>
          <a:p>
            <a:pPr indent="0" marL="0">
              <a:buNone/>
            </a:pPr>
            <a:r>
              <a:rPr lang="en-US" sz="1300" b="1" spc="150" kern="0" dirty="0">
                <a:solidFill>
                  <a:srgbClr val="0F7C82"/>
                </a:solidFill>
                <a:latin typeface="Calibri" pitchFamily="34" charset="0"/>
                <a:ea typeface="Calibri" pitchFamily="34" charset="-122"/>
                <a:cs typeface="Calibri" pitchFamily="34" charset="-120"/>
              </a:rPr>
              <a:t>WHY GRADIENT DESCENT STILL WORKS</a:t>
            </a:r>
            <a:endParaRPr lang="en-US" sz="1300" dirty="0"/>
          </a:p>
        </p:txBody>
      </p:sp>
      <p:sp>
        <p:nvSpPr>
          <p:cNvPr id="9" name="Text 5"/>
          <p:cNvSpPr txBox="1"/>
          <p:nvPr/>
        </p:nvSpPr>
        <p:spPr>
          <a:xfrm>
            <a:off x="749808" y="4800600"/>
            <a:ext cx="4572000" cy="1234440"/>
          </a:xfrm>
          <a:prstGeom prst="rect">
            <a:avLst/>
          </a:prstGeom>
          <a:noFill/>
          <a:ln/>
        </p:spPr>
        <p:txBody>
          <a:bodyPr wrap="square" lIns="0" tIns="0" rIns="0" bIns="0" rtlCol="0" anchor="t"/>
          <a:lstStyle/>
          <a:p>
            <a:pPr indent="0" marL="0">
              <a:buNone/>
            </a:pPr>
            <a:r>
              <a:rPr lang="en-US" sz="1500" dirty="0">
                <a:solidFill>
                  <a:srgbClr val="17202E"/>
                </a:solidFill>
                <a:latin typeface="Calibri" pitchFamily="34" charset="0"/>
                <a:ea typeface="Calibri" pitchFamily="34" charset="-122"/>
                <a:cs typeface="Calibri" pitchFamily="34" charset="-120"/>
              </a:rPr>
              <a:t>Logistic regression has one bowl. A network has many valleys and flat regions, yet in large networks most valleys that gradient descent reaches are about equally good.</a:t>
            </a:r>
            <a:endParaRPr lang="en-US" sz="1600" dirty="0"/>
          </a:p>
        </p:txBody>
      </p:sp>
      <p:sp>
        <p:nvSpPr>
          <p:cNvPr id="11" name="Shape 6"/>
          <p:cNvSpPr/>
          <p:nvPr/>
        </p:nvSpPr>
        <p:spPr>
          <a:xfrm>
            <a:off x="5715000" y="4343400"/>
            <a:ext cx="2862072" cy="841248"/>
          </a:xfrm>
          <a:prstGeom prst="roundRect">
            <a:avLst>
              <a:gd name="adj" fmla="val 8696"/>
            </a:avLst>
          </a:prstGeom>
          <a:solidFill>
            <a:srgbClr val="FBEADF"/>
          </a:solidFill>
          <a:ln/>
        </p:spPr>
        <p:txBody>
          <a:bodyPr/>
          <a:p/>
        </p:txBody>
      </p:sp>
      <p:sp>
        <p:nvSpPr>
          <p:cNvPr id="12" name="Text 7"/>
          <p:cNvSpPr txBox="1"/>
          <p:nvPr/>
        </p:nvSpPr>
        <p:spPr>
          <a:xfrm>
            <a:off x="5879592"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Many valleys</a:t>
            </a:r>
            <a:endParaRPr lang="en-US" sz="1700" dirty="0"/>
          </a:p>
        </p:txBody>
      </p:sp>
      <p:sp>
        <p:nvSpPr>
          <p:cNvPr id="13" name="Text 8"/>
          <p:cNvSpPr txBox="1"/>
          <p:nvPr/>
        </p:nvSpPr>
        <p:spPr>
          <a:xfrm>
            <a:off x="5879592"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Different starts, different weights.</a:t>
            </a:r>
            <a:endParaRPr lang="en-US" sz="1500" dirty="0"/>
          </a:p>
        </p:txBody>
      </p:sp>
      <p:sp>
        <p:nvSpPr>
          <p:cNvPr id="14" name="Shape 9"/>
          <p:cNvSpPr/>
          <p:nvPr/>
        </p:nvSpPr>
        <p:spPr>
          <a:xfrm>
            <a:off x="8705088" y="4343400"/>
            <a:ext cx="2862072" cy="841248"/>
          </a:xfrm>
          <a:prstGeom prst="roundRect">
            <a:avLst>
              <a:gd name="adj" fmla="val 8696"/>
            </a:avLst>
          </a:prstGeom>
          <a:solidFill>
            <a:srgbClr val="FBEADF"/>
          </a:solidFill>
          <a:ln/>
        </p:spPr>
        <p:txBody>
          <a:bodyPr/>
          <a:p/>
        </p:txBody>
      </p:sp>
      <p:sp>
        <p:nvSpPr>
          <p:cNvPr id="15" name="Text 10"/>
          <p:cNvSpPr txBox="1"/>
          <p:nvPr/>
        </p:nvSpPr>
        <p:spPr>
          <a:xfrm>
            <a:off x="8869680" y="43982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Flat regions</a:t>
            </a:r>
            <a:endParaRPr lang="en-US" sz="1700" dirty="0"/>
          </a:p>
        </p:txBody>
      </p:sp>
      <p:sp>
        <p:nvSpPr>
          <p:cNvPr id="16" name="Text 11"/>
          <p:cNvSpPr txBox="1"/>
          <p:nvPr/>
        </p:nvSpPr>
        <p:spPr>
          <a:xfrm>
            <a:off x="8869680" y="47640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Tiny gradients, slow progress.</a:t>
            </a:r>
            <a:endParaRPr lang="en-US" sz="1500" dirty="0"/>
          </a:p>
        </p:txBody>
      </p:sp>
      <p:sp>
        <p:nvSpPr>
          <p:cNvPr id="17" name="Shape 12"/>
          <p:cNvSpPr/>
          <p:nvPr/>
        </p:nvSpPr>
        <p:spPr>
          <a:xfrm>
            <a:off x="5715000" y="5257800"/>
            <a:ext cx="2862072" cy="841248"/>
          </a:xfrm>
          <a:prstGeom prst="roundRect">
            <a:avLst>
              <a:gd name="adj" fmla="val 8696"/>
            </a:avLst>
          </a:prstGeom>
          <a:solidFill>
            <a:srgbClr val="FBEADF"/>
          </a:solidFill>
          <a:ln/>
        </p:spPr>
      </p:sp>
      <p:sp>
        <p:nvSpPr>
          <p:cNvPr id="18" name="Text 13"/>
          <p:cNvSpPr txBox="1"/>
          <p:nvPr/>
        </p:nvSpPr>
        <p:spPr>
          <a:xfrm>
            <a:off x="5879592"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The seed matters</a:t>
            </a:r>
            <a:endParaRPr lang="en-US" sz="1700" dirty="0"/>
          </a:p>
        </p:txBody>
      </p:sp>
      <p:sp>
        <p:nvSpPr>
          <p:cNvPr id="19" name="Text 14"/>
          <p:cNvSpPr txBox="1"/>
          <p:nvPr/>
        </p:nvSpPr>
        <p:spPr>
          <a:xfrm>
            <a:off x="5879592"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It sets the start and batch order.</a:t>
            </a:r>
            <a:endParaRPr lang="en-US" sz="1500" dirty="0"/>
          </a:p>
        </p:txBody>
      </p:sp>
      <p:sp>
        <p:nvSpPr>
          <p:cNvPr id="20" name="Shape 15"/>
          <p:cNvSpPr/>
          <p:nvPr/>
        </p:nvSpPr>
        <p:spPr>
          <a:xfrm>
            <a:off x="8705088" y="5257800"/>
            <a:ext cx="2862072" cy="841248"/>
          </a:xfrm>
          <a:prstGeom prst="roundRect">
            <a:avLst>
              <a:gd name="adj" fmla="val 8696"/>
            </a:avLst>
          </a:prstGeom>
          <a:solidFill>
            <a:srgbClr val="FBEADF"/>
          </a:solidFill>
          <a:ln/>
        </p:spPr>
      </p:sp>
      <p:sp>
        <p:nvSpPr>
          <p:cNvPr id="21" name="Text 16"/>
          <p:cNvSpPr txBox="1"/>
          <p:nvPr/>
        </p:nvSpPr>
        <p:spPr>
          <a:xfrm>
            <a:off x="8869680" y="5312664"/>
            <a:ext cx="2606040" cy="347472"/>
          </a:xfrm>
          <a:prstGeom prst="rect">
            <a:avLst/>
          </a:prstGeom>
          <a:noFill/>
          <a:ln/>
        </p:spPr>
        <p:txBody>
          <a:bodyPr wrap="square" lIns="0" tIns="0" rIns="0" bIns="0" rtlCol="0" anchor="t"/>
          <a:lstStyle/>
          <a:p>
            <a:pPr indent="0" marL="0">
              <a:buNone/>
            </a:pPr>
            <a:r>
              <a:rPr lang="en-US" sz="1700" b="1" dirty="0">
                <a:solidFill>
                  <a:srgbClr val="8F3A0E"/>
                </a:solidFill>
                <a:latin typeface="Calibri" pitchFamily="34" charset="0"/>
                <a:ea typeface="Calibri" pitchFamily="34" charset="-122"/>
                <a:cs typeface="Calibri" pitchFamily="34" charset="-120"/>
              </a:rPr>
              <a:t>Run several seeds</a:t>
            </a:r>
            <a:endParaRPr lang="en-US" sz="1700" dirty="0"/>
          </a:p>
        </p:txBody>
      </p:sp>
      <p:sp>
        <p:nvSpPr>
          <p:cNvPr id="22" name="Text 17"/>
          <p:cNvSpPr txBox="1"/>
          <p:nvPr/>
        </p:nvSpPr>
        <p:spPr>
          <a:xfrm>
            <a:off x="8869680" y="5678424"/>
            <a:ext cx="2606040" cy="384048"/>
          </a:xfrm>
          <a:prstGeom prst="rect">
            <a:avLst/>
          </a:prstGeom>
          <a:noFill/>
          <a:ln/>
        </p:spPr>
        <p:txBody>
          <a:bodyPr wrap="square" lIns="0" tIns="0" rIns="0" bIns="0" rtlCol="0" anchor="t"/>
          <a:lstStyle/>
          <a:p>
            <a:pPr indent="0" marL="0">
              <a:buNone/>
            </a:pPr>
            <a:r>
              <a:rPr lang="en-US" sz="1500" dirty="0">
                <a:solidFill>
                  <a:srgbClr val="2B3A4F"/>
                </a:solidFill>
                <a:latin typeface="Calibri" pitchFamily="34" charset="0"/>
                <a:ea typeface="Calibri" pitchFamily="34" charset="-122"/>
                <a:cs typeface="Calibri" pitchFamily="34" charset="-120"/>
              </a:rPr>
              <a:t>One run can mislead.</a:t>
            </a:r>
            <a:endParaRPr lang="en-US" sz="15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16</a:t>
            </a:fld>
            <a:endParaRPr lang="en-US"/>
          </a:p>
        </p:txBody>
      </p:sp>
      <p:sp>
        <p:nvSpPr>
          <p:cNvPr id="26" name="Provenance tag"/>
          <p:cNvSpPr txBox="1"/>
          <p:nvPr/>
        </p:nvSpPr>
        <p:spPr>
          <a:xfrm>
            <a:off x="5669280" y="347472"/>
            <a:ext cx="5971032" cy="274320"/>
          </a:xfrm>
          <a:prstGeom prst="rect">
            <a:avLst/>
          </a:prstGeom>
          <a:noFill/>
        </p:spPr>
        <p:txBody>
          <a:bodyPr wrap="square" lIns="0" rIns="0" tIns="0" bIns="0" anchor="t">
            <a:spAutoFit/>
          </a:bodyPr>
          <a:lstStyle/>
          <a:p>
            <a:pPr algn="r"/>
            <a:r>
              <a:rPr sz="1000" spc="100">
                <a:solidFill>
                  <a:srgbClr val="8A94A3"/>
                </a:solidFill>
                <a:latin typeface="Calibri"/>
              </a:rPr>
              <a:t>COMPUTED · new_figures.py</a:t>
            </a:r>
          </a:p>
        </p:txBody>
      </p:sp>
      <p:sp>
        <p:nvSpPr>
          <p:cNvPr id="27"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a step on all 55,000 images is slow: use mini-batches</a:t>
            </a:r>
            <a:endParaRPr lang="en-US" sz="11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47472"/>
            <a:ext cx="11094415" cy="274320"/>
          </a:xfrm>
          <a:prstGeom prst="rect">
            <a:avLst/>
          </a:prstGeom>
          <a:noFill/>
          <a:ln/>
        </p:spPr>
        <p:txBody>
          <a:bodyPr wrap="square" lIns="0" tIns="0" rIns="0" bIns="0" rtlCol="0"/>
          <a:lstStyle/>
          <a:p>
            <a:pPr indent="0" marL="0">
              <a:buNone/>
            </a:pPr>
            <a:r>
              <a:rPr lang="en-US" sz="1200" b="1" spc="200" kern="0" dirty="0">
                <a:solidFill>
                  <a:srgbClr val="0F7C82"/>
                </a:solidFill>
                <a:latin typeface="Calibri" pitchFamily="34" charset="0"/>
                <a:ea typeface="Calibri" pitchFamily="34" charset="-122"/>
                <a:cs typeface="Calibri" pitchFamily="34" charset="-120"/>
              </a:rPr>
              <a:t>PART 3 · REGULARIZATION</a:t>
            </a:r>
            <a:endParaRPr lang="en-US" sz="1200" dirty="0"/>
          </a:p>
        </p:txBody>
      </p:sp>
      <p:sp>
        <p:nvSpPr>
          <p:cNvPr id="3" name="Text 0"/>
          <p:cNvSpPr/>
          <p:nvPr>
            <p:ph idx="101" type="title" hasCustomPrompt="1"/>
          </p:nvPr>
        </p:nvSpPr>
        <p:spPr>
          <a:xfrm>
            <a:off x="548640" y="621792"/>
            <a:ext cx="11094415" cy="640080"/>
          </a:xfrm>
          <a:prstGeom prst="rect">
            <a:avLst/>
          </a:prstGeom>
          <a:noFill/>
          <a:ln/>
        </p:spPr>
        <p:txBody>
          <a:bodyPr wrap="square" lIns="0" tIns="0" rIns="0" bIns="0" rtlCol="0" anchor="t"/>
          <a:lstStyle/>
          <a:p>
            <a:pPr algn="l" indent="0" marL="0">
              <a:buNone/>
            </a:pPr>
            <a:r>
              <a:rPr lang="en-US" sz="3200" b="1" dirty="0">
                <a:solidFill>
                  <a:srgbClr val="17202E"/>
                </a:solidFill>
                <a:latin typeface="Cambria" pitchFamily="34" charset="0"/>
                <a:ea typeface="Cambria" pitchFamily="34" charset="-122"/>
                <a:cs typeface="Cambria" pitchFamily="34" charset="-120"/>
              </a:rPr>
              <a:t>Transfer learning and early stopping: two cheap remedies</a:t>
            </a:r>
            <a:endParaRPr lang="en-US" sz="3200" dirty="0"/>
          </a:p>
        </p:txBody>
      </p:sp>
      <p:sp>
        <p:nvSpPr>
          <p:cNvPr id="5" name="Shape 2"/>
          <p:cNvSpPr/>
          <p:nvPr/>
        </p:nvSpPr>
        <p:spPr>
          <a:xfrm>
            <a:off x="548640" y="1920240"/>
            <a:ext cx="731520" cy="731520"/>
          </a:xfrm>
          <a:prstGeom prst="roundRect">
            <a:avLst>
              <a:gd name="adj" fmla="val 12500"/>
            </a:avLst>
          </a:prstGeom>
          <a:solidFill>
            <a:srgbClr val="F3F5F8"/>
          </a:solidFill>
          <a:ln w="15875">
            <a:solidFill>
              <a:srgbClr val="8A94A3"/>
            </a:solidFill>
            <a:prstDash val="solid"/>
          </a:ln>
        </p:spPr>
      </p:sp>
      <p:sp>
        <p:nvSpPr>
          <p:cNvPr id="6" name="Text 3"/>
          <p:cNvSpPr txBox="1"/>
          <p:nvPr/>
        </p:nvSpPr>
        <p:spPr>
          <a:xfrm>
            <a:off x="59436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x</a:t>
            </a:r>
            <a:endParaRPr lang="en-US" sz="2400" dirty="0"/>
          </a:p>
        </p:txBody>
      </p:sp>
      <p:sp>
        <p:nvSpPr>
          <p:cNvPr id="7" name="Shape 4"/>
          <p:cNvSpPr/>
          <p:nvPr/>
        </p:nvSpPr>
        <p:spPr>
          <a:xfrm>
            <a:off x="1325880" y="2286000"/>
            <a:ext cx="548640" cy="91"/>
          </a:xfrm>
          <a:prstGeom prst="line">
            <a:avLst/>
          </a:prstGeom>
          <a:noFill/>
          <a:ln w="25400">
            <a:solidFill>
              <a:srgbClr val="0F7C82"/>
            </a:solidFill>
            <a:prstDash val="solid"/>
            <a:tailEnd type="triangle"/>
          </a:ln>
        </p:spPr>
      </p:sp>
      <p:sp>
        <p:nvSpPr>
          <p:cNvPr id="8" name="Shape 5"/>
          <p:cNvSpPr/>
          <p:nvPr/>
        </p:nvSpPr>
        <p:spPr>
          <a:xfrm>
            <a:off x="1920240" y="1600200"/>
            <a:ext cx="3931920" cy="1371600"/>
          </a:xfrm>
          <a:prstGeom prst="roundRect">
            <a:avLst>
              <a:gd name="adj" fmla="val 5333"/>
            </a:avLst>
          </a:prstGeom>
          <a:solidFill>
            <a:srgbClr val="E2F1F1"/>
          </a:solidFill>
          <a:ln w="12700">
            <a:solidFill>
              <a:srgbClr val="0F7C82"/>
            </a:solidFill>
            <a:prstDash val="solid"/>
          </a:ln>
        </p:spPr>
      </p:sp>
      <p:sp>
        <p:nvSpPr>
          <p:cNvPr id="9" name="Text 6"/>
          <p:cNvSpPr txBox="1"/>
          <p:nvPr/>
        </p:nvSpPr>
        <p:spPr>
          <a:xfrm>
            <a:off x="2011680" y="1709928"/>
            <a:ext cx="3749040" cy="411480"/>
          </a:xfrm>
          <a:prstGeom prst="rect">
            <a:avLst/>
          </a:prstGeom>
          <a:noFill/>
          <a:ln/>
        </p:spPr>
        <p:txBody>
          <a:bodyPr wrap="square" lIns="0" tIns="0" rIns="0" bIns="0" rtlCol="0" anchor="t"/>
          <a:lstStyle/>
          <a:p>
            <a:pPr algn="ctr" indent="0" marL="0">
              <a:buNone/>
            </a:pPr>
            <a:r>
              <a:rPr lang="en-US" sz="1900" b="1" dirty="0">
                <a:solidFill>
                  <a:srgbClr val="0A5559"/>
                </a:solidFill>
                <a:latin typeface="Calibri" pitchFamily="34" charset="0"/>
                <a:ea typeface="Calibri" pitchFamily="34" charset="-122"/>
                <a:cs typeface="Calibri" pitchFamily="34" charset="-120"/>
              </a:rPr>
              <a:t>Pretrained feature extractor</a:t>
            </a:r>
            <a:endParaRPr lang="en-US" sz="1900" dirty="0"/>
          </a:p>
        </p:txBody>
      </p:sp>
      <p:pic>
        <p:nvPicPr>
          <p:cNvPr id="10" name="Image 0" descr="LaTeX: $\displaystyle \h = g(\W\x + \mathbf{c})$">    </p:cNvPr>
          <p:cNvPicPr>
            <a:picLocks noChangeAspect="1"/>
          </p:cNvPicPr>
          <p:nvPr/>
        </p:nvPicPr>
        <p:blipFill>
          <a:blip r:embed="rId1"/>
          <a:stretch>
            <a:fillRect/>
          </a:stretch>
        </p:blipFill>
        <p:spPr>
          <a:xfrm>
            <a:off x="3008376" y="2240280"/>
            <a:ext cx="1755648" cy="329184"/>
          </a:xfrm>
          <a:prstGeom prst="rect">
            <a:avLst/>
          </a:prstGeom>
        </p:spPr>
      </p:pic>
      <p:sp>
        <p:nvSpPr>
          <p:cNvPr id="11" name="Shape 7"/>
          <p:cNvSpPr/>
          <p:nvPr/>
        </p:nvSpPr>
        <p:spPr>
          <a:xfrm>
            <a:off x="5897880" y="2286000"/>
            <a:ext cx="548640" cy="91"/>
          </a:xfrm>
          <a:prstGeom prst="line">
            <a:avLst/>
          </a:prstGeom>
          <a:noFill/>
          <a:ln w="25400">
            <a:solidFill>
              <a:srgbClr val="0F7C82"/>
            </a:solidFill>
            <a:prstDash val="solid"/>
            <a:tailEnd type="triangle"/>
          </a:ln>
        </p:spPr>
      </p:sp>
      <p:sp>
        <p:nvSpPr>
          <p:cNvPr id="12" name="Shape 8"/>
          <p:cNvSpPr/>
          <p:nvPr/>
        </p:nvSpPr>
        <p:spPr>
          <a:xfrm>
            <a:off x="6492240" y="1600200"/>
            <a:ext cx="3291840" cy="1371600"/>
          </a:xfrm>
          <a:prstGeom prst="roundRect">
            <a:avLst>
              <a:gd name="adj" fmla="val 5333"/>
            </a:avLst>
          </a:prstGeom>
          <a:solidFill>
            <a:srgbClr val="F3F5F8"/>
          </a:solidFill>
          <a:ln w="12700">
            <a:solidFill>
              <a:srgbClr val="8A94A3"/>
            </a:solidFill>
            <a:prstDash val="solid"/>
          </a:ln>
        </p:spPr>
      </p:sp>
      <p:sp>
        <p:nvSpPr>
          <p:cNvPr id="13" name="Text 9"/>
          <p:cNvSpPr txBox="1"/>
          <p:nvPr/>
        </p:nvSpPr>
        <p:spPr>
          <a:xfrm>
            <a:off x="6583680" y="1709928"/>
            <a:ext cx="3108960" cy="411480"/>
          </a:xfrm>
          <a:prstGeom prst="rect">
            <a:avLst/>
          </a:prstGeom>
          <a:noFill/>
          <a:ln/>
        </p:spPr>
        <p:txBody>
          <a:bodyPr wrap="square" lIns="0" tIns="0" rIns="0" bIns="0" rtlCol="0" anchor="t"/>
          <a:lstStyle/>
          <a:p>
            <a:pPr algn="ctr" indent="0" marL="0">
              <a:buNone/>
            </a:pPr>
            <a:r>
              <a:rPr lang="en-US" sz="1900" b="1" dirty="0">
                <a:solidFill>
                  <a:srgbClr val="17202E"/>
                </a:solidFill>
                <a:latin typeface="Calibri" pitchFamily="34" charset="0"/>
                <a:ea typeface="Calibri" pitchFamily="34" charset="-122"/>
                <a:cs typeface="Calibri" pitchFamily="34" charset="-120"/>
              </a:rPr>
              <a:t>New output layer</a:t>
            </a:r>
            <a:endParaRPr lang="en-US" sz="1900" dirty="0"/>
          </a:p>
        </p:txBody>
      </p:sp>
      <p:pic>
        <p:nvPicPr>
          <p:cNvPr id="14" name="Image 1" descr="LaTeX: $\displaystyle \yh = \w\T\h + b$">    </p:cNvPr>
          <p:cNvPicPr>
            <a:picLocks noChangeAspect="1"/>
          </p:cNvPicPr>
          <p:nvPr/>
        </p:nvPicPr>
        <p:blipFill>
          <a:blip r:embed="rId2"/>
          <a:stretch>
            <a:fillRect/>
          </a:stretch>
        </p:blipFill>
        <p:spPr>
          <a:xfrm>
            <a:off x="7386828" y="2240280"/>
            <a:ext cx="1502664" cy="353568"/>
          </a:xfrm>
          <a:prstGeom prst="rect">
            <a:avLst/>
          </a:prstGeom>
        </p:spPr>
      </p:pic>
      <p:sp>
        <p:nvSpPr>
          <p:cNvPr id="15" name="Shape 10"/>
          <p:cNvSpPr/>
          <p:nvPr/>
        </p:nvSpPr>
        <p:spPr>
          <a:xfrm>
            <a:off x="9829800" y="2286000"/>
            <a:ext cx="548640" cy="91"/>
          </a:xfrm>
          <a:prstGeom prst="line">
            <a:avLst/>
          </a:prstGeom>
          <a:noFill/>
          <a:ln w="25400">
            <a:solidFill>
              <a:srgbClr val="0F7C82"/>
            </a:solidFill>
            <a:prstDash val="solid"/>
            <a:tailEnd type="triangle"/>
          </a:ln>
        </p:spPr>
      </p:sp>
      <p:sp>
        <p:nvSpPr>
          <p:cNvPr id="16" name="Shape 11"/>
          <p:cNvSpPr/>
          <p:nvPr/>
        </p:nvSpPr>
        <p:spPr>
          <a:xfrm>
            <a:off x="10424160" y="1920240"/>
            <a:ext cx="731520" cy="731520"/>
          </a:xfrm>
          <a:prstGeom prst="roundRect">
            <a:avLst>
              <a:gd name="adj" fmla="val 12500"/>
            </a:avLst>
          </a:prstGeom>
          <a:solidFill>
            <a:srgbClr val="F3F5F8"/>
          </a:solidFill>
          <a:ln w="15875">
            <a:solidFill>
              <a:srgbClr val="8A94A3"/>
            </a:solidFill>
            <a:prstDash val="solid"/>
          </a:ln>
        </p:spPr>
      </p:sp>
      <p:sp>
        <p:nvSpPr>
          <p:cNvPr id="17" name="Text 12"/>
          <p:cNvSpPr txBox="1"/>
          <p:nvPr/>
        </p:nvSpPr>
        <p:spPr>
          <a:xfrm>
            <a:off x="10469880" y="1920240"/>
            <a:ext cx="640080" cy="731520"/>
          </a:xfrm>
          <a:prstGeom prst="rect">
            <a:avLst/>
          </a:prstGeom>
          <a:noFill/>
          <a:ln/>
        </p:spPr>
        <p:txBody>
          <a:bodyPr wrap="square" lIns="0" tIns="0" rIns="0" bIns="0" rtlCol="0" anchor="ctr"/>
          <a:lstStyle/>
          <a:p>
            <a:pPr algn="ctr" indent="0" marL="0">
              <a:buNone/>
            </a:pPr>
            <a:r>
              <a:rPr lang="en-US" sz="2400" dirty="0">
                <a:solidFill>
                  <a:srgbClr val="17202E"/>
                </a:solidFill>
                <a:latin typeface="Cambria" pitchFamily="34" charset="0"/>
                <a:ea typeface="Cambria" pitchFamily="34" charset="-122"/>
                <a:cs typeface="Cambria" pitchFamily="34" charset="-120"/>
              </a:rPr>
              <a:t>ŷ</a:t>
            </a:r>
            <a:endParaRPr lang="en-US" sz="2400" dirty="0"/>
          </a:p>
        </p:txBody>
      </p:sp>
      <p:sp>
        <p:nvSpPr>
          <p:cNvPr id="18" name="Shape 13"/>
          <p:cNvSpPr/>
          <p:nvPr/>
        </p:nvSpPr>
        <p:spPr>
          <a:xfrm flipH="1">
            <a:off x="3291840" y="3291840"/>
            <a:ext cx="6035040" cy="91"/>
          </a:xfrm>
          <a:prstGeom prst="line">
            <a:avLst/>
          </a:prstGeom>
          <a:noFill/>
          <a:ln w="22225">
            <a:solidFill>
              <a:srgbClr val="C8571B"/>
            </a:solidFill>
            <a:prstDash val="solid"/>
            <a:headEnd type="triangle"/>
            <a:tailEnd type="triangle"/>
          </a:ln>
        </p:spPr>
      </p:sp>
      <p:sp>
        <p:nvSpPr>
          <p:cNvPr id="19" name="Text 14"/>
          <p:cNvSpPr txBox="1"/>
          <p:nvPr/>
        </p:nvSpPr>
        <p:spPr>
          <a:xfrm>
            <a:off x="3474720" y="3383280"/>
            <a:ext cx="5669280" cy="365760"/>
          </a:xfrm>
          <a:prstGeom prst="rect">
            <a:avLst/>
          </a:prstGeom>
          <a:noFill/>
          <a:ln/>
        </p:spPr>
        <p:txBody>
          <a:bodyPr wrap="square" lIns="0" tIns="0" rIns="0" bIns="0" rtlCol="0" anchor="t"/>
          <a:lstStyle/>
          <a:p>
            <a:pPr algn="ctr" indent="0" marL="0">
              <a:buNone/>
            </a:pPr>
            <a:r>
              <a:rPr lang="en-US" sz="1700" i="1" dirty="0">
                <a:solidFill>
                  <a:srgbClr val="C8571B"/>
                </a:solidFill>
                <a:latin typeface="Calibri" pitchFamily="34" charset="0"/>
                <a:ea typeface="Calibri" pitchFamily="34" charset="-122"/>
                <a:cs typeface="Calibri" pitchFamily="34" charset="-120"/>
              </a:rPr>
              <a:t>trained first on a large dataset, then reused on your small one</a:t>
            </a:r>
            <a:endParaRPr lang="en-US" sz="1700" dirty="0"/>
          </a:p>
        </p:txBody>
      </p:sp>
      <p:sp>
        <p:nvSpPr>
          <p:cNvPr id="20" name="Shape 15"/>
          <p:cNvSpPr/>
          <p:nvPr/>
        </p:nvSpPr>
        <p:spPr>
          <a:xfrm>
            <a:off x="548640" y="4069080"/>
            <a:ext cx="3529584" cy="2057400"/>
          </a:xfrm>
          <a:prstGeom prst="roundRect">
            <a:avLst>
              <a:gd name="adj" fmla="val 3556"/>
            </a:avLst>
          </a:prstGeom>
          <a:solidFill>
            <a:srgbClr val="F3F5F8"/>
          </a:solidFill>
          <a:ln/>
        </p:spPr>
      </p:sp>
      <p:sp>
        <p:nvSpPr>
          <p:cNvPr id="21" name="Shape 16"/>
          <p:cNvSpPr/>
          <p:nvPr/>
        </p:nvSpPr>
        <p:spPr>
          <a:xfrm>
            <a:off x="749808" y="4270248"/>
            <a:ext cx="384048" cy="384048"/>
          </a:xfrm>
          <a:prstGeom prst="ellipse">
            <a:avLst/>
          </a:prstGeom>
          <a:solidFill>
            <a:srgbClr val="0F7C82"/>
          </a:solidFill>
          <a:ln/>
        </p:spPr>
      </p:sp>
      <p:sp>
        <p:nvSpPr>
          <p:cNvPr id="22" name="Text 17"/>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3" name="Text 18"/>
          <p:cNvSpPr txBox="1"/>
          <p:nvPr/>
        </p:nvSpPr>
        <p:spPr>
          <a:xfrm>
            <a:off x="1298448"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Freeze, train the head</a:t>
            </a:r>
            <a:endParaRPr lang="en-US" sz="1900" dirty="0"/>
          </a:p>
        </p:txBody>
      </p:sp>
      <p:sp>
        <p:nvSpPr>
          <p:cNvPr id="24" name="Text 19"/>
          <p:cNvSpPr txBox="1"/>
          <p:nvPr/>
        </p:nvSpPr>
        <p:spPr>
          <a:xfrm>
            <a:off x="749808"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Keep the extractor fixed; train only the new output layer. Best with very little data.</a:t>
            </a:r>
            <a:endParaRPr lang="en-US" sz="1700" dirty="0"/>
          </a:p>
        </p:txBody>
      </p:sp>
      <p:sp>
        <p:nvSpPr>
          <p:cNvPr id="25" name="Shape 20"/>
          <p:cNvSpPr/>
          <p:nvPr/>
        </p:nvSpPr>
        <p:spPr>
          <a:xfrm>
            <a:off x="4315968" y="4069080"/>
            <a:ext cx="3529584" cy="2057400"/>
          </a:xfrm>
          <a:prstGeom prst="roundRect">
            <a:avLst>
              <a:gd name="adj" fmla="val 3556"/>
            </a:avLst>
          </a:prstGeom>
          <a:solidFill>
            <a:srgbClr val="F3F5F8"/>
          </a:solidFill>
          <a:ln/>
        </p:spPr>
      </p:sp>
      <p:sp>
        <p:nvSpPr>
          <p:cNvPr id="26" name="Shape 21"/>
          <p:cNvSpPr/>
          <p:nvPr/>
        </p:nvSpPr>
        <p:spPr>
          <a:xfrm>
            <a:off x="4517136" y="4270248"/>
            <a:ext cx="384048" cy="384048"/>
          </a:xfrm>
          <a:prstGeom prst="ellipse">
            <a:avLst/>
          </a:prstGeom>
          <a:solidFill>
            <a:srgbClr val="0F7C82"/>
          </a:solidFill>
          <a:ln/>
        </p:spPr>
      </p:sp>
      <p:sp>
        <p:nvSpPr>
          <p:cNvPr id="27" name="Text 22"/>
          <p:cNvSpPr txBox="1"/>
          <p:nvPr/>
        </p:nvSpPr>
        <p:spPr>
          <a:xfrm>
            <a:off x="4517136"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8" name="Text 23"/>
          <p:cNvSpPr txBox="1"/>
          <p:nvPr/>
        </p:nvSpPr>
        <p:spPr>
          <a:xfrm>
            <a:off x="5065776"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Fine-tune with a small η</a:t>
            </a:r>
            <a:endParaRPr lang="en-US" sz="1900" dirty="0"/>
          </a:p>
        </p:txBody>
      </p:sp>
      <p:sp>
        <p:nvSpPr>
          <p:cNvPr id="29" name="Text 24"/>
          <p:cNvSpPr txBox="1"/>
          <p:nvPr/>
        </p:nvSpPr>
        <p:spPr>
          <a:xfrm>
            <a:off x="4517136"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Then update all layers gently. Helps when your images differ more from the original data.</a:t>
            </a:r>
            <a:endParaRPr lang="en-US" sz="1700" dirty="0"/>
          </a:p>
        </p:txBody>
      </p:sp>
      <p:sp>
        <p:nvSpPr>
          <p:cNvPr id="30" name="Shape 25"/>
          <p:cNvSpPr/>
          <p:nvPr/>
        </p:nvSpPr>
        <p:spPr>
          <a:xfrm>
            <a:off x="8083296" y="4069080"/>
            <a:ext cx="3529584" cy="2057400"/>
          </a:xfrm>
          <a:prstGeom prst="roundRect">
            <a:avLst>
              <a:gd name="adj" fmla="val 3556"/>
            </a:avLst>
          </a:prstGeom>
          <a:solidFill>
            <a:srgbClr val="F3F5F8"/>
          </a:solidFill>
          <a:ln/>
        </p:spPr>
      </p:sp>
      <p:sp>
        <p:nvSpPr>
          <p:cNvPr id="31" name="Shape 26"/>
          <p:cNvSpPr/>
          <p:nvPr/>
        </p:nvSpPr>
        <p:spPr>
          <a:xfrm>
            <a:off x="8284464" y="4270248"/>
            <a:ext cx="384048" cy="384048"/>
          </a:xfrm>
          <a:prstGeom prst="ellipse">
            <a:avLst/>
          </a:prstGeom>
          <a:solidFill>
            <a:srgbClr val="0F7C82"/>
          </a:solidFill>
          <a:ln/>
        </p:spPr>
      </p:sp>
      <p:sp>
        <p:nvSpPr>
          <p:cNvPr id="32" name="Text 27"/>
          <p:cNvSpPr txBox="1"/>
          <p:nvPr/>
        </p:nvSpPr>
        <p:spPr>
          <a:xfrm>
            <a:off x="8284464"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3" name="Text 28"/>
          <p:cNvSpPr txBox="1"/>
          <p:nvPr/>
        </p:nvSpPr>
        <p:spPr>
          <a:xfrm>
            <a:off x="8833104" y="4288536"/>
            <a:ext cx="2651760" cy="411480"/>
          </a:xfrm>
          <a:prstGeom prst="rect">
            <a:avLst/>
          </a:prstGeom>
          <a:noFill/>
          <a:ln/>
        </p:spPr>
        <p:txBody>
          <a:bodyPr wrap="square" lIns="0" tIns="0" rIns="0" bIns="0" rtlCol="0" anchor="t"/>
          <a:lstStyle/>
          <a:p>
            <a:pPr indent="0" marL="0">
              <a:buNone/>
            </a:pPr>
            <a:r>
              <a:rPr lang="en-US" sz="1900" b="1" dirty="0">
                <a:solidFill>
                  <a:srgbClr val="17202E"/>
                </a:solidFill>
                <a:latin typeface="Calibri" pitchFamily="34" charset="0"/>
                <a:ea typeface="Calibri" pitchFamily="34" charset="-122"/>
                <a:cs typeface="Calibri" pitchFamily="34" charset="-120"/>
              </a:rPr>
              <a:t>Early stopping</a:t>
            </a:r>
            <a:endParaRPr lang="en-US" sz="1900" dirty="0"/>
          </a:p>
        </p:txBody>
      </p:sp>
      <p:sp>
        <p:nvSpPr>
          <p:cNvPr id="34" name="Text 29"/>
          <p:cNvSpPr txBox="1"/>
          <p:nvPr/>
        </p:nvSpPr>
        <p:spPr>
          <a:xfrm>
            <a:off x="8284464" y="4846320"/>
            <a:ext cx="3154680" cy="1234440"/>
          </a:xfrm>
          <a:prstGeom prst="rect">
            <a:avLst/>
          </a:prstGeom>
          <a:noFill/>
          <a:ln/>
        </p:spPr>
        <p:txBody>
          <a:bodyPr wrap="square" lIns="0" tIns="0" rIns="0" bIns="0" rtlCol="0" anchor="t"/>
          <a:lstStyle/>
          <a:p>
            <a:pPr indent="0" marL="0">
              <a:buNone/>
            </a:pPr>
            <a:r>
              <a:rPr lang="en-US" sz="1700" dirty="0">
                <a:solidFill>
                  <a:srgbClr val="2B3A4F"/>
                </a:solidFill>
                <a:latin typeface="Calibri" pitchFamily="34" charset="0"/>
                <a:ea typeface="Calibri" pitchFamily="34" charset="-122"/>
                <a:cs typeface="Calibri" pitchFamily="34" charset="-120"/>
              </a:rPr>
              <a:t>Stop when validation stops improving, and keep the best checkpoint.</a:t>
            </a:r>
            <a:endParaRPr lang="en-US" sz="17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8A94A3"/>
                </a:solidFill>
                <a:latin typeface="Calibri"/>
                <a:ea typeface="Calibri"/>
                <a:cs typeface="Calibri"/>
              </a:defRPr>
            </a:lvl1pPr>
          </a:lstStyle>
          <a:p>
            <a:pPr algn="r"/>
            <a:fld id="{F7021451-1387-4CA6-816F-3879F97B5CBC}" type="slidenum">
              <a:rPr b="0" lang="en-US"/>
              <a:t>9</a:t>
            </a:fld>
            <a:endParaRPr lang="en-US"/>
          </a:p>
        </p:txBody>
      </p:sp>
      <p:sp>
        <p:nvSpPr>
          <p:cNvPr id="35" name="Next signpost"/>
          <p:cNvSpPr txBox="1"/>
          <p:nvPr/>
        </p:nvSpPr>
        <p:spPr>
          <a:xfrm>
            <a:off x="3108960" y="6419088"/>
            <a:ext cx="7894320" cy="274320"/>
          </a:xfrm>
          <a:prstGeom prst="rect">
            <a:avLst/>
          </a:prstGeom>
          <a:noFill/>
          <a:ln/>
        </p:spPr>
        <p:txBody>
          <a:bodyPr wrap="square" lIns="0" tIns="0" rIns="0" bIns="0" rtlCol="0" anchor="ctr"/>
          <a:lstStyle/>
          <a:p>
            <a:pPr algn="r" indent="0" marL="0">
              <a:buNone/>
            </a:pPr>
            <a:r>
              <a:rPr lang="en-US" sz="1100" b="1" dirty="0">
                <a:solidFill>
                  <a:srgbClr val="0F7C82"/>
                </a:solidFill>
                <a:latin typeface="Calibri" pitchFamily="34" charset="0"/>
                <a:ea typeface="Calibri" pitchFamily="34" charset="-122"/>
                <a:cs typeface="Calibri" pitchFamily="34" charset="-120"/>
              </a:rPr>
              <a:t xml:space="preserve">Next →  </a:t>
            </a:r>
            <a:r>
              <a:rPr lang="en-US" sz="1100" i="1" dirty="0">
                <a:solidFill>
                  <a:srgbClr val="0F7C82"/>
                </a:solidFill>
                <a:latin typeface="Calibri" pitchFamily="34" charset="0"/>
                <a:ea typeface="Calibri" pitchFamily="34" charset="-122"/>
                <a:cs typeface="Calibri" pitchFamily="34" charset="-120"/>
              </a:rPr>
              <a:t>remedies 5 and 6: weight decay and dropout</a:t>
            </a:r>
            <a:endParaRPr lang="en-US" sz="1100" dirty="0"/>
          </a:p>
        </p:txBody>
      </p:sp>
    </p:spTree>
  </p:cSld>
  <p:clrMapOvr>
    <a:masterClrMapping/>
  </p:clrMapOvr>
</p:sld>
</file>

<file path=ppt/theme/theme1.xml><?xml version="1.0" encoding="utf-8"?>
<a:theme xmlns:a="http://schemas.openxmlformats.org/drawingml/2006/main" name="Deep Networks">
  <a:themeElements>
    <a:clrScheme name="Deep Networks">
      <a:dk1>
        <a:srgbClr val="17202E"/>
      </a:dk1>
      <a:lt1>
        <a:srgbClr val="FFFFFF"/>
      </a:lt1>
      <a:dk2>
        <a:srgbClr val="2B3A4F"/>
      </a:dk2>
      <a:lt2>
        <a:srgbClr val="F3F5F8"/>
      </a:lt2>
      <a:accent1>
        <a:srgbClr val="0F7C82"/>
      </a:accent1>
      <a:accent2>
        <a:srgbClr val="C8571B"/>
      </a:accent2>
      <a:accent3>
        <a:srgbClr val="4C5BD4"/>
      </a:accent3>
      <a:accent4>
        <a:srgbClr val="5B6675"/>
      </a:accent4>
      <a:accent5>
        <a:srgbClr val="2E8B57"/>
      </a:accent5>
      <a:accent6>
        <a:srgbClr val="B8435A"/>
      </a:accent6>
      <a:hlink>
        <a:srgbClr val="0F7C82"/>
      </a:hlink>
      <a:folHlink>
        <a:srgbClr val="4C5BD4"/>
      </a:folHlink>
    </a:clrScheme>
    <a:fontScheme name="Deep Network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Neural Networks — Session 1</dc:title>
  <dc:subject>PptxGenJS Presentation</dc:subject>
  <dc:creator>Deep Neural Networks course</dc:creator>
  <cp:lastModifiedBy>Deep Neural Networks course</cp:lastModifiedBy>
  <cp:revision>1</cp:revision>
  <dcterms:created xsi:type="dcterms:W3CDTF">2026-10-08T21:02:25Z</dcterms:created>
  <dcterms:modified xsi:type="dcterms:W3CDTF">2026-10-08T21:02:25Z</dcterms:modified>
</cp:coreProperties>
</file>