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1"/>
    <p:sldId id="260" r:id="rId6"/>
    <p:sldId id="261" r:id="rId7"/>
    <p:sldId id="262" r:id="rId8"/>
    <p:sldId id="263" r:id="rId9"/>
    <p:sldId id="272" r:id="rId18"/>
    <p:sldId id="266" r:id="rId12"/>
    <p:sldId id="267" r:id="rId13"/>
    <p:sldId id="268" r:id="rId14"/>
    <p:sldId id="269" r:id="rId15"/>
    <p:sldId id="264" r:id="rId10"/>
    <p:sldId id="271" r:id="rId17"/>
    <p:sldId id="276" r:id="rId22"/>
    <p:sldId id="273" r:id="rId19"/>
    <p:sldId id="274" r:id="rId20"/>
    <p:sldId id="275" r:id="rId21"/>
    <p:sldId id="277" r:id="rId23"/>
    <p:sldId id="278" r:id="rId24"/>
    <p:sldId id="279" r:id="rId25"/>
    <p:sldId id="280" r:id="rId26"/>
    <p:sldId id="281" r:id="rId27"/>
    <p:sldId id="282" r:id="rId28"/>
    <p:sldId id="270" r:id="rId16"/>
    <p:sldId id="291" r:id="rId37"/>
    <p:sldId id="290" r:id="rId36"/>
    <p:sldId id="283" r:id="rId29"/>
    <p:sldId id="284" r:id="rId30"/>
    <p:sldId id="285" r:id="rId31"/>
    <p:sldId id="286" r:id="rId32"/>
    <p:sldId id="289" r:id="rId35"/>
    <p:sldId id="287" r:id="rId33"/>
    <p:sldId id="288" r:id="rId34"/>
    <p:sldId id="292" r:id="rId38"/>
    <p:sldId id="294" r:id="rId40"/>
    <p:sldId id="295" r:id="rId41"/>
    <p:sldId id="296" r:id="rId42"/>
    <p:sldId id="297" r:id="rId43"/>
    <p:sldId id="298" r:id="rId44"/>
    <p:sldId id="299" r:id="rId45"/>
    <p:sldId id="300" r:id="rId46"/>
    <p:sldId id="301" r:id="rId47"/>
    <p:sldId id="302" r:id="rId48"/>
    <p:sldId id="304" r:id="rId50"/>
    <p:sldId id="303" r:id="rId49"/>
    <p:sldId id="310" r:id="rId56"/>
    <p:sldId id="309" r:id="rId55"/>
    <p:sldId id="308" r:id="rId54"/>
    <p:sldId id="306" r:id="rId52"/>
    <p:sldId id="311" r:id="rId57"/>
    <p:sldId id="313" r:id="rId59"/>
    <p:sldId id="314" r:id="rId60"/>
    <p:sldId id="315" r:id="rId61"/>
    <p:sldId id="316" r:id="rId62"/>
    <p:sldId id="317" r:id="rId63"/>
    <p:sldId id="318" r:id="rId64"/>
    <p:sldId id="319" r:id="rId65"/>
    <p:sldId id="320" r:id="rId66"/>
    <p:sldId id="324" r:id="rId70"/>
    <p:sldId id="327" r:id="rId78"/>
    <p:sldId id="305" r:id="rId51"/>
    <p:sldId id="322" r:id="rId68"/>
    <p:sldId id="307" r:id="rId53"/>
    <p:sldId id="321" r:id="rId67"/>
    <p:sldId id="293" r:id="rId39"/>
    <p:sldId id="323" r:id="rId69"/>
    <p:sldId id="312" r:id="rId58"/>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Part 2 · Learning" id="{2386b4d6-e5dc-6678-f43a-757e59c289bc}">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Wrap-up" id="{cf350e3e-c114-be34-a98f-fdf6330e26f7}">
          <p14:sldIdLst>
            <p14:sldId id="313"/>
          </p14:sldIdLst>
        </p14:section>
        <p14:section name="Appendix" id="{4b396058-6324-5b93-1d70-5ad9a0249172}">
          <p14:sldIdLst>
            <p14:sldId id="314"/>
            <p14:sldId id="315"/>
            <p14:sldId id="316"/>
            <p14:sldId id="317"/>
            <p14:sldId id="318"/>
            <p14:sldId id="319"/>
            <p14:sldId id="320"/>
            <p14:sldId id="321"/>
            <p14:sldId id="322"/>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4.xml"/><Relationship Id="rId11" Type="http://schemas.openxmlformats.org/officeDocument/2006/relationships/slide" Target="slides/slide5.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27.xml"/><Relationship Id="rId17"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16.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3.xml"/><Relationship Id="rId36" Type="http://schemas.openxmlformats.org/officeDocument/2006/relationships/slide" Target="slides/slide2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68.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8.xml"/><Relationship Id="rId50" Type="http://schemas.openxmlformats.org/officeDocument/2006/relationships/slide" Target="slides/slide47.xml"/><Relationship Id="rId51" Type="http://schemas.openxmlformats.org/officeDocument/2006/relationships/slide" Target="slides/slide64.xml"/><Relationship Id="rId52" Type="http://schemas.openxmlformats.org/officeDocument/2006/relationships/slide" Target="slides/slide52.xml"/><Relationship Id="rId53" Type="http://schemas.openxmlformats.org/officeDocument/2006/relationships/slide" Target="slides/slide66.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49.xml"/><Relationship Id="rId57" Type="http://schemas.openxmlformats.org/officeDocument/2006/relationships/slide" Target="slides/slide53.xml"/><Relationship Id="rId58" Type="http://schemas.openxmlformats.org/officeDocument/2006/relationships/slide" Target="slides/slide70.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7.xml"/><Relationship Id="rId68" Type="http://schemas.openxmlformats.org/officeDocument/2006/relationships/slide" Target="slides/slide65.xml"/><Relationship Id="rId69" Type="http://schemas.openxmlformats.org/officeDocument/2006/relationships/slide" Target="slides/slide69.xml"/><Relationship Id="rId70" Type="http://schemas.openxmlformats.org/officeDocument/2006/relationships/slide" Target="slides/slide62.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6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-1</c:v>
                </c:pt>
                <c:pt idx="1">
                  <c:v>-1</c:v>
                </c:pt>
                <c:pt idx="2">
                  <c:v>-1</c:v>
                </c:pt>
                <c:pt idx="3">
                  <c:v>-0.9999</c:v>
                </c:pt>
                <c:pt idx="4">
                  <c:v>-0.9999</c:v>
                </c:pt>
                <c:pt idx="5">
                  <c:v>-0.9999</c:v>
                </c:pt>
                <c:pt idx="6">
                  <c:v>-0.9998</c:v>
                </c:pt>
                <c:pt idx="7">
                  <c:v>-0.9996</c:v>
                </c:pt>
                <c:pt idx="8">
                  <c:v>-0.9993</c:v>
                </c:pt>
                <c:pt idx="9">
                  <c:v>-0.9989</c:v>
                </c:pt>
                <c:pt idx="10">
                  <c:v>-0.9982</c:v>
                </c:pt>
                <c:pt idx="11">
                  <c:v>-0.997</c:v>
                </c:pt>
                <c:pt idx="12">
                  <c:v>-0.9951</c:v>
                </c:pt>
                <c:pt idx="13">
                  <c:v>-0.9919</c:v>
                </c:pt>
                <c:pt idx="14">
                  <c:v>-0.9866</c:v>
                </c:pt>
                <c:pt idx="15">
                  <c:v>-0.978</c:v>
                </c:pt>
                <c:pt idx="16">
                  <c:v>-0.964</c:v>
                </c:pt>
                <c:pt idx="17">
                  <c:v>-0.9414</c:v>
                </c:pt>
                <c:pt idx="18">
                  <c:v>-0.9051</c:v>
                </c:pt>
                <c:pt idx="19">
                  <c:v>-0.8483</c:v>
                </c:pt>
                <c:pt idx="20">
                  <c:v>-0.7616</c:v>
                </c:pt>
                <c:pt idx="21">
                  <c:v>-0.6351</c:v>
                </c:pt>
                <c:pt idx="22">
                  <c:v>-0.4621</c:v>
                </c:pt>
                <c:pt idx="23">
                  <c:v>-0.2449</c:v>
                </c:pt>
                <c:pt idx="24">
                  <c:v>0</c:v>
                </c:pt>
                <c:pt idx="25">
                  <c:v>0.2449</c:v>
                </c:pt>
                <c:pt idx="26">
                  <c:v>0.4621</c:v>
                </c:pt>
                <c:pt idx="27">
                  <c:v>0.6351</c:v>
                </c:pt>
                <c:pt idx="28">
                  <c:v>0.7616</c:v>
                </c:pt>
                <c:pt idx="29">
                  <c:v>0.8483</c:v>
                </c:pt>
                <c:pt idx="30">
                  <c:v>0.9051</c:v>
                </c:pt>
                <c:pt idx="31">
                  <c:v>0.9414</c:v>
                </c:pt>
                <c:pt idx="32">
                  <c:v>0.964</c:v>
                </c:pt>
                <c:pt idx="33">
                  <c:v>0.978</c:v>
                </c:pt>
                <c:pt idx="34">
                  <c:v>0.9866</c:v>
                </c:pt>
                <c:pt idx="35">
                  <c:v>0.9919</c:v>
                </c:pt>
                <c:pt idx="36">
                  <c:v>0.9951</c:v>
                </c:pt>
                <c:pt idx="37">
                  <c:v>0.997</c:v>
                </c:pt>
                <c:pt idx="38">
                  <c:v>0.9982</c:v>
                </c:pt>
                <c:pt idx="39">
                  <c:v>0.9989</c:v>
                </c:pt>
                <c:pt idx="40">
                  <c:v>0.9993</c:v>
                </c:pt>
                <c:pt idx="41">
                  <c:v>0.9996</c:v>
                </c:pt>
                <c:pt idx="42">
                  <c:v>0.9998</c:v>
                </c:pt>
                <c:pt idx="43">
                  <c:v>0.9999</c:v>
                </c:pt>
                <c:pt idx="44">
                  <c:v>0.9999</c:v>
                </c:pt>
                <c:pt idx="45">
                  <c:v>0.9999</c:v>
                </c:pt>
                <c:pt idx="46">
                  <c:v>1</c:v>
                </c:pt>
                <c:pt idx="47">
                  <c:v>1</c:v>
                </c:pt>
                <c:pt idx="48">
                  <c:v>1</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c:v>
                </c:pt>
                <c:pt idx="1">
                  <c:v>0</c:v>
                </c:pt>
                <c:pt idx="2">
                  <c:v>0.0001</c:v>
                </c:pt>
                <c:pt idx="3">
                  <c:v>0.0001</c:v>
                </c:pt>
                <c:pt idx="4">
                  <c:v>0.0002</c:v>
                </c:pt>
                <c:pt idx="5">
                  <c:v>0.0003</c:v>
                </c:pt>
                <c:pt idx="6">
                  <c:v>0.0005</c:v>
                </c:pt>
                <c:pt idx="7">
                  <c:v>0.0008</c:v>
                </c:pt>
                <c:pt idx="8">
                  <c:v>0.0013</c:v>
                </c:pt>
                <c:pt idx="9">
                  <c:v>0.0022</c:v>
                </c:pt>
                <c:pt idx="10">
                  <c:v>0.0036</c:v>
                </c:pt>
                <c:pt idx="11">
                  <c:v>0.006</c:v>
                </c:pt>
                <c:pt idx="12">
                  <c:v>0.0099</c:v>
                </c:pt>
                <c:pt idx="13">
                  <c:v>0.0162</c:v>
                </c:pt>
                <c:pt idx="14">
                  <c:v>0.0266</c:v>
                </c:pt>
                <c:pt idx="15">
                  <c:v>0.0435</c:v>
                </c:pt>
                <c:pt idx="16">
                  <c:v>0.0707</c:v>
                </c:pt>
                <c:pt idx="17">
                  <c:v>0.1138</c:v>
                </c:pt>
                <c:pt idx="18">
                  <c:v>0.1807</c:v>
                </c:pt>
                <c:pt idx="19">
                  <c:v>0.2804</c:v>
                </c:pt>
                <c:pt idx="20">
                  <c:v>0.42</c:v>
                </c:pt>
                <c:pt idx="21">
                  <c:v>0.5966</c:v>
                </c:pt>
                <c:pt idx="22">
                  <c:v>0.7864</c:v>
                </c:pt>
                <c:pt idx="23">
                  <c:v>0.94</c:v>
                </c:pt>
                <c:pt idx="24">
                  <c:v>1</c:v>
                </c:pt>
                <c:pt idx="25">
                  <c:v>0.94</c:v>
                </c:pt>
                <c:pt idx="26">
                  <c:v>0.7864</c:v>
                </c:pt>
                <c:pt idx="27">
                  <c:v>0.5966</c:v>
                </c:pt>
                <c:pt idx="28">
                  <c:v>0.42</c:v>
                </c:pt>
                <c:pt idx="29">
                  <c:v>0.2804</c:v>
                </c:pt>
                <c:pt idx="30">
                  <c:v>0.1807</c:v>
                </c:pt>
                <c:pt idx="31">
                  <c:v>0.1138</c:v>
                </c:pt>
                <c:pt idx="32">
                  <c:v>0.0707</c:v>
                </c:pt>
                <c:pt idx="33">
                  <c:v>0.0435</c:v>
                </c:pt>
                <c:pt idx="34">
                  <c:v>0.0266</c:v>
                </c:pt>
                <c:pt idx="35">
                  <c:v>0.0162</c:v>
                </c:pt>
                <c:pt idx="36">
                  <c:v>0.0099</c:v>
                </c:pt>
                <c:pt idx="37">
                  <c:v>0.006</c:v>
                </c:pt>
                <c:pt idx="38">
                  <c:v>0.0036</c:v>
                </c:pt>
                <c:pt idx="39">
                  <c:v>0.0022</c:v>
                </c:pt>
                <c:pt idx="40">
                  <c:v>0.0013</c:v>
                </c:pt>
                <c:pt idx="41">
                  <c:v>0.0008</c:v>
                </c:pt>
                <c:pt idx="42">
                  <c:v>0.0005</c:v>
                </c:pt>
                <c:pt idx="43">
                  <c:v>0.0003</c:v>
                </c:pt>
                <c:pt idx="44">
                  <c:v>0.0002</c:v>
                </c:pt>
                <c:pt idx="45">
                  <c:v>0.0001</c:v>
                </c:pt>
                <c:pt idx="46">
                  <c:v>0.0001</c:v>
                </c:pt>
                <c:pt idx="47">
                  <c:v>0</c:v>
                </c:pt>
                <c:pt idx="48">
                  <c:v>0</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1.2"/>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(seed 0)</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bug: softmax → CrossEntropyLoss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1.7122353041562166</c:v>
                </c:pt>
                <c:pt idx="1">
                  <c:v>1.6707003880414095</c:v>
                </c:pt>
                <c:pt idx="2">
                  <c:v>1.6617416446512396</c:v>
                </c:pt>
                <c:pt idx="3">
                  <c:v>1.6554100347865712</c:v>
                </c:pt>
                <c:pt idx="4">
                  <c:v>1.6522163709987294</c:v>
                </c:pt>
                <c:pt idx="5">
                  <c:v>1.6486816927129573</c:v>
                </c:pt>
                <c:pt idx="6">
                  <c:v>1.644864767924222</c:v>
                </c:pt>
                <c:pt idx="7">
                  <c:v>1.642881281297857</c:v>
                </c:pt>
                <c:pt idx="8">
                  <c:v>1.6412448475057428</c:v>
                </c:pt>
                <c:pt idx="9">
                  <c:v>1.6390439006978814</c:v>
                </c:pt>
                <c:pt idx="10">
                  <c:v>1.6383707053271206</c:v>
                </c:pt>
                <c:pt idx="11">
                  <c:v>1.63567344530279</c:v>
                </c:pt>
                <c:pt idx="12">
                  <c:v>1.6337041284040972</c:v>
                </c:pt>
                <c:pt idx="13">
                  <c:v>1.6328254633123225</c:v>
                </c:pt>
                <c:pt idx="14">
                  <c:v>1.6331125222292813</c:v>
                </c:pt>
                <c:pt idx="15">
                  <c:v>1.6326698436563665</c:v>
                </c:pt>
                <c:pt idx="16">
                  <c:v>1.6307082028822466</c:v>
                </c:pt>
                <c:pt idx="17">
                  <c:v>1.6287894267168912</c:v>
                </c:pt>
                <c:pt idx="18">
                  <c:v>1.6268918815092608</c:v>
                </c:pt>
                <c:pt idx="19">
                  <c:v>1.6269234837445345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validation 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0.424490869140625</c:v>
                </c:pt>
                <c:pt idx="1">
                  <c:v>0.3715091552734375</c:v>
                </c:pt>
                <c:pt idx="2">
                  <c:v>0.3586928955078125</c:v>
                </c:pt>
                <c:pt idx="3">
                  <c:v>0.351608251953125</c:v>
                </c:pt>
                <c:pt idx="4">
                  <c:v>0.32548671875</c:v>
                </c:pt>
                <c:pt idx="5">
                  <c:v>0.3440884033203125</c:v>
                </c:pt>
                <c:pt idx="6">
                  <c:v>0.326885498046875</c:v>
                </c:pt>
                <c:pt idx="7">
                  <c:v>0.3452287353515625</c:v>
                </c:pt>
                <c:pt idx="8">
                  <c:v>0.3351009033203125</c:v>
                </c:pt>
                <c:pt idx="9">
                  <c:v>0.332393212890625</c:v>
                </c:pt>
                <c:pt idx="10">
                  <c:v>0.35743515625</c:v>
                </c:pt>
                <c:pt idx="11">
                  <c:v>0.3343703369140625</c:v>
                </c:pt>
                <c:pt idx="12">
                  <c:v>0.3417707275390625</c:v>
                </c:pt>
                <c:pt idx="13">
                  <c:v>0.33616318359375</c:v>
                </c:pt>
                <c:pt idx="14">
                  <c:v>0.3497972412109375</c:v>
                </c:pt>
                <c:pt idx="15">
                  <c:v>0.353254150390625</c:v>
                </c:pt>
                <c:pt idx="16">
                  <c:v>0.36929091796875</c:v>
                </c:pt>
                <c:pt idx="17">
                  <c:v>0.36083876953125</c:v>
                </c:pt>
                <c:pt idx="18">
                  <c:v>0.3659529052734375</c:v>
                </c:pt>
                <c:pt idx="19">
                  <c:v>0.37963017578125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0.8251636363636363</c:v>
                </c:pt>
                <c:pt idx="1">
                  <c:v>0.8699636363636364</c:v>
                </c:pt>
                <c:pt idx="2">
                  <c:v>0.8822181818181818</c:v>
                </c:pt>
                <c:pt idx="3">
                  <c:v>0.8887454545454545</c:v>
                </c:pt>
                <c:pt idx="4">
                  <c:v>0.8973636363636364</c:v>
                </c:pt>
                <c:pt idx="5">
                  <c:v>0.9036</c:v>
                </c:pt>
                <c:pt idx="6">
                  <c:v>0.9054181818181818</c:v>
                </c:pt>
                <c:pt idx="7">
                  <c:v>0.9114909090909091</c:v>
                </c:pt>
                <c:pt idx="8">
                  <c:v>0.9150545454545455</c:v>
                </c:pt>
                <c:pt idx="9">
                  <c:v>0.9193636363636364</c:v>
                </c:pt>
                <c:pt idx="10">
                  <c:v>0.9224</c:v>
                </c:pt>
                <c:pt idx="11">
                  <c:v>0.9266</c:v>
                </c:pt>
                <c:pt idx="12">
                  <c:v>0.9290909090909091</c:v>
                </c:pt>
                <c:pt idx="13">
                  <c:v>0.9311090909090909</c:v>
                </c:pt>
                <c:pt idx="14">
                  <c:v>0.9336909090909091</c:v>
                </c:pt>
                <c:pt idx="15">
                  <c:v>0.9387636363636364</c:v>
                </c:pt>
                <c:pt idx="16">
                  <c:v>0.9383454545454546</c:v>
                </c:pt>
                <c:pt idx="17">
                  <c:v>0.9412909090909091</c:v>
                </c:pt>
                <c:pt idx="18">
                  <c:v>0.9424363636363636</c:v>
                </c:pt>
                <c:pt idx="19">
                  <c:v>0.9468</c:v>
                </c:pt>
              </c:numCache>
            </c:numRef>
          </c:val>
          <c:smooth val="0"/>
        </c:ser>
        <c:ser>
          <c:idx val="1"/>
          <c:order val="1"/>
          <c:tx>
            <c:strRef>
              <c:f>Sheet1!$C$1</c:f>
              <c:strCache>
                <c:ptCount val="1"/>
                <c:pt idx="0">
                  <c:v>validation accuracy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0.8512</c:v>
                </c:pt>
                <c:pt idx="1">
                  <c:v>0.8686</c:v>
                </c:pt>
                <c:pt idx="2">
                  <c:v>0.8734</c:v>
                </c:pt>
                <c:pt idx="3">
                  <c:v>0.874</c:v>
                </c:pt>
                <c:pt idx="4">
                  <c:v>0.888</c:v>
                </c:pt>
                <c:pt idx="5">
                  <c:v>0.8788</c:v>
                </c:pt>
                <c:pt idx="6">
                  <c:v>0.8878</c:v>
                </c:pt>
                <c:pt idx="7">
                  <c:v>0.8822</c:v>
                </c:pt>
                <c:pt idx="8">
                  <c:v>0.8854</c:v>
                </c:pt>
                <c:pt idx="9">
                  <c:v>0.8892</c:v>
                </c:pt>
                <c:pt idx="10">
                  <c:v>0.885</c:v>
                </c:pt>
                <c:pt idx="11">
                  <c:v>0.89</c:v>
                </c:pt>
                <c:pt idx="12">
                  <c:v>0.8878</c:v>
                </c:pt>
                <c:pt idx="13">
                  <c:v>0.8892</c:v>
                </c:pt>
                <c:pt idx="14">
                  <c:v>0.8916</c:v>
                </c:pt>
                <c:pt idx="15">
                  <c:v>0.8946</c:v>
                </c:pt>
                <c:pt idx="16">
                  <c:v>0.8884</c:v>
                </c:pt>
                <c:pt idx="17">
                  <c:v>0.8892</c:v>
                </c:pt>
                <c:pt idx="18">
                  <c:v>0.8928</c:v>
                </c:pt>
                <c:pt idx="19">
                  <c:v>0.8968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Product of L equal factors (log scale)</a:t>
            </a:r>
          </a:p>
        </c:rich>
      </c:tx>
      <c:layout/>
      <c:overlay val="0"/>
    </c:title>
    <c:autoTitleDeleted val="0"/>
    <c:plotArea>
      <c:layout/>
      <c:lineChart>
        <c:varyColors val="0"/>
        <c:ser>
          <c:idx val="0"/>
          <c:order val="0"/>
          <c:tx>
            <c:strRef>
              <c:f>Sheet1!$B$1</c:f>
              <c:strCache>
                <c:ptCount val="1"/>
                <c:pt idx="0">
                  <c:v>1.5</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1</c:v>
                </c:pt>
                <c:pt idx="1">
                  <c:v>1.5</c:v>
                </c:pt>
                <c:pt idx="2">
                  <c:v>2.25</c:v>
                </c:pt>
                <c:pt idx="3">
                  <c:v>3.375</c:v>
                </c:pt>
                <c:pt idx="4">
                  <c:v>5.0625</c:v>
                </c:pt>
                <c:pt idx="5">
                  <c:v>7.59375</c:v>
                </c:pt>
                <c:pt idx="6">
                  <c:v>11.390625</c:v>
                </c:pt>
                <c:pt idx="7">
                  <c:v>17.0859375</c:v>
                </c:pt>
                <c:pt idx="8">
                  <c:v>25.62890625</c:v>
                </c:pt>
                <c:pt idx="9">
                  <c:v>38.443359375</c:v>
                </c:pt>
                <c:pt idx="10">
                  <c:v>57.6650390625</c:v>
                </c:pt>
                <c:pt idx="11">
                  <c:v>86.49755859375</c:v>
                </c:pt>
                <c:pt idx="12">
                  <c:v>129.746337890625</c:v>
                </c:pt>
                <c:pt idx="13">
                  <c:v>194.6195068359375</c:v>
                </c:pt>
                <c:pt idx="14">
                  <c:v>291.92926025390625</c:v>
                </c:pt>
                <c:pt idx="15">
                  <c:v>437.8938903808594</c:v>
                </c:pt>
                <c:pt idx="16">
                  <c:v>656.8408355712891</c:v>
                </c:pt>
                <c:pt idx="17">
                  <c:v>985.2612533569336</c:v>
                </c:pt>
                <c:pt idx="18">
                  <c:v>1477.8918800354004</c:v>
                </c:pt>
                <c:pt idx="19">
                  <c:v>2216.8378200531006</c:v>
                </c:pt>
                <c:pt idx="20">
                  <c:v>3325.256730079651</c:v>
                </c:pt>
                <c:pt idx="21">
                  <c:v>4987.885095119476</c:v>
                </c:pt>
                <c:pt idx="22">
                  <c:v>7481.8276426792145</c:v>
                </c:pt>
                <c:pt idx="23">
                  <c:v>11222.741464018822</c:v>
                </c:pt>
                <c:pt idx="24">
                  <c:v>16834.112196028233</c:v>
                </c:pt>
                <c:pt idx="25">
                  <c:v>25251.16829404235</c:v>
                </c:pt>
                <c:pt idx="26">
                  <c:v>37876.75244106352</c:v>
                </c:pt>
                <c:pt idx="27">
                  <c:v>56815.128661595285</c:v>
                </c:pt>
                <c:pt idx="28">
                  <c:v>85222.69299239293</c:v>
                </c:pt>
                <c:pt idx="29">
                  <c:v>127834.03948858939</c:v>
                </c:pt>
                <c:pt idx="30">
                  <c:v>191751.0592328841</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1</c:v>
                </c:pt>
                <c:pt idx="1">
                  <c:v>1.1</c:v>
                </c:pt>
                <c:pt idx="2">
                  <c:v>1.2100000000000002</c:v>
                </c:pt>
                <c:pt idx="3">
                  <c:v>1.3310000000000004</c:v>
                </c:pt>
                <c:pt idx="4">
                  <c:v>1.4641000000000004</c:v>
                </c:pt>
                <c:pt idx="5">
                  <c:v>1.6105100000000006</c:v>
                </c:pt>
                <c:pt idx="6">
                  <c:v>1.7715610000000008</c:v>
                </c:pt>
                <c:pt idx="7">
                  <c:v>1.9487171000000012</c:v>
                </c:pt>
                <c:pt idx="8">
                  <c:v>2.1435888100000016</c:v>
                </c:pt>
                <c:pt idx="9">
                  <c:v>2.357947691000002</c:v>
                </c:pt>
                <c:pt idx="10">
                  <c:v>2.5937424601000023</c:v>
                </c:pt>
                <c:pt idx="11">
                  <c:v>2.8531167061100025</c:v>
                </c:pt>
                <c:pt idx="12">
                  <c:v>3.138428376721003</c:v>
                </c:pt>
                <c:pt idx="13">
                  <c:v>3.452271214393104</c:v>
                </c:pt>
                <c:pt idx="14">
                  <c:v>3.7974983358324144</c:v>
                </c:pt>
                <c:pt idx="15">
                  <c:v>4.177248169415656</c:v>
                </c:pt>
                <c:pt idx="16">
                  <c:v>4.594972986357222</c:v>
                </c:pt>
                <c:pt idx="17">
                  <c:v>5.054470284992945</c:v>
                </c:pt>
                <c:pt idx="18">
                  <c:v>5.55991731349224</c:v>
                </c:pt>
                <c:pt idx="19">
                  <c:v>6.115909044841464</c:v>
                </c:pt>
                <c:pt idx="20">
                  <c:v>6.727499949325611</c:v>
                </c:pt>
                <c:pt idx="21">
                  <c:v>7.400249944258173</c:v>
                </c:pt>
                <c:pt idx="22">
                  <c:v>8.14027493868399</c:v>
                </c:pt>
                <c:pt idx="23">
                  <c:v>8.95430243255239</c:v>
                </c:pt>
                <c:pt idx="24">
                  <c:v>9.84973267580763</c:v>
                </c:pt>
                <c:pt idx="25">
                  <c:v>10.834705943388395</c:v>
                </c:pt>
                <c:pt idx="26">
                  <c:v>11.918176537727234</c:v>
                </c:pt>
                <c:pt idx="27">
                  <c:v>13.10999419149996</c:v>
                </c:pt>
                <c:pt idx="28">
                  <c:v>14.420993610649957</c:v>
                </c:pt>
                <c:pt idx="29">
                  <c:v>15.863092971714952</c:v>
                </c:pt>
                <c:pt idx="30">
                  <c:v>17.44940226888645</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Sheet1!$E$2:$E$32</c:f>
              <c:numCache>
                <c:formatCode>General</c:formatCode>
                <c:ptCount val="31"/>
                <c:pt idx="0">
                  <c:v>1</c:v>
                </c:pt>
                <c:pt idx="1">
                  <c:v>0.9</c:v>
                </c:pt>
                <c:pt idx="2">
                  <c:v>0.81</c:v>
                </c:pt>
                <c:pt idx="3">
                  <c:v>0.7290000000000001</c:v>
                </c:pt>
                <c:pt idx="4">
                  <c:v>0.6561</c:v>
                </c:pt>
                <c:pt idx="5">
                  <c:v>0.5904900000000001</c:v>
                </c:pt>
                <c:pt idx="6">
                  <c:v>0.531441</c:v>
                </c:pt>
                <c:pt idx="7">
                  <c:v>0.4782969000000001</c:v>
                </c:pt>
                <c:pt idx="8">
                  <c:v>0.4304672100000001</c:v>
                </c:pt>
                <c:pt idx="9">
                  <c:v>0.3874204890000001</c:v>
                </c:pt>
                <c:pt idx="10">
                  <c:v>0.3486784401000001</c:v>
                </c:pt>
                <c:pt idx="11">
                  <c:v>0.31381059609000006</c:v>
                </c:pt>
                <c:pt idx="12">
                  <c:v>0.2824295364810001</c:v>
                </c:pt>
                <c:pt idx="13">
                  <c:v>0.2541865828329001</c:v>
                </c:pt>
                <c:pt idx="14">
                  <c:v>0.2287679245496101</c:v>
                </c:pt>
                <c:pt idx="15">
                  <c:v>0.20589113209464907</c:v>
                </c:pt>
                <c:pt idx="16">
                  <c:v>0.18530201888518416</c:v>
                </c:pt>
                <c:pt idx="17">
                  <c:v>0.16677181699666577</c:v>
                </c:pt>
                <c:pt idx="18">
                  <c:v>0.15009463529699918</c:v>
                </c:pt>
                <c:pt idx="19">
                  <c:v>0.13508517176729928</c:v>
                </c:pt>
                <c:pt idx="20">
                  <c:v>0.12157665459056935</c:v>
                </c:pt>
                <c:pt idx="21">
                  <c:v>0.10941898913151242</c:v>
                </c:pt>
                <c:pt idx="22">
                  <c:v>0.09847709021836118</c:v>
                </c:pt>
                <c:pt idx="23">
                  <c:v>0.08862938119652507</c:v>
                </c:pt>
                <c:pt idx="24">
                  <c:v>0.07976644307687256</c:v>
                </c:pt>
                <c:pt idx="25">
                  <c:v>0.0717897987691853</c:v>
                </c:pt>
                <c:pt idx="26">
                  <c:v>0.06461081889226677</c:v>
                </c:pt>
                <c:pt idx="27">
                  <c:v>0.058149737003040096</c:v>
                </c:pt>
                <c:pt idx="28">
                  <c:v>0.05233476330273609</c:v>
                </c:pt>
                <c:pt idx="29">
                  <c:v>0.047101286972462485</c:v>
                </c:pt>
                <c:pt idx="30">
                  <c:v>0.04239115827521624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Sheet1!$F$2:$F$32</c:f>
              <c:numCache>
                <c:formatCode>General</c:formatCode>
                <c:ptCount val="31"/>
                <c:pt idx="0">
                  <c:v>1</c:v>
                </c:pt>
                <c:pt idx="1">
                  <c:v>0.5</c:v>
                </c:pt>
                <c:pt idx="2">
                  <c:v>0.25</c:v>
                </c:pt>
                <c:pt idx="3">
                  <c:v>0.125</c:v>
                </c:pt>
                <c:pt idx="4">
                  <c:v>0.0625</c:v>
                </c:pt>
                <c:pt idx="5">
                  <c:v>0.03125</c:v>
                </c:pt>
                <c:pt idx="6">
                  <c:v>0.015625</c:v>
                </c:pt>
                <c:pt idx="7">
                  <c:v>0.0078125</c:v>
                </c:pt>
                <c:pt idx="8">
                  <c:v>0.00390625</c:v>
                </c:pt>
                <c:pt idx="9">
                  <c:v>0.001953125</c:v>
                </c:pt>
                <c:pt idx="10">
                  <c:v>0.0009765625</c:v>
                </c:pt>
                <c:pt idx="11">
                  <c:v>0.00048828125</c:v>
                </c:pt>
                <c:pt idx="12">
                  <c:v>0.000244140625</c:v>
                </c:pt>
                <c:pt idx="13">
                  <c:v>0.0001220703125</c:v>
                </c:pt>
                <c:pt idx="14">
                  <c:v>0.00006103515625</c:v>
                </c:pt>
                <c:pt idx="15">
                  <c:v>0.000030517578125</c:v>
                </c:pt>
                <c:pt idx="16">
                  <c:v>0.0000152587890625</c:v>
                </c:pt>
                <c:pt idx="17">
                  <c:v>0.00000762939453125</c:v>
                </c:pt>
                <c:pt idx="18">
                  <c:v>0.000003814697265625</c:v>
                </c:pt>
                <c:pt idx="19">
                  <c:v>0.0000019073486328125</c:v>
                </c:pt>
                <c:pt idx="20">
                  <c:v>9.5367431640625e-7</c:v>
                </c:pt>
                <c:pt idx="21">
                  <c:v>4.76837158203125e-7</c:v>
                </c:pt>
                <c:pt idx="22">
                  <c:v>2.384185791015625e-7</c:v>
                </c:pt>
                <c:pt idx="23">
                  <c:v>1.1920928955078125e-7</c:v>
                </c:pt>
                <c:pt idx="24">
                  <c:v>5.960464477539063e-8</c:v>
                </c:pt>
                <c:pt idx="25">
                  <c:v>2.9802322387695312e-8</c:v>
                </c:pt>
                <c:pt idx="26">
                  <c:v>1.4901161193847656e-8</c:v>
                </c:pt>
                <c:pt idx="27">
                  <c:v>7.450580596923828e-9</c:v>
                </c:pt>
                <c:pt idx="28">
                  <c:v>3.725290298461914e-9</c:v>
                </c:pt>
                <c:pt idx="29">
                  <c:v>1.862645149230957e-9</c:v>
                </c:pt>
                <c:pt idx="30">
                  <c:v>9.313225746154785e-10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
          <c:min val="1e-1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Std of activations by layer: He vs Xavier (log scale)</a:t>
            </a:r>
          </a:p>
        </c:rich>
      </c:tx>
      <c:layout/>
      <c:overlay val="0"/>
    </c:title>
    <c:autoTitleDeleted val="0"/>
    <c:plotArea>
      <c:layout/>
      <c:lineChart>
        <c:varyColors val="0"/>
        <c:ser>
          <c:idx val="0"/>
          <c:order val="0"/>
          <c:tx>
            <c:strRef>
              <c:f>Sheet1!$B$1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0.8217224567293241</c:v>
                </c:pt>
                <c:pt idx="1">
                  <c:v>0.8745301731437508</c:v>
                </c:pt>
                <c:pt idx="2">
                  <c:v>0.8376835379054053</c:v>
                </c:pt>
                <c:pt idx="3">
                  <c:v>0.8527607507160034</c:v>
                </c:pt>
                <c:pt idx="4">
                  <c:v>0.8134322615693115</c:v>
                </c:pt>
                <c:pt idx="5">
                  <c:v>0.8347153114516415</c:v>
                </c:pt>
                <c:pt idx="6">
                  <c:v>0.8403668564158442</c:v>
                </c:pt>
                <c:pt idx="7">
                  <c:v>0.8485927317263644</c:v>
                </c:pt>
                <c:pt idx="8">
                  <c:v>0.8105480990199855</c:v>
                </c:pt>
                <c:pt idx="9">
                  <c:v>0.8287578022076925</c:v>
                </c:pt>
                <c:pt idx="10">
                  <c:v>0.8952183774042194</c:v>
                </c:pt>
                <c:pt idx="11">
                  <c:v>0.9771052877558757</c:v>
                </c:pt>
                <c:pt idx="12">
                  <c:v>0.8960802628602372</c:v>
                </c:pt>
                <c:pt idx="13">
                  <c:v>1.0398907888096776</c:v>
                </c:pt>
                <c:pt idx="14">
                  <c:v>1.0526591747929608</c:v>
                </c:pt>
                <c:pt idx="15">
                  <c:v>1.0605046114535148</c:v>
                </c:pt>
                <c:pt idx="16">
                  <c:v>1.1361862086514505</c:v>
                </c:pt>
                <c:pt idx="17">
                  <c:v>1.0186757054184854</c:v>
                </c:pt>
                <c:pt idx="18">
                  <c:v>1.091111833145082</c:v>
                </c:pt>
                <c:pt idx="19">
                  <c:v>1.137196577702215</c:v>
                </c:pt>
              </c:numCache>
            </c:numRef>
          </c:val>
          <c:smooth val="0"/>
        </c:ser>
        <c:ser>
          <c:idx val="1"/>
          <c:order val="1"/>
          <c:tx>
            <c:strRef>
              <c:f>Sheet1!$C$1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0.5810455214065744</c:v>
                </c:pt>
                <c:pt idx="1">
                  <c:v>0.43726508657187535</c:v>
                </c:pt>
                <c:pt idx="2">
                  <c:v>0.2961658550706251</c:v>
                </c:pt>
                <c:pt idx="3">
                  <c:v>0.21319018767900083</c:v>
                </c:pt>
                <c:pt idx="4">
                  <c:v>0.14379586704789238</c:v>
                </c:pt>
                <c:pt idx="5">
                  <c:v>0.10433941393145513</c:v>
                </c:pt>
                <c:pt idx="6">
                  <c:v>0.07427863785700811</c:v>
                </c:pt>
                <c:pt idx="7">
                  <c:v>0.05303704573289775</c:v>
                </c:pt>
                <c:pt idx="8">
                  <c:v>0.03582150358093104</c:v>
                </c:pt>
                <c:pt idx="9">
                  <c:v>0.025898681318990372</c:v>
                </c:pt>
                <c:pt idx="10">
                  <c:v>0.019781718290791905</c:v>
                </c:pt>
                <c:pt idx="11">
                  <c:v>0.015267270121185545</c:v>
                </c:pt>
                <c:pt idx="12">
                  <c:v>0.009900381724310894</c:v>
                </c:pt>
                <c:pt idx="13">
                  <c:v>0.008124146787575599</c:v>
                </c:pt>
                <c:pt idx="14">
                  <c:v>0.0058151753185495085</c:v>
                </c:pt>
                <c:pt idx="15">
                  <c:v>0.004142596138490289</c:v>
                </c:pt>
                <c:pt idx="16">
                  <c:v>0.003138300675109661</c:v>
                </c:pt>
                <c:pt idx="17">
                  <c:v>0.0019896009871454767</c:v>
                </c:pt>
                <c:pt idx="18">
                  <c:v>0.0015068995629878346</c:v>
                </c:pt>
                <c:pt idx="19">
                  <c:v>0.0011105435329123179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logBase val="10"/>
          <c:orientation val="minMax"/>
          <c:max val="10"/>
          <c:min val="0.0001"/>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(seed 0)</a:t>
            </a:r>
          </a:p>
        </c:rich>
      </c:tx>
      <c:layout/>
      <c:overlay val="0"/>
    </c:title>
    <c:autoTitleDeleted val="0"/>
    <c:plotArea>
      <c:layout/>
      <c:lineChart>
        <c:varyColors val="0"/>
        <c:ser>
          <c:idx val="0"/>
          <c:order val="0"/>
          <c:tx>
            <c:strRef>
              <c:f>Sheet1!$B$1</c:f>
              <c:strCache>
                <c:ptCount val="1"/>
                <c:pt idx="0">
                  <c:v>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Sheet1!$B$2:$B$151</c:f>
              <c:numCache>
                <c:formatCode>General</c:formatCode>
                <c:ptCount val="150"/>
                <c:pt idx="0">
                  <c:v>0.9205572265625</c:v>
                </c:pt>
                <c:pt idx="1">
                  <c:v>0.729158154296875</c:v>
                </c:pt>
                <c:pt idx="2">
                  <c:v>0.643357666015625</c:v>
                </c:pt>
                <c:pt idx="3">
                  <c:v>0.617442724609375</c:v>
                </c:pt>
                <c:pt idx="4">
                  <c:v>0.627108056640625</c:v>
                </c:pt>
                <c:pt idx="5">
                  <c:v>0.61825966796875</c:v>
                </c:pt>
                <c:pt idx="6">
                  <c:v>0.580575048828125</c:v>
                </c:pt>
                <c:pt idx="7">
                  <c:v>0.604358154296875</c:v>
                </c:pt>
                <c:pt idx="8">
                  <c:v>0.577280419921875</c:v>
                </c:pt>
                <c:pt idx="9">
                  <c:v>0.608286181640625</c:v>
                </c:pt>
                <c:pt idx="10">
                  <c:v>0.599783642578125</c:v>
                </c:pt>
                <c:pt idx="11">
                  <c:v>0.5821537109375</c:v>
                </c:pt>
                <c:pt idx="12">
                  <c:v>0.5860369140625</c:v>
                </c:pt>
                <c:pt idx="13">
                  <c:v>0.596947998046875</c:v>
                </c:pt>
                <c:pt idx="14">
                  <c:v>0.609547900390625</c:v>
                </c:pt>
                <c:pt idx="15">
                  <c:v>0.600554931640625</c:v>
                </c:pt>
                <c:pt idx="16">
                  <c:v>0.61005625</c:v>
                </c:pt>
                <c:pt idx="17">
                  <c:v>0.61115400390625</c:v>
                </c:pt>
                <c:pt idx="18">
                  <c:v>0.613898388671875</c:v>
                </c:pt>
                <c:pt idx="19">
                  <c:v>0.6220533203125</c:v>
                </c:pt>
                <c:pt idx="20">
                  <c:v>0.62973173828125</c:v>
                </c:pt>
                <c:pt idx="21">
                  <c:v>0.63390830078125</c:v>
                </c:pt>
                <c:pt idx="22">
                  <c:v>0.647189990234375</c:v>
                </c:pt>
                <c:pt idx="23">
                  <c:v>0.64223427734375</c:v>
                </c:pt>
                <c:pt idx="24">
                  <c:v>0.655722705078125</c:v>
                </c:pt>
                <c:pt idx="25">
                  <c:v>0.65908623046875</c:v>
                </c:pt>
                <c:pt idx="26">
                  <c:v>0.675745458984375</c:v>
                </c:pt>
                <c:pt idx="27">
                  <c:v>0.6757076171875</c:v>
                </c:pt>
                <c:pt idx="28">
                  <c:v>0.693819091796875</c:v>
                </c:pt>
                <c:pt idx="29">
                  <c:v>0.72143984375</c:v>
                </c:pt>
                <c:pt idx="30">
                  <c:v>0.703533642578125</c:v>
                </c:pt>
                <c:pt idx="31">
                  <c:v>0.717040087890625</c:v>
                </c:pt>
                <c:pt idx="32">
                  <c:v>0.695734619140625</c:v>
                </c:pt>
                <c:pt idx="33">
                  <c:v>0.709453173828125</c:v>
                </c:pt>
                <c:pt idx="34">
                  <c:v>0.71643603515625</c:v>
                </c:pt>
                <c:pt idx="35">
                  <c:v>0.7175490234375</c:v>
                </c:pt>
                <c:pt idx="36">
                  <c:v>0.7338154296875</c:v>
                </c:pt>
                <c:pt idx="37">
                  <c:v>0.74339443359375</c:v>
                </c:pt>
                <c:pt idx="38">
                  <c:v>0.7553341796875</c:v>
                </c:pt>
                <c:pt idx="39">
                  <c:v>0.7573978515625</c:v>
                </c:pt>
                <c:pt idx="40">
                  <c:v>0.746588232421875</c:v>
                </c:pt>
                <c:pt idx="41">
                  <c:v>0.7574662109375</c:v>
                </c:pt>
                <c:pt idx="42">
                  <c:v>0.76071943359375</c:v>
                </c:pt>
                <c:pt idx="43">
                  <c:v>0.7742927734375</c:v>
                </c:pt>
                <c:pt idx="44">
                  <c:v>0.770003955078125</c:v>
                </c:pt>
                <c:pt idx="45">
                  <c:v>0.783309423828125</c:v>
                </c:pt>
                <c:pt idx="46">
                  <c:v>0.78120302734375</c:v>
                </c:pt>
                <c:pt idx="47">
                  <c:v>0.791747998046875</c:v>
                </c:pt>
                <c:pt idx="48">
                  <c:v>0.790400634765625</c:v>
                </c:pt>
                <c:pt idx="49">
                  <c:v>0.796155224609375</c:v>
                </c:pt>
                <c:pt idx="50">
                  <c:v>0.79908583984375</c:v>
                </c:pt>
                <c:pt idx="51">
                  <c:v>0.80345244140625</c:v>
                </c:pt>
                <c:pt idx="52">
                  <c:v>0.806477783203125</c:v>
                </c:pt>
                <c:pt idx="53">
                  <c:v>0.8106015625</c:v>
                </c:pt>
                <c:pt idx="54">
                  <c:v>0.814710400390625</c:v>
                </c:pt>
                <c:pt idx="55">
                  <c:v>0.8181125</c:v>
                </c:pt>
                <c:pt idx="56">
                  <c:v>0.8211115234375</c:v>
                </c:pt>
                <c:pt idx="57">
                  <c:v>0.82701025390625</c:v>
                </c:pt>
                <c:pt idx="58">
                  <c:v>0.8292501953125</c:v>
                </c:pt>
                <c:pt idx="59">
                  <c:v>0.8325494140625</c:v>
                </c:pt>
                <c:pt idx="60">
                  <c:v>0.83613857421875</c:v>
                </c:pt>
                <c:pt idx="61">
                  <c:v>0.83795517578125</c:v>
                </c:pt>
                <c:pt idx="62">
                  <c:v>0.84165869140625</c:v>
                </c:pt>
                <c:pt idx="63">
                  <c:v>0.845558203125</c:v>
                </c:pt>
                <c:pt idx="64">
                  <c:v>0.848715234375</c:v>
                </c:pt>
                <c:pt idx="65">
                  <c:v>0.85255927734375</c:v>
                </c:pt>
                <c:pt idx="66">
                  <c:v>0.85414345703125</c:v>
                </c:pt>
                <c:pt idx="67">
                  <c:v>0.8569080078125</c:v>
                </c:pt>
                <c:pt idx="68">
                  <c:v>0.8589009765625</c:v>
                </c:pt>
                <c:pt idx="69">
                  <c:v>0.86147880859375</c:v>
                </c:pt>
                <c:pt idx="70">
                  <c:v>0.866476171875</c:v>
                </c:pt>
                <c:pt idx="71">
                  <c:v>0.870354296875</c:v>
                </c:pt>
                <c:pt idx="72">
                  <c:v>0.8725875</c:v>
                </c:pt>
                <c:pt idx="73">
                  <c:v>0.87336728515625</c:v>
                </c:pt>
                <c:pt idx="74">
                  <c:v>0.8763166015625</c:v>
                </c:pt>
                <c:pt idx="75">
                  <c:v>0.87990556640625</c:v>
                </c:pt>
                <c:pt idx="76">
                  <c:v>0.881423046875</c:v>
                </c:pt>
                <c:pt idx="77">
                  <c:v>0.8852541015625</c:v>
                </c:pt>
                <c:pt idx="78">
                  <c:v>0.88739814453125</c:v>
                </c:pt>
                <c:pt idx="79">
                  <c:v>0.8894705078125</c:v>
                </c:pt>
                <c:pt idx="80">
                  <c:v>0.89185283203125</c:v>
                </c:pt>
                <c:pt idx="81">
                  <c:v>0.8950232421875</c:v>
                </c:pt>
                <c:pt idx="82">
                  <c:v>0.8976216796875</c:v>
                </c:pt>
                <c:pt idx="83">
                  <c:v>0.89921572265625</c:v>
                </c:pt>
                <c:pt idx="84">
                  <c:v>0.90144462890625</c:v>
                </c:pt>
                <c:pt idx="85">
                  <c:v>0.9043951171875</c:v>
                </c:pt>
                <c:pt idx="86">
                  <c:v>0.90623251953125</c:v>
                </c:pt>
                <c:pt idx="87">
                  <c:v>0.90886865234375</c:v>
                </c:pt>
                <c:pt idx="88">
                  <c:v>0.9116302734375</c:v>
                </c:pt>
                <c:pt idx="89">
                  <c:v>0.91455732421875</c:v>
                </c:pt>
                <c:pt idx="90">
                  <c:v>0.91488857421875</c:v>
                </c:pt>
                <c:pt idx="91">
                  <c:v>0.91717412109375</c:v>
                </c:pt>
                <c:pt idx="92">
                  <c:v>0.92018173828125</c:v>
                </c:pt>
                <c:pt idx="93">
                  <c:v>0.92188525390625</c:v>
                </c:pt>
                <c:pt idx="94">
                  <c:v>0.92418115234375</c:v>
                </c:pt>
                <c:pt idx="95">
                  <c:v>0.9254806640625</c:v>
                </c:pt>
                <c:pt idx="96">
                  <c:v>0.929119921875</c:v>
                </c:pt>
                <c:pt idx="97">
                  <c:v>0.930159765625</c:v>
                </c:pt>
                <c:pt idx="98">
                  <c:v>0.9328875</c:v>
                </c:pt>
                <c:pt idx="99">
                  <c:v>0.93419130859375</c:v>
                </c:pt>
                <c:pt idx="100">
                  <c:v>0.93775087890625</c:v>
                </c:pt>
                <c:pt idx="101">
                  <c:v>0.93834794921875</c:v>
                </c:pt>
                <c:pt idx="102">
                  <c:v>0.93989951171875</c:v>
                </c:pt>
                <c:pt idx="103">
                  <c:v>0.942295703125</c:v>
                </c:pt>
                <c:pt idx="104">
                  <c:v>0.944577734375</c:v>
                </c:pt>
                <c:pt idx="105">
                  <c:v>0.94483837890625</c:v>
                </c:pt>
                <c:pt idx="106">
                  <c:v>0.9493962890625</c:v>
                </c:pt>
                <c:pt idx="107">
                  <c:v>0.951325</c:v>
                </c:pt>
                <c:pt idx="108">
                  <c:v>0.95147734375</c:v>
                </c:pt>
                <c:pt idx="109">
                  <c:v>0.95354951171875</c:v>
                </c:pt>
                <c:pt idx="110">
                  <c:v>0.95712314453125</c:v>
                </c:pt>
                <c:pt idx="111">
                  <c:v>0.9579716796875</c:v>
                </c:pt>
                <c:pt idx="112">
                  <c:v>0.95738017578125</c:v>
                </c:pt>
                <c:pt idx="113">
                  <c:v>0.96169423828125</c:v>
                </c:pt>
                <c:pt idx="114">
                  <c:v>0.96417470703125</c:v>
                </c:pt>
                <c:pt idx="115">
                  <c:v>0.96520146484375</c:v>
                </c:pt>
                <c:pt idx="116">
                  <c:v>0.96679453125</c:v>
                </c:pt>
                <c:pt idx="117">
                  <c:v>0.968986328125</c:v>
                </c:pt>
                <c:pt idx="118">
                  <c:v>0.97146474609375</c:v>
                </c:pt>
                <c:pt idx="119">
                  <c:v>0.97212724609375</c:v>
                </c:pt>
                <c:pt idx="120">
                  <c:v>0.97356064453125</c:v>
                </c:pt>
                <c:pt idx="121">
                  <c:v>0.97549638671875</c:v>
                </c:pt>
                <c:pt idx="122">
                  <c:v>0.9786</c:v>
                </c:pt>
                <c:pt idx="123">
                  <c:v>0.97823779296875</c:v>
                </c:pt>
                <c:pt idx="124">
                  <c:v>0.9828966796875</c:v>
                </c:pt>
                <c:pt idx="125">
                  <c:v>0.98288349609375</c:v>
                </c:pt>
                <c:pt idx="126">
                  <c:v>0.98398134765625</c:v>
                </c:pt>
                <c:pt idx="127">
                  <c:v>0.985890625</c:v>
                </c:pt>
                <c:pt idx="128">
                  <c:v>0.9877501953125</c:v>
                </c:pt>
                <c:pt idx="129">
                  <c:v>0.9895302734375</c:v>
                </c:pt>
                <c:pt idx="130">
                  <c:v>0.990445703125</c:v>
                </c:pt>
                <c:pt idx="131">
                  <c:v>0.99307431640625</c:v>
                </c:pt>
                <c:pt idx="132">
                  <c:v>0.9947951171875</c:v>
                </c:pt>
                <c:pt idx="133">
                  <c:v>0.99554287109375</c:v>
                </c:pt>
                <c:pt idx="134">
                  <c:v>0.997053125</c:v>
                </c:pt>
                <c:pt idx="135">
                  <c:v>0.99899345703125</c:v>
                </c:pt>
                <c:pt idx="136">
                  <c:v>1.00115419921875</c:v>
                </c:pt>
                <c:pt idx="137">
                  <c:v>1.001858203125</c:v>
                </c:pt>
                <c:pt idx="138">
                  <c:v>1.00404462890625</c:v>
                </c:pt>
                <c:pt idx="139">
                  <c:v>1.00556787109375</c:v>
                </c:pt>
                <c:pt idx="140">
                  <c:v>1.00698662109375</c:v>
                </c:pt>
                <c:pt idx="141">
                  <c:v>1.008296875</c:v>
                </c:pt>
                <c:pt idx="142">
                  <c:v>1.01027646484375</c:v>
                </c:pt>
                <c:pt idx="143">
                  <c:v>1.01165703125</c:v>
                </c:pt>
                <c:pt idx="144">
                  <c:v>1.012962890625</c:v>
                </c:pt>
                <c:pt idx="145">
                  <c:v>1.01499033203125</c:v>
                </c:pt>
                <c:pt idx="146">
                  <c:v>1.01664736328125</c:v>
                </c:pt>
                <c:pt idx="147">
                  <c:v>1.01716240234375</c:v>
                </c:pt>
                <c:pt idx="148">
                  <c:v>1.01926630859375</c:v>
                </c:pt>
                <c:pt idx="149">
                  <c:v>1.02154267578125</c:v>
                </c:pt>
              </c:numCache>
            </c:numRef>
          </c:val>
          <c:smooth val="0"/>
        </c:ser>
        <c:ser>
          <c:idx val="1"/>
          <c:order val="1"/>
          <c:tx>
            <c:strRef>
              <c:f>Sheet1!$C$1</c:f>
              <c:strCache>
                <c:ptCount val="1"/>
                <c:pt idx="0">
                  <c:v>dropout 0.5</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Sheet1!$C$2:$C$151</c:f>
              <c:numCache>
                <c:formatCode>General</c:formatCode>
                <c:ptCount val="150"/>
                <c:pt idx="0">
                  <c:v>1.4982814453125</c:v>
                </c:pt>
                <c:pt idx="1">
                  <c:v>1.24337333984375</c:v>
                </c:pt>
                <c:pt idx="2">
                  <c:v>1.09190078125</c:v>
                </c:pt>
                <c:pt idx="3">
                  <c:v>1.01501787109375</c:v>
                </c:pt>
                <c:pt idx="4">
                  <c:v>0.910117578125</c:v>
                </c:pt>
                <c:pt idx="5">
                  <c:v>0.8792537109375</c:v>
                </c:pt>
                <c:pt idx="6">
                  <c:v>0.8337734375</c:v>
                </c:pt>
                <c:pt idx="7">
                  <c:v>0.7955435546875</c:v>
                </c:pt>
                <c:pt idx="8">
                  <c:v>0.7442216796875</c:v>
                </c:pt>
                <c:pt idx="9">
                  <c:v>0.7340849609375</c:v>
                </c:pt>
                <c:pt idx="10">
                  <c:v>0.72290126953125</c:v>
                </c:pt>
                <c:pt idx="11">
                  <c:v>0.6737869140625</c:v>
                </c:pt>
                <c:pt idx="12">
                  <c:v>0.6533111328125</c:v>
                </c:pt>
                <c:pt idx="13">
                  <c:v>0.647772021484375</c:v>
                </c:pt>
                <c:pt idx="14">
                  <c:v>0.635680908203125</c:v>
                </c:pt>
                <c:pt idx="15">
                  <c:v>0.625043505859375</c:v>
                </c:pt>
                <c:pt idx="16">
                  <c:v>0.617084228515625</c:v>
                </c:pt>
                <c:pt idx="17">
                  <c:v>0.62146640625</c:v>
                </c:pt>
                <c:pt idx="18">
                  <c:v>0.5958875</c:v>
                </c:pt>
                <c:pt idx="19">
                  <c:v>0.59372490234375</c:v>
                </c:pt>
                <c:pt idx="20">
                  <c:v>0.60634345703125</c:v>
                </c:pt>
                <c:pt idx="21">
                  <c:v>0.589158984375</c:v>
                </c:pt>
                <c:pt idx="22">
                  <c:v>0.5799787109375</c:v>
                </c:pt>
                <c:pt idx="23">
                  <c:v>0.585282421875</c:v>
                </c:pt>
                <c:pt idx="24">
                  <c:v>0.569490576171875</c:v>
                </c:pt>
                <c:pt idx="25">
                  <c:v>0.57023212890625</c:v>
                </c:pt>
                <c:pt idx="26">
                  <c:v>0.569212451171875</c:v>
                </c:pt>
                <c:pt idx="27">
                  <c:v>0.579396337890625</c:v>
                </c:pt>
                <c:pt idx="28">
                  <c:v>0.5679404296875</c:v>
                </c:pt>
                <c:pt idx="29">
                  <c:v>0.586103173828125</c:v>
                </c:pt>
                <c:pt idx="30">
                  <c:v>0.561885400390625</c:v>
                </c:pt>
                <c:pt idx="31">
                  <c:v>0.555329443359375</c:v>
                </c:pt>
                <c:pt idx="32">
                  <c:v>0.5640134765625</c:v>
                </c:pt>
                <c:pt idx="33">
                  <c:v>0.567054052734375</c:v>
                </c:pt>
                <c:pt idx="34">
                  <c:v>0.566583544921875</c:v>
                </c:pt>
                <c:pt idx="35">
                  <c:v>0.567397802734375</c:v>
                </c:pt>
                <c:pt idx="36">
                  <c:v>0.572549658203125</c:v>
                </c:pt>
                <c:pt idx="37">
                  <c:v>0.56363671875</c:v>
                </c:pt>
                <c:pt idx="38">
                  <c:v>0.557422509765625</c:v>
                </c:pt>
                <c:pt idx="39">
                  <c:v>0.55491826171875</c:v>
                </c:pt>
                <c:pt idx="40">
                  <c:v>0.5596142578125</c:v>
                </c:pt>
                <c:pt idx="41">
                  <c:v>0.565481640625</c:v>
                </c:pt>
                <c:pt idx="42">
                  <c:v>0.5529576171875</c:v>
                </c:pt>
                <c:pt idx="43">
                  <c:v>0.559710888671875</c:v>
                </c:pt>
                <c:pt idx="44">
                  <c:v>0.55783720703125</c:v>
                </c:pt>
                <c:pt idx="45">
                  <c:v>0.5756283203125</c:v>
                </c:pt>
                <c:pt idx="46">
                  <c:v>0.566545703125</c:v>
                </c:pt>
                <c:pt idx="47">
                  <c:v>0.56683671875</c:v>
                </c:pt>
                <c:pt idx="48">
                  <c:v>0.577789697265625</c:v>
                </c:pt>
                <c:pt idx="49">
                  <c:v>0.570763671875</c:v>
                </c:pt>
                <c:pt idx="50">
                  <c:v>0.578118994140625</c:v>
                </c:pt>
                <c:pt idx="51">
                  <c:v>0.561968505859375</c:v>
                </c:pt>
                <c:pt idx="52">
                  <c:v>0.568562841796875</c:v>
                </c:pt>
                <c:pt idx="53">
                  <c:v>0.57130712890625</c:v>
                </c:pt>
                <c:pt idx="54">
                  <c:v>0.593339404296875</c:v>
                </c:pt>
                <c:pt idx="55">
                  <c:v>0.588653759765625</c:v>
                </c:pt>
                <c:pt idx="56">
                  <c:v>0.585651611328125</c:v>
                </c:pt>
                <c:pt idx="57">
                  <c:v>0.614200244140625</c:v>
                </c:pt>
                <c:pt idx="58">
                  <c:v>0.599002197265625</c:v>
                </c:pt>
                <c:pt idx="59">
                  <c:v>0.588909619140625</c:v>
                </c:pt>
                <c:pt idx="60">
                  <c:v>0.60811572265625</c:v>
                </c:pt>
                <c:pt idx="61">
                  <c:v>0.591985400390625</c:v>
                </c:pt>
                <c:pt idx="62">
                  <c:v>0.596729296875</c:v>
                </c:pt>
                <c:pt idx="63">
                  <c:v>0.59014423828125</c:v>
                </c:pt>
                <c:pt idx="64">
                  <c:v>0.609818896484375</c:v>
                </c:pt>
                <c:pt idx="65">
                  <c:v>0.59251240234375</c:v>
                </c:pt>
                <c:pt idx="66">
                  <c:v>0.59731015625</c:v>
                </c:pt>
                <c:pt idx="67">
                  <c:v>0.60777978515625</c:v>
                </c:pt>
                <c:pt idx="68">
                  <c:v>0.622851513671875</c:v>
                </c:pt>
                <c:pt idx="69">
                  <c:v>0.617520263671875</c:v>
                </c:pt>
                <c:pt idx="70">
                  <c:v>0.6277634765625</c:v>
                </c:pt>
                <c:pt idx="71">
                  <c:v>0.62350302734375</c:v>
                </c:pt>
                <c:pt idx="72">
                  <c:v>0.64466591796875</c:v>
                </c:pt>
                <c:pt idx="73">
                  <c:v>0.627295263671875</c:v>
                </c:pt>
                <c:pt idx="74">
                  <c:v>0.634750634765625</c:v>
                </c:pt>
                <c:pt idx="75">
                  <c:v>0.657609130859375</c:v>
                </c:pt>
                <c:pt idx="76">
                  <c:v>0.641531689453125</c:v>
                </c:pt>
                <c:pt idx="77">
                  <c:v>0.655220458984375</c:v>
                </c:pt>
                <c:pt idx="78">
                  <c:v>0.65457939453125</c:v>
                </c:pt>
                <c:pt idx="79">
                  <c:v>0.68354638671875</c:v>
                </c:pt>
                <c:pt idx="80">
                  <c:v>0.6676484375</c:v>
                </c:pt>
                <c:pt idx="81">
                  <c:v>0.67400087890625</c:v>
                </c:pt>
                <c:pt idx="82">
                  <c:v>0.677611279296875</c:v>
                </c:pt>
                <c:pt idx="83">
                  <c:v>0.69504345703125</c:v>
                </c:pt>
                <c:pt idx="84">
                  <c:v>0.659295654296875</c:v>
                </c:pt>
                <c:pt idx="85">
                  <c:v>0.68158134765625</c:v>
                </c:pt>
                <c:pt idx="86">
                  <c:v>0.693645947265625</c:v>
                </c:pt>
                <c:pt idx="87">
                  <c:v>0.677118896484375</c:v>
                </c:pt>
                <c:pt idx="88">
                  <c:v>0.6821154296875</c:v>
                </c:pt>
                <c:pt idx="89">
                  <c:v>0.697804443359375</c:v>
                </c:pt>
                <c:pt idx="90">
                  <c:v>0.6835236328125</c:v>
                </c:pt>
                <c:pt idx="91">
                  <c:v>0.712336474609375</c:v>
                </c:pt>
                <c:pt idx="92">
                  <c:v>0.69279111328125</c:v>
                </c:pt>
                <c:pt idx="93">
                  <c:v>0.701838330078125</c:v>
                </c:pt>
                <c:pt idx="94">
                  <c:v>0.7339013671875</c:v>
                </c:pt>
                <c:pt idx="95">
                  <c:v>0.721166259765625</c:v>
                </c:pt>
                <c:pt idx="96">
                  <c:v>0.723206494140625</c:v>
                </c:pt>
                <c:pt idx="97">
                  <c:v>0.7190109375</c:v>
                </c:pt>
                <c:pt idx="98">
                  <c:v>0.72348564453125</c:v>
                </c:pt>
                <c:pt idx="99">
                  <c:v>0.7294681640625</c:v>
                </c:pt>
                <c:pt idx="100">
                  <c:v>0.761977490234375</c:v>
                </c:pt>
                <c:pt idx="101">
                  <c:v>0.732439306640625</c:v>
                </c:pt>
                <c:pt idx="102">
                  <c:v>0.739262451171875</c:v>
                </c:pt>
                <c:pt idx="103">
                  <c:v>0.752981591796875</c:v>
                </c:pt>
                <c:pt idx="104">
                  <c:v>0.7258408203125</c:v>
                </c:pt>
                <c:pt idx="105">
                  <c:v>0.734003857421875</c:v>
                </c:pt>
                <c:pt idx="106">
                  <c:v>0.756754150390625</c:v>
                </c:pt>
                <c:pt idx="107">
                  <c:v>0.761866748046875</c:v>
                </c:pt>
                <c:pt idx="108">
                  <c:v>0.72968173828125</c:v>
                </c:pt>
                <c:pt idx="109">
                  <c:v>0.7728984375</c:v>
                </c:pt>
                <c:pt idx="110">
                  <c:v>0.77052802734375</c:v>
                </c:pt>
                <c:pt idx="111">
                  <c:v>0.7525185546875</c:v>
                </c:pt>
                <c:pt idx="112">
                  <c:v>0.790880712890625</c:v>
                </c:pt>
                <c:pt idx="113">
                  <c:v>0.803530517578125</c:v>
                </c:pt>
                <c:pt idx="114">
                  <c:v>0.801663720703125</c:v>
                </c:pt>
                <c:pt idx="115">
                  <c:v>0.79989873046875</c:v>
                </c:pt>
                <c:pt idx="116">
                  <c:v>0.79926865234375</c:v>
                </c:pt>
                <c:pt idx="117">
                  <c:v>0.8389216796875</c:v>
                </c:pt>
                <c:pt idx="118">
                  <c:v>0.8371720703125</c:v>
                </c:pt>
                <c:pt idx="119">
                  <c:v>0.82477978515625</c:v>
                </c:pt>
                <c:pt idx="120">
                  <c:v>0.8198439453125</c:v>
                </c:pt>
                <c:pt idx="121">
                  <c:v>0.775583544921875</c:v>
                </c:pt>
                <c:pt idx="122">
                  <c:v>0.781543994140625</c:v>
                </c:pt>
                <c:pt idx="123">
                  <c:v>0.803007373046875</c:v>
                </c:pt>
                <c:pt idx="124">
                  <c:v>0.83214951171875</c:v>
                </c:pt>
                <c:pt idx="125">
                  <c:v>0.8381119140625</c:v>
                </c:pt>
                <c:pt idx="126">
                  <c:v>0.8382771484375</c:v>
                </c:pt>
                <c:pt idx="127">
                  <c:v>0.856948046875</c:v>
                </c:pt>
                <c:pt idx="128">
                  <c:v>0.816104345703125</c:v>
                </c:pt>
                <c:pt idx="129">
                  <c:v>0.765689892578125</c:v>
                </c:pt>
                <c:pt idx="130">
                  <c:v>0.84628994140625</c:v>
                </c:pt>
                <c:pt idx="131">
                  <c:v>0.8513626953125</c:v>
                </c:pt>
                <c:pt idx="132">
                  <c:v>0.796778173828125</c:v>
                </c:pt>
                <c:pt idx="133">
                  <c:v>0.796872314453125</c:v>
                </c:pt>
                <c:pt idx="134">
                  <c:v>0.84210576171875</c:v>
                </c:pt>
                <c:pt idx="135">
                  <c:v>0.8672369140625</c:v>
                </c:pt>
                <c:pt idx="136">
                  <c:v>0.8591740234375</c:v>
                </c:pt>
                <c:pt idx="137">
                  <c:v>0.8938392578125</c:v>
                </c:pt>
                <c:pt idx="138">
                  <c:v>0.8647615234375</c:v>
                </c:pt>
                <c:pt idx="139">
                  <c:v>0.8801388671875</c:v>
                </c:pt>
                <c:pt idx="140">
                  <c:v>0.897866015625</c:v>
                </c:pt>
                <c:pt idx="141">
                  <c:v>0.8597654296875</c:v>
                </c:pt>
                <c:pt idx="142">
                  <c:v>0.87036044921875</c:v>
                </c:pt>
                <c:pt idx="143">
                  <c:v>0.90202880859375</c:v>
                </c:pt>
                <c:pt idx="144">
                  <c:v>0.9005978515625</c:v>
                </c:pt>
                <c:pt idx="145">
                  <c:v>0.916262109375</c:v>
                </c:pt>
                <c:pt idx="146">
                  <c:v>0.91490830078125</c:v>
                </c:pt>
                <c:pt idx="147">
                  <c:v>0.9500818359375</c:v>
                </c:pt>
                <c:pt idx="148">
                  <c:v>0.95024169921875</c:v>
                </c:pt>
                <c:pt idx="149">
                  <c:v>0.89945908203125</c:v>
                </c:pt>
              </c:numCache>
            </c:numRef>
          </c:val>
          <c:smooth val="0"/>
        </c:ser>
        <c:ser>
          <c:idx val="2"/>
          <c:order val="2"/>
          <c:tx>
            <c:strRef>
              <c:f>Sheet1!$D$1</c:f>
              <c:strCache>
                <c:ptCount val="1"/>
                <c:pt idx="0">
                  <c:v>weight decay</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Sheet1!$D$2:$D$151</c:f>
              <c:numCache>
                <c:formatCode>General</c:formatCode>
                <c:ptCount val="150"/>
                <c:pt idx="0">
                  <c:v>0.9182908203125</c:v>
                </c:pt>
                <c:pt idx="1">
                  <c:v>0.725303271484375</c:v>
                </c:pt>
                <c:pt idx="2">
                  <c:v>0.63627861328125</c:v>
                </c:pt>
                <c:pt idx="3">
                  <c:v>0.616428173828125</c:v>
                </c:pt>
                <c:pt idx="4">
                  <c:v>0.621961669921875</c:v>
                </c:pt>
                <c:pt idx="5">
                  <c:v>0.603164453125</c:v>
                </c:pt>
                <c:pt idx="6">
                  <c:v>0.572836767578125</c:v>
                </c:pt>
                <c:pt idx="7">
                  <c:v>0.590778466796875</c:v>
                </c:pt>
                <c:pt idx="8">
                  <c:v>0.57210185546875</c:v>
                </c:pt>
                <c:pt idx="9">
                  <c:v>0.59641357421875</c:v>
                </c:pt>
                <c:pt idx="10">
                  <c:v>0.58204521484375</c:v>
                </c:pt>
                <c:pt idx="11">
                  <c:v>0.572354931640625</c:v>
                </c:pt>
                <c:pt idx="12">
                  <c:v>0.56302822265625</c:v>
                </c:pt>
                <c:pt idx="13">
                  <c:v>0.57252607421875</c:v>
                </c:pt>
                <c:pt idx="14">
                  <c:v>0.5830025390625</c:v>
                </c:pt>
                <c:pt idx="15">
                  <c:v>0.5739736328125</c:v>
                </c:pt>
                <c:pt idx="16">
                  <c:v>0.589277587890625</c:v>
                </c:pt>
                <c:pt idx="17">
                  <c:v>0.586977685546875</c:v>
                </c:pt>
                <c:pt idx="18">
                  <c:v>0.582915283203125</c:v>
                </c:pt>
                <c:pt idx="19">
                  <c:v>0.5854302734375</c:v>
                </c:pt>
                <c:pt idx="20">
                  <c:v>0.594875244140625</c:v>
                </c:pt>
                <c:pt idx="21">
                  <c:v>0.59711591796875</c:v>
                </c:pt>
                <c:pt idx="22">
                  <c:v>0.609837646484375</c:v>
                </c:pt>
                <c:pt idx="23">
                  <c:v>0.6032345703125</c:v>
                </c:pt>
                <c:pt idx="24">
                  <c:v>0.606186328125</c:v>
                </c:pt>
                <c:pt idx="25">
                  <c:v>0.608240576171875</c:v>
                </c:pt>
                <c:pt idx="26">
                  <c:v>0.6301546875</c:v>
                </c:pt>
                <c:pt idx="27">
                  <c:v>0.623580322265625</c:v>
                </c:pt>
                <c:pt idx="28">
                  <c:v>0.630319970703125</c:v>
                </c:pt>
                <c:pt idx="29">
                  <c:v>0.65043486328125</c:v>
                </c:pt>
                <c:pt idx="30">
                  <c:v>0.661162451171875</c:v>
                </c:pt>
                <c:pt idx="31">
                  <c:v>0.6550962890625</c:v>
                </c:pt>
                <c:pt idx="32">
                  <c:v>0.6353431640625</c:v>
                </c:pt>
                <c:pt idx="33">
                  <c:v>0.642680908203125</c:v>
                </c:pt>
                <c:pt idx="34">
                  <c:v>0.656615966796875</c:v>
                </c:pt>
                <c:pt idx="35">
                  <c:v>0.661027685546875</c:v>
                </c:pt>
                <c:pt idx="36">
                  <c:v>0.661622509765625</c:v>
                </c:pt>
                <c:pt idx="37">
                  <c:v>0.665768603515625</c:v>
                </c:pt>
                <c:pt idx="38">
                  <c:v>0.662282568359375</c:v>
                </c:pt>
                <c:pt idx="39">
                  <c:v>0.669406103515625</c:v>
                </c:pt>
                <c:pt idx="40">
                  <c:v>0.6807146484375</c:v>
                </c:pt>
                <c:pt idx="41">
                  <c:v>0.678071728515625</c:v>
                </c:pt>
                <c:pt idx="42">
                  <c:v>0.670553564453125</c:v>
                </c:pt>
                <c:pt idx="43">
                  <c:v>0.6757900390625</c:v>
                </c:pt>
                <c:pt idx="44">
                  <c:v>0.679077490234375</c:v>
                </c:pt>
                <c:pt idx="45">
                  <c:v>0.68385498046875</c:v>
                </c:pt>
                <c:pt idx="46">
                  <c:v>0.68408916015625</c:v>
                </c:pt>
                <c:pt idx="47">
                  <c:v>0.6863779296875</c:v>
                </c:pt>
                <c:pt idx="48">
                  <c:v>0.68942568359375</c:v>
                </c:pt>
                <c:pt idx="49">
                  <c:v>0.689435791015625</c:v>
                </c:pt>
                <c:pt idx="50">
                  <c:v>0.693880712890625</c:v>
                </c:pt>
                <c:pt idx="51">
                  <c:v>0.690309619140625</c:v>
                </c:pt>
                <c:pt idx="52">
                  <c:v>0.691233837890625</c:v>
                </c:pt>
                <c:pt idx="53">
                  <c:v>0.6932115234375</c:v>
                </c:pt>
                <c:pt idx="54">
                  <c:v>0.702096484375</c:v>
                </c:pt>
                <c:pt idx="55">
                  <c:v>0.697822216796875</c:v>
                </c:pt>
                <c:pt idx="56">
                  <c:v>0.69930224609375</c:v>
                </c:pt>
                <c:pt idx="57">
                  <c:v>0.708000537109375</c:v>
                </c:pt>
                <c:pt idx="58">
                  <c:v>0.7034314453125</c:v>
                </c:pt>
                <c:pt idx="59">
                  <c:v>0.7001103515625</c:v>
                </c:pt>
                <c:pt idx="60">
                  <c:v>0.7019732421875</c:v>
                </c:pt>
                <c:pt idx="61">
                  <c:v>0.708052392578125</c:v>
                </c:pt>
                <c:pt idx="62">
                  <c:v>0.7082779296875</c:v>
                </c:pt>
                <c:pt idx="63">
                  <c:v>0.706358056640625</c:v>
                </c:pt>
                <c:pt idx="64">
                  <c:v>0.712835498046875</c:v>
                </c:pt>
                <c:pt idx="65">
                  <c:v>0.716136474609375</c:v>
                </c:pt>
                <c:pt idx="66">
                  <c:v>0.722304638671875</c:v>
                </c:pt>
                <c:pt idx="67">
                  <c:v>0.7173634765625</c:v>
                </c:pt>
                <c:pt idx="68">
                  <c:v>0.713144921875</c:v>
                </c:pt>
                <c:pt idx="69">
                  <c:v>0.71939716796875</c:v>
                </c:pt>
                <c:pt idx="70">
                  <c:v>0.720950732421875</c:v>
                </c:pt>
                <c:pt idx="71">
                  <c:v>0.72810341796875</c:v>
                </c:pt>
                <c:pt idx="72">
                  <c:v>0.7288419921875</c:v>
                </c:pt>
                <c:pt idx="73">
                  <c:v>0.7185623046875</c:v>
                </c:pt>
                <c:pt idx="74">
                  <c:v>0.72108486328125</c:v>
                </c:pt>
                <c:pt idx="75">
                  <c:v>0.72357568359375</c:v>
                </c:pt>
                <c:pt idx="76">
                  <c:v>0.725337841796875</c:v>
                </c:pt>
                <c:pt idx="77">
                  <c:v>0.723323046875</c:v>
                </c:pt>
                <c:pt idx="78">
                  <c:v>0.726525537109375</c:v>
                </c:pt>
                <c:pt idx="79">
                  <c:v>0.725284912109375</c:v>
                </c:pt>
                <c:pt idx="80">
                  <c:v>0.72404365234375</c:v>
                </c:pt>
                <c:pt idx="81">
                  <c:v>0.727695947265625</c:v>
                </c:pt>
                <c:pt idx="82">
                  <c:v>0.730347021484375</c:v>
                </c:pt>
                <c:pt idx="83">
                  <c:v>0.72698564453125</c:v>
                </c:pt>
                <c:pt idx="84">
                  <c:v>0.72931767578125</c:v>
                </c:pt>
                <c:pt idx="85">
                  <c:v>0.732845849609375</c:v>
                </c:pt>
                <c:pt idx="86">
                  <c:v>0.73239990234375</c:v>
                </c:pt>
                <c:pt idx="87">
                  <c:v>0.737054248046875</c:v>
                </c:pt>
                <c:pt idx="88">
                  <c:v>0.740253759765625</c:v>
                </c:pt>
                <c:pt idx="89">
                  <c:v>0.733301318359375</c:v>
                </c:pt>
                <c:pt idx="90">
                  <c:v>0.737197998046875</c:v>
                </c:pt>
                <c:pt idx="91">
                  <c:v>0.74356181640625</c:v>
                </c:pt>
                <c:pt idx="92">
                  <c:v>0.73793203125</c:v>
                </c:pt>
                <c:pt idx="93">
                  <c:v>0.741897802734375</c:v>
                </c:pt>
                <c:pt idx="94">
                  <c:v>0.73978671875</c:v>
                </c:pt>
                <c:pt idx="95">
                  <c:v>0.73895751953125</c:v>
                </c:pt>
                <c:pt idx="96">
                  <c:v>0.7375017578125</c:v>
                </c:pt>
                <c:pt idx="97">
                  <c:v>0.74175947265625</c:v>
                </c:pt>
                <c:pt idx="98">
                  <c:v>0.7427056640625</c:v>
                </c:pt>
                <c:pt idx="99">
                  <c:v>0.741665283203125</c:v>
                </c:pt>
                <c:pt idx="100">
                  <c:v>0.743619287109375</c:v>
                </c:pt>
                <c:pt idx="101">
                  <c:v>0.74998447265625</c:v>
                </c:pt>
                <c:pt idx="102">
                  <c:v>0.742665234375</c:v>
                </c:pt>
                <c:pt idx="103">
                  <c:v>0.745906982421875</c:v>
                </c:pt>
                <c:pt idx="104">
                  <c:v>0.745031298828125</c:v>
                </c:pt>
                <c:pt idx="105">
                  <c:v>0.74913427734375</c:v>
                </c:pt>
                <c:pt idx="106">
                  <c:v>0.753320166015625</c:v>
                </c:pt>
                <c:pt idx="107">
                  <c:v>0.743970849609375</c:v>
                </c:pt>
                <c:pt idx="108">
                  <c:v>0.752380712890625</c:v>
                </c:pt>
                <c:pt idx="109">
                  <c:v>0.7473599609375</c:v>
                </c:pt>
                <c:pt idx="110">
                  <c:v>0.751996826171875</c:v>
                </c:pt>
                <c:pt idx="111">
                  <c:v>0.748443701171875</c:v>
                </c:pt>
                <c:pt idx="112">
                  <c:v>0.755088134765625</c:v>
                </c:pt>
                <c:pt idx="113">
                  <c:v>0.753168701171875</c:v>
                </c:pt>
                <c:pt idx="114">
                  <c:v>0.759500732421875</c:v>
                </c:pt>
                <c:pt idx="115">
                  <c:v>0.7540095703125</c:v>
                </c:pt>
                <c:pt idx="116">
                  <c:v>0.76069228515625</c:v>
                </c:pt>
                <c:pt idx="117">
                  <c:v>0.755873486328125</c:v>
                </c:pt>
                <c:pt idx="118">
                  <c:v>0.75885703125</c:v>
                </c:pt>
                <c:pt idx="119">
                  <c:v>0.76215068359375</c:v>
                </c:pt>
                <c:pt idx="120">
                  <c:v>0.758456787109375</c:v>
                </c:pt>
                <c:pt idx="121">
                  <c:v>0.769800146484375</c:v>
                </c:pt>
                <c:pt idx="122">
                  <c:v>0.761304541015625</c:v>
                </c:pt>
                <c:pt idx="123">
                  <c:v>0.767208642578125</c:v>
                </c:pt>
                <c:pt idx="124">
                  <c:v>0.764388037109375</c:v>
                </c:pt>
                <c:pt idx="125">
                  <c:v>0.775343017578125</c:v>
                </c:pt>
                <c:pt idx="126">
                  <c:v>0.764877490234375</c:v>
                </c:pt>
                <c:pt idx="127">
                  <c:v>0.770344384765625</c:v>
                </c:pt>
                <c:pt idx="128">
                  <c:v>0.769872802734375</c:v>
                </c:pt>
                <c:pt idx="129">
                  <c:v>0.774068408203125</c:v>
                </c:pt>
                <c:pt idx="130">
                  <c:v>0.770896240234375</c:v>
                </c:pt>
                <c:pt idx="131">
                  <c:v>0.7760400390625</c:v>
                </c:pt>
                <c:pt idx="132">
                  <c:v>0.774868359375</c:v>
                </c:pt>
                <c:pt idx="133">
                  <c:v>0.771251025390625</c:v>
                </c:pt>
                <c:pt idx="134">
                  <c:v>0.774887841796875</c:v>
                </c:pt>
                <c:pt idx="135">
                  <c:v>0.776916650390625</c:v>
                </c:pt>
                <c:pt idx="136">
                  <c:v>0.77293564453125</c:v>
                </c:pt>
                <c:pt idx="137">
                  <c:v>0.781525244140625</c:v>
                </c:pt>
                <c:pt idx="138">
                  <c:v>0.774791259765625</c:v>
                </c:pt>
                <c:pt idx="139">
                  <c:v>0.77895458984375</c:v>
                </c:pt>
                <c:pt idx="140">
                  <c:v>0.783079833984375</c:v>
                </c:pt>
                <c:pt idx="141">
                  <c:v>0.777469921875</c:v>
                </c:pt>
                <c:pt idx="142">
                  <c:v>0.781424365234375</c:v>
                </c:pt>
                <c:pt idx="143">
                  <c:v>0.781859619140625</c:v>
                </c:pt>
                <c:pt idx="144">
                  <c:v>0.778168212890625</c:v>
                </c:pt>
                <c:pt idx="145">
                  <c:v>0.7906826171875</c:v>
                </c:pt>
                <c:pt idx="146">
                  <c:v>0.784861669921875</c:v>
                </c:pt>
                <c:pt idx="147">
                  <c:v>0.786030224609375</c:v>
                </c:pt>
                <c:pt idx="148">
                  <c:v>0.78379462890625</c:v>
                </c:pt>
                <c:pt idx="149">
                  <c:v>0.786963671875</c:v>
                </c:pt>
              </c:numCache>
            </c:numRef>
          </c:val>
          <c:smooth val="0"/>
        </c:ser>
        <c:ser>
          <c:idx val="3"/>
          <c:order val="3"/>
          <c:tx>
            <c:strRef>
              <c:f>Sheet1!$E$1</c:f>
              <c:strCache>
                <c:ptCount val="1"/>
                <c:pt idx="0">
                  <c:v>both</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Sheet1!$E$2:$E$151</c:f>
              <c:numCache>
                <c:formatCode>General</c:formatCode>
                <c:ptCount val="150"/>
                <c:pt idx="0">
                  <c:v>1.50301953125</c:v>
                </c:pt>
                <c:pt idx="1">
                  <c:v>1.25084609375</c:v>
                </c:pt>
                <c:pt idx="2">
                  <c:v>1.1056640625</c:v>
                </c:pt>
                <c:pt idx="3">
                  <c:v>1.03146787109375</c:v>
                </c:pt>
                <c:pt idx="4">
                  <c:v>0.92177861328125</c:v>
                </c:pt>
                <c:pt idx="5">
                  <c:v>0.87697724609375</c:v>
                </c:pt>
                <c:pt idx="6">
                  <c:v>0.8403369140625</c:v>
                </c:pt>
                <c:pt idx="7">
                  <c:v>0.80484404296875</c:v>
                </c:pt>
                <c:pt idx="8">
                  <c:v>0.741718310546875</c:v>
                </c:pt>
                <c:pt idx="9">
                  <c:v>0.731561865234375</c:v>
                </c:pt>
                <c:pt idx="10">
                  <c:v>0.725005224609375</c:v>
                </c:pt>
                <c:pt idx="11">
                  <c:v>0.6940490234375</c:v>
                </c:pt>
                <c:pt idx="12">
                  <c:v>0.664692822265625</c:v>
                </c:pt>
                <c:pt idx="13">
                  <c:v>0.653296533203125</c:v>
                </c:pt>
                <c:pt idx="14">
                  <c:v>0.649279443359375</c:v>
                </c:pt>
                <c:pt idx="15">
                  <c:v>0.63431103515625</c:v>
                </c:pt>
                <c:pt idx="16">
                  <c:v>0.614992431640625</c:v>
                </c:pt>
                <c:pt idx="17">
                  <c:v>0.604358740234375</c:v>
                </c:pt>
                <c:pt idx="18">
                  <c:v>0.598333935546875</c:v>
                </c:pt>
                <c:pt idx="19">
                  <c:v>0.607605322265625</c:v>
                </c:pt>
                <c:pt idx="20">
                  <c:v>0.595180029296875</c:v>
                </c:pt>
                <c:pt idx="21">
                  <c:v>0.59711044921875</c:v>
                </c:pt>
                <c:pt idx="22">
                  <c:v>0.595539892578125</c:v>
                </c:pt>
                <c:pt idx="23">
                  <c:v>0.58030712890625</c:v>
                </c:pt>
                <c:pt idx="24">
                  <c:v>0.570047802734375</c:v>
                </c:pt>
                <c:pt idx="25">
                  <c:v>0.570120263671875</c:v>
                </c:pt>
                <c:pt idx="26">
                  <c:v>0.56455947265625</c:v>
                </c:pt>
                <c:pt idx="27">
                  <c:v>0.5747658203125</c:v>
                </c:pt>
                <c:pt idx="28">
                  <c:v>0.56500869140625</c:v>
                </c:pt>
                <c:pt idx="29">
                  <c:v>0.57626181640625</c:v>
                </c:pt>
                <c:pt idx="30">
                  <c:v>0.551492236328125</c:v>
                </c:pt>
                <c:pt idx="31">
                  <c:v>0.543962255859375</c:v>
                </c:pt>
                <c:pt idx="32">
                  <c:v>0.54378203125</c:v>
                </c:pt>
                <c:pt idx="33">
                  <c:v>0.562576806640625</c:v>
                </c:pt>
                <c:pt idx="34">
                  <c:v>0.56058857421875</c:v>
                </c:pt>
                <c:pt idx="35">
                  <c:v>0.554035205078125</c:v>
                </c:pt>
                <c:pt idx="36">
                  <c:v>0.547942724609375</c:v>
                </c:pt>
                <c:pt idx="37">
                  <c:v>0.55093447265625</c:v>
                </c:pt>
                <c:pt idx="38">
                  <c:v>0.546714111328125</c:v>
                </c:pt>
                <c:pt idx="39">
                  <c:v>0.532296923828125</c:v>
                </c:pt>
                <c:pt idx="40">
                  <c:v>0.536003076171875</c:v>
                </c:pt>
                <c:pt idx="41">
                  <c:v>0.545479833984375</c:v>
                </c:pt>
                <c:pt idx="42">
                  <c:v>0.539649267578125</c:v>
                </c:pt>
                <c:pt idx="43">
                  <c:v>0.537112353515625</c:v>
                </c:pt>
                <c:pt idx="44">
                  <c:v>0.53326318359375</c:v>
                </c:pt>
                <c:pt idx="45">
                  <c:v>0.548524267578125</c:v>
                </c:pt>
                <c:pt idx="46">
                  <c:v>0.536396337890625</c:v>
                </c:pt>
                <c:pt idx="47">
                  <c:v>0.542629150390625</c:v>
                </c:pt>
                <c:pt idx="48">
                  <c:v>0.546355615234375</c:v>
                </c:pt>
                <c:pt idx="49">
                  <c:v>0.545988818359375</c:v>
                </c:pt>
                <c:pt idx="50">
                  <c:v>0.54208203125</c:v>
                </c:pt>
                <c:pt idx="51">
                  <c:v>0.537287255859375</c:v>
                </c:pt>
                <c:pt idx="52">
                  <c:v>0.543613427734375</c:v>
                </c:pt>
                <c:pt idx="53">
                  <c:v>0.547781201171875</c:v>
                </c:pt>
                <c:pt idx="54">
                  <c:v>0.54558271484375</c:v>
                </c:pt>
                <c:pt idx="55">
                  <c:v>0.5650943359375</c:v>
                </c:pt>
                <c:pt idx="56">
                  <c:v>0.54214228515625</c:v>
                </c:pt>
                <c:pt idx="57">
                  <c:v>0.562474853515625</c:v>
                </c:pt>
                <c:pt idx="58">
                  <c:v>0.562231787109375</c:v>
                </c:pt>
                <c:pt idx="59">
                  <c:v>0.547719921875</c:v>
                </c:pt>
                <c:pt idx="60">
                  <c:v>0.564101953125</c:v>
                </c:pt>
                <c:pt idx="61">
                  <c:v>0.570485009765625</c:v>
                </c:pt>
                <c:pt idx="62">
                  <c:v>0.54926220703125</c:v>
                </c:pt>
                <c:pt idx="63">
                  <c:v>0.55898369140625</c:v>
                </c:pt>
                <c:pt idx="64">
                  <c:v>0.572613330078125</c:v>
                </c:pt>
                <c:pt idx="65">
                  <c:v>0.556651513671875</c:v>
                </c:pt>
                <c:pt idx="66">
                  <c:v>0.5564779296875</c:v>
                </c:pt>
                <c:pt idx="67">
                  <c:v>0.55596328125</c:v>
                </c:pt>
                <c:pt idx="68">
                  <c:v>0.568962744140625</c:v>
                </c:pt>
                <c:pt idx="69">
                  <c:v>0.56907783203125</c:v>
                </c:pt>
                <c:pt idx="70">
                  <c:v>0.575185986328125</c:v>
                </c:pt>
                <c:pt idx="71">
                  <c:v>0.567076220703125</c:v>
                </c:pt>
                <c:pt idx="72">
                  <c:v>0.5710376953125</c:v>
                </c:pt>
                <c:pt idx="73">
                  <c:v>0.571654833984375</c:v>
                </c:pt>
                <c:pt idx="74">
                  <c:v>0.586620703125</c:v>
                </c:pt>
                <c:pt idx="75">
                  <c:v>0.57349287109375</c:v>
                </c:pt>
                <c:pt idx="76">
                  <c:v>0.576720751953125</c:v>
                </c:pt>
                <c:pt idx="77">
                  <c:v>0.591444091796875</c:v>
                </c:pt>
                <c:pt idx="78">
                  <c:v>0.59377578125</c:v>
                </c:pt>
                <c:pt idx="79">
                  <c:v>0.593159375</c:v>
                </c:pt>
                <c:pt idx="80">
                  <c:v>0.587233056640625</c:v>
                </c:pt>
                <c:pt idx="81">
                  <c:v>0.594647412109375</c:v>
                </c:pt>
                <c:pt idx="82">
                  <c:v>0.609682080078125</c:v>
                </c:pt>
                <c:pt idx="83">
                  <c:v>0.58465791015625</c:v>
                </c:pt>
                <c:pt idx="84">
                  <c:v>0.572754931640625</c:v>
                </c:pt>
                <c:pt idx="85">
                  <c:v>0.612797021484375</c:v>
                </c:pt>
                <c:pt idx="86">
                  <c:v>0.600472705078125</c:v>
                </c:pt>
                <c:pt idx="87">
                  <c:v>0.594775927734375</c:v>
                </c:pt>
                <c:pt idx="88">
                  <c:v>0.611017529296875</c:v>
                </c:pt>
                <c:pt idx="89">
                  <c:v>0.596817626953125</c:v>
                </c:pt>
                <c:pt idx="90">
                  <c:v>0.61793369140625</c:v>
                </c:pt>
                <c:pt idx="91">
                  <c:v>0.64089638671875</c:v>
                </c:pt>
                <c:pt idx="92">
                  <c:v>0.61531083984375</c:v>
                </c:pt>
                <c:pt idx="93">
                  <c:v>0.603031689453125</c:v>
                </c:pt>
                <c:pt idx="94">
                  <c:v>0.63205341796875</c:v>
                </c:pt>
                <c:pt idx="95">
                  <c:v>0.61403828125</c:v>
                </c:pt>
                <c:pt idx="96">
                  <c:v>0.62426025390625</c:v>
                </c:pt>
                <c:pt idx="97">
                  <c:v>0.618570703125</c:v>
                </c:pt>
                <c:pt idx="98">
                  <c:v>0.624982080078125</c:v>
                </c:pt>
                <c:pt idx="99">
                  <c:v>0.612323583984375</c:v>
                </c:pt>
                <c:pt idx="100">
                  <c:v>0.642636328125</c:v>
                </c:pt>
                <c:pt idx="101">
                  <c:v>0.623319580078125</c:v>
                </c:pt>
                <c:pt idx="102">
                  <c:v>0.624430322265625</c:v>
                </c:pt>
                <c:pt idx="103">
                  <c:v>0.61598291015625</c:v>
                </c:pt>
                <c:pt idx="104">
                  <c:v>0.637843701171875</c:v>
                </c:pt>
                <c:pt idx="105">
                  <c:v>0.668796044921875</c:v>
                </c:pt>
                <c:pt idx="106">
                  <c:v>0.634509130859375</c:v>
                </c:pt>
                <c:pt idx="107">
                  <c:v>0.6340392578125</c:v>
                </c:pt>
                <c:pt idx="108">
                  <c:v>0.6187205078125</c:v>
                </c:pt>
                <c:pt idx="109">
                  <c:v>0.635211962890625</c:v>
                </c:pt>
                <c:pt idx="110">
                  <c:v>0.643242529296875</c:v>
                </c:pt>
                <c:pt idx="111">
                  <c:v>0.667077880859375</c:v>
                </c:pt>
                <c:pt idx="112">
                  <c:v>0.633841552734375</c:v>
                </c:pt>
                <c:pt idx="113">
                  <c:v>0.646295458984375</c:v>
                </c:pt>
                <c:pt idx="114">
                  <c:v>0.646661767578125</c:v>
                </c:pt>
                <c:pt idx="115">
                  <c:v>0.656385400390625</c:v>
                </c:pt>
                <c:pt idx="116">
                  <c:v>0.662813671875</c:v>
                </c:pt>
                <c:pt idx="117">
                  <c:v>0.66917841796875</c:v>
                </c:pt>
                <c:pt idx="118">
                  <c:v>0.66589755859375</c:v>
                </c:pt>
                <c:pt idx="119">
                  <c:v>0.658412939453125</c:v>
                </c:pt>
                <c:pt idx="120">
                  <c:v>0.659167236328125</c:v>
                </c:pt>
                <c:pt idx="121">
                  <c:v>0.666272802734375</c:v>
                </c:pt>
                <c:pt idx="122">
                  <c:v>0.63184189453125</c:v>
                </c:pt>
                <c:pt idx="123">
                  <c:v>0.643821044921875</c:v>
                </c:pt>
                <c:pt idx="124">
                  <c:v>0.689029345703125</c:v>
                </c:pt>
                <c:pt idx="125">
                  <c:v>0.687705419921875</c:v>
                </c:pt>
                <c:pt idx="126">
                  <c:v>0.672251953125</c:v>
                </c:pt>
                <c:pt idx="127">
                  <c:v>0.64949853515625</c:v>
                </c:pt>
                <c:pt idx="128">
                  <c:v>0.651071044921875</c:v>
                </c:pt>
                <c:pt idx="129">
                  <c:v>0.65818515625</c:v>
                </c:pt>
                <c:pt idx="130">
                  <c:v>0.685551806640625</c:v>
                </c:pt>
                <c:pt idx="131">
                  <c:v>0.6898724609375</c:v>
                </c:pt>
                <c:pt idx="132">
                  <c:v>0.68361494140625</c:v>
                </c:pt>
                <c:pt idx="133">
                  <c:v>0.68530751953125</c:v>
                </c:pt>
                <c:pt idx="134">
                  <c:v>0.68861064453125</c:v>
                </c:pt>
                <c:pt idx="135">
                  <c:v>0.681564990234375</c:v>
                </c:pt>
                <c:pt idx="136">
                  <c:v>0.6704765625</c:v>
                </c:pt>
                <c:pt idx="137">
                  <c:v>0.7062689453125</c:v>
                </c:pt>
                <c:pt idx="138">
                  <c:v>0.692541796875</c:v>
                </c:pt>
                <c:pt idx="139">
                  <c:v>0.683639306640625</c:v>
                </c:pt>
                <c:pt idx="140">
                  <c:v>0.67857490234375</c:v>
                </c:pt>
                <c:pt idx="141">
                  <c:v>0.70127490234375</c:v>
                </c:pt>
                <c:pt idx="142">
                  <c:v>0.681967822265625</c:v>
                </c:pt>
                <c:pt idx="143">
                  <c:v>0.697048291015625</c:v>
                </c:pt>
                <c:pt idx="144">
                  <c:v>0.6925171875</c:v>
                </c:pt>
                <c:pt idx="145">
                  <c:v>0.69824365234375</c:v>
                </c:pt>
                <c:pt idx="146">
                  <c:v>0.69807060546875</c:v>
                </c:pt>
                <c:pt idx="147">
                  <c:v>0.7393365234375</c:v>
                </c:pt>
                <c:pt idx="148">
                  <c:v>0.708610400390625</c:v>
                </c:pt>
                <c:pt idx="149">
                  <c:v>0.72926689453125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1"/>
        <c:noMultiLvlLbl val="1"/>
      </c:catAx>
      <c:valAx>
        <c:axId val="2094734552"/>
        <c:scaling>
          <c:orientation val="minMax"/>
          <c:max val="1.2"/>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 accuracy (3-seed mean)</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C8571B"/>
              </a:solidFill>
              <a:effectLst/>
            </c:spPr>
          </c:dPt>
          <c:dPt>
            <c:idx val="1"/>
            <c:invertIfNegative val="0"/>
            <c:bubble3D val="0"/>
            <c:spPr>
              <a:solidFill>
                <a:srgbClr val="0F7C82"/>
              </a:solidFill>
              <a:effectLst/>
            </c:spPr>
          </c:dPt>
          <c:dPt>
            <c:idx val="2"/>
            <c:invertIfNegative val="0"/>
            <c:bubble3D val="0"/>
            <c:spPr>
              <a:solidFill>
                <a:srgbClr val="4C5BD4"/>
              </a:solidFill>
              <a:effectLst/>
            </c:spPr>
          </c:dPt>
          <c:cat>
            <c:strRef>
              <c:f>Sheet1!$A$2:$A$4</c:f>
              <c:strCache>
                <c:ptCount val="3"/>
                <c:pt idx="0">
                  <c:v>1k, none</c:v>
                </c:pt>
                <c:pt idx="1">
                  <c:v>1k, both</c:v>
                </c:pt>
                <c:pt idx="2">
                  <c:v>55k, none</c:v>
                </c:pt>
              </c:strCache>
            </c:strRef>
          </c:cat>
          <c:val>
            <c:numRef>
              <c:f>Sheet1!$B$2:$B$4</c:f>
              <c:numCache>
                <c:formatCode>General</c:formatCode>
                <c:ptCount val="3"/>
                <c:pt idx="0">
                  <c:v>80.7</c:v>
                </c:pt>
                <c:pt idx="1">
                  <c:v>81.1</c:v>
                </c:pt>
                <c:pt idx="2">
                  <c:v>89.1</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00.0"/>
          <c:min val="0.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Sheet1!$B$2:$B$26</c:f>
              <c:numCache>
                <c:formatCode>General</c:formatCode>
                <c:ptCount val="25"/>
                <c:pt idx="0">
                  <c:v>0.5798109144530663</c:v>
                </c:pt>
                <c:pt idx="1">
                  <c:v>0.5661121548024846</c:v>
                </c:pt>
                <c:pt idx="2">
                  <c:v>0.5785148941281162</c:v>
                </c:pt>
                <c:pt idx="3">
                  <c:v>0.5086486812864521</c:v>
                </c:pt>
                <c:pt idx="4">
                  <c:v>0.5300924021586333</c:v>
                </c:pt>
                <c:pt idx="5">
                  <c:v>0.5159066883751462</c:v>
                </c:pt>
                <c:pt idx="6">
                  <c:v>0.5825907867201539</c:v>
                </c:pt>
                <c:pt idx="7">
                  <c:v>0.7414074118014933</c:v>
                </c:pt>
                <c:pt idx="8">
                  <c:v>2.078084223369972</c:v>
                </c:pt>
                <c:pt idx="9">
                  <c:v>18.77302930643579</c:v>
                </c:pt>
                <c:pt idx="10">
                  <c:v>1.9863710367956269</c:v>
                </c:pt>
                <c:pt idx="11">
                  <c:v>0.8308560101842739</c:v>
                </c:pt>
                <c:pt idx="12">
                  <c:v>0.48328058210973834</c:v>
                </c:pt>
                <c:pt idx="13">
                  <c:v>0.3700798474959006</c:v>
                </c:pt>
                <c:pt idx="14">
                  <c:v>0.32514440247558923</c:v>
                </c:pt>
                <c:pt idx="15">
                  <c:v>0.2806653144628388</c:v>
                </c:pt>
                <c:pt idx="16">
                  <c:v>0.25203357782421176</c:v>
                </c:pt>
                <c:pt idx="17">
                  <c:v>0.24190451728752166</c:v>
                </c:pt>
                <c:pt idx="18">
                  <c:v>0.23655364981820384</c:v>
                </c:pt>
                <c:pt idx="19">
                  <c:v>0.2149578858691203</c:v>
                </c:pt>
                <c:pt idx="20">
                  <c:v>0.21341883278975438</c:v>
                </c:pt>
                <c:pt idx="21">
                  <c:v>0.21247864019649</c:v>
                </c:pt>
                <c:pt idx="22">
                  <c:v>0.2108229338769549</c:v>
                </c:pt>
                <c:pt idx="23">
                  <c:v>0.21409537698837683</c:v>
                </c:pt>
                <c:pt idx="24">
                  <c:v>0.20344301947378185</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Sheet1!$C$2:$C$26</c:f>
              <c:numCache>
                <c:formatCode>General</c:formatCode>
                <c:ptCount val="25"/>
                <c:pt idx="0">
                  <c:v>0.5796442280353078</c:v>
                </c:pt>
                <c:pt idx="1">
                  <c:v>0.5653475957950964</c:v>
                </c:pt>
                <c:pt idx="2">
                  <c:v>0.5766739895091952</c:v>
                </c:pt>
                <c:pt idx="3">
                  <c:v>0.5062896854063221</c:v>
                </c:pt>
                <c:pt idx="4">
                  <c:v>0.5165534127982853</c:v>
                </c:pt>
                <c:pt idx="5">
                  <c:v>0.4938100488220929</c:v>
                </c:pt>
                <c:pt idx="6">
                  <c:v>0.5013091722448906</c:v>
                </c:pt>
                <c:pt idx="7">
                  <c:v>0.49703858392180267</c:v>
                </c:pt>
                <c:pt idx="8">
                  <c:v>0.5307824894401039</c:v>
                </c:pt>
                <c:pt idx="9">
                  <c:v>0.48166953576819127</c:v>
                </c:pt>
                <c:pt idx="10">
                  <c:v>0.45988670958043454</c:v>
                </c:pt>
                <c:pt idx="11">
                  <c:v>0.3810438317724534</c:v>
                </c:pt>
                <c:pt idx="12">
                  <c:v>0.332519870606098</c:v>
                </c:pt>
                <c:pt idx="13">
                  <c:v>0.2952729992681192</c:v>
                </c:pt>
                <c:pt idx="14">
                  <c:v>0.2604155856983662</c:v>
                </c:pt>
                <c:pt idx="15">
                  <c:v>0.23743563421614894</c:v>
                </c:pt>
                <c:pt idx="16">
                  <c:v>0.22338190186658222</c:v>
                </c:pt>
                <c:pt idx="17">
                  <c:v>0.21990485289494494</c:v>
                </c:pt>
                <c:pt idx="18">
                  <c:v>0.21518400525697945</c:v>
                </c:pt>
                <c:pt idx="19">
                  <c:v>0.20349071497410806</c:v>
                </c:pt>
                <c:pt idx="20">
                  <c:v>0.20057237830123667</c:v>
                </c:pt>
                <c:pt idx="21">
                  <c:v>0.19885290279647655</c:v>
                </c:pt>
                <c:pt idx="22">
                  <c:v>0.1989299360857247</c:v>
                </c:pt>
                <c:pt idx="23">
                  <c:v>0.20167796840968202</c:v>
                </c:pt>
                <c:pt idx="24">
                  <c:v>0.1925847178272867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OneCycleLR, pct_start = 0.1</a:t>
            </a:r>
          </a:p>
        </c:rich>
      </c:tx>
      <c:layout/>
      <c:overlay val="0"/>
    </c:title>
    <c:autoTitleDeleted val="0"/>
    <c:plotArea>
      <c:layout/>
      <c:scatterChart>
        <c:scatterStyle val="lineMarker"/>
        <c:varyColors val="0"/>
        <c:ser>
          <c:idx val="0"/>
          <c:order val="0"/>
          <c:tx>
            <c:strRef>
              <c:f>Sheet1!$B$1</c:f>
              <c:strCache>
                <c:ptCount val="1"/>
                <c:pt idx="0">
                  <c:v>OneCycleLR</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0.06349</c:v>
                </c:pt>
                <c:pt idx="2">
                  <c:v>0.13167</c:v>
                </c:pt>
                <c:pt idx="3">
                  <c:v>0.23786</c:v>
                </c:pt>
                <c:pt idx="4">
                  <c:v>0.37167</c:v>
                </c:pt>
                <c:pt idx="5">
                  <c:v>0.52</c:v>
                </c:pt>
                <c:pt idx="6">
                  <c:v>0.66833</c:v>
                </c:pt>
                <c:pt idx="7">
                  <c:v>0.80214</c:v>
                </c:pt>
                <c:pt idx="8">
                  <c:v>0.90833</c:v>
                </c:pt>
                <c:pt idx="9">
                  <c:v>0.97651</c:v>
                </c:pt>
                <c:pt idx="10">
                  <c:v>1.0</c:v>
                </c:pt>
                <c:pt idx="11">
                  <c:v>0.9997</c:v>
                </c:pt>
                <c:pt idx="12">
                  <c:v>0.99878</c:v>
                </c:pt>
                <c:pt idx="13">
                  <c:v>0.99726</c:v>
                </c:pt>
                <c:pt idx="14">
                  <c:v>0.99513</c:v>
                </c:pt>
                <c:pt idx="15">
                  <c:v>0.9924</c:v>
                </c:pt>
                <c:pt idx="16">
                  <c:v>0.98907</c:v>
                </c:pt>
                <c:pt idx="17">
                  <c:v>0.98515</c:v>
                </c:pt>
                <c:pt idx="18">
                  <c:v>0.98063</c:v>
                </c:pt>
                <c:pt idx="19">
                  <c:v>0.97553</c:v>
                </c:pt>
                <c:pt idx="20">
                  <c:v>0.96985</c:v>
                </c:pt>
                <c:pt idx="21">
                  <c:v>0.96359</c:v>
                </c:pt>
                <c:pt idx="22">
                  <c:v>0.95677</c:v>
                </c:pt>
                <c:pt idx="23">
                  <c:v>0.9494</c:v>
                </c:pt>
                <c:pt idx="24">
                  <c:v>0.94147</c:v>
                </c:pt>
                <c:pt idx="25">
                  <c:v>0.93301</c:v>
                </c:pt>
                <c:pt idx="26">
                  <c:v>0.92402</c:v>
                </c:pt>
                <c:pt idx="27">
                  <c:v>0.91452</c:v>
                </c:pt>
                <c:pt idx="28">
                  <c:v>0.90451</c:v>
                </c:pt>
                <c:pt idx="29">
                  <c:v>0.89401</c:v>
                </c:pt>
                <c:pt idx="30">
                  <c:v>0.88302</c:v>
                </c:pt>
                <c:pt idx="31">
                  <c:v>0.87157</c:v>
                </c:pt>
                <c:pt idx="32">
                  <c:v>0.85967</c:v>
                </c:pt>
                <c:pt idx="33">
                  <c:v>0.84733</c:v>
                </c:pt>
                <c:pt idx="34">
                  <c:v>0.83457</c:v>
                </c:pt>
                <c:pt idx="35">
                  <c:v>0.82139</c:v>
                </c:pt>
                <c:pt idx="36">
                  <c:v>0.80783</c:v>
                </c:pt>
                <c:pt idx="37">
                  <c:v>0.79389</c:v>
                </c:pt>
                <c:pt idx="38">
                  <c:v>0.7796</c:v>
                </c:pt>
                <c:pt idx="39">
                  <c:v>0.76496</c:v>
                </c:pt>
                <c:pt idx="40">
                  <c:v>0.75</c:v>
                </c:pt>
                <c:pt idx="41">
                  <c:v>0.73474</c:v>
                </c:pt>
                <c:pt idx="42">
                  <c:v>0.71919</c:v>
                </c:pt>
                <c:pt idx="43">
                  <c:v>0.70337</c:v>
                </c:pt>
                <c:pt idx="44">
                  <c:v>0.6873</c:v>
                </c:pt>
                <c:pt idx="45">
                  <c:v>0.67101</c:v>
                </c:pt>
                <c:pt idx="46">
                  <c:v>0.65451</c:v>
                </c:pt>
                <c:pt idx="47">
                  <c:v>0.63782</c:v>
                </c:pt>
                <c:pt idx="48">
                  <c:v>0.62096</c:v>
                </c:pt>
                <c:pt idx="49">
                  <c:v>0.60396</c:v>
                </c:pt>
                <c:pt idx="50">
                  <c:v>0.58683</c:v>
                </c:pt>
                <c:pt idx="51">
                  <c:v>0.56959</c:v>
                </c:pt>
                <c:pt idx="52">
                  <c:v>0.55227</c:v>
                </c:pt>
                <c:pt idx="53">
                  <c:v>0.53488</c:v>
                </c:pt>
                <c:pt idx="54">
                  <c:v>0.51745</c:v>
                </c:pt>
                <c:pt idx="55">
                  <c:v>0.5</c:v>
                </c:pt>
                <c:pt idx="56">
                  <c:v>0.48255</c:v>
                </c:pt>
                <c:pt idx="57">
                  <c:v>0.46512</c:v>
                </c:pt>
                <c:pt idx="58">
                  <c:v>0.44774</c:v>
                </c:pt>
                <c:pt idx="59">
                  <c:v>0.43042</c:v>
                </c:pt>
                <c:pt idx="60">
                  <c:v>0.41318</c:v>
                </c:pt>
                <c:pt idx="61">
                  <c:v>0.39605</c:v>
                </c:pt>
                <c:pt idx="62">
                  <c:v>0.37904</c:v>
                </c:pt>
                <c:pt idx="63">
                  <c:v>0.36218</c:v>
                </c:pt>
                <c:pt idx="64">
                  <c:v>0.34549</c:v>
                </c:pt>
                <c:pt idx="65">
                  <c:v>0.32899</c:v>
                </c:pt>
                <c:pt idx="66">
                  <c:v>0.3127</c:v>
                </c:pt>
                <c:pt idx="67">
                  <c:v>0.29663</c:v>
                </c:pt>
                <c:pt idx="68">
                  <c:v>0.28082</c:v>
                </c:pt>
                <c:pt idx="69">
                  <c:v>0.26527</c:v>
                </c:pt>
                <c:pt idx="70">
                  <c:v>0.25</c:v>
                </c:pt>
                <c:pt idx="71">
                  <c:v>0.23504</c:v>
                </c:pt>
                <c:pt idx="72">
                  <c:v>0.22041</c:v>
                </c:pt>
                <c:pt idx="73">
                  <c:v>0.20611</c:v>
                </c:pt>
                <c:pt idx="74">
                  <c:v>0.19217</c:v>
                </c:pt>
                <c:pt idx="75">
                  <c:v>0.17861</c:v>
                </c:pt>
                <c:pt idx="76">
                  <c:v>0.16544</c:v>
                </c:pt>
                <c:pt idx="77">
                  <c:v>0.15267</c:v>
                </c:pt>
                <c:pt idx="78">
                  <c:v>0.14033</c:v>
                </c:pt>
                <c:pt idx="79">
                  <c:v>0.12843</c:v>
                </c:pt>
                <c:pt idx="80">
                  <c:v>0.11698</c:v>
                </c:pt>
                <c:pt idx="81">
                  <c:v>0.106</c:v>
                </c:pt>
                <c:pt idx="82">
                  <c:v>0.0955</c:v>
                </c:pt>
                <c:pt idx="83">
                  <c:v>0.08548</c:v>
                </c:pt>
                <c:pt idx="84">
                  <c:v>0.07598</c:v>
                </c:pt>
                <c:pt idx="85">
                  <c:v>0.06699</c:v>
                </c:pt>
                <c:pt idx="86">
                  <c:v>0.05853</c:v>
                </c:pt>
                <c:pt idx="87">
                  <c:v>0.05061</c:v>
                </c:pt>
                <c:pt idx="88">
                  <c:v>0.04323</c:v>
                </c:pt>
                <c:pt idx="89">
                  <c:v>0.03641</c:v>
                </c:pt>
                <c:pt idx="90">
                  <c:v>0.03016</c:v>
                </c:pt>
                <c:pt idx="91">
                  <c:v>0.02448</c:v>
                </c:pt>
                <c:pt idx="92">
                  <c:v>0.01937</c:v>
                </c:pt>
                <c:pt idx="93">
                  <c:v>0.01486</c:v>
                </c:pt>
                <c:pt idx="94">
                  <c:v>0.01093</c:v>
                </c:pt>
                <c:pt idx="95">
                  <c:v>0.0076</c:v>
                </c:pt>
                <c:pt idx="96">
                  <c:v>0.00487</c:v>
                </c:pt>
                <c:pt idx="97">
                  <c:v>0.00274</c:v>
                </c:pt>
                <c:pt idx="98">
                  <c:v>0.00122</c:v>
                </c:pt>
                <c:pt idx="99">
                  <c:v>0.00031</c:v>
                </c:pt>
                <c:pt idx="100">
                  <c:v>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 0:02]  One session, three parts: what a network computes, how it learns, and what makes deep networks train and generalize. Ten-minute break at 1:24.</a:t>
            </a:r>
          </a:p>
          <a:p>
            <a:r>
              <a:t>Colour code all session: teal = forward signal and data; orange = gradients flowing backward, and warnings. In data plots, teal and orange simply mark the two classes.</a:t>
            </a:r>
          </a:p>
          <a:p>
            <a:r>
              <a:t>How to use this deck: 54 lecture slides, including 7 one-minute quick checks (peer instruction) and a 3-step worked build. Appendix A is review material for today (quick-check answers, notation, why depth helps, history, when not to use a network, gradient checking). Appendix B previews Session 2 (normalization, double descent, a full PyTorch training recipe, schedulers, PyTorch loss formats, silent PyTorch bugs).</a:t>
            </a:r>
          </a:p>
          <a:p>
            <a:r>
              <a:t>Provenance tags (top right of a slide): EXPERIMENT = a training run (seeds stated); SIMULATION = a seeded numerical experiment; COMPUTED = a deterministic calculation; CONSTRUCTED = a hand-built network. Every tagged figure and number is regenerated by the scripts delivered with the deck (fmnist_experiments.py, small_figures.py). Plots of formulas carry no tag.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Each objective is something students should be able to DO; each quick check tests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 – 0:05]  The bar is the clock. One running example ties the parts together: a 784–128–64–10 MLP on Fashion-MNIST. We build it in Part 1, train it in Part 2, and diagnose and regularize it in Part 3 — every curve shown for it comes from fmnist_experiments.py (PyTorch, fixed seeds).</a:t>
            </a:r>
          </a:p>
          <a:p>
            <a:r>
              <a:t>Quick checks (about one every 12 minutes): everyone votes A–D silently; if votes split, convince a neighbour for 60 seconds and revote (Mazur's peer instruction).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  Part 1 is about representation: what a network computes and why. Start from one neuron, find its limit (XOR), then build networks. Nothing is learned yet; that is Part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[0:08 – 0:10]  One neuron draws one straight line, whatever its threshold: a step and a sigmoid are both monotone, so both switch exactly where z = 0. Hook. Same 300 points, two models, same gradient-descent code (two moons, 300 points, noise 0.12; both models trained by full-batch Adam on the same loss; small_figures.py). Logistic regression computes z = wᵀx + b and ŷ = σ(z). It predicts class 1 when ŷ &gt; 0.5, that is when z &gt; 0, so its boundary wᵀx + b = 0 is a straight line. It reaches 86% training accuracy; no straight line can come close to 100% on these two moons. A 2→32→32→1 ReLU network fits the training data at 100%.</a:t>
            </a:r>
          </a:p>
          <a:p>
            <a:r>
              <a:t>Linear models remain valuable (convex training, interpretable weights, little data needed). Today's question: how do we keep those strengths and still bend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[0:10 – 0:13]  Ask the room to draw one line with both teal points on one side and both orange points on the other (20 s). Every attempt (dashed) catches a wrong point.</a:t>
            </a:r>
          </a:p>
          <a:p>
            <a:r>
              <a:t>Proof: predict class 1 when w₁x₁ + w₂x₂ + b &gt; 0. Each point gives one inequality. Add the two class-1 rows and use b ≤ 0: w₁ + w₂ + b &gt; −b ≥ 0, contradicting row 4. Minsky and Papert (1969) made limitations of this kind precise for single-layer perceptrons.</a:t>
            </a:r>
          </a:p>
          <a:p>
            <a:r>
              <a:t>This inequality system is exactly one threshold neuron, the perceptron of the previous slides: no single perceptron computes XOR. Note the step was nonlinear all along; one unit still draws one line. The fix is more units, not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 – 0:15]  Add one feature, the product x₁x₂. In the new 3-D space the four points ARE linearly separable (grey plane), and y = x₁ + x₂ − 2x₁x₂ exactly. The data did not change; the representation did. This is the central idea of the field.</a:t>
            </a:r>
          </a:p>
          <a:p>
            <a:r>
              <a:t>Kernel methods (e.g. an RBF-kernel SVM) do this implicitly. The next slide asks the obvious question: who designs the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 0:17]  Hand-designing features breaks down at scale: you must already know the answer (which function of 224×224×3 = 150,528 pixels means "cat"?); candidate features explode (all degree-3 products of 1,000 inputs ≈ 1,000³/6 ≈ 1.7×10⁸); and features designed for one task rarely transfer.</a:t>
            </a:r>
          </a:p>
          <a:p>
            <a:r>
              <a:t>So give the feature map its own parameters and learn them together with the linear model, by gradient descent on one loss. h is a learned representation of x; g is a nonlinear function applied elementwise; which one, and why it is needed at all, comes in the next few slides.</a:t>
            </a:r>
          </a:p>
          <a:p>
            <a:r>
              <a:t>Three consequences: features are shaped by the loss we care about; early features (edges, textures) are reusable across tasks — transfer learning; and layers compose, which is what "deep"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[0:29 – 0:32]  Now that ReLU is defined, return to XOR. Trace it. h₁ = ReLU(x₁ + x₂) behaves like OR; h₂ = ReLU(x₁ + x₂ − 1) like AND; y = h₁ − 2h₂ = OR − 2·AND equals XOR on the four corners. Table: (0,0)→0, (0,1)→1, (1,0)→1, (1,1)→2 − 2 = 0.</a:t>
            </a:r>
          </a:p>
          <a:p>
            <a:r>
              <a:t>The figure is the insight: the hidden layer sends (0,1) and (1,0) to the SAME hidden point (1,0) and (1,1) to (2,1). In hidden space one straight line separates the classes. The output neuron is still linear; the hidden layer changed the representation.</a:t>
            </a:r>
          </a:p>
          <a:p>
            <a:r>
              <a:t>Gradient descent need not find this particular OR/AND decomposition — many weight settings solve XOR, e.g. ReLU(x₁ − x₂) + ReLU(x₂ − x₁) = |x₁ − x₂|.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 – 0:08]  Start with one unit. A neuron computes a weighted sum of its inputs plus a bias, z = wᵀx + b, and fires (a = 1) when z &gt; 0: McCulloch &amp; Pitts's threshold unit (1943), the building block of Rosenblatt's perceptron (1958). The biology analogy helps for about a minute: real neurons spike, dendrites compute nonlinearly, and brains do not run backpropagation.</a:t>
            </a:r>
          </a:p>
          <a:p>
            <a:r>
              <a:t>Geometry: w is perpendicular to the boundary z = 0, because for two boundary points x, x′ we have wᵀ(x − x′) = 0. The bias shifts the boundary without rotating it; its distance from the origin is |b|/‖w‖, and (wᵀx + b)/‖w‖ is the signed distance to the boundary. So one neuron answers one question: which side of one line (hyperplane) is x on?</a:t>
            </a:r>
          </a:p>
          <a:p>
            <a:r>
              <a:t>Careful with words: the step IS a nonlinear function, so do not call this neuron 'linear'. Keep the word for later and pay it off in three steps: the XOR slide shows a threshold alone cannot bend the boundary; the sigmoid slide shows a step cannot be trained by gradient descent; the depth-collapse slide shows where the nonlinearity must 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[0:19 – 0:22]  Rosenblatt's perceptron (1958) used a hard step. Its learning rule converges on linearly separable data (Novikoff, 1962), but the step's derivative is 0 wherever it exists, so a STACK of steps gives no gradient and cannot be trained by gradient descent.</a:t>
            </a:r>
          </a:p>
          <a:p>
            <a:r>
              <a:t>Swap the step for a sigmoid and you get logistic regression. Name it now: z, the log-odds, is called the LOGIT; the word is used from the running example onward. The sigmoid is what linear log-odds imply: assume log(p/(1−p)) = z and solve for p. Its derivative σ(1 − σ) is at most 1/4, at z = 0 — remember that 1/4; it returns three slides from now and in Part 3.</a:t>
            </a:r>
          </a:p>
          <a:p>
            <a:r>
              <a:t>Sharpness: scaling w and b by k keeps the boundary z = 0 but makes the sigmoid switch k times steeper (for a step, infinitely steep). Small ‖w‖ means gentle switching — weight decay in Part 3 uses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[0:22 – 0:24]  The threshold neuron already used a nonlinearity; now see why one must sit between every pair of layers. Substitute each linear layer into the next: one matrix times x plus one bias. Ten linear layers equal one linear layer and still cannot do XOR. Worse, rank(W[3]W[2]W[1]) ≤ the smallest factor's rank, so a narrow middle layer can only restrict the 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[0:24 – 0:26]  Peer instruction: everyone votes A–D silently (fingers or clicker); if votes split, give 60 s to convince a neighbour, then revote.</a:t>
            </a:r>
          </a:p>
          <a:p>
            <a:r>
              <a:t>Answer: C. The hidden layers compose into one affine map, z = W′x + b′. The sigmoid is monotone, so ŷ &gt; 0.5 exactly when z &gt; 0: the boundary is still a hyperplane, whatever the width or depth. A nonlinearity on the output alone does not bend the boundary.</a:t>
            </a:r>
          </a:p>
          <a:p>
            <a:r>
              <a:t>Distractor A catches students who think the output sigmoid adds curvature; B is the answer for ReLU networks (coming up), a good misconception to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[0:26 – 0:29]  Left: the functions; right: their derivatives — what backpropagation multiplies, one factor per layer.</a:t>
            </a:r>
          </a:p>
          <a:p>
            <a:r>
              <a:t>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a:t>
            </a:r>
          </a:p>
          <a:p>
            <a:r>
              <a:t>ReLU's slope is exactly 1 whenever the unit is active, so the activation itself does not shrink the gradient (the weight matrices still scale it); it is also cheap and sparse. For z &lt; 0 its slope is exactly 0, a one-sided saturation, which is where dying ReLU comes from. Together with better initialization, GPUs and more data, it is a large part of why deep nets became trainable around 2010–2012 (Glorot et al., 2011; Krizhevsky et al., 2012). Cost: a unit whose input is negative for every example outputs 0 and receives zero gradient through that activation, so it may stay inactive for good ("dying ReLU"; for first-layer units with fixed inputs it is permanent), typically after too large a learning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 0:57]  Synthesis: with logits, softmax and cross-entropy now known, choose every layer\'s activation in one table. The output rows and the warning repeat the lesson of the previous slide. Leaky ReLU keeps a small negative slope (default α = 0.01; drawn at 0.1 so it is visible), standard in GAN discriminators. GELU = z·Φ(z) (Hendrycks &amp; Gimpel, 2016) is the activation of BERT, GPT-2 and Vision Transformers. SiLU/Swish = z·σ(z) is used in EfficientNet; its gated form SwiGLU (Shazeer, 2020) is in the feed-forward blocks of many large language models (e.g. PaLM, the LLaMA family). GELU and SiLU also flatten toward 0 as z → −∞: they are smooth, not saturation-free.</a:t>
            </a:r>
          </a:p>
          <a:p>
            <a:r>
              <a:t>Classifier outputs are raw logits: BCEWithLogitsLoss and CrossEntropyLoss apply sigmoid/softmax internally and stably (Part 2).</a:t>
            </a:r>
          </a:p>
          <a:p>
            <a:r>
              <a:t>Two precisions. Dying ReLU: first lower the learning rate; Leaky ReLU keeps a nonzero gradient for z &lt; 0. SwiGLU is not an elementwise activation: it is a gated feed-forward layer, (SiLU(xW) ⊙ xV)W₂, with three weight matrices instead of two.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[0:32 – 0:34]  A real network trained for this slide: 2 → 12 → 12 → 1 ReLU units on the two-moons data (100% training accuracy).</a:t>
            </a:r>
          </a:p>
          <a:p>
            <a:r>
              <a:t>Each coloured patch is a region of input space where every ReLU is on or off in one fixed pattern; inside it the whole network is exactly linear. 146 such regions are found on a 900 × 600 grid of this window (tiny regions can be missed, so the true count is at least this). The black decision boundary is therefore piecewise linear, yet it follows the curved moons. More units and more layers mean more pieces.</a:t>
            </a:r>
          </a:p>
          <a:p>
            <a:r>
              <a:t>Live demo: playground.tensorflow.org — choose the XOR or spiral dataset, ReLU, and watch the boundary bend as you add hidden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[0:17 – 0:19]  A multi-layer perceptron stacks fully connected layers, each followed by a nonlinearity. Layer 0 is the input and has no parameters, so this network has L = 3 layers. Each layer computes a pre-activation z = Wa + b and an activation a = g(z). Everything else today is choosing g, measuring the error in ŷ, or differentiating that error.</a:t>
            </a:r>
          </a:p>
          <a:p>
            <a:r>
              <a:t>Shapes: row i of W[l] holds unit i's weights, one per unit of layer l−1, so W[l] has shape (n[l], n[l−1]). When shapes confuse you, write down what one row means, then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[0:37 – 0:39]  Fashion-MNIST (Xiao, Rasul &amp; Vollgraf, 2017): 70,000 grey-scale 28×28 images of clothing in 10 classes, a drop-in replacement for MNIST that is harder to solve. We hold out 5,000 of the 60,000 training images for validation.</a:t>
            </a:r>
          </a:p>
          <a:p>
            <a:r>
              <a:t>Read the shapes top to bottom, for a batch of 32. The batch dimension never changes: if it does, a reshape is wrong. The output is 10 raw logits per image; softmax lives inside the loss.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[0:39 – 0:41]  Pseudocode with the real PyTorch names; the full class syntax (class MLP(nn.Module) with __init__ and forward) comes in the PyTorch session. The model is a stack of layers that ends in raw logits — no softmax; the loss applies it (Part 2).</a:t>
            </a:r>
          </a:p>
          <a:p>
            <a:r>
              <a:t>nn.Linear(in, out) stores its weight as (out, in) — the maths layout — and computes x @ W.T + b because PyTorch batches examples as rows.</a:t>
            </a:r>
          </a:p>
          <a:p>
            <a:r>
              <a:t>Parameters: each layer has n[l]·n[l−1] weights plus n[l] biases: 100,480 + 8,256 + 650 = 109,386. Layer 1 holds 92% because the 784-pixel input is fully connected — the seed of the case for convolutional networks.</a:t>
            </a:r>
          </a:p>
          <a:p>
            <a:r>
              <a:t>Preview tip for the PyTorch session: call model(x), not model.forward(x) (the call also runs registered hooks); forgetting super().__init__() raises "AttributeError: cannot assign module before Module.__init__() call".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[0:41 – 0:43]  Peer instruction: everyone votes A–D silently (fingers or clicker); if votes split, give 60 s to convince a neighbour, then revote.</a:t>
            </a:r>
          </a:p>
          <a:p>
            <a:r>
              <a:t>Answer: B. PyTorch stores weights as (out_features, in_features) — one row per output unit, the maths layout — and computes x @ W.T + b.</a:t>
            </a:r>
          </a:p>
          <a:p>
            <a:r>
              <a:t>Distractor A is the most common answer; ask a pair who chose B to explain the 'one row per unit' rule.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[0:34 – 0:37]  Continue the patchwork picture: more linear pieces, better fit. Picture first: a one-hidden-layer ReLU network builds a piecewise-linear interpolation of a continuous curve, and the error shrinks as units are added (hand-constructed ReLU networks with knots chosen to minimize the maximum error, not trained; max errors 0.65, 0.14, 0.014 for 3, 6, 24 units).</a:t>
            </a:r>
          </a:p>
          <a:p>
            <a:r>
              <a:t>Theorem (informal): for any continuous f on a compact set K and any ε &gt; 0, some network with ONE hidden layer, finitely many units and a non-polynomial activation is within ε of f everywhere on K (precise condition, Leshno et al. 1993: a locally bounded, piecewise-continuous activation that is not a polynomial almost everywhere; Cybenko 1989 for sigmoids; Hornik 1991; Leshno et al. 1993). The activation must be non-polynomial — which is exactly why the identity network of Quick check 1 is not universal. A related depth result: ReLU networks of width n + 4 and unbounded depth can approximate any Lebesgue-integrable function in the L¹ sense (Lu et al., 2017).</a:t>
            </a:r>
          </a:p>
          <a:p>
            <a:r>
              <a:t>What it settles: sufficiently large networks have enormous expressive power. It does not say that YOUR network is large enough (two ReLU units cannot fit the curve on this slide), nor that the required size is practical. In practice performance depends on capacity and architecture as well as optimization, regularization, data or architecture.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  Part 1 built the forward pass. Now the network learns: choose a loss, step downhill with gradient descent, get the gradients it needs from backpropagation, and read the curves of our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 – 0:46]  A loss turns "prediction and target disagree" into one number. For most tasks it follows from a probabilistic assumption about the targets.</a:t>
            </a:r>
          </a:p>
          <a:p>
            <a:r>
              <a:t>Regression: y = f(x) + Gaussian noise. The log-likelihood is a constant minus Σ(y − f(x))²/2σ², so maximizing likelihood = minimizing squared error (σ fixed; constants dropped). nn.MSELoss computes the mean of (ŷ − y)², without the ½: the factor only rescales the gradient, i.e. the effective learning rate. That also tells you when MSE is wrong: heavy-tailed noise → Huber loss; counts → Poisson loss.</a:t>
            </a:r>
          </a:p>
          <a:p>
            <a:r>
              <a:t>Binary: a Bernoulli label with probability ŷ = σ(z); the NLL is binary cross-entropy. Multi-class: a categorical label via softmax; the NLL is cross-entropy, −log of the probability of the true class c.</a:t>
            </a:r>
          </a:p>
          <a:p>
            <a:r>
              <a:t>The classification losses take raw logits and apply sigmoid/softmax internally. We average over the batch, J = (1/m)Σ L, so the gradient scale does not depend on batch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[0:46 – 0:48]  Softmax exponentiates and normalizes K logits: outputs are positive and sum to 1; every output depends on every logit; and softmax(z + c) = softmax(z) (shift invariance), which makes the stable implementation possible.</a:t>
            </a:r>
          </a:p>
          <a:p>
            <a:r>
              <a:t>Cross-entropy with a one-hot target is −log of the true-class probability: 0.9 → 0.105, 0.5 → 0.693, 0.01 → 4.61.</a:t>
            </a:r>
          </a:p>
          <a:p>
            <a:r>
              <a:t>Sanity check: if a fresh model's logits are near zero, every class gets ≈ 1/K and the first loss is ≈ ln K (2.30 for 10 classes). Standard initializations give logits of order 1, so the first loss is typically somewhat above ln K: our running example started at 2.63 (2.63–3.02 across three seeds). A first loss of 10 or 15 means the logits differ hugely (softmax ignores a constant shift, so only differences matter): check input standardization, initialization and labels. (Karpathy's recipe suggests initializing the last layer so the first loss is ≈ ln 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[0:48 – 0:50]  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a:t>
            </a:r>
          </a:p>
          <a:p>
            <a:r>
              <a:t>Two further reasons: class labels are not "real values plus Gaussian noise" (wrong likelihood), and for a single neuron MSE∘sigmoid is non-convex in w while cross-entropy∘sigmoid is convex.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 0:52] Quiz now includes the actual code error, so B is logically supported. CrossEntropyLoss expects logits and internally computes log-softmax. Removing model-end Softmax fixes the error. Do not infer this bug merely from a loss plateau. Keep slide 26 hidden until students vote. For K=10, a redundant softmax imposes a loss floor ln(K−1+e)−1≈1.46 for index targets.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 – 0:55]  Reveal for the quick check. Runs of our running example (fmnist_experiments.py, 3 seeds): identical model, data and optimizer; the only difference is a softmax at the end of the model. The bug raises no error; the loss simply cannot go below ln(K − 1 + e) − 1 ≈ 1.46 because CrossEntropyLoss applies log-softmax to inputs that are already in (0, 1). Final training loss 1.56–1.63 vs ≈ 0.14; validation accuracy 81.7–87.9% vs 88.7–89.7% — in the best seed close enough that nobody notices, and the probabilities it outputs are badly miscalibrated — measured (calibration_check.py, 15-bin expected calibration error on validation): ECE 0.11–0.17 with the bug vs 0.04–0.05 without; the buggy model reports 98.5–98.9% mean confidence while being 82–88% accurate. Why: with softmax applied twice, the loss is no longer a proper scoring rule for the reported probabilities, so it keeps rewarding more confidence. Even the correct model is slightly overconfident (94% confidence, 89–90% accuracy).</a:t>
            </a:r>
          </a:p>
          <a:p>
            <a:r>
              <a:t>Why fused losses: in float32, e^1000 overflows to inf. CrossEntropyLoss subtracts the maximum logit first (valid by shift invariance), so every exponent is ≤ 0 and one term equals exactly 1. Targets: int64 class indices of shape (m,), or float class probabilities of shape (m, K) (supported since PyTorch 1.10). Full target-format table: appendix.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[1:03 – 1:06]  Finite differences — nudge one parameter, rerun the forward pass — are a useful check but hopeless for training: 10⁸ parameters need 10⁸ forward passes per step, over a day per step at 1 ms each.</a:t>
            </a:r>
          </a:p>
          <a:p>
            <a:r>
              <a:t>Backpropagation gets ALL gradients in one backward pass costing roughly 2× a forward pass; a training step costs ≈ 3× an inference step. It is the multivariable chain rule applied to the computation graph, organized so shared products are computed once: moving backward from the loss, each new gradient reuses the product already accumulated to its right (reverse-mode automatic differentiation). Backpropagation COMPUTES gradients; an optimizer such as SGD or Adam USES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[1:06 – 1:08] BEFORE advancing to slide 31 (with the solutions already visible), leave slide 30 projected. Write on board: x=2, y=1, w1=0.5, b1=0.1, w2=0.8, b2=−0.3, both sigmoids, L=0.5(a2−y)^2. Ask students to compute z1,a1,z2,a2,L. Then show slide 31 to check: 1.1, 0.7503, 0.3002, 0.5745, 0.0905. The toy MSE loss is for chain-rule visibility, not preferred classification loss.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[1:08 – 1:11]  Build 2 of 3 — backward, one local derivative at a time. ∂L/∂a₂ = a₂ − y; multiply by σ′(z₂) = a₂(1 − a₂) to get δ₂; send it back through w₂; multiply by σ′(z₁) to get δ₁.</a:t>
            </a:r>
          </a:p>
          <a:p>
            <a:r>
              <a:t>δ shrank by a factor of 6.7 in ONE sigmoid layer (factor w₂·σ′(z₁) = 0.8 × 0.187): vanishing gradients in miniature.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 – 1:13]  Build 3 of 3 — parameter gradients. Pattern: weight gradient = error at the weight's output × activation at its input; bias gradient = the error itself. All values were checked numerically, and the PyTorch slide (after the BP equations) reproduces −0.0312 and −0.0780 with autograd.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 1:18]  The general case for a fully connected network. Define the error signal δ[l] = ∂L/∂z[l] on the PRE-activation; then the parameter gradients take one line each.</a:t>
            </a:r>
          </a:p>
          <a:p>
            <a:r>
              <a:t>BP1: for an elementwise output activation g, each output unit's error is its loss gradient times its own slope. Softmax is NOT elementwise, so BP1 in this form does not apply to it; for softmax + cross-entropy one derives directly ∂L/∂z[L] = ŷ − y (shown on the slide as a separate line).</a:t>
            </a:r>
          </a:p>
          <a:p>
            <a:r>
              <a:t>BP2: z[l] affects the loss through every unit of layer l+1, so the chain rule sums over them — a product with the TRANSPOSE of the next layer's weights (forward maps n[l] → n[l+1]; backward must map n[l+1] → n[l]) — gated elementwise by g′. A saturated unit blocks its error.</a:t>
            </a:r>
          </a:p>
          <a:p>
            <a:r>
              <a:t>BP3, BP4: ∂z/∂b = 1 gives the bias gradient; the weight gradient is the outer product of the error and the input activation — exactly the pattern from the worked example. For a batch with examples as rows, dW = Δᵀ A sums the outer products over the batch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[1:18 – 1:19]  The worked example as PyTorch-flavoured pseudocode (exact syntax in the PyTorch session). requires_grad=True records operations in a graph during the forward pass; L.backward() runs reverse-mode differentiation and fills .grad for every leaf tensor. The printed values match the hand calculation.</a:t>
            </a:r>
          </a:p>
          <a:p>
            <a:r>
              <a:t>Consequences: (1) .grad ACCUMULATES across backward calls — deliberately, so gradients from several small batches can be summed — hence optimizer.zero_grad() every step. (2) BP4 needs forward activations, so they are stored until backward: memory grows with batch size; an out-of-memory error in backward() is fixed first by a smaller batch. (3) Evaluate under torch.no_grad() or torch.inference_mode(): no graph, no stored activations. (4) Gradient checkpointing (Chen et al., 2016) recomputes activations instead of storing them, costing roughly one extra forward pass. Implementing a gradient by hand? Verify it with centred differences (appendix).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 – 1:15]  Peer instruction: everyone votes A–D silently (fingers or clicker); if votes split, give 60 s to convince a neighbour, then revote.</a:t>
            </a:r>
          </a:p>
          <a:p>
            <a:r>
              <a:t>Answer: B. Layer 1's error arrives only through w₂: ∂L/∂a₁ = δ₂·w₂ = 0, so δ₁ = 0 and ∂L/∂w₁ = δ₁·x = 0. Vanishing gradients and dead units block learning by the same mechanism.</a:t>
            </a:r>
          </a:p>
          <a:p/>
          <a:p>
            <a:r>
              <a:t>Placed right after the hand calculation on purpose: concrete case first, then the general rule. The next slide's BP2 sends the error back through Wᵀ — exactly the path that w₂ = 0 blocks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 1:03]  First decide what to do with a gradient; then (next slides) how to compute it cheaply. Why the negative gradient? A first-order Taylor expansion says the change in loss is ∇Jᵀ Δθ, most negative for a step opposite the gradient — valid only for SMALL steps.</a:t>
            </a:r>
          </a:p>
          <a:p>
            <a:r>
              <a:t>The panels are computed (small_figures.py)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in Part 3.</a:t>
            </a:r>
          </a:p>
          <a:p>
            <a:r>
              <a:t>Learning-rate symptoms: nan within a few steps → far too large; oscillating or plateauing high → too large; steady fall then flattening → good; glacial → too small. Starting points: AdamW 3×10⁻⁴; SGD + momentum 0.9 at 0.1 for CNNs with BatchNorm at batch 256. Tune with a learning-rate range test (Smith, 2017).</a:t>
            </a:r>
          </a:p>
          <a:p>
            <a:r>
              <a:t>Caveat for curious students: in real networks the η &lt; 2/λ_max rule is a local, quadratic picture. Full-batch gradient descent typically drives the sharpness up to about 2/η and keeps reducing the loss, non-monotonically — the 'edge of stability' (Cohen et al., ICLR 2021).</a:t>
            </a:r>
          </a:p>
          <a:p>
            <a:r>
              <a:t>Bridge: to take even one step we need ∇J for every parameter —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[0:57 – 1:00]  Three splits: train (fit), validation (choose hyperparameters and the checkpoint), test (touch once, at the end). Standardize inputs with statistics computed on the TRAINING split only — using validation or test statistics leaks information.</a:t>
            </a:r>
          </a:p>
          <a:p>
            <a:r>
              <a:t>Mini-batches of 32–512 examples are what everyone uses (torch.optim.SGD is mini-batch SGD). The standard deviation of the gradient noise falls only as 1/√m (its variance as 1/m): 100× the batch buys 10× less noise. Epoch = one pass over the training data; iteration = one update: 55,000 images with batch 128 → 430 iterations per epoch. Shuffle the training set every epoch (in PyTorch: DataLoader(..., shuffle=True)); evaluation needs no shuffling. Full-batch gradients are exact but rarely fit in memory for real datasets; single examples waste the GPU's parallelism.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[1:19 – 1:21]  Pseudocode with the PyTorch calls you will meet in the PyTorch session. Every training loop: clear old gradients, forward, loss, backward, update. Around it: model.train() before training (dropout on, BatchNorm uses batch statistics — both met later: dropout in Part 3, BatchNorm in Appendix B); model.eval() and torch.no_grad() for validation. Commit it to memory.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for the PyTorch session. Bug 1 is measurably overconfident: ≈ 99% mean confidence at 82–88% accuracy (calibration_check.py). Each of these runs and prints a loss but gives the wrong answer; at most a warning appears (the MSELoss shape mismatch warns, and the warning is easy to miss in a long log). Accumulating gradients over several mini-batches is a legitimate technique; omitting zero_grad() is a bug only when the accumulation is unintended. Students should check this list before asking "why doesn't my model learn?".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[1:21 – 1:24]  Our 784–128–64–10 MLP, Adam (η = 10⁻³; Part 3), batch 128, He initialization, standardized inputs, 55,000 training images (fmnist_experiments.py, seed 0 shown). Training loss keeps falling (to 0.14); validation loss bottoms out at epoch 5 (0.325) and then RISES to 0.38, while validation accuracy stays roughly flat near 90%.</a:t>
            </a:r>
          </a:p>
          <a:p>
            <a:r>
              <a:t>Lesson 1: the model is starting to overfit — it becomes over-confident on validation examples it gets wrong, which raises the loss even though accuracy barely moves. Lesson 2: keep the checkpoint with the best validation loss, not the last one; the best epoch moves with the seed (5, 15, 9 across three seeds), so select it on validation rather than hard-coding a number of epochs. Lesson 3: always plot both curves. Part 3 diagnoses and treats this.</a:t>
            </a:r>
          </a:p>
          <a:p>
            <a:r>
              <a:t>Why depth matters at all, and the theory of depth separations,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[1:24 – 1:34]  Break. The teaser is the degradation problem that motivated residual networks (He et al., 2016). It is NOT overfitting: training loss is worse too. Part 3 answers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  Answer to the break question: not overfitting — training loss is worse too. Deep plain networks are hard to OPTIMIZE. Say now that the full answer is slide 45; slides 41–44 first treat the other way depth fails, gradients that vanish or explode. Part 3 is the toolbox that made depth work, and it ends by diagnosing our running example. Normalization layers and double descent are previewed in Appendix B (Session 2), leaving time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 – 1:38]  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a:t>
            </a:r>
          </a:p>
          <a:p>
            <a:r>
              <a:t>Vanishing gradients are insidious: late layers still learn, the loss falls and plateaus too high, no error appears. Exploding gradients show up as nan within a few steps, classically in RNNs. Diagnose by logging the gradient norm of every layer: early layers orders of magnitude below late ones means vanishing. The break question's degradation problem is a different failure: it comes with residual connections.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[1:38 – 1:43]  What initial weight scale keeps the PRE-ACTIVATION variance constant with depth (at initialization, under the assumptions below)? Note: the post-ReLU activations are not zero-mean, so their variance is not preserved — Var(ReLU(z)) ≈ 0.34·Var(z) for Gaussian z — but their second moment is. One unit, zero bias, weights i.i.d., zero-mean and independent of the inputs: Var(z) = n_in·Var(w)·E[x²]. For zero-mean inputs E[x²] = Var(x), so keeping Var(z) = Var(x) needs Var(w) = 1/n_in (LeCun). ReLU outputs are NOT zero-mean, which is why the He box works with E[x²] = E[ReLU(z)²] = ½Var(z).</a:t>
            </a:r>
          </a:p>
          <a:p>
            <a:r>
              <a:t>Xavier/Glorot (2010) balances forward (1/n_in) and backward (1/n_out): 2/(n_in + n_out); it assumes an activation roughly linear and symmetric near 0, fine for tanh (sigmoid is not zero-centred and is rarely used in hidden layers today). ReLU zeroes the negative half of a symmetric input, halving the mean square, so He et al. (2015) double it: 2/n_in; with it they trained a 30-layer ReLU network that stalled under Xavier.</a:t>
            </a:r>
          </a:p>
          <a:p>
            <a:r>
              <a:t>Convolutions: n_in = k·k·C_in (Conv2d(64, 128, 3): n_in = 576, He std ≈ 0.059). PyTorch's default for Linear/Conv is Kaiming-uniform with a = √5, i.e. Var(w) = 1/(3·n_in): conservative; set He initialization explicitly for deep ReLU nets trained from scratch. Never all-zero weights: identical units get identical gradients forever (symmetry). Biases may start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 – 1:46]  While slide 42 is still showing, ask students to PREDICT the four rows; reveal this slide only after they commit. The chart shows only He and Xavier so the subtle case is visible; the extreme cases (std 0.01, std 1.0) are in the table. Twenty ReLU layers of width 256, 1,000 standard-normal inputs, standard deviation of activations per layer (log scale), one seeded NumPy run.</a:t>
            </a:r>
          </a:p>
          <a:p>
            <a:r>
              <a:t>He keeps the signal at order 1 (0.82 at layer 1, 1.14 at layer 20; finite-width fluctuations). Xavier ignores ReLU's halving and loses a factor √2 in standard deviation per layer — it halves about every TWO layers — reaching 1.1 × 10⁻³, close to the theoretical 0.58 × (1/√2)¹⁹ ≈ 8 × 10⁻⁴. std 0.01 vanishes to 1.3 × 10⁻¹⁹; std 1.0 explodes to 1.3 × 10²¹. Other schemes (e.g. scaled orthogonal initialization) can also work; this slide compares only these four. Backward gradients behave the same way, since BP2 multiplies by the same matrices.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[1:46 – 1:48]  Peer instruction: everyone votes A–D silently; if votes split, 60 s with a neighbour, then revote.</a:t>
            </a:r>
          </a:p>
          <a:p>
            <a:r>
              <a:t>Answer: B. With n_in = n_out = 256, Xavier gives Var(w) = 2/(256 + 256) = 1/256, half of He's 2/256. ReLU halves the mean square at every layer, so the activation std falls by √2 per layer: about (1/√2)²⁹ ≈ 4×10⁻⁵ after 30 layers — the Xavier row of the previous slide. Fix: He initialization.</a:t>
            </a:r>
          </a:p>
          <a:p>
            <a:r>
              <a:t>Distractor C is the right mechanism with the wrong sign (that is std 1.0); D misses that the factor compounds.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[1:48 – 1:53]  Answer to the break question. He et al. (2016) found that deeper PLAIN networks reach higher TRAINING error than shallower ones — the degradation problem. It is not overfitting, and in their words it is 'unlikely to be caused by vanishing gradients': the plain nets were trained with BatchNorm and the backward gradients had 'healthy norms'. They conjecture that deep plain nets converge exponentially slowly. So good initialization alone does not fix it.</a:t>
            </a:r>
          </a:p>
          <a:p>
            <a:r>
              <a:t>The fix: let a block learn a correction F(x) and add the input back, x_{l+1} = x_l + F(x_l). An unhelpful block only has to push F toward 0 to become the identity, so extra blocks should not raise training error. Their residual nets did not degrade; ResNet-152 trained in 2015. Residual connections substantially ease, but do not mathematically guarantee, the optimization of very deep networks: the product of the block Jacobians can still be badly conditioned.</a:t>
            </a:r>
          </a:p>
          <a:p>
            <a:r>
              <a:t>A second, complementary view (He et al., ECCV 2016, 'Identity mappings'): the block's Jacobian is I + ∂F/∂x, so the backward product always contains a path with factor exactly 1. Residual connections are in essentially every modern deep architecture, including every Transformer block. Practical trick: initialize the last layer of each residual branch to zero (with normalization, its γ; Goyal et al., 2017) so every block starts as the identity. Real ResNet blocks also contain normalization layers (Appendix B1).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[1:53 – 1:57]  A ravine is steep across and gentle along. The gradient is dominated by the steep direction, so plain SGD bounces between the walls and crawls along the floor: raise η and it diverges, lower it and progress stops. This is ill-conditioning (curvature ratio 25 here).</a:t>
            </a:r>
          </a:p>
          <a:p>
            <a:r>
              <a:t>Fair comparison: computed runs, 40 steps each, on a ravine ROTATED by 30° (so it is not aligned with the coordinates, which would unfairly favour Adam's per-coordinate scaling), with each optimizer's learning rate TUNED by grid search for the lowest final loss. Final losses: SGD 8.6e-3 (η = 0.075), momentum 5.8e-3 (η = 0.016), Adam 6.9e-4 (η = 0.32); small_figures.py. A 2-D toy only: rankings on real networks depend on the problem and on tuning.</a:t>
            </a:r>
          </a:p>
          <a:p>
            <a:r>
              <a:t>Momentum keeps a decaying sum of gradients: oscillating components cancel, consistent ones add up; with constant gradient the velocity tends to g/(1 − β) = 10g for β = 0.9 — so along a consistent direction its steps are up to 10× larger than plain SGD with the same η. Retune η when you switch; there is no fixed conversion factor (Quick check 6 notes give the exact limit on a quadratic). Adam rescales each coordinate by a running RMS of its own gradients.</a:t>
            </a:r>
          </a:p>
          <a:p>
            <a:r>
              <a:t>Why Adam wins on this toy: the ravine is rotated, so Adam's per-coordinate scaling cannot line up with its axes. One plausible reason is its normalized, near-constant-size steps with its own tuned η, but Adam also has momentum and bias correction, and this experiment does not isolate which part helps. It shows only that, tuned for this 40-step budget on this quadratic, Adam reached the lowest loss — not that Adam is generally superior, and not that it 'adapts to the curvature'.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[1:59 – 2:03]  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a:t>
            </a:r>
          </a:p>
          <a:p>
            <a:r>
              <a:t>AdamW (Loshchilov &amp; Hutter, 2019): with plain SGD, an L2 penalty equals weight decay; with Adam it does not, because the λθ term is divided by √v̂ and parameters with large gradient history are barely regularized. AdamW applies decay directly to the weights. In PyTorch, Adam(weight_decay=…) is the coupled L2 version by default (since PyTorch 2.x, Adam(..., decoupled_weight_decay=True) is equivalent to AdamW); AdamW is the decoupled one (default weight_decay = 0.01). Exclude biases and normalization parameters from decay.</a:t>
            </a:r>
          </a:p>
          <a:p>
            <a:r>
              <a:t>SGD with momentum and a tuned schedule remains competitive for image classification; the Adam-versus-SGD generalization gap is real in some settings but small and recipe-dependent.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 – 1:59]  Peer instruction: everyone votes A–D silently; if votes split, 60 s with a neighbour, then revote.</a:t>
            </a:r>
          </a:p>
          <a:p>
            <a:r>
              <a:rPr lang="en-US" dirty="0"/>
              <a:t>Answer: B. On a quadratic, gradient descent converges only if η &lt; 2/λ_max (slide 29). Rotating the ravine does not change its curvatures (1 and 25), so η &lt; 2/25 = 0.08; the tuned SGD rate on slide 46 (0.075) sits just below it. At that η the gentle direction shrinks only by a factor (1 − 0.08 × 1) = 0.92 per step: the slow crawl that momentum and Adam address.</a:t>
            </a:r>
          </a:p>
          <a:p>
            <a:r>
              <a:rPr lang="en-US" dirty="0"/>
              <a:t>Distractors: A uses the gentle curvature; C (1/λ_max) solves the steep direction in one step but is not the stability limit; D confuses convexity (one minimum) with convergence for any step size.</a:t>
            </a:r>
          </a:p>
          <a:p>
            <a:r>
              <a:rPr lang="en-US" dirty="0"/>
              <a:t>For curious students: heavy-ball momentum (v ← βv + ∇J, θ ← θ − ηv) is stable on a quadratic for η &lt; 2(1 + β)/λ_max. In real networks there is no fixed rule: retune η by experiment when you switch optimizers.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(Ioffe &amp; Szegedy, 2015) standardizes each feature (each channel in a CNN) over the mini-batch, then applies a learned scale γ and shift β — which can undo the normalization, so no representational power is lost.</a:t>
            </a:r>
          </a:p>
          <a:p>
            <a:r>
              <a:t>Train vs eval: training uses the batch's mean and variance and updates running averages; eval uses the running averages, so predictions are deterministic and independent of the other examples in the batch. PyTorch's momentum = 0.1 is the weight of the NEW batch statistic. Detail: training-time normalization uses the biased batch variance, while the running variance stores the unbiased estimate. Forgetting model.eval() is the classic bug: validation accuracy then changes with validation batch size; with batch size 1, BatchNorm2d normalizes each image by its own spatial statistics (BatchNorm1d raises an error).</a:t>
            </a:r>
          </a:p>
          <a:p>
            <a:r>
              <a:t>Why it helps: the original "internal covariate shift" explanation is now doubted (Santurkar et al., 2018 injected extra shift and training still went well). A leading explanation (Santurkar et al., 2018), itself still debated: it smooths the loss landscape so larger learning rates are stable. Also: the output is invariant to the scale of the preceding weights; batch noise adds mild regularization.</a:t>
            </a:r>
          </a:p>
          <a:p>
            <a:r>
              <a:t>Variants differ in which statistics they compute, over which axes, and whether evaluation uses the current input or accumulated statistics: LayerNorm (per example — Transformers), RMSNorm (no mean subtraction — many recent LLMs), GroupNorm (small-batch vision). Figure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[2:14 – 2:18]  The same MLP trained on only 1,000 of the 55,000 training images (Adam/AdamW, batch 100, 150 epochs), evaluated on the same 5,000 validation images; three seeds per configuration (fmnist_experiments.py; curves show seed 0). Without regularization, training loss reaches ≈ 0 (it memorizes) and validation loss bottoms out around epoch 9–12 (≈ 0.57), then climbs to ≈ 1.0.</a:t>
            </a:r>
          </a:p>
          <a:p>
            <a:r>
              <a:t>Dropout (p = 0.5) and decoupled weight decay (AdamW, λ = 0.5 — large because the dataset is tiny) each slow the rise; together they give the lowest best validation loss in every seed (0.534 vs 0.572 on average). In accuracy at the best checkpoint the gain is only 0.4 points (81.1% vs 80.7%) — the same size as seed-to-seed variation and the ≈ 0.55-point sampling error of a 5,000-image validation set. Be honest with students: here regularization mainly improved validation cross-entropy, not accuracy (calibration was not measured separately).</a:t>
            </a:r>
          </a:p>
          <a:p>
            <a:r>
              <a:t>The big lesson is in the bar chart: 55× more data lifts accuracy to 89.1% (+8.4 points), far beyond any noise. That is why augmentation and transfer learning sit near the top of the remedy list.</a:t>
            </a:r>
          </a:p>
          <a:p>
            <a:r>
              <a:t>Teaching caution: n=3 independent seeds is insufficient to claim a statistically reliable or broadly generalizable improvement. The 0.57→0.53 difference is an observed sample mean, and +0.4 percentage points accuracy is inconclusive. No runs were reproduced in this editing pass.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Classical statistics predicts a U-shaped test error against model size. Modern networks have far more parameters than examples and still generalize. Simulation (small_figures.py): least squares on p random ReLU features of 20-dimensional Gaussian inputs, n = 60 training points, noise sd 0.3, median of 30 runs.</a:t>
            </a:r>
          </a:p>
          <a:p>
            <a:r>
              <a:t>Unregularized (minimum-norm) fit: test error follows the U (best 0.51 at p = 13), PEAKS at the interpolation threshold p = n = 60 (18.8) — the model can only just fit the noisy training data and must contort — then descends again to 0.20 at p = 3000 (Belkin et al., 2019; deep networks: Nakkiran et al., 2020). With a ridge penalty (λ = 0.01) the peak disappears and the large model reaches 0.19.</a:t>
            </a:r>
          </a:p>
          <a:p>
            <a:r>
              <a:t>Honest caveat: this is not a law. Rerun the same script with 5-dimensional inputs and the classical optimum (0.088 at p = 18) beats the largest unregularized model (0.164). Whether more parameters help depends on the data, the model and the implicit or explicit regularization. Among many exact fits, minimum-norm solutions (which gradient descent from zero initialization finds for least squares) often generalize better than the worst interpolators — but minimum norm is not minimum roughness. Explicit regularization can remove the peak (Nakkiran et al., 2021).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[2:10 – 2:14]  Weight decay adds (λ/2)‖W‖² to the loss, so every step first shrinks W by (1 − ηλ). Weight decay discourages large weights and can limit how sensitive the network is to input changes (for one sigmoid neuron, ‖w‖ sets the sharpness — Part 1; for a deep ReLU net, small layer norms bound its Lipschitz constant). Its actual effect on smoothness and generalization depends on the architecture and optimizer: for weights feeding a normalization layer the function is scale-invariant, and decay mostly acts by changing the effective learning rate; Bayesian reading: a zero-mean Gaussian prior. Typical λ: ≈ 10⁻⁴ – 5×10⁻⁴ for SGD on CNNs; 0.01 – 0.1 with AdamW. Weights only.</a:t>
            </a:r>
          </a:p>
          <a:p>
            <a:r>
              <a:t>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BatchNorm.</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[2:07 – 2:10]  For images, augmentation is usually the highest-leverage regularizer: a shirt is still a shirt after a small crop or brightness change, while every pixel changes. Think about each transform: horizontal flips suit clothes and natural photos but not digits or text; vertical flips suit satellite and microscopy images, not street scenes; rotation confuses 6 and 9.</a:t>
            </a:r>
          </a:p>
          <a:p>
            <a:r>
              <a:t>The pseudocode names the torchvision.transforms.v2 calls (ToImage + ToDtype replace the older ToTensor). Never augment validation or test data beyond deterministic resizing/cropping. Stronger methods: Mixup and CutMix (v2.MixUp, v2.CutMix; batch-level, producing float probability targets that CrossEntropyLoss accepts), RandAugment/TrivialAugment, and label smoothing (CrossEntropyLoss(label_smoothing=0.1)).</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[2:03 – 2:07]  The training–validation gap tells you which problem you have. Validation loss slightly below training loss is usually normal: dropout and augmentation make training harder but are off at evaluation. Point to the teal box: our running example (slide 38) sits in row 2 — training loss keeps falling (0.14) while validation loss rises after epoch 5 (0.33 → 0.38): early overfitting. The ladder that follows treats it, in this order.</a:t>
            </a:r>
          </a:p>
          <a:p>
            <a:r>
              <a:t>Always keep the checkpoint with the best validation metric — it is nearly free. That is different from early STOPPING (halting when validation stops improving): halting is optional and needs patience matched to the learning-rate schedule, because validation loss often improves again after a learning-rate drop.</a:t>
            </a:r>
          </a:p>
          <a:p>
            <a:r>
              <a:t>Then, as a typical order (adapt it to the problem): more data if you can get it (often the most expensive option), augmentation, transfer learning from a pretrained model — for images with a pretrained backbone available, often the first thing to try — weight decay, dropout. Shrinking the model is the last resort: large, well-regularized models usually do at least as well (Appendix B3).</a:t>
            </a:r>
          </a:p>
          <a:p>
            <a:r>
              <a:t>Before any of this (Karpathy, 2019): check that the model can overfit one small batch. If it cannot reach near-zero loss on 100 examples, suspect a bug first, then a setup error: learning rate, regularization or augmentation left on, too few steps.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[2:18 – 2:20] The question now specifies that the evaluation pipeline has been checked and an appropriate pretrained representation is available. B is a promising controlled experiment, not the uniquely optimal intervention. A train/validation gap by itself cannot distinguish overfitting from shifts, leakage, inconsistent preprocessing or label problems. Compare transfer learning, augmentation and baseline models with the same held-out validation protocol.</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together, as pseudocode with the PyTorch names: AdamW with decoupled weight decay (in practice put biases and normalization parameters in a no-decay group); a one-cycle schedule stepped every BATCH. OneCycleLR's default pct_start is 0.3 (warm up over the first 30% of steps); here we set 0.1. It starts at max_lr/25, anneals with a cosine (anneal_strategy='cos') and ends near max_lr/(25·10⁴). With Adam-family optimizers its cycle_momentum=True default also cycles β₁ between 0.85 and 0.95 — silent unless you know it.</a:t>
            </a:r>
          </a:p>
          <a:p>
            <a:r>
              <a:t>Label-smoothed cross-entropy; gradient clipping after backward and before step; evaluation in eval mode under torch.no_grad(); keep the best checkpoint by validation loss. zero_grad() sets gradients to None by default since PyTorch 2.0.</a:t>
            </a:r>
          </a:p>
          <a:p>
            <a:r>
              <a:t>Warmup matters for Transformers and large batches because early gradients and Adam's second-moment estimates are unreliable (Goyal et al., 2017; Liu et al., 2020). Stepping a scheduler at the wrong frequency raises no error and silently changes the schedule: print the learning rate (B6).</a:t>
            </a:r>
          </a:p>
          <a:p>
            <a:r>
              <a:t>The hyperparameters (weight decay 0.05, label smoothing 0.1, clipping at 1.0, pct_start 0.1) are illustrative starting points, not recommendations: validate them; for a small Fashion-MNIST MLP some are unnecessary.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 2:30]  Each part reduces to one sentence; if students can say these and justify them, they have the foundations. Then the one-minute exit ticket: "What was the muddiest point today?" on a card. Read them before next session and open with the top two.</a:t>
            </a:r>
          </a:p>
          <a:p>
            <a:r>
              <a:t>Practice before next session (self-checking; the PyTorch session gives you the syntax): build the 784–128–64–10 MLP for Fashion-MNIST, verify 109,386 parameters, check the first loss is a little above ln 10 ≈ 2.30, overfit 100 images to near-zero loss, then train on the full set and plot both curves.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 review material for today's lecture. Appendix B (after it) previews Session 2: material moved out of this lecture so the 150 minutes have room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review. Q3 now shows code misuse directly, not an underdetermined training-curve diagnosis. Answers 1–4: C, B, B, B. Derive the reasons; do not ask students to memorize letters.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review. Q5 RMS scaling under ReLU assumptions. Q6: the steepest curvature sets the stability limit η &lt; 2/λ_max for every direction. Q7: related pretrained model and checked evaluation are given; promising experiment, not guaranteed best.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Reverse-mode differentiation: Linnainmaa (1970); proposed for networks by Werbos (1974); popularized by Rumelhart, Hinton &amp; Williams (1986). Deep learning took over around 2012, driven by data (ImageNet, 2009), GPUs and algorithmic training techniques — ReLU, careful initialization, dropout, then BatchNorm, residual connections and Adam — most of which Part 3 teaches. 2024 Nobel Prizes: Physics to Hopfield and Hinton; Chemistry to Baker, Hassabis and Jumper.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Grinsztajn et al. (NeurIPS 2022): tree ensembles still outperformed deep models on typical medium-sized tabular benchmarks. TabPFN (Hollmann et al., Nature 2025), a pretrained tabular foundation model, outperformed tuned baselines on datasets up to 10,000 samples; TabPFN-2.5 (Prior Labs, November 2025) extends this to about 50,000 rows and 2,000 features.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CrossEntropyLoss accepts int64 class indices (m,) or float class probabilities (m, K) since PyTorch 1.10 (used by label smoothing, Mixup, CutMix). Match prediction and target shapes exactly for MSELoss: (m, 1) vs (m,) broadcasts to (m, m) with only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LayerNorm, GroupNorm and InstanceNorm compute (x − mean)/std over different axes, then a learned scale and shift; they also differ in how statistics are used (BatchNorm switches to running averages at evaluation; the others use the current example). Teal cells share one mean and variance; height and width are always pooled. RMSNorm (Zhang &amp; Sennrich, 2019) drops the mean subtraction.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optimizer.param_groups[0]["lr"] every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centred difference (error O(ε²)) and a relative error. Use float64, make the loss deterministic (dropout off), and check a random subset of parameters: each check costs two forward passes. Thresholds follow the CS231n notes: above 10⁻² the gradient is probably wrong; 10⁻² to 10⁻⁴ is uncomfortable; below 10⁻⁴ is usually fine for losses with kinks (ReLU at 0) but too high for smooth ones (tanh, softmax); 10⁻⁷ or less is correct.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Moved out of the 150-minute lecture so that Part 3 has time for practice. B1–B3 open Session 2 (normalization, double descent); B4–B7 support the PyTorch session, ending with the full training recipe as its capstone.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chart" Target="../charts/chart12.xml"/><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0.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59.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2.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64.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6.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768096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9692640" y="5806440"/>
            <a:ext cx="182880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txBody>
          <a:bodyPr/>
          <a:p/>
        </p:txBody>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0F7C82"/>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0F7C82"/>
          </a:solidFill>
          <a:ln/>
        </p:spPr>
        <p:txBody>
          <a:bodyPr/>
          <a:p/>
        </p:txBody>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0F7C82"/>
          </a:solidFill>
          <a:ln/>
        </p:spPr>
        <p:txBody>
          <a:bodyPr/>
          <a:p/>
        </p:txBody>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txBody>
          <a:bodyPr/>
          <a:p/>
        </p:txBody>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C8571B"/>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C8571B"/>
          </a:solidFill>
          <a:ln/>
        </p:spPr>
        <p:txBody>
          <a:bodyPr/>
          <a:p/>
        </p:txBody>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and pick the PyTorch loss</a:t>
            </a:r>
            <a:endParaRPr lang="en-US" sz="1800" dirty="0"/>
          </a:p>
        </p:txBody>
      </p:sp>
      <p:sp>
        <p:nvSpPr>
          <p:cNvPr id="18" name="Shape 15"/>
          <p:cNvSpPr/>
          <p:nvPr/>
        </p:nvSpPr>
        <p:spPr>
          <a:xfrm>
            <a:off x="4544568" y="3703320"/>
            <a:ext cx="420624" cy="420624"/>
          </a:xfrm>
          <a:prstGeom prst="ellipse">
            <a:avLst/>
          </a:prstGeom>
          <a:solidFill>
            <a:srgbClr val="C8571B"/>
          </a:solidFill>
          <a:ln/>
        </p:spPr>
        <p:txBody>
          <a:bodyPr/>
          <a:p/>
        </p:txBody>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txBody>
          <a:bodyPr/>
          <a:p/>
        </p:txBody>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4C5BD4"/>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4C5BD4"/>
          </a:solidFill>
          <a:ln/>
        </p:spPr>
        <p:txBody>
          <a:bodyPr/>
          <a:p/>
        </p:txBody>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an initialization and an optimizer; explain residual connections</a:t>
            </a:r>
            <a:endParaRPr lang="en-US" sz="1800" dirty="0"/>
          </a:p>
        </p:txBody>
      </p:sp>
      <p:sp>
        <p:nvSpPr>
          <p:cNvPr id="26" name="Shape 23"/>
          <p:cNvSpPr/>
          <p:nvPr/>
        </p:nvSpPr>
        <p:spPr>
          <a:xfrm>
            <a:off x="8311896" y="3703320"/>
            <a:ext cx="420624" cy="420624"/>
          </a:xfrm>
          <a:prstGeom prst="ellipse">
            <a:avLst/>
          </a:prstGeom>
          <a:solidFill>
            <a:srgbClr val="4C5BD4"/>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33238" cy="640080"/>
          </a:xfrm>
          <a:prstGeom prst="rect">
            <a:avLst/>
          </a:prstGeom>
          <a:solidFill>
            <a:srgbClr val="8A94A3"/>
          </a:solidFill>
          <a:ln/>
        </p:spPr>
        <p:txBody>
          <a:bodyPr/>
          <a:p/>
        </p:txBody>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18454" y="1417320"/>
            <a:ext cx="2921935" cy="640080"/>
          </a:xfrm>
          <a:prstGeom prst="rect">
            <a:avLst/>
          </a:prstGeom>
          <a:solidFill>
            <a:srgbClr val="0F7C82"/>
          </a:solidFill>
          <a:ln/>
        </p:spPr>
        <p:txBody>
          <a:bodyPr/>
          <a:p/>
        </p:txBody>
      </p:sp>
      <p:sp>
        <p:nvSpPr>
          <p:cNvPr id="8" name="Text 5"/>
          <p:cNvSpPr txBox="1"/>
          <p:nvPr/>
        </p:nvSpPr>
        <p:spPr>
          <a:xfrm>
            <a:off x="1028182" y="1417320"/>
            <a:ext cx="277563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876965" y="1417320"/>
            <a:ext cx="2847972" cy="640080"/>
          </a:xfrm>
          <a:prstGeom prst="rect">
            <a:avLst/>
          </a:prstGeom>
          <a:solidFill>
            <a:srgbClr val="C8571B"/>
          </a:solidFill>
          <a:ln/>
        </p:spPr>
        <p:txBody>
          <a:bodyPr/>
          <a:p/>
        </p:txBody>
      </p:sp>
      <p:sp>
        <p:nvSpPr>
          <p:cNvPr id="10" name="Text 7"/>
          <p:cNvSpPr txBox="1"/>
          <p:nvPr/>
        </p:nvSpPr>
        <p:spPr>
          <a:xfrm>
            <a:off x="3986693" y="1417320"/>
            <a:ext cx="2628516"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360264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0:43</a:t>
            </a:r>
            <a:endParaRPr lang="en-US" sz="1300" dirty="0"/>
          </a:p>
        </p:txBody>
      </p:sp>
      <p:sp>
        <p:nvSpPr>
          <p:cNvPr id="12" name="Shape 9"/>
          <p:cNvSpPr/>
          <p:nvPr/>
        </p:nvSpPr>
        <p:spPr>
          <a:xfrm>
            <a:off x="6761512" y="1417320"/>
            <a:ext cx="703052" cy="640080"/>
          </a:xfrm>
          <a:prstGeom prst="rect">
            <a:avLst/>
          </a:prstGeom>
          <a:solidFill>
            <a:srgbClr val="B7BFCB"/>
          </a:solidFill>
          <a:ln/>
        </p:spPr>
        <p:txBody>
          <a:bodyPr/>
          <a:p/>
        </p:txBody>
      </p:sp>
      <p:sp>
        <p:nvSpPr>
          <p:cNvPr id="13" name="Text 10"/>
          <p:cNvSpPr txBox="1"/>
          <p:nvPr/>
        </p:nvSpPr>
        <p:spPr>
          <a:xfrm>
            <a:off x="6871240" y="1417320"/>
            <a:ext cx="556748"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648719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1:24</a:t>
            </a:r>
            <a:endParaRPr lang="en-US" sz="1300" dirty="0"/>
          </a:p>
        </p:txBody>
      </p:sp>
      <p:sp>
        <p:nvSpPr>
          <p:cNvPr id="15" name="Shape 12"/>
          <p:cNvSpPr/>
          <p:nvPr/>
        </p:nvSpPr>
        <p:spPr>
          <a:xfrm>
            <a:off x="7501140" y="1417320"/>
            <a:ext cx="3365711" cy="640080"/>
          </a:xfrm>
          <a:prstGeom prst="rect">
            <a:avLst/>
          </a:prstGeom>
          <a:solidFill>
            <a:srgbClr val="4C5BD4"/>
          </a:solidFill>
          <a:ln/>
        </p:spPr>
        <p:txBody>
          <a:bodyPr/>
          <a:p/>
        </p:txBody>
      </p:sp>
      <p:sp>
        <p:nvSpPr>
          <p:cNvPr id="16" name="Text 13"/>
          <p:cNvSpPr txBox="1"/>
          <p:nvPr/>
        </p:nvSpPr>
        <p:spPr>
          <a:xfrm>
            <a:off x="7610868" y="1417320"/>
            <a:ext cx="3146255"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72268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1:34</a:t>
            </a:r>
            <a:endParaRPr lang="en-US" sz="1300" dirty="0"/>
          </a:p>
        </p:txBody>
      </p:sp>
      <p:sp>
        <p:nvSpPr>
          <p:cNvPr id="18" name="Shape 15"/>
          <p:cNvSpPr/>
          <p:nvPr/>
        </p:nvSpPr>
        <p:spPr>
          <a:xfrm>
            <a:off x="10903428" y="1417320"/>
            <a:ext cx="703052" cy="640080"/>
          </a:xfrm>
          <a:prstGeom prst="rect">
            <a:avLst/>
          </a:prstGeom>
          <a:solidFill>
            <a:srgbClr val="8A94A3"/>
          </a:solidFill>
          <a:ln/>
        </p:spPr>
        <p:txBody>
          <a:bodyPr/>
          <a:p/>
        </p:txBody>
      </p:sp>
      <p:sp>
        <p:nvSpPr>
          <p:cNvPr id="19" name="Text 16"/>
          <p:cNvSpPr txBox="1"/>
          <p:nvPr/>
        </p:nvSpPr>
        <p:spPr>
          <a:xfrm>
            <a:off x="1062910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2:20</a:t>
            </a:r>
            <a:endParaRPr lang="en-US" sz="1300" dirty="0"/>
          </a:p>
        </p:txBody>
      </p:sp>
      <p:sp>
        <p:nvSpPr>
          <p:cNvPr id="20" name="Text 17"/>
          <p:cNvSpPr txBox="1"/>
          <p:nvPr/>
        </p:nvSpPr>
        <p:spPr>
          <a:xfrm>
            <a:off x="1123157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txBody>
          <a:bodyPr/>
          <a:p/>
        </p:txBody>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txBody>
          <a:bodyPr/>
          <a:p/>
        </p:txBody>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gradient descent, backpropagation</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txBody>
          <a:bodyPr/>
          <a:p/>
        </p:txBody>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optimizers, regularization, diagnosis</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txBody>
          <a:bodyPr/>
          <a:p/>
        </p:txBody>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for it comes from a script you can rerun.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38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one neuron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must a nonlinearity sit between layers?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One neuron: a weighted sum and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txBody>
          <a:bodyPr/>
          <a:p/>
        </p:txBody>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txBody>
          <a:bodyPr/>
          <a:p/>
        </p:txBody>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txBody>
          <a:bodyPr/>
          <a:p/>
        </p:txBody>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txBody>
          <a:bodyPr/>
          <a:p/>
        </p:txBody>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txBody>
          <a:bodyPr/>
          <a:p/>
        </p:txBody>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txBody>
          <a:bodyPr/>
          <a:p/>
        </p:txBody>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txBody>
          <a:bodyPr/>
          <a:p/>
        </p:txBody>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txBody>
          <a:bodyPr/>
          <a:p/>
        </p:txBody>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txBody>
          <a:bodyPr/>
          <a:p/>
        </p:txBody>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txBody>
          <a:bodyPr/>
          <a:p/>
        </p:txBody>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step</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txBody>
          <a:bodyPr/>
          <a:p/>
        </p:txBody>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36592"/>
            <a:ext cx="1700372" cy="1205087"/>
          </a:xfrm>
          <a:prstGeom prst="rect">
            <a:avLst/>
          </a:prstGeom>
        </p:spPr>
      </p:pic>
      <p:sp>
        <p:nvSpPr>
          <p:cNvPr id="26" name="Text 22"/>
          <p:cNvSpPr txBox="1"/>
          <p:nvPr/>
        </p:nvSpPr>
        <p:spPr>
          <a:xfrm>
            <a:off x="2743200" y="5029200"/>
            <a:ext cx="256032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weighted sum (score)</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output, 1 = fires</a:t>
            </a:r>
            <a:endParaRPr lang="en-US" sz="1600" dirty="0"/>
          </a:p>
        </p:txBody>
      </p:sp>
      <p:pic>
        <p:nvPicPr>
          <p:cNvPr id="27" name="Image 1" descr="Decision boundary w-transpose-x plus b equals 0 with w perpendicular to it and distance |b|/||w|| from the origin.">    </p:cNvPr>
          <p:cNvPicPr>
            <a:picLocks noChangeAspect="1"/>
          </p:cNvPicPr>
          <p:nvPr/>
        </p:nvPicPr>
        <p:blipFill>
          <a:blip r:embed="rId2"/>
          <a:stretch>
            <a:fillRect/>
          </a:stretch>
        </p:blipFill>
        <p:spPr>
          <a:xfrm>
            <a:off x="5486400" y="1504612"/>
            <a:ext cx="3017520" cy="3254417"/>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txBody>
          <a:bodyPr/>
          <a:p/>
        </p:txBody>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txBody>
          <a:bodyPr/>
          <a:p/>
        </p:txBody>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txBody>
          <a:bodyPr/>
          <a:p/>
        </p:txBody>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Fires on one side</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 1 where z &gt; 0: one side of one line.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Linear models can only draw straight boundaries</a:t>
            </a:r>
            <a:endParaRPr lang="en-US" sz="3200" dirty="0"/>
          </a:p>
        </p:txBody>
      </p:sp>
      <p:pic>
        <p:nvPicPr>
          <p:cNvPr id="5" name="Image 0" descr="LaTeX: $\displaystyle \yh = \w\T\x + b = w_1x_1 + w_2x_2 + \dots + w_nx_n + b$">    </p:cNvPr>
          <p:cNvPicPr>
            <a:picLocks noChangeAspect="1"/>
          </p:cNvPicPr>
          <p:nvPr/>
        </p:nvPicPr>
        <p:blipFill>
          <a:blip r:embed="rId1"/>
          <a:stretch>
            <a:fillRect/>
          </a:stretch>
        </p:blipFill>
        <p:spPr>
          <a:xfrm>
            <a:off x="548640" y="1417320"/>
            <a:ext cx="5874014" cy="321777"/>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2"/>
          <a:stretch>
            <a:fillRect/>
          </a:stretch>
        </p:blipFill>
        <p:spPr>
          <a:xfrm>
            <a:off x="1467947" y="1965960"/>
            <a:ext cx="9253728" cy="370249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txBody>
          <a:bodyPr/>
          <a:p/>
        </p:txBody>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One neuron, step or sigmoid: its boundary z = wᵀx + b = 0 is a line (a hyperplane in n-D). No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1"/>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W₁X₁ + W₂X₂ + B &gt; 0.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BEADF"/>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1"/>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900" name="Next signpost"/>
          <p:cNvSpPr txBox="1"/>
          <p:nvPr/>
        </p:nvSpPr>
        <p:spPr>
          <a:xfrm>
            <a:off x="6126480" y="6419088"/>
            <a:ext cx="487680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stack this rule layer by layer: the forward pass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BEADF"/>
          </a:solidFill>
          <a:ln/>
        </p:spPr>
        <p:txBody>
          <a:bodyPr/>
          <a:p/>
        </p:txBody>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THE STEP NEURON: NO GRADIENT</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txBody>
          <a:bodyPr/>
          <a:p/>
        </p:txBody>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 LOGIT z IS THE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txBody>
          <a:bodyPr/>
          <a:p/>
        </p:txBody>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650992"/>
            <a:ext cx="4937760" cy="566928"/>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Maximum slope of σ: 1/4, at z = 0.</a:t>
            </a:r>
            <a:endParaRPr lang="en-US" sz="1600" dirty="0"/>
          </a:p>
          <a:p>
            <a:pPr indent="0" marL="0">
              <a:buNone/>
            </a:pPr>
            <a:r>
              <a:rPr lang="en-US" sz="1400" i="1" dirty="0">
                <a:solidFill>
                  <a:srgbClr val="5B6675"/>
                </a:solidFill>
                <a:latin typeface="Calibri" pitchFamily="34" charset="0"/>
                <a:ea typeface="Calibri" pitchFamily="34" charset="-122"/>
                <a:cs typeface="Calibri" pitchFamily="34" charset="-120"/>
              </a:rPr>
              <a:t>Scaling w and b by k: same boundary, k×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C857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BEADF"/>
          </a:solidFill>
          <a:ln w="15875">
            <a:solidFill>
              <a:srgbClr val="C8571B"/>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FBEADF"/>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8F3A0E"/>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hidden layer and a sigmoid on the output.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 for z &gt; 0</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txBody>
          <a:bodyPr/>
          <a:p/>
        </p:txBody>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txBody>
          <a:bodyPr/>
          <a:p/>
        </p:txBody>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activation doesn't shrink the gradient (weights still can);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txBody>
          <a:bodyPr/>
          <a:p/>
        </p:txBody>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Negative on every input: zero gradient, and it may stay off for good.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C8571B"/>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1</a:t>
            </a: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1</a:t>
            </a: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2</a:t>
            </a: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2"/>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6"/>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146</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(900 × 600 grid) of a 2–12–12–1 ReLU net</a:t>
            </a:r>
            <a:endParaRPr lang="en-US" sz="1700" dirty="0"/>
          </a:p>
        </p:txBody>
      </p:sp>
      <p:sp>
        <p:nvSpPr>
          <p:cNvPr id="8" name="Shape 4"/>
          <p:cNvSpPr/>
          <p:nvPr/>
        </p:nvSpPr>
        <p:spPr>
          <a:xfrm>
            <a:off x="7863840" y="3429000"/>
            <a:ext cx="402336" cy="402336"/>
          </a:xfrm>
          <a:prstGeom prst="ellipse">
            <a:avLst/>
          </a:prstGeom>
          <a:solidFill>
            <a:srgbClr val="0F7C82"/>
          </a:solidFill>
          <a:ln/>
        </p:spPr>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65 to 0.01.">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 hand-built (not trained)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Continuous f on compact K; one hidden layer of enough non-polynomial units (ReLU, sigmoid):</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dimension (worst case).</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CONSTRUCTED · small_figures.py</a:t>
            </a:r>
          </a:p>
        </p:txBody>
      </p:sp>
      <p:sp>
        <p:nvSpPr>
          <p:cNvPr id="900" name="Next signpost"/>
          <p:cNvSpPr txBox="1"/>
          <p:nvPr/>
        </p:nvSpPr>
        <p:spPr>
          <a:xfrm>
            <a:off x="6126480" y="6419088"/>
            <a:ext cx="487680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real network of this kind: our Fashion-MNIST MLP</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sp>
      <p:sp>
        <p:nvSpPr>
          <p:cNvPr id="6" name="Shape 3"/>
          <p:cNvSpPr/>
          <p:nvPr/>
        </p:nvSpPr>
        <p:spPr>
          <a:xfrm>
            <a:off x="914400" y="2532888"/>
            <a:ext cx="1402080" cy="329184"/>
          </a:xfrm>
          <a:prstGeom prst="line">
            <a:avLst/>
          </a:prstGeom>
          <a:noFill/>
          <a:ln w="11430">
            <a:solidFill>
              <a:srgbClr val="A9B3C2"/>
            </a:solidFill>
            <a:prstDash val="solid"/>
          </a:ln>
        </p:spPr>
      </p:sp>
      <p:sp>
        <p:nvSpPr>
          <p:cNvPr id="7" name="Shape 4"/>
          <p:cNvSpPr/>
          <p:nvPr/>
        </p:nvSpPr>
        <p:spPr>
          <a:xfrm>
            <a:off x="914400" y="2532888"/>
            <a:ext cx="1402080" cy="987552"/>
          </a:xfrm>
          <a:prstGeom prst="line">
            <a:avLst/>
          </a:prstGeom>
          <a:noFill/>
          <a:ln w="11430">
            <a:solidFill>
              <a:srgbClr val="A9B3C2"/>
            </a:solidFill>
            <a:prstDash val="solid"/>
          </a:ln>
        </p:spPr>
      </p:sp>
      <p:sp>
        <p:nvSpPr>
          <p:cNvPr id="8" name="Shape 5"/>
          <p:cNvSpPr/>
          <p:nvPr/>
        </p:nvSpPr>
        <p:spPr>
          <a:xfrm>
            <a:off x="914400" y="2532888"/>
            <a:ext cx="1402080" cy="1645920"/>
          </a:xfrm>
          <a:prstGeom prst="line">
            <a:avLst/>
          </a:prstGeom>
          <a:noFill/>
          <a:ln w="11430">
            <a:solidFill>
              <a:srgbClr val="A9B3C2"/>
            </a:solidFill>
            <a:prstDash val="solid"/>
          </a:ln>
        </p:spPr>
      </p:sp>
      <p:sp>
        <p:nvSpPr>
          <p:cNvPr id="9" name="Shape 6"/>
          <p:cNvSpPr/>
          <p:nvPr/>
        </p:nvSpPr>
        <p:spPr>
          <a:xfrm>
            <a:off x="914400" y="2532888"/>
            <a:ext cx="1402080" cy="2304288"/>
          </a:xfrm>
          <a:prstGeom prst="line">
            <a:avLst/>
          </a:prstGeom>
          <a:noFill/>
          <a:ln w="11430">
            <a:solidFill>
              <a:srgbClr val="A9B3C2"/>
            </a:solidFill>
            <a:prstDash val="solid"/>
          </a:ln>
        </p:spPr>
      </p:sp>
      <p:sp>
        <p:nvSpPr>
          <p:cNvPr id="10" name="Shape 7"/>
          <p:cNvSpPr/>
          <p:nvPr/>
        </p:nvSpPr>
        <p:spPr>
          <a:xfrm flipV="1">
            <a:off x="914400" y="2203704"/>
            <a:ext cx="1402080" cy="987552"/>
          </a:xfrm>
          <a:prstGeom prst="line">
            <a:avLst/>
          </a:prstGeom>
          <a:noFill/>
          <a:ln w="11430">
            <a:solidFill>
              <a:srgbClr val="A9B3C2"/>
            </a:solidFill>
            <a:prstDash val="solid"/>
          </a:ln>
        </p:spPr>
      </p:sp>
      <p:sp>
        <p:nvSpPr>
          <p:cNvPr id="11" name="Shape 8"/>
          <p:cNvSpPr/>
          <p:nvPr/>
        </p:nvSpPr>
        <p:spPr>
          <a:xfrm flipV="1">
            <a:off x="914400" y="2862072"/>
            <a:ext cx="1402080" cy="329184"/>
          </a:xfrm>
          <a:prstGeom prst="line">
            <a:avLst/>
          </a:prstGeom>
          <a:noFill/>
          <a:ln w="11430">
            <a:solidFill>
              <a:srgbClr val="A9B3C2"/>
            </a:solidFill>
            <a:prstDash val="solid"/>
          </a:ln>
        </p:spPr>
      </p:sp>
      <p:sp>
        <p:nvSpPr>
          <p:cNvPr id="12" name="Shape 9"/>
          <p:cNvSpPr/>
          <p:nvPr/>
        </p:nvSpPr>
        <p:spPr>
          <a:xfrm>
            <a:off x="914400" y="3191256"/>
            <a:ext cx="1402080" cy="329184"/>
          </a:xfrm>
          <a:prstGeom prst="line">
            <a:avLst/>
          </a:prstGeom>
          <a:noFill/>
          <a:ln w="11430">
            <a:solidFill>
              <a:srgbClr val="A9B3C2"/>
            </a:solidFill>
            <a:prstDash val="solid"/>
          </a:ln>
        </p:spPr>
      </p:sp>
      <p:sp>
        <p:nvSpPr>
          <p:cNvPr id="13" name="Shape 10"/>
          <p:cNvSpPr/>
          <p:nvPr/>
        </p:nvSpPr>
        <p:spPr>
          <a:xfrm>
            <a:off x="914400" y="3191256"/>
            <a:ext cx="1402080" cy="987552"/>
          </a:xfrm>
          <a:prstGeom prst="line">
            <a:avLst/>
          </a:prstGeom>
          <a:noFill/>
          <a:ln w="11430">
            <a:solidFill>
              <a:srgbClr val="A9B3C2"/>
            </a:solidFill>
            <a:prstDash val="solid"/>
          </a:ln>
        </p:spPr>
      </p:sp>
      <p:sp>
        <p:nvSpPr>
          <p:cNvPr id="14" name="Shape 11"/>
          <p:cNvSpPr/>
          <p:nvPr/>
        </p:nvSpPr>
        <p:spPr>
          <a:xfrm>
            <a:off x="914400" y="3191256"/>
            <a:ext cx="1402080" cy="1645920"/>
          </a:xfrm>
          <a:prstGeom prst="line">
            <a:avLst/>
          </a:prstGeom>
          <a:noFill/>
          <a:ln w="11430">
            <a:solidFill>
              <a:srgbClr val="A9B3C2"/>
            </a:solidFill>
            <a:prstDash val="solid"/>
          </a:ln>
        </p:spPr>
      </p:sp>
      <p:sp>
        <p:nvSpPr>
          <p:cNvPr id="15" name="Shape 12"/>
          <p:cNvSpPr/>
          <p:nvPr/>
        </p:nvSpPr>
        <p:spPr>
          <a:xfrm flipV="1">
            <a:off x="914400" y="2203704"/>
            <a:ext cx="1402080" cy="1645920"/>
          </a:xfrm>
          <a:prstGeom prst="line">
            <a:avLst/>
          </a:prstGeom>
          <a:noFill/>
          <a:ln w="11430">
            <a:solidFill>
              <a:srgbClr val="A9B3C2"/>
            </a:solidFill>
            <a:prstDash val="solid"/>
          </a:ln>
        </p:spPr>
      </p:sp>
      <p:sp>
        <p:nvSpPr>
          <p:cNvPr id="16" name="Shape 13"/>
          <p:cNvSpPr/>
          <p:nvPr/>
        </p:nvSpPr>
        <p:spPr>
          <a:xfrm flipV="1">
            <a:off x="914400" y="2862072"/>
            <a:ext cx="1402080" cy="987552"/>
          </a:xfrm>
          <a:prstGeom prst="line">
            <a:avLst/>
          </a:prstGeom>
          <a:noFill/>
          <a:ln w="11430">
            <a:solidFill>
              <a:srgbClr val="A9B3C2"/>
            </a:solidFill>
            <a:prstDash val="solid"/>
          </a:ln>
        </p:spPr>
      </p:sp>
      <p:sp>
        <p:nvSpPr>
          <p:cNvPr id="17" name="Shape 14"/>
          <p:cNvSpPr/>
          <p:nvPr/>
        </p:nvSpPr>
        <p:spPr>
          <a:xfrm flipV="1">
            <a:off x="914400" y="3520440"/>
            <a:ext cx="1402080" cy="329184"/>
          </a:xfrm>
          <a:prstGeom prst="line">
            <a:avLst/>
          </a:prstGeom>
          <a:noFill/>
          <a:ln w="11430">
            <a:solidFill>
              <a:srgbClr val="A9B3C2"/>
            </a:solidFill>
            <a:prstDash val="solid"/>
          </a:ln>
        </p:spPr>
      </p:sp>
      <p:sp>
        <p:nvSpPr>
          <p:cNvPr id="18" name="Shape 15"/>
          <p:cNvSpPr/>
          <p:nvPr/>
        </p:nvSpPr>
        <p:spPr>
          <a:xfrm>
            <a:off x="914400" y="3849624"/>
            <a:ext cx="1402080" cy="329184"/>
          </a:xfrm>
          <a:prstGeom prst="line">
            <a:avLst/>
          </a:prstGeom>
          <a:noFill/>
          <a:ln w="11430">
            <a:solidFill>
              <a:srgbClr val="A9B3C2"/>
            </a:solidFill>
            <a:prstDash val="solid"/>
          </a:ln>
        </p:spPr>
      </p:sp>
      <p:sp>
        <p:nvSpPr>
          <p:cNvPr id="19" name="Shape 16"/>
          <p:cNvSpPr/>
          <p:nvPr/>
        </p:nvSpPr>
        <p:spPr>
          <a:xfrm>
            <a:off x="914400" y="3849624"/>
            <a:ext cx="1402080" cy="987552"/>
          </a:xfrm>
          <a:prstGeom prst="line">
            <a:avLst/>
          </a:prstGeom>
          <a:noFill/>
          <a:ln w="11430">
            <a:solidFill>
              <a:srgbClr val="A9B3C2"/>
            </a:solidFill>
            <a:prstDash val="solid"/>
          </a:ln>
        </p:spPr>
      </p:sp>
      <p:sp>
        <p:nvSpPr>
          <p:cNvPr id="20" name="Shape 17"/>
          <p:cNvSpPr/>
          <p:nvPr/>
        </p:nvSpPr>
        <p:spPr>
          <a:xfrm flipV="1">
            <a:off x="914400" y="2203704"/>
            <a:ext cx="1402080" cy="2304288"/>
          </a:xfrm>
          <a:prstGeom prst="line">
            <a:avLst/>
          </a:prstGeom>
          <a:noFill/>
          <a:ln w="11430">
            <a:solidFill>
              <a:srgbClr val="A9B3C2"/>
            </a:solidFill>
            <a:prstDash val="solid"/>
          </a:ln>
        </p:spPr>
      </p:sp>
      <p:sp>
        <p:nvSpPr>
          <p:cNvPr id="21" name="Shape 18"/>
          <p:cNvSpPr/>
          <p:nvPr/>
        </p:nvSpPr>
        <p:spPr>
          <a:xfrm flipV="1">
            <a:off x="914400" y="2862072"/>
            <a:ext cx="1402080" cy="1645920"/>
          </a:xfrm>
          <a:prstGeom prst="line">
            <a:avLst/>
          </a:prstGeom>
          <a:noFill/>
          <a:ln w="11430">
            <a:solidFill>
              <a:srgbClr val="A9B3C2"/>
            </a:solidFill>
            <a:prstDash val="solid"/>
          </a:ln>
        </p:spPr>
      </p:sp>
      <p:sp>
        <p:nvSpPr>
          <p:cNvPr id="22" name="Shape 19"/>
          <p:cNvSpPr/>
          <p:nvPr/>
        </p:nvSpPr>
        <p:spPr>
          <a:xfrm flipV="1">
            <a:off x="914400" y="3520440"/>
            <a:ext cx="1402080" cy="987552"/>
          </a:xfrm>
          <a:prstGeom prst="line">
            <a:avLst/>
          </a:prstGeom>
          <a:noFill/>
          <a:ln w="11430">
            <a:solidFill>
              <a:srgbClr val="A9B3C2"/>
            </a:solidFill>
            <a:prstDash val="solid"/>
          </a:ln>
        </p:spPr>
      </p:sp>
      <p:sp>
        <p:nvSpPr>
          <p:cNvPr id="23" name="Shape 20"/>
          <p:cNvSpPr/>
          <p:nvPr/>
        </p:nvSpPr>
        <p:spPr>
          <a:xfrm flipV="1">
            <a:off x="914400" y="4178808"/>
            <a:ext cx="1402080" cy="329184"/>
          </a:xfrm>
          <a:prstGeom prst="line">
            <a:avLst/>
          </a:prstGeom>
          <a:noFill/>
          <a:ln w="11430">
            <a:solidFill>
              <a:srgbClr val="A9B3C2"/>
            </a:solidFill>
            <a:prstDash val="solid"/>
          </a:ln>
        </p:spPr>
      </p:sp>
      <p:sp>
        <p:nvSpPr>
          <p:cNvPr id="24" name="Shape 21"/>
          <p:cNvSpPr/>
          <p:nvPr/>
        </p:nvSpPr>
        <p:spPr>
          <a:xfrm>
            <a:off x="914400" y="4507992"/>
            <a:ext cx="1402080" cy="329184"/>
          </a:xfrm>
          <a:prstGeom prst="line">
            <a:avLst/>
          </a:prstGeom>
          <a:noFill/>
          <a:ln w="11430">
            <a:solidFill>
              <a:srgbClr val="A9B3C2"/>
            </a:solidFill>
            <a:prstDash val="solid"/>
          </a:ln>
        </p:spPr>
      </p:sp>
      <p:sp>
        <p:nvSpPr>
          <p:cNvPr id="25" name="Shape 22"/>
          <p:cNvSpPr/>
          <p:nvPr/>
        </p:nvSpPr>
        <p:spPr>
          <a:xfrm>
            <a:off x="2316480" y="2203704"/>
            <a:ext cx="1402080" cy="91"/>
          </a:xfrm>
          <a:prstGeom prst="line">
            <a:avLst/>
          </a:prstGeom>
          <a:noFill/>
          <a:ln w="11430">
            <a:solidFill>
              <a:srgbClr val="A9B3C2"/>
            </a:solidFill>
            <a:prstDash val="solid"/>
          </a:ln>
        </p:spPr>
      </p:sp>
      <p:sp>
        <p:nvSpPr>
          <p:cNvPr id="26" name="Shape 23"/>
          <p:cNvSpPr/>
          <p:nvPr/>
        </p:nvSpPr>
        <p:spPr>
          <a:xfrm>
            <a:off x="2316480" y="2203704"/>
            <a:ext cx="1402080" cy="658368"/>
          </a:xfrm>
          <a:prstGeom prst="line">
            <a:avLst/>
          </a:prstGeom>
          <a:noFill/>
          <a:ln w="11430">
            <a:solidFill>
              <a:srgbClr val="A9B3C2"/>
            </a:solidFill>
            <a:prstDash val="solid"/>
          </a:ln>
        </p:spPr>
      </p:sp>
      <p:sp>
        <p:nvSpPr>
          <p:cNvPr id="27" name="Shape 24"/>
          <p:cNvSpPr/>
          <p:nvPr/>
        </p:nvSpPr>
        <p:spPr>
          <a:xfrm>
            <a:off x="2316480" y="2203704"/>
            <a:ext cx="1402080" cy="1316736"/>
          </a:xfrm>
          <a:prstGeom prst="line">
            <a:avLst/>
          </a:prstGeom>
          <a:noFill/>
          <a:ln w="11430">
            <a:solidFill>
              <a:srgbClr val="A9B3C2"/>
            </a:solidFill>
            <a:prstDash val="solid"/>
          </a:ln>
        </p:spPr>
      </p:sp>
      <p:sp>
        <p:nvSpPr>
          <p:cNvPr id="28" name="Shape 25"/>
          <p:cNvSpPr/>
          <p:nvPr/>
        </p:nvSpPr>
        <p:spPr>
          <a:xfrm>
            <a:off x="2316480" y="2203704"/>
            <a:ext cx="1402080" cy="1975104"/>
          </a:xfrm>
          <a:prstGeom prst="line">
            <a:avLst/>
          </a:prstGeom>
          <a:noFill/>
          <a:ln w="11430">
            <a:solidFill>
              <a:srgbClr val="A9B3C2"/>
            </a:solidFill>
            <a:prstDash val="solid"/>
          </a:ln>
        </p:spPr>
      </p:sp>
      <p:sp>
        <p:nvSpPr>
          <p:cNvPr id="29" name="Shape 26"/>
          <p:cNvSpPr/>
          <p:nvPr/>
        </p:nvSpPr>
        <p:spPr>
          <a:xfrm>
            <a:off x="2316480" y="2203704"/>
            <a:ext cx="1402080" cy="2633472"/>
          </a:xfrm>
          <a:prstGeom prst="line">
            <a:avLst/>
          </a:prstGeom>
          <a:noFill/>
          <a:ln w="11430">
            <a:solidFill>
              <a:srgbClr val="A9B3C2"/>
            </a:solidFill>
            <a:prstDash val="solid"/>
          </a:ln>
        </p:spPr>
      </p:sp>
      <p:sp>
        <p:nvSpPr>
          <p:cNvPr id="30" name="Shape 27"/>
          <p:cNvSpPr/>
          <p:nvPr/>
        </p:nvSpPr>
        <p:spPr>
          <a:xfrm flipV="1">
            <a:off x="2316480" y="2203704"/>
            <a:ext cx="1402080" cy="658368"/>
          </a:xfrm>
          <a:prstGeom prst="line">
            <a:avLst/>
          </a:prstGeom>
          <a:noFill/>
          <a:ln w="11430">
            <a:solidFill>
              <a:srgbClr val="A9B3C2"/>
            </a:solidFill>
            <a:prstDash val="solid"/>
          </a:ln>
        </p:spPr>
      </p:sp>
      <p:sp>
        <p:nvSpPr>
          <p:cNvPr id="31" name="Shape 28"/>
          <p:cNvSpPr/>
          <p:nvPr/>
        </p:nvSpPr>
        <p:spPr>
          <a:xfrm>
            <a:off x="2316480" y="2862072"/>
            <a:ext cx="1402080" cy="91"/>
          </a:xfrm>
          <a:prstGeom prst="line">
            <a:avLst/>
          </a:prstGeom>
          <a:noFill/>
          <a:ln w="11430">
            <a:solidFill>
              <a:srgbClr val="A9B3C2"/>
            </a:solidFill>
            <a:prstDash val="solid"/>
          </a:ln>
        </p:spPr>
      </p:sp>
      <p:sp>
        <p:nvSpPr>
          <p:cNvPr id="32" name="Shape 29"/>
          <p:cNvSpPr/>
          <p:nvPr/>
        </p:nvSpPr>
        <p:spPr>
          <a:xfrm>
            <a:off x="2316480" y="2862072"/>
            <a:ext cx="1402080" cy="658368"/>
          </a:xfrm>
          <a:prstGeom prst="line">
            <a:avLst/>
          </a:prstGeom>
          <a:noFill/>
          <a:ln w="11430">
            <a:solidFill>
              <a:srgbClr val="A9B3C2"/>
            </a:solidFill>
            <a:prstDash val="solid"/>
          </a:ln>
        </p:spPr>
      </p:sp>
      <p:sp>
        <p:nvSpPr>
          <p:cNvPr id="33" name="Shape 30"/>
          <p:cNvSpPr/>
          <p:nvPr/>
        </p:nvSpPr>
        <p:spPr>
          <a:xfrm>
            <a:off x="2316480" y="2862072"/>
            <a:ext cx="1402080" cy="1316736"/>
          </a:xfrm>
          <a:prstGeom prst="line">
            <a:avLst/>
          </a:prstGeom>
          <a:noFill/>
          <a:ln w="11430">
            <a:solidFill>
              <a:srgbClr val="A9B3C2"/>
            </a:solidFill>
            <a:prstDash val="solid"/>
          </a:ln>
        </p:spPr>
      </p:sp>
      <p:sp>
        <p:nvSpPr>
          <p:cNvPr id="34" name="Shape 31"/>
          <p:cNvSpPr/>
          <p:nvPr/>
        </p:nvSpPr>
        <p:spPr>
          <a:xfrm>
            <a:off x="2316480" y="2862072"/>
            <a:ext cx="1402080" cy="1975104"/>
          </a:xfrm>
          <a:prstGeom prst="line">
            <a:avLst/>
          </a:prstGeom>
          <a:noFill/>
          <a:ln w="11430">
            <a:solidFill>
              <a:srgbClr val="A9B3C2"/>
            </a:solidFill>
            <a:prstDash val="solid"/>
          </a:ln>
        </p:spPr>
      </p:sp>
      <p:sp>
        <p:nvSpPr>
          <p:cNvPr id="35" name="Shape 32"/>
          <p:cNvSpPr/>
          <p:nvPr/>
        </p:nvSpPr>
        <p:spPr>
          <a:xfrm flipV="1">
            <a:off x="2316480" y="2203704"/>
            <a:ext cx="1402080" cy="1316736"/>
          </a:xfrm>
          <a:prstGeom prst="line">
            <a:avLst/>
          </a:prstGeom>
          <a:noFill/>
          <a:ln w="11430">
            <a:solidFill>
              <a:srgbClr val="A9B3C2"/>
            </a:solidFill>
            <a:prstDash val="solid"/>
          </a:ln>
        </p:spPr>
      </p:sp>
      <p:sp>
        <p:nvSpPr>
          <p:cNvPr id="36" name="Shape 33"/>
          <p:cNvSpPr/>
          <p:nvPr/>
        </p:nvSpPr>
        <p:spPr>
          <a:xfrm flipV="1">
            <a:off x="2316480" y="2862072"/>
            <a:ext cx="1402080" cy="658368"/>
          </a:xfrm>
          <a:prstGeom prst="line">
            <a:avLst/>
          </a:prstGeom>
          <a:noFill/>
          <a:ln w="11430">
            <a:solidFill>
              <a:srgbClr val="A9B3C2"/>
            </a:solidFill>
            <a:prstDash val="solid"/>
          </a:ln>
        </p:spPr>
      </p:sp>
      <p:sp>
        <p:nvSpPr>
          <p:cNvPr id="37" name="Shape 34"/>
          <p:cNvSpPr/>
          <p:nvPr/>
        </p:nvSpPr>
        <p:spPr>
          <a:xfrm>
            <a:off x="2316480" y="3520440"/>
            <a:ext cx="1402080" cy="91"/>
          </a:xfrm>
          <a:prstGeom prst="line">
            <a:avLst/>
          </a:prstGeom>
          <a:noFill/>
          <a:ln w="11430">
            <a:solidFill>
              <a:srgbClr val="A9B3C2"/>
            </a:solidFill>
            <a:prstDash val="solid"/>
          </a:ln>
        </p:spPr>
      </p:sp>
      <p:sp>
        <p:nvSpPr>
          <p:cNvPr id="38" name="Shape 35"/>
          <p:cNvSpPr/>
          <p:nvPr/>
        </p:nvSpPr>
        <p:spPr>
          <a:xfrm>
            <a:off x="2316480" y="3520440"/>
            <a:ext cx="1402080" cy="658368"/>
          </a:xfrm>
          <a:prstGeom prst="line">
            <a:avLst/>
          </a:prstGeom>
          <a:noFill/>
          <a:ln w="11430">
            <a:solidFill>
              <a:srgbClr val="A9B3C2"/>
            </a:solidFill>
            <a:prstDash val="solid"/>
          </a:ln>
        </p:spPr>
      </p:sp>
      <p:sp>
        <p:nvSpPr>
          <p:cNvPr id="39" name="Shape 36"/>
          <p:cNvSpPr/>
          <p:nvPr/>
        </p:nvSpPr>
        <p:spPr>
          <a:xfrm>
            <a:off x="2316480" y="3520440"/>
            <a:ext cx="1402080" cy="1316736"/>
          </a:xfrm>
          <a:prstGeom prst="line">
            <a:avLst/>
          </a:prstGeom>
          <a:noFill/>
          <a:ln w="11430">
            <a:solidFill>
              <a:srgbClr val="A9B3C2"/>
            </a:solidFill>
            <a:prstDash val="solid"/>
          </a:ln>
        </p:spPr>
      </p:sp>
      <p:sp>
        <p:nvSpPr>
          <p:cNvPr id="40" name="Shape 37"/>
          <p:cNvSpPr/>
          <p:nvPr/>
        </p:nvSpPr>
        <p:spPr>
          <a:xfrm flipV="1">
            <a:off x="2316480" y="2203704"/>
            <a:ext cx="1402080" cy="1975104"/>
          </a:xfrm>
          <a:prstGeom prst="line">
            <a:avLst/>
          </a:prstGeom>
          <a:noFill/>
          <a:ln w="11430">
            <a:solidFill>
              <a:srgbClr val="A9B3C2"/>
            </a:solidFill>
            <a:prstDash val="solid"/>
          </a:ln>
        </p:spPr>
      </p:sp>
      <p:sp>
        <p:nvSpPr>
          <p:cNvPr id="41" name="Shape 38"/>
          <p:cNvSpPr/>
          <p:nvPr/>
        </p:nvSpPr>
        <p:spPr>
          <a:xfrm flipV="1">
            <a:off x="2316480" y="2862072"/>
            <a:ext cx="1402080" cy="1316736"/>
          </a:xfrm>
          <a:prstGeom prst="line">
            <a:avLst/>
          </a:prstGeom>
          <a:noFill/>
          <a:ln w="11430">
            <a:solidFill>
              <a:srgbClr val="A9B3C2"/>
            </a:solidFill>
            <a:prstDash val="solid"/>
          </a:ln>
        </p:spPr>
      </p:sp>
      <p:sp>
        <p:nvSpPr>
          <p:cNvPr id="42" name="Shape 39"/>
          <p:cNvSpPr/>
          <p:nvPr/>
        </p:nvSpPr>
        <p:spPr>
          <a:xfrm flipV="1">
            <a:off x="2316480" y="3520440"/>
            <a:ext cx="1402080" cy="658368"/>
          </a:xfrm>
          <a:prstGeom prst="line">
            <a:avLst/>
          </a:prstGeom>
          <a:noFill/>
          <a:ln w="11430">
            <a:solidFill>
              <a:srgbClr val="A9B3C2"/>
            </a:solidFill>
            <a:prstDash val="solid"/>
          </a:ln>
        </p:spPr>
      </p:sp>
      <p:sp>
        <p:nvSpPr>
          <p:cNvPr id="43" name="Shape 40"/>
          <p:cNvSpPr/>
          <p:nvPr/>
        </p:nvSpPr>
        <p:spPr>
          <a:xfrm>
            <a:off x="2316480" y="4178808"/>
            <a:ext cx="1402080" cy="91"/>
          </a:xfrm>
          <a:prstGeom prst="line">
            <a:avLst/>
          </a:prstGeom>
          <a:noFill/>
          <a:ln w="11430">
            <a:solidFill>
              <a:srgbClr val="A9B3C2"/>
            </a:solidFill>
            <a:prstDash val="solid"/>
          </a:ln>
        </p:spPr>
      </p:sp>
      <p:sp>
        <p:nvSpPr>
          <p:cNvPr id="44" name="Shape 41"/>
          <p:cNvSpPr/>
          <p:nvPr/>
        </p:nvSpPr>
        <p:spPr>
          <a:xfrm>
            <a:off x="2316480" y="4178808"/>
            <a:ext cx="1402080" cy="658368"/>
          </a:xfrm>
          <a:prstGeom prst="line">
            <a:avLst/>
          </a:prstGeom>
          <a:noFill/>
          <a:ln w="11430">
            <a:solidFill>
              <a:srgbClr val="A9B3C2"/>
            </a:solidFill>
            <a:prstDash val="solid"/>
          </a:ln>
        </p:spPr>
      </p:sp>
      <p:sp>
        <p:nvSpPr>
          <p:cNvPr id="45" name="Shape 42"/>
          <p:cNvSpPr/>
          <p:nvPr/>
        </p:nvSpPr>
        <p:spPr>
          <a:xfrm flipV="1">
            <a:off x="2316480" y="2203704"/>
            <a:ext cx="1402080" cy="2633472"/>
          </a:xfrm>
          <a:prstGeom prst="line">
            <a:avLst/>
          </a:prstGeom>
          <a:noFill/>
          <a:ln w="11430">
            <a:solidFill>
              <a:srgbClr val="A9B3C2"/>
            </a:solidFill>
            <a:prstDash val="solid"/>
          </a:ln>
        </p:spPr>
      </p:sp>
      <p:sp>
        <p:nvSpPr>
          <p:cNvPr id="46" name="Shape 43"/>
          <p:cNvSpPr/>
          <p:nvPr/>
        </p:nvSpPr>
        <p:spPr>
          <a:xfrm flipV="1">
            <a:off x="2316480" y="2862072"/>
            <a:ext cx="1402080" cy="1975104"/>
          </a:xfrm>
          <a:prstGeom prst="line">
            <a:avLst/>
          </a:prstGeom>
          <a:noFill/>
          <a:ln w="11430">
            <a:solidFill>
              <a:srgbClr val="A9B3C2"/>
            </a:solidFill>
            <a:prstDash val="solid"/>
          </a:ln>
        </p:spPr>
      </p:sp>
      <p:sp>
        <p:nvSpPr>
          <p:cNvPr id="47" name="Shape 44"/>
          <p:cNvSpPr/>
          <p:nvPr/>
        </p:nvSpPr>
        <p:spPr>
          <a:xfrm flipV="1">
            <a:off x="2316480" y="3520440"/>
            <a:ext cx="1402080" cy="1316736"/>
          </a:xfrm>
          <a:prstGeom prst="line">
            <a:avLst/>
          </a:prstGeom>
          <a:noFill/>
          <a:ln w="11430">
            <a:solidFill>
              <a:srgbClr val="A9B3C2"/>
            </a:solidFill>
            <a:prstDash val="solid"/>
          </a:ln>
        </p:spPr>
      </p:sp>
      <p:sp>
        <p:nvSpPr>
          <p:cNvPr id="48" name="Shape 45"/>
          <p:cNvSpPr/>
          <p:nvPr/>
        </p:nvSpPr>
        <p:spPr>
          <a:xfrm flipV="1">
            <a:off x="2316480" y="4178808"/>
            <a:ext cx="1402080" cy="658368"/>
          </a:xfrm>
          <a:prstGeom prst="line">
            <a:avLst/>
          </a:prstGeom>
          <a:noFill/>
          <a:ln w="11430">
            <a:solidFill>
              <a:srgbClr val="A9B3C2"/>
            </a:solidFill>
            <a:prstDash val="solid"/>
          </a:ln>
        </p:spPr>
      </p:sp>
      <p:sp>
        <p:nvSpPr>
          <p:cNvPr id="49" name="Shape 46"/>
          <p:cNvSpPr/>
          <p:nvPr/>
        </p:nvSpPr>
        <p:spPr>
          <a:xfrm>
            <a:off x="2316480" y="4837176"/>
            <a:ext cx="1402080" cy="91"/>
          </a:xfrm>
          <a:prstGeom prst="line">
            <a:avLst/>
          </a:prstGeom>
          <a:noFill/>
          <a:ln w="11430">
            <a:solidFill>
              <a:srgbClr val="A9B3C2"/>
            </a:solidFill>
            <a:prstDash val="solid"/>
          </a:ln>
        </p:spPr>
      </p:sp>
      <p:sp>
        <p:nvSpPr>
          <p:cNvPr id="50" name="Shape 47"/>
          <p:cNvSpPr/>
          <p:nvPr/>
        </p:nvSpPr>
        <p:spPr>
          <a:xfrm>
            <a:off x="3718560" y="2203704"/>
            <a:ext cx="1402080" cy="658368"/>
          </a:xfrm>
          <a:prstGeom prst="line">
            <a:avLst/>
          </a:prstGeom>
          <a:noFill/>
          <a:ln w="11430">
            <a:solidFill>
              <a:srgbClr val="A9B3C2"/>
            </a:solidFill>
            <a:prstDash val="solid"/>
          </a:ln>
        </p:spPr>
      </p:sp>
      <p:sp>
        <p:nvSpPr>
          <p:cNvPr id="51" name="Shape 48"/>
          <p:cNvSpPr/>
          <p:nvPr/>
        </p:nvSpPr>
        <p:spPr>
          <a:xfrm>
            <a:off x="3718560" y="2203704"/>
            <a:ext cx="1402080" cy="1316736"/>
          </a:xfrm>
          <a:prstGeom prst="line">
            <a:avLst/>
          </a:prstGeom>
          <a:noFill/>
          <a:ln w="11430">
            <a:solidFill>
              <a:srgbClr val="A9B3C2"/>
            </a:solidFill>
            <a:prstDash val="solid"/>
          </a:ln>
        </p:spPr>
      </p:sp>
      <p:sp>
        <p:nvSpPr>
          <p:cNvPr id="52" name="Shape 49"/>
          <p:cNvSpPr/>
          <p:nvPr/>
        </p:nvSpPr>
        <p:spPr>
          <a:xfrm>
            <a:off x="3718560" y="2203704"/>
            <a:ext cx="1402080" cy="1975104"/>
          </a:xfrm>
          <a:prstGeom prst="line">
            <a:avLst/>
          </a:prstGeom>
          <a:noFill/>
          <a:ln w="11430">
            <a:solidFill>
              <a:srgbClr val="A9B3C2"/>
            </a:solidFill>
            <a:prstDash val="solid"/>
          </a:ln>
        </p:spPr>
      </p:sp>
      <p:sp>
        <p:nvSpPr>
          <p:cNvPr id="53" name="Shape 50"/>
          <p:cNvSpPr/>
          <p:nvPr/>
        </p:nvSpPr>
        <p:spPr>
          <a:xfrm>
            <a:off x="3718560" y="2862072"/>
            <a:ext cx="1402080" cy="91"/>
          </a:xfrm>
          <a:prstGeom prst="line">
            <a:avLst/>
          </a:prstGeom>
          <a:noFill/>
          <a:ln w="11430">
            <a:solidFill>
              <a:srgbClr val="A9B3C2"/>
            </a:solidFill>
            <a:prstDash val="solid"/>
          </a:ln>
        </p:spPr>
      </p:sp>
      <p:sp>
        <p:nvSpPr>
          <p:cNvPr id="54" name="Shape 51"/>
          <p:cNvSpPr/>
          <p:nvPr/>
        </p:nvSpPr>
        <p:spPr>
          <a:xfrm>
            <a:off x="3718560" y="2862072"/>
            <a:ext cx="1402080" cy="658368"/>
          </a:xfrm>
          <a:prstGeom prst="line">
            <a:avLst/>
          </a:prstGeom>
          <a:noFill/>
          <a:ln w="11430">
            <a:solidFill>
              <a:srgbClr val="A9B3C2"/>
            </a:solidFill>
            <a:prstDash val="solid"/>
          </a:ln>
        </p:spPr>
      </p:sp>
      <p:sp>
        <p:nvSpPr>
          <p:cNvPr id="55" name="Shape 52"/>
          <p:cNvSpPr/>
          <p:nvPr/>
        </p:nvSpPr>
        <p:spPr>
          <a:xfrm>
            <a:off x="3718560" y="2862072"/>
            <a:ext cx="1402080" cy="1316736"/>
          </a:xfrm>
          <a:prstGeom prst="line">
            <a:avLst/>
          </a:prstGeom>
          <a:noFill/>
          <a:ln w="11430">
            <a:solidFill>
              <a:srgbClr val="A9B3C2"/>
            </a:solidFill>
            <a:prstDash val="solid"/>
          </a:ln>
        </p:spPr>
      </p:sp>
      <p:sp>
        <p:nvSpPr>
          <p:cNvPr id="56" name="Shape 53"/>
          <p:cNvSpPr/>
          <p:nvPr/>
        </p:nvSpPr>
        <p:spPr>
          <a:xfrm flipV="1">
            <a:off x="3718560" y="2862072"/>
            <a:ext cx="1402080" cy="658368"/>
          </a:xfrm>
          <a:prstGeom prst="line">
            <a:avLst/>
          </a:prstGeom>
          <a:noFill/>
          <a:ln w="11430">
            <a:solidFill>
              <a:srgbClr val="A9B3C2"/>
            </a:solidFill>
            <a:prstDash val="solid"/>
          </a:ln>
        </p:spPr>
      </p:sp>
      <p:sp>
        <p:nvSpPr>
          <p:cNvPr id="57" name="Shape 54"/>
          <p:cNvSpPr/>
          <p:nvPr/>
        </p:nvSpPr>
        <p:spPr>
          <a:xfrm>
            <a:off x="3718560" y="3520440"/>
            <a:ext cx="1402080" cy="91"/>
          </a:xfrm>
          <a:prstGeom prst="line">
            <a:avLst/>
          </a:prstGeom>
          <a:noFill/>
          <a:ln w="11430">
            <a:solidFill>
              <a:srgbClr val="A9B3C2"/>
            </a:solidFill>
            <a:prstDash val="solid"/>
          </a:ln>
        </p:spPr>
      </p:sp>
      <p:sp>
        <p:nvSpPr>
          <p:cNvPr id="58" name="Shape 55"/>
          <p:cNvSpPr/>
          <p:nvPr/>
        </p:nvSpPr>
        <p:spPr>
          <a:xfrm>
            <a:off x="3718560" y="3520440"/>
            <a:ext cx="1402080" cy="658368"/>
          </a:xfrm>
          <a:prstGeom prst="line">
            <a:avLst/>
          </a:prstGeom>
          <a:noFill/>
          <a:ln w="11430">
            <a:solidFill>
              <a:srgbClr val="A9B3C2"/>
            </a:solidFill>
            <a:prstDash val="solid"/>
          </a:ln>
        </p:spPr>
      </p:sp>
      <p:sp>
        <p:nvSpPr>
          <p:cNvPr id="59" name="Shape 56"/>
          <p:cNvSpPr/>
          <p:nvPr/>
        </p:nvSpPr>
        <p:spPr>
          <a:xfrm flipV="1">
            <a:off x="3718560" y="2862072"/>
            <a:ext cx="1402080" cy="1316736"/>
          </a:xfrm>
          <a:prstGeom prst="line">
            <a:avLst/>
          </a:prstGeom>
          <a:noFill/>
          <a:ln w="11430">
            <a:solidFill>
              <a:srgbClr val="A9B3C2"/>
            </a:solidFill>
            <a:prstDash val="solid"/>
          </a:ln>
        </p:spPr>
      </p:sp>
      <p:sp>
        <p:nvSpPr>
          <p:cNvPr id="60" name="Shape 57"/>
          <p:cNvSpPr/>
          <p:nvPr/>
        </p:nvSpPr>
        <p:spPr>
          <a:xfrm flipV="1">
            <a:off x="3718560" y="3520440"/>
            <a:ext cx="1402080" cy="658368"/>
          </a:xfrm>
          <a:prstGeom prst="line">
            <a:avLst/>
          </a:prstGeom>
          <a:noFill/>
          <a:ln w="11430">
            <a:solidFill>
              <a:srgbClr val="A9B3C2"/>
            </a:solidFill>
            <a:prstDash val="solid"/>
          </a:ln>
        </p:spPr>
      </p:sp>
      <p:sp>
        <p:nvSpPr>
          <p:cNvPr id="61" name="Shape 58"/>
          <p:cNvSpPr/>
          <p:nvPr/>
        </p:nvSpPr>
        <p:spPr>
          <a:xfrm>
            <a:off x="3718560" y="4178808"/>
            <a:ext cx="1402080" cy="91"/>
          </a:xfrm>
          <a:prstGeom prst="line">
            <a:avLst/>
          </a:prstGeom>
          <a:noFill/>
          <a:ln w="11430">
            <a:solidFill>
              <a:srgbClr val="A9B3C2"/>
            </a:solidFill>
            <a:prstDash val="solid"/>
          </a:ln>
        </p:spPr>
      </p:sp>
      <p:sp>
        <p:nvSpPr>
          <p:cNvPr id="62" name="Shape 59"/>
          <p:cNvSpPr/>
          <p:nvPr/>
        </p:nvSpPr>
        <p:spPr>
          <a:xfrm flipV="1">
            <a:off x="3718560" y="2862072"/>
            <a:ext cx="1402080" cy="1975104"/>
          </a:xfrm>
          <a:prstGeom prst="line">
            <a:avLst/>
          </a:prstGeom>
          <a:noFill/>
          <a:ln w="11430">
            <a:solidFill>
              <a:srgbClr val="A9B3C2"/>
            </a:solidFill>
            <a:prstDash val="solid"/>
          </a:ln>
        </p:spPr>
      </p:sp>
      <p:sp>
        <p:nvSpPr>
          <p:cNvPr id="63" name="Shape 60"/>
          <p:cNvSpPr/>
          <p:nvPr/>
        </p:nvSpPr>
        <p:spPr>
          <a:xfrm flipV="1">
            <a:off x="3718560" y="3520440"/>
            <a:ext cx="1402080" cy="1316736"/>
          </a:xfrm>
          <a:prstGeom prst="line">
            <a:avLst/>
          </a:prstGeom>
          <a:noFill/>
          <a:ln w="11430">
            <a:solidFill>
              <a:srgbClr val="A9B3C2"/>
            </a:solidFill>
            <a:prstDash val="solid"/>
          </a:ln>
        </p:spPr>
      </p:sp>
      <p:sp>
        <p:nvSpPr>
          <p:cNvPr id="64" name="Shape 61"/>
          <p:cNvSpPr/>
          <p:nvPr/>
        </p:nvSpPr>
        <p:spPr>
          <a:xfrm flipV="1">
            <a:off x="3718560" y="4178808"/>
            <a:ext cx="1402080" cy="658368"/>
          </a:xfrm>
          <a:prstGeom prst="line">
            <a:avLst/>
          </a:prstGeom>
          <a:noFill/>
          <a:ln w="11430">
            <a:solidFill>
              <a:srgbClr val="A9B3C2"/>
            </a:solidFill>
            <a:prstDash val="solid"/>
          </a:ln>
        </p:spPr>
      </p:sp>
      <p:sp>
        <p:nvSpPr>
          <p:cNvPr id="65" name="Shape 62"/>
          <p:cNvSpPr/>
          <p:nvPr/>
        </p:nvSpPr>
        <p:spPr>
          <a:xfrm>
            <a:off x="731520" y="2350008"/>
            <a:ext cx="365760" cy="365760"/>
          </a:xfrm>
          <a:prstGeom prst="ellipse">
            <a:avLst/>
          </a:prstGeom>
          <a:solidFill>
            <a:srgbClr val="8A94A3"/>
          </a:solidFill>
          <a:ln/>
        </p:spPr>
      </p:sp>
      <p:sp>
        <p:nvSpPr>
          <p:cNvPr id="66" name="Shape 63"/>
          <p:cNvSpPr/>
          <p:nvPr/>
        </p:nvSpPr>
        <p:spPr>
          <a:xfrm>
            <a:off x="731520" y="3008376"/>
            <a:ext cx="365760" cy="365760"/>
          </a:xfrm>
          <a:prstGeom prst="ellipse">
            <a:avLst/>
          </a:prstGeom>
          <a:solidFill>
            <a:srgbClr val="8A94A3"/>
          </a:solidFill>
          <a:ln/>
        </p:spPr>
      </p:sp>
      <p:sp>
        <p:nvSpPr>
          <p:cNvPr id="67" name="Shape 64"/>
          <p:cNvSpPr/>
          <p:nvPr/>
        </p:nvSpPr>
        <p:spPr>
          <a:xfrm>
            <a:off x="731520" y="3666744"/>
            <a:ext cx="365760" cy="365760"/>
          </a:xfrm>
          <a:prstGeom prst="ellipse">
            <a:avLst/>
          </a:prstGeom>
          <a:solidFill>
            <a:srgbClr val="8A94A3"/>
          </a:solidFill>
          <a:ln/>
        </p:spPr>
      </p:sp>
      <p:sp>
        <p:nvSpPr>
          <p:cNvPr id="68" name="Shape 65"/>
          <p:cNvSpPr/>
          <p:nvPr/>
        </p:nvSpPr>
        <p:spPr>
          <a:xfrm>
            <a:off x="731520" y="4325112"/>
            <a:ext cx="365760" cy="365760"/>
          </a:xfrm>
          <a:prstGeom prst="ellipse">
            <a:avLst/>
          </a:prstGeom>
          <a:solidFill>
            <a:srgbClr val="8A94A3"/>
          </a:solidFill>
          <a:ln/>
        </p:spPr>
      </p:sp>
      <p:sp>
        <p:nvSpPr>
          <p:cNvPr id="69" name="Shape 66"/>
          <p:cNvSpPr/>
          <p:nvPr/>
        </p:nvSpPr>
        <p:spPr>
          <a:xfrm>
            <a:off x="2133600" y="2020824"/>
            <a:ext cx="365760" cy="365760"/>
          </a:xfrm>
          <a:prstGeom prst="ellipse">
            <a:avLst/>
          </a:prstGeom>
          <a:solidFill>
            <a:srgbClr val="0F7C82"/>
          </a:solidFill>
          <a:ln/>
        </p:spPr>
      </p:sp>
      <p:sp>
        <p:nvSpPr>
          <p:cNvPr id="70" name="Shape 67"/>
          <p:cNvSpPr/>
          <p:nvPr/>
        </p:nvSpPr>
        <p:spPr>
          <a:xfrm>
            <a:off x="2133600" y="2679192"/>
            <a:ext cx="365760" cy="365760"/>
          </a:xfrm>
          <a:prstGeom prst="ellipse">
            <a:avLst/>
          </a:prstGeom>
          <a:solidFill>
            <a:srgbClr val="0F7C82"/>
          </a:solidFill>
          <a:ln/>
        </p:spPr>
      </p:sp>
      <p:sp>
        <p:nvSpPr>
          <p:cNvPr id="71" name="Shape 68"/>
          <p:cNvSpPr/>
          <p:nvPr/>
        </p:nvSpPr>
        <p:spPr>
          <a:xfrm>
            <a:off x="2133600" y="3337560"/>
            <a:ext cx="365760" cy="365760"/>
          </a:xfrm>
          <a:prstGeom prst="ellipse">
            <a:avLst/>
          </a:prstGeom>
          <a:solidFill>
            <a:srgbClr val="0F7C82"/>
          </a:solidFill>
          <a:ln/>
        </p:spPr>
      </p:sp>
      <p:sp>
        <p:nvSpPr>
          <p:cNvPr id="72" name="Shape 69"/>
          <p:cNvSpPr/>
          <p:nvPr/>
        </p:nvSpPr>
        <p:spPr>
          <a:xfrm>
            <a:off x="2133600" y="3995928"/>
            <a:ext cx="365760" cy="365760"/>
          </a:xfrm>
          <a:prstGeom prst="ellipse">
            <a:avLst/>
          </a:prstGeom>
          <a:solidFill>
            <a:srgbClr val="0F7C82"/>
          </a:solidFill>
          <a:ln/>
        </p:spPr>
      </p:sp>
      <p:sp>
        <p:nvSpPr>
          <p:cNvPr id="73" name="Shape 70"/>
          <p:cNvSpPr/>
          <p:nvPr/>
        </p:nvSpPr>
        <p:spPr>
          <a:xfrm>
            <a:off x="2133600" y="4654296"/>
            <a:ext cx="365760" cy="365760"/>
          </a:xfrm>
          <a:prstGeom prst="ellipse">
            <a:avLst/>
          </a:prstGeom>
          <a:solidFill>
            <a:srgbClr val="0F7C82"/>
          </a:solidFill>
          <a:ln/>
        </p:spPr>
      </p:sp>
      <p:sp>
        <p:nvSpPr>
          <p:cNvPr id="74" name="Shape 71"/>
          <p:cNvSpPr/>
          <p:nvPr/>
        </p:nvSpPr>
        <p:spPr>
          <a:xfrm>
            <a:off x="3535680" y="2020824"/>
            <a:ext cx="365760" cy="365760"/>
          </a:xfrm>
          <a:prstGeom prst="ellipse">
            <a:avLst/>
          </a:prstGeom>
          <a:solidFill>
            <a:srgbClr val="0F7C82"/>
          </a:solidFill>
          <a:ln/>
        </p:spPr>
      </p:sp>
      <p:sp>
        <p:nvSpPr>
          <p:cNvPr id="75" name="Shape 72"/>
          <p:cNvSpPr/>
          <p:nvPr/>
        </p:nvSpPr>
        <p:spPr>
          <a:xfrm>
            <a:off x="3535680" y="2679192"/>
            <a:ext cx="365760" cy="365760"/>
          </a:xfrm>
          <a:prstGeom prst="ellipse">
            <a:avLst/>
          </a:prstGeom>
          <a:solidFill>
            <a:srgbClr val="0F7C82"/>
          </a:solidFill>
          <a:ln/>
        </p:spPr>
      </p:sp>
      <p:sp>
        <p:nvSpPr>
          <p:cNvPr id="76" name="Shape 73"/>
          <p:cNvSpPr/>
          <p:nvPr/>
        </p:nvSpPr>
        <p:spPr>
          <a:xfrm>
            <a:off x="3535680" y="3337560"/>
            <a:ext cx="365760" cy="365760"/>
          </a:xfrm>
          <a:prstGeom prst="ellipse">
            <a:avLst/>
          </a:prstGeom>
          <a:solidFill>
            <a:srgbClr val="0F7C82"/>
          </a:solidFill>
          <a:ln/>
        </p:spPr>
      </p:sp>
      <p:sp>
        <p:nvSpPr>
          <p:cNvPr id="77" name="Shape 74"/>
          <p:cNvSpPr/>
          <p:nvPr/>
        </p:nvSpPr>
        <p:spPr>
          <a:xfrm>
            <a:off x="3535680" y="3995928"/>
            <a:ext cx="365760" cy="365760"/>
          </a:xfrm>
          <a:prstGeom prst="ellipse">
            <a:avLst/>
          </a:prstGeom>
          <a:solidFill>
            <a:srgbClr val="0F7C82"/>
          </a:solidFill>
          <a:ln/>
        </p:spPr>
      </p:sp>
      <p:sp>
        <p:nvSpPr>
          <p:cNvPr id="78" name="Shape 75"/>
          <p:cNvSpPr/>
          <p:nvPr/>
        </p:nvSpPr>
        <p:spPr>
          <a:xfrm>
            <a:off x="3535680" y="4654296"/>
            <a:ext cx="365760" cy="365760"/>
          </a:xfrm>
          <a:prstGeom prst="ellipse">
            <a:avLst/>
          </a:prstGeom>
          <a:solidFill>
            <a:srgbClr val="0F7C82"/>
          </a:solidFill>
          <a:ln/>
        </p:spPr>
      </p:sp>
      <p:sp>
        <p:nvSpPr>
          <p:cNvPr id="79" name="Shape 76"/>
          <p:cNvSpPr/>
          <p:nvPr/>
        </p:nvSpPr>
        <p:spPr>
          <a:xfrm>
            <a:off x="4937760" y="2679192"/>
            <a:ext cx="365760" cy="365760"/>
          </a:xfrm>
          <a:prstGeom prst="ellipse">
            <a:avLst/>
          </a:prstGeom>
          <a:solidFill>
            <a:srgbClr val="C8571B"/>
          </a:solidFill>
          <a:ln/>
        </p:spPr>
      </p:sp>
      <p:sp>
        <p:nvSpPr>
          <p:cNvPr id="80" name="Shape 77"/>
          <p:cNvSpPr/>
          <p:nvPr/>
        </p:nvSpPr>
        <p:spPr>
          <a:xfrm>
            <a:off x="4937760" y="3337560"/>
            <a:ext cx="365760" cy="365760"/>
          </a:xfrm>
          <a:prstGeom prst="ellipse">
            <a:avLst/>
          </a:prstGeom>
          <a:solidFill>
            <a:srgbClr val="C8571B"/>
          </a:solidFill>
          <a:ln/>
        </p:spPr>
      </p:sp>
      <p:sp>
        <p:nvSpPr>
          <p:cNvPr id="81" name="Shape 78"/>
          <p:cNvSpPr/>
          <p:nvPr/>
        </p:nvSpPr>
        <p:spPr>
          <a:xfrm>
            <a:off x="4937760" y="3995928"/>
            <a:ext cx="365760" cy="365760"/>
          </a:xfrm>
          <a:prstGeom prst="ellipse">
            <a:avLst/>
          </a:prstGeom>
          <a:solidFill>
            <a:srgbClr val="C8571B"/>
          </a:solidFill>
          <a:ln/>
        </p:spPr>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ŷ</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yhv = \av\Ly{L} \end{align*}">    </p:cNvPr>
          <p:cNvPicPr>
            <a:picLocks noChangeAspect="1"/>
          </p:cNvPicPr>
          <p:nvPr/>
        </p:nvPicPr>
        <p:blipFill>
          <a:blip r:embed="rId1"/>
          <a:stretch>
            <a:fillRect/>
          </a:stretch>
        </p:blipFill>
        <p:spPr>
          <a:xfrm>
            <a:off x="5897880" y="1920240"/>
            <a:ext cx="4256684" cy="1728064"/>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
        <p:nvSpPr>
          <p:cNvPr id="900" name="Next signpost"/>
          <p:cNvSpPr txBox="1"/>
          <p:nvPr/>
        </p:nvSpPr>
        <p:spPr>
          <a:xfrm>
            <a:off x="6126480" y="6419088"/>
            <a:ext cx="487680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which g? First, why the step cannot be trained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548640" y="1727628"/>
            <a:ext cx="5029200" cy="2488343"/>
          </a:xfrm>
          <a:prstGeom prst="rect">
            <a:avLst/>
          </a:prstGeom>
        </p:spPr>
      </p:pic>
      <p:sp>
        <p:nvSpPr>
          <p:cNvPr id="6" name="Text 2"/>
          <p:cNvSpPr txBox="1"/>
          <p:nvPr/>
        </p:nvSpPr>
        <p:spPr>
          <a:xfrm>
            <a:off x="548640" y="45262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937760"/>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FBEADF"/>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(32)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PyTorch terms: a stack of layers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model = nn.Sequential(           </a:t>
            </a:r>
            <a:r>
              <a:rPr lang="en-US" sz="1600" dirty="0">
                <a:solidFill>
                  <a:srgbClr val="8D99AB"/>
                </a:solidFill>
                <a:latin typeface="Consolas" pitchFamily="34" charset="0"/>
                <a:ea typeface="Consolas" pitchFamily="34" charset="-122"/>
                <a:cs typeface="Consolas" pitchFamily="34" charset="-120"/>
              </a:rPr>
              <a:t xml:space="preserve"># layers, in order</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nn.Flatten(),      </a:t>
            </a:r>
            <a:r>
              <a:rPr lang="en-US" sz="1600" dirty="0">
                <a:solidFill>
                  <a:srgbClr val="8D99AB"/>
                </a:solidFill>
                <a:latin typeface="Consolas" pitchFamily="34" charset="0"/>
                <a:ea typeface="Consolas" pitchFamily="34" charset="-122"/>
                <a:cs typeface="Consolas" pitchFamily="34" charset="-120"/>
              </a:rPr>
              <a:t xml:space="preserve"># (B,1,28,28) → (B,784)</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nn.Linear(784, 128), nn.ReLU(),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nn.Linear(128, 64),  nn.ReLU(),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nn.Linear(64, 10))  </a:t>
            </a:r>
            <a:r>
              <a:rPr lang="en-US" sz="1600" dirty="0">
                <a:solidFill>
                  <a:srgbClr val="8D99AB"/>
                </a:solidFill>
                <a:latin typeface="Consolas" pitchFamily="34" charset="0"/>
                <a:ea typeface="Consolas" pitchFamily="34" charset="-122"/>
                <a:cs typeface="Consolas" pitchFamily="34" charset="-120"/>
              </a:rPr>
              <a:t xml:space="preserve"># raw logits: no softmax</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 a batch of 32 images  </a:t>
            </a:r>
            <a:r>
              <a:rPr lang="en-US" sz="1600" dirty="0">
                <a:solidFill>
                  <a:srgbClr val="8D99AB"/>
                </a:solidFill>
                <a:latin typeface="Consolas" pitchFamily="34" charset="0"/>
                <a:ea typeface="Consolas" pitchFamily="34" charset="-122"/>
                <a:cs typeface="Consolas" pitchFamily="34" charset="-120"/>
              </a:rPr>
              <a:t xml:space="preserve"># (32, 1, 28, 28)</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logits = model(x)              </a:t>
            </a:r>
            <a:r>
              <a:rPr lang="en-US" sz="1600" dirty="0">
                <a:solidFill>
                  <a:srgbClr val="8D99AB"/>
                </a:solidFill>
                <a:latin typeface="Consolas" pitchFamily="34" charset="0"/>
                <a:ea typeface="Consolas" pitchFamily="34" charset="-122"/>
                <a:cs typeface="Consolas" pitchFamily="34" charset="-120"/>
              </a:rPr>
              <a:t xml:space="preserve"># (32,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parameters = Σ over layers (n[l]·n[l−1] + n[l])</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 100,480 + 8,256 + 650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 109,386</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sum(p.numel() for p in model.parameters())</a:t>
            </a:r>
            <a:endParaRPr lang="en-US" sz="16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C8571B"/>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nn.Linear(in, out) stores weight as (out, in) and computes x @ W.T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layer = nn.Linear(784, 128). What is layer.weight.shape?</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(784, 128)</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(128, 784)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(128, 128)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 41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Which way should the weights move?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PyTorch loss</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 = \tfrac12(\yh - y)^2$">    </p:cNvPr>
          <p:cNvPicPr>
            <a:picLocks noChangeAspect="1"/>
          </p:cNvPicPr>
          <p:nvPr/>
        </p:nvPicPr>
        <p:blipFill>
          <a:blip r:embed="rId1"/>
          <a:stretch>
            <a:fillRect/>
          </a:stretch>
        </p:blipFill>
        <p:spPr>
          <a:xfrm>
            <a:off x="4846320" y="2276120"/>
            <a:ext cx="1998372" cy="531824"/>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nn.MSELoss()</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nn.BCEWithLogitsLoss()</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nn.CrossEntropyLoss()</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Choose the noise model; the loss follows. Classification losses take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txBody>
          <a:bodyPr/>
          <a:p/>
        </p:txBody>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txBody>
          <a:bodyPr/>
          <a:p/>
        </p:txBody>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txBody>
          <a:bodyPr/>
          <a:p/>
        </p:txBody>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first loss: 2.63 (2.6–3.0 over 3 seeds; standard init).</a:t>
            </a:r>
            <a:endParaRPr lang="en-US" sz="1800" dirty="0"/>
          </a:p>
        </p:txBody>
      </p:sp>
      <p:sp>
        <p:nvSpPr>
          <p:cNvPr id="16" name="Shape 8"/>
          <p:cNvSpPr/>
          <p:nvPr/>
        </p:nvSpPr>
        <p:spPr>
          <a:xfrm>
            <a:off x="6217920" y="4160520"/>
            <a:ext cx="5422392" cy="1234440"/>
          </a:xfrm>
          <a:prstGeom prst="roundRect">
            <a:avLst>
              <a:gd name="adj" fmla="val 5926"/>
            </a:avLst>
          </a:prstGeom>
          <a:solidFill>
            <a:srgbClr val="FBEADF"/>
          </a:solidFill>
          <a:ln/>
        </p:spPr>
        <p:txBody>
          <a:bodyPr/>
          <a:p/>
        </p:txBody>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loss ≫ ln K (say 10–15)? Logit differences are huge: check input scaling,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BEADF"/>
          </a:solidFill>
          <a:ln/>
        </p:spPr>
        <p:txBody>
          <a:bodyPr/>
          <a:p/>
        </p:txBody>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8F3A0E"/>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txBody>
          <a:bodyPr/>
          <a:p/>
        </p:txBody>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txBody>
          <a:bodyPr/>
          <a:p/>
        </p:txBody>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w.r.t. the logit is largest when the model is confidently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The model ends with Softmax(dim=1), then passes its output to nn.CrossEntropyLoss(). Which change fixes the code?</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learning rate is too small</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Softmax; pass raw logits to the loss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needs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labels should be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206240" y="2743200"/>
            <a:ext cx="164592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floor ≈ 1.46</a:t>
            </a:r>
            <a:endParaRPr lang="en-US" sz="1500" dirty="0"/>
          </a:p>
        </p:txBody>
      </p:sp>
      <p:sp>
        <p:nvSpPr>
          <p:cNvPr id="7" name="Shape 3"/>
          <p:cNvSpPr/>
          <p:nvPr/>
        </p:nvSpPr>
        <p:spPr>
          <a:xfrm>
            <a:off x="6263640" y="1417320"/>
            <a:ext cx="5376672" cy="2103120"/>
          </a:xfrm>
          <a:prstGeom prst="roundRect">
            <a:avLst>
              <a:gd name="adj" fmla="val 3478"/>
            </a:avLst>
          </a:prstGeom>
          <a:solidFill>
            <a:srgbClr val="F3F5F8"/>
          </a:solidFill>
          <a:ln/>
        </p:spPr>
        <p:txBody>
          <a:bodyPr/>
          <a:p/>
        </p:txBody>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82–88% across 3 seeds (vs ≈ 89% without the bug), yet ≈ 99% confident: easy to miss.</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CrossEntropyLoss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ACTIVATIONS, REVISITED</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if many units die, lower η or try Leaky 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Transformer blocks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GELU, or SwiGLU (gated)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standard in these architectures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put softmax before CrossEntropyLoss: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
        <p:nvSpPr>
          <p:cNvPr id="900" name="Next signpost"/>
          <p:cNvSpPr txBox="1"/>
          <p:nvPr/>
        </p:nvSpPr>
        <p:spPr>
          <a:xfrm>
            <a:off x="6126480" y="6419088"/>
            <a:ext cx="487680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model and loss are set; now feed it data</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caps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txBody>
          <a:bodyPr/>
          <a:p/>
        </p:txBody>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txBody>
          <a:bodyPr/>
          <a:p/>
        </p:txBody>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BEADF"/>
          </a:solidFill>
          <a:ln/>
        </p:spPr>
        <p:txBody>
          <a:bodyPr/>
          <a:p/>
        </p:txBody>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4"/>
          <a:stretch>
            <a:fillRect/>
          </a:stretch>
        </p:blipFill>
        <p:spPr>
          <a:xfrm>
            <a:off x="1069161" y="3063240"/>
            <a:ext cx="10053374" cy="2697479"/>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Computed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small_figures.py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every gradient for ≈ 3× a forward pass</a:t>
            </a:r>
            <a:endParaRPr lang="en-US" sz="3200" dirty="0"/>
          </a:p>
        </p:txBody>
      </p:sp>
      <p:sp>
        <p:nvSpPr>
          <p:cNvPr id="5" name="Shape 2"/>
          <p:cNvSpPr/>
          <p:nvPr/>
        </p:nvSpPr>
        <p:spPr>
          <a:xfrm>
            <a:off x="548640" y="1417320"/>
            <a:ext cx="3474720" cy="2331720"/>
          </a:xfrm>
          <a:prstGeom prst="roundRect">
            <a:avLst>
              <a:gd name="adj" fmla="val 3137"/>
            </a:avLst>
          </a:prstGeom>
          <a:solidFill>
            <a:srgbClr val="FBEADF"/>
          </a:solidFill>
          <a:ln/>
        </p:spPr>
        <p:txBody>
          <a:bodyPr/>
          <a:p/>
        </p:txBody>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C8571B"/>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txBody>
          <a:bodyPr/>
          <a:p/>
        </p:txBody>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 backward together cost about three forward passes, for every gradient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94760"/>
            <a:ext cx="2743200" cy="32004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reuse the product to the right</a:t>
            </a:r>
            <a:endParaRPr lang="en-US" sz="1500" dirty="0"/>
          </a:p>
        </p:txBody>
      </p:sp>
      <p:pic>
        <p:nvPicPr>
          <p:cNvPr id="33" name="Image 0" descr="LaTeX: $\displaystyle \frac{\partial J}{\partial x} = \frac{\partial J}{\partial c}\,\frac{\partial c}{\partial b}\,\frac{\partial b}{\partial a}\,\frac{\partial a}{\partial x}$">    </p:cNvPr>
          <p:cNvPicPr>
            <a:picLocks noChangeAspect="1"/>
          </p:cNvPicPr>
          <p:nvPr/>
        </p:nvPicPr>
        <p:blipFill>
          <a:blip r:embed="rId1"/>
          <a:stretch>
            <a:fillRect/>
          </a:stretch>
        </p:blipFill>
        <p:spPr>
          <a:xfrm>
            <a:off x="2103120" y="5349240"/>
            <a:ext cx="1458163" cy="388315"/>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 the computation graph, summed over paths.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tfrac12(a_2 - y)^2 = \textcolor{fw}{0.0905} \end{align*}">    </p:cNvPr>
          <p:cNvPicPr>
            <a:picLocks noChangeAspect="1"/>
          </p:cNvPicPr>
          <p:nvPr/>
        </p:nvPicPr>
        <p:blipFill>
          <a:blip r:embed="rId1"/>
          <a:stretch>
            <a:fillRect/>
          </a:stretch>
        </p:blipFill>
        <p:spPr>
          <a:xfrm>
            <a:off x="822960" y="3703320"/>
            <a:ext cx="5441594" cy="2095500"/>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½(a₂ − y)²</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Calculate from the board setup BEFORE showing this slide; then compare these answers.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a_2 - y = \textcolor{bw}{-0.4255}\\ \delta_2 &amp;= \frac{\partial L}{\partial a_2}\,a_2(1-a_2) = \textcolor{bw}{-0.1040}\\ \frac{\partial L}{\partial a_1} &amp;= \delta_2\,w_2 = \textcolor{bw}{-0.0832}\\ \delta_1 &amp;= \frac{\partial L}{\partial a_1}\,a_1(1-a_1) = \textcolor{bw}{-0.0156} \end{align*}">    </p:cNvPr>
          <p:cNvPicPr>
            <a:picLocks noChangeAspect="1"/>
          </p:cNvPicPr>
          <p:nvPr/>
        </p:nvPicPr>
        <p:blipFill>
          <a:blip r:embed="rId1"/>
          <a:stretch>
            <a:fillRect/>
          </a:stretch>
        </p:blipFill>
        <p:spPr>
          <a:xfrm>
            <a:off x="822960" y="3657600"/>
            <a:ext cx="3417113" cy="2421865"/>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BEADF"/>
          </a:solidFill>
          <a:ln/>
        </p:spPr>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txBody>
          <a:bodyPr/>
          <a:p/>
        </p:txBody>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0780} &amp;\qquad \frac{\partial L}{\partial b_2} &amp;= \delta_2 = \textcolor{bw}{-0.1040}\\ \frac{\partial L}{\partial w_1} &amp;= \delta_1\,x = \textcolor{bw}{-0.0312} &amp;\qquad \frac{\partial L}{\partial b_1} &amp;= \delta_1 = \textcolor{bw}{-0.0156} \end{alignat*}">    </p:cNvPr>
          <p:cNvPicPr>
            <a:picLocks noChangeAspect="1"/>
          </p:cNvPicPr>
          <p:nvPr/>
        </p:nvPicPr>
        <p:blipFill>
          <a:blip r:embed="rId1"/>
          <a:stretch>
            <a:fillRect/>
          </a:stretch>
        </p:blipFill>
        <p:spPr>
          <a:xfrm>
            <a:off x="822960" y="3703320"/>
            <a:ext cx="5367528"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txBody>
          <a:bodyPr/>
          <a:p/>
        </p:txBody>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txBody>
          <a:bodyPr/>
          <a:p/>
        </p:txBody>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txBody>
          <a:bodyPr/>
          <a:p/>
        </p:txBody>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PyTorch's autograd reproduces −0.0312 and −0.0780 exactly (after the four BP equations).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−0.0312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31617"/>
            <a:ext cx="1998805" cy="267516"/>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Send the error back through Wᵀ, then gate it by g′.</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PyTorch, autograd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y = 2.0,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 b1, w2, b2 = 0.5, 0.1, 0.8, −0.3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each: torch.tensor(..., requires_grad=True)</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a1 = sigmoid(w1·x + b1)    </a:t>
            </a:r>
            <a:r>
              <a:rPr lang="en-US" sz="1600" dirty="0">
                <a:solidFill>
                  <a:srgbClr val="8D99AB"/>
                </a:solidFill>
                <a:latin typeface="Consolas" pitchFamily="34" charset="0"/>
                <a:ea typeface="Consolas" pitchFamily="34" charset="-122"/>
                <a:cs typeface="Consolas" pitchFamily="34" charset="-120"/>
              </a:rPr>
              <a:t xml:space="preserve"># torch.sigmoid;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a2 = sigmoid(w2·a1 + b2)   </a:t>
            </a:r>
            <a:r>
              <a:rPr lang="en-US" sz="1600" dirty="0">
                <a:solidFill>
                  <a:srgbClr val="8D99AB"/>
                </a:solidFill>
                <a:latin typeface="Consolas" pitchFamily="34" charset="0"/>
                <a:ea typeface="Consolas" pitchFamily="34" charset="-122"/>
                <a:cs typeface="Consolas" pitchFamily="34" charset="-120"/>
              </a:rPr>
              <a:t xml:space="preserve"># graph is recorded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  = ½ (a2 − y)²</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L.backward()               </a:t>
            </a:r>
            <a:r>
              <a:rPr lang="en-US" sz="1600" dirty="0">
                <a:solidFill>
                  <a:srgbClr val="8D99AB"/>
                </a:solidFill>
                <a:latin typeface="Consolas" pitchFamily="34" charset="0"/>
                <a:ea typeface="Consolas" pitchFamily="34" charset="-122"/>
                <a:cs typeface="Consolas" pitchFamily="34" charset="-120"/>
              </a:rPr>
              <a:t xml:space="preserve">#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runs BP1–BP4 for you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w1.grad  →  −0.0312        </a:t>
            </a:r>
            <a:r>
              <a:rPr lang="en-US" sz="1600" dirty="0">
                <a:solidFill>
                  <a:srgbClr val="8D99AB"/>
                </a:solidFill>
                <a:latin typeface="Consolas" pitchFamily="34" charset="0"/>
                <a:ea typeface="Consolas" pitchFamily="34" charset="-122"/>
                <a:cs typeface="Consolas" pitchFamily="34" charset="-120"/>
              </a:rPr>
              <a:t xml:space="preserve"># same as by hand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w2.grad  →  −0.0780</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 accumulates</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call optimizer.zero_grad()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torch.no_grad() / inference_mode().</a:t>
            </a:r>
            <a:endParaRPr lang="en-US" sz="1600" dirty="0"/>
          </a:p>
        </p:txBody>
      </p:sp>
      <p:sp>
        <p:nvSpPr>
          <p:cNvPr id="19" name="Shape 16"/>
          <p:cNvSpPr/>
          <p:nvPr/>
        </p:nvSpPr>
        <p:spPr>
          <a:xfrm>
            <a:off x="7498080" y="4974336"/>
            <a:ext cx="402336" cy="402336"/>
          </a:xfrm>
          <a:prstGeom prst="ellipse">
            <a:avLst/>
          </a:prstGeom>
          <a:solidFill>
            <a:srgbClr val="C8571B"/>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−0.0312 and −0.0780.</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DATA</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splits, standardization, mini-batches</a:t>
            </a:r>
            <a:endParaRPr lang="en-US" sz="3200" dirty="0"/>
          </a:p>
        </p:txBody>
      </p:sp>
      <p:sp>
        <p:nvSpPr>
          <p:cNvPr id="5" name="Shape 2"/>
          <p:cNvSpPr/>
          <p:nvPr/>
        </p:nvSpPr>
        <p:spPr>
          <a:xfrm>
            <a:off x="548640" y="1417320"/>
            <a:ext cx="5280007" cy="685800"/>
          </a:xfrm>
          <a:prstGeom prst="rect">
            <a:avLst/>
          </a:prstGeom>
          <a:solidFill>
            <a:srgbClr val="0F7C82"/>
          </a:solidFill>
          <a:ln/>
        </p:spPr>
        <p:txBody>
          <a:bodyPr/>
          <a:p/>
        </p:txBody>
      </p:sp>
      <p:sp>
        <p:nvSpPr>
          <p:cNvPr id="6" name="Text 3"/>
          <p:cNvSpPr txBox="1"/>
          <p:nvPr/>
        </p:nvSpPr>
        <p:spPr>
          <a:xfrm>
            <a:off x="640080" y="1417320"/>
            <a:ext cx="5179423"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Train 55k</a:t>
            </a:r>
            <a:endParaRPr lang="en-US" sz="1700" dirty="0"/>
          </a:p>
        </p:txBody>
      </p:sp>
      <p:sp>
        <p:nvSpPr>
          <p:cNvPr id="7" name="Shape 4"/>
          <p:cNvSpPr/>
          <p:nvPr/>
        </p:nvSpPr>
        <p:spPr>
          <a:xfrm>
            <a:off x="5865223" y="1417320"/>
            <a:ext cx="446750" cy="685800"/>
          </a:xfrm>
          <a:prstGeom prst="rect">
            <a:avLst/>
          </a:prstGeom>
          <a:solidFill>
            <a:srgbClr val="C8571B"/>
          </a:solidFill>
          <a:ln/>
        </p:spPr>
        <p:txBody>
          <a:bodyPr/>
          <a:p/>
        </p:txBody>
      </p:sp>
      <p:sp>
        <p:nvSpPr>
          <p:cNvPr id="8" name="Text 5"/>
          <p:cNvSpPr txBox="1"/>
          <p:nvPr/>
        </p:nvSpPr>
        <p:spPr>
          <a:xfrm>
            <a:off x="5956663" y="1417320"/>
            <a:ext cx="346166"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 5k</a:t>
            </a:r>
            <a:endParaRPr lang="en-US" sz="1300" dirty="0"/>
          </a:p>
        </p:txBody>
      </p:sp>
      <p:sp>
        <p:nvSpPr>
          <p:cNvPr id="9" name="Shape 6"/>
          <p:cNvSpPr/>
          <p:nvPr/>
        </p:nvSpPr>
        <p:spPr>
          <a:xfrm>
            <a:off x="6348549" y="1417320"/>
            <a:ext cx="930075" cy="685800"/>
          </a:xfrm>
          <a:prstGeom prst="rect">
            <a:avLst/>
          </a:prstGeom>
          <a:solidFill>
            <a:srgbClr val="2B3A4F"/>
          </a:solidFill>
          <a:ln/>
        </p:spPr>
        <p:txBody>
          <a:bodyPr/>
          <a:p/>
        </p:txBody>
      </p:sp>
      <p:sp>
        <p:nvSpPr>
          <p:cNvPr id="10" name="Text 7"/>
          <p:cNvSpPr txBox="1"/>
          <p:nvPr/>
        </p:nvSpPr>
        <p:spPr>
          <a:xfrm>
            <a:off x="6439989" y="1417320"/>
            <a:ext cx="829491"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 10k</a:t>
            </a:r>
            <a:endParaRPr lang="en-US" sz="1700" dirty="0"/>
          </a:p>
        </p:txBody>
      </p:sp>
      <p:sp>
        <p:nvSpPr>
          <p:cNvPr id="11" name="Text 8"/>
          <p:cNvSpPr txBox="1"/>
          <p:nvPr/>
        </p:nvSpPr>
        <p:spPr>
          <a:xfrm>
            <a:off x="548640" y="2194560"/>
            <a:ext cx="6766560" cy="36576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Train: fit the weights  ·  Val: choose η, epochs, checkpoint  ·  Test: once, at the end</a:t>
            </a:r>
            <a:endParaRPr lang="en-US" sz="1500" dirty="0"/>
          </a:p>
        </p:txBody>
      </p:sp>
      <p:sp>
        <p:nvSpPr>
          <p:cNvPr id="12" name="Shape 9"/>
          <p:cNvSpPr/>
          <p:nvPr/>
        </p:nvSpPr>
        <p:spPr>
          <a:xfrm>
            <a:off x="548640" y="2788920"/>
            <a:ext cx="6766560" cy="1371600"/>
          </a:xfrm>
          <a:prstGeom prst="roundRect">
            <a:avLst>
              <a:gd name="adj" fmla="val 5333"/>
            </a:avLst>
          </a:prstGeom>
          <a:solidFill>
            <a:srgbClr val="E2F1F1"/>
          </a:solidFill>
          <a:ln/>
        </p:spPr>
        <p:txBody>
          <a:bodyPr/>
          <a:p/>
        </p:txBody>
      </p:sp>
      <p:sp>
        <p:nvSpPr>
          <p:cNvPr id="13" name="Text 10"/>
          <p:cNvSpPr txBox="1"/>
          <p:nvPr/>
        </p:nvSpPr>
        <p:spPr>
          <a:xfrm>
            <a:off x="749808" y="29077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3246120"/>
            <a:ext cx="1304544" cy="455981"/>
          </a:xfrm>
          <a:prstGeom prst="rect">
            <a:avLst/>
          </a:prstGeom>
        </p:spPr>
      </p:pic>
      <p:sp>
        <p:nvSpPr>
          <p:cNvPr id="15" name="Text 11"/>
          <p:cNvSpPr txBox="1"/>
          <p:nvPr/>
        </p:nvSpPr>
        <p:spPr>
          <a:xfrm>
            <a:off x="3108960" y="3246120"/>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4343400"/>
            <a:ext cx="6766560" cy="1783080"/>
          </a:xfrm>
          <a:prstGeom prst="roundRect">
            <a:avLst>
              <a:gd name="adj" fmla="val 4444"/>
            </a:avLst>
          </a:prstGeom>
          <a:solidFill>
            <a:srgbClr val="1E2735"/>
          </a:solidFill>
          <a:ln/>
        </p:spPr>
        <p:txBody>
          <a:bodyPr/>
          <a:p/>
        </p:txBody>
      </p:sp>
      <p:sp>
        <p:nvSpPr>
          <p:cNvPr id="17" name="Text 13"/>
          <p:cNvSpPr txBox="1"/>
          <p:nvPr/>
        </p:nvSpPr>
        <p:spPr>
          <a:xfrm>
            <a:off x="749808" y="4480560"/>
            <a:ext cx="6446520" cy="1554480"/>
          </a:xfrm>
          <a:prstGeom prst="rect">
            <a:avLst/>
          </a:prstGeom>
          <a:noFill/>
          <a:ln/>
        </p:spPr>
        <p:txBody>
          <a:bodyPr wrap="square" lIns="0" tIns="0" rIns="0" bIns="0" rtlCol="0" anchor="t"/>
          <a:lstStyle/>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 shuffle the 55,000 training examples,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cut them into mini-batches of 128</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 430 updates per epoch</a:t>
            </a:r>
            <a:endParaRPr lang="en-US" sz="1400" dirty="0"/>
          </a:p>
          <a:p>
            <a:pPr indent="0" marL="0">
              <a:lnSpc>
                <a:spcPct val="105000"/>
              </a:lnSpc>
              <a:buNone/>
            </a:pPr>
            <a:r>
              <a:rPr lang="en-US" sz="1400" dirty="0">
                <a:solidFill>
                  <a:srgbClr val="8D99AB"/>
                </a:solidFill>
                <a:latin typeface="Consolas" pitchFamily="34" charset="0"/>
                <a:ea typeface="Consolas" pitchFamily="34" charset="-122"/>
                <a:cs typeface="Consolas" pitchFamily="34" charset="-120"/>
              </a:rPr>
              <a:t xml:space="preserve"># DataLoader(train_ds, batch_size=128, shuffle=True)</a:t>
            </a:r>
            <a:endParaRPr lang="en-US" sz="1400" dirty="0"/>
          </a:p>
          <a:p>
            <a:pPr indent="0" marL="0">
              <a:lnSpc>
                <a:spcPct val="105000"/>
              </a:lnSpc>
              <a:buNone/>
            </a:pPr>
            <a:r>
              <a:rPr lang="en-US" sz="1400" dirty="0">
                <a:solidFill>
                  <a:srgbClr val="8D99AB"/>
                </a:solidFill>
                <a:latin typeface="Consolas" pitchFamily="34" charset="0"/>
                <a:ea typeface="Consolas" pitchFamily="34" charset="-122"/>
                <a:cs typeface="Consolas" pitchFamily="34" charset="-120"/>
              </a:rPr>
              <a:t xml:space="preserve"># DataLoader(val_ds, batch_size=512)   # no shuffle</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costly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57600"/>
            <a:ext cx="4096512" cy="2468880"/>
          </a:xfrm>
          <a:prstGeom prst="roundRect">
            <a:avLst>
              <a:gd name="adj" fmla="val 2963"/>
            </a:avLst>
          </a:prstGeom>
          <a:solidFill>
            <a:srgbClr val="F3F5F8"/>
          </a:solidFill>
          <a:ln/>
        </p:spPr>
        <p:txBody>
          <a:bodyPr/>
          <a:p/>
        </p:txBody>
      </p:sp>
      <p:sp>
        <p:nvSpPr>
          <p:cNvPr id="20" name="Text 15"/>
          <p:cNvSpPr txBox="1"/>
          <p:nvPr/>
        </p:nvSpPr>
        <p:spPr>
          <a:xfrm>
            <a:off x="7726680" y="374904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noise std ∝ 1/√m</a:t>
            </a:r>
            <a:endParaRPr lang="en-US" sz="2600" dirty="0"/>
          </a:p>
        </p:txBody>
      </p:sp>
      <p:sp>
        <p:nvSpPr>
          <p:cNvPr id="21" name="Text 16"/>
          <p:cNvSpPr txBox="1"/>
          <p:nvPr/>
        </p:nvSpPr>
        <p:spPr>
          <a:xfrm>
            <a:off x="7726680" y="4389120"/>
            <a:ext cx="3749040" cy="164592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Epoch: one pass over the data. Iteration: one update.</a:t>
            </a:r>
            <a:endParaRPr lang="en-US" sz="1600" dirty="0"/>
          </a:p>
          <a:p>
            <a:pPr indent="0" marL="0">
              <a:buNone/>
            </a:pPr>
            <a:r>
              <a:rPr lang="en-US" sz="1600" dirty="0">
                <a:solidFill>
                  <a:srgbClr val="17202E"/>
                </a:solidFill>
                <a:latin typeface="Calibri" pitchFamily="34" charset="0"/>
                <a:ea typeface="Calibri" pitchFamily="34" charset="-122"/>
                <a:cs typeface="Calibri" pitchFamily="34" charset="-120"/>
              </a:rPr>
              <a:t>55,000 images, batch 128 → 430 iterations per epoch.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
        <p:nvSpPr>
          <p:cNvPr id="900" name="Next signpost"/>
          <p:cNvSpPr txBox="1"/>
          <p:nvPr/>
        </p:nvSpPr>
        <p:spPr>
          <a:xfrm>
            <a:off x="6126480" y="6419088"/>
            <a:ext cx="487680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each mini-batch gives a gradient; how large a step?</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steps, every mini-batch</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epoch: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model.train()                </a:t>
            </a:r>
            <a:r>
              <a:rPr lang="en-US" sz="1500" dirty="0">
                <a:solidFill>
                  <a:srgbClr val="8D99AB"/>
                </a:solidFill>
                <a:latin typeface="Consolas" pitchFamily="34" charset="0"/>
                <a:ea typeface="Consolas" pitchFamily="34" charset="-122"/>
                <a:cs typeface="Consolas" pitchFamily="34" charset="-120"/>
              </a:rPr>
              <a:t xml:space="preserve"># training mode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mini-batch (x, y) </a:t>
            </a:r>
            <a:r>
              <a:rPr lang="en-US" sz="1500" dirty="0">
                <a:solidFill>
                  <a:srgbClr val="7FD1CF"/>
                </a:solidFill>
                <a:latin typeface="Consolas" pitchFamily="34" charset="0"/>
                <a:ea typeface="Consolas" pitchFamily="34" charset="-122"/>
                <a:cs typeface="Consolas" pitchFamily="34" charset="-120"/>
              </a:rPr>
              <a:t xml:space="preserve">in</a:t>
            </a:r>
            <a:r>
              <a:rPr lang="en-US" sz="1500" dirty="0">
                <a:solidFill>
                  <a:srgbClr val="E6EAF0"/>
                </a:solidFill>
                <a:latin typeface="Consolas" pitchFamily="34" charset="0"/>
                <a:ea typeface="Consolas" pitchFamily="34" charset="-122"/>
                <a:cs typeface="Consolas" pitchFamily="34" charset="-120"/>
              </a:rPr>
              <a:t xml:space="preserve"> train_loader: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optimizer.zero_grad()    </a:t>
            </a:r>
            <a:r>
              <a:rPr lang="en-US" sz="1500" dirty="0">
                <a:solidFill>
                  <a:srgbClr val="8D99AB"/>
                </a:solidFill>
                <a:latin typeface="Consolas" pitchFamily="34" charset="0"/>
                <a:ea typeface="Consolas" pitchFamily="34" charset="-122"/>
                <a:cs typeface="Consolas" pitchFamily="34" charset="-120"/>
              </a:rPr>
              <a:t xml:space="preserve"># 1 clear old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logits = model(x)        </a:t>
            </a:r>
            <a:r>
              <a:rPr lang="en-US" sz="1500" dirty="0">
                <a:solidFill>
                  <a:srgbClr val="8D99AB"/>
                </a:solidFill>
                <a:latin typeface="Consolas" pitchFamily="34" charset="0"/>
                <a:ea typeface="Consolas" pitchFamily="34" charset="-122"/>
                <a:cs typeface="Consolas" pitchFamily="34" charset="-120"/>
              </a:rPr>
              <a:t xml:space="preserve"># 2 forward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 = loss_fn(logits, y)  </a:t>
            </a:r>
            <a:r>
              <a:rPr lang="en-US" sz="1500" dirty="0">
                <a:solidFill>
                  <a:srgbClr val="8D99AB"/>
                </a:solidFill>
                <a:latin typeface="Consolas" pitchFamily="34" charset="0"/>
                <a:ea typeface="Consolas" pitchFamily="34" charset="-122"/>
                <a:cs typeface="Consolas" pitchFamily="34" charset="-120"/>
              </a:rPr>
              <a:t xml:space="preserve"># 3 loss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loss.backward()          </a:t>
            </a:r>
            <a:r>
              <a:rPr lang="en-US" sz="1500" dirty="0">
                <a:solidFill>
                  <a:srgbClr val="8D99AB"/>
                </a:solidFill>
                <a:latin typeface="Consolas" pitchFamily="34" charset="0"/>
                <a:ea typeface="Consolas" pitchFamily="34" charset="-122"/>
                <a:cs typeface="Consolas" pitchFamily="34" charset="-120"/>
              </a:rPr>
              <a:t xml:space="preserve"># 4 backprop</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optimizer.step()         </a:t>
            </a:r>
            <a:r>
              <a:rPr lang="en-US" sz="1500" dirty="0">
                <a:solidFill>
                  <a:srgbClr val="8D99AB"/>
                </a:solidFill>
                <a:latin typeface="Consolas" pitchFamily="34" charset="0"/>
                <a:ea typeface="Consolas" pitchFamily="34" charset="-122"/>
                <a:cs typeface="Consolas" pitchFamily="34" charset="-120"/>
              </a:rPr>
              <a:t xml:space="preserve"># 5 θ ← θ − η∇J</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model.eval()                 </a:t>
            </a:r>
            <a:r>
              <a:rPr lang="en-US" sz="1500" dirty="0">
                <a:solidFill>
                  <a:srgbClr val="8D99AB"/>
                </a:solidFill>
                <a:latin typeface="Consolas" pitchFamily="34" charset="0"/>
                <a:ea typeface="Consolas" pitchFamily="34" charset="-122"/>
                <a:cs typeface="Consolas" pitchFamily="34" charset="-120"/>
              </a:rPr>
              <a:t xml:space="preserve"># evaluation mode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with</a:t>
            </a:r>
            <a:r>
              <a:rPr lang="en-US" sz="1500" dirty="0">
                <a:solidFill>
                  <a:srgbClr val="E6EAF0"/>
                </a:solidFill>
                <a:latin typeface="Consolas" pitchFamily="34" charset="0"/>
                <a:ea typeface="Consolas" pitchFamily="34" charset="-122"/>
                <a:cs typeface="Consolas" pitchFamily="34" charset="-120"/>
              </a:rPr>
              <a:t xml:space="preserve"> torch.no_grad():        </a:t>
            </a:r>
            <a:r>
              <a:rPr lang="en-US" sz="1500" dirty="0">
                <a:solidFill>
                  <a:srgbClr val="8D99AB"/>
                </a:solidFill>
                <a:latin typeface="Consolas" pitchFamily="34" charset="0"/>
                <a:ea typeface="Consolas" pitchFamily="34" charset="-122"/>
                <a:cs typeface="Consolas" pitchFamily="34" charset="-120"/>
              </a:rPr>
              <a:t xml:space="preserve"># no graph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val_loss = evaluate(model, val_loader)</a:t>
            </a:r>
            <a:endParaRPr lang="en-US" sz="15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zero_grad</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step</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 for training, eval() + no_grad() for validation.</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training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FBEADF"/>
          </a:solidFill>
          <a:ln/>
        </p:spPr>
        <p:txBody>
          <a:bodyPr/>
          <a:p/>
        </p:txBody>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Best validation loss at epoch 5 (other seeds: 15, 9): keep the best checkpoint. Rising loss with flat accuracy = growing over-confidence.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OF 3 · fmnist_experiments.py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1:34</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30-layer plain MLP trains worse than a 10-layer one — on the TRAINING set, not just validation. Is that overfitting? What could cause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46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gradients alive: initialization, residuals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Handle ravines: momentum, Adam, AdamW</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Diagnose the gap: under- vs overfitting</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data, augmentation, regularization</a:t>
            </a:r>
            <a:endParaRPr lang="en-US" sz="1800" dirty="0"/>
          </a:p>
          <a:p>
            <a:pPr marL="0" indent="0">
              <a:spcBef>
                <a:spcPts val="800"/>
              </a:spcBef>
              <a:buNone/>
            </a:pPr>
            <a:r>
              <a:rPr lang="en-US" sz="1600" b="1" dirty="0">
                <a:solidFill>
                  <a:srgbClr val="7FD1CF"/>
                </a:solidFill>
                <a:latin typeface="Calibri" pitchFamily="34" charset="0"/>
                <a:ea typeface="Calibri" pitchFamily="34" charset="-122"/>
                <a:cs typeface="Calibri" pitchFamily="34" charset="-120"/>
              </a:rPr>
              <a:t>Break question: answered on slide 45, after slides 41–44.</a:t>
            </a:r>
            <a:endParaRPr lang="en-US" sz="16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4C5BD4"/>
          </a:solidFill>
          <a:ln/>
        </p:spPr>
      </p:sp>
      <p:sp>
        <p:nvSpPr>
          <p:cNvPr id="61" name="Shape 59"/>
          <p:cNvSpPr/>
          <p:nvPr/>
        </p:nvSpPr>
        <p:spPr>
          <a:xfrm>
            <a:off x="8673084" y="2784348"/>
            <a:ext cx="329184" cy="329184"/>
          </a:xfrm>
          <a:prstGeom prst="ellipse">
            <a:avLst/>
          </a:prstGeom>
          <a:solidFill>
            <a:srgbClr val="4C5BD4"/>
          </a:solidFill>
          <a:ln/>
        </p:spPr>
      </p:sp>
      <p:sp>
        <p:nvSpPr>
          <p:cNvPr id="62" name="Shape 60"/>
          <p:cNvSpPr/>
          <p:nvPr/>
        </p:nvSpPr>
        <p:spPr>
          <a:xfrm>
            <a:off x="8673084" y="3561588"/>
            <a:ext cx="329184" cy="329184"/>
          </a:xfrm>
          <a:prstGeom prst="ellipse">
            <a:avLst/>
          </a:prstGeom>
          <a:solidFill>
            <a:srgbClr val="4C5BD4"/>
          </a:solidFill>
          <a:ln/>
        </p:spPr>
      </p:sp>
      <p:sp>
        <p:nvSpPr>
          <p:cNvPr id="63" name="Shape 61"/>
          <p:cNvSpPr/>
          <p:nvPr/>
        </p:nvSpPr>
        <p:spPr>
          <a:xfrm>
            <a:off x="8673084" y="4338828"/>
            <a:ext cx="329184" cy="329184"/>
          </a:xfrm>
          <a:prstGeom prst="ellipse">
            <a:avLst/>
          </a:prstGeom>
          <a:solidFill>
            <a:srgbClr val="4C5BD4"/>
          </a:solidFill>
          <a:ln/>
        </p:spPr>
      </p:sp>
      <p:sp>
        <p:nvSpPr>
          <p:cNvPr id="64" name="Shape 62"/>
          <p:cNvSpPr/>
          <p:nvPr/>
        </p:nvSpPr>
        <p:spPr>
          <a:xfrm>
            <a:off x="9482328" y="2007108"/>
            <a:ext cx="329184" cy="329184"/>
          </a:xfrm>
          <a:prstGeom prst="ellipse">
            <a:avLst/>
          </a:prstGeom>
          <a:solidFill>
            <a:srgbClr val="4C5BD4"/>
          </a:solidFill>
          <a:ln/>
        </p:spPr>
      </p:sp>
      <p:sp>
        <p:nvSpPr>
          <p:cNvPr id="65" name="Shape 63"/>
          <p:cNvSpPr/>
          <p:nvPr/>
        </p:nvSpPr>
        <p:spPr>
          <a:xfrm>
            <a:off x="9482328" y="2784348"/>
            <a:ext cx="329184" cy="329184"/>
          </a:xfrm>
          <a:prstGeom prst="ellipse">
            <a:avLst/>
          </a:prstGeom>
          <a:solidFill>
            <a:srgbClr val="4C5BD4"/>
          </a:solidFill>
          <a:ln/>
        </p:spPr>
      </p:sp>
      <p:sp>
        <p:nvSpPr>
          <p:cNvPr id="66" name="Shape 64"/>
          <p:cNvSpPr/>
          <p:nvPr/>
        </p:nvSpPr>
        <p:spPr>
          <a:xfrm>
            <a:off x="9482328" y="3561588"/>
            <a:ext cx="329184" cy="329184"/>
          </a:xfrm>
          <a:prstGeom prst="ellipse">
            <a:avLst/>
          </a:prstGeom>
          <a:solidFill>
            <a:srgbClr val="4C5BD4"/>
          </a:solidFill>
          <a:ln/>
        </p:spPr>
      </p:sp>
      <p:sp>
        <p:nvSpPr>
          <p:cNvPr id="67" name="Shape 65"/>
          <p:cNvSpPr/>
          <p:nvPr/>
        </p:nvSpPr>
        <p:spPr>
          <a:xfrm>
            <a:off x="9482328" y="4338828"/>
            <a:ext cx="329184" cy="329184"/>
          </a:xfrm>
          <a:prstGeom prst="ellipse">
            <a:avLst/>
          </a:prstGeom>
          <a:solidFill>
            <a:srgbClr val="4C5BD4"/>
          </a:solidFill>
          <a:ln/>
        </p:spPr>
      </p:sp>
      <p:sp>
        <p:nvSpPr>
          <p:cNvPr id="68" name="Shape 66"/>
          <p:cNvSpPr/>
          <p:nvPr/>
        </p:nvSpPr>
        <p:spPr>
          <a:xfrm>
            <a:off x="10291572" y="2007108"/>
            <a:ext cx="329184" cy="329184"/>
          </a:xfrm>
          <a:prstGeom prst="ellipse">
            <a:avLst/>
          </a:prstGeom>
          <a:solidFill>
            <a:srgbClr val="4C5BD4"/>
          </a:solidFill>
          <a:ln/>
        </p:spPr>
      </p:sp>
      <p:sp>
        <p:nvSpPr>
          <p:cNvPr id="69" name="Shape 67"/>
          <p:cNvSpPr/>
          <p:nvPr/>
        </p:nvSpPr>
        <p:spPr>
          <a:xfrm>
            <a:off x="10291572" y="2784348"/>
            <a:ext cx="329184" cy="329184"/>
          </a:xfrm>
          <a:prstGeom prst="ellipse">
            <a:avLst/>
          </a:prstGeom>
          <a:solidFill>
            <a:srgbClr val="4C5BD4"/>
          </a:solidFill>
          <a:ln/>
        </p:spPr>
      </p:sp>
      <p:sp>
        <p:nvSpPr>
          <p:cNvPr id="70" name="Shape 68"/>
          <p:cNvSpPr/>
          <p:nvPr/>
        </p:nvSpPr>
        <p:spPr>
          <a:xfrm>
            <a:off x="10291572" y="3561588"/>
            <a:ext cx="329184" cy="329184"/>
          </a:xfrm>
          <a:prstGeom prst="ellipse">
            <a:avLst/>
          </a:prstGeom>
          <a:solidFill>
            <a:srgbClr val="4C5BD4"/>
          </a:solidFill>
          <a:ln/>
        </p:spPr>
      </p:sp>
      <p:sp>
        <p:nvSpPr>
          <p:cNvPr id="71" name="Shape 69"/>
          <p:cNvSpPr/>
          <p:nvPr/>
        </p:nvSpPr>
        <p:spPr>
          <a:xfrm>
            <a:off x="10291572" y="4338828"/>
            <a:ext cx="329184" cy="329184"/>
          </a:xfrm>
          <a:prstGeom prst="ellipse">
            <a:avLst/>
          </a:prstGeom>
          <a:solidFill>
            <a:srgbClr val="4C5BD4"/>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txBody>
          <a:bodyPr/>
          <a:p/>
        </p:txBody>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aphicFrame>
        <p:nvGraphicFramePr>
          <p:cNvPr id="8" name="Chart 0" descr="Product of L equal factors (log scale): 1.5, 1.1, 1.0, 0.9, 0.5"/>
          <p:cNvGraphicFramePr/>
          <p:nvPr/>
        </p:nvGraphicFramePr>
        <p:xfrm>
          <a:off x="457200" y="2880360"/>
          <a:ext cx="59436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6537960" y="1417320"/>
            <a:ext cx="5102352" cy="1170432"/>
          </a:xfrm>
          <a:prstGeom prst="roundRect">
            <a:avLst>
              <a:gd name="adj" fmla="val 6250"/>
            </a:avLst>
          </a:prstGeom>
          <a:solidFill>
            <a:srgbClr val="F3F5F8"/>
          </a:solidFill>
          <a:ln/>
        </p:spPr>
        <p:txBody>
          <a:bodyPr/>
          <a:p/>
        </p:txBody>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txBody>
          <a:bodyPr/>
          <a:p/>
        </p:txBody>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jumps to inf or nan within a few steps.</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txBody>
          <a:bodyPr/>
          <a:p/>
        </p:txBody>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Diagnose it</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Plot each layer's gradient norm: early ≪ late means vanishing.</a:t>
            </a:r>
            <a:endParaRPr lang="en-US" sz="1600" dirty="0"/>
          </a:p>
        </p:txBody>
      </p:sp>
      <p:sp>
        <p:nvSpPr>
          <p:cNvPr id="18" name="Shape 13"/>
          <p:cNvSpPr/>
          <p:nvPr/>
        </p:nvSpPr>
        <p:spPr>
          <a:xfrm>
            <a:off x="6537960" y="5349240"/>
            <a:ext cx="5102352" cy="777240"/>
          </a:xfrm>
          <a:prstGeom prst="roundRect">
            <a:avLst>
              <a:gd name="adj" fmla="val 9412"/>
            </a:avLst>
          </a:prstGeom>
          <a:solidFill>
            <a:srgbClr val="E2F1F1"/>
          </a:solidFill>
          <a:ln/>
        </p:spPr>
      </p:sp>
      <p:sp>
        <p:nvSpPr>
          <p:cNvPr id="19" name="Text 14"/>
          <p:cNvSpPr txBox="1"/>
          <p:nvPr/>
        </p:nvSpPr>
        <p:spPr>
          <a:xfrm>
            <a:off x="6739128" y="5394960"/>
            <a:ext cx="4700016" cy="68580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Fixes: initialization, residual connections, gradient clipping, normalization (Session 2).</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to keep the pre-activation variance constant</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begin{align*} z &amp;= \textstyle\sum_{i=1}^{n_{\text{in}}} w_i x_i\\ \Var(z) &amp;= n_{\text{in}}\,\Var(w)\,\Var(x)\\ \Var(z) = \Var(x) \;&amp;\Leftrightarrow\; \Var(w) = 1/n_{\text{in}} \end{align*}">    </p:cNvPr>
          <p:cNvPicPr>
            <a:picLocks noChangeAspect="1"/>
          </p:cNvPicPr>
          <p:nvPr/>
        </p:nvPicPr>
        <p:blipFill>
          <a:blip r:embed="rId1"/>
          <a:stretch>
            <a:fillRect/>
          </a:stretch>
        </p:blipFill>
        <p:spPr>
          <a:xfrm>
            <a:off x="822960" y="1920240"/>
            <a:ext cx="4663440" cy="876684"/>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 + n_out)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234440"/>
          </a:xfrm>
          <a:prstGeom prst="roundRect">
            <a:avLst>
              <a:gd name="adj" fmla="val 4444"/>
            </a:avLst>
          </a:prstGeom>
          <a:solidFill>
            <a:srgbClr val="1E2735"/>
          </a:solidFill>
          <a:ln/>
        </p:spPr>
      </p:sp>
      <p:sp>
        <p:nvSpPr>
          <p:cNvPr id="13" name="Text 7"/>
          <p:cNvSpPr txBox="1"/>
          <p:nvPr/>
        </p:nvSpPr>
        <p:spPr>
          <a:xfrm>
            <a:off x="6144768" y="3986784"/>
            <a:ext cx="5376672" cy="9784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W ~ Normal(0, 2 / n_in)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nn.init.kaiming_normal_(W, nonlinearity="relu")</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b = 0</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nn.init.zeros_(b)</a:t>
            </a:r>
            <a:endParaRPr lang="en-US" sz="1300" dirty="0"/>
          </a:p>
        </p:txBody>
      </p:sp>
      <p:sp>
        <p:nvSpPr>
          <p:cNvPr id="14" name="Shape 8"/>
          <p:cNvSpPr/>
          <p:nvPr/>
        </p:nvSpPr>
        <p:spPr>
          <a:xfrm>
            <a:off x="5943600" y="5303520"/>
            <a:ext cx="5696712" cy="822960"/>
          </a:xfrm>
          <a:prstGeom prst="roundRect">
            <a:avLst>
              <a:gd name="adj" fmla="val 8889"/>
            </a:avLst>
          </a:prstGeom>
          <a:solidFill>
            <a:srgbClr val="FBEADF"/>
          </a:solidFill>
          <a:ln/>
        </p:spPr>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Assumes weights i.i.d., zero-mean, independent of x. PyTorch's default is smaller, Var(w) = 1/(3 n_in): set He explicitly for deep ReLU nets.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aphicFrame>
        <p:nvGraphicFramePr>
          <p:cNvPr id="5" name="Chart 0" descr="Std of activations by layer (log scale): std 1.0, He, Xavier, std 0.01"/>
          <p:cNvGraphicFramePr/>
          <p:nvPr/>
        </p:nvGraphicFramePr>
        <p:xfrm>
          <a:off x="457200" y="1417320"/>
          <a:ext cx="658368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0.82</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 × 10⁻³</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9.30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txBody>
          <a:bodyPr/>
          <a:p/>
        </p:txBody>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Of these four, only He keeps the signal at a stable scale through 20 ReLU layers.</a:t>
            </a:r>
            <a:endParaRPr lang="en-US" sz="1800" dirty="0"/>
          </a:p>
        </p:txBody>
      </p:sp>
      <p:sp>
        <p:nvSpPr>
          <p:cNvPr id="9" name="Text 4"/>
          <p:cNvSpPr txBox="1"/>
          <p:nvPr/>
        </p:nvSpPr>
        <p:spPr>
          <a:xfrm>
            <a:off x="6903720" y="5303520"/>
            <a:ext cx="4736592" cy="45720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random inputs, one seeded NumPy run. Chart: He vs Xavier; std 0.01 and 1.0 are in the table.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
        <p:nvSpPr>
          <p:cNvPr id="4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SEED 0 · small_figures.py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tanh network trains well. You switch every activation to ReLU but keep Xavier initialization (30 layers, all 256 wide). What happens to the forward signal?</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Nothing: Xavier works for any activation</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shrinks by about √2 per layer and vanishes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grows by about √2 per layer and explodes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the output layer is affected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why deeper can still train</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txBody>
          <a:bodyPr/>
          <a:p/>
        </p:txBody>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txBody>
          <a:bodyPr/>
          <a:p/>
        </p:txBody>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txBody>
          <a:bodyPr/>
          <a:p/>
        </p:txBody>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r>
              <a:rPr lang="en-US" sz="1700" b="1" dirty="0">
                <a:solidFill>
                  <a:srgbClr val="0A5559"/>
                </a:solidFill>
                <a:latin typeface="Calibri" pitchFamily="34" charset="0"/>
                <a:ea typeface="Calibri" pitchFamily="34" charset="-122"/>
                <a:cs typeface="Calibri" pitchFamily="34" charset="-120"/>
              </a:rPr>
              <a:t>F(x</a:t>
            </a:r>
            <a:pPr algn="ctr" indent="0" marL="0">
              <a:buNone/>
            </a:pPr>
            <a:r>
              <a:rPr lang="en-US" sz="1700" b="1" baseline="-40000" dirty="0">
                <a:solidFill>
                  <a:srgbClr val="0A5559"/>
                </a:solidFill>
                <a:latin typeface="Calibri" pitchFamily="34" charset="0"/>
                <a:ea typeface="Calibri" pitchFamily="34" charset="-122"/>
                <a:cs typeface="Calibri" pitchFamily="34" charset="-120"/>
              </a:rPr>
              <a:t>l</a:t>
            </a:r>
            <a:pPr algn="ctr" indent="0" marL="0">
              <a:buNone/>
            </a:pPr>
            <a:r>
              <a:rPr lang="en-US" sz="1700" b="1" dirty="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txBody>
          <a:bodyPr/>
          <a:p/>
        </p:txBody>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txBody>
          <a:bodyPr/>
          <a:p/>
        </p:txBody>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txBody>
          <a:bodyPr/>
          <a:p/>
        </p:txBody>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txBody>
          <a:bodyPr/>
          <a:p/>
        </p:txBody>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C8571B"/>
            </a:solidFill>
            <a:prstDash val="solid"/>
          </a:ln>
        </p:spPr>
        <p:txBody>
          <a:bodyPr/>
          <a:p/>
        </p:txBody>
      </p:sp>
      <p:sp>
        <p:nvSpPr>
          <p:cNvPr id="23" name="Shape 20"/>
          <p:cNvSpPr/>
          <p:nvPr/>
        </p:nvSpPr>
        <p:spPr>
          <a:xfrm>
            <a:off x="4526280" y="1691640"/>
            <a:ext cx="91" cy="3511296"/>
          </a:xfrm>
          <a:prstGeom prst="line">
            <a:avLst/>
          </a:prstGeom>
          <a:noFill/>
          <a:ln w="31750">
            <a:solidFill>
              <a:srgbClr val="C8571B"/>
            </a:solidFill>
            <a:prstDash val="solid"/>
          </a:ln>
        </p:spPr>
        <p:txBody>
          <a:bodyPr/>
          <a:p/>
        </p:txBody>
      </p:sp>
      <p:sp>
        <p:nvSpPr>
          <p:cNvPr id="24" name="Shape 21"/>
          <p:cNvSpPr/>
          <p:nvPr/>
        </p:nvSpPr>
        <p:spPr>
          <a:xfrm flipH="1">
            <a:off x="3035808" y="5202936"/>
            <a:ext cx="1490472" cy="91"/>
          </a:xfrm>
          <a:prstGeom prst="line">
            <a:avLst/>
          </a:prstGeom>
          <a:noFill/>
          <a:ln w="31750">
            <a:solidFill>
              <a:srgbClr val="C8571B"/>
            </a:solidFill>
            <a:prstDash val="solid"/>
            <a:tailEnd type="triangle"/>
          </a:ln>
        </p:spPr>
        <p:txBody>
          <a:bodyPr/>
          <a:p/>
        </p:txBody>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C8571B"/>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C8571B"/>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txBody>
          <a:bodyPr/>
          <a:p/>
        </p:txBody>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identity I also gives every gradient a path with factor 1.</a:t>
            </a:r>
            <a:endParaRPr lang="en-US" sz="1600" dirty="0"/>
          </a:p>
        </p:txBody>
      </p:sp>
      <p:sp>
        <p:nvSpPr>
          <p:cNvPr id="31" name="Shape 26"/>
          <p:cNvSpPr/>
          <p:nvPr/>
        </p:nvSpPr>
        <p:spPr>
          <a:xfrm>
            <a:off x="5669280" y="3520440"/>
            <a:ext cx="402336" cy="402336"/>
          </a:xfrm>
          <a:prstGeom prst="ellipse">
            <a:avLst/>
          </a:prstGeom>
          <a:solidFill>
            <a:srgbClr val="0F7C82"/>
          </a:solidFill>
          <a:ln/>
        </p:spPr>
        <p:txBody>
          <a:bodyPr/>
          <a:p/>
        </p:txBody>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Eases degradation</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In He et al.'s runs, deeper plain nets trained worse; residual ones did not.</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every Transformer block.</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
        <p:nvSpPr>
          <p:cNvPr id="900" name="Next signpost"/>
          <p:cNvSpPr txBox="1"/>
          <p:nvPr/>
        </p:nvSpPr>
        <p:spPr>
          <a:xfrm>
            <a:off x="6126480" y="6419088"/>
            <a:ext cx="487680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gradients now flow; next, the elongated bowl of slide 29</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SGD;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tretch>
            <a:fillRect/>
          </a:stretch>
        </p:blipFill>
        <p:spPr>
          <a:xfrm>
            <a:off x="581283" y="1325880"/>
            <a:ext cx="11029129" cy="2514600"/>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txBody>
          <a:bodyPr/>
          <a:p/>
        </p:txBody>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SGD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8.6e-3</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txBody>
          <a:bodyPr/>
          <a:p/>
        </p:txBody>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SGD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 ← βv + g,  θ ← θ − ηv: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5.8e-3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txBody>
          <a:bodyPr/>
          <a:p/>
        </p:txBody>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Divides each coordinate by its gradient RMS: steps of roughly size η.</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6.9e-4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 A 2-D toy: rankings on real networks vary.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TUNED STEP SIZES · small_figures.py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Plain gradient descent on the ravine of slide 46 (curvatures 1 and 25). It converges only if the learning rate η is below: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1 = 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25 = 0.08</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 / 25 = 0.04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 limit: the loss is convex</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txBody>
          <a:bodyPr/>
          <a:p/>
        </p:txBody>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BEADF"/>
          </a:solidFill>
          <a:ln/>
        </p:spPr>
        <p:txBody>
          <a:bodyPr/>
          <a:p/>
        </p:txBody>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Transformers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 image classifiers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txBody>
          <a:bodyPr/>
          <a:p/>
        </p:txBody>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normalization scales, Session 2).</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Adam(weight_decay=λ) is L2 by default; decoupled_weight_decay=True gives AdamW.</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
        <p:nvSpPr>
          <p:cNvPr id="900" name="Next signpost"/>
          <p:cNvSpPr txBox="1"/>
          <p:nvPr/>
        </p:nvSpPr>
        <p:spPr>
          <a:xfrm>
            <a:off x="6126480" y="6419088"/>
            <a:ext cx="487680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does the fit generalize? Back to slide 38’s curves</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pick remedies</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 check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Bug or bad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3200400" cy="1051560"/>
          </a:xfrm>
          <a:prstGeom prst="roundRect">
            <a:avLst>
              <a:gd name="adj" fmla="val 6957"/>
            </a:avLst>
          </a:prstGeom>
          <a:solidFill>
            <a:srgbClr val="FBEADF"/>
          </a:solidFill>
          <a:ln/>
        </p:spPr>
        <p:txBody>
          <a:bodyPr/>
          <a:p/>
        </p:txBody>
      </p:sp>
      <p:sp>
        <p:nvSpPr>
          <p:cNvPr id="7" name="Text 3"/>
          <p:cNvSpPr txBox="1"/>
          <p:nvPr/>
        </p:nvSpPr>
        <p:spPr>
          <a:xfrm>
            <a:off x="731520" y="5074920"/>
            <a:ext cx="2834640" cy="960120"/>
          </a:xfrm>
          <a:prstGeom prst="rect">
            <a:avLst/>
          </a:prstGeom>
          <a:noFill/>
          <a:ln/>
        </p:spPr>
        <p:txBody>
          <a:bodyPr wrap="square" lIns="0" tIns="0" rIns="0" bIns="0" rtlCol="0" anchor="ctr"/>
          <a:lstStyle/>
          <a:p>
            <a:pPr indent="0" marL="0">
              <a:buNone/>
            </a:pPr>
            <a:r>
              <a:rPr lang="en-US" sz="1400" b="1" dirty="0">
                <a:solidFill>
                  <a:srgbClr val="8F3A0E"/>
                </a:solidFill>
                <a:latin typeface="Calibri" pitchFamily="34" charset="0"/>
                <a:ea typeface="Calibri" pitchFamily="34" charset="-122"/>
                <a:cs typeface="Calibri" pitchFamily="34" charset="-120"/>
              </a:rPr>
              <a:t>First check: can it overfit 100 examples? If not, suspect a bug or a setup error (η, regularization left on).</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WHEN OVERFITTING: A TYPICAL ORDER</a:t>
            </a:r>
            <a:endParaRPr lang="en-US" sz="1300" dirty="0"/>
          </a:p>
        </p:txBody>
      </p:sp>
      <p:sp>
        <p:nvSpPr>
          <p:cNvPr id="9" name="Shape 5"/>
          <p:cNvSpPr/>
          <p:nvPr/>
        </p:nvSpPr>
        <p:spPr>
          <a:xfrm>
            <a:off x="7543800" y="1828800"/>
            <a:ext cx="438912" cy="438912"/>
          </a:xfrm>
          <a:prstGeom prst="ellipse">
            <a:avLst/>
          </a:prstGeom>
          <a:solidFill>
            <a:srgbClr val="0F7C82"/>
          </a:solidFill>
          <a:ln/>
        </p:spPr>
        <p:txBody>
          <a:bodyPr/>
          <a:p/>
        </p:txBody>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txBody>
          <a:bodyPr/>
          <a:p/>
        </p:txBody>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Keep best-validation checkpoint</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 if you can get it</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
        <p:nvSpPr>
          <p:cNvPr id="901" name="Running example box"/>
          <p:cNvSpPr/>
          <p:nvPr/>
        </p:nvSpPr>
        <p:spPr>
          <a:xfrm>
            <a:off x="3931920" y="5029200"/>
            <a:ext cx="3291840" cy="1051560"/>
          </a:xfrm>
          <a:prstGeom prst="roundRect">
            <a:avLst>
              <a:gd name="adj" fmla="val 6957"/>
            </a:avLst>
          </a:prstGeom>
          <a:solidFill>
            <a:srgbClr val="E2F1F1"/>
          </a:solidFill>
          <a:ln/>
        </p:spPr>
        <p:txBody>
          <a:bodyPr/>
          <a:p/>
        </p:txBody>
      </p:sp>
      <p:sp>
        <p:nvSpPr>
          <p:cNvPr id="902" name="Running example text"/>
          <p:cNvSpPr txBox="1"/>
          <p:nvPr/>
        </p:nvSpPr>
        <p:spPr>
          <a:xfrm>
            <a:off x="4114800" y="5120640"/>
            <a:ext cx="2926080" cy="868680"/>
          </a:xfrm>
          <a:prstGeom prst="rect">
            <a:avLst/>
          </a:prstGeom>
          <a:noFill/>
          <a:ln/>
        </p:spPr>
        <p:txBody>
          <a:bodyPr wrap="square" lIns="0" tIns="0" rIns="0" bIns="0" rtlCol="0" anchor="ctr"/>
          <a:lstStyle/>
          <a:p>
            <a:pPr indent="0" marL="0">
              <a:spcAft>
                <a:spcPts val="300"/>
              </a:spcAft>
              <a:buNone/>
            </a:pPr>
            <a:r>
              <a:rPr lang="en-US" sz="1200" b="1" spc="100" dirty="0">
                <a:solidFill>
                  <a:srgbClr val="0F7C82"/>
                </a:solidFill>
                <a:latin typeface="Calibri" pitchFamily="34" charset="0"/>
                <a:ea typeface="Calibri" pitchFamily="34" charset="-122"/>
                <a:cs typeface="Calibri" pitchFamily="34" charset="-120"/>
              </a:rPr>
              <a:t>OUR RUNNING EXAMPLE (SLIDE 38)</a:t>
            </a:r>
          </a:p>
          <a:p>
            <a:pPr indent="0" marL="0">
              <a:buNone/>
            </a:pPr>
            <a:r>
              <a:rPr lang="en-US" sz="1400" dirty="0">
                <a:solidFill>
                  <a:srgbClr val="17202E"/>
                </a:solidFill>
                <a:latin typeface="Calibri" pitchFamily="34" charset="0"/>
                <a:ea typeface="Calibri" pitchFamily="34" charset="-122"/>
                <a:cs typeface="Calibri" pitchFamily="34" charset="-120"/>
              </a:rPr>
              <a:t>Train loss 0.14 and falling; val loss up from 0.33 (epoch 5) to 0.38. Which row?</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657600"/>
            <a:ext cx="402336" cy="402336"/>
          </a:xfrm>
          <a:prstGeom prst="ellipse">
            <a:avLst/>
          </a:prstGeom>
          <a:solidFill>
            <a:srgbClr val="0F7C82"/>
          </a:solidFill>
          <a:ln/>
        </p:spPr>
        <p:txBody>
          <a:bodyPr/>
          <a:p/>
        </p:txBody>
      </p:sp>
      <p:sp>
        <p:nvSpPr>
          <p:cNvPr id="9" name="Text 5"/>
          <p:cNvSpPr txBox="1"/>
          <p:nvPr/>
        </p:nvSpPr>
        <p:spPr>
          <a:xfrm>
            <a:off x="548640" y="36576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63931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4005072"/>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a:t>
            </a:r>
            <a:endParaRPr lang="en-US" sz="1600" dirty="0"/>
          </a:p>
        </p:txBody>
      </p:sp>
      <p:sp>
        <p:nvSpPr>
          <p:cNvPr id="12" name="Shape 8"/>
          <p:cNvSpPr/>
          <p:nvPr/>
        </p:nvSpPr>
        <p:spPr>
          <a:xfrm>
            <a:off x="548640" y="4553712"/>
            <a:ext cx="402336" cy="402336"/>
          </a:xfrm>
          <a:prstGeom prst="ellipse">
            <a:avLst/>
          </a:prstGeom>
          <a:solidFill>
            <a:srgbClr val="0F7C82"/>
          </a:solidFill>
          <a:ln/>
        </p:spPr>
        <p:txBody>
          <a:bodyPr/>
          <a:p/>
        </p:txBody>
      </p:sp>
      <p:sp>
        <p:nvSpPr>
          <p:cNvPr id="13" name="Text 9"/>
          <p:cNvSpPr txBox="1"/>
          <p:nvPr/>
        </p:nvSpPr>
        <p:spPr>
          <a:xfrm>
            <a:off x="548640" y="4553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535424"/>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Less sensitive functions</a:t>
            </a:r>
            <a:endParaRPr lang="en-US" sz="1800" dirty="0"/>
          </a:p>
        </p:txBody>
      </p:sp>
      <p:sp>
        <p:nvSpPr>
          <p:cNvPr id="15" name="Text 11"/>
          <p:cNvSpPr txBox="1"/>
          <p:nvPr/>
        </p:nvSpPr>
        <p:spPr>
          <a:xfrm>
            <a:off x="1152144" y="4901184"/>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An intuition: small weights, gentler outputs.</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(nor normalization scales, Session 2).</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nets with normalization: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model.eval()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BEADF"/>
          </a:solidFill>
          <a:ln/>
        </p:spPr>
        <p:txBody>
          <a:bodyPr/>
          <a:p/>
        </p:txBody>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(Session 2): Mixup, CutMix, RandAugment. Label smoothing softens the targets instead.</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training transform, fresh draw every epoch:</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crop 80–100 % of the image, resize to 28×28</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v2.RandomResizedCrop(28, scale=(0.8,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flip left–right </a:t>
            </a:r>
            <a:r>
              <a:rPr lang="en-US" sz="1300" dirty="0">
                <a:solidFill>
                  <a:srgbClr val="7FD1CF"/>
                </a:solidFill>
                <a:latin typeface="Consolas" pitchFamily="34" charset="0"/>
                <a:ea typeface="Consolas" pitchFamily="34" charset="-122"/>
                <a:cs typeface="Consolas" pitchFamily="34" charset="-120"/>
              </a:rPr>
              <a:t xml:space="preserve">with</a:t>
            </a:r>
            <a:r>
              <a:rPr lang="en-US" sz="1300" dirty="0">
                <a:solidFill>
                  <a:srgbClr val="E6EAF0"/>
                </a:solidFill>
                <a:latin typeface="Consolas" pitchFamily="34" charset="0"/>
                <a:ea typeface="Consolas" pitchFamily="34" charset="-122"/>
                <a:cs typeface="Consolas" pitchFamily="34" charset="-120"/>
              </a:rPr>
              <a:t xml:space="preserve"> probability 0.5</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v2.RandomHorizontalFlip()</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to float </a:t>
            </a:r>
            <a:r>
              <a:rPr lang="en-US" sz="1300" dirty="0">
                <a:solidFill>
                  <a:srgbClr val="7FD1CF"/>
                </a:solidFill>
                <a:latin typeface="Consolas" pitchFamily="34" charset="0"/>
                <a:ea typeface="Consolas" pitchFamily="34" charset="-122"/>
                <a:cs typeface="Consolas" pitchFamily="34" charset="-120"/>
              </a:rPr>
              <a:t xml:space="preserve">in</a:t>
            </a:r>
            <a:r>
              <a:rPr lang="en-US" sz="1300" dirty="0">
                <a:solidFill>
                  <a:srgbClr val="E6EAF0"/>
                </a:solidFill>
                <a:latin typeface="Consolas" pitchFamily="34" charset="0"/>
                <a:ea typeface="Consolas" pitchFamily="34" charset="-122"/>
                <a:cs typeface="Consolas" pitchFamily="34" charset="-120"/>
              </a:rPr>
              <a:t xml:space="preserve"> [0,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v2.ToImage(), then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v2.ToDtype(torch.float32, scale=True)</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standardize: (x − 0.286) / 0.353</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r>
              <a:rPr lang="en-US" sz="1300" dirty="0">
                <a:solidFill>
                  <a:srgbClr val="8D99AB"/>
                </a:solidFill>
                <a:latin typeface="Consolas" pitchFamily="34" charset="0"/>
                <a:ea typeface="Consolas" pitchFamily="34" charset="-122"/>
                <a:cs typeface="Consolas" pitchFamily="34" charset="-120"/>
              </a:rPr>
              <a:t xml:space="preserve"># v2.Normalize(mean=[0.286], std=[0.353])</a:t>
            </a:r>
            <a:endParaRPr lang="en-US" sz="13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1,000 images overfit</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023360"/>
            <a:ext cx="4553712" cy="1188720"/>
          </a:xfrm>
          <a:prstGeom prst="roundRect">
            <a:avLst>
              <a:gd name="adj" fmla="val 6154"/>
            </a:avLst>
          </a:prstGeom>
          <a:solidFill>
            <a:srgbClr val="17202E"/>
          </a:solidFill>
          <a:ln/>
        </p:spPr>
        <p:txBody>
          <a:bodyPr/>
          <a:p/>
        </p:txBody>
      </p:sp>
      <p:sp>
        <p:nvSpPr>
          <p:cNvPr id="8" name="Text 3"/>
          <p:cNvSpPr txBox="1"/>
          <p:nvPr/>
        </p:nvSpPr>
        <p:spPr>
          <a:xfrm>
            <a:off x="7287768" y="4069080"/>
            <a:ext cx="4151376"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3-seed observations: val loss 0.57 → 0.53; val accuracy +0.4 pp (inconclusive). 55× data: +8.4 pp in these runs.</a:t>
            </a:r>
            <a:endParaRPr lang="en-US" sz="1800" dirty="0"/>
          </a:p>
        </p:txBody>
      </p:sp>
      <p:sp>
        <p:nvSpPr>
          <p:cNvPr id="9" name="Text 4"/>
          <p:cNvSpPr txBox="1"/>
          <p:nvPr/>
        </p:nvSpPr>
        <p:spPr>
          <a:xfrm>
            <a:off x="7086600" y="5394960"/>
            <a:ext cx="4553712" cy="73152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best-validation checkpoint.</a:t>
            </a:r>
            <a:endParaRPr lang="en-US" sz="1700" dirty="0"/>
          </a:p>
        </p:txBody>
      </p:sp>
      <p:sp>
        <p:nvSpPr>
          <p:cNvPr id="10" name="Text 5"/>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Dropout and weight-decay values chosen for this tiny dataset.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7</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2,000 labeled images: train 99.8%, validation 71%. Data checks pass; a related pretrained model exists. Promising next experiment?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Use a smaller network</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Evaluate transfer learning with that model</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Add dropout to every layer</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0F7C82"/>
          </a:solidFill>
          <a:ln/>
        </p:spPr>
        <p:txBody>
          <a:bodyPr/>
          <a:p/>
        </p:txBody>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C8571B"/>
          </a:solidFill>
          <a:ln/>
        </p:spPr>
        <p:txBody>
          <a:bodyPr/>
          <a:p/>
        </p:txBody>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the sharpest curvature caps η; backprop gets every gradient for ≈ 3× a forward pass.</a:t>
            </a:r>
            <a:endParaRPr lang="en-US" sz="1700" dirty="0"/>
          </a:p>
        </p:txBody>
      </p:sp>
      <p:sp>
        <p:nvSpPr>
          <p:cNvPr id="13" name="Shape 10"/>
          <p:cNvSpPr/>
          <p:nvPr/>
        </p:nvSpPr>
        <p:spPr>
          <a:xfrm>
            <a:off x="548640" y="3922776"/>
            <a:ext cx="502920" cy="502920"/>
          </a:xfrm>
          <a:prstGeom prst="ellipse">
            <a:avLst/>
          </a:prstGeom>
          <a:solidFill>
            <a:srgbClr val="4C5BD4"/>
          </a:solidFill>
          <a:ln/>
        </p:spPr>
        <p:txBody>
          <a:bodyPr/>
          <a:p/>
        </p:txBody>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residuals keep gradients alive; momentum and Adam(W) handle ravines; diagnose the gap, then add data before regularizers.</a:t>
            </a:r>
            <a:endParaRPr lang="en-US" sz="1700" dirty="0"/>
          </a:p>
        </p:txBody>
      </p:sp>
      <p:sp>
        <p:nvSpPr>
          <p:cNvPr id="17" name="Shape 14"/>
          <p:cNvSpPr/>
          <p:nvPr/>
        </p:nvSpPr>
        <p:spPr>
          <a:xfrm>
            <a:off x="8092440" y="1417320"/>
            <a:ext cx="3547872" cy="352044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28346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Build the Fashion-MNIST MLP</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Check: 109,386 parameters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Check: first loss ≈ 2.3 – 3</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Overfit 100 images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Train fully; plot both curves</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A  ·  REVIEW OF TODAY</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 A</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Why deep? Depth separations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From 1943 to today</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When not to use a neural network</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Gradient checking</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(1–4)</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a:t>
            </a:r>
            <a:pPr indent="0" marL="0">
              <a:buNone/>
            </a:pPr>
            <a:r>
              <a:rPr lang="en-US" sz="1800" b="1" dirty="0">
                <a:solidFill>
                  <a:srgbClr val="17202E"/>
                </a:solidFill>
                <a:latin typeface="Calibri" pitchFamily="34" charset="0"/>
                <a:ea typeface="Calibri" pitchFamily="34" charset="-122"/>
                <a:cs typeface="Calibri" pitchFamily="34" charset="-120"/>
              </a:rPr>
              <a:t> Only a straight line (a hyperplane)</a:t>
            </a: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hidden layers compose into one affine map z = W′x + b′; the sigmoid is monotone, so ŷ &gt; 0.5 exactly when z &gt; 0. The boundary is a hyperplane whatever the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txBody>
          <a:bodyPr/>
          <a:p/>
        </p:txBody>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(128, 784)</a:t>
            </a: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PyTorch stores weights as (out_features, in_features) — one row per output unit, the maths layout — and computes x @ W.T + b.</a:t>
            </a:r>
            <a:endParaRPr lang="en-US" sz="1500" dirty="0"/>
          </a:p>
        </p:txBody>
      </p:sp>
      <p:sp>
        <p:nvSpPr>
          <p:cNvPr id="13" name="Shape 10"/>
          <p:cNvSpPr/>
          <p:nvPr/>
        </p:nvSpPr>
        <p:spPr>
          <a:xfrm>
            <a:off x="548640" y="3817620"/>
            <a:ext cx="457200" cy="457200"/>
          </a:xfrm>
          <a:prstGeom prst="ellipse">
            <a:avLst/>
          </a:prstGeom>
          <a:solidFill>
            <a:srgbClr val="2B3A4F"/>
          </a:solidFill>
          <a:ln/>
        </p:spPr>
        <p:txBody>
          <a:bodyPr/>
          <a:p/>
        </p:txBody>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Remove Softmax; pass logits to CrossEntropyLoss</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inspected model adds Softmax before CrossEntropyLoss, which already applies log-softmax. The bug gives a 10-class loss floor near 1.46. The code, not the loss plateau alone, identifies the error.</a:t>
            </a:r>
            <a:endParaRPr lang="en-US" sz="1500" dirty="0"/>
          </a:p>
        </p:txBody>
      </p:sp>
      <p:sp>
        <p:nvSpPr>
          <p:cNvPr id="17" name="Shape 14"/>
          <p:cNvSpPr/>
          <p:nvPr/>
        </p:nvSpPr>
        <p:spPr>
          <a:xfrm>
            <a:off x="548640" y="4994910"/>
            <a:ext cx="457200" cy="457200"/>
          </a:xfrm>
          <a:prstGeom prst="ellipse">
            <a:avLst/>
          </a:prstGeom>
          <a:solidFill>
            <a:srgbClr val="2B3A4F"/>
          </a:solidFill>
          <a:ln/>
        </p:spPr>
      </p:sp>
      <p:sp>
        <p:nvSpPr>
          <p:cNvPr id="18" name="Text 15"/>
          <p:cNvSpPr txBox="1"/>
          <p:nvPr/>
        </p:nvSpPr>
        <p:spPr>
          <a:xfrm>
            <a:off x="548640" y="499491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1234440" y="494919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Exactly 0</a:t>
            </a:r>
            <a:endParaRPr lang="en-US" sz="1800" dirty="0"/>
          </a:p>
        </p:txBody>
      </p:sp>
      <p:sp>
        <p:nvSpPr>
          <p:cNvPr id="20" name="Text 17"/>
          <p:cNvSpPr txBox="1"/>
          <p:nvPr/>
        </p:nvSpPr>
        <p:spPr>
          <a:xfrm>
            <a:off x="1234440" y="533323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(5–7)</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a:t>
            </a:r>
            <a:pPr indent="0" marL="0">
              <a:buNone/>
            </a:pPr>
            <a:r>
              <a:rPr lang="en-US" sz="1800" b="1" dirty="0">
                <a:solidFill>
                  <a:srgbClr val="17202E"/>
                </a:solidFill>
                <a:latin typeface="Calibri" pitchFamily="34" charset="0"/>
                <a:ea typeface="Calibri" pitchFamily="34" charset="-122"/>
                <a:cs typeface="Calibri" pitchFamily="34" charset="-120"/>
              </a:rPr>
              <a:t> It shrinks by about √2 per layer and vanishes</a:t>
            </a: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Xavier with n_in = n_out = 256 gives Var(w) = 1/256, half of He's 2/256. ReLU halves the mean square per layer, so the std falls by √2 per layer: ≈ (1/√2)²⁹ ≈ 4×10⁻⁵ after 30 layers. Fix: He initialization.</a:t>
            </a:r>
            <a:endParaRPr lang="en-US" sz="1500" dirty="0"/>
          </a:p>
        </p:txBody>
      </p:sp>
      <p:sp>
        <p:nvSpPr>
          <p:cNvPr id="9" name="Shape 6"/>
          <p:cNvSpPr/>
          <p:nvPr/>
        </p:nvSpPr>
        <p:spPr>
          <a:xfrm>
            <a:off x="548640" y="3032760"/>
            <a:ext cx="457200" cy="457200"/>
          </a:xfrm>
          <a:prstGeom prst="ellipse">
            <a:avLst/>
          </a:prstGeom>
          <a:solidFill>
            <a:srgbClr val="2B3A4F"/>
          </a:solidFill>
          <a:ln/>
        </p:spPr>
        <p:txBody>
          <a:bodyPr/>
          <a:p/>
        </p:txBody>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 xml:space="preserve">Answer B: </a:t>
            </a:r>
            <a:pPr indent="0" marL="0">
              <a:buNone/>
            </a:pPr>
            <a:r>
              <a:rPr lang="en-US" sz="1800" b="1" dirty="0">
                <a:solidFill>
                  <a:srgbClr val="17202E"/>
                </a:solidFill>
                <a:latin typeface="Calibri" pitchFamily="34" charset="0"/>
                <a:ea typeface="Calibri" pitchFamily="34" charset="-122"/>
                <a:cs typeface="Calibri" pitchFamily="34" charset="-120"/>
              </a:rPr>
              <a:t>2 / 25 = 0.08 — the steepest direction sets the limit</a:t>
            </a: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 a quadratic, gradient descent converges only if η &lt; 2/λ_max; rotating the ravine does not change its curvatures. Just below 0.08 the gentle direction shrinks only by 0.92 per step: the crawl that momentum and Adam address.</a:t>
            </a:r>
            <a:endParaRPr lang="en-US" sz="1500" dirty="0"/>
          </a:p>
        </p:txBody>
      </p:sp>
      <p:sp>
        <p:nvSpPr>
          <p:cNvPr id="13" name="Shape 10"/>
          <p:cNvSpPr/>
          <p:nvPr/>
        </p:nvSpPr>
        <p:spPr>
          <a:xfrm>
            <a:off x="548640" y="4602480"/>
            <a:ext cx="457200" cy="457200"/>
          </a:xfrm>
          <a:prstGeom prst="ellipse">
            <a:avLst/>
          </a:prstGeom>
          <a:solidFill>
            <a:srgbClr val="2B3A4F"/>
          </a:solidFill>
          <a:ln/>
        </p:spPr>
        <p:txBody>
          <a:bodyPr/>
          <a:p/>
        </p:txBody>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Evaluate transfer learning with a related pretrained model</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Given checked evaluation data and a relevant pretrained representation, transfer learning is a promising experiment. It is not guaranteed to outperform augmentation or other remedies.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PyTorch: a batch stores examples as rows, so nn.Linear computes x @ W.T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C8571B"/>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today: backprop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txBody>
          <a:bodyPr/>
          <a:p/>
        </p:txBody>
      </p:sp>
      <p:sp>
        <p:nvSpPr>
          <p:cNvPr id="6" name="Shape 3"/>
          <p:cNvSpPr/>
          <p:nvPr/>
        </p:nvSpPr>
        <p:spPr>
          <a:xfrm>
            <a:off x="969264" y="2980944"/>
            <a:ext cx="256032" cy="256032"/>
          </a:xfrm>
          <a:prstGeom prst="ellipse">
            <a:avLst/>
          </a:prstGeom>
          <a:solidFill>
            <a:srgbClr val="0F7C82"/>
          </a:solidFill>
          <a:ln/>
        </p:spPr>
        <p:txBody>
          <a:bodyPr/>
          <a:p/>
        </p:txBody>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txBody>
          <a:bodyPr/>
          <a:p/>
        </p:txBody>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txBody>
          <a:bodyPr/>
          <a:p/>
        </p:txBody>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txBody>
          <a:bodyPr/>
          <a:p/>
        </p:txBody>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txBody>
          <a:bodyPr/>
          <a:p/>
        </p:txBody>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C8571B"/>
          </a:solidFill>
          <a:ln/>
        </p:spPr>
        <p:txBody>
          <a:bodyPr/>
          <a:p/>
        </p:txBody>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txBody>
          <a:bodyPr/>
          <a:p/>
        </p:txBody>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txBody>
          <a:bodyPr/>
          <a:p/>
        </p:txBody>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attention</a:t>
            </a:r>
            <a:endParaRPr lang="en-US" sz="1300" dirty="0"/>
          </a:p>
        </p:txBody>
      </p:sp>
      <p:sp>
        <p:nvSpPr>
          <p:cNvPr id="38" name="Shape 35"/>
          <p:cNvSpPr/>
          <p:nvPr/>
        </p:nvSpPr>
        <p:spPr>
          <a:xfrm>
            <a:off x="9855606" y="2980944"/>
            <a:ext cx="256032" cy="256032"/>
          </a:xfrm>
          <a:prstGeom prst="ellipse">
            <a:avLst/>
          </a:prstGeom>
          <a:solidFill>
            <a:srgbClr val="0F7C82"/>
          </a:solidFill>
          <a:ln/>
        </p:spPr>
        <p:txBody>
          <a:bodyPr/>
          <a:p/>
        </p:txBody>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txBody>
          <a:bodyPr/>
          <a:p/>
        </p:txBody>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txBody>
          <a:bodyPr/>
          <a:p/>
        </p:txBody>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once data (ImageNet), GPUs and training techniques (ReLU, better initialization, dropout, later normalization and residuals) caught up.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txBody>
          <a:bodyPr/>
          <a:p/>
        </p:txBody>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txBody>
          <a:bodyPr/>
          <a:p/>
        </p:txBody>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tabular foundation models such as TabPFN-2.5 (2025) are competitive on many datasets up to ~50k rows.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txBody>
          <a:bodyPr/>
          <a:p/>
        </p:txBody>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txBody>
          <a:bodyPr/>
          <a:p/>
        </p:txBody>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txBody>
          <a:bodyPr/>
          <a:p/>
        </p:txBody>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10⁻²</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BEADF"/>
          </a:solidFill>
          <a:ln/>
        </p:spPr>
        <p:txBody>
          <a:bodyPr/>
          <a:p/>
        </p:txBody>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C8571B"/>
                </a:solidFill>
                <a:latin typeface="Cambria" pitchFamily="34" charset="0"/>
                <a:ea typeface="Cambria" pitchFamily="34" charset="-122"/>
                <a:cs typeface="Cambria" pitchFamily="34" charset="-120"/>
              </a:rPr>
              <a:t>&gt; 10⁻²</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probably a 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 · rules of thumb (CS231n); with kinks (ReLU at 0), up to 10⁻⁴ is usually fine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B  ·  PREVIEW OF SESSION 2</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Session 2 preview</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B1  Batch normalization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B2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B3  Double descent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B4  PyTorch losses and targets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B5  Six silent training mistakes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B6  Scheduler stepping</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B7  A modern training recipe</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B1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txBody>
          <a:bodyPr/>
          <a:p/>
        </p:txBody>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txBody>
          <a:bodyPr/>
          <a:p/>
        </p:txBody>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MODEL.TRAIN()</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txBody>
          <a:bodyPr/>
          <a:p/>
        </p:txBody>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MODEL.EVAL()</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txBody>
          <a:bodyPr/>
          <a:p/>
        </p:txBody>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 (one explanation)</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200" dirty="0">
                <a:solidFill>
                  <a:srgbClr val="E6EAF0"/>
                </a:solidFill>
                <a:latin typeface="Consolas" pitchFamily="34" charset="0"/>
                <a:ea typeface="Consolas" pitchFamily="34" charset="-122"/>
                <a:cs typeface="Consolas" pitchFamily="34" charset="-120"/>
              </a:rPr>
              <a:t xml:space="preserve">conv → batch norm → ReLU</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nn.Conv2d(64, 128, 3, padding=1, bias=False)</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bias off: BatchNorm's β already shifts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nn.BatchNorm2d(128)     learns γ, β</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nn.ReLU()</a:t>
            </a:r>
            <a:endParaRPr lang="en-US" sz="12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B2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which axes, which statistics</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Double descent: test error can fall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txBody>
          <a:bodyPr/>
          <a:p/>
        </p:txBody>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txBody>
          <a:bodyPr/>
          <a:p/>
        </p:txBody>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txBody>
          <a:bodyPr/>
          <a:p/>
        </p:txBody>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exact fits exist; the minimum-norm one can generalize again.</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MEDIAN OF 30 RUNS · small_figures.py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B4 · PYTORCH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PyTorch 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nn.MSELoss()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nn.HuberLoss()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nn.BCEWithLogitsLoss()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nn.CrossEntropyLoss()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int64, or (m, K) float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nn.BCEWithLogitsLoss()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Never put sigmoid or softmax before these losses.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B5 · PYTORCH: SILENT BUGS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training mistakes that may not raise an exception</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txBody>
          <a:bodyPr/>
          <a:p/>
        </p:txBody>
      </p:sp>
      <p:sp>
        <p:nvSpPr>
          <p:cNvPr id="6" name="Shape 3"/>
          <p:cNvSpPr/>
          <p:nvPr/>
        </p:nvSpPr>
        <p:spPr>
          <a:xfrm>
            <a:off x="749808" y="1618488"/>
            <a:ext cx="420624" cy="420624"/>
          </a:xfrm>
          <a:prstGeom prst="ellipse">
            <a:avLst/>
          </a:prstGeom>
          <a:solidFill>
            <a:srgbClr val="C8571B"/>
          </a:solidFill>
          <a:ln/>
        </p:spPr>
        <p:txBody>
          <a:bodyPr/>
          <a:p/>
        </p:txBody>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before CrossEntropyLoss</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txBody>
          <a:bodyPr/>
          <a:p/>
        </p:txBody>
      </p:sp>
      <p:sp>
        <p:nvSpPr>
          <p:cNvPr id="11" name="Shape 8"/>
          <p:cNvSpPr/>
          <p:nvPr/>
        </p:nvSpPr>
        <p:spPr>
          <a:xfrm>
            <a:off x="6391656" y="1618488"/>
            <a:ext cx="420624" cy="420624"/>
          </a:xfrm>
          <a:prstGeom prst="ellipse">
            <a:avLst/>
          </a:prstGeom>
          <a:solidFill>
            <a:srgbClr val="C8571B"/>
          </a:solidFill>
          <a:ln/>
        </p:spPr>
        <p:txBody>
          <a:bodyPr/>
          <a:p/>
        </p:txBody>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Unintended gradient accumulation</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zero_grad() omitted: gradients sum across steps (fine only when intended).</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txBody>
          <a:bodyPr/>
          <a:p/>
        </p:txBody>
      </p:sp>
      <p:sp>
        <p:nvSpPr>
          <p:cNvPr id="16" name="Shape 13"/>
          <p:cNvSpPr/>
          <p:nvPr/>
        </p:nvSpPr>
        <p:spPr>
          <a:xfrm>
            <a:off x="749808" y="3191256"/>
            <a:ext cx="420624" cy="420624"/>
          </a:xfrm>
          <a:prstGeom prst="ellipse">
            <a:avLst/>
          </a:prstGeom>
          <a:solidFill>
            <a:srgbClr val="C8571B"/>
          </a:solidFill>
          <a:ln/>
        </p:spPr>
        <p:txBody>
          <a:bodyPr/>
          <a:p/>
        </p:txBody>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model.eval()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txBody>
          <a:bodyPr/>
          <a:p/>
        </p:txBody>
      </p:sp>
      <p:sp>
        <p:nvSpPr>
          <p:cNvPr id="21" name="Shape 18"/>
          <p:cNvSpPr/>
          <p:nvPr/>
        </p:nvSpPr>
        <p:spPr>
          <a:xfrm>
            <a:off x="6391656" y="3191256"/>
            <a:ext cx="420624" cy="420624"/>
          </a:xfrm>
          <a:prstGeom prst="ellipse">
            <a:avLst/>
          </a:prstGeom>
          <a:solidFill>
            <a:srgbClr val="C8571B"/>
          </a:solidFill>
          <a:ln/>
        </p:spPr>
        <p:txBody>
          <a:bodyPr/>
          <a:p/>
        </p:txBody>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kept in a Python list</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registered: never updated. Use nn.ModuleList.</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txBody>
          <a:bodyPr/>
          <a:p/>
        </p:txBody>
      </p:sp>
      <p:sp>
        <p:nvSpPr>
          <p:cNvPr id="26" name="Shape 23"/>
          <p:cNvSpPr/>
          <p:nvPr/>
        </p:nvSpPr>
        <p:spPr>
          <a:xfrm>
            <a:off x="749808" y="4764024"/>
            <a:ext cx="420624" cy="420624"/>
          </a:xfrm>
          <a:prstGeom prst="ellipse">
            <a:avLst/>
          </a:prstGeom>
          <a:solidFill>
            <a:srgbClr val="C8571B"/>
          </a:solidFill>
          <a:ln/>
        </p:spPr>
        <p:txBody>
          <a:bodyPr/>
          <a:p/>
        </p:txBody>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txBody>
          <a:bodyPr/>
          <a:p/>
        </p:txBody>
      </p:sp>
      <p:sp>
        <p:nvSpPr>
          <p:cNvPr id="31" name="Shape 28"/>
          <p:cNvSpPr/>
          <p:nvPr/>
        </p:nvSpPr>
        <p:spPr>
          <a:xfrm>
            <a:off x="6391656" y="4764024"/>
            <a:ext cx="420624" cy="420624"/>
          </a:xfrm>
          <a:prstGeom prst="ellipse">
            <a:avLst/>
          </a:prstGeom>
          <a:solidFill>
            <a:srgbClr val="C8571B"/>
          </a:solidFill>
          <a:ln/>
        </p:spPr>
        <p:txBody>
          <a:bodyPr/>
          <a:p/>
        </p:txBody>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MSELoss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PyTorch only warns.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B6 · SCHEDULERS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Step each scheduler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 .step()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 (LambdaLR)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CosineAnnealingLR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(T_max = epochs) or per batch (T_max = total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MultiStepLR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ReduceLROnPlateau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with the metric: sched.step(val_loss)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B7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training recipe (illustrative settings)</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txBody>
          <a:bodyPr/>
          <a:p/>
        </p:txBody>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optimizer ← AdamW, lr 3e-4, weight decay 0.05</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8D99AB"/>
                </a:solidFill>
                <a:latin typeface="Consolas" pitchFamily="34" charset="0"/>
                <a:ea typeface="Consolas" pitchFamily="34" charset="-122"/>
                <a:cs typeface="Consolas" pitchFamily="34" charset="-120"/>
              </a:rPr>
              <a:t xml:space="preserve"># torch.optim.AdamW</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scheduler ← one-cycle: warm up 10 %, cosine decay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8D99AB"/>
                </a:solidFill>
                <a:latin typeface="Consolas" pitchFamily="34" charset="0"/>
                <a:ea typeface="Consolas" pitchFamily="34" charset="-122"/>
                <a:cs typeface="Consolas" pitchFamily="34" charset="-120"/>
              </a:rPr>
              <a:t xml:space="preserve"># lr_scheduler.OneCycleLR(pct_start=0.1)</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loss_fn   ← cross-entropy, label smoothing 0.1</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8D99AB"/>
                </a:solidFill>
                <a:latin typeface="Consolas" pitchFamily="34" charset="0"/>
                <a:ea typeface="Consolas" pitchFamily="34" charset="-122"/>
                <a:cs typeface="Consolas" pitchFamily="34" charset="-120"/>
              </a:rPr>
              <a:t xml:space="preserve"># nn.CrossEntropyLoss(label_smoothing=0.1)</a:t>
            </a:r>
            <a:endParaRPr lang="en-US" sz="1400" dirty="0"/>
          </a:p>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model.train()</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mini-batch (x,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optimizer.zero_grad()</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loss_fn(model(x), y).backward()</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clip gradient norm to 1.0  </a:t>
            </a:r>
            <a:r>
              <a:rPr lang="en-US" sz="1400" dirty="0">
                <a:solidFill>
                  <a:srgbClr val="8D99AB"/>
                </a:solidFill>
                <a:latin typeface="Consolas" pitchFamily="34" charset="0"/>
                <a:ea typeface="Consolas" pitchFamily="34" charset="-122"/>
                <a:cs typeface="Consolas" pitchFamily="34" charset="-120"/>
              </a:rPr>
              <a:t xml:space="preserve"># clip_grad_norm_</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optimizer.step(); scheduler.step()  </a:t>
            </a:r>
            <a:r>
              <a:rPr lang="en-US" sz="1400" dirty="0">
                <a:solidFill>
                  <a:srgbClr val="8D99AB"/>
                </a:solidFill>
                <a:latin typeface="Consolas" pitchFamily="34" charset="0"/>
                <a:ea typeface="Consolas" pitchFamily="34" charset="-122"/>
                <a:cs typeface="Consolas" pitchFamily="34" charset="-120"/>
              </a:rPr>
              <a:t xml:space="preserve"># every batch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model.eval(); val ← evaluate(model)  </a:t>
            </a:r>
            <a:r>
              <a:rPr lang="en-US" sz="1400" dirty="0">
                <a:solidFill>
                  <a:srgbClr val="8D99AB"/>
                </a:solidFill>
                <a:latin typeface="Consolas" pitchFamily="34" charset="0"/>
                <a:ea typeface="Consolas" pitchFamily="34" charset="-122"/>
                <a:cs typeface="Consolas" pitchFamily="34" charset="-120"/>
              </a:rPr>
              <a:t xml:space="preserve"># no_grad</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if</a:t>
            </a:r>
            <a:r>
              <a:rPr lang="en-US" sz="1400" dirty="0">
                <a:solidFill>
                  <a:srgbClr val="E6EAF0"/>
                </a:solidFill>
                <a:latin typeface="Consolas" pitchFamily="34" charset="0"/>
                <a:ea typeface="Consolas" pitchFamily="34" charset="-122"/>
                <a:cs typeface="Consolas" pitchFamily="34" charset="-120"/>
              </a:rPr>
              <a:t xml:space="preserve"> val &lt; best: save checkpoint  </a:t>
            </a:r>
            <a:r>
              <a:rPr lang="en-US" sz="1400" dirty="0">
                <a:solidFill>
                  <a:srgbClr val="8D99AB"/>
                </a:solidFill>
                <a:latin typeface="Consolas" pitchFamily="34" charset="0"/>
                <a:ea typeface="Consolas" pitchFamily="34" charset="-122"/>
                <a:cs typeface="Consolas" pitchFamily="34" charset="-120"/>
              </a:rPr>
              <a:t xml:space="preserve"># torch.save(...)</a:t>
            </a:r>
            <a:endParaRPr lang="en-US" sz="14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txBody>
          <a:bodyPr/>
          <a:p/>
        </p:txBody>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Every batch; peak at 10 %.</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Krizhevsky, Sutskever &amp; Hinton (2012). ImageNet classification with deep CNNs. NeurIPS.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Prior Labs (2025). TabPFN-2.5. arXiv:2511.08667.</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Cohen et al. (2021). Gradient descent on neural networks typically occurs at the edge of stability. ICLR.</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Liu et al. (2020). On the variance of the adaptive learning rate and beyond (RAdam).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 Zhang, Ren &amp; Sun (2016b). Identity mappings in deep residual networks. ECCV.</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