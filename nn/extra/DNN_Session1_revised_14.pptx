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a80ca90-c347-fa6b-5564-64a755922e1e}">
          <p14:sldIdLst>
            <p14:sldId id="256"/>
            <p14:sldId id="257"/>
            <p14:sldId id="258"/>
          </p14:sldIdLst>
        </p14:section>
        <p14:section name="Part 1 · What a network computes" id="{5e4090ee-6860-f5e4-96e7-928ddeb39108}">
          <p14:sldIdLst>
            <p14:sldId id="259"/>
            <p14:sldId id="260"/>
            <p14:sldId id="261"/>
            <p14:sldId id="262"/>
            <p14:sldId id="263"/>
            <p14:sldId id="264"/>
            <p14:sldId id="265"/>
            <p14:sldId id="266"/>
            <p14:sldId id="267"/>
            <p14:sldId id="268"/>
            <p14:sldId id="269"/>
            <p14:sldId id="270"/>
            <p14:sldId id="271"/>
            <p14:sldId id="272"/>
            <p14:sldId id="273"/>
            <p14:sldId id="274"/>
          </p14:sldIdLst>
        </p14:section>
        <p14:section name="Part 2 · How it learns" id="{dbceeb57-7472-0bc0-5590-c09e34510267}">
          <p14:sldIdLst>
            <p14:sldId id="275"/>
            <p14:sldId id="276"/>
            <p14:sldId id="277"/>
            <p14:sldId id="278"/>
            <p14:sldId id="279"/>
            <p14:sldId id="280"/>
            <p14:sldId id="281"/>
            <p14:sldId id="282"/>
            <p14:sldId id="283"/>
            <p14:sldId id="284"/>
            <p14:sldId id="285"/>
          </p14:sldIdLst>
        </p14:section>
        <p14:section name="Part 3 · Backpropagation and curves" id="{58086022-7da1-3b0b-6098-a869d152af48}">
          <p14:sldIdLst>
            <p14:sldId id="286"/>
            <p14:sldId id="287"/>
            <p14:sldId id="288"/>
            <p14:sldId id="289"/>
            <p14:sldId id="290"/>
            <p14:sldId id="291"/>
            <p14:sldId id="292"/>
            <p14:sldId id="293"/>
            <p14:sldId id="294"/>
            <p14:sldId id="295"/>
            <p14:sldId id="296"/>
            <p14:sldId id="297"/>
            <p14:sldId id="298"/>
            <p14:sldId id="299"/>
            <p14:sldId id="300"/>
            <p14:sldId id="301"/>
            <p14:sldId id="302"/>
            <p14:sldId id="303"/>
          </p14:sldIdLst>
        </p14:section>
        <p14:section name="Appendix" id="{c3ff6ab3-0c93-6aa6-b4a8-1c259ba43037}">
          <p14:sldIdLst>
            <p14:sldId id="304"/>
            <p14:sldId id="305"/>
            <p14:sldId id="306"/>
            <p14:sldId id="307"/>
            <p14:sldId id="308"/>
            <p14:sldId id="309"/>
            <p14:sldId id="310"/>
            <p14:sldId id="311"/>
            <p14:sldId id="312"/>
            <p14:sldId id="313"/>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parameters</c:v>
                </c:pt>
              </c:strCache>
            </c:strRef>
          </c:tx>
          <c:spPr>
            <a:solidFill>
              <a:srgbClr val="0E7C7B"/>
            </a:solidFill>
            <a:effectLst/>
          </c:spPr>
          <c:invertIfNegative val="0"/>
          <c:dLbls>
            <c:numFmt formatCode="#,##0" sourceLinked="0"/>
            <c:txPr>
              <a:bodyPr/>
              <a:lstStyle/>
              <a:p>
                <a:pPr>
                  <a:defRPr b="0" i="0" strike="noStrike" sz="13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0E7C7B"/>
              </a:solidFill>
              <a:effectLst/>
            </c:spPr>
          </c:dPt>
          <c:dPt>
            <c:idx val="1"/>
            <c:invertIfNegative val="0"/>
            <c:bubble3D val="0"/>
            <c:spPr>
              <a:solidFill>
                <a:srgbClr val="6FB3B0"/>
              </a:solidFill>
              <a:effectLst/>
            </c:spPr>
          </c:dPt>
          <c:dPt>
            <c:idx val="2"/>
            <c:invertIfNegative val="0"/>
            <c:bubble3D val="0"/>
            <c:spPr>
              <a:solidFill>
                <a:srgbClr val="A9D3D1"/>
              </a:solidFill>
              <a:effectLst/>
            </c:spPr>
          </c:dPt>
          <c:cat>
            <c:multiLvlStrRef>
              <c:f>Sheet1!$A$2:$A$4</c:f>
              <c:multiLvlStrCache>
                <c:ptCount val="3"/>
                <c:lvl>
                  <c:pt idx="0">
                    <c:v>Layer 1 (784→128)</c:v>
                  </c:pt>
                  <c:pt idx="1">
                    <c:v>Layer 2 (128→64)</c:v>
                  </c:pt>
                  <c:pt idx="2">
                    <c:v>Layer 3 (64→10)</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300" u="none">
                  <a:solidFill>
                    <a:srgbClr val="16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202E"/>
                </a:solidFill>
                <a:latin typeface="+mn-lt"/>
              </a:defRPr>
            </a:pPr>
            <a:endParaRPr lang="en-US"/>
          </a:p>
        </c:txPr>
        <c:crossAx val="2094734552"/>
        <c:crosses val="autoZero"/>
        <c:auto val="1"/>
        <c:lblAlgn val="ctr"/>
        <c:noMultiLvlLbl val="1"/>
      </c:catAx>
      <c:valAx>
        <c:axId val="2094734552"/>
        <c:scaling>
          <c:orientation val="minMax"/>
          <c:max val="125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logits z (any real number)</a:t>
            </a:r>
          </a:p>
        </c:rich>
      </c:tx>
      <c:layout/>
      <c:overlay val="0"/>
    </c:title>
    <c:autoTitleDeleted val="0"/>
    <c:plotArea>
      <c:layout/>
      <c:barChart>
        <c:barDir val="col"/>
        <c:grouping val="clustered"/>
        <c:varyColors val="0"/>
        <c:ser>
          <c:idx val="0"/>
          <c:order val="0"/>
          <c:tx>
            <c:strRef>
              <c:f>Sheet1!$B$1</c:f>
              <c:strCache>
                <c:ptCount val="1"/>
                <c:pt idx="0">
                  <c:v>logits</c:v>
                </c:pt>
              </c:strCache>
            </c:strRef>
          </c:tx>
          <c:spPr>
            <a:solidFill>
              <a:srgbClr val="8A94A3"/>
            </a:solidFill>
            <a:effectLst/>
          </c:spPr>
          <c:invertIfNegative val="0"/>
          <c:dLbls>
            <c:numFmt formatCode="0.0" sourceLinked="0"/>
            <c:txPr>
              <a:bodyPr/>
              <a:lstStyle/>
              <a:p>
                <a:pPr>
                  <a:defRPr b="0" i="0" strike="noStrike" sz="14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class 1</c:v>
                  </c:pt>
                  <c:pt idx="1">
                    <c:v>class 2</c:v>
                  </c:pt>
                  <c:pt idx="2">
                    <c:v>class 3</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62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16202E"/>
                </a:solidFill>
                <a:latin typeface="+mn-lt"/>
              </a:defRPr>
            </a:pPr>
            <a:endParaRPr lang="en-US"/>
          </a:p>
        </c:txPr>
        <c:crossAx val="2094734552"/>
        <c:crosses val="autoZero"/>
        <c:auto val="1"/>
        <c:lblAlgn val="ctr"/>
        <c:noMultiLvlLbl val="1"/>
      </c:catAx>
      <c:valAx>
        <c:axId val="2094734552"/>
        <c:scaling>
          <c:orientation val="minMax"/>
          <c:max val="2.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probabilities p (sum to 1)</a:t>
            </a:r>
          </a:p>
        </c:rich>
      </c:tx>
      <c:layout/>
      <c:overlay val="0"/>
    </c:title>
    <c:autoTitleDeleted val="0"/>
    <c:plotArea>
      <c:layout/>
      <c:barChart>
        <c:barDir val="col"/>
        <c:grouping val="clustered"/>
        <c:varyColors val="0"/>
        <c:ser>
          <c:idx val="0"/>
          <c:order val="0"/>
          <c:tx>
            <c:strRef>
              <c:f>Sheet1!$B$1</c:f>
              <c:strCache>
                <c:ptCount val="1"/>
                <c:pt idx="0">
                  <c:v>p</c:v>
                </c:pt>
              </c:strCache>
            </c:strRef>
          </c:tx>
          <c:spPr>
            <a:solidFill>
              <a:srgbClr val="0E7C7B"/>
            </a:solidFill>
            <a:effectLst/>
          </c:spPr>
          <c:invertIfNegative val="0"/>
          <c:dLbls>
            <c:numFmt formatCode="0.00" sourceLinked="0"/>
            <c:txPr>
              <a:bodyPr/>
              <a:lstStyle/>
              <a:p>
                <a:pPr>
                  <a:defRPr b="0" i="0" strike="noStrike" sz="14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class 1</c:v>
                  </c:pt>
                  <c:pt idx="1">
                    <c:v>class 2</c:v>
                  </c:pt>
                  <c:pt idx="2">
                    <c:v>class 3</c:v>
                  </c:pt>
                </c:lvl>
              </c:multiLvlStrCache>
            </c:multiLvlStrRef>
          </c:cat>
          <c:val>
            <c:numRef>
              <c:f>Sheet1!$B$2:$B$4</c:f>
              <c:numCache>
                <c:formatCode>General</c:formatCode>
                <c:ptCount val="3"/>
                <c:pt idx="0">
                  <c:v>0.66</c:v>
                </c:pt>
                <c:pt idx="1">
                  <c:v>0.24</c:v>
                </c:pt>
                <c:pt idx="2">
                  <c:v>0.1</c:v>
                </c:pt>
              </c:numCache>
            </c:numRef>
          </c:val>
        </c:ser>
        <c:dLbls>
          <c:numFmt formatCode="0.00" sourceLinked="0"/>
          <c:txPr>
            <a:bodyPr/>
            <a:lstStyle/>
            <a:p>
              <a:pPr>
                <a:defRPr b="0" i="0" strike="noStrike" sz="1400" u="none">
                  <a:solidFill>
                    <a:srgbClr val="162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16202E"/>
                </a:solidFill>
                <a:latin typeface="+mn-lt"/>
              </a:defRPr>
            </a:pPr>
            <a:endParaRPr lang="en-US"/>
          </a:p>
        </c:txPr>
        <c:crossAx val="2094734552"/>
        <c:crosses val="autoZero"/>
        <c:auto val="1"/>
        <c:lblAlgn val="ctr"/>
        <c:noMultiLvlLbl val="1"/>
      </c:catAx>
      <c:valAx>
        <c:axId val="2094734552"/>
        <c:scaling>
          <c:orientation val="minMax"/>
          <c:max val="0.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E7C7B"/>
            </a:solidFill>
            <a:ln w="31750"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0.420058935880661</c:v>
                </c:pt>
                <c:pt idx="1">
                  <c:v>0.3610162138938904</c:v>
                </c:pt>
                <c:pt idx="2">
                  <c:v>0.3292749226093292</c:v>
                </c:pt>
                <c:pt idx="3">
                  <c:v>0.3068712651729584</c:v>
                </c:pt>
                <c:pt idx="4">
                  <c:v>0.29281488060951233</c:v>
                </c:pt>
                <c:pt idx="5">
                  <c:v>0.2652392089366913</c:v>
                </c:pt>
                <c:pt idx="6">
                  <c:v>0.2597494423389435</c:v>
                </c:pt>
                <c:pt idx="7">
                  <c:v>0.23779861629009247</c:v>
                </c:pt>
                <c:pt idx="8">
                  <c:v>0.22608765959739685</c:v>
                </c:pt>
                <c:pt idx="9">
                  <c:v>0.21535620093345642</c:v>
                </c:pt>
                <c:pt idx="10">
                  <c:v>0.20977172255516052</c:v>
                </c:pt>
                <c:pt idx="11">
                  <c:v>0.20662923157215118</c:v>
                </c:pt>
                <c:pt idx="12">
                  <c:v>0.1998322755098343</c:v>
                </c:pt>
                <c:pt idx="13">
                  <c:v>0.19248148798942566</c:v>
                </c:pt>
                <c:pt idx="14">
                  <c:v>0.19305184483528137</c:v>
                </c:pt>
                <c:pt idx="15">
                  <c:v>0.17276714742183685</c:v>
                </c:pt>
                <c:pt idx="16">
                  <c:v>0.16787058115005493</c:v>
                </c:pt>
                <c:pt idx="17">
                  <c:v>0.16596123576164246</c:v>
                </c:pt>
                <c:pt idx="18">
                  <c:v>0.15116992592811584</c:v>
                </c:pt>
                <c:pt idx="19">
                  <c:v>0.1451113373041153</c:v>
                </c:pt>
              </c:numCache>
            </c:numRef>
          </c:val>
          <c:smooth val="0"/>
        </c:ser>
        <c:ser>
          <c:idx val="1"/>
          <c:order val="1"/>
          <c:tx>
            <c:strRef>
              <c:f>Sheet1!$C$1</c:f>
              <c:strCache>
                <c:ptCount val="1"/>
                <c:pt idx="0">
                  <c:v>validation loss</c:v>
                </c:pt>
              </c:strCache>
            </c:strRef>
          </c:tx>
          <c:spPr>
            <a:solidFill>
              <a:srgbClr val="16202E"/>
            </a:solidFill>
            <a:ln w="31750"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0.42447608709335327</c:v>
                </c:pt>
                <c:pt idx="1">
                  <c:v>0.3767378330230713</c:v>
                </c:pt>
                <c:pt idx="2">
                  <c:v>0.35595643520355225</c:v>
                </c:pt>
                <c:pt idx="3">
                  <c:v>0.3400469124317169</c:v>
                </c:pt>
                <c:pt idx="4">
                  <c:v>0.3368411064147949</c:v>
                </c:pt>
                <c:pt idx="5">
                  <c:v>0.3148050606250763</c:v>
                </c:pt>
                <c:pt idx="6">
                  <c:v>0.3160090446472168</c:v>
                </c:pt>
                <c:pt idx="7">
                  <c:v>0.3043254017829895</c:v>
                </c:pt>
                <c:pt idx="8">
                  <c:v>0.2980404794216156</c:v>
                </c:pt>
                <c:pt idx="9">
                  <c:v>0.29894697666168213</c:v>
                </c:pt>
                <c:pt idx="10">
                  <c:v>0.3035486340522766</c:v>
                </c:pt>
                <c:pt idx="11">
                  <c:v>0.30350756645202637</c:v>
                </c:pt>
                <c:pt idx="12">
                  <c:v>0.3057040572166443</c:v>
                </c:pt>
                <c:pt idx="13">
                  <c:v>0.3101193308830261</c:v>
                </c:pt>
                <c:pt idx="14">
                  <c:v>0.3155873417854309</c:v>
                </c:pt>
                <c:pt idx="15">
                  <c:v>0.30180248618125916</c:v>
                </c:pt>
                <c:pt idx="16">
                  <c:v>0.3093045949935913</c:v>
                </c:pt>
                <c:pt idx="17">
                  <c:v>0.3169984817504883</c:v>
                </c:pt>
                <c:pt idx="18">
                  <c:v>0.3185045123100281</c:v>
                </c:pt>
                <c:pt idx="19">
                  <c:v>0.31534531712532043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675"/>
                    </a:solidFill>
                    <a:latin typeface="Arial"/>
                  </a:defRPr>
                </a:pPr>
                <a:r>
                  <a:rPr sz="12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5"/>
                </a:solidFill>
                <a:latin typeface="+mn-lt"/>
              </a:defRPr>
            </a:pPr>
            <a:endParaRPr lang="en-US"/>
          </a:p>
        </c:txPr>
        <c:crossAx val="2094734552"/>
        <c:crosses val="autoZero"/>
        <c:auto val="1"/>
        <c:lblAlgn val="ctr"/>
        <c:noMultiLvlLbl val="1"/>
        <c:tickLblSkip val="1"/>
      </c:catAx>
      <c:valAx>
        <c:axId val="2094734552"/>
        <c:scaling>
          <c:orientation val="minMax"/>
          <c:max val="0.5"/>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6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Accuracy (%)</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E7C7B"/>
            </a:solidFill>
            <a:ln w="31750"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84.92727272727272</c:v>
                </c:pt>
                <c:pt idx="1">
                  <c:v>87.1</c:v>
                </c:pt>
                <c:pt idx="2">
                  <c:v>87.81272727272727</c:v>
                </c:pt>
                <c:pt idx="3">
                  <c:v>88.5690909090909</c:v>
                </c:pt>
                <c:pt idx="4">
                  <c:v>89.14727272727274</c:v>
                </c:pt>
                <c:pt idx="5">
                  <c:v>90.13818181818182</c:v>
                </c:pt>
                <c:pt idx="6">
                  <c:v>90.32909090909091</c:v>
                </c:pt>
                <c:pt idx="7">
                  <c:v>91.25272727272727</c:v>
                </c:pt>
                <c:pt idx="8">
                  <c:v>91.57636363636364</c:v>
                </c:pt>
                <c:pt idx="9">
                  <c:v>92.0090909090909</c:v>
                </c:pt>
                <c:pt idx="10">
                  <c:v>92.25272727272727</c:v>
                </c:pt>
                <c:pt idx="11">
                  <c:v>92.35636363636364</c:v>
                </c:pt>
                <c:pt idx="12">
                  <c:v>92.47818181818181</c:v>
                </c:pt>
                <c:pt idx="13">
                  <c:v>92.90545454545455</c:v>
                </c:pt>
                <c:pt idx="14">
                  <c:v>92.73454545454545</c:v>
                </c:pt>
                <c:pt idx="15">
                  <c:v>93.56545454545454</c:v>
                </c:pt>
                <c:pt idx="16">
                  <c:v>93.82000000000001</c:v>
                </c:pt>
                <c:pt idx="17">
                  <c:v>93.98181818181818</c:v>
                </c:pt>
                <c:pt idx="18">
                  <c:v>94.44363636363636</c:v>
                </c:pt>
                <c:pt idx="19">
                  <c:v>94.80909090909091</c:v>
                </c:pt>
              </c:numCache>
            </c:numRef>
          </c:val>
          <c:smooth val="0"/>
        </c:ser>
        <c:ser>
          <c:idx val="1"/>
          <c:order val="1"/>
          <c:tx>
            <c:strRef>
              <c:f>Sheet1!$C$1</c:f>
              <c:strCache>
                <c:ptCount val="1"/>
                <c:pt idx="0">
                  <c:v>validation accuracy</c:v>
                </c:pt>
              </c:strCache>
            </c:strRef>
          </c:tx>
          <c:spPr>
            <a:solidFill>
              <a:srgbClr val="16202E"/>
            </a:solidFill>
            <a:ln w="31750"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84.78</c:v>
                </c:pt>
                <c:pt idx="1">
                  <c:v>86.96000000000001</c:v>
                </c:pt>
                <c:pt idx="2">
                  <c:v>87.36</c:v>
                </c:pt>
                <c:pt idx="3">
                  <c:v>87.83999999999999</c:v>
                </c:pt>
                <c:pt idx="4">
                  <c:v>88.14</c:v>
                </c:pt>
                <c:pt idx="5">
                  <c:v>88.62</c:v>
                </c:pt>
                <c:pt idx="6">
                  <c:v>88.64</c:v>
                </c:pt>
                <c:pt idx="7">
                  <c:v>89.02</c:v>
                </c:pt>
                <c:pt idx="8">
                  <c:v>88.98</c:v>
                </c:pt>
                <c:pt idx="9">
                  <c:v>89.3</c:v>
                </c:pt>
                <c:pt idx="10">
                  <c:v>89.5</c:v>
                </c:pt>
                <c:pt idx="11">
                  <c:v>89.46</c:v>
                </c:pt>
                <c:pt idx="12">
                  <c:v>89.56</c:v>
                </c:pt>
                <c:pt idx="13">
                  <c:v>89.02</c:v>
                </c:pt>
                <c:pt idx="14">
                  <c:v>88.75999999999999</c:v>
                </c:pt>
                <c:pt idx="15">
                  <c:v>89.78</c:v>
                </c:pt>
                <c:pt idx="16">
                  <c:v>89.36</c:v>
                </c:pt>
                <c:pt idx="17">
                  <c:v>89.32</c:v>
                </c:pt>
                <c:pt idx="18">
                  <c:v>89.7</c:v>
                </c:pt>
                <c:pt idx="19">
                  <c:v>89.64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675"/>
                    </a:solidFill>
                    <a:latin typeface="Arial"/>
                  </a:defRPr>
                </a:pPr>
                <a:r>
                  <a:rPr sz="12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75"/>
                </a:solidFill>
                <a:latin typeface="+mn-lt"/>
              </a:defRPr>
            </a:pPr>
            <a:endParaRPr lang="en-US"/>
          </a:p>
        </c:txPr>
        <c:crossAx val="2094734552"/>
        <c:crosses val="autoZero"/>
        <c:auto val="1"/>
        <c:lblAlgn val="ctr"/>
        <c:noMultiLvlLbl val="1"/>
        <c:tickLblSkip val="1"/>
      </c:catAx>
      <c:valAx>
        <c:axId val="2094734552"/>
        <c:scaling>
          <c:orientation val="minMax"/>
          <c:max val="100"/>
          <c:min val="80"/>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6202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6202E"/>
                </a:solidFill>
                <a:latin typeface="+mn-lt"/>
              </a:defRPr>
            </a:pPr>
            <a:r>
              <a:rPr sz="1500" b="0" i="0" u="none" strike="noStrike">
                <a:solidFill>
                  <a:srgbClr val="16202E"/>
                </a:solidFill>
                <a:latin typeface="+mn-lt"/>
              </a:rPr>
              <a:t>Test accuracy, Fashion-MNIST</a:t>
            </a:r>
          </a:p>
        </c:rich>
      </c:tx>
      <c:layout/>
      <c:overlay val="0"/>
    </c:title>
    <c:autoTitleDeleted val="0"/>
    <c:plotArea>
      <c:layout/>
      <c:barChart>
        <c:barDir val="bar"/>
        <c:grouping val="clustered"/>
        <c:varyColors val="0"/>
        <c:ser>
          <c:idx val="0"/>
          <c:order val="0"/>
          <c:tx>
            <c:strRef>
              <c:f>Sheet1!$B$1</c:f>
              <c:strCache>
                <c:ptCount val="1"/>
                <c:pt idx="0">
                  <c:v>test accuracy</c:v>
                </c:pt>
              </c:strCache>
            </c:strRef>
          </c:tx>
          <c:spPr>
            <a:solidFill>
              <a:srgbClr val="8A94A3"/>
            </a:solidFill>
            <a:effectLst/>
          </c:spPr>
          <c:invertIfNegative val="0"/>
          <c:dLbls>
            <c:numFmt formatCode="0.0&quot;%&quot;" sourceLinked="0"/>
            <c:txPr>
              <a:bodyPr/>
              <a:lstStyle/>
              <a:p>
                <a:pPr>
                  <a:defRPr b="1" i="0" strike="noStrike" sz="1400" u="none">
                    <a:solidFill>
                      <a:srgbClr val="16202E"/>
                    </a:solidFill>
                    <a:latin typeface="+mn-lt"/>
                  </a:defRPr>
                </a:pPr>
              </a:p>
            </c:txPr>
            <c:showLegendKey val="0"/>
            <c:showVal val="1"/>
            <c:showCatName val="0"/>
            <c:showSerName val="0"/>
            <c:showPercent val="0"/>
            <c:showBubbleSize val="0"/>
            <c:showLeaderLines val="0"/>
          </c:dLbls>
          <c:dPt>
            <c:idx val="0"/>
            <c:invertIfNegative val="0"/>
            <c:bubble3D val="0"/>
            <c:spPr>
              <a:solidFill>
                <a:srgbClr val="8A94A3"/>
              </a:solidFill>
              <a:effectLst/>
            </c:spPr>
          </c:dPt>
          <c:dPt>
            <c:idx val="1"/>
            <c:invertIfNegative val="0"/>
            <c:bubble3D val="0"/>
            <c:spPr>
              <a:solidFill>
                <a:srgbClr val="C5CBD3"/>
              </a:solidFill>
              <a:effectLst/>
            </c:spPr>
          </c:dPt>
          <c:dPt>
            <c:idx val="2"/>
            <c:invertIfNegative val="0"/>
            <c:bubble3D val="0"/>
            <c:spPr>
              <a:solidFill>
                <a:srgbClr val="C5CBD3"/>
              </a:solidFill>
              <a:effectLst/>
            </c:spPr>
          </c:dPt>
          <c:dPt>
            <c:idx val="3"/>
            <c:invertIfNegative val="0"/>
            <c:bubble3D val="0"/>
            <c:spPr>
              <a:solidFill>
                <a:srgbClr val="0E7C7B"/>
              </a:solidFill>
              <a:effectLst/>
            </c:spPr>
          </c:dPt>
          <c:cat>
            <c:multiLvlStrRef>
              <c:f>Sheet1!$A$2:$A$5</c:f>
              <c:multiLvlStrCache>
                <c:ptCount val="4"/>
                <c:lvl>
                  <c:pt idx="0">
                    <c:v>Softmax regression (ours)</c:v>
                  </c:pt>
                  <c:pt idx="1">
                    <c:v>k-NN (benchmark)</c:v>
                  </c:pt>
                  <c:pt idx="2">
                    <c:v>Random forest (benchmark)</c:v>
                  </c:pt>
                  <c:pt idx="3">
                    <c:v>MLP 784–128–64–10 (ours)</c:v>
                  </c:pt>
                </c:lvl>
              </c:multiLvlStrCache>
            </c:multiLvlStrRef>
          </c:cat>
          <c:val>
            <c:numRef>
              <c:f>Sheet1!$B$2:$B$5</c:f>
              <c:numCache>
                <c:formatCode>General</c:formatCode>
                <c:ptCount val="4"/>
                <c:pt idx="0">
                  <c:v>84.5</c:v>
                </c:pt>
                <c:pt idx="1">
                  <c:v>85.4</c:v>
                </c:pt>
                <c:pt idx="2">
                  <c:v>87.3</c:v>
                </c:pt>
                <c:pt idx="3">
                  <c:v>88.5</c:v>
                </c:pt>
              </c:numCache>
            </c:numRef>
          </c:val>
        </c:ser>
        <c:dLbls>
          <c:numFmt formatCode="0.0&quot;%&quot;" sourceLinked="0"/>
          <c:txPr>
            <a:bodyPr/>
            <a:lstStyle/>
            <a:p>
              <a:pPr>
                <a:defRPr b="1" i="0" strike="noStrike" sz="1400" u="none">
                  <a:solidFill>
                    <a:srgbClr val="16202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202E"/>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784–2–10 (2 hidden units)</a:t>
            </a:r>
          </a:p>
        </c:rich>
      </c:tx>
      <c:layout/>
      <c:overlay val="0"/>
    </c:title>
    <c:autoTitleDeleted val="0"/>
    <c:plotArea>
      <c:layout/>
      <c:lineChart>
        <c:varyColors val="0"/>
        <c:ser>
          <c:idx val="0"/>
          <c:order val="0"/>
          <c:tx>
            <c:strRef>
              <c:f>Sheet1!$B$1</c:f>
              <c:strCache>
                <c:ptCount val="1"/>
                <c:pt idx="0">
                  <c:v>training loss</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1.6363695859909058</c:v>
                </c:pt>
                <c:pt idx="1">
                  <c:v>1.5188766717910767</c:v>
                </c:pt>
                <c:pt idx="2">
                  <c:v>1.4507064819335938</c:v>
                </c:pt>
                <c:pt idx="3">
                  <c:v>1.3955110311508179</c:v>
                </c:pt>
                <c:pt idx="4">
                  <c:v>1.3617407083511353</c:v>
                </c:pt>
                <c:pt idx="5">
                  <c:v>1.3364177942276</c:v>
                </c:pt>
                <c:pt idx="6">
                  <c:v>1.3172612190246582</c:v>
                </c:pt>
                <c:pt idx="7">
                  <c:v>1.3033758401870728</c:v>
                </c:pt>
                <c:pt idx="8">
                  <c:v>1.2893835306167603</c:v>
                </c:pt>
                <c:pt idx="9">
                  <c:v>1.2577131986618042</c:v>
                </c:pt>
                <c:pt idx="10">
                  <c:v>1.2077126502990723</c:v>
                </c:pt>
                <c:pt idx="11">
                  <c:v>1.1739948987960815</c:v>
                </c:pt>
                <c:pt idx="12">
                  <c:v>1.1475706100463867</c:v>
                </c:pt>
                <c:pt idx="13">
                  <c:v>1.124987244606018</c:v>
                </c:pt>
                <c:pt idx="14">
                  <c:v>1.103846788406372</c:v>
                </c:pt>
                <c:pt idx="15">
                  <c:v>1.0820947885513306</c:v>
                </c:pt>
                <c:pt idx="16">
                  <c:v>1.0627847909927368</c:v>
                </c:pt>
                <c:pt idx="17">
                  <c:v>1.0479748249053955</c:v>
                </c:pt>
                <c:pt idx="18">
                  <c:v>1.030095100402832</c:v>
                </c:pt>
                <c:pt idx="19">
                  <c:v>1.0149625539779663</c:v>
                </c:pt>
              </c:numCache>
            </c:numRef>
          </c:val>
          <c:smooth val="0"/>
        </c:ser>
        <c:ser>
          <c:idx val="1"/>
          <c:order val="1"/>
          <c:tx>
            <c:strRef>
              <c:f>Sheet1!$C$1</c:f>
              <c:strCache>
                <c:ptCount val="1"/>
                <c:pt idx="0">
                  <c:v>validation loss</c:v>
                </c:pt>
              </c:strCache>
            </c:strRef>
          </c:tx>
          <c:spPr>
            <a:solidFill>
              <a:srgbClr val="16202E"/>
            </a:solidFill>
            <a:ln w="28575"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1.6258164644241333</c:v>
                </c:pt>
                <c:pt idx="1">
                  <c:v>1.512550950050354</c:v>
                </c:pt>
                <c:pt idx="2">
                  <c:v>1.446960687637329</c:v>
                </c:pt>
                <c:pt idx="3">
                  <c:v>1.390310525894165</c:v>
                </c:pt>
                <c:pt idx="4">
                  <c:v>1.356489658355713</c:v>
                </c:pt>
                <c:pt idx="5">
                  <c:v>1.3342390060424805</c:v>
                </c:pt>
                <c:pt idx="6">
                  <c:v>1.3165349960327148</c:v>
                </c:pt>
                <c:pt idx="7">
                  <c:v>1.3028737306594849</c:v>
                </c:pt>
                <c:pt idx="8">
                  <c:v>1.2901058197021484</c:v>
                </c:pt>
                <c:pt idx="9">
                  <c:v>1.2566471099853516</c:v>
                </c:pt>
                <c:pt idx="10">
                  <c:v>1.2111053466796875</c:v>
                </c:pt>
                <c:pt idx="11">
                  <c:v>1.1795367002487183</c:v>
                </c:pt>
                <c:pt idx="12">
                  <c:v>1.1548367738723755</c:v>
                </c:pt>
                <c:pt idx="13">
                  <c:v>1.13844633102417</c:v>
                </c:pt>
                <c:pt idx="14">
                  <c:v>1.1177417039871216</c:v>
                </c:pt>
                <c:pt idx="15">
                  <c:v>1.0991822481155396</c:v>
                </c:pt>
                <c:pt idx="16">
                  <c:v>1.0810041427612305</c:v>
                </c:pt>
                <c:pt idx="17">
                  <c:v>1.068791389465332</c:v>
                </c:pt>
                <c:pt idx="18">
                  <c:v>1.0493831634521484</c:v>
                </c:pt>
                <c:pt idx="19">
                  <c:v>1.0350538492202759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5"/>
                    </a:solidFill>
                    <a:latin typeface="Arial"/>
                  </a:defRPr>
                </a:pPr>
                <a:r>
                  <a:rPr sz="11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784–128–64–10 on 1,000 images</a:t>
            </a:r>
          </a:p>
        </c:rich>
      </c:tx>
      <c:layout/>
      <c:overlay val="0"/>
    </c:title>
    <c:autoTitleDeleted val="0"/>
    <c:plotArea>
      <c:layout/>
      <c:lineChart>
        <c:varyColors val="0"/>
        <c:ser>
          <c:idx val="0"/>
          <c:order val="0"/>
          <c:tx>
            <c:strRef>
              <c:f>Sheet1!$B$1</c:f>
              <c:strCache>
                <c:ptCount val="1"/>
                <c:pt idx="0">
                  <c:v>training loss</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Sheet1!$A$2:$A$101</c:f>
              <c:multiLvlStrCache>
                <c:ptCount val="1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lvl>
              </c:multiLvlStrCache>
            </c:multiLvlStrRef>
          </c:cat>
          <c:val>
            <c:numRef>
              <c:f>Sheet1!$B$2:$B$101</c:f>
              <c:numCache>
                <c:formatCode>General</c:formatCode>
                <c:ptCount val="100"/>
                <c:pt idx="0">
                  <c:v>2.0534138679504395</c:v>
                </c:pt>
                <c:pt idx="1">
                  <c:v>1.6858969926834106</c:v>
                </c:pt>
                <c:pt idx="2">
                  <c:v>1.2932333946228027</c:v>
                </c:pt>
                <c:pt idx="3">
                  <c:v>1.0345895290374756</c:v>
                </c:pt>
                <c:pt idx="4">
                  <c:v>0.8846305012702942</c:v>
                </c:pt>
                <c:pt idx="5">
                  <c:v>0.770050048828125</c:v>
                </c:pt>
                <c:pt idx="6">
                  <c:v>0.6900811791419983</c:v>
                </c:pt>
                <c:pt idx="7">
                  <c:v>0.6374368667602539</c:v>
                </c:pt>
                <c:pt idx="8">
                  <c:v>0.5875146985054016</c:v>
                </c:pt>
                <c:pt idx="9">
                  <c:v>0.5468893647193909</c:v>
                </c:pt>
                <c:pt idx="10">
                  <c:v>0.5150361061096191</c:v>
                </c:pt>
                <c:pt idx="11">
                  <c:v>0.4858507215976715</c:v>
                </c:pt>
                <c:pt idx="12">
                  <c:v>0.4539814293384552</c:v>
                </c:pt>
                <c:pt idx="13">
                  <c:v>0.42677631974220276</c:v>
                </c:pt>
                <c:pt idx="14">
                  <c:v>0.40701788663864136</c:v>
                </c:pt>
                <c:pt idx="15">
                  <c:v>0.384805291891098</c:v>
                </c:pt>
                <c:pt idx="16">
                  <c:v>0.3642175495624542</c:v>
                </c:pt>
                <c:pt idx="17">
                  <c:v>0.34570276737213135</c:v>
                </c:pt>
                <c:pt idx="18">
                  <c:v>0.3321431875228882</c:v>
                </c:pt>
                <c:pt idx="19">
                  <c:v>0.31371140480041504</c:v>
                </c:pt>
                <c:pt idx="20">
                  <c:v>0.29733356833457947</c:v>
                </c:pt>
                <c:pt idx="21">
                  <c:v>0.2821773588657379</c:v>
                </c:pt>
                <c:pt idx="22">
                  <c:v>0.2734217643737793</c:v>
                </c:pt>
                <c:pt idx="23">
                  <c:v>0.2620168924331665</c:v>
                </c:pt>
                <c:pt idx="24">
                  <c:v>0.25202226638793945</c:v>
                </c:pt>
                <c:pt idx="25">
                  <c:v>0.24511323869228363</c:v>
                </c:pt>
                <c:pt idx="26">
                  <c:v>0.22973790764808655</c:v>
                </c:pt>
                <c:pt idx="27">
                  <c:v>0.2159903198480606</c:v>
                </c:pt>
                <c:pt idx="28">
                  <c:v>0.20466671884059906</c:v>
                </c:pt>
                <c:pt idx="29">
                  <c:v>0.19563820958137512</c:v>
                </c:pt>
                <c:pt idx="30">
                  <c:v>0.18754889070987701</c:v>
                </c:pt>
                <c:pt idx="31">
                  <c:v>0.17729468643665314</c:v>
                </c:pt>
                <c:pt idx="32">
                  <c:v>0.17203393578529358</c:v>
                </c:pt>
                <c:pt idx="33">
                  <c:v>0.16211572289466858</c:v>
                </c:pt>
                <c:pt idx="34">
                  <c:v>0.16161136329174042</c:v>
                </c:pt>
                <c:pt idx="35">
                  <c:v>0.16069750487804413</c:v>
                </c:pt>
                <c:pt idx="36">
                  <c:v>0.14447711408138275</c:v>
                </c:pt>
                <c:pt idx="37">
                  <c:v>0.14404262602329254</c:v>
                </c:pt>
                <c:pt idx="38">
                  <c:v>0.13086779415607452</c:v>
                </c:pt>
                <c:pt idx="39">
                  <c:v>0.11930456757545471</c:v>
                </c:pt>
                <c:pt idx="40">
                  <c:v>0.11206363141536713</c:v>
                </c:pt>
                <c:pt idx="41">
                  <c:v>0.10837934166193008</c:v>
                </c:pt>
                <c:pt idx="42">
                  <c:v>0.10021435469388962</c:v>
                </c:pt>
                <c:pt idx="43">
                  <c:v>0.094634048640728</c:v>
                </c:pt>
                <c:pt idx="44">
                  <c:v>0.0912436693906784</c:v>
                </c:pt>
                <c:pt idx="45">
                  <c:v>0.09370967000722885</c:v>
                </c:pt>
                <c:pt idx="46">
                  <c:v>0.0886952206492424</c:v>
                </c:pt>
                <c:pt idx="47">
                  <c:v>0.08133751153945923</c:v>
                </c:pt>
                <c:pt idx="48">
                  <c:v>0.07467485219240189</c:v>
                </c:pt>
                <c:pt idx="49">
                  <c:v>0.069689080119133</c:v>
                </c:pt>
                <c:pt idx="50">
                  <c:v>0.06439801305532455</c:v>
                </c:pt>
                <c:pt idx="51">
                  <c:v>0.061460670083761215</c:v>
                </c:pt>
                <c:pt idx="52">
                  <c:v>0.05771537870168686</c:v>
                </c:pt>
                <c:pt idx="53">
                  <c:v>0.05409055948257446</c:v>
                </c:pt>
                <c:pt idx="54">
                  <c:v>0.0519445538520813</c:v>
                </c:pt>
                <c:pt idx="55">
                  <c:v>0.049705252051353455</c:v>
                </c:pt>
                <c:pt idx="56">
                  <c:v>0.04765785112977028</c:v>
                </c:pt>
                <c:pt idx="57">
                  <c:v>0.0437578521668911</c:v>
                </c:pt>
                <c:pt idx="58">
                  <c:v>0.0415906198322773</c:v>
                </c:pt>
                <c:pt idx="59">
                  <c:v>0.03932107985019684</c:v>
                </c:pt>
                <c:pt idx="60">
                  <c:v>0.03767798840999603</c:v>
                </c:pt>
                <c:pt idx="61">
                  <c:v>0.03658992052078247</c:v>
                </c:pt>
                <c:pt idx="62">
                  <c:v>0.033275771886110306</c:v>
                </c:pt>
                <c:pt idx="63">
                  <c:v>0.030847785994410515</c:v>
                </c:pt>
                <c:pt idx="64">
                  <c:v>0.02918071113526821</c:v>
                </c:pt>
                <c:pt idx="65">
                  <c:v>0.02774987369775772</c:v>
                </c:pt>
                <c:pt idx="66">
                  <c:v>0.025738421827554703</c:v>
                </c:pt>
                <c:pt idx="67">
                  <c:v>0.024617696180939674</c:v>
                </c:pt>
                <c:pt idx="68">
                  <c:v>0.02310130000114441</c:v>
                </c:pt>
                <c:pt idx="69">
                  <c:v>0.0220121368765831</c:v>
                </c:pt>
                <c:pt idx="70">
                  <c:v>0.021008390933275223</c:v>
                </c:pt>
                <c:pt idx="71">
                  <c:v>0.020271366462111473</c:v>
                </c:pt>
                <c:pt idx="72">
                  <c:v>0.018951594829559326</c:v>
                </c:pt>
                <c:pt idx="73">
                  <c:v>0.018095912411808968</c:v>
                </c:pt>
                <c:pt idx="74">
                  <c:v>0.017296424135565758</c:v>
                </c:pt>
                <c:pt idx="75">
                  <c:v>0.01696253940463066</c:v>
                </c:pt>
                <c:pt idx="76">
                  <c:v>0.016671964898705482</c:v>
                </c:pt>
                <c:pt idx="77">
                  <c:v>0.01580643467605114</c:v>
                </c:pt>
                <c:pt idx="78">
                  <c:v>0.014469203539192677</c:v>
                </c:pt>
                <c:pt idx="79">
                  <c:v>0.013799003325402737</c:v>
                </c:pt>
                <c:pt idx="80">
                  <c:v>0.013213294558227062</c:v>
                </c:pt>
                <c:pt idx="81">
                  <c:v>0.014592376537621021</c:v>
                </c:pt>
                <c:pt idx="82">
                  <c:v>0.013276031240820885</c:v>
                </c:pt>
                <c:pt idx="83">
                  <c:v>0.01216884609311819</c:v>
                </c:pt>
                <c:pt idx="84">
                  <c:v>0.011467617005109787</c:v>
                </c:pt>
                <c:pt idx="85">
                  <c:v>0.01090884581208229</c:v>
                </c:pt>
                <c:pt idx="86">
                  <c:v>0.01057072076946497</c:v>
                </c:pt>
                <c:pt idx="87">
                  <c:v>0.010393348522484303</c:v>
                </c:pt>
                <c:pt idx="88">
                  <c:v>0.009957666508853436</c:v>
                </c:pt>
                <c:pt idx="89">
                  <c:v>0.009701501578092575</c:v>
                </c:pt>
                <c:pt idx="90">
                  <c:v>0.009404717944562435</c:v>
                </c:pt>
                <c:pt idx="91">
                  <c:v>0.008905204944312572</c:v>
                </c:pt>
                <c:pt idx="92">
                  <c:v>0.008449261076748371</c:v>
                </c:pt>
                <c:pt idx="93">
                  <c:v>0.008314576931297779</c:v>
                </c:pt>
                <c:pt idx="94">
                  <c:v>0.007953085005283356</c:v>
                </c:pt>
                <c:pt idx="95">
                  <c:v>0.007676637731492519</c:v>
                </c:pt>
                <c:pt idx="96">
                  <c:v>0.007473907433450222</c:v>
                </c:pt>
                <c:pt idx="97">
                  <c:v>0.007295308168977499</c:v>
                </c:pt>
                <c:pt idx="98">
                  <c:v>0.007056927774101496</c:v>
                </c:pt>
                <c:pt idx="99">
                  <c:v>0.006897302344441414</c:v>
                </c:pt>
              </c:numCache>
            </c:numRef>
          </c:val>
          <c:smooth val="0"/>
        </c:ser>
        <c:ser>
          <c:idx val="1"/>
          <c:order val="1"/>
          <c:tx>
            <c:strRef>
              <c:f>Sheet1!$C$1</c:f>
              <c:strCache>
                <c:ptCount val="1"/>
                <c:pt idx="0">
                  <c:v>validation loss</c:v>
                </c:pt>
              </c:strCache>
            </c:strRef>
          </c:tx>
          <c:spPr>
            <a:solidFill>
              <a:srgbClr val="16202E"/>
            </a:solidFill>
            <a:ln w="28575"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Sheet1!$A$2:$A$101</c:f>
              <c:multiLvlStrCache>
                <c:ptCount val="10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lvl>
              </c:multiLvlStrCache>
            </c:multiLvlStrRef>
          </c:cat>
          <c:val>
            <c:numRef>
              <c:f>Sheet1!$C$2:$C$101</c:f>
              <c:numCache>
                <c:formatCode>General</c:formatCode>
                <c:ptCount val="100"/>
                <c:pt idx="0">
                  <c:v>2.058856248855591</c:v>
                </c:pt>
                <c:pt idx="1">
                  <c:v>1.6968883275985718</c:v>
                </c:pt>
                <c:pt idx="2">
                  <c:v>1.3095275163650513</c:v>
                </c:pt>
                <c:pt idx="3">
                  <c:v>1.0509601831436157</c:v>
                </c:pt>
                <c:pt idx="4">
                  <c:v>0.9026778340339661</c:v>
                </c:pt>
                <c:pt idx="5">
                  <c:v>0.8078263401985168</c:v>
                </c:pt>
                <c:pt idx="6">
                  <c:v>0.7560708522796631</c:v>
                </c:pt>
                <c:pt idx="7">
                  <c:v>0.7045434713363647</c:v>
                </c:pt>
                <c:pt idx="8">
                  <c:v>0.6821354627609253</c:v>
                </c:pt>
                <c:pt idx="9">
                  <c:v>0.6526556611061096</c:v>
                </c:pt>
                <c:pt idx="10">
                  <c:v>0.6328261494636536</c:v>
                </c:pt>
                <c:pt idx="11">
                  <c:v>0.6184619069099426</c:v>
                </c:pt>
                <c:pt idx="12">
                  <c:v>0.6064875721931458</c:v>
                </c:pt>
                <c:pt idx="13">
                  <c:v>0.5919724702835083</c:v>
                </c:pt>
                <c:pt idx="14">
                  <c:v>0.5868514776229858</c:v>
                </c:pt>
                <c:pt idx="15">
                  <c:v>0.5839303731918335</c:v>
                </c:pt>
                <c:pt idx="16">
                  <c:v>0.5695930123329163</c:v>
                </c:pt>
                <c:pt idx="17">
                  <c:v>0.5721991658210754</c:v>
                </c:pt>
                <c:pt idx="18">
                  <c:v>0.5581397414207458</c:v>
                </c:pt>
                <c:pt idx="19">
                  <c:v>0.5642866492271423</c:v>
                </c:pt>
                <c:pt idx="20">
                  <c:v>0.5538646578788757</c:v>
                </c:pt>
                <c:pt idx="21">
                  <c:v>0.556648850440979</c:v>
                </c:pt>
                <c:pt idx="22">
                  <c:v>0.5598015785217285</c:v>
                </c:pt>
                <c:pt idx="23">
                  <c:v>0.5516656041145325</c:v>
                </c:pt>
                <c:pt idx="24">
                  <c:v>0.5555477738380432</c:v>
                </c:pt>
                <c:pt idx="25">
                  <c:v>0.5660320520401001</c:v>
                </c:pt>
                <c:pt idx="26">
                  <c:v>0.553936243057251</c:v>
                </c:pt>
                <c:pt idx="27">
                  <c:v>0.5560072064399719</c:v>
                </c:pt>
                <c:pt idx="28">
                  <c:v>0.5547800064086914</c:v>
                </c:pt>
                <c:pt idx="29">
                  <c:v>0.5613325238227844</c:v>
                </c:pt>
                <c:pt idx="30">
                  <c:v>0.5571419596672058</c:v>
                </c:pt>
                <c:pt idx="31">
                  <c:v>0.5606353282928467</c:v>
                </c:pt>
                <c:pt idx="32">
                  <c:v>0.5661554932594299</c:v>
                </c:pt>
                <c:pt idx="33">
                  <c:v>0.5647157430648804</c:v>
                </c:pt>
                <c:pt idx="34">
                  <c:v>0.575279712677002</c:v>
                </c:pt>
                <c:pt idx="35">
                  <c:v>0.5855305194854736</c:v>
                </c:pt>
                <c:pt idx="36">
                  <c:v>0.5831300616264343</c:v>
                </c:pt>
                <c:pt idx="37">
                  <c:v>0.5814700126647949</c:v>
                </c:pt>
                <c:pt idx="38">
                  <c:v>0.5894372463226318</c:v>
                </c:pt>
                <c:pt idx="39">
                  <c:v>0.5777438282966614</c:v>
                </c:pt>
                <c:pt idx="40">
                  <c:v>0.5804781913757324</c:v>
                </c:pt>
                <c:pt idx="41">
                  <c:v>0.5883347392082214</c:v>
                </c:pt>
                <c:pt idx="42">
                  <c:v>0.5791422128677368</c:v>
                </c:pt>
                <c:pt idx="43">
                  <c:v>0.5917046666145325</c:v>
                </c:pt>
                <c:pt idx="44">
                  <c:v>0.5961682200431824</c:v>
                </c:pt>
                <c:pt idx="45">
                  <c:v>0.6026232242584229</c:v>
                </c:pt>
                <c:pt idx="46">
                  <c:v>0.6205456852912903</c:v>
                </c:pt>
                <c:pt idx="47">
                  <c:v>0.6064245700836182</c:v>
                </c:pt>
                <c:pt idx="48">
                  <c:v>0.6185225248336792</c:v>
                </c:pt>
                <c:pt idx="49">
                  <c:v>0.6160807609558105</c:v>
                </c:pt>
                <c:pt idx="50">
                  <c:v>0.6163326501846313</c:v>
                </c:pt>
                <c:pt idx="51">
                  <c:v>0.6291947960853577</c:v>
                </c:pt>
                <c:pt idx="52">
                  <c:v>0.6264765858650208</c:v>
                </c:pt>
                <c:pt idx="53">
                  <c:v>0.6283783912658691</c:v>
                </c:pt>
                <c:pt idx="54">
                  <c:v>0.6425102353096008</c:v>
                </c:pt>
                <c:pt idx="55">
                  <c:v>0.6408752202987671</c:v>
                </c:pt>
                <c:pt idx="56">
                  <c:v>0.6474890112876892</c:v>
                </c:pt>
                <c:pt idx="57">
                  <c:v>0.652049720287323</c:v>
                </c:pt>
                <c:pt idx="58">
                  <c:v>0.6567386388778687</c:v>
                </c:pt>
                <c:pt idx="59">
                  <c:v>0.6568778157234192</c:v>
                </c:pt>
                <c:pt idx="60">
                  <c:v>0.6734668612480164</c:v>
                </c:pt>
                <c:pt idx="61">
                  <c:v>0.6750314831733704</c:v>
                </c:pt>
                <c:pt idx="62">
                  <c:v>0.6765979528427124</c:v>
                </c:pt>
                <c:pt idx="63">
                  <c:v>0.6794005632400513</c:v>
                </c:pt>
                <c:pt idx="64">
                  <c:v>0.6919398307800293</c:v>
                </c:pt>
                <c:pt idx="65">
                  <c:v>0.6899023056030273</c:v>
                </c:pt>
                <c:pt idx="66">
                  <c:v>0.6952990889549255</c:v>
                </c:pt>
                <c:pt idx="67">
                  <c:v>0.7023754715919495</c:v>
                </c:pt>
                <c:pt idx="68">
                  <c:v>0.7056683301925659</c:v>
                </c:pt>
                <c:pt idx="69">
                  <c:v>0.7106817364692688</c:v>
                </c:pt>
                <c:pt idx="70">
                  <c:v>0.7167141437530518</c:v>
                </c:pt>
                <c:pt idx="71">
                  <c:v>0.7220657467842102</c:v>
                </c:pt>
                <c:pt idx="72">
                  <c:v>0.7248423099517822</c:v>
                </c:pt>
                <c:pt idx="73">
                  <c:v>0.7303647398948669</c:v>
                </c:pt>
                <c:pt idx="74">
                  <c:v>0.7315061688423157</c:v>
                </c:pt>
                <c:pt idx="75">
                  <c:v>0.7422748804092407</c:v>
                </c:pt>
                <c:pt idx="76">
                  <c:v>0.7441577315330505</c:v>
                </c:pt>
                <c:pt idx="77">
                  <c:v>0.7504457235336304</c:v>
                </c:pt>
                <c:pt idx="78">
                  <c:v>0.751884400844574</c:v>
                </c:pt>
                <c:pt idx="79">
                  <c:v>0.7548015117645264</c:v>
                </c:pt>
                <c:pt idx="80">
                  <c:v>0.7594010233879089</c:v>
                </c:pt>
                <c:pt idx="81">
                  <c:v>0.7646633982658386</c:v>
                </c:pt>
                <c:pt idx="82">
                  <c:v>0.770377516746521</c:v>
                </c:pt>
                <c:pt idx="83">
                  <c:v>0.7695737481117249</c:v>
                </c:pt>
                <c:pt idx="84">
                  <c:v>0.7774486541748047</c:v>
                </c:pt>
                <c:pt idx="85">
                  <c:v>0.7780526280403137</c:v>
                </c:pt>
                <c:pt idx="86">
                  <c:v>0.7817659378051758</c:v>
                </c:pt>
                <c:pt idx="87">
                  <c:v>0.7914597392082214</c:v>
                </c:pt>
                <c:pt idx="88">
                  <c:v>0.7884714603424072</c:v>
                </c:pt>
                <c:pt idx="89">
                  <c:v>0.7921457290649414</c:v>
                </c:pt>
                <c:pt idx="90">
                  <c:v>0.7977165579795837</c:v>
                </c:pt>
                <c:pt idx="91">
                  <c:v>0.7993639707565308</c:v>
                </c:pt>
                <c:pt idx="92">
                  <c:v>0.8020140528678894</c:v>
                </c:pt>
                <c:pt idx="93">
                  <c:v>0.8080900311470032</c:v>
                </c:pt>
                <c:pt idx="94">
                  <c:v>0.8080995082855225</c:v>
                </c:pt>
                <c:pt idx="95">
                  <c:v>0.811087429523468</c:v>
                </c:pt>
                <c:pt idx="96">
                  <c:v>0.8174389600753784</c:v>
                </c:pt>
                <c:pt idx="97">
                  <c:v>0.8193409442901611</c:v>
                </c:pt>
                <c:pt idx="98">
                  <c:v>0.8233621120452881</c:v>
                </c:pt>
                <c:pt idx="99">
                  <c:v>0.8258408904075623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5"/>
                    </a:solidFill>
                    <a:latin typeface="Arial"/>
                  </a:defRPr>
                </a:pPr>
                <a:r>
                  <a:rPr sz="11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2"/>
        <c:crosses val="autoZero"/>
        <c:auto val="1"/>
        <c:lblAlgn val="ctr"/>
        <c:noMultiLvlLbl val="1"/>
        <c:tickLblSkip val="20"/>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784–128–64–10 on 55,000 images</a:t>
            </a:r>
          </a:p>
        </c:rich>
      </c:tx>
      <c:layout/>
      <c:overlay val="0"/>
    </c:title>
    <c:autoTitleDeleted val="0"/>
    <c:plotArea>
      <c:layout/>
      <c:lineChart>
        <c:varyColors val="0"/>
        <c:ser>
          <c:idx val="0"/>
          <c:order val="0"/>
          <c:tx>
            <c:strRef>
              <c:f>Sheet1!$B$1</c:f>
              <c:strCache>
                <c:ptCount val="1"/>
                <c:pt idx="0">
                  <c:v>training loss</c:v>
                </c:pt>
              </c:strCache>
            </c:strRef>
          </c:tx>
          <c:spPr>
            <a:solidFill>
              <a:srgbClr val="0E7C7B"/>
            </a:solidFill>
            <a:ln w="28575" cap="flat">
              <a:solidFill>
                <a:srgbClr val="0E7C7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7C7B"/>
              </a:solidFill>
              <a:ln w="9525" cap="flat">
                <a:solidFill>
                  <a:srgbClr val="0E7C7B"/>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0.420058935880661</c:v>
                </c:pt>
                <c:pt idx="1">
                  <c:v>0.3610162138938904</c:v>
                </c:pt>
                <c:pt idx="2">
                  <c:v>0.3292749226093292</c:v>
                </c:pt>
                <c:pt idx="3">
                  <c:v>0.3068712651729584</c:v>
                </c:pt>
                <c:pt idx="4">
                  <c:v>0.29281488060951233</c:v>
                </c:pt>
                <c:pt idx="5">
                  <c:v>0.2652392089366913</c:v>
                </c:pt>
                <c:pt idx="6">
                  <c:v>0.2597494423389435</c:v>
                </c:pt>
                <c:pt idx="7">
                  <c:v>0.23779861629009247</c:v>
                </c:pt>
                <c:pt idx="8">
                  <c:v>0.22608765959739685</c:v>
                </c:pt>
                <c:pt idx="9">
                  <c:v>0.21535620093345642</c:v>
                </c:pt>
                <c:pt idx="10">
                  <c:v>0.20977172255516052</c:v>
                </c:pt>
                <c:pt idx="11">
                  <c:v>0.20662923157215118</c:v>
                </c:pt>
                <c:pt idx="12">
                  <c:v>0.1998322755098343</c:v>
                </c:pt>
                <c:pt idx="13">
                  <c:v>0.19248148798942566</c:v>
                </c:pt>
                <c:pt idx="14">
                  <c:v>0.19305184483528137</c:v>
                </c:pt>
                <c:pt idx="15">
                  <c:v>0.17276714742183685</c:v>
                </c:pt>
                <c:pt idx="16">
                  <c:v>0.16787058115005493</c:v>
                </c:pt>
                <c:pt idx="17">
                  <c:v>0.16596123576164246</c:v>
                </c:pt>
                <c:pt idx="18">
                  <c:v>0.15116992592811584</c:v>
                </c:pt>
                <c:pt idx="19">
                  <c:v>0.1451113373041153</c:v>
                </c:pt>
              </c:numCache>
            </c:numRef>
          </c:val>
          <c:smooth val="0"/>
        </c:ser>
        <c:ser>
          <c:idx val="1"/>
          <c:order val="1"/>
          <c:tx>
            <c:strRef>
              <c:f>Sheet1!$C$1</c:f>
              <c:strCache>
                <c:ptCount val="1"/>
                <c:pt idx="0">
                  <c:v>validation loss</c:v>
                </c:pt>
              </c:strCache>
            </c:strRef>
          </c:tx>
          <c:spPr>
            <a:solidFill>
              <a:srgbClr val="16202E"/>
            </a:solidFill>
            <a:ln w="28575" cap="flat">
              <a:solidFill>
                <a:srgbClr val="162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202E"/>
              </a:solidFill>
              <a:ln w="9525" cap="flat">
                <a:solidFill>
                  <a:srgbClr val="16202E"/>
                </a:solidFill>
                <a:prstDash val="solid"/>
                <a:round/>
              </a:ln>
              <a:effectLst/>
            </c:spPr>
          </c:marker>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0.42447608709335327</c:v>
                </c:pt>
                <c:pt idx="1">
                  <c:v>0.3767378330230713</c:v>
                </c:pt>
                <c:pt idx="2">
                  <c:v>0.35595643520355225</c:v>
                </c:pt>
                <c:pt idx="3">
                  <c:v>0.3400469124317169</c:v>
                </c:pt>
                <c:pt idx="4">
                  <c:v>0.3368411064147949</c:v>
                </c:pt>
                <c:pt idx="5">
                  <c:v>0.3148050606250763</c:v>
                </c:pt>
                <c:pt idx="6">
                  <c:v>0.3160090446472168</c:v>
                </c:pt>
                <c:pt idx="7">
                  <c:v>0.3043254017829895</c:v>
                </c:pt>
                <c:pt idx="8">
                  <c:v>0.2980404794216156</c:v>
                </c:pt>
                <c:pt idx="9">
                  <c:v>0.29894697666168213</c:v>
                </c:pt>
                <c:pt idx="10">
                  <c:v>0.3035486340522766</c:v>
                </c:pt>
                <c:pt idx="11">
                  <c:v>0.30350756645202637</c:v>
                </c:pt>
                <c:pt idx="12">
                  <c:v>0.3057040572166443</c:v>
                </c:pt>
                <c:pt idx="13">
                  <c:v>0.3101193308830261</c:v>
                </c:pt>
                <c:pt idx="14">
                  <c:v>0.3155873417854309</c:v>
                </c:pt>
                <c:pt idx="15">
                  <c:v>0.30180248618125916</c:v>
                </c:pt>
                <c:pt idx="16">
                  <c:v>0.3093045949935913</c:v>
                </c:pt>
                <c:pt idx="17">
                  <c:v>0.3169984817504883</c:v>
                </c:pt>
                <c:pt idx="18">
                  <c:v>0.3185045123100281</c:v>
                </c:pt>
                <c:pt idx="19">
                  <c:v>0.31534531712532043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675"/>
                    </a:solidFill>
                    <a:latin typeface="Arial"/>
                  </a:defRPr>
                </a:pPr>
                <a:r>
                  <a:rPr sz="1100" b="0" i="0" u="none" strike="noStrike">
                    <a:solidFill>
                      <a:srgbClr val="5B6675"/>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Title (0:00–0:02)</a:t>
            </a:r>
          </a:p>
          <a:p/>
          <a:p>
            <a:r>
              <a:t>Say: "Welcome. Today we go from a single neuron to a network that learns. By the end you'll have computed a forward pass, run backpropagation by hand, and read real training curves. We stay framework-neutral today; PyTorch starts next session. One thing to notice now: colours mean something. Teal is the forward signal, orange is gradients flowing backward, red is a warning. In plots, filled violet is class 1 and hollow grey is class 0."</a:t>
            </a:r>
          </a:p>
          <a:p/>
          <a:p>
            <a:r>
              <a:t>Get it right:</a:t>
            </a:r>
          </a:p>
          <a:p>
            <a:r>
              <a:t>• Say that every number in the deck comes from seeded NumPy scripts shipped with the course. That earns trust and invites students to reproduce results.</a:t>
            </a:r>
          </a:p>
          <a:p/>
          <a:p>
            <a:r>
              <a:t>If students ask:</a:t>
            </a:r>
          </a:p>
          <a:p>
            <a:r>
              <a:t>• Q: Will we use PyTorch today? A: No. Today is the mathematics and the logic; the pseudocode maps one-to-one onto PyTorch next session.</a:t>
            </a:r>
          </a:p>
          <a:p>
            <a:r>
              <a:t>• Q: Do I need a GPU for this course? A: Not for today's model. The running example trains in well under a minute per seed on a laptop CPU in NumPy.</a:t>
            </a:r>
          </a:p>
          <a:p/>
          <a:p>
            <a:r>
              <a:t>Tip: Ask everyone to have a calculator or phone ready for the paired exercise at about 1:23.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Learning outcomes (0:02–0:04)</a:t>
            </a:r>
          </a:p>
          <a:p/>
          <a:p>
            <a:r>
              <a:t>Say: "Four outcomes, each checked during the session by a quick question. Two are about what a network computes, one about how it learns, one about backpropagation and reading curves. You already know logistic regression, matrix–vector products and the chain rule; today we only stack them."</a:t>
            </a:r>
          </a:p>
          <a:p/>
          <a:p>
            <a:r>
              <a:t>Get it right:</a:t>
            </a:r>
          </a:p>
          <a:p>
            <a:r>
              <a:t>• Prerequisites stated on the slide: matrix–vector products, chain rule, logistic regression and its log-likelihood, train/validation/test splits, NumPy. If many students are shaky on the chain rule, spend 30 seconds on one example (d/dx of σ(3x)) now; it pays off in Part 3.</a:t>
            </a:r>
          </a:p>
          <a:p/>
          <a:p>
            <a:r>
              <a:t>If students ask:</a:t>
            </a:r>
          </a:p>
          <a:p>
            <a:r>
              <a:t>• Q: Are the quick checks graded? A: No. They are for learning: vote, argue with a neighbour, revote. Peer instruction improves conceptual learning (Crouch &amp; Mazur, 2001), and answers improve after discussion even in groups where nobody was right at first (Smith et al., 2009).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Plan and running example (0:04–0:05)</a:t>
            </a:r>
          </a:p>
          <a:p/>
          <a:p>
            <a:r>
              <a:t>Say: "Three parts and a break. One example all session: Fashion-MNIST, 70,000 small grey images of clothing in 10 classes, and one network with layers of 784, 128, 64 and 10 units. We build it in Part 1, train it in Part 2, and diagnose it in Part 3."</a:t>
            </a:r>
          </a:p>
          <a:p/>
          <a:p>
            <a:r>
              <a:t>Get it right:</a:t>
            </a:r>
          </a:p>
          <a:p>
            <a:r>
              <a:t>• Fashion-MNIST (Xiao, Rasul &amp; Vollgraf, 2017) was designed as a harder drop-in replacement for MNIST: same 28×28 format, 60,000 training and 10,000 test images.</a:t>
            </a:r>
          </a:p>
          <a:p>
            <a:r>
              <a:t>• The deck splits the official 60,000 training images into 55,000 train and 5,000 validation with a fixed seed; the 10,000 test images are used only for final numbers.</a:t>
            </a:r>
          </a:p>
          <a:p/>
          <a:p>
            <a:r>
              <a:t>If students ask:</a:t>
            </a:r>
          </a:p>
          <a:p>
            <a:r>
              <a:t>• Q: Why not MNIST digits? A: MNIST is too easy (a linear model reaches about 92% and small MLPs about 98%), so differences between models are hard to see. Fashion-MNIST leaves room: a linear model gets about 84%, our MLP about 88.5%.</a:t>
            </a:r>
          </a:p>
          <a:p>
            <a:r>
              <a:t>• Q: Why a fully connected network for images? A: It is the simplest network that shows every core idea. We will see its limit on slide 45; convolutional networks come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Part 1 divider (0:05)</a:t>
            </a:r>
          </a:p>
          <a:p/>
          <a:p>
            <a:r>
              <a:t>Say: "Four questions for the next 40 minutes. Keep them in mind; we'll tick them off."</a:t>
            </a:r>
          </a:p>
          <a:p/>
          <a:p>
            <a:r>
              <a:t>Tip: Read the questions aloud and move on in under 30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Same raw inputs: line vs bend (0:05–0:07)</a:t>
            </a:r>
          </a:p>
          <a:p/>
          <a:p>
            <a:r>
              <a:t>Say: "Same 400 points, same two input coordinates. Logistic regression can only draw a straight line, so it gets 87% on fresh test points. A small network with two hidden layers bends its boundary and gets 97%. The question for the next half hour is how it bends."</a:t>
            </a:r>
          </a:p>
          <a:p/>
          <a:p>
            <a:r>
              <a:t>Get it right:</a:t>
            </a:r>
          </a:p>
          <a:p>
            <a:r>
              <a:t>• The numbers are on 2,000 fresh test points, not the training data: logistic regression 87.5% train / 86.9% test; MLP 2–12–12–1 with ReLU 97.0% train / 96.7% test.</a:t>
            </a:r>
          </a:p>
          <a:p>
            <a:r>
              <a:t>• Be fair to classical ML: kernel SVMs and hand-made polynomial features also give curved boundaries. What is new is that the network learns the transformation from data.</a:t>
            </a:r>
          </a:p>
          <a:p/>
          <a:p>
            <a:r>
              <a:t>If students ask:</a:t>
            </a:r>
          </a:p>
          <a:p>
            <a:r>
              <a:t>• Q: Isn't this just a kernel SVM? A: A kernel SVM uses a fixed feature map chosen in advance (through the kernel). A network learns its feature map from the data along with the classifier. On two moons both work; on images, learned features win by a wide margin.</a:t>
            </a:r>
          </a:p>
          <a:p>
            <a:r>
              <a:t>• Q: Is 97% overfitting? A: No: train and test accuracy are almost equal (97.0% vs 96.7%). The remaining errors are points that overlap because of the noise in the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One neuron = logistic regression (0:07–0:10)</a:t>
            </a:r>
          </a:p>
          <a:p/>
          <a:p>
            <a:r>
              <a:t>Say: "A neuron computes a weighted sum plus a bias, z = wᵀx + b, then applies an activation. With the sigmoid, this is exactly logistic regression: z is the log-odds of class 1. Geometrically, z = 0 is a straight line in 2-D (a hyperplane in general). The weight vector w is perpendicular to it and points toward the positive side. The bias slides the line without rotating it."</a:t>
            </a:r>
          </a:p>
          <a:p/>
          <a:p>
            <a:r>
              <a:t>Get it right:</a:t>
            </a:r>
          </a:p>
          <a:p>
            <a:r>
              <a:t>• Distance from the origin to the boundary is |b| / ‖w‖ (for w ≠ 0). The signed distance of a point x is (wᵀx + b) / ‖w‖.</a:t>
            </a:r>
          </a:p>
          <a:p>
            <a:r>
              <a:t>• The decision boundary at probability 0.5 is z = 0, because σ(0) = 0.5 and σ is strictly increasing.</a:t>
            </a:r>
          </a:p>
          <a:p>
            <a:r>
              <a:t>• Scaling w and b by the same k &gt; 0 leaves the boundary unchanged but makes the sigmoid k times steeper. This is why unregularized logistic regression on separable data drives ‖w‖ to infinity.</a:t>
            </a:r>
          </a:p>
          <a:p/>
          <a:p>
            <a:r>
              <a:t>If students ask:</a:t>
            </a:r>
          </a:p>
          <a:p>
            <a:r>
              <a:t>• Q: Is this how real neurons work? A: Only loosely. McCulloch and Pitts (1943) modelled a neuron as a threshold unit. Real neurons have spikes, timing, dendritic computation and much more. Treat "neuron" as a name, not a claim about biology.</a:t>
            </a:r>
          </a:p>
          <a:p>
            <a:r>
              <a:t>• Q: Why the sigmoid and not a hard step? A: The step has zero derivative everywhere except at 0, where it is undefined, so gradient descent gets no signal. The perceptron learning rule (Rosenblatt, 1958) can train a single step unit on linearly separable data, but it does not extend to stacked layers.</a:t>
            </a:r>
          </a:p>
          <a:p>
            <a:r>
              <a:t>• Q: Why is z the log-odds? A: Solve p = σ(z) for z: z = log(p / (1 − p)). Logistic regression models the log-odds as linear in 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XOR is not linearly separable (0:10–0:13)</a:t>
            </a:r>
          </a:p>
          <a:p/>
          <a:p>
            <a:r>
              <a:t>Say: "Thirty seconds: try to draw one straight line with both violet points on one side and both grey points on the other. … You can't. Here's the proof. Write the condition each point imposes. Adding rows 2 and 3 gives w₁ + w₂ + 2b &gt; 0. Since b ≤ 0 from row 1, w₁ + w₂ + b &gt; −b ≥ 0. That contradicts row 4."</a:t>
            </a:r>
          </a:p>
          <a:p/>
          <a:p>
            <a:r>
              <a:t>Get it right:</a:t>
            </a:r>
          </a:p>
          <a:p>
            <a:r>
              <a:t>• The proof covers any single affine threshold, and therefore also a sigmoid neuron thresholded at 0.5, because the sigmoid is monotone.</a:t>
            </a:r>
          </a:p>
          <a:p>
            <a:r>
              <a:t>• Minsky and Papert (1969) made this limitation of single-layer perceptrons famous. Multi-layer networks could represent XOR then too; what was missing was a practical way to train them.</a:t>
            </a:r>
          </a:p>
          <a:p/>
          <a:p>
            <a:r>
              <a:t>If students ask:</a:t>
            </a:r>
          </a:p>
          <a:p>
            <a:r>
              <a:t>• Q: Could one neuron with a different activation solve XOR? A: Yes, if the activation is not monotone. With z = x₁ + x₂ − 1 and g(z) = 1 − z², the outputs on (0,0), (0,1), (1,0), (1,1) are 0, 1, 1, 0. The impossibility proof is for one linear threshold, which covers the usual monotone activations (step, sigmoid, tanh, ReLU).</a:t>
            </a:r>
          </a:p>
          <a:p>
            <a:r>
              <a:t>• Q: Why does XOR matter? It's a toy. A: It is the smallest example of a pattern where the label depends on an interaction between inputs, not on each input separately. Images are full of such interactions.</a:t>
            </a:r>
          </a:p>
          <a:p/>
          <a:p>
            <a:r>
              <a:t>Tip: Draw the unit square on the board and let a student try a line before showing the proof.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 Fix 1: a hand-made feature (0:13–0:15)</a:t>
            </a:r>
          </a:p>
          <a:p/>
          <a:p>
            <a:r>
              <a:t>Say: "Add a third feature, the product x₁x₂. In the three-dimensional space (x₁, x₂, x₁x₂) a single plane separates the classes. In fact, on the four corners, y = x₁ + x₂ − 2x₁x₂ exactly, which is linear in the new features."</a:t>
            </a:r>
          </a:p>
          <a:p/>
          <a:p>
            <a:r>
              <a:t>Get it right:</a:t>
            </a:r>
          </a:p>
          <a:p>
            <a:r>
              <a:t>• This is classical feature engineering. A degree-2 polynomial kernel would include x₁x₂ implicitly.</a:t>
            </a:r>
          </a:p>
          <a:p>
            <a:r>
              <a:t>• The point to land: changing the representation turned an impossible problem into an easy one. The catch: for 784 pixels, which products of which pixels should we add?</a:t>
            </a:r>
          </a:p>
          <a:p/>
          <a:p>
            <a:r>
              <a:t>If students ask:</a:t>
            </a:r>
          </a:p>
          <a:p>
            <a:r>
              <a:t>• Q: Why not add all pairwise products? A: For 784 inputs that is 784·783/2 = 306,936 new features, and you might also need triple products. Kernels avoid computing them explicitly but scale poorly with the number of training examples. Networks learn a compact set of useful features instead.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 Fix 2: learn the features (0:15–0:17)</a:t>
            </a:r>
          </a:p>
          <a:p/>
          <a:p>
            <a:r>
              <a:t>Say: "Here is the neural-network idea. Instead of designing h by hand, compute it with learnable parameters: h = g(W⁽¹⁾x + b⁽¹⁾). Then put the logistic regression you already know on top of h. Crucially, both parts are trained together, by gradient descent on one loss."</a:t>
            </a:r>
          </a:p>
          <a:p/>
          <a:p>
            <a:r>
              <a:t>Get it right:</a:t>
            </a:r>
          </a:p>
          <a:p>
            <a:r>
              <a:t>• The output neuron is literally logistic regression, but on learned features h instead of raw inputs x.</a:t>
            </a:r>
          </a:p>
          <a:p>
            <a:r>
              <a:t>• "Deep" means stacking this idea: layer 2 builds features out of layer-1 features.</a:t>
            </a:r>
          </a:p>
          <a:p>
            <a:r>
              <a:t>• End with the open question on the third card: what must g be? It sets up the next slide.</a:t>
            </a:r>
          </a:p>
          <a:p/>
          <a:p>
            <a:r>
              <a:t>If students ask:</a:t>
            </a:r>
          </a:p>
          <a:p>
            <a:r>
              <a:t>• Q: How does the network know which features to learn? A: It doesn't decide in advance. Gradient descent changes W⁽¹⁾ in whatever direction lowers the loss, so features that help the final prediction emerge. You'll see learned features from our running example on slide 45.</a:t>
            </a:r>
          </a:p>
          <a:p>
            <a:r>
              <a:t>• Q: Do learned features transfer to other tasks? A: Often, especially early layers of image networks (Yosinski et al., 2014). That is the basis of transfer learning, covered in a later session.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 Without a nonlinearity, layers collapse (0:17–0:19)</a:t>
            </a:r>
          </a:p>
          <a:p/>
          <a:p>
            <a:r>
              <a:t>Say: "Suppose g(z) = z. Substitute layer 1 into layer 2: you get W⁽²⁾W⁽¹⁾x plus a constant. A product of matrices is just a matrix. So two linear layers equal one linear layer, and by induction so do ten. The nonlinearity between layers is what buys expressive power."</a:t>
            </a:r>
          </a:p>
          <a:p/>
          <a:p>
            <a:r>
              <a:t>Get it right:</a:t>
            </a:r>
          </a:p>
          <a:p>
            <a:r>
              <a:t>• The collapse holds with biases: b′ = W⁽²⁾b⁽¹⁾ + b⁽²⁾.</a:t>
            </a:r>
          </a:p>
          <a:p>
            <a:r>
              <a:t>• A stack of linear layers can still differ from one layer in rank: if a middle layer is narrow, W′ has rank at most that width. It is still linear.</a:t>
            </a:r>
          </a:p>
          <a:p/>
          <a:p>
            <a:r>
              <a:t>If students ask:</a:t>
            </a:r>
          </a:p>
          <a:p>
            <a:r>
              <a:t>• Q: Then why do linear layers appear back-to-back in some architectures? A: A narrow linear bottleneck (low-rank factorization) can save parameters or act as a projection, but it adds no expressive power beyond a single linear map of that rank.</a:t>
            </a:r>
          </a:p>
          <a:p>
            <a:r>
              <a:t>• Q: Is a nonlinearity only at the output enough? A: No. That is exactly the next quick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 Quick check 1 (0:19–0:23)</a:t>
            </a:r>
          </a:p>
          <a:p/>
          <a:p>
            <a:r>
              <a:t>Run it: Silent vote (30 s), neighbour discussion (60 s), revote. Then explain.</a:t>
            </a:r>
          </a:p>
          <a:p/>
          <a:p>
            <a:r>
              <a:t>Answer: C — only a hyperplane. The identity hidden layers collapse into one affine map z = W′x + b′. The sigmoid is nonlinear but strictly increasing, so ŷ &gt; 0.5 exactly when z &gt; 0. The boundary is a hyperplane, whatever the depth or widths.</a:t>
            </a:r>
          </a:p>
          <a:p/>
          <a:p>
            <a:r>
              <a:t>Common wrong answers:</a:t>
            </a:r>
          </a:p>
          <a:p>
            <a:r>
              <a:t>• A ("any smooth curve"): students see "sigmoid" and think "nonlinear, so curved". The output nonlinearity changes the probabilities, not the shape of the 0.5 boundary.</a:t>
            </a:r>
          </a:p>
          <a:p>
            <a:r>
              <a:t>• D ("depends on widths"): widths change the rank of W′, never its linearity.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 Three common activations (0:23–0:25)</a:t>
            </a:r>
          </a:p>
          <a:p/>
          <a:p>
            <a:r>
              <a:t>Say: "Sigmoid squashes to between 0 and 1, tanh to between −1 and 1, and ReLU keeps positive values and zeroes the negatives. For hidden layers, ReLU is the standard default: it's cheap and its slope is exactly 1 wherever it's active. Why the flat tails of sigmoid and tanh matter for learning, you'll measure yourselves in Part 3."</a:t>
            </a:r>
          </a:p>
          <a:p/>
          <a:p>
            <a:r>
              <a:t>Get it right:</a:t>
            </a:r>
          </a:p>
          <a:p>
            <a:r>
              <a:t>• ReLU(z) = max(0, z). Its derivative is 1 for z &gt; 0 and 0 for z &lt; 0; at exactly 0 it is undefined and frameworks use 0 by convention.</a:t>
            </a:r>
          </a:p>
          <a:p>
            <a:r>
              <a:t>• Sigmoid is still the right choice at a binary output, where it turns a logit into a probability.</a:t>
            </a:r>
          </a:p>
          <a:p>
            <a:r>
              <a:t>• ReLU's rise: Nair &amp; Hinton (2010) and Glorot, Bordes &amp; Bengio (2011); AlexNet (Krizhevsky et al., 2012) made it standard. Many modern Transformer models use smooth variants such as GELU (Hendrycks &amp; Gimpel, 2016) or SiLU/Swish, often inside gated units such as SwiGLU (Shazeer, 2020).</a:t>
            </a:r>
          </a:p>
          <a:p/>
          <a:p>
            <a:r>
              <a:t>If students ask:</a:t>
            </a:r>
          </a:p>
          <a:p>
            <a:r>
              <a:t>• Q: Isn't ReLU linear? How can it bend anything? A: It is piecewise linear: linear on each side of 0, but not linear overall, because ReLU(a + b) ≠ ReLU(a) + ReLU(b) in general. That kink, repeated across many units, is enough (next two slides).</a:t>
            </a:r>
          </a:p>
          <a:p>
            <a:r>
              <a:t>• Q: What is a "dead" ReLU? A: A unit whose pre-activation is negative for every training input. Its gradient is then zero, so it may never recover. Too large a learning rate can cause it; Leaky ReLU (small slope for z &lt; 0) is one remedy.</a:t>
            </a:r>
          </a:p>
          <a:p>
            <a:r>
              <a:t>• Q: Which activation is best? A: There is no universal best. ReLU is a strong default for MLPs and CNNs; GELU or SiLU variants are common in Transformers. The differences are usually smaller than those from learning rate or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 Two ReLUs solve XOR (0:25–0:29)</a:t>
            </a:r>
          </a:p>
          <a:p/>
          <a:p>
            <a:r>
              <a:t>Run it: Pairs, 2 minutes: compute h₁, h₂ and s for the four inputs.</a:t>
            </a:r>
          </a:p>
          <a:p/>
          <a:p>
            <a:r>
              <a:t>Answers:</a:t>
            </a:r>
          </a:p>
          <a:p/>
          <a:p>
            <a:r>
              <a:t>| Input (x₁, x₂) | h₁ = ReLU(x₁ + x₂) | h₂ = ReLU(x₁ + x₂ − 1) | s = h₁ − 2h₂ |</a:t>
            </a:r>
          </a:p>
          <a:p>
            <a:r>
              <a:t>| --- | --- | --- | --- |</a:t>
            </a:r>
          </a:p>
          <a:p>
            <a:r>
              <a:t>| (0, 0) | 0 | 0 | 0 |</a:t>
            </a:r>
          </a:p>
          <a:p>
            <a:r>
              <a:t>| (0, 1) | 1 | 0 | 1 |</a:t>
            </a:r>
          </a:p>
          <a:p>
            <a:r>
              <a:t>| (1, 0) | 1 | 0 | 1 |</a:t>
            </a:r>
          </a:p>
          <a:p>
            <a:r>
              <a:t>| (1, 1) | 2 | 1 | 0 |</a:t>
            </a:r>
          </a:p>
          <a:p/>
          <a:p>
            <a:r>
              <a:t>Say: "Look at the right-hand panel. The hidden layer moves the points: both class-1 points land on the same spot, (1, 0). Now a single straight line separates the classes. The hidden layer changes the representation; the output neuron just draws the line."</a:t>
            </a:r>
          </a:p>
          <a:p/>
          <a:p>
            <a:r>
              <a:t>Get it right:</a:t>
            </a:r>
          </a:p>
          <a:p>
            <a:r>
              <a:t>• In hidden space the output's decision line is s = 1/2, that is h₁ − 2h₂ = 1/2.</a:t>
            </a:r>
          </a:p>
          <a:p>
            <a:r>
              <a:t>• This network is exact on the four binary corners. It is not a probability model on arbitrary real inputs.</a:t>
            </a:r>
          </a:p>
          <a:p>
            <a:r>
              <a:t>• h₁ behaves like "at least one input is on" (OR-like) and h₂ like "both are on" (AND-like); XOR = OR minus 2·AND on these points.</a:t>
            </a:r>
          </a:p>
          <a:p/>
          <a:p>
            <a:r>
              <a:t>If students ask:</a:t>
            </a:r>
          </a:p>
          <a:p>
            <a:r>
              <a:t>• Q: Would gradient descent find these exact weights? A: Usually it finds a different solution that also works; many weight settings solve XOR. With very few hidden units, training can also get stuck, which is one reason networks are usually made wider than the bare minimum.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 Many ReLUs: a patchwork of linear pieces (0:29–0:31)</a:t>
            </a:r>
          </a:p>
          <a:p/>
          <a:p>
            <a:r>
              <a:t>Say: "This is the network from slide 5. Each coloured patch is a region where every ReLU is either on or off. Inside one patch, the whole network is exactly linear. So the decision boundary is a chain of straight segments, and with enough segments it can follow any curve."</a:t>
            </a:r>
          </a:p>
          <a:p/>
          <a:p>
            <a:r>
              <a:t>Get it right:</a:t>
            </a:r>
          </a:p>
          <a:p>
            <a:r>
              <a:t>• The count 67 is the number of distinct on/off patterns of the 24 ReLUs found on a 900 × 600 grid in this window. Tiny regions can be missed, so it is a lower bound.</a:t>
            </a:r>
          </a:p>
          <a:p>
            <a:r>
              <a:t>• Universal approximation (Cybenko, 1989; Hornik, 1991; Leshno et al., 1993): one hidden layer with enough units of a non-polynomial activation can approximate any continuous function on a compact set to any accuracy. It is an existence result: it says nothing about how many units, whether training finds them, or whether the result generalizes (Appendix A4).</a:t>
            </a:r>
          </a:p>
          <a:p/>
          <a:p>
            <a:r>
              <a:t>If students ask:</a:t>
            </a:r>
          </a:p>
          <a:p>
            <a:r>
              <a:t>• Q: If one hidden layer is enough, why go deep? A: Depth can be exponentially more efficient: some functions that a deep ReLU network represents with few units need exponentially many units in a shallow one (Telgarsky, 2016; Montúfar et al., 2014 on linear regions). In practice, deep networks also learn reusable hierarchies of features.</a:t>
            </a:r>
          </a:p>
          <a:p>
            <a:r>
              <a:t>• Q: Does the number of regions grow with more units? A: Yes. For ReLU networks it can grow polynomially with width and exponentially with depth in the best case (Montúfar et al., 2014). Trained networks typically use far fewer regions than the maximum.</a:t>
            </a:r>
          </a:p>
          <a:p/>
          <a:p>
            <a:r>
              <a:t>Tip: If you are ahead, open playground.tensorflow.org, pick the spiral dataset and ReLU, and add hidden units live.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 The forward pass, one rule per layer (0:31–0:34)</a:t>
            </a:r>
          </a:p>
          <a:p/>
          <a:p>
            <a:r>
              <a:t>Say: "Every layer does the same two things: an affine map z = W a + b, then the activation. The last layer has no activation; its outputs are the logits. Check the shapes every time: W⁽ˡ⁾ has one row per unit of layer l and one column per unit of the layer below."</a:t>
            </a:r>
          </a:p>
          <a:p/>
          <a:p>
            <a:r>
              <a:t>Get it right:</a:t>
            </a:r>
          </a:p>
          <a:p>
            <a:r>
              <a:t>• Notation: z = pre-activation, a = activation, a⁽⁰⁾ = x, and z⁽ᴸ⁾ = logits.</a:t>
            </a:r>
          </a:p>
          <a:p>
            <a:r>
              <a:t>• Column-vector convention for derivations; code stores examples as rows, so it computes A Wᵀ + b (slide 17).</a:t>
            </a:r>
          </a:p>
          <a:p/>
          <a:p>
            <a:r>
              <a:t>If students ask:</a:t>
            </a:r>
          </a:p>
          <a:p>
            <a:r>
              <a:t>• Q: Why no activation on the last layer? A: The loss turns logits into probabilities itself, in a numerically stable way (slide 18, Appendix A3). For regression the output should be unbounded, so no activation either.</a:t>
            </a:r>
          </a:p>
          <a:p>
            <a:r>
              <a:t>• Q: What does "a layer" mean in code? A: A weight matrix and a bias vector, plus the activation applied after it. In PyTorch next session that is nn.Linear followed by nn.ReLU.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 Running example: 784–128–64–10 (0:34–0:36)</a:t>
            </a:r>
          </a:p>
          <a:p/>
          <a:p>
            <a:r>
              <a:t>Say: "Each 28-by-28 image is flattened into 784 numbers. A mini-batch of 256 images becomes a 256 × 784 matrix, one image per row. Two hidden layers of 128 and 64 ReLU units, then 10 logits, one per class. Predict: is W⁽¹⁾ 784 × 128 or 128 × 784?"</a:t>
            </a:r>
          </a:p>
          <a:p/>
          <a:p>
            <a:r>
              <a:t>Get it right:</a:t>
            </a:r>
          </a:p>
          <a:p>
            <a:r>
              <a:t>• The batch size 256 was chosen so that it never equals a layer width; shape mistakes are then visible.</a:t>
            </a:r>
          </a:p>
          <a:p>
            <a:r>
              <a:t>• The input shape (256, 28, 28) is a batch of 256 grey images. In PyTorch it is usually (256, 1, 28, 28), with an explicit channel dimension; flattening gives (256, 784) either way.</a:t>
            </a:r>
          </a:p>
          <a:p/>
          <a:p>
            <a:r>
              <a:t>If students ask:</a:t>
            </a:r>
          </a:p>
          <a:p>
            <a:r>
              <a:t>• Q: Why 128 and 64? How do you choose widths? A: These are hyperparameters, chosen by experiment on the validation set. Shrinking widths toward the output is a common habit, not a rule.</a:t>
            </a:r>
          </a:p>
          <a:p>
            <a:r>
              <a:t>• Q: Doesn't flattening lose information? A: It keeps every pixel value but throws away which pixels are neighbours. The MLP has to learn spatial structure from scratch, which is why convolutional networks do better (slide 45).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 109,386 parameters (0:36–0:38)</a:t>
            </a:r>
          </a:p>
          <a:p/>
          <a:p>
            <a:r>
              <a:t>Say: "Answer: 128 × 784, one row per hidden unit. Count weights plus biases layer by layer: 100,480 + 8,256 + 650 = 109,386. The first layer holds 92% of them, because every hidden unit connects to every pixel."</a:t>
            </a:r>
          </a:p>
          <a:p/>
          <a:p>
            <a:r>
              <a:t>Get it right:</a:t>
            </a:r>
          </a:p>
          <a:p>
            <a:r>
              <a:t>• Per layer: n⁽ˡ⁾·n⁽ˡ⁻¹⁾ weights + n⁽ˡ⁾ biases. 128·784 + 128 = 100,480; 64·128 + 64 = 8,256; 10·64 + 10 = 650.</a:t>
            </a:r>
          </a:p>
          <a:p>
            <a:r>
              <a:t>• With examples as rows, Z = A W⁽ˡ⁾ᵀ + b⁽ˡ⁾ᵀ: (256 × 784)(784 × 128) = 256 × 128. Same weights, transposed product.</a:t>
            </a:r>
          </a:p>
          <a:p/>
          <a:p>
            <a:r>
              <a:t>If students ask:</a:t>
            </a:r>
          </a:p>
          <a:p>
            <a:r>
              <a:t>• Q: In PyTorch, is the weight stored as 784 × 128? A: No. nn.Linear(784, 128).weight has shape (128, 784), matching this slide, and computes x @ weight.T + bias.</a:t>
            </a:r>
          </a:p>
          <a:p>
            <a:r>
              <a:t>• Q: Is 109,386 parameters a lot? A: Small by modern standards. It is roughly twice the number of training images. Language models in 2026 have billions to trillions of parameters.</a:t>
            </a:r>
          </a:p>
          <a:p>
            <a:r>
              <a:t>• Q: Do more parameters mean more overfitting? A: Not automatically. Overfitting depends on data, training time and regularization as well. Very large networks can generalize well (see double descent, a later session).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 Logits and softmax (0:38–0:41)</a:t>
            </a:r>
          </a:p>
          <a:p/>
          <a:p>
            <a:r>
              <a:t>Say: "The last layer gives 10 raw scores, called logits. Softmax exponentiates and normalizes them: every probability is positive, they sum to 1, and the ranking is kept. Logits 2.0, 1.0, 0.1 become 0.66, 0.24, 0.10. One rule for code: the model returns raw logits, and the loss applies softmax itself."</a:t>
            </a:r>
          </a:p>
          <a:p/>
          <a:p>
            <a:r>
              <a:t>Get it right:</a:t>
            </a:r>
          </a:p>
          <a:p>
            <a:r>
              <a:t>• With K = 2 classes and logits (z, 0), softmax gives eᶻ / (eᶻ + 1) = σ(z). Softmax generalizes the sigmoid.</a:t>
            </a:r>
          </a:p>
          <a:p>
            <a:r>
              <a:t>• Softmax is unchanged if you add the same constant to every logit. That is what makes the stable log-sum-exp trick possible (Appendix A3).</a:t>
            </a:r>
          </a:p>
          <a:p>
            <a:r>
              <a:t>• The silent bug: softmax in the model and again inside the loss. Training runs without error but optimizes a different objective; for 10 classes the loss cannot go below about 1.46.</a:t>
            </a:r>
          </a:p>
          <a:p/>
          <a:p>
            <a:r>
              <a:t>If students ask:</a:t>
            </a:r>
          </a:p>
          <a:p>
            <a:r>
              <a:t>• Q: Why exponentiate? Why not divide by the sum directly? A: Logits can be negative, and exponentiating makes them positive. It also matches the log-linear (multinomial logistic) model, so the log-probabilities are simply logits minus a normalizer.</a:t>
            </a:r>
          </a:p>
          <a:p>
            <a:r>
              <a:t>• Q: Are softmax outputs true probabilities? A: They sum to 1, but they are often over-confident. How well they match real frequencies is called calibration (Guo et al., 2017). Slide 44 shows the model becoming over-confident.</a:t>
            </a:r>
          </a:p>
          <a:p>
            <a:r>
              <a:t>• Q: What is "temperature"? A: Dividing logits by T before softmax. T &gt; 1 flattens the distribution, T &lt; 1 sharpens it. It appears in calibration and in sampling from language models.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 Quick check 2 (0:41–0:45)</a:t>
            </a:r>
          </a:p>
          <a:p/>
          <a:p>
            <a:r>
              <a:t>Run it: Paper and pencil, vote, discuss, revote.</a:t>
            </a:r>
          </a:p>
          <a:p/>
          <a:p>
            <a:r>
              <a:t>Answer: B — 203,530. Layer 1: 784·256 + 256 = 200,960. Layer 2: 256·10 + 10 = 2,570. Total 203,530.</a:t>
            </a:r>
          </a:p>
          <a:p/>
          <a:p>
            <a:r>
              <a:t>Common wrong answers:</a:t>
            </a:r>
          </a:p>
          <a:p>
            <a:r>
              <a:t>• A (203,264) forgets the biases.</a:t>
            </a:r>
          </a:p>
          <a:p>
            <a:r>
              <a:t>• C (200,960) is layer 1 only; D (2,570) is layer 2 only.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 Part 2 divider (0:45)</a:t>
            </a:r>
          </a:p>
          <a:p/>
          <a:p>
            <a:r>
              <a:t>Say: "We can compute outputs. Now: how do 109,386 numbers get good values?"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21 · A loss is one number with a slope (0:45–0:48)</a:t>
            </a:r>
          </a:p>
          <a:p/>
          <a:p>
            <a:r>
              <a:t>Say: "Follow one image. The network gives this sneaker probability 0.70 for 'sneaker'. The loss is −log 0.70, about 0.36. Average over the training set to get J(θ). The data are fixed, so J depends only on the parameters. Why not train on accuracy directly? Look at the plot: as one weight changes, the error rate is flat and then jumps. Its slope is zero almost everywhere, so it gives no direction. The loss is smooth."</a:t>
            </a:r>
          </a:p>
          <a:p/>
          <a:p>
            <a:r>
              <a:t>Get it right:</a:t>
            </a:r>
          </a:p>
          <a:p>
            <a:r>
              <a:t>• −ln 0.70 = 0.3567. Natural logarithms throughout.</a:t>
            </a:r>
          </a:p>
          <a:p>
            <a:r>
              <a:t>• The plot: one sigmoid neuron on 12 points, sweeping one weight with the bias fixed. The loss minimum and the best error rate need not be at the same weight; that is normal.</a:t>
            </a:r>
          </a:p>
          <a:p>
            <a:r>
              <a:t>• Accuracy is what we report; the loss is what we optimize.</a:t>
            </a:r>
          </a:p>
          <a:p/>
          <a:p>
            <a:r>
              <a:t>If students ask:</a:t>
            </a:r>
          </a:p>
          <a:p>
            <a:r>
              <a:t>• Q: Why average rather than sum? A: The average keeps the loss on the same scale whatever the dataset or batch size, so a learning rate that works for one batch size is less sensitive to it. Summing just rescales the gradient.</a:t>
            </a:r>
          </a:p>
          <a:p>
            <a:r>
              <a:t>• Q: Can't we approximate accuracy smoothly? A: Cross-entropy is in effect that smooth surrogate. Other surrogates exist (hinge loss in SVMs), but cross-entropy also gives probabilities and matches maximum likelihood.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22 · Cross-entropy is the negative log-likelihood (0:48–0:51)</a:t>
            </a:r>
          </a:p>
          <a:p/>
          <a:p>
            <a:r>
              <a:t>Say: "You fitted logistic regression by maximum likelihood. Same principle here: assume a probability model for y given x, then minimize the average negative log-likelihood. Gaussian noise gives squared error. A Bernoulli label gives binary cross-entropy. A categorical label gives multi-class cross-entropy: minus the log of the probability of the true class."</a:t>
            </a:r>
          </a:p>
          <a:p/>
          <a:p>
            <a:r>
              <a:t>Get it right:</a:t>
            </a:r>
          </a:p>
          <a:p>
            <a:r>
              <a:t>• Gaussian with fixed variance: −log p(y | x) = (y − ŷ)² / (2σ²) + const, so minimizing it is minimizing squared error.</a:t>
            </a:r>
          </a:p>
          <a:p>
            <a:r>
              <a:t>• Maximizing a product of probabilities = minimizing a sum of negative logs. The log turns products into sums and avoids numerical underflow.</a:t>
            </a:r>
          </a:p>
          <a:p>
            <a:r>
              <a:t>• Not every loss is a negative log-likelihood (hinge and ranking losses are not), but the common ones are.</a:t>
            </a:r>
          </a:p>
          <a:p>
            <a:r>
              <a:t>• In code, all three losses take raw outputs: mse(ŷ, y), bce_with_logits(z, y), cross_entropy(z, y). In PyTorch: nn.MSELoss, nn.BCEWithLogitsLoss, nn.CrossEntropyLoss.</a:t>
            </a:r>
          </a:p>
          <a:p/>
          <a:p>
            <a:r>
              <a:t>If students ask:</a:t>
            </a:r>
          </a:p>
          <a:p>
            <a:r>
              <a:t>• Q: Why is it called "cross-entropy"? A: For a true distribution q and a predicted distribution p, the cross-entropy is H(q, p) = −Σ q_k log p_k. With a one-hot label q, it reduces to −log p of the true class. It equals the entropy of q plus the KL divergence from q to p, so minimizing it minimizes the KL divergence.</a:t>
            </a:r>
          </a:p>
          <a:p>
            <a:r>
              <a:t>• Q: Binary or multi-class for two classes? A: Equivalent. One sigmoid output with binary cross-entropy matches two softmax outputs with cross-entropy (slide 18: softmax over (z, 0) is σ(z)).</a:t>
            </a:r>
          </a:p>
          <a:p>
            <a:r>
              <a:t>• Q: What about multi-label problems (several classes true at once)? A: Use one sigmoid and binary cross-entropy per class, not softmax.</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23 · Sanity check: first loss ≈ ln 10 (0:51–0:53)</a:t>
            </a:r>
          </a:p>
          <a:p/>
          <a:p>
            <a:r>
              <a:t>Say: "Before you train, look at the very first loss. If the network starts with all ten logits close together, every class gets probability about 1/10, so the loss is about ln 10 = 2.30. Ours: 2.29 to 2.33 across three seeds. If you see 8 or 15, something is off before training has even started."</a:t>
            </a:r>
          </a:p>
          <a:p/>
          <a:p>
            <a:r>
              <a:t>Get it right:</a:t>
            </a:r>
          </a:p>
          <a:p>
            <a:r>
              <a:t>• Setup: He-normal initialization (standard deviation √(2/fan_in)) in the two hidden layers, standard deviation 0.01 in the output layer, zero biases. Small output weights make the initial logits small.</a:t>
            </a:r>
          </a:p>
          <a:p>
            <a:r>
              <a:t>• If the output layer also used He initialization, the initial logits would have a standard deviation of about 1.1–1.5 and the first loss would be 2.7–3.4 (three seeds on our data), noticeably above ln 10.</a:t>
            </a:r>
          </a:p>
          <a:p>
            <a:r>
              <a:t>• This is step one of Karpathy's (2019) "A recipe for training neural networks": verify the loss at initialization.</a:t>
            </a:r>
          </a:p>
          <a:p/>
          <a:p>
            <a:r>
              <a:t>If students ask:</a:t>
            </a:r>
          </a:p>
          <a:p>
            <a:r>
              <a:t>• Q: What does PyTorch do by default? A: nn.Linear initializes weights uniformly with a scale of about 1/√fan_in (Kaiming-uniform with a = √5). On our standardized inputs that also gives small logits and a first loss of 2.30–2.32 (three seeds).</a:t>
            </a:r>
          </a:p>
          <a:p>
            <a:r>
              <a:t>• Q: What is the expected first loss with 100 classes? A: ln 100 ≈ 4.61. It is homework.</a:t>
            </a:r>
          </a:p>
          <a:p>
            <a:r>
              <a:t>• Q: What if the classes are imbalanced? A: Then a good initial output bias is the log of each class's frequency, and the expected first loss is the entropy of the class distribution, which is below ln 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24 · Cross-entropy vs squared error (0:53–0:56)</a:t>
            </a:r>
          </a:p>
          <a:p/>
          <a:p>
            <a:r>
              <a:t>Say: "Take a sigmoid output and a true label y = 1. With cross-entropy, the gradient with respect to the logit is σ(z) − y: about −1 when the model is confidently wrong, a strong push. With squared error there is an extra factor σ(1 − σ), which goes to zero in the tails. Confidently wrong examples barely move. That's the red curve."</a:t>
            </a:r>
          </a:p>
          <a:p/>
          <a:p>
            <a:r>
              <a:t>Get it right:</a:t>
            </a:r>
          </a:p>
          <a:p>
            <a:r>
              <a:t>• Squared error here is L = ½(σ(z) − y)², so ∂L/∂z = (σ − y)·σ(1 − σ). At σ(z) = 0.0001, y = 1: cross-entropy gives −0.9999; squared error gives about −0.0001.</a:t>
            </a:r>
          </a:p>
          <a:p>
            <a:r>
              <a:t>• The red curve peaks at σ = 1/3, that is z ≈ −0.69, where its value is 4/27 ≈ 0.148.</a:t>
            </a:r>
          </a:p>
          <a:p>
            <a:r>
              <a:t>• Squared error is still the right loss for regression. The issue is squared error on a sigmoid or softmax output.</a:t>
            </a:r>
          </a:p>
          <a:p/>
          <a:p>
            <a:r>
              <a:t>If students ask:</a:t>
            </a:r>
          </a:p>
          <a:p>
            <a:r>
              <a:t>• Q: Is cross-entropy convex? A: In the logits, yes; for logistic regression it is convex in the weights too. For a network it is not convex in the weights, because the logits are a nonlinear function of them.</a:t>
            </a:r>
          </a:p>
          <a:p>
            <a:r>
              <a:t>• Q: Does anyone train classifiers with squared error? A: Sometimes, and it can work with care, but cross-entropy on logits is the standard default.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25 · Gradient descent (0:56–0:59)</a:t>
            </a:r>
          </a:p>
          <a:p/>
          <a:p>
            <a:r>
              <a:t>Say: "The gradient points uphill, in the direction where J rises fastest. So step the opposite way, scaled by the learning rate η. A first-order Taylor expansion shows why it works: for a small enough step, J changes by −η‖∇J‖², which is negative."</a:t>
            </a:r>
          </a:p>
          <a:p/>
          <a:p>
            <a:r>
              <a:t>Get it right:</a:t>
            </a:r>
          </a:p>
          <a:p>
            <a:r>
              <a:t>• "Small enough" is the catch: the Taylor approximation ignores curvature. The next slide makes the limit exact on a quadratic.</a:t>
            </a:r>
          </a:p>
          <a:p>
            <a:r>
              <a:t>• The gradient here has 109,386 components, one per parameter. Computing all of them efficiently is Part 3.</a:t>
            </a:r>
          </a:p>
          <a:p/>
          <a:p>
            <a:r>
              <a:t>If students ask:</a:t>
            </a:r>
          </a:p>
          <a:p>
            <a:r>
              <a:t>• Q: Why the negative gradient and not some other downhill direction? A: Among all directions of the same small length, the negative gradient gives the steepest first-order decrease in the Euclidean norm (by Cauchy–Schwarz). Other descent directions also work; Newton's method uses curvature to pick a better one, but is far too expensive for millions of parameters.</a:t>
            </a:r>
          </a:p>
          <a:p>
            <a:r>
              <a:t>• Q: How do I choose η? A: Try values spaced by factors of about 3–10 (for example 1e−4 to 1e−1), watch the training loss for the first few hundred steps, and pick the largest value that decreases it smoothly. Adam with η = 10⁻³ is a common starting point for small networks.</a:t>
            </a:r>
          </a:p>
          <a:p>
            <a:r>
              <a:t>• Q: Does gradient descent find the global minimum? A: For a convex loss with a suitable η, yes. For networks there is no guarantee, but in practice large networks usually reach low training loss.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26 · How big a step? (0:59–1:02)</a:t>
            </a:r>
          </a:p>
          <a:p/>
          <a:p>
            <a:r>
              <a:t>Say: "On a quadratic bowl, gradient descent decouples along the curvature directions: each coordinate is multiplied by (1 − ηλ) every step. It converges only if every factor has magnitude below 1, which means η &lt; 2 / λmax. The sharpest direction sets the ceiling; the flattest direction then sets the speed."</a:t>
            </a:r>
          </a:p>
          <a:p/>
          <a:p>
            <a:r>
              <a:t>Get it right:</a:t>
            </a:r>
          </a:p>
          <a:p>
            <a:r>
              <a:t>• Here λ = 1 and 10, so η must be below 0.2. η = 0.02: θ₂ factor 0.8, θ₁ factor 0.98 (slow). η = 0.15: θ₂ factor −0.5 (oscillates but shrinks), θ₁ factor 0.85. η = 0.21: θ₂ factor −1.1, grows.</a:t>
            </a:r>
          </a:p>
          <a:p>
            <a:r>
              <a:t>• The λ's are the eigenvalues of the Hessian. Their ratio, λmax / λmin, is the condition number: large means slow progress along flat directions.</a:t>
            </a:r>
          </a:p>
          <a:p>
            <a:r>
              <a:t>• Real losses are not quadratic, but locally the same mechanism explains oscillation, blow-up and slow progress.</a:t>
            </a:r>
          </a:p>
          <a:p/>
          <a:p>
            <a:r>
              <a:t>If students ask:</a:t>
            </a:r>
          </a:p>
          <a:p>
            <a:r>
              <a:t>• Q: Do real networks respect η &lt; 2/λmax? A: Interestingly, full-batch gradient descent on networks often drives the sharpness (λmax) up to about 2/η and then hovers there while the loss keeps falling, the "edge of stability" (Cohen et al., 2021). The quadratic rule is a guide, not a law, for networks.</a:t>
            </a:r>
          </a:p>
          <a:p>
            <a:r>
              <a:t>• Q: What if the loss is convex — can I use any η? A: No. This bowl is convex and η = 0.21 still diverges. That is quick check 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27 · Quick check 3 (1:02–1:05)</a:t>
            </a:r>
          </a:p>
          <a:p/>
          <a:p>
            <a:r>
              <a:t>Run it: Vote, discuss, revote. Ask students to name the curvatures first.</a:t>
            </a:r>
          </a:p>
          <a:p/>
          <a:p>
            <a:r>
              <a:t>Answer: B — η &lt; 2/50 = 0.04. The curvatures are 4 and 50, and gradient descent converges from every start if and only if 0 &lt; η &lt; 2/λmax = 0.04.</a:t>
            </a:r>
          </a:p>
          <a:p/>
          <a:p>
            <a:r>
              <a:t>Common wrong answers:</a:t>
            </a:r>
          </a:p>
          <a:p>
            <a:r>
              <a:t>• A (0.5) uses the flat direction; θ₂ would diverge.</a:t>
            </a:r>
          </a:p>
          <a:p>
            <a:r>
              <a:t>• C (0.02) is safe but not the full range; η = 0.03 also converges.</a:t>
            </a:r>
          </a:p>
          <a:p>
            <a:r>
              <a:t>• D: convexity guarantees one minimum, not that every step size reaches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28 · Standardize, then mini-batches (1:05–1:08)</a:t>
            </a:r>
          </a:p>
          <a:p/>
          <a:p>
            <a:r>
              <a:t>Say: "Two practical points. First, standardize the inputs using statistics from the training split only. Second, computing the exact gradient over 55,000 images for every step is wasteful. A random mini-batch of 256 gives a noisy but unbiased estimate at a fraction of the cost. Shuffle every epoch. That is stochastic gradient descent."</a:t>
            </a:r>
          </a:p>
          <a:p/>
          <a:p>
            <a:r>
              <a:t>Get it right:</a:t>
            </a:r>
          </a:p>
          <a:p>
            <a:r>
              <a:t>• μ = 0.286, σ = 0.353 on pixel values scaled to [0, 1], computed on the 55,000 training images, one scalar for all pixels.</a:t>
            </a:r>
          </a:p>
          <a:p>
            <a:r>
              <a:t>• ⌈55,000 / 256⌉ = 215 updates per epoch; the last batch has 216 images.</a:t>
            </a:r>
          </a:p>
          <a:p>
            <a:r>
              <a:t>• If examples are sampled independently, the standard deviation of the mini-batch gradient estimate falls like 1/√B. Four times the batch halves the noise but costs four times as much per step.</a:t>
            </a:r>
          </a:p>
          <a:p>
            <a:r>
              <a:t>• Epoch = one pass over the training data. Iteration (step) = one parameter update.</a:t>
            </a:r>
          </a:p>
          <a:p/>
          <a:p>
            <a:r>
              <a:t>If students ask:</a:t>
            </a:r>
          </a:p>
          <a:p>
            <a:r>
              <a:t>• Q: Why not compute μ and σ on all the data? A: Using validation or test data in preprocessing leaks information about them into training, so validation scores become optimistic. The rule: fit every preprocessing step on the training split only.</a:t>
            </a:r>
          </a:p>
          <a:p>
            <a:r>
              <a:t>• Q: Why shuffle? A: Without shuffling, consecutive batches can be correlated (for example, sorted by class), which biases each step. Shuffling makes each mini-batch a fair sample.</a:t>
            </a:r>
          </a:p>
          <a:p>
            <a:r>
              <a:t>• Q: Is a bigger batch better? A: It gives a less noisy gradient and uses hardware better, but fewer updates per epoch. Very large batches usually need a larger learning rate and warm-up (Goyal et al., 2017). Some noise can even help generalization, though this is debated.</a:t>
            </a:r>
          </a:p>
          <a:p>
            <a:r>
              <a:t>• Q: Why powers of two like 256? A: Habit and slightly better hardware efficiency. Any batch size works.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 Momentum and Adam (1:08–1:10)</a:t>
            </a:r>
          </a:p>
          <a:p/>
          <a:p>
            <a:r>
              <a:t>Say: "Plain gradient descent uses one step size for every direction. In a narrow ravine it bounces across and creeps along. Momentum keeps a running sum of past gradients, so steady directions build speed and zig-zags cancel. Adam adds a separate step size for each parameter, from a running average of squared gradients. We train our running example with Adam, η = 10⁻³."</a:t>
            </a:r>
          </a:p>
          <a:p/>
          <a:p>
            <a:r>
              <a:t>Get it right:</a:t>
            </a:r>
          </a:p>
          <a:p>
            <a:r>
              <a:t>• The toy: a rotated quadratic with curvatures 1 and 25, each method's η tuned separately on a grid for 40 steps. Losses after 40 steps: gradient descent 5.9 × 10⁻³, momentum 1.5 × 10⁻³, Adam 3.6 × 10⁻⁴. Do not present this as a ranking that holds in general.</a:t>
            </a:r>
          </a:p>
          <a:p>
            <a:r>
              <a:t>• Momentum as written (v ← βv + g, θ ← θ − ηv) is the PyTorch form. Adam: Kingma &amp; Ba (2015); full equations in Appendix A6.</a:t>
            </a:r>
          </a:p>
          <a:p/>
          <a:p>
            <a:r>
              <a:t>If students ask:</a:t>
            </a:r>
          </a:p>
          <a:p>
            <a:r>
              <a:t>• Q: Which optimizer should I use? A: AdamW is the most common default, especially for Transformers. SGD with momentum remains strong for image CNNs. Newer optimizers such as Muon (Jordan et al., 2024) have been used for large language-model training (Liu et al., 2025), but they are not yet a general default. Tune the learning rate first; it matters more than the optimizer choice.</a:t>
            </a:r>
          </a:p>
          <a:p>
            <a:r>
              <a:t>• Q: What is the difference between Adam and AdamW? A: How weight decay is applied. Adam with an L2 penalty adds it through the gradient, where Adam's per-parameter scaling distorts it. AdamW applies the decay directly to the weights (Loshchilov &amp; Hutter, 2019). Session 2.</a:t>
            </a:r>
          </a:p>
          <a:p>
            <a:r>
              <a:t>• Q: Does Adam need a learning rate? A: Yes. Adam rescales each parameter's step, but η still sets the overall step size.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30 · Break (1:10–1:20)</a:t>
            </a:r>
          </a:p>
          <a:p/>
          <a:p>
            <a:r>
              <a:t>Say: "Ten minutes. While you stretch, think about this: a network with 10⁸ parameters, one millisecond per forward pass. How long does one gradient take if you nudge each parameter separately?"</a:t>
            </a:r>
          </a:p>
          <a:p/>
          <a:p>
            <a:r>
              <a:t>Answer (give it after the break): 10⁸ forward passes × 1 ms = 10⁵ s ≈ 28 hours, for a single gradient, and it grows linearly with the number of parameters. Backpropagation gets all of them for roughly the cost of one forward and one backward pass.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 Part 3 divider (1:20)</a:t>
            </a:r>
          </a:p>
          <a:p/>
          <a:p>
            <a:r>
              <a:t>Say: "Answer to the break question: about 28 hours for one gradient. We need something radically better. That is backpropagation."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32 · Backpropagation: one backward sweep (1:20–1:23)</a:t>
            </a:r>
          </a:p>
          <a:p/>
          <a:p>
            <a:r>
              <a:t>Say: "Finite differences need one extra forward pass per parameter. Backpropagation applies the chain rule from the loss backward. Look at the three gradients: they share the orange prefix, ∂J/∂c, then ∂J/∂c·∂c/∂b, and so on. Computed once from the output end and reused, all gradients cost about one backward pass."</a:t>
            </a:r>
          </a:p>
          <a:p/>
          <a:p>
            <a:r>
              <a:t>Get it right:</a:t>
            </a:r>
          </a:p>
          <a:p>
            <a:r>
              <a:t>• Backprop is reverse-mode automatic differentiation. History: Linnainmaa (1970) for reverse-mode differentiation; Werbos (1974) proposed it for networks; Rumelhart, Hinton &amp; Williams (1986) made it widely known.</a:t>
            </a:r>
          </a:p>
          <a:p>
            <a:r>
              <a:t>• Cost: for dense layers the backward pass takes roughly twice the arithmetic of the forward pass (a gradient for the weights and one for the inputs), so a training step costs about three forward passes. In theory, reverse mode costs a small constant multiple of evaluating the function, independent of the number of parameters (Griewank &amp; Walther, 2008).</a:t>
            </a:r>
          </a:p>
          <a:p>
            <a:r>
              <a:t>• Backprop computes gradients. An optimizer (SGD, Adam) uses them. Students often conflate the two.</a:t>
            </a:r>
          </a:p>
          <a:p/>
          <a:p>
            <a:r>
              <a:t>If students ask:</a:t>
            </a:r>
          </a:p>
          <a:p>
            <a:r>
              <a:t>• Q: Why "reverse" mode? Is there a forward mode? A: Forward mode pushes derivatives from inputs to outputs and costs about one pass per input parameter. Reverse mode costs about one pass per output. With one scalar loss and millions of parameters, reverse mode wins by a factor of millions.</a:t>
            </a:r>
          </a:p>
          <a:p>
            <a:r>
              <a:t>• Q: What does it cost in memory? A: Reverse mode must keep the forward activations until the backward pass uses them. That is why training needs much more memory than inference. Gradient checkpointing trades memory for recomputation (Chen et al., 2016).</a:t>
            </a:r>
          </a:p>
          <a:p>
            <a:r>
              <a:t>• Q: Is this how the brain learns? A: Unknown, and probably not exactly. Biologically plausible alternatives are an active research area; for engineering it does not matter.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33 · Worked example: your turn (1:23–1:27)</a:t>
            </a:r>
          </a:p>
          <a:p/>
          <a:p>
            <a:r>
              <a:t>Run it: Pairs, three minutes. Four decimals, natural logs.</a:t>
            </a:r>
          </a:p>
          <a:p/>
          <a:p>
            <a:r>
              <a:t>Expected: z₁ = 1.1000, a₁ = 0.7503, z₂ = 0.3002, a₂ = 0.5745, L = 0.5543.</a:t>
            </a:r>
          </a:p>
          <a:p/>
          <a:p>
            <a:r>
              <a:t>Tip: Circulate. Common slips: forgetting b₂, using log base 10, or computing σ(z) as 1/(1 + e^z). If a pair finishes early, ask them to predict the sign of ∂L/∂w₂ before the reveal (negative: increasing w₂ raises a₂ toward y = 1, lowering the loss).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34 · Forward pass revealed (1:27–1:28)</a:t>
            </a:r>
          </a:p>
          <a:p/>
          <a:p>
            <a:r>
              <a:t>Say: "Check your numbers. And keep them: the backward pass reuses every one."</a:t>
            </a:r>
          </a:p>
          <a:p/>
          <a:p>
            <a:r>
              <a:t>Get it right:</a:t>
            </a:r>
          </a:p>
          <a:p>
            <a:r>
              <a:t>• z₂ = 0.8 × 0.7503 − 0.3 = 0.3002; a₂ = σ(0.3002) = 0.5745; L = −ln 0.5745 = 0.5543.</a:t>
            </a:r>
          </a:p>
          <a:p>
            <a:r>
              <a:t>• The caching point is real: training stores activations for the backward pass; inference does not.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35 · Backward: the error signal δ (1:28–1:31)</a:t>
            </a:r>
          </a:p>
          <a:p/>
          <a:p>
            <a:r>
              <a:t>Say: "Define δ as the derivative of the loss with respect to a pre-activation z. For sigmoid with binary cross-entropy, δ₂ = a₂ − y, here −0.4255. Send it back through the weight w₂ to get ∂L/∂a₁ = −0.3404, then multiply by the sigmoid's slope at z₁, 0.1874, to get δ₁ = −0.0638. One sigmoid layer made the error signal 6.7 times smaller."</a:t>
            </a:r>
          </a:p>
          <a:p/>
          <a:p>
            <a:r>
              <a:t>Get it right:</a:t>
            </a:r>
          </a:p>
          <a:p>
            <a:r>
              <a:t>• σ′(z₁) = a₁(1 − a₁) = 0.7503 × 0.2497 = 0.1874.</a:t>
            </a:r>
          </a:p>
          <a:p>
            <a:r>
              <a:t>• |δ₁ / δ₂| = w₂·σ′(z₁) = 0.8 × 0.1874 = 0.150, that is 6.7 times smaller.</a:t>
            </a:r>
          </a:p>
          <a:p>
            <a:r>
              <a:t>• The derivative of BCE with respect to a₂ is −y/a₂ + (1 − y)/(1 − a₂) = −1.7407; times σ′(z₂) = 0.2445 gives −0.4255 = a₂ − y. The simplification a₂ − y is why the sigmoid and BCE are always fused in code.</a:t>
            </a:r>
          </a:p>
          <a:p>
            <a:r>
              <a:t>• The sigmoid's slope is at most 1/4, so each sigmoid layer multiplies the error by at most |w|/4. Over many layers this can vanish. It also depends on the weights: large weights can make gradients grow instead (exploding gradients).</a:t>
            </a:r>
          </a:p>
          <a:p/>
          <a:p>
            <a:r>
              <a:t>If students ask:</a:t>
            </a:r>
          </a:p>
          <a:p>
            <a:r>
              <a:t>• Q: Why define δ on z rather than on a? A: Because both parameter gradients come straight from δ: ∂L/∂w = δ × (input) and ∂L/∂b = δ. It also makes the recursion in BP2 clean.</a:t>
            </a:r>
          </a:p>
          <a:p>
            <a:r>
              <a:t>• Q: Does ReLU fix vanishing gradients? A: It removes the activation's shrinking factor for active units (slope 1), which helps a lot. Gradients can still vanish or explode through the weights; initialization, normalization and residual connections handle that (Session 2).</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36 · Gradients and one step (1:31–1:34)</a:t>
            </a:r>
          </a:p>
          <a:p/>
          <a:p>
            <a:r>
              <a:t>Say: "Each weight's gradient is the error at its output times the activation at its input; each bias gradient is the error itself. Take one step with η = 0.5 and recompute: the loss falls from 0.5543 to 0.4166."</a:t>
            </a:r>
          </a:p>
          <a:p/>
          <a:p>
            <a:r>
              <a:t>Get it right:</a:t>
            </a:r>
          </a:p>
          <a:p>
            <a:r>
              <a:t>• ∂L/∂w₂ = δ₂·a₁ = −0.4255 × 0.7503 = −0.3192; ∂L/∂b₂ = −0.4255; ∂L/∂w₁ = δ₁·x = −0.0638 × 2 = −0.1276; ∂L/∂b₁ = −0.0638.</a:t>
            </a:r>
          </a:p>
          <a:p>
            <a:r>
              <a:t>• After the step: w₁ = 0.5638, b₁ = 0.1319, w₂ = 0.9596, b₂ = −0.0872. New loss 0.4166 (verified numerically).</a:t>
            </a:r>
          </a:p>
          <a:p>
            <a:r>
              <a:t>• All gradients are negative, so every parameter increases. That makes sense: increasing any of them raises a₂ toward the target y = 1.</a:t>
            </a:r>
          </a:p>
          <a:p>
            <a:r>
              <a:t>• A decrease is guaranteed only for a small enough η.</a:t>
            </a:r>
          </a:p>
          <a:p/>
          <a:p>
            <a:r>
              <a:t>If students ask:</a:t>
            </a:r>
          </a:p>
          <a:p>
            <a:r>
              <a:t>• Q: Why is the bias gradient just δ? A: z = wx + b, so ∂z/∂b = 1: the bias behaves like a weight on a constant input of 1.</a:t>
            </a:r>
          </a:p>
          <a:p>
            <a:r>
              <a:t>• Q: Would a larger η be better here? A: For this single example, yes: one step with η = 1, 2 or 5 gives a loss of 0.31, 0.16 or 0.02. Every gradient pushes a₂ toward 1 and nothing pulls back. With many examples the gradients disagree, and too large a step overshoots (slide 26). Driving one example's loss to zero is not the goal.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37 · Quick check 4 (1:34–1:37)</a:t>
            </a:r>
          </a:p>
          <a:p/>
          <a:p>
            <a:r>
              <a:t>Run it: Vote, discuss, revote. Ask: "Which path connects w₁ to L?"</a:t>
            </a:r>
          </a:p>
          <a:p/>
          <a:p>
            <a:r>
              <a:t>Answer: A — exactly 0. w₁ affects L only through a₁ → z₂, and ∂L/∂a₁ = w₂·δ₂ = 0, so δ₁ = 0 and ∂L/∂w₁ = δ₁·x = 0.</a:t>
            </a:r>
          </a:p>
          <a:p/>
          <a:p>
            <a:r>
              <a:t>Follow-up worth saying: ∂L/∂w₂ = δ₂·a₁ is not zero, so w₂ moves away from 0 at the next step and w₁ starts learning again. A zero on the only path blocks learning: the same mechanism as dead ReLUs and vanishing gradients. It is also why we never initialize all weights to zero (in a layer of identical units with identical weights, every unit gets the same gradient and they stay identical).</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38 · Branching: gradients add over paths (1:37–1:40)</a:t>
            </a:r>
          </a:p>
          <a:p/>
          <a:p>
            <a:r>
              <a:t>Say: "Our worked example was a chain: each value fed exactly one thing. In a real network each hidden activation feeds every unit of the next layer. The multivariable chain rule says: add the contributions from every path. Here a feeds z_A with weight 2 and z_B with weight −1; the errors arriving are 0.3 and 0.5. So ∂L/∂a = 2 × 0.3 + (−1) × 0.5 = 0.1."</a:t>
            </a:r>
          </a:p>
          <a:p/>
          <a:p>
            <a:r>
              <a:t>Get it right:</a:t>
            </a:r>
          </a:p>
          <a:p>
            <a:r>
              <a:t>• This is the step most first-time students miss between the scalar example and the matrix equations. Spend the time.</a:t>
            </a:r>
          </a:p>
          <a:p>
            <a:r>
              <a:t>• Forward: a is copied to both units. Backward: the two error signals come back and are added. In automatic differentiation, "copy forward" always means "add backward".</a:t>
            </a:r>
          </a:p>
          <a:p/>
          <a:p>
            <a:r>
              <a:t>If students ask:</a:t>
            </a:r>
          </a:p>
          <a:p>
            <a:r>
              <a:t>• Q: Why add, not multiply? A: A small change Δa changes z_A by w_A·Δa and z_B by w_B·Δa, and both changes affect L. To first order the effects on L add: ΔL ≈ (δ_A w_A + δ_B w_B)Δa.</a:t>
            </a:r>
          </a:p>
          <a:p>
            <a:r>
              <a:t>• Ask them: What would ∂L/∂a be if w_B were +1? (Answer: 1.1.)</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39 · The sum over paths is Wᵀδ (1:40–1:43)</a:t>
            </a:r>
          </a:p>
          <a:p/>
          <a:p>
            <a:r>
              <a:t>Say: "Rows of W index the units above, columns the units below. Unit j's outgoing weights are column j. So the sum over paths, Σ_k W_kj δ_k, is column j of W dotted with δ, and for all j at once that is Wᵀδ. Then gate by the activation's slope, elementwise. For ReLU the slope is 1 for active units and 0 for inactive ones: inactive units pass nothing back."</a:t>
            </a:r>
          </a:p>
          <a:p/>
          <a:p>
            <a:r>
              <a:t>Get it right:</a:t>
            </a:r>
          </a:p>
          <a:p>
            <a:r>
              <a:t>• Shapes: W is n_above × n_below, δ is n_above × 1, so Wᵀδ is n_below × 1, one number per unit below.</a:t>
            </a:r>
          </a:p>
          <a:p>
            <a:r>
              <a:t>• Forward multiplies by W; backward multiplies by Wᵀ. The transpose is not a convention; it falls out of the sum over paths.</a:t>
            </a:r>
          </a:p>
          <a:p/>
          <a:p>
            <a:r>
              <a:t>If students ask:</a:t>
            </a:r>
          </a:p>
          <a:p>
            <a:r>
              <a:t>• Q: Is Wᵀ the inverse of W? A: No. Wᵀ does not undo W; it routes each error back along the same connections it came through, weighted by the same weights.</a:t>
            </a:r>
          </a:p>
          <a:p>
            <a:r>
              <a:t>• Q: What if the activation is softmax, which isn't elementwise? A: Then the gating step needs the full Jacobian of softmax. Combined with cross-entropy it simplifies to p − y (slide 40, Appendix A3).</a:t>
            </a:r>
          </a:p>
          <a:p/>
          <a:p>
            <a:r>
              <a:t>Tip: Draw a 3 × 4 matrix on the board and circle column 2 before revealing the slide.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40 · The four equations of backpropagation (1:43–1:46)</a:t>
            </a:r>
          </a:p>
          <a:p/>
          <a:p>
            <a:r>
              <a:t>Say: "These are exactly the steps you did by hand, written for vectors. BP1 starts the error at the output. BP2 sends it back one layer: through Wᵀ, then gated by g′. BP3 and BP4 turn error signals into parameter gradients. With softmax and cross-entropy, BP1 simplifies to p − y."</a:t>
            </a:r>
          </a:p>
          <a:p/>
          <a:p>
            <a:r>
              <a:t>Get it right:</a:t>
            </a:r>
          </a:p>
          <a:p>
            <a:r>
              <a:t>• δ⁽ˡ⁾ = ∂L/∂z⁽ˡ⁾ for one example. For the mean loss over a batch, average the per-example gradients.</a:t>
            </a:r>
          </a:p>
          <a:p>
            <a:r>
              <a:t>• The labels BP1–BP4 follow Nielsen's "Neural Networks and Deep Learning" (2015).</a:t>
            </a:r>
          </a:p>
          <a:p>
            <a:r>
              <a:t>• The right-hand column maps each equation onto the worked example; point to it.</a:t>
            </a:r>
          </a:p>
          <a:p/>
          <a:p>
            <a:r>
              <a:t>If students ask:</a:t>
            </a:r>
          </a:p>
          <a:p>
            <a:r>
              <a:t>• Q: Do I need to memorize these? A: Understand them well enough to derive them: BP2 and BP4 are the chain rule plus "copy forward, add backward". Frameworks implement them for you, but you will debug better if you know what they compute.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41 · From one weight to a layer and a batch (1:46–1:49)</a:t>
            </a:r>
          </a:p>
          <a:p/>
          <a:p>
            <a:r>
              <a:t>Say: "For a layer, BP4 is an outer product: the column of output errors times the row of input activations gives a matrix the same shape as W. For a batch stored as rows, stack errors into Δ and activations into A; then ΔᵀA sums the outer products over the batch, and dividing by B gives the mean-loss gradient."</a:t>
            </a:r>
          </a:p>
          <a:p/>
          <a:p>
            <a:r>
              <a:t>Get it right:</a:t>
            </a:r>
          </a:p>
          <a:p>
            <a:r>
              <a:t>• Example: δ = (0.4, −0.2), a = (2, 1, 3) gives [[0.8, 0.4, 1.2], [−0.4, −0.2, −0.6]].</a:t>
            </a:r>
          </a:p>
          <a:p>
            <a:r>
              <a:t>• Running example, layer 1: Δ is 256 × 128 and A is 256 × 784, so ΔᵀA / B is 128 × 784, the shape of W⁽¹⁾. This is exactly what exp_fmnist.py implements.</a:t>
            </a:r>
          </a:p>
          <a:p/>
          <a:p>
            <a:r>
              <a:t>If students ask:</a:t>
            </a:r>
          </a:p>
          <a:p>
            <a:r>
              <a:t>• Q: Why does the batch gradient become one matrix multiplication? A: Σᵢ δ⁽ⁱ⁾a⁽ⁱ⁾ᵀ is by definition ΔᵀA when examples are rows. One large matrix product runs far faster on GPUs than many small outer products; that is why mini-batches are hardware-friendly.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42 · Autodiff and gradient checking (1:49–1:51)</a:t>
            </a:r>
          </a:p>
          <a:p/>
          <a:p>
            <a:r>
              <a:t>Say: "Frameworks record the operations of the forward pass as a graph and apply these equations backward: automatic differentiation. When you write gradients by hand, check them against centred finite differences on a few parameters."</a:t>
            </a:r>
          </a:p>
          <a:p/>
          <a:p>
            <a:r>
              <a:t>Get it right:</a:t>
            </a:r>
          </a:p>
          <a:p>
            <a:r>
              <a:t>• Our NumPy MLP's hand-written backward pass agrees with centred differences to a relative error of about 3 × 10⁻⁹ (float64, ε = 10⁻⁵).</a:t>
            </a:r>
          </a:p>
          <a:p>
            <a:r>
              <a:t>• Rules of thumb from the CS231n notes: relative error below about 10⁻⁷ is correct; around 10⁻⁴ is acceptable for functions with kinks such as ReLU; above about 10⁻² is almost certainly a bug.</a:t>
            </a:r>
          </a:p>
          <a:p>
            <a:r>
              <a:t>• In PyTorch, gradients accumulate in .grad across backward() calls; optimizer.zero_grad() clears them (by default it sets them to None since PyTorch 2.0).</a:t>
            </a:r>
          </a:p>
          <a:p/>
          <a:p>
            <a:r>
              <a:t>If students ask:</a:t>
            </a:r>
          </a:p>
          <a:p>
            <a:r>
              <a:t>• Q: Why centred differences rather than (J(θ + ε) − J(θ))/ε? A: The centred version has error of order ε², the one-sided version of order ε, so it is far more accurate for the same ε.</a:t>
            </a:r>
          </a:p>
          <a:p>
            <a:r>
              <a:t>• Q: Why not use finite differences for training, then? A: Two forward passes per parameter: 10⁸ parameters means 2 × 10⁸ passes per step (slide 32). Fine for checking a few parameters, hopeless for training.</a:t>
            </a:r>
          </a:p>
          <a:p>
            <a:r>
              <a:t>• Q: Why does PyTorch accumulate gradients at all? A: So you can sum gradients over several small batches before one update (gradient accumulation), useful when a big batch does not fit in memory.</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43 · The training loop (1:51–1:54)</a:t>
            </a:r>
          </a:p>
          <a:p/>
          <a:p>
            <a:r>
              <a:t>Say: "Everything so far in one loop. For each mini-batch: clear old gradients, forward pass to logits, loss, backward pass, optimizer update. After each epoch, evaluate on the validation set with no gradient tracking and no updates, and keep the checkpoint with the lowest validation loss."</a:t>
            </a:r>
          </a:p>
          <a:p/>
          <a:p>
            <a:r>
              <a:t>Get it right:</a:t>
            </a:r>
          </a:p>
          <a:p>
            <a:r>
              <a:t>• This is exactly what exp_fmnist.py does: Adam, η = 10⁻³, B = 256, 20 epochs.</a:t>
            </a:r>
          </a:p>
          <a:p>
            <a:r>
              <a:t>• Training mode vs evaluation mode matters once the model has dropout or batch normalization (Session 2).</a:t>
            </a:r>
          </a:p>
          <a:p>
            <a:r>
              <a:t>• Validation data never change the weights directly; they choose the checkpoint and hyperparameters. The test set is used once, at the end.</a:t>
            </a:r>
          </a:p>
          <a:p/>
          <a:p>
            <a:r>
              <a:t>If students ask:</a:t>
            </a:r>
          </a:p>
          <a:p>
            <a:r>
              <a:t>• Q: Isn't choosing the checkpoint on validation data a kind of overfitting? A: Slightly: each choice made on validation data makes the validation score a bit optimistic. That is exactly why a separate test set is kept and touched only once.</a:t>
            </a:r>
          </a:p>
          <a:p>
            <a:r>
              <a:t>• Q: How many epochs should I train? A: Until validation loss stops improving for a while (patience), then keep the best checkpoint. For our model that is about 9–15 epochs depending on the seed.</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44 · Our model's real training curves (1:54–1:57)</a:t>
            </a:r>
          </a:p>
          <a:p/>
          <a:p>
            <a:r>
              <a:t>Say: "Seed 0. Training loss falls steadily. Validation loss falls, flattens, and creeps back up after epoch 9. From then on the model is fitting details of the training set that don't carry over. Validation accuracy still inches up, because accuracy only counts whether the top class is right, while the loss also punishes over-confident mistakes. We keep the checkpoint with the lowest validation loss: early stopping."</a:t>
            </a:r>
          </a:p>
          <a:p/>
          <a:p>
            <a:r>
              <a:t>Get it right:</a:t>
            </a:r>
          </a:p>
          <a:p>
            <a:r>
              <a:t>• Seed 0, epoch 20: training loss 0.145, validation loss 0.315; the lowest validation loss is 0.298 at epoch 9. Validation accuracy goes from 89.0% at epoch 9 to 89.6% at epoch 20; training accuracy reaches 94.8%.</a:t>
            </a:r>
          </a:p>
          <a:p>
            <a:r>
              <a:t>• The best epoch varies by seed: 9, 12 and 15 for seeds 0, 1 and 2. One run can mislead.</a:t>
            </a:r>
          </a:p>
          <a:p>
            <a:r>
              <a:t>• The y-axis of the accuracy chart starts at 80%.</a:t>
            </a:r>
          </a:p>
          <a:p/>
          <a:p>
            <a:r>
              <a:t>If students ask:</a:t>
            </a:r>
          </a:p>
          <a:p>
            <a:r>
              <a:t>• Q: Should I select on validation loss or validation accuracy? A: Whichever matches your goal. If you need well-calibrated probabilities, loss; if you only report accuracy, accuracy. They can disagree by a few epochs, as here.</a:t>
            </a:r>
          </a:p>
          <a:p>
            <a:r>
              <a:t>• Q: Why is training loss below validation loss from the start? A: Training loss is measured on data the model is being fitted to. A gap is normal; a gap that keeps widening is the warning sign.</a:t>
            </a:r>
          </a:p>
          <a:p>
            <a:r>
              <a:t>• Q: Isn't early stopping a hack? A: It is a standard regularizer. For linear models with gradient descent it behaves much like L2 regularization (Goodfellow et al., 2016, §7.8).</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45 · What the network learned (1:57–2:00)</a:t>
            </a:r>
          </a:p>
          <a:p/>
          <a:p>
            <a:r>
              <a:t>Say: "Left: softmax regression, the linear model, learns exactly one template per class; you can see trousers, a sandal, a bag. The MLP's first layer learns 128 features shared by all classes; here are 24 of them. Right: learning those features is worth about 4 points of test accuracy over the linear model, 84.5% to 88.5%. Honest caveat: flattening throws away the image's 2-D layout. Convolutional networks keep it and do better; that's a later session."</a:t>
            </a:r>
          </a:p>
          <a:p/>
          <a:p>
            <a:r>
              <a:t>Get it right:</a:t>
            </a:r>
          </a:p>
          <a:p>
            <a:r>
              <a:t>• Our numbers: official 10,000 test images, checkpoint with the lowest validation loss, mean of 3 seeds. Softmax regression 84.5% (84.45–84.50%); MLP 88.5% (88.36–88.70%).</a:t>
            </a:r>
          </a:p>
          <a:p>
            <a:r>
              <a:t>• The k-NN (85.4%) and random forest (87.3%) bars are the best settings reported in the Fashion-MNIST paper's benchmark (Xiao et al., 2017), under a different protocol. Treat them as reference points, not a controlled comparison.</a:t>
            </a:r>
          </a:p>
          <a:p>
            <a:r>
              <a:t>• Weight images: purple and orange mark positive and negative weights; each image is scaled to its own range.</a:t>
            </a:r>
          </a:p>
          <a:p/>
          <a:p>
            <a:r>
              <a:t>If students ask:</a:t>
            </a:r>
          </a:p>
          <a:p>
            <a:r>
              <a:t>• Q: Why do the MLP features look so noisy? A: An MLP has no built-in notion that neighbouring pixels belong together, and it stopped training after about 9–15 epochs. Regularization or more data smooths them; convolutional layers build in locality from the start.</a:t>
            </a:r>
          </a:p>
          <a:p>
            <a:r>
              <a:t>• Q: What is the best accuracy anyone gets on Fashion-MNIST? A: Simple two-layer CNNs in the dataset's benchmark table report about 88–92.5%, and well-tuned modern CNNs typically report the low-to-mid 90s. Some papers claim 99%, often with unclear test protocols, so treat headline numbers with care. Part of the remaining error comes from genuinely ambiguous classes such as shirt vs T-shirt vs pullover.</a:t>
            </a:r>
          </a:p>
          <a:p>
            <a:r>
              <a:t>• Q: Only 4 points better: was the network worth it? A: On this data with this architecture, modestly. That is an honest result and the reason the next architectures (CNNs) exist. Always fit a strong simple baseline first.</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46 · Read the curves: diagnosis (2:00–2:04)</a:t>
            </a:r>
          </a:p>
          <a:p/>
          <a:p>
            <a:r>
              <a:t>Say: "Three real runs of the same code. Left: only two hidden units. Training and validation loss are both high and close together: underfitting, so make the model bigger or train longer. Middle: our full network on just 1,000 images. Training loss goes almost to zero while validation loss turns up early: overfitting. Get more data, regularize, stop early. Right: the running example, a small gap with both low."</a:t>
            </a:r>
          </a:p>
          <a:p/>
          <a:p>
            <a:r>
              <a:t>Get it right:</a:t>
            </a:r>
          </a:p>
          <a:p>
            <a:r>
              <a:t>• 784–2–10, epoch 20: training loss 1.01, validation loss 1.04, test accuracy 61.7%, still slowly falling.</a:t>
            </a:r>
          </a:p>
          <a:p>
            <a:r>
              <a:t>• 1,000 images: training loss 0.007 at epoch 100; validation loss lowest (0.55) at epoch 24, then 0.83; training accuracy 100%, validation accuracy 81%.</a:t>
            </a:r>
          </a:p>
          <a:p>
            <a:r>
              <a:t>• Before any diagnosis: can the model drive the loss to almost zero on one small batch? If not, suspect a bug first.</a:t>
            </a:r>
          </a:p>
          <a:p>
            <a:r>
              <a:t>• Underfitting and overfitting are about the gap and the levels together, not either alone.</a:t>
            </a:r>
          </a:p>
          <a:p/>
          <a:p>
            <a:r>
              <a:t>If students ask:</a:t>
            </a:r>
          </a:p>
          <a:p>
            <a:r>
              <a:t>• Q: Can a model underfit and overfit at the same time? A: Different parts of it, in a sense, and the labels are a simplification. Use them as guides to the next experiment, not verdicts.</a:t>
            </a:r>
          </a:p>
          <a:p>
            <a:r>
              <a:t>• Q: Doesn't more parameters always mean more overfitting? A: No. In the "double descent" regime, very large models can generalize better again (Belkin et al., 2019; Nakkiran et al., 2020). Session 2 discusses it.</a:t>
            </a:r>
          </a:p>
          <a:p>
            <a:r>
              <a:t>• Q: What remedies come next? A: Session 2: initialization, normalization, residual connections, weight decay, dropout and data augmentation.</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47 · Quick check 5 (2:04–2:08)</a:t>
            </a:r>
          </a:p>
          <a:p/>
          <a:p>
            <a:r>
              <a:t>Run it: Remind them of the sanity check on slide 23 before the revote if the first vote splits.</a:t>
            </a:r>
          </a:p>
          <a:p/>
          <a:p>
            <a:r>
              <a:t>Answer: C — look for a bug. A loss stuck at 2.30 = ln 10 with 10% accuracy means uniform predictions: nothing has been learned. That is not ordinary underfitting; even the linear softmax model reaches a validation loss near 0.40 on this data. Test whether the model can drive the loss to almost zero on one small batch.</a:t>
            </a:r>
          </a:p>
          <a:p/>
          <a:p>
            <a:r>
              <a:t>Likely causes to name: the optimizer was built on a different model's parameters; the learning rate is zero or tiny; gradients are cleared between backward() and the update step; inputs and labels are misaligned or shuffled separately; a ReLU layer is dead everywhere.</a:t>
            </a:r>
          </a:p>
          <a:p/>
          <a:p>
            <a:r>
              <a:t>Common wrong answers: B (more layers) treats a bug as a capacity problem; A and D assume something has been fitted, but nothing has.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48 · Today in three sentences (2:08–2:15, then questions to 2:30)</a:t>
            </a:r>
          </a:p>
          <a:p/>
          <a:p>
            <a:r>
              <a:t>Say: Read the three sentences slowly, one per part. Then: "Homework is on the right. Before you leave, one minute on the exit ticket: your muddiest point today, and one sentence on why g must be nonlinear."</a:t>
            </a:r>
          </a:p>
          <a:p/>
          <a:p>
            <a:r>
              <a:t>Homework answers (for you, not the slide):</a:t>
            </a:r>
          </a:p>
          <a:p>
            <a:r>
              <a:t>• Worked example with x = 1.0: z₁ = 0.6, a₁ = 0.6457, z₂ = 0.2165, a₂ = 0.5539, L = 0.5907. After one step with η = 0.5 the loss falls to 0.4555.</a:t>
            </a:r>
          </a:p>
          <a:p>
            <a:r>
              <a:t>• 784–256–128–10 has 200,960 + 32,896 + 1,290 = 235,146 parameters. First loss for 100 classes ≈ ln 100 = 4.61.</a:t>
            </a:r>
          </a:p>
          <a:p>
            <a:r>
              <a:t>• BP2 for two units feeding two units: ∂L/∂a_j = W_1j δ₁ + W_2j δ₂ for j = 1, 2, i.e. Wᵀδ, then multiply elementwise by g′(z).</a:t>
            </a:r>
          </a:p>
          <a:p/>
          <a:p>
            <a:r>
              <a:t>Tip: Collect the exit tickets and open the next session with the three most common muddiest points. Expect backprop's Wᵀ and the train/validation distinction to top the list.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49 · Appendix divider</a:t>
            </a:r>
          </a:p>
          <a:p/>
          <a:p>
            <a:r>
              <a:t>Not presented. Point students to it as reference material.</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Slides 50–51 · A1 · Quick-check answers</a:t>
            </a:r>
          </a:p>
          <a:p/>
          <a:p>
            <a:r>
              <a:t>For self-study after class. The full answers and the reasoning behind the common wrong choices are under each quick check in this guide (slides 11, 19, 27, 37, 47).</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Slides 50–51 · A1 · Quick-check answers</a:t>
            </a:r>
          </a:p>
          <a:p/>
          <a:p>
            <a:r>
              <a:t>For self-study after class. The full answers and the reasoning behind the common wrong choices are under each quick check in this guide (slides 11, 19, 27, 37, 47).</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52 · A2 · Notation</a:t>
            </a:r>
          </a:p>
          <a:p/>
          <a:p>
            <a:r>
              <a:t>Get it right: Square brackets index layers (W⁽ˡ⁾); round brackets index examples (x⁽ⁱ⁾). B is the mini-batch size. Derivations use column vectors (z = Wa + b); code stores examples as rows (Z = AWᵀ + bᵀ).</a:t>
            </a:r>
          </a:p>
          <a:p/>
          <a:p>
            <a:r>
              <a:t>If students ask:</a:t>
            </a:r>
          </a:p>
          <a:p>
            <a:r>
              <a:t>• Q: Why do textbooks use different notation? A: There is no standard. Goodfellow et al. (2016), Nielsen (2015) and Prince (2023) differ slightly. Learn to translate by checking shapes.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53 · A3 · Why the output error is p − y</a:t>
            </a:r>
          </a:p>
          <a:p/>
          <a:p>
            <a:r>
              <a:t>Say (if asked): "Write the loss as −z_y + log Σⱼ e^{zⱼ}. Differentiating the first term gives −1 for the true class and 0 otherwise; differentiating the log-sum-exp gives softmax, p_k. So the gradient is p − y with y one-hot."</a:t>
            </a:r>
          </a:p>
          <a:p/>
          <a:p>
            <a:r>
              <a:t>Get it right:</a:t>
            </a:r>
          </a:p>
          <a:p>
            <a:r>
              <a:t>• Log-sum-exp is computed stably by subtracting the largest logit c first: log Σ e^{zⱼ} = c + log Σ e^{zⱼ − c}. Every exponent is then ≤ 0, so nothing overflows.</a:t>
            </a:r>
          </a:p>
          <a:p>
            <a:r>
              <a:t>• This is why frameworks fuse softmax and cross-entropy and expect logits.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54 · A4 · Universal approximation, stated honestly</a:t>
            </a:r>
          </a:p>
          <a:p/>
          <a:p>
            <a:r>
              <a:t>Get it right:</a:t>
            </a:r>
          </a:p>
          <a:p>
            <a:r>
              <a:t>• Statement: for any continuous f on a compact set K and any ε &gt; 0, some network with one hidden layer of finitely many units with a non-polynomial activation is within ε of f everywhere on K (Cybenko, 1989, for sigmoids; Hornik, 1991; Leshno et al., 1993 for the general condition).</a:t>
            </a:r>
          </a:p>
          <a:p>
            <a:r>
              <a:t>• Four caveats on the slide: only continuous functions on bounded regions; the width can be exponential in the input dimension in the worst case; existence does not mean gradient descent finds it; fitting is not generalizing.</a:t>
            </a:r>
          </a:p>
          <a:p>
            <a:r>
              <a:t>• The figure is hand-built piecewise-linear interpolation with ReLU units, not a trained network.</a:t>
            </a:r>
          </a:p>
          <a:p/>
          <a:p>
            <a:r>
              <a:t>If students ask:</a:t>
            </a:r>
          </a:p>
          <a:p>
            <a:r>
              <a:t>• Q: Then why do we need anything beyond one hidden layer? A: Efficiency. Depth can represent some functions with exponentially fewer units (Telgarsky, 2016), and deep networks train well in practice.</a:t>
            </a:r>
          </a:p>
          <a:p>
            <a:r>
              <a:t>• Q: Does the identity network of quick check 1 count? A: No. Its activation is a polynomial (degree 1), which the theorem excludes. That is the theoretical side of slide 10.</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55 · A5 · Gradient checking</a:t>
            </a:r>
          </a:p>
          <a:p/>
          <a:p>
            <a:r>
              <a:t>Get it right:</a:t>
            </a:r>
          </a:p>
          <a:p>
            <a:r>
              <a:t>• Use float64, ε around 10⁻⁵, a deterministic loss (dropout off), and check a random subset of parameters: each check costs two forward passes.</a:t>
            </a:r>
          </a:p>
          <a:p>
            <a:r>
              <a:t>• With ReLU, a nudge can cross a kink at z = 0 and spoil one check; relative errors around 10⁻⁴ are then acceptable.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56 · A6 · Adam in full, and AdamW</a:t>
            </a:r>
          </a:p>
          <a:p/>
          <a:p>
            <a:r>
              <a:t>Get it right:</a:t>
            </a:r>
          </a:p>
          <a:p>
            <a:r>
              <a:t>• Defaults β₁ = 0.9, β₂ = 0.999, ε = 10⁻⁸ (Kingma &amp; Ba, 2015). They are common starting points, not optimal for every model.</a:t>
            </a:r>
          </a:p>
          <a:p>
            <a:r>
              <a:t>• Bias correction divides by (1 − βᵗ) because m and v start at zero and would otherwise be too small in early steps.</a:t>
            </a:r>
          </a:p>
          <a:p>
            <a:r>
              <a:t>• AdamW decouples weight decay from the adaptive step (Loshchilov &amp; Hutter, 2019). In PyTorch, torch.optim.AdamW has a default weight decay of 0.01; Adam with weight_decay &gt; 0 applies L2 through the gradient unless decoupled_weight_decay=True is set.</a:t>
            </a:r>
          </a:p>
          <a:p/>
          <a:p>
            <a:r>
              <a:t>If students ask:</a:t>
            </a:r>
          </a:p>
          <a:p>
            <a:r>
              <a:t>• Q: What does ε do? A: It prevents division by zero when v̂ is tiny. It rarely matters, but some large models tune it.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57 · A7 · History, 1943 to today</a:t>
            </a:r>
          </a:p>
          <a:p/>
          <a:p>
            <a:r>
              <a:t>Get it right:</a:t>
            </a:r>
          </a:p>
          <a:p>
            <a:r>
              <a:t>• 1943 McCulloch &amp; Pitts; 1958 Rosenblatt; 1969 Minsky &amp; Papert; 1970 Linnainmaa; 1986 Rumelhart, Hinton &amp; Williams; 1998 LeNet-5 (LeCun et al.); 2012 AlexNet; 2015 ResNet (He et al., published at CVPR 2016); 2017 Transformer (Vaswani et al.); 2024 Nobel Prizes.</a:t>
            </a:r>
          </a:p>
          <a:p>
            <a:r>
              <a:t>• 2024 Nobel Prize in Physics: John Hopfield and Geoffrey Hinton, for foundational work enabling machine learning with artificial neural networks. 2024 Nobel Prize in Chemistry: David Baker (computational protein design) and Demis Hassabis and John Jumper (protein structure prediction, AlphaFold).</a:t>
            </a:r>
          </a:p>
          <a:p>
            <a:r>
              <a:t>• The slide's message: backprop existed by 1986; deep learning took off around 2012 when large labelled datasets (ImageNet, 2009), GPUs and training techniques came together.</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58 · A8 · When not to use a neural network</a:t>
            </a:r>
          </a:p>
          <a:p/>
          <a:p>
            <a:r>
              <a:t>Get it right:</a:t>
            </a:r>
          </a:p>
          <a:p>
            <a:r>
              <a:t>• On medium-sized tabular datasets, gradient-boosted trees (XGBoost, LightGBM, CatBoost) often outperform deep networks (Grinsztajn, Oyallon &amp; Varoquaux, 2022).</a:t>
            </a:r>
          </a:p>
          <a:p>
            <a:r>
              <a:t>• Pretrained tabular foundation models changed this picture. TabPFN (Hollmann et al., Nature, 2025) beat tuned baselines on datasets up to 10,000 samples; Prior Labs released TabPFN-3 in May 2026 (up to about 1 million rows) and TabPFN-3.5 in September 2026. Their strongest comparisons with boosted trees are reported by the vendor, so check them on your own data.</a:t>
            </a:r>
          </a:p>
          <a:p/>
          <a:p>
            <a:r>
              <a:t>If students ask:</a:t>
            </a:r>
          </a:p>
          <a:p>
            <a:r>
              <a:t>• Q: So should I always try a network? A: Fit a strong simple baseline first: logistic regression or boosted trees. It tells you what score is easy and whether the extra complexity pays off. Our linear baseline here was 84.5%.</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59 · References</a:t>
            </a:r>
          </a:p>
          <a:p/>
          <a:p>
            <a:r>
              <a:t>Point students to Goodfellow, Bengio &amp; Courville (2016), Prince (2023, free online) and Nielsen (2015, free online) for today's material. The scripts that produced every number are in the course materials.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3657600" cy="256032"/>
          </a:xfrm>
          <a:prstGeom prst="rect">
            <a:avLst/>
          </a:prstGeom>
          <a:noFill/>
          <a:ln/>
        </p:spPr>
        <p:txBody>
          <a:bodyPr wrap="square" lIns="0" tIns="0" rIns="0" bIns="0" rtlCol="0" anchor="ctr"/>
          <a:lstStyle/>
          <a:p>
            <a:pPr indent="0" marL="0">
              <a:buNone/>
            </a:pPr>
            <a:r>
              <a:rPr lang="en-US" sz="1000" dirty="0">
                <a:solidFill>
                  <a:srgbClr val="8A94A3"/>
                </a:solidFill>
                <a:latin typeface="Calibri" pitchFamily="34" charset="0"/>
                <a:ea typeface="Calibri" pitchFamily="34" charset="-122"/>
                <a:cs typeface="Calibri" pitchFamily="34" charset="-120"/>
              </a:rPr>
              <a:t>Deep Neural Networks · Session 1</a:t>
            </a:r>
            <a:endParaRPr lang="en-US" sz="1000" dirty="0"/>
          </a:p>
        </p:txBody>
      </p:sp>
      <p:sp>
        <p:nvSpPr>
          <p:cNvPr id="3" name="Text 1"/>
          <p:cNvSpPr/>
          <p:nvPr>
            <p:ph idx="101" type="body" hasCustomPrompt="1"/>
          </p:nvPr>
        </p:nvSpPr>
        <p:spPr>
          <a:xfrm>
            <a:off x="548640" y="292608"/>
            <a:ext cx="11094415" cy="256032"/>
          </a:xfrm>
          <a:prstGeom prst="rect">
            <a:avLst/>
          </a:prstGeom>
          <a:noFill/>
          <a:ln/>
        </p:spPr>
        <p:txBody>
          <a:bodyPr wrap="square" rtlCol="0"/>
          <a:lstStyle>
            <a:lvl1pPr indent="0" marL="0">
              <a:buNone/>
              <a:defRPr lang="en-US" sz="1100" b="1" spc="200" kern="0" dirty="0">
                <a:solidFill>
                  <a:srgbClr val="0E7C7B"/>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4" name="Text 1"/>
          <p:cNvSpPr/>
          <p:nvPr>
            <p:ph idx="102" type="title" hasCustomPrompt="1"/>
          </p:nvPr>
        </p:nvSpPr>
        <p:spPr>
          <a:xfrm>
            <a:off x="548640" y="548640"/>
            <a:ext cx="11094415" cy="658368"/>
          </a:xfrm>
          <a:prstGeom prst="rect">
            <a:avLst/>
          </a:prstGeom>
          <a:noFill/>
          <a:ln/>
        </p:spPr>
        <p:txBody>
          <a:bodyPr wrap="square" rtlCol="0"/>
          <a:lstStyle>
            <a:lvl1pPr algn="l" indent="0" marL="0">
              <a:buNone/>
              <a:defRPr lang="en-US" sz="2700" b="1" dirty="0">
                <a:solidFill>
                  <a:srgbClr val="16202E"/>
                </a:solidFill>
                <a:latin typeface="Cambria" pitchFamily="34" charset="0"/>
                <a:ea typeface="Cambria" pitchFamily="34" charset="-122"/>
                <a:cs typeface="Cambria" pitchFamily="34" charset="-120"/>
              </a:defRPr>
            </a:lvl1pPr>
          </a:lstStyle>
          <a:p>
            <a:pPr algn="l" indent="0" marL="0">
              <a:buNone/>
            </a:pPr>
            <a:endParaRPr lang="en-US" sz="2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rtlCol="0"/>
          <a:lstStyle>
            <a:lvl1pPr indent="0" marL="0">
              <a:buNone/>
              <a:defRPr lang="en-US" sz="1300" b="1" spc="300" kern="0" dirty="0">
                <a:solidFill>
                  <a:srgbClr val="5FC4BE"/>
                </a:solidFill>
                <a:latin typeface="Calibri" pitchFamily="34" charset="0"/>
                <a:ea typeface="Calibri" pitchFamily="34" charset="-122"/>
                <a:cs typeface="Calibri" pitchFamily="34" charset="-120"/>
              </a:defRPr>
            </a:lvl1pPr>
          </a:lstStyle>
          <a:p>
            <a:pPr indent="0" marL="0">
              <a:buNone/>
            </a:pP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rtlCol="0"/>
          <a:lstStyle>
            <a:lvl1pPr algn="l" indent="0" marL="0">
              <a:buNone/>
              <a:defRPr lang="en-US" sz="3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chart" Target="../charts/chart1.xml"/><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image" Target="../media/image-18-1.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2.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2.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2.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2.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chart" Target="../charts/chart6.xml"/><Relationship Id="rId4" Type="http://schemas.openxmlformats.org/officeDocument/2006/relationships/slideLayout" Target="../slideLayouts/slideLayout2.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2.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2.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2.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SESSION 1  ·  150 MINUTES</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Deep neural networks: from one neuron to a network that learns</a:t>
            </a:r>
            <a:endParaRPr lang="en-US" sz="3800" dirty="0"/>
          </a:p>
        </p:txBody>
      </p:sp>
      <p:sp>
        <p:nvSpPr>
          <p:cNvPr id="4" name="Text 2"/>
          <p:cNvSpPr txBox="1"/>
          <p:nvPr/>
        </p:nvSpPr>
        <p:spPr>
          <a:xfrm>
            <a:off x="548640" y="3703320"/>
            <a:ext cx="6949440" cy="365760"/>
          </a:xfrm>
          <a:prstGeom prst="rect">
            <a:avLst/>
          </a:prstGeom>
          <a:noFill/>
          <a:ln/>
        </p:spPr>
        <p:txBody>
          <a:bodyPr wrap="square" lIns="0" tIns="0" rIns="0" bIns="0" rtlCol="0" anchor="t"/>
          <a:lstStyle/>
          <a:p>
            <a:pPr algn="l" indent="0" marL="0">
              <a:lnSpc>
                <a:spcPct val="100000"/>
              </a:lnSpc>
              <a:buNone/>
            </a:pPr>
            <a:r>
              <a:rPr lang="en-US" sz="1800" dirty="0">
                <a:solidFill>
                  <a:srgbClr val="C9D2DD"/>
                </a:solidFill>
                <a:latin typeface="Calibri" pitchFamily="34" charset="0"/>
                <a:ea typeface="Calibri" pitchFamily="34" charset="-122"/>
                <a:cs typeface="Calibri" pitchFamily="34" charset="-120"/>
              </a:rPr>
              <a:t>What a network computes  ·  How it learns  ·  Backpropagation and training curves</a:t>
            </a:r>
            <a:endParaRPr lang="en-US" sz="1800" dirty="0"/>
          </a:p>
        </p:txBody>
      </p:sp>
      <p:sp>
        <p:nvSpPr>
          <p:cNvPr id="5" name="Shape 3"/>
          <p:cNvSpPr/>
          <p:nvPr/>
        </p:nvSpPr>
        <p:spPr>
          <a:xfrm flipV="1">
            <a:off x="8138160" y="1234440"/>
            <a:ext cx="1066800" cy="754380"/>
          </a:xfrm>
          <a:prstGeom prst="line">
            <a:avLst/>
          </a:prstGeom>
          <a:noFill/>
          <a:ln w="9525">
            <a:solidFill>
              <a:srgbClr val="3A4A5E"/>
            </a:solidFill>
            <a:prstDash val="solid"/>
          </a:ln>
        </p:spPr>
      </p:sp>
      <p:sp>
        <p:nvSpPr>
          <p:cNvPr id="6" name="Shape 4"/>
          <p:cNvSpPr/>
          <p:nvPr/>
        </p:nvSpPr>
        <p:spPr>
          <a:xfrm>
            <a:off x="8138160" y="1988820"/>
            <a:ext cx="1066800" cy="914"/>
          </a:xfrm>
          <a:prstGeom prst="line">
            <a:avLst/>
          </a:prstGeom>
          <a:noFill/>
          <a:ln w="9525">
            <a:solidFill>
              <a:srgbClr val="3A4A5E"/>
            </a:solidFill>
            <a:prstDash val="solid"/>
          </a:ln>
        </p:spPr>
      </p:sp>
      <p:sp>
        <p:nvSpPr>
          <p:cNvPr id="7" name="Shape 5"/>
          <p:cNvSpPr/>
          <p:nvPr/>
        </p:nvSpPr>
        <p:spPr>
          <a:xfrm>
            <a:off x="8138160" y="1988820"/>
            <a:ext cx="1066800" cy="754380"/>
          </a:xfrm>
          <a:prstGeom prst="line">
            <a:avLst/>
          </a:prstGeom>
          <a:noFill/>
          <a:ln w="9525">
            <a:solidFill>
              <a:srgbClr val="3A4A5E"/>
            </a:solidFill>
            <a:prstDash val="solid"/>
          </a:ln>
        </p:spPr>
      </p:sp>
      <p:sp>
        <p:nvSpPr>
          <p:cNvPr id="8" name="Shape 6"/>
          <p:cNvSpPr/>
          <p:nvPr/>
        </p:nvSpPr>
        <p:spPr>
          <a:xfrm>
            <a:off x="8138160" y="1988820"/>
            <a:ext cx="1066800" cy="1508760"/>
          </a:xfrm>
          <a:prstGeom prst="line">
            <a:avLst/>
          </a:prstGeom>
          <a:noFill/>
          <a:ln w="9525">
            <a:solidFill>
              <a:srgbClr val="3A4A5E"/>
            </a:solidFill>
            <a:prstDash val="solid"/>
          </a:ln>
        </p:spPr>
      </p:sp>
      <p:sp>
        <p:nvSpPr>
          <p:cNvPr id="9" name="Shape 7"/>
          <p:cNvSpPr/>
          <p:nvPr/>
        </p:nvSpPr>
        <p:spPr>
          <a:xfrm>
            <a:off x="8138160" y="1988820"/>
            <a:ext cx="1066800" cy="2263140"/>
          </a:xfrm>
          <a:prstGeom prst="line">
            <a:avLst/>
          </a:prstGeom>
          <a:noFill/>
          <a:ln w="9525">
            <a:solidFill>
              <a:srgbClr val="3A4A5E"/>
            </a:solidFill>
            <a:prstDash val="solid"/>
          </a:ln>
        </p:spPr>
      </p:sp>
      <p:sp>
        <p:nvSpPr>
          <p:cNvPr id="10" name="Shape 8"/>
          <p:cNvSpPr/>
          <p:nvPr/>
        </p:nvSpPr>
        <p:spPr>
          <a:xfrm flipV="1">
            <a:off x="8138160" y="1234440"/>
            <a:ext cx="1066800" cy="1508760"/>
          </a:xfrm>
          <a:prstGeom prst="line">
            <a:avLst/>
          </a:prstGeom>
          <a:noFill/>
          <a:ln w="9525">
            <a:solidFill>
              <a:srgbClr val="3A4A5E"/>
            </a:solidFill>
            <a:prstDash val="solid"/>
          </a:ln>
        </p:spPr>
      </p:sp>
      <p:sp>
        <p:nvSpPr>
          <p:cNvPr id="11" name="Shape 9"/>
          <p:cNvSpPr/>
          <p:nvPr/>
        </p:nvSpPr>
        <p:spPr>
          <a:xfrm flipV="1">
            <a:off x="8138160" y="1988820"/>
            <a:ext cx="1066800" cy="754380"/>
          </a:xfrm>
          <a:prstGeom prst="line">
            <a:avLst/>
          </a:prstGeom>
          <a:noFill/>
          <a:ln w="9525">
            <a:solidFill>
              <a:srgbClr val="3A4A5E"/>
            </a:solidFill>
            <a:prstDash val="solid"/>
          </a:ln>
        </p:spPr>
      </p:sp>
      <p:sp>
        <p:nvSpPr>
          <p:cNvPr id="12" name="Shape 10"/>
          <p:cNvSpPr/>
          <p:nvPr/>
        </p:nvSpPr>
        <p:spPr>
          <a:xfrm>
            <a:off x="8138160" y="2743200"/>
            <a:ext cx="1066800" cy="914"/>
          </a:xfrm>
          <a:prstGeom prst="line">
            <a:avLst/>
          </a:prstGeom>
          <a:noFill/>
          <a:ln w="9525">
            <a:solidFill>
              <a:srgbClr val="3A4A5E"/>
            </a:solidFill>
            <a:prstDash val="solid"/>
          </a:ln>
        </p:spPr>
      </p:sp>
      <p:sp>
        <p:nvSpPr>
          <p:cNvPr id="13" name="Shape 11"/>
          <p:cNvSpPr/>
          <p:nvPr/>
        </p:nvSpPr>
        <p:spPr>
          <a:xfrm>
            <a:off x="8138160" y="2743200"/>
            <a:ext cx="1066800" cy="754380"/>
          </a:xfrm>
          <a:prstGeom prst="line">
            <a:avLst/>
          </a:prstGeom>
          <a:noFill/>
          <a:ln w="9525">
            <a:solidFill>
              <a:srgbClr val="3A4A5E"/>
            </a:solidFill>
            <a:prstDash val="solid"/>
          </a:ln>
        </p:spPr>
      </p:sp>
      <p:sp>
        <p:nvSpPr>
          <p:cNvPr id="14" name="Shape 12"/>
          <p:cNvSpPr/>
          <p:nvPr/>
        </p:nvSpPr>
        <p:spPr>
          <a:xfrm>
            <a:off x="8138160" y="2743200"/>
            <a:ext cx="1066800" cy="1508760"/>
          </a:xfrm>
          <a:prstGeom prst="line">
            <a:avLst/>
          </a:prstGeom>
          <a:noFill/>
          <a:ln w="9525">
            <a:solidFill>
              <a:srgbClr val="3A4A5E"/>
            </a:solidFill>
            <a:prstDash val="solid"/>
          </a:ln>
        </p:spPr>
      </p:sp>
      <p:sp>
        <p:nvSpPr>
          <p:cNvPr id="15" name="Shape 13"/>
          <p:cNvSpPr/>
          <p:nvPr/>
        </p:nvSpPr>
        <p:spPr>
          <a:xfrm flipV="1">
            <a:off x="8138160" y="1234440"/>
            <a:ext cx="1066800" cy="2263140"/>
          </a:xfrm>
          <a:prstGeom prst="line">
            <a:avLst/>
          </a:prstGeom>
          <a:noFill/>
          <a:ln w="9525">
            <a:solidFill>
              <a:srgbClr val="3A4A5E"/>
            </a:solidFill>
            <a:prstDash val="solid"/>
          </a:ln>
        </p:spPr>
      </p:sp>
      <p:sp>
        <p:nvSpPr>
          <p:cNvPr id="16" name="Shape 14"/>
          <p:cNvSpPr/>
          <p:nvPr/>
        </p:nvSpPr>
        <p:spPr>
          <a:xfrm flipV="1">
            <a:off x="8138160" y="1988820"/>
            <a:ext cx="1066800" cy="1508760"/>
          </a:xfrm>
          <a:prstGeom prst="line">
            <a:avLst/>
          </a:prstGeom>
          <a:noFill/>
          <a:ln w="9525">
            <a:solidFill>
              <a:srgbClr val="3A4A5E"/>
            </a:solidFill>
            <a:prstDash val="solid"/>
          </a:ln>
        </p:spPr>
      </p:sp>
      <p:sp>
        <p:nvSpPr>
          <p:cNvPr id="17" name="Shape 15"/>
          <p:cNvSpPr/>
          <p:nvPr/>
        </p:nvSpPr>
        <p:spPr>
          <a:xfrm flipV="1">
            <a:off x="8138160" y="2743200"/>
            <a:ext cx="1066800" cy="754380"/>
          </a:xfrm>
          <a:prstGeom prst="line">
            <a:avLst/>
          </a:prstGeom>
          <a:noFill/>
          <a:ln w="9525">
            <a:solidFill>
              <a:srgbClr val="3A4A5E"/>
            </a:solidFill>
            <a:prstDash val="solid"/>
          </a:ln>
        </p:spPr>
      </p:sp>
      <p:sp>
        <p:nvSpPr>
          <p:cNvPr id="18" name="Shape 16"/>
          <p:cNvSpPr/>
          <p:nvPr/>
        </p:nvSpPr>
        <p:spPr>
          <a:xfrm>
            <a:off x="8138160" y="3497580"/>
            <a:ext cx="1066800" cy="914"/>
          </a:xfrm>
          <a:prstGeom prst="line">
            <a:avLst/>
          </a:prstGeom>
          <a:noFill/>
          <a:ln w="9525">
            <a:solidFill>
              <a:srgbClr val="3A4A5E"/>
            </a:solidFill>
            <a:prstDash val="solid"/>
          </a:ln>
        </p:spPr>
      </p:sp>
      <p:sp>
        <p:nvSpPr>
          <p:cNvPr id="19" name="Shape 17"/>
          <p:cNvSpPr/>
          <p:nvPr/>
        </p:nvSpPr>
        <p:spPr>
          <a:xfrm>
            <a:off x="8138160" y="3497580"/>
            <a:ext cx="1066800" cy="754380"/>
          </a:xfrm>
          <a:prstGeom prst="line">
            <a:avLst/>
          </a:prstGeom>
          <a:noFill/>
          <a:ln w="9525">
            <a:solidFill>
              <a:srgbClr val="3A4A5E"/>
            </a:solidFill>
            <a:prstDash val="solid"/>
          </a:ln>
        </p:spPr>
      </p:sp>
      <p:sp>
        <p:nvSpPr>
          <p:cNvPr id="20" name="Shape 18"/>
          <p:cNvSpPr/>
          <p:nvPr/>
        </p:nvSpPr>
        <p:spPr>
          <a:xfrm>
            <a:off x="9204960" y="1234440"/>
            <a:ext cx="1066800" cy="914"/>
          </a:xfrm>
          <a:prstGeom prst="line">
            <a:avLst/>
          </a:prstGeom>
          <a:noFill/>
          <a:ln w="9525">
            <a:solidFill>
              <a:srgbClr val="3A4A5E"/>
            </a:solidFill>
            <a:prstDash val="solid"/>
          </a:ln>
        </p:spPr>
      </p:sp>
      <p:sp>
        <p:nvSpPr>
          <p:cNvPr id="21" name="Shape 19"/>
          <p:cNvSpPr/>
          <p:nvPr/>
        </p:nvSpPr>
        <p:spPr>
          <a:xfrm>
            <a:off x="9204960" y="1234440"/>
            <a:ext cx="1066800" cy="754380"/>
          </a:xfrm>
          <a:prstGeom prst="line">
            <a:avLst/>
          </a:prstGeom>
          <a:noFill/>
          <a:ln w="9525">
            <a:solidFill>
              <a:srgbClr val="3A4A5E"/>
            </a:solidFill>
            <a:prstDash val="solid"/>
          </a:ln>
        </p:spPr>
      </p:sp>
      <p:sp>
        <p:nvSpPr>
          <p:cNvPr id="22" name="Shape 20"/>
          <p:cNvSpPr/>
          <p:nvPr/>
        </p:nvSpPr>
        <p:spPr>
          <a:xfrm>
            <a:off x="9204960" y="1234440"/>
            <a:ext cx="1066800" cy="1508760"/>
          </a:xfrm>
          <a:prstGeom prst="line">
            <a:avLst/>
          </a:prstGeom>
          <a:noFill/>
          <a:ln w="9525">
            <a:solidFill>
              <a:srgbClr val="3A4A5E"/>
            </a:solidFill>
            <a:prstDash val="solid"/>
          </a:ln>
        </p:spPr>
      </p:sp>
      <p:sp>
        <p:nvSpPr>
          <p:cNvPr id="23" name="Shape 21"/>
          <p:cNvSpPr/>
          <p:nvPr/>
        </p:nvSpPr>
        <p:spPr>
          <a:xfrm>
            <a:off x="9204960" y="1234440"/>
            <a:ext cx="1066800" cy="2263140"/>
          </a:xfrm>
          <a:prstGeom prst="line">
            <a:avLst/>
          </a:prstGeom>
          <a:noFill/>
          <a:ln w="9525">
            <a:solidFill>
              <a:srgbClr val="3A4A5E"/>
            </a:solidFill>
            <a:prstDash val="solid"/>
          </a:ln>
        </p:spPr>
      </p:sp>
      <p:sp>
        <p:nvSpPr>
          <p:cNvPr id="24" name="Shape 22"/>
          <p:cNvSpPr/>
          <p:nvPr/>
        </p:nvSpPr>
        <p:spPr>
          <a:xfrm>
            <a:off x="9204960" y="1234440"/>
            <a:ext cx="1066800" cy="3017520"/>
          </a:xfrm>
          <a:prstGeom prst="line">
            <a:avLst/>
          </a:prstGeom>
          <a:noFill/>
          <a:ln w="9525">
            <a:solidFill>
              <a:srgbClr val="3A4A5E"/>
            </a:solidFill>
            <a:prstDash val="solid"/>
          </a:ln>
        </p:spPr>
      </p:sp>
      <p:sp>
        <p:nvSpPr>
          <p:cNvPr id="25" name="Shape 23"/>
          <p:cNvSpPr/>
          <p:nvPr/>
        </p:nvSpPr>
        <p:spPr>
          <a:xfrm flipV="1">
            <a:off x="9204960" y="1234440"/>
            <a:ext cx="1066800" cy="754380"/>
          </a:xfrm>
          <a:prstGeom prst="line">
            <a:avLst/>
          </a:prstGeom>
          <a:noFill/>
          <a:ln w="9525">
            <a:solidFill>
              <a:srgbClr val="3A4A5E"/>
            </a:solidFill>
            <a:prstDash val="solid"/>
          </a:ln>
        </p:spPr>
      </p:sp>
      <p:sp>
        <p:nvSpPr>
          <p:cNvPr id="26" name="Shape 24"/>
          <p:cNvSpPr/>
          <p:nvPr/>
        </p:nvSpPr>
        <p:spPr>
          <a:xfrm>
            <a:off x="9204960" y="1988820"/>
            <a:ext cx="1066800" cy="914"/>
          </a:xfrm>
          <a:prstGeom prst="line">
            <a:avLst/>
          </a:prstGeom>
          <a:noFill/>
          <a:ln w="9525">
            <a:solidFill>
              <a:srgbClr val="3A4A5E"/>
            </a:solidFill>
            <a:prstDash val="solid"/>
          </a:ln>
        </p:spPr>
      </p:sp>
      <p:sp>
        <p:nvSpPr>
          <p:cNvPr id="27" name="Shape 25"/>
          <p:cNvSpPr/>
          <p:nvPr/>
        </p:nvSpPr>
        <p:spPr>
          <a:xfrm>
            <a:off x="9204960" y="1988820"/>
            <a:ext cx="1066800" cy="754380"/>
          </a:xfrm>
          <a:prstGeom prst="line">
            <a:avLst/>
          </a:prstGeom>
          <a:noFill/>
          <a:ln w="9525">
            <a:solidFill>
              <a:srgbClr val="3A4A5E"/>
            </a:solidFill>
            <a:prstDash val="solid"/>
          </a:ln>
        </p:spPr>
      </p:sp>
      <p:sp>
        <p:nvSpPr>
          <p:cNvPr id="28" name="Shape 26"/>
          <p:cNvSpPr/>
          <p:nvPr/>
        </p:nvSpPr>
        <p:spPr>
          <a:xfrm>
            <a:off x="9204960" y="1988820"/>
            <a:ext cx="1066800" cy="1508760"/>
          </a:xfrm>
          <a:prstGeom prst="line">
            <a:avLst/>
          </a:prstGeom>
          <a:noFill/>
          <a:ln w="9525">
            <a:solidFill>
              <a:srgbClr val="3A4A5E"/>
            </a:solidFill>
            <a:prstDash val="solid"/>
          </a:ln>
        </p:spPr>
      </p:sp>
      <p:sp>
        <p:nvSpPr>
          <p:cNvPr id="29" name="Shape 27"/>
          <p:cNvSpPr/>
          <p:nvPr/>
        </p:nvSpPr>
        <p:spPr>
          <a:xfrm>
            <a:off x="9204960" y="1988820"/>
            <a:ext cx="1066800" cy="2263140"/>
          </a:xfrm>
          <a:prstGeom prst="line">
            <a:avLst/>
          </a:prstGeom>
          <a:noFill/>
          <a:ln w="9525">
            <a:solidFill>
              <a:srgbClr val="3A4A5E"/>
            </a:solidFill>
            <a:prstDash val="solid"/>
          </a:ln>
        </p:spPr>
      </p:sp>
      <p:sp>
        <p:nvSpPr>
          <p:cNvPr id="30" name="Shape 28"/>
          <p:cNvSpPr/>
          <p:nvPr/>
        </p:nvSpPr>
        <p:spPr>
          <a:xfrm flipV="1">
            <a:off x="9204960" y="1234440"/>
            <a:ext cx="1066800" cy="1508760"/>
          </a:xfrm>
          <a:prstGeom prst="line">
            <a:avLst/>
          </a:prstGeom>
          <a:noFill/>
          <a:ln w="9525">
            <a:solidFill>
              <a:srgbClr val="3A4A5E"/>
            </a:solidFill>
            <a:prstDash val="solid"/>
          </a:ln>
        </p:spPr>
      </p:sp>
      <p:sp>
        <p:nvSpPr>
          <p:cNvPr id="31" name="Shape 29"/>
          <p:cNvSpPr/>
          <p:nvPr/>
        </p:nvSpPr>
        <p:spPr>
          <a:xfrm flipV="1">
            <a:off x="9204960" y="1988820"/>
            <a:ext cx="1066800" cy="754380"/>
          </a:xfrm>
          <a:prstGeom prst="line">
            <a:avLst/>
          </a:prstGeom>
          <a:noFill/>
          <a:ln w="9525">
            <a:solidFill>
              <a:srgbClr val="3A4A5E"/>
            </a:solidFill>
            <a:prstDash val="solid"/>
          </a:ln>
        </p:spPr>
      </p:sp>
      <p:sp>
        <p:nvSpPr>
          <p:cNvPr id="32" name="Shape 30"/>
          <p:cNvSpPr/>
          <p:nvPr/>
        </p:nvSpPr>
        <p:spPr>
          <a:xfrm>
            <a:off x="9204960" y="2743200"/>
            <a:ext cx="1066800" cy="914"/>
          </a:xfrm>
          <a:prstGeom prst="line">
            <a:avLst/>
          </a:prstGeom>
          <a:noFill/>
          <a:ln w="9525">
            <a:solidFill>
              <a:srgbClr val="3A4A5E"/>
            </a:solidFill>
            <a:prstDash val="solid"/>
          </a:ln>
        </p:spPr>
      </p:sp>
      <p:sp>
        <p:nvSpPr>
          <p:cNvPr id="33" name="Shape 31"/>
          <p:cNvSpPr/>
          <p:nvPr/>
        </p:nvSpPr>
        <p:spPr>
          <a:xfrm>
            <a:off x="9204960" y="2743200"/>
            <a:ext cx="1066800" cy="754380"/>
          </a:xfrm>
          <a:prstGeom prst="line">
            <a:avLst/>
          </a:prstGeom>
          <a:noFill/>
          <a:ln w="9525">
            <a:solidFill>
              <a:srgbClr val="3A4A5E"/>
            </a:solidFill>
            <a:prstDash val="solid"/>
          </a:ln>
        </p:spPr>
      </p:sp>
      <p:sp>
        <p:nvSpPr>
          <p:cNvPr id="34" name="Shape 32"/>
          <p:cNvSpPr/>
          <p:nvPr/>
        </p:nvSpPr>
        <p:spPr>
          <a:xfrm>
            <a:off x="9204960" y="2743200"/>
            <a:ext cx="1066800" cy="1508760"/>
          </a:xfrm>
          <a:prstGeom prst="line">
            <a:avLst/>
          </a:prstGeom>
          <a:noFill/>
          <a:ln w="9525">
            <a:solidFill>
              <a:srgbClr val="3A4A5E"/>
            </a:solidFill>
            <a:prstDash val="solid"/>
          </a:ln>
        </p:spPr>
      </p:sp>
      <p:sp>
        <p:nvSpPr>
          <p:cNvPr id="35" name="Shape 33"/>
          <p:cNvSpPr/>
          <p:nvPr/>
        </p:nvSpPr>
        <p:spPr>
          <a:xfrm flipV="1">
            <a:off x="9204960" y="1234440"/>
            <a:ext cx="1066800" cy="2263140"/>
          </a:xfrm>
          <a:prstGeom prst="line">
            <a:avLst/>
          </a:prstGeom>
          <a:noFill/>
          <a:ln w="9525">
            <a:solidFill>
              <a:srgbClr val="3A4A5E"/>
            </a:solidFill>
            <a:prstDash val="solid"/>
          </a:ln>
        </p:spPr>
      </p:sp>
      <p:sp>
        <p:nvSpPr>
          <p:cNvPr id="36" name="Shape 34"/>
          <p:cNvSpPr/>
          <p:nvPr/>
        </p:nvSpPr>
        <p:spPr>
          <a:xfrm flipV="1">
            <a:off x="9204960" y="1988820"/>
            <a:ext cx="1066800" cy="1508760"/>
          </a:xfrm>
          <a:prstGeom prst="line">
            <a:avLst/>
          </a:prstGeom>
          <a:noFill/>
          <a:ln w="9525">
            <a:solidFill>
              <a:srgbClr val="3A4A5E"/>
            </a:solidFill>
            <a:prstDash val="solid"/>
          </a:ln>
        </p:spPr>
      </p:sp>
      <p:sp>
        <p:nvSpPr>
          <p:cNvPr id="37" name="Shape 35"/>
          <p:cNvSpPr/>
          <p:nvPr/>
        </p:nvSpPr>
        <p:spPr>
          <a:xfrm flipV="1">
            <a:off x="9204960" y="2743200"/>
            <a:ext cx="1066800" cy="754380"/>
          </a:xfrm>
          <a:prstGeom prst="line">
            <a:avLst/>
          </a:prstGeom>
          <a:noFill/>
          <a:ln w="9525">
            <a:solidFill>
              <a:srgbClr val="3A4A5E"/>
            </a:solidFill>
            <a:prstDash val="solid"/>
          </a:ln>
        </p:spPr>
      </p:sp>
      <p:sp>
        <p:nvSpPr>
          <p:cNvPr id="38" name="Shape 36"/>
          <p:cNvSpPr/>
          <p:nvPr/>
        </p:nvSpPr>
        <p:spPr>
          <a:xfrm>
            <a:off x="9204960" y="3497580"/>
            <a:ext cx="1066800" cy="914"/>
          </a:xfrm>
          <a:prstGeom prst="line">
            <a:avLst/>
          </a:prstGeom>
          <a:noFill/>
          <a:ln w="9525">
            <a:solidFill>
              <a:srgbClr val="3A4A5E"/>
            </a:solidFill>
            <a:prstDash val="solid"/>
          </a:ln>
        </p:spPr>
      </p:sp>
      <p:sp>
        <p:nvSpPr>
          <p:cNvPr id="39" name="Shape 37"/>
          <p:cNvSpPr/>
          <p:nvPr/>
        </p:nvSpPr>
        <p:spPr>
          <a:xfrm>
            <a:off x="9204960" y="3497580"/>
            <a:ext cx="1066800" cy="754380"/>
          </a:xfrm>
          <a:prstGeom prst="line">
            <a:avLst/>
          </a:prstGeom>
          <a:noFill/>
          <a:ln w="9525">
            <a:solidFill>
              <a:srgbClr val="3A4A5E"/>
            </a:solidFill>
            <a:prstDash val="solid"/>
          </a:ln>
        </p:spPr>
      </p:sp>
      <p:sp>
        <p:nvSpPr>
          <p:cNvPr id="40" name="Shape 38"/>
          <p:cNvSpPr/>
          <p:nvPr/>
        </p:nvSpPr>
        <p:spPr>
          <a:xfrm flipV="1">
            <a:off x="9204960" y="1234440"/>
            <a:ext cx="1066800" cy="3017520"/>
          </a:xfrm>
          <a:prstGeom prst="line">
            <a:avLst/>
          </a:prstGeom>
          <a:noFill/>
          <a:ln w="9525">
            <a:solidFill>
              <a:srgbClr val="3A4A5E"/>
            </a:solidFill>
            <a:prstDash val="solid"/>
          </a:ln>
        </p:spPr>
      </p:sp>
      <p:sp>
        <p:nvSpPr>
          <p:cNvPr id="41" name="Shape 39"/>
          <p:cNvSpPr/>
          <p:nvPr/>
        </p:nvSpPr>
        <p:spPr>
          <a:xfrm flipV="1">
            <a:off x="9204960" y="1988820"/>
            <a:ext cx="1066800" cy="2263140"/>
          </a:xfrm>
          <a:prstGeom prst="line">
            <a:avLst/>
          </a:prstGeom>
          <a:noFill/>
          <a:ln w="9525">
            <a:solidFill>
              <a:srgbClr val="3A4A5E"/>
            </a:solidFill>
            <a:prstDash val="solid"/>
          </a:ln>
        </p:spPr>
      </p:sp>
      <p:sp>
        <p:nvSpPr>
          <p:cNvPr id="42" name="Shape 40"/>
          <p:cNvSpPr/>
          <p:nvPr/>
        </p:nvSpPr>
        <p:spPr>
          <a:xfrm flipV="1">
            <a:off x="9204960" y="2743200"/>
            <a:ext cx="1066800" cy="1508760"/>
          </a:xfrm>
          <a:prstGeom prst="line">
            <a:avLst/>
          </a:prstGeom>
          <a:noFill/>
          <a:ln w="9525">
            <a:solidFill>
              <a:srgbClr val="3A4A5E"/>
            </a:solidFill>
            <a:prstDash val="solid"/>
          </a:ln>
        </p:spPr>
      </p:sp>
      <p:sp>
        <p:nvSpPr>
          <p:cNvPr id="43" name="Shape 41"/>
          <p:cNvSpPr/>
          <p:nvPr/>
        </p:nvSpPr>
        <p:spPr>
          <a:xfrm flipV="1">
            <a:off x="9204960" y="3497580"/>
            <a:ext cx="1066800" cy="754380"/>
          </a:xfrm>
          <a:prstGeom prst="line">
            <a:avLst/>
          </a:prstGeom>
          <a:noFill/>
          <a:ln w="9525">
            <a:solidFill>
              <a:srgbClr val="3A4A5E"/>
            </a:solidFill>
            <a:prstDash val="solid"/>
          </a:ln>
        </p:spPr>
      </p:sp>
      <p:sp>
        <p:nvSpPr>
          <p:cNvPr id="44" name="Shape 42"/>
          <p:cNvSpPr/>
          <p:nvPr/>
        </p:nvSpPr>
        <p:spPr>
          <a:xfrm>
            <a:off x="9204960" y="4251960"/>
            <a:ext cx="1066800" cy="914"/>
          </a:xfrm>
          <a:prstGeom prst="line">
            <a:avLst/>
          </a:prstGeom>
          <a:noFill/>
          <a:ln w="9525">
            <a:solidFill>
              <a:srgbClr val="3A4A5E"/>
            </a:solidFill>
            <a:prstDash val="solid"/>
          </a:ln>
        </p:spPr>
      </p:sp>
      <p:sp>
        <p:nvSpPr>
          <p:cNvPr id="45" name="Shape 43"/>
          <p:cNvSpPr/>
          <p:nvPr/>
        </p:nvSpPr>
        <p:spPr>
          <a:xfrm>
            <a:off x="10271760" y="1234440"/>
            <a:ext cx="1066800" cy="1131570"/>
          </a:xfrm>
          <a:prstGeom prst="line">
            <a:avLst/>
          </a:prstGeom>
          <a:noFill/>
          <a:ln w="9525">
            <a:solidFill>
              <a:srgbClr val="3A4A5E"/>
            </a:solidFill>
            <a:prstDash val="solid"/>
          </a:ln>
        </p:spPr>
      </p:sp>
      <p:sp>
        <p:nvSpPr>
          <p:cNvPr id="46" name="Shape 44"/>
          <p:cNvSpPr/>
          <p:nvPr/>
        </p:nvSpPr>
        <p:spPr>
          <a:xfrm>
            <a:off x="10271760" y="1234440"/>
            <a:ext cx="1066800" cy="1885950"/>
          </a:xfrm>
          <a:prstGeom prst="line">
            <a:avLst/>
          </a:prstGeom>
          <a:noFill/>
          <a:ln w="9525">
            <a:solidFill>
              <a:srgbClr val="3A4A5E"/>
            </a:solidFill>
            <a:prstDash val="solid"/>
          </a:ln>
        </p:spPr>
      </p:sp>
      <p:sp>
        <p:nvSpPr>
          <p:cNvPr id="47" name="Shape 45"/>
          <p:cNvSpPr/>
          <p:nvPr/>
        </p:nvSpPr>
        <p:spPr>
          <a:xfrm>
            <a:off x="10271760" y="1988820"/>
            <a:ext cx="1066800" cy="377190"/>
          </a:xfrm>
          <a:prstGeom prst="line">
            <a:avLst/>
          </a:prstGeom>
          <a:noFill/>
          <a:ln w="9525">
            <a:solidFill>
              <a:srgbClr val="3A4A5E"/>
            </a:solidFill>
            <a:prstDash val="solid"/>
          </a:ln>
        </p:spPr>
      </p:sp>
      <p:sp>
        <p:nvSpPr>
          <p:cNvPr id="48" name="Shape 46"/>
          <p:cNvSpPr/>
          <p:nvPr/>
        </p:nvSpPr>
        <p:spPr>
          <a:xfrm>
            <a:off x="10271760" y="1988820"/>
            <a:ext cx="1066800" cy="1131570"/>
          </a:xfrm>
          <a:prstGeom prst="line">
            <a:avLst/>
          </a:prstGeom>
          <a:noFill/>
          <a:ln w="9525">
            <a:solidFill>
              <a:srgbClr val="3A4A5E"/>
            </a:solidFill>
            <a:prstDash val="solid"/>
          </a:ln>
        </p:spPr>
      </p:sp>
      <p:sp>
        <p:nvSpPr>
          <p:cNvPr id="49" name="Shape 47"/>
          <p:cNvSpPr/>
          <p:nvPr/>
        </p:nvSpPr>
        <p:spPr>
          <a:xfrm flipV="1">
            <a:off x="10271760" y="2366010"/>
            <a:ext cx="1066800" cy="377190"/>
          </a:xfrm>
          <a:prstGeom prst="line">
            <a:avLst/>
          </a:prstGeom>
          <a:noFill/>
          <a:ln w="9525">
            <a:solidFill>
              <a:srgbClr val="3A4A5E"/>
            </a:solidFill>
            <a:prstDash val="solid"/>
          </a:ln>
        </p:spPr>
      </p:sp>
      <p:sp>
        <p:nvSpPr>
          <p:cNvPr id="50" name="Shape 48"/>
          <p:cNvSpPr/>
          <p:nvPr/>
        </p:nvSpPr>
        <p:spPr>
          <a:xfrm>
            <a:off x="10271760" y="2743200"/>
            <a:ext cx="1066800" cy="377190"/>
          </a:xfrm>
          <a:prstGeom prst="line">
            <a:avLst/>
          </a:prstGeom>
          <a:noFill/>
          <a:ln w="9525">
            <a:solidFill>
              <a:srgbClr val="3A4A5E"/>
            </a:solidFill>
            <a:prstDash val="solid"/>
          </a:ln>
        </p:spPr>
      </p:sp>
      <p:sp>
        <p:nvSpPr>
          <p:cNvPr id="51" name="Shape 49"/>
          <p:cNvSpPr/>
          <p:nvPr/>
        </p:nvSpPr>
        <p:spPr>
          <a:xfrm flipV="1">
            <a:off x="10271760" y="2366010"/>
            <a:ext cx="1066800" cy="1131570"/>
          </a:xfrm>
          <a:prstGeom prst="line">
            <a:avLst/>
          </a:prstGeom>
          <a:noFill/>
          <a:ln w="9525">
            <a:solidFill>
              <a:srgbClr val="3A4A5E"/>
            </a:solidFill>
            <a:prstDash val="solid"/>
          </a:ln>
        </p:spPr>
      </p:sp>
      <p:sp>
        <p:nvSpPr>
          <p:cNvPr id="52" name="Shape 50"/>
          <p:cNvSpPr/>
          <p:nvPr/>
        </p:nvSpPr>
        <p:spPr>
          <a:xfrm flipV="1">
            <a:off x="10271760" y="3120390"/>
            <a:ext cx="1066800" cy="377190"/>
          </a:xfrm>
          <a:prstGeom prst="line">
            <a:avLst/>
          </a:prstGeom>
          <a:noFill/>
          <a:ln w="9525">
            <a:solidFill>
              <a:srgbClr val="3A4A5E"/>
            </a:solidFill>
            <a:prstDash val="solid"/>
          </a:ln>
        </p:spPr>
      </p:sp>
      <p:sp>
        <p:nvSpPr>
          <p:cNvPr id="53" name="Shape 51"/>
          <p:cNvSpPr/>
          <p:nvPr/>
        </p:nvSpPr>
        <p:spPr>
          <a:xfrm flipV="1">
            <a:off x="10271760" y="2366010"/>
            <a:ext cx="1066800" cy="1885950"/>
          </a:xfrm>
          <a:prstGeom prst="line">
            <a:avLst/>
          </a:prstGeom>
          <a:noFill/>
          <a:ln w="9525">
            <a:solidFill>
              <a:srgbClr val="3A4A5E"/>
            </a:solidFill>
            <a:prstDash val="solid"/>
          </a:ln>
        </p:spPr>
      </p:sp>
      <p:sp>
        <p:nvSpPr>
          <p:cNvPr id="54" name="Shape 52"/>
          <p:cNvSpPr/>
          <p:nvPr/>
        </p:nvSpPr>
        <p:spPr>
          <a:xfrm flipV="1">
            <a:off x="10271760" y="3120390"/>
            <a:ext cx="1066800" cy="1131570"/>
          </a:xfrm>
          <a:prstGeom prst="line">
            <a:avLst/>
          </a:prstGeom>
          <a:noFill/>
          <a:ln w="9525">
            <a:solidFill>
              <a:srgbClr val="3A4A5E"/>
            </a:solidFill>
            <a:prstDash val="solid"/>
          </a:ln>
        </p:spPr>
      </p:sp>
      <p:sp>
        <p:nvSpPr>
          <p:cNvPr id="55" name="Shape 53"/>
          <p:cNvSpPr/>
          <p:nvPr/>
        </p:nvSpPr>
        <p:spPr>
          <a:xfrm>
            <a:off x="7973568" y="1824228"/>
            <a:ext cx="329184" cy="329184"/>
          </a:xfrm>
          <a:prstGeom prst="ellipse">
            <a:avLst/>
          </a:prstGeom>
          <a:solidFill>
            <a:srgbClr val="8A94A3"/>
          </a:solidFill>
          <a:ln/>
        </p:spPr>
      </p:sp>
      <p:sp>
        <p:nvSpPr>
          <p:cNvPr id="56" name="Shape 54"/>
          <p:cNvSpPr/>
          <p:nvPr/>
        </p:nvSpPr>
        <p:spPr>
          <a:xfrm>
            <a:off x="7973568" y="2578608"/>
            <a:ext cx="329184" cy="329184"/>
          </a:xfrm>
          <a:prstGeom prst="ellipse">
            <a:avLst/>
          </a:prstGeom>
          <a:solidFill>
            <a:srgbClr val="8A94A3"/>
          </a:solidFill>
          <a:ln/>
        </p:spPr>
      </p:sp>
      <p:sp>
        <p:nvSpPr>
          <p:cNvPr id="57" name="Shape 55"/>
          <p:cNvSpPr/>
          <p:nvPr/>
        </p:nvSpPr>
        <p:spPr>
          <a:xfrm>
            <a:off x="7973568" y="3332988"/>
            <a:ext cx="329184" cy="329184"/>
          </a:xfrm>
          <a:prstGeom prst="ellipse">
            <a:avLst/>
          </a:prstGeom>
          <a:solidFill>
            <a:srgbClr val="8A94A3"/>
          </a:solidFill>
          <a:ln/>
        </p:spPr>
      </p:sp>
      <p:sp>
        <p:nvSpPr>
          <p:cNvPr id="58" name="Shape 56"/>
          <p:cNvSpPr/>
          <p:nvPr/>
        </p:nvSpPr>
        <p:spPr>
          <a:xfrm>
            <a:off x="9040368" y="1069848"/>
            <a:ext cx="329184" cy="329184"/>
          </a:xfrm>
          <a:prstGeom prst="ellipse">
            <a:avLst/>
          </a:prstGeom>
          <a:solidFill>
            <a:srgbClr val="0E7C7B"/>
          </a:solidFill>
          <a:ln/>
        </p:spPr>
      </p:sp>
      <p:sp>
        <p:nvSpPr>
          <p:cNvPr id="59" name="Shape 57"/>
          <p:cNvSpPr/>
          <p:nvPr/>
        </p:nvSpPr>
        <p:spPr>
          <a:xfrm>
            <a:off x="9040368" y="1824228"/>
            <a:ext cx="329184" cy="329184"/>
          </a:xfrm>
          <a:prstGeom prst="ellipse">
            <a:avLst/>
          </a:prstGeom>
          <a:solidFill>
            <a:srgbClr val="0E7C7B"/>
          </a:solidFill>
          <a:ln/>
        </p:spPr>
      </p:sp>
      <p:sp>
        <p:nvSpPr>
          <p:cNvPr id="60" name="Shape 58"/>
          <p:cNvSpPr/>
          <p:nvPr/>
        </p:nvSpPr>
        <p:spPr>
          <a:xfrm>
            <a:off x="9040368" y="2578608"/>
            <a:ext cx="329184" cy="329184"/>
          </a:xfrm>
          <a:prstGeom prst="ellipse">
            <a:avLst/>
          </a:prstGeom>
          <a:solidFill>
            <a:srgbClr val="0E7C7B"/>
          </a:solidFill>
          <a:ln/>
        </p:spPr>
      </p:sp>
      <p:sp>
        <p:nvSpPr>
          <p:cNvPr id="61" name="Shape 59"/>
          <p:cNvSpPr/>
          <p:nvPr/>
        </p:nvSpPr>
        <p:spPr>
          <a:xfrm>
            <a:off x="9040368" y="3332988"/>
            <a:ext cx="329184" cy="329184"/>
          </a:xfrm>
          <a:prstGeom prst="ellipse">
            <a:avLst/>
          </a:prstGeom>
          <a:solidFill>
            <a:srgbClr val="0E7C7B"/>
          </a:solidFill>
          <a:ln/>
        </p:spPr>
      </p:sp>
      <p:sp>
        <p:nvSpPr>
          <p:cNvPr id="62" name="Shape 60"/>
          <p:cNvSpPr/>
          <p:nvPr/>
        </p:nvSpPr>
        <p:spPr>
          <a:xfrm>
            <a:off x="9040368" y="4087368"/>
            <a:ext cx="329184" cy="329184"/>
          </a:xfrm>
          <a:prstGeom prst="ellipse">
            <a:avLst/>
          </a:prstGeom>
          <a:solidFill>
            <a:srgbClr val="0E7C7B"/>
          </a:solidFill>
          <a:ln/>
        </p:spPr>
      </p:sp>
      <p:sp>
        <p:nvSpPr>
          <p:cNvPr id="63" name="Shape 61"/>
          <p:cNvSpPr/>
          <p:nvPr/>
        </p:nvSpPr>
        <p:spPr>
          <a:xfrm>
            <a:off x="10107168" y="1069848"/>
            <a:ext cx="329184" cy="329184"/>
          </a:xfrm>
          <a:prstGeom prst="ellipse">
            <a:avLst/>
          </a:prstGeom>
          <a:solidFill>
            <a:srgbClr val="0E7C7B"/>
          </a:solidFill>
          <a:ln/>
        </p:spPr>
      </p:sp>
      <p:sp>
        <p:nvSpPr>
          <p:cNvPr id="64" name="Shape 62"/>
          <p:cNvSpPr/>
          <p:nvPr/>
        </p:nvSpPr>
        <p:spPr>
          <a:xfrm>
            <a:off x="10107168" y="1824228"/>
            <a:ext cx="329184" cy="329184"/>
          </a:xfrm>
          <a:prstGeom prst="ellipse">
            <a:avLst/>
          </a:prstGeom>
          <a:solidFill>
            <a:srgbClr val="0E7C7B"/>
          </a:solidFill>
          <a:ln/>
        </p:spPr>
      </p:sp>
      <p:sp>
        <p:nvSpPr>
          <p:cNvPr id="65" name="Shape 63"/>
          <p:cNvSpPr/>
          <p:nvPr/>
        </p:nvSpPr>
        <p:spPr>
          <a:xfrm>
            <a:off x="10107168" y="2578608"/>
            <a:ext cx="329184" cy="329184"/>
          </a:xfrm>
          <a:prstGeom prst="ellipse">
            <a:avLst/>
          </a:prstGeom>
          <a:solidFill>
            <a:srgbClr val="0E7C7B"/>
          </a:solidFill>
          <a:ln/>
        </p:spPr>
      </p:sp>
      <p:sp>
        <p:nvSpPr>
          <p:cNvPr id="66" name="Shape 64"/>
          <p:cNvSpPr/>
          <p:nvPr/>
        </p:nvSpPr>
        <p:spPr>
          <a:xfrm>
            <a:off x="10107168" y="3332988"/>
            <a:ext cx="329184" cy="329184"/>
          </a:xfrm>
          <a:prstGeom prst="ellipse">
            <a:avLst/>
          </a:prstGeom>
          <a:solidFill>
            <a:srgbClr val="0E7C7B"/>
          </a:solidFill>
          <a:ln/>
        </p:spPr>
      </p:sp>
      <p:sp>
        <p:nvSpPr>
          <p:cNvPr id="67" name="Shape 65"/>
          <p:cNvSpPr/>
          <p:nvPr/>
        </p:nvSpPr>
        <p:spPr>
          <a:xfrm>
            <a:off x="10107168" y="4087368"/>
            <a:ext cx="329184" cy="329184"/>
          </a:xfrm>
          <a:prstGeom prst="ellipse">
            <a:avLst/>
          </a:prstGeom>
          <a:solidFill>
            <a:srgbClr val="0E7C7B"/>
          </a:solidFill>
          <a:ln/>
        </p:spPr>
      </p:sp>
      <p:sp>
        <p:nvSpPr>
          <p:cNvPr id="68" name="Shape 66"/>
          <p:cNvSpPr/>
          <p:nvPr/>
        </p:nvSpPr>
        <p:spPr>
          <a:xfrm>
            <a:off x="11173968" y="2201418"/>
            <a:ext cx="329184" cy="329184"/>
          </a:xfrm>
          <a:prstGeom prst="ellipse">
            <a:avLst/>
          </a:prstGeom>
          <a:solidFill>
            <a:srgbClr val="0E7C7B"/>
          </a:solidFill>
          <a:ln/>
        </p:spPr>
      </p:sp>
      <p:sp>
        <p:nvSpPr>
          <p:cNvPr id="69" name="Shape 67"/>
          <p:cNvSpPr/>
          <p:nvPr/>
        </p:nvSpPr>
        <p:spPr>
          <a:xfrm>
            <a:off x="11173968" y="2955798"/>
            <a:ext cx="329184" cy="329184"/>
          </a:xfrm>
          <a:prstGeom prst="ellipse">
            <a:avLst/>
          </a:prstGeom>
          <a:solidFill>
            <a:srgbClr val="0E7C7B"/>
          </a:solidFill>
          <a:ln/>
        </p:spPr>
      </p:sp>
      <p:sp>
        <p:nvSpPr>
          <p:cNvPr id="70" name="Shape 68"/>
          <p:cNvSpPr/>
          <p:nvPr/>
        </p:nvSpPr>
        <p:spPr>
          <a:xfrm flipH="1" flipV="1">
            <a:off x="10271760" y="1988820"/>
            <a:ext cx="1066800" cy="377190"/>
          </a:xfrm>
          <a:prstGeom prst="line">
            <a:avLst/>
          </a:prstGeom>
          <a:noFill/>
          <a:ln w="31750">
            <a:solidFill>
              <a:srgbClr val="D9611A"/>
            </a:solidFill>
            <a:prstDash val="solid"/>
          </a:ln>
        </p:spPr>
      </p:sp>
      <p:sp>
        <p:nvSpPr>
          <p:cNvPr id="71" name="Shape 69"/>
          <p:cNvSpPr/>
          <p:nvPr/>
        </p:nvSpPr>
        <p:spPr>
          <a:xfrm flipH="1">
            <a:off x="9204960" y="1988820"/>
            <a:ext cx="1066800" cy="1508760"/>
          </a:xfrm>
          <a:prstGeom prst="line">
            <a:avLst/>
          </a:prstGeom>
          <a:noFill/>
          <a:ln w="31750">
            <a:solidFill>
              <a:srgbClr val="D9611A"/>
            </a:solidFill>
            <a:prstDash val="solid"/>
          </a:ln>
        </p:spPr>
      </p:sp>
      <p:sp>
        <p:nvSpPr>
          <p:cNvPr id="72" name="Shape 70"/>
          <p:cNvSpPr/>
          <p:nvPr/>
        </p:nvSpPr>
        <p:spPr>
          <a:xfrm flipH="1">
            <a:off x="8138160" y="3497580"/>
            <a:ext cx="1066800" cy="914"/>
          </a:xfrm>
          <a:prstGeom prst="line">
            <a:avLst/>
          </a:prstGeom>
          <a:noFill/>
          <a:ln w="31750">
            <a:solidFill>
              <a:srgbClr val="D9611A"/>
            </a:solidFill>
            <a:prstDash val="solid"/>
          </a:ln>
        </p:spPr>
      </p:sp>
      <p:sp>
        <p:nvSpPr>
          <p:cNvPr id="73" name="Shape 71"/>
          <p:cNvSpPr/>
          <p:nvPr/>
        </p:nvSpPr>
        <p:spPr>
          <a:xfrm>
            <a:off x="11173968" y="2201418"/>
            <a:ext cx="329184" cy="329184"/>
          </a:xfrm>
          <a:prstGeom prst="ellipse">
            <a:avLst/>
          </a:prstGeom>
          <a:solidFill>
            <a:srgbClr val="D9611A"/>
          </a:solidFill>
          <a:ln/>
        </p:spPr>
      </p:sp>
      <p:sp>
        <p:nvSpPr>
          <p:cNvPr id="74" name="Shape 72"/>
          <p:cNvSpPr/>
          <p:nvPr/>
        </p:nvSpPr>
        <p:spPr>
          <a:xfrm>
            <a:off x="548640" y="5413248"/>
            <a:ext cx="182880" cy="182880"/>
          </a:xfrm>
          <a:prstGeom prst="ellipse">
            <a:avLst/>
          </a:prstGeom>
          <a:solidFill>
            <a:srgbClr val="5FC4BE"/>
          </a:solidFill>
          <a:ln/>
        </p:spPr>
      </p:sp>
      <p:sp>
        <p:nvSpPr>
          <p:cNvPr id="75" name="Text 73"/>
          <p:cNvSpPr txBox="1"/>
          <p:nvPr/>
        </p:nvSpPr>
        <p:spPr>
          <a:xfrm>
            <a:off x="841248" y="5358384"/>
            <a:ext cx="3200400" cy="292608"/>
          </a:xfrm>
          <a:prstGeom prst="rect">
            <a:avLst/>
          </a:prstGeom>
          <a:noFill/>
          <a:ln/>
        </p:spPr>
        <p:txBody>
          <a:bodyPr wrap="square" lIns="0" tIns="0" rIns="0" bIns="0" rtlCol="0" anchor="t"/>
          <a:lstStyle/>
          <a:p>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teal</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forward signal, data</a:t>
            </a:r>
            <a:endParaRPr lang="en-US" sz="1300" dirty="0"/>
          </a:p>
        </p:txBody>
      </p:sp>
      <p:sp>
        <p:nvSpPr>
          <p:cNvPr id="76" name="Shape 74"/>
          <p:cNvSpPr/>
          <p:nvPr/>
        </p:nvSpPr>
        <p:spPr>
          <a:xfrm>
            <a:off x="4114800" y="5413248"/>
            <a:ext cx="182880" cy="182880"/>
          </a:xfrm>
          <a:prstGeom prst="ellipse">
            <a:avLst/>
          </a:prstGeom>
          <a:solidFill>
            <a:srgbClr val="F08A4B"/>
          </a:solidFill>
          <a:ln/>
        </p:spPr>
      </p:sp>
      <p:sp>
        <p:nvSpPr>
          <p:cNvPr id="77" name="Text 75"/>
          <p:cNvSpPr txBox="1"/>
          <p:nvPr/>
        </p:nvSpPr>
        <p:spPr>
          <a:xfrm>
            <a:off x="4407408" y="5358384"/>
            <a:ext cx="3200400" cy="292608"/>
          </a:xfrm>
          <a:prstGeom prst="rect">
            <a:avLst/>
          </a:prstGeom>
          <a:noFill/>
          <a:ln/>
        </p:spPr>
        <p:txBody>
          <a:bodyPr wrap="square" lIns="0" tIns="0" rIns="0" bIns="0" rtlCol="0" anchor="t"/>
          <a:lstStyle/>
          <a:p>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orange</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gradients, backward signal</a:t>
            </a:r>
            <a:endParaRPr lang="en-US" sz="1300" dirty="0"/>
          </a:p>
        </p:txBody>
      </p:sp>
      <p:sp>
        <p:nvSpPr>
          <p:cNvPr id="78" name="Shape 76"/>
          <p:cNvSpPr/>
          <p:nvPr/>
        </p:nvSpPr>
        <p:spPr>
          <a:xfrm>
            <a:off x="7680960" y="5413248"/>
            <a:ext cx="182880" cy="182880"/>
          </a:xfrm>
          <a:prstGeom prst="ellipse">
            <a:avLst/>
          </a:prstGeom>
          <a:solidFill>
            <a:srgbClr val="E57368"/>
          </a:solidFill>
          <a:ln/>
        </p:spPr>
      </p:sp>
      <p:sp>
        <p:nvSpPr>
          <p:cNvPr id="79" name="Text 77"/>
          <p:cNvSpPr txBox="1"/>
          <p:nvPr/>
        </p:nvSpPr>
        <p:spPr>
          <a:xfrm>
            <a:off x="7973568" y="5358384"/>
            <a:ext cx="3200400" cy="292608"/>
          </a:xfrm>
          <a:prstGeom prst="rect">
            <a:avLst/>
          </a:prstGeom>
          <a:noFill/>
          <a:ln/>
        </p:spPr>
        <p:txBody>
          <a:bodyPr wrap="square" lIns="0" tIns="0" rIns="0" bIns="0" rtlCol="0" anchor="t"/>
          <a:lstStyle/>
          <a:p>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red</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warnings, failure modes</a:t>
            </a:r>
            <a:endParaRPr lang="en-US" sz="1300" dirty="0"/>
          </a:p>
        </p:txBody>
      </p:sp>
      <p:sp>
        <p:nvSpPr>
          <p:cNvPr id="80" name="Shape 78"/>
          <p:cNvSpPr/>
          <p:nvPr/>
        </p:nvSpPr>
        <p:spPr>
          <a:xfrm>
            <a:off x="548640" y="5870448"/>
            <a:ext cx="182880" cy="182880"/>
          </a:xfrm>
          <a:prstGeom prst="ellipse">
            <a:avLst/>
          </a:prstGeom>
          <a:solidFill>
            <a:srgbClr val="8C81F0"/>
          </a:solidFill>
          <a:ln/>
        </p:spPr>
      </p:sp>
      <p:sp>
        <p:nvSpPr>
          <p:cNvPr id="81" name="Shape 79"/>
          <p:cNvSpPr/>
          <p:nvPr/>
        </p:nvSpPr>
        <p:spPr>
          <a:xfrm>
            <a:off x="786384" y="5870448"/>
            <a:ext cx="182880" cy="182880"/>
          </a:xfrm>
          <a:prstGeom prst="ellipse">
            <a:avLst/>
          </a:prstGeom>
          <a:solidFill>
            <a:srgbClr val="16202E"/>
          </a:solidFill>
          <a:ln w="19050">
            <a:solidFill>
              <a:srgbClr val="AAB3BF"/>
            </a:solidFill>
            <a:prstDash val="solid"/>
          </a:ln>
        </p:spPr>
      </p:sp>
      <p:sp>
        <p:nvSpPr>
          <p:cNvPr id="82" name="Text 80"/>
          <p:cNvSpPr txBox="1"/>
          <p:nvPr/>
        </p:nvSpPr>
        <p:spPr>
          <a:xfrm>
            <a:off x="1097280" y="5815584"/>
            <a:ext cx="7315200" cy="292608"/>
          </a:xfrm>
          <a:prstGeom prst="rect">
            <a:avLst/>
          </a:prstGeom>
          <a:noFill/>
          <a:ln/>
        </p:spPr>
        <p:txBody>
          <a:bodyPr wrap="square" lIns="0" tIns="0" rIns="0" bIns="0" rtlCol="0" anchor="t"/>
          <a:lstStyle/>
          <a:p>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In every plot: </a:t>
            </a:r>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filled violet</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class 1, </a:t>
            </a:r>
            <a:pPr algn="l" indent="0" marL="0">
              <a:lnSpc>
                <a:spcPct val="100000"/>
              </a:lnSpc>
              <a:buNone/>
            </a:pPr>
            <a:r>
              <a:rPr lang="en-US" sz="1300" b="1" dirty="0">
                <a:solidFill>
                  <a:srgbClr val="C9D2DD"/>
                </a:solidFill>
                <a:latin typeface="Calibri" pitchFamily="34" charset="0"/>
                <a:ea typeface="Calibri" pitchFamily="34" charset="-122"/>
                <a:cs typeface="Calibri" pitchFamily="34" charset="-120"/>
              </a:rPr>
              <a:t>hollow grey</a:t>
            </a:r>
            <a:pPr algn="l" indent="0" marL="0">
              <a:lnSpc>
                <a:spcPct val="100000"/>
              </a:lnSpc>
              <a:buNone/>
            </a:pPr>
            <a:r>
              <a:rPr lang="en-US" sz="1300" dirty="0">
                <a:solidFill>
                  <a:srgbClr val="C9D2DD"/>
                </a:solidFill>
                <a:latin typeface="Calibri" pitchFamily="34" charset="0"/>
                <a:ea typeface="Calibri" pitchFamily="34" charset="-122"/>
                <a:cs typeface="Calibri" pitchFamily="34" charset="-120"/>
              </a:rPr>
              <a:t> = class 0</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OPENING</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By the end of today you can…</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the plan, and the one example we follow all session</a:t>
            </a:r>
            <a:endParaRPr lang="en-US" sz="1100" dirty="0"/>
          </a:p>
        </p:txBody>
      </p:sp>
      <p:sp>
        <p:nvSpPr>
          <p:cNvPr id="6" name="Shape 3"/>
          <p:cNvSpPr/>
          <p:nvPr/>
        </p:nvSpPr>
        <p:spPr>
          <a:xfrm>
            <a:off x="548640" y="1417320"/>
            <a:ext cx="5410048" cy="1463040"/>
          </a:xfrm>
          <a:prstGeom prst="roundRect">
            <a:avLst>
              <a:gd name="adj" fmla="val 5000"/>
            </a:avLst>
          </a:prstGeom>
          <a:solidFill>
            <a:srgbClr val="F3F5F8"/>
          </a:solidFill>
          <a:ln/>
        </p:spPr>
      </p:sp>
      <p:sp>
        <p:nvSpPr>
          <p:cNvPr id="7" name="Shape 4"/>
          <p:cNvSpPr/>
          <p:nvPr/>
        </p:nvSpPr>
        <p:spPr>
          <a:xfrm>
            <a:off x="822960" y="1709928"/>
            <a:ext cx="457200" cy="457200"/>
          </a:xfrm>
          <a:prstGeom prst="ellipse">
            <a:avLst/>
          </a:prstGeom>
          <a:solidFill>
            <a:srgbClr val="0E7C7B"/>
          </a:solidFill>
          <a:ln/>
        </p:spPr>
      </p:sp>
      <p:sp>
        <p:nvSpPr>
          <p:cNvPr id="8" name="Text 5"/>
          <p:cNvSpPr txBox="1"/>
          <p:nvPr/>
        </p:nvSpPr>
        <p:spPr>
          <a:xfrm>
            <a:off x="822960" y="170992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508760" y="1645920"/>
            <a:ext cx="4175608" cy="868680"/>
          </a:xfrm>
          <a:prstGeom prst="rect">
            <a:avLst/>
          </a:prstGeom>
          <a:noFill/>
          <a:ln/>
        </p:spPr>
        <p:txBody>
          <a:bodyPr wrap="square" lIns="0" tIns="0" rIns="0" bIns="0" rtlCol="0" anchor="t"/>
          <a:lstStyle/>
          <a:p>
            <a:pPr algn="l" indent="0" marL="0">
              <a:lnSpc>
                <a:spcPct val="100000"/>
              </a:lnSpc>
              <a:buNone/>
            </a:pPr>
            <a:r>
              <a:rPr lang="en-US" sz="1800" dirty="0">
                <a:solidFill>
                  <a:srgbClr val="16202E"/>
                </a:solidFill>
                <a:latin typeface="Calibri" pitchFamily="34" charset="0"/>
                <a:ea typeface="Calibri" pitchFamily="34" charset="-122"/>
                <a:cs typeface="Calibri" pitchFamily="34" charset="-120"/>
              </a:rPr>
              <a:t>Explain why a linear model cannot solve XOR, and how a hidden layer with a nonlinearity fixes it</a:t>
            </a:r>
            <a:endParaRPr lang="en-US" sz="1800" dirty="0"/>
          </a:p>
        </p:txBody>
      </p:sp>
      <p:sp>
        <p:nvSpPr>
          <p:cNvPr id="10" name="Text 7"/>
          <p:cNvSpPr txBox="1"/>
          <p:nvPr/>
        </p:nvSpPr>
        <p:spPr>
          <a:xfrm>
            <a:off x="1508760" y="2514600"/>
            <a:ext cx="1828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1</a:t>
            </a:r>
            <a:endParaRPr lang="en-US" sz="1100" dirty="0"/>
          </a:p>
        </p:txBody>
      </p:sp>
      <p:sp>
        <p:nvSpPr>
          <p:cNvPr id="11" name="Shape 8"/>
          <p:cNvSpPr/>
          <p:nvPr/>
        </p:nvSpPr>
        <p:spPr>
          <a:xfrm>
            <a:off x="6233008" y="1417320"/>
            <a:ext cx="5410048" cy="1463040"/>
          </a:xfrm>
          <a:prstGeom prst="roundRect">
            <a:avLst>
              <a:gd name="adj" fmla="val 5000"/>
            </a:avLst>
          </a:prstGeom>
          <a:solidFill>
            <a:srgbClr val="F3F5F8"/>
          </a:solidFill>
          <a:ln/>
        </p:spPr>
      </p:sp>
      <p:sp>
        <p:nvSpPr>
          <p:cNvPr id="12" name="Shape 9"/>
          <p:cNvSpPr/>
          <p:nvPr/>
        </p:nvSpPr>
        <p:spPr>
          <a:xfrm>
            <a:off x="6507328" y="1709928"/>
            <a:ext cx="457200" cy="457200"/>
          </a:xfrm>
          <a:prstGeom prst="ellipse">
            <a:avLst/>
          </a:prstGeom>
          <a:solidFill>
            <a:srgbClr val="0E7C7B"/>
          </a:solidFill>
          <a:ln/>
        </p:spPr>
      </p:sp>
      <p:sp>
        <p:nvSpPr>
          <p:cNvPr id="13" name="Text 10"/>
          <p:cNvSpPr txBox="1"/>
          <p:nvPr/>
        </p:nvSpPr>
        <p:spPr>
          <a:xfrm>
            <a:off x="6507328" y="1709928"/>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7193128" y="1645920"/>
            <a:ext cx="4175608" cy="868680"/>
          </a:xfrm>
          <a:prstGeom prst="rect">
            <a:avLst/>
          </a:prstGeom>
          <a:noFill/>
          <a:ln/>
        </p:spPr>
        <p:txBody>
          <a:bodyPr wrap="square" lIns="0" tIns="0" rIns="0" bIns="0" rtlCol="0" anchor="t"/>
          <a:lstStyle/>
          <a:p>
            <a:pPr algn="l" indent="0" marL="0">
              <a:lnSpc>
                <a:spcPct val="100000"/>
              </a:lnSpc>
              <a:buNone/>
            </a:pPr>
            <a:r>
              <a:rPr lang="en-US" sz="1800" dirty="0">
                <a:solidFill>
                  <a:srgbClr val="16202E"/>
                </a:solidFill>
                <a:latin typeface="Calibri" pitchFamily="34" charset="0"/>
                <a:ea typeface="Calibri" pitchFamily="34" charset="-122"/>
                <a:cs typeface="Calibri" pitchFamily="34" charset="-120"/>
              </a:rPr>
              <a:t>Compute an MLP's forward pass, its tensor shapes and its parameter count</a:t>
            </a:r>
            <a:endParaRPr lang="en-US" sz="1800" dirty="0"/>
          </a:p>
        </p:txBody>
      </p:sp>
      <p:sp>
        <p:nvSpPr>
          <p:cNvPr id="15" name="Text 12"/>
          <p:cNvSpPr txBox="1"/>
          <p:nvPr/>
        </p:nvSpPr>
        <p:spPr>
          <a:xfrm>
            <a:off x="7193128" y="2514600"/>
            <a:ext cx="1828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1</a:t>
            </a:r>
            <a:endParaRPr lang="en-US" sz="1100" dirty="0"/>
          </a:p>
        </p:txBody>
      </p:sp>
      <p:sp>
        <p:nvSpPr>
          <p:cNvPr id="16" name="Shape 13"/>
          <p:cNvSpPr/>
          <p:nvPr/>
        </p:nvSpPr>
        <p:spPr>
          <a:xfrm>
            <a:off x="548640" y="3081528"/>
            <a:ext cx="5410048" cy="1463040"/>
          </a:xfrm>
          <a:prstGeom prst="roundRect">
            <a:avLst>
              <a:gd name="adj" fmla="val 5000"/>
            </a:avLst>
          </a:prstGeom>
          <a:solidFill>
            <a:srgbClr val="F3F5F8"/>
          </a:solidFill>
          <a:ln/>
        </p:spPr>
      </p:sp>
      <p:sp>
        <p:nvSpPr>
          <p:cNvPr id="17" name="Shape 14"/>
          <p:cNvSpPr/>
          <p:nvPr/>
        </p:nvSpPr>
        <p:spPr>
          <a:xfrm>
            <a:off x="822960" y="3374136"/>
            <a:ext cx="457200" cy="457200"/>
          </a:xfrm>
          <a:prstGeom prst="ellipse">
            <a:avLst/>
          </a:prstGeom>
          <a:solidFill>
            <a:srgbClr val="0E7C7B"/>
          </a:solidFill>
          <a:ln/>
        </p:spPr>
      </p:sp>
      <p:sp>
        <p:nvSpPr>
          <p:cNvPr id="18" name="Text 15"/>
          <p:cNvSpPr txBox="1"/>
          <p:nvPr/>
        </p:nvSpPr>
        <p:spPr>
          <a:xfrm>
            <a:off x="822960" y="3374136"/>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1508760" y="3310128"/>
            <a:ext cx="4175608" cy="868680"/>
          </a:xfrm>
          <a:prstGeom prst="rect">
            <a:avLst/>
          </a:prstGeom>
          <a:noFill/>
          <a:ln/>
        </p:spPr>
        <p:txBody>
          <a:bodyPr wrap="square" lIns="0" tIns="0" rIns="0" bIns="0" rtlCol="0" anchor="t"/>
          <a:lstStyle/>
          <a:p>
            <a:pPr algn="l" indent="0" marL="0">
              <a:lnSpc>
                <a:spcPct val="100000"/>
              </a:lnSpc>
              <a:buNone/>
            </a:pPr>
            <a:r>
              <a:rPr lang="en-US" sz="1800" dirty="0">
                <a:solidFill>
                  <a:srgbClr val="16202E"/>
                </a:solidFill>
                <a:latin typeface="Calibri" pitchFamily="34" charset="0"/>
                <a:ea typeface="Calibri" pitchFamily="34" charset="-122"/>
                <a:cs typeface="Calibri" pitchFamily="34" charset="-120"/>
              </a:rPr>
              <a:t>Explain how a loss and gradient descent train a network, and why the step size has a ceiling</a:t>
            </a:r>
            <a:endParaRPr lang="en-US" sz="1800" dirty="0"/>
          </a:p>
        </p:txBody>
      </p:sp>
      <p:sp>
        <p:nvSpPr>
          <p:cNvPr id="20" name="Text 17"/>
          <p:cNvSpPr txBox="1"/>
          <p:nvPr/>
        </p:nvSpPr>
        <p:spPr>
          <a:xfrm>
            <a:off x="1508760" y="4178808"/>
            <a:ext cx="1828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2</a:t>
            </a:r>
            <a:endParaRPr lang="en-US" sz="1100" dirty="0"/>
          </a:p>
        </p:txBody>
      </p:sp>
      <p:sp>
        <p:nvSpPr>
          <p:cNvPr id="21" name="Shape 18"/>
          <p:cNvSpPr/>
          <p:nvPr/>
        </p:nvSpPr>
        <p:spPr>
          <a:xfrm>
            <a:off x="6233008" y="3081528"/>
            <a:ext cx="5410048" cy="1463040"/>
          </a:xfrm>
          <a:prstGeom prst="roundRect">
            <a:avLst>
              <a:gd name="adj" fmla="val 5000"/>
            </a:avLst>
          </a:prstGeom>
          <a:solidFill>
            <a:srgbClr val="F3F5F8"/>
          </a:solidFill>
          <a:ln/>
        </p:spPr>
      </p:sp>
      <p:sp>
        <p:nvSpPr>
          <p:cNvPr id="22" name="Shape 19"/>
          <p:cNvSpPr/>
          <p:nvPr/>
        </p:nvSpPr>
        <p:spPr>
          <a:xfrm>
            <a:off x="6507328" y="3374136"/>
            <a:ext cx="457200" cy="457200"/>
          </a:xfrm>
          <a:prstGeom prst="ellipse">
            <a:avLst/>
          </a:prstGeom>
          <a:solidFill>
            <a:srgbClr val="0E7C7B"/>
          </a:solidFill>
          <a:ln/>
        </p:spPr>
      </p:sp>
      <p:sp>
        <p:nvSpPr>
          <p:cNvPr id="23" name="Text 20"/>
          <p:cNvSpPr txBox="1"/>
          <p:nvPr/>
        </p:nvSpPr>
        <p:spPr>
          <a:xfrm>
            <a:off x="6507328" y="3374136"/>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7193128" y="3310128"/>
            <a:ext cx="4175608" cy="868680"/>
          </a:xfrm>
          <a:prstGeom prst="rect">
            <a:avLst/>
          </a:prstGeom>
          <a:noFill/>
          <a:ln/>
        </p:spPr>
        <p:txBody>
          <a:bodyPr wrap="square" lIns="0" tIns="0" rIns="0" bIns="0" rtlCol="0" anchor="t"/>
          <a:lstStyle/>
          <a:p>
            <a:pPr algn="l" indent="0" marL="0">
              <a:lnSpc>
                <a:spcPct val="100000"/>
              </a:lnSpc>
              <a:buNone/>
            </a:pPr>
            <a:r>
              <a:rPr lang="en-US" sz="1800" dirty="0">
                <a:solidFill>
                  <a:srgbClr val="16202E"/>
                </a:solidFill>
                <a:latin typeface="Calibri" pitchFamily="34" charset="0"/>
                <a:ea typeface="Calibri" pitchFamily="34" charset="-122"/>
                <a:cs typeface="Calibri" pitchFamily="34" charset="-120"/>
              </a:rPr>
              <a:t>Run backpropagation by hand, and read training curves to tell underfitting from overfitting</a:t>
            </a:r>
            <a:endParaRPr lang="en-US" sz="1800" dirty="0"/>
          </a:p>
        </p:txBody>
      </p:sp>
      <p:sp>
        <p:nvSpPr>
          <p:cNvPr id="25" name="Text 22"/>
          <p:cNvSpPr txBox="1"/>
          <p:nvPr/>
        </p:nvSpPr>
        <p:spPr>
          <a:xfrm>
            <a:off x="7193128" y="4178808"/>
            <a:ext cx="1828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3</a:t>
            </a:r>
            <a:endParaRPr lang="en-US" sz="1100" dirty="0"/>
          </a:p>
        </p:txBody>
      </p:sp>
      <p:sp>
        <p:nvSpPr>
          <p:cNvPr id="26" name="Shape 23"/>
          <p:cNvSpPr/>
          <p:nvPr/>
        </p:nvSpPr>
        <p:spPr>
          <a:xfrm>
            <a:off x="548640" y="4892040"/>
            <a:ext cx="11094415" cy="914400"/>
          </a:xfrm>
          <a:prstGeom prst="roundRect">
            <a:avLst>
              <a:gd name="adj" fmla="val 8000"/>
            </a:avLst>
          </a:prstGeom>
          <a:solidFill>
            <a:srgbClr val="FFFFFF"/>
          </a:solidFill>
          <a:ln w="12700">
            <a:solidFill>
              <a:srgbClr val="D5DBE3"/>
            </a:solidFill>
            <a:prstDash val="solid"/>
          </a:ln>
        </p:spPr>
      </p:sp>
      <p:sp>
        <p:nvSpPr>
          <p:cNvPr id="27" name="Text 24"/>
          <p:cNvSpPr txBox="1"/>
          <p:nvPr/>
        </p:nvSpPr>
        <p:spPr>
          <a:xfrm>
            <a:off x="822960" y="4892040"/>
            <a:ext cx="10545775" cy="914400"/>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You already know:</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matrix–vector products  ·  the chain rule  ·  logistic regression and its log-likelihood  ·  train / validation / test splits  ·  NumPy</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OPENING</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Today's plan, and one example we follow all session</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Part 1: why do we need more than a linear model?</a:t>
            </a:r>
            <a:endParaRPr lang="en-US" sz="1100" dirty="0"/>
          </a:p>
        </p:txBody>
      </p:sp>
      <p:sp>
        <p:nvSpPr>
          <p:cNvPr id="6" name="Shape 3"/>
          <p:cNvSpPr/>
          <p:nvPr/>
        </p:nvSpPr>
        <p:spPr>
          <a:xfrm>
            <a:off x="548640" y="1463040"/>
            <a:ext cx="333238" cy="457200"/>
          </a:xfrm>
          <a:prstGeom prst="rect">
            <a:avLst/>
          </a:prstGeom>
          <a:solidFill>
            <a:srgbClr val="8A94A3"/>
          </a:solidFill>
          <a:ln/>
        </p:spPr>
      </p:sp>
      <p:sp>
        <p:nvSpPr>
          <p:cNvPr id="7" name="Shape 4"/>
          <p:cNvSpPr/>
          <p:nvPr/>
        </p:nvSpPr>
        <p:spPr>
          <a:xfrm>
            <a:off x="918454" y="1463040"/>
            <a:ext cx="2921935" cy="457200"/>
          </a:xfrm>
          <a:prstGeom prst="rect">
            <a:avLst/>
          </a:prstGeom>
          <a:solidFill>
            <a:srgbClr val="16202E"/>
          </a:solidFill>
          <a:ln/>
        </p:spPr>
      </p:sp>
      <p:sp>
        <p:nvSpPr>
          <p:cNvPr id="8" name="Text 5"/>
          <p:cNvSpPr txBox="1"/>
          <p:nvPr/>
        </p:nvSpPr>
        <p:spPr>
          <a:xfrm>
            <a:off x="1009894" y="1463040"/>
            <a:ext cx="2784775"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Part 1 · compute</a:t>
            </a:r>
            <a:endParaRPr lang="en-US" sz="1300" dirty="0"/>
          </a:p>
        </p:txBody>
      </p:sp>
      <p:sp>
        <p:nvSpPr>
          <p:cNvPr id="9" name="Shape 6"/>
          <p:cNvSpPr/>
          <p:nvPr/>
        </p:nvSpPr>
        <p:spPr>
          <a:xfrm>
            <a:off x="3876965" y="1463040"/>
            <a:ext cx="1812493" cy="457200"/>
          </a:xfrm>
          <a:prstGeom prst="rect">
            <a:avLst/>
          </a:prstGeom>
          <a:solidFill>
            <a:srgbClr val="16202E"/>
          </a:solidFill>
          <a:ln/>
        </p:spPr>
      </p:sp>
      <p:sp>
        <p:nvSpPr>
          <p:cNvPr id="10" name="Text 7"/>
          <p:cNvSpPr txBox="1"/>
          <p:nvPr/>
        </p:nvSpPr>
        <p:spPr>
          <a:xfrm>
            <a:off x="3968405" y="1463040"/>
            <a:ext cx="1675333"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Part 2 · learn</a:t>
            </a:r>
            <a:endParaRPr lang="en-US" sz="1300" dirty="0"/>
          </a:p>
        </p:txBody>
      </p:sp>
      <p:sp>
        <p:nvSpPr>
          <p:cNvPr id="11" name="Shape 8"/>
          <p:cNvSpPr/>
          <p:nvPr/>
        </p:nvSpPr>
        <p:spPr>
          <a:xfrm>
            <a:off x="5726034" y="1463040"/>
            <a:ext cx="703052" cy="457200"/>
          </a:xfrm>
          <a:prstGeom prst="rect">
            <a:avLst/>
          </a:prstGeom>
          <a:solidFill>
            <a:srgbClr val="B8C0CB"/>
          </a:solidFill>
          <a:ln/>
        </p:spPr>
      </p:sp>
      <p:sp>
        <p:nvSpPr>
          <p:cNvPr id="12" name="Text 9"/>
          <p:cNvSpPr txBox="1"/>
          <p:nvPr/>
        </p:nvSpPr>
        <p:spPr>
          <a:xfrm>
            <a:off x="5817474" y="1463040"/>
            <a:ext cx="565892"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Break</a:t>
            </a:r>
            <a:endParaRPr lang="en-US" sz="1300" dirty="0"/>
          </a:p>
        </p:txBody>
      </p:sp>
      <p:sp>
        <p:nvSpPr>
          <p:cNvPr id="13" name="Shape 10"/>
          <p:cNvSpPr/>
          <p:nvPr/>
        </p:nvSpPr>
        <p:spPr>
          <a:xfrm>
            <a:off x="6465661" y="1463040"/>
            <a:ext cx="4031376" cy="457200"/>
          </a:xfrm>
          <a:prstGeom prst="rect">
            <a:avLst/>
          </a:prstGeom>
          <a:solidFill>
            <a:srgbClr val="16202E"/>
          </a:solidFill>
          <a:ln/>
        </p:spPr>
      </p:sp>
      <p:sp>
        <p:nvSpPr>
          <p:cNvPr id="14" name="Text 11"/>
          <p:cNvSpPr txBox="1"/>
          <p:nvPr/>
        </p:nvSpPr>
        <p:spPr>
          <a:xfrm>
            <a:off x="6557101" y="1463040"/>
            <a:ext cx="3894216"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Part 3 · backprop &amp; curves</a:t>
            </a:r>
            <a:endParaRPr lang="en-US" sz="1300" dirty="0"/>
          </a:p>
        </p:txBody>
      </p:sp>
      <p:sp>
        <p:nvSpPr>
          <p:cNvPr id="15" name="Shape 12"/>
          <p:cNvSpPr/>
          <p:nvPr/>
        </p:nvSpPr>
        <p:spPr>
          <a:xfrm>
            <a:off x="10533614" y="1463040"/>
            <a:ext cx="1072866" cy="457200"/>
          </a:xfrm>
          <a:prstGeom prst="rect">
            <a:avLst/>
          </a:prstGeom>
          <a:solidFill>
            <a:srgbClr val="8A94A3"/>
          </a:solidFill>
          <a:ln/>
        </p:spPr>
      </p:sp>
      <p:sp>
        <p:nvSpPr>
          <p:cNvPr id="16" name="Text 13"/>
          <p:cNvSpPr txBox="1"/>
          <p:nvPr/>
        </p:nvSpPr>
        <p:spPr>
          <a:xfrm>
            <a:off x="10625054" y="1463040"/>
            <a:ext cx="935706" cy="457200"/>
          </a:xfrm>
          <a:prstGeom prst="rect">
            <a:avLst/>
          </a:prstGeom>
          <a:noFill/>
          <a:ln/>
        </p:spPr>
        <p:txBody>
          <a:bodyPr wrap="square" lIns="0" tIns="0" rIns="0" bIns="0" rtlCol="0" anchor="ctr"/>
          <a:lstStyle/>
          <a:p>
            <a:pPr algn="l" indent="0" marL="0">
              <a:lnSpc>
                <a:spcPct val="100000"/>
              </a:lnSpc>
              <a:buNone/>
            </a:pPr>
            <a:r>
              <a:rPr lang="en-US" sz="1300" b="1" dirty="0">
                <a:solidFill>
                  <a:srgbClr val="FFFFFF"/>
                </a:solidFill>
                <a:latin typeface="Calibri" pitchFamily="34" charset="0"/>
                <a:ea typeface="Calibri" pitchFamily="34" charset="-122"/>
                <a:cs typeface="Calibri" pitchFamily="34" charset="-120"/>
              </a:rPr>
              <a:t>Wrap-up</a:t>
            </a:r>
            <a:endParaRPr lang="en-US" sz="1300" dirty="0"/>
          </a:p>
        </p:txBody>
      </p:sp>
      <p:sp>
        <p:nvSpPr>
          <p:cNvPr id="17" name="Text 14"/>
          <p:cNvSpPr txBox="1"/>
          <p:nvPr/>
        </p:nvSpPr>
        <p:spPr>
          <a:xfrm>
            <a:off x="274320"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0:00</a:t>
            </a:r>
            <a:endParaRPr lang="en-US" sz="1100" dirty="0"/>
          </a:p>
        </p:txBody>
      </p:sp>
      <p:sp>
        <p:nvSpPr>
          <p:cNvPr id="18" name="Text 15"/>
          <p:cNvSpPr txBox="1"/>
          <p:nvPr/>
        </p:nvSpPr>
        <p:spPr>
          <a:xfrm>
            <a:off x="644134"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0:05</a:t>
            </a:r>
            <a:endParaRPr lang="en-US" sz="1100" dirty="0"/>
          </a:p>
        </p:txBody>
      </p:sp>
      <p:sp>
        <p:nvSpPr>
          <p:cNvPr id="19" name="Text 16"/>
          <p:cNvSpPr txBox="1"/>
          <p:nvPr/>
        </p:nvSpPr>
        <p:spPr>
          <a:xfrm>
            <a:off x="3602645"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0:45</a:t>
            </a:r>
            <a:endParaRPr lang="en-US" sz="1100" dirty="0"/>
          </a:p>
        </p:txBody>
      </p:sp>
      <p:sp>
        <p:nvSpPr>
          <p:cNvPr id="20" name="Text 17"/>
          <p:cNvSpPr txBox="1"/>
          <p:nvPr/>
        </p:nvSpPr>
        <p:spPr>
          <a:xfrm>
            <a:off x="5451714"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1:10</a:t>
            </a:r>
            <a:endParaRPr lang="en-US" sz="1100" dirty="0"/>
          </a:p>
        </p:txBody>
      </p:sp>
      <p:sp>
        <p:nvSpPr>
          <p:cNvPr id="21" name="Text 18"/>
          <p:cNvSpPr txBox="1"/>
          <p:nvPr/>
        </p:nvSpPr>
        <p:spPr>
          <a:xfrm>
            <a:off x="6191341"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1:20</a:t>
            </a:r>
            <a:endParaRPr lang="en-US" sz="1100" dirty="0"/>
          </a:p>
        </p:txBody>
      </p:sp>
      <p:sp>
        <p:nvSpPr>
          <p:cNvPr id="22" name="Text 19"/>
          <p:cNvSpPr txBox="1"/>
          <p:nvPr/>
        </p:nvSpPr>
        <p:spPr>
          <a:xfrm>
            <a:off x="10259294"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2:15</a:t>
            </a:r>
            <a:endParaRPr lang="en-US" sz="1100" dirty="0"/>
          </a:p>
        </p:txBody>
      </p:sp>
      <p:sp>
        <p:nvSpPr>
          <p:cNvPr id="23" name="Text 20"/>
          <p:cNvSpPr txBox="1"/>
          <p:nvPr/>
        </p:nvSpPr>
        <p:spPr>
          <a:xfrm>
            <a:off x="11368735" y="1965960"/>
            <a:ext cx="548640" cy="228600"/>
          </a:xfrm>
          <a:prstGeom prst="rect">
            <a:avLst/>
          </a:prstGeom>
          <a:noFill/>
          <a:ln/>
        </p:spPr>
        <p:txBody>
          <a:bodyPr wrap="square" lIns="0" tIns="0" rIns="0" bIns="0" rtlCol="0" anchor="t"/>
          <a:lstStyle/>
          <a:p>
            <a:pPr algn="ctr" indent="0" marL="0">
              <a:lnSpc>
                <a:spcPct val="100000"/>
              </a:lnSpc>
              <a:buNone/>
            </a:pPr>
            <a:r>
              <a:rPr lang="en-US" sz="1100" dirty="0">
                <a:solidFill>
                  <a:srgbClr val="5B6675"/>
                </a:solidFill>
                <a:latin typeface="Calibri" pitchFamily="34" charset="0"/>
                <a:ea typeface="Calibri" pitchFamily="34" charset="-122"/>
                <a:cs typeface="Calibri" pitchFamily="34" charset="-120"/>
              </a:rPr>
              <a:t>2:30</a:t>
            </a:r>
            <a:endParaRPr lang="en-US" sz="1100" dirty="0"/>
          </a:p>
        </p:txBody>
      </p:sp>
      <p:sp>
        <p:nvSpPr>
          <p:cNvPr id="24" name="Shape 21"/>
          <p:cNvSpPr/>
          <p:nvPr/>
        </p:nvSpPr>
        <p:spPr>
          <a:xfrm>
            <a:off x="548640" y="2514600"/>
            <a:ext cx="3515258" cy="1234440"/>
          </a:xfrm>
          <a:prstGeom prst="roundRect">
            <a:avLst>
              <a:gd name="adj" fmla="val 5926"/>
            </a:avLst>
          </a:prstGeom>
          <a:solidFill>
            <a:srgbClr val="F3F5F8"/>
          </a:solidFill>
          <a:ln/>
        </p:spPr>
      </p:sp>
      <p:sp>
        <p:nvSpPr>
          <p:cNvPr id="25" name="Text 22"/>
          <p:cNvSpPr txBox="1"/>
          <p:nvPr/>
        </p:nvSpPr>
        <p:spPr>
          <a:xfrm>
            <a:off x="777240" y="2633472"/>
            <a:ext cx="3058058" cy="32004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Part 1 · Computing</a:t>
            </a:r>
            <a:endParaRPr lang="en-US" sz="1700" dirty="0"/>
          </a:p>
        </p:txBody>
      </p:sp>
      <p:sp>
        <p:nvSpPr>
          <p:cNvPr id="26" name="Text 23"/>
          <p:cNvSpPr txBox="1"/>
          <p:nvPr/>
        </p:nvSpPr>
        <p:spPr>
          <a:xfrm>
            <a:off x="777240" y="3035808"/>
            <a:ext cx="3058058" cy="6400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Neuron · XOR · hidden layers · activations · forward pass · shapes</a:t>
            </a:r>
            <a:endParaRPr lang="en-US" sz="1450" dirty="0"/>
          </a:p>
        </p:txBody>
      </p:sp>
      <p:sp>
        <p:nvSpPr>
          <p:cNvPr id="27" name="Shape 24"/>
          <p:cNvSpPr/>
          <p:nvPr/>
        </p:nvSpPr>
        <p:spPr>
          <a:xfrm>
            <a:off x="4277228" y="2514600"/>
            <a:ext cx="3515258" cy="1234440"/>
          </a:xfrm>
          <a:prstGeom prst="roundRect">
            <a:avLst>
              <a:gd name="adj" fmla="val 5926"/>
            </a:avLst>
          </a:prstGeom>
          <a:solidFill>
            <a:srgbClr val="F3F5F8"/>
          </a:solidFill>
          <a:ln/>
        </p:spPr>
      </p:sp>
      <p:sp>
        <p:nvSpPr>
          <p:cNvPr id="28" name="Text 25"/>
          <p:cNvSpPr txBox="1"/>
          <p:nvPr/>
        </p:nvSpPr>
        <p:spPr>
          <a:xfrm>
            <a:off x="4505828" y="2633472"/>
            <a:ext cx="3058058" cy="32004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Part 2 · Learning</a:t>
            </a:r>
            <a:endParaRPr lang="en-US" sz="1700" dirty="0"/>
          </a:p>
        </p:txBody>
      </p:sp>
      <p:sp>
        <p:nvSpPr>
          <p:cNvPr id="29" name="Text 26"/>
          <p:cNvSpPr txBox="1"/>
          <p:nvPr/>
        </p:nvSpPr>
        <p:spPr>
          <a:xfrm>
            <a:off x="4505828" y="3035808"/>
            <a:ext cx="3058058" cy="6400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Loss · cross-entropy · gradient descent · step size · mini-batches · Adam</a:t>
            </a:r>
            <a:endParaRPr lang="en-US" sz="1450" dirty="0"/>
          </a:p>
        </p:txBody>
      </p:sp>
      <p:sp>
        <p:nvSpPr>
          <p:cNvPr id="30" name="Shape 27"/>
          <p:cNvSpPr/>
          <p:nvPr/>
        </p:nvSpPr>
        <p:spPr>
          <a:xfrm>
            <a:off x="8005816" y="2514600"/>
            <a:ext cx="3515258" cy="1234440"/>
          </a:xfrm>
          <a:prstGeom prst="roundRect">
            <a:avLst>
              <a:gd name="adj" fmla="val 5926"/>
            </a:avLst>
          </a:prstGeom>
          <a:solidFill>
            <a:srgbClr val="F3F5F8"/>
          </a:solidFill>
          <a:ln/>
        </p:spPr>
      </p:sp>
      <p:sp>
        <p:nvSpPr>
          <p:cNvPr id="31" name="Text 28"/>
          <p:cNvSpPr txBox="1"/>
          <p:nvPr/>
        </p:nvSpPr>
        <p:spPr>
          <a:xfrm>
            <a:off x="8234416" y="2633472"/>
            <a:ext cx="3058058" cy="32004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Part 3 · Backprop &amp; curves</a:t>
            </a:r>
            <a:endParaRPr lang="en-US" sz="1700" dirty="0"/>
          </a:p>
        </p:txBody>
      </p:sp>
      <p:sp>
        <p:nvSpPr>
          <p:cNvPr id="32" name="Text 29"/>
          <p:cNvSpPr txBox="1"/>
          <p:nvPr/>
        </p:nvSpPr>
        <p:spPr>
          <a:xfrm>
            <a:off x="8234416" y="3035808"/>
            <a:ext cx="3058058" cy="6400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Chain rule backward · four BP equations · training loop · diagnosis</a:t>
            </a:r>
            <a:endParaRPr lang="en-US" sz="1450" dirty="0"/>
          </a:p>
        </p:txBody>
      </p:sp>
      <p:sp>
        <p:nvSpPr>
          <p:cNvPr id="33" name="Shape 30"/>
          <p:cNvSpPr/>
          <p:nvPr/>
        </p:nvSpPr>
        <p:spPr>
          <a:xfrm>
            <a:off x="548640" y="3977640"/>
            <a:ext cx="11094415" cy="2148840"/>
          </a:xfrm>
          <a:prstGeom prst="roundRect">
            <a:avLst>
              <a:gd name="adj" fmla="val 3404"/>
            </a:avLst>
          </a:prstGeom>
          <a:solidFill>
            <a:srgbClr val="E3F2F1"/>
          </a:solidFill>
          <a:ln/>
        </p:spPr>
      </p:sp>
      <p:pic>
        <p:nvPicPr>
          <p:cNvPr id="34" name="Image 0" descr="Fashion-MNIST: one example image per class">    </p:cNvPr>
          <p:cNvPicPr>
            <a:picLocks noChangeAspect="1"/>
          </p:cNvPicPr>
          <p:nvPr/>
        </p:nvPicPr>
        <p:blipFill>
          <a:blip r:embed="rId1"/>
          <a:stretch>
            <a:fillRect/>
          </a:stretch>
        </p:blipFill>
        <p:spPr>
          <a:xfrm>
            <a:off x="755560" y="4087368"/>
            <a:ext cx="3883840" cy="1920240"/>
          </a:xfrm>
          <a:prstGeom prst="rect">
            <a:avLst/>
          </a:prstGeom>
        </p:spPr>
      </p:pic>
      <p:sp>
        <p:nvSpPr>
          <p:cNvPr id="35" name="Text 31"/>
          <p:cNvSpPr txBox="1"/>
          <p:nvPr/>
        </p:nvSpPr>
        <p:spPr>
          <a:xfrm>
            <a:off x="4800600" y="4160520"/>
            <a:ext cx="6400800" cy="365760"/>
          </a:xfrm>
          <a:prstGeom prst="rect">
            <a:avLst/>
          </a:prstGeom>
          <a:noFill/>
          <a:ln/>
        </p:spPr>
        <p:txBody>
          <a:bodyPr wrap="square" lIns="0" tIns="0" rIns="0" bIns="0" rtlCol="0" anchor="t"/>
          <a:lstStyle/>
          <a:p>
            <a:pPr algn="l" indent="0" marL="0">
              <a:lnSpc>
                <a:spcPct val="100000"/>
              </a:lnSpc>
              <a:buNone/>
            </a:pPr>
            <a:r>
              <a:rPr lang="en-US" sz="1900" b="1" dirty="0">
                <a:solidFill>
                  <a:srgbClr val="0E7C7B"/>
                </a:solidFill>
                <a:latin typeface="Calibri" pitchFamily="34" charset="0"/>
                <a:ea typeface="Calibri" pitchFamily="34" charset="-122"/>
                <a:cs typeface="Calibri" pitchFamily="34" charset="-120"/>
              </a:rPr>
              <a:t>Running example</a:t>
            </a:r>
            <a:endParaRPr lang="en-US" sz="1900" dirty="0"/>
          </a:p>
        </p:txBody>
      </p:sp>
      <p:sp>
        <p:nvSpPr>
          <p:cNvPr id="36" name="Text 32"/>
          <p:cNvSpPr txBox="1"/>
          <p:nvPr/>
        </p:nvSpPr>
        <p:spPr>
          <a:xfrm>
            <a:off x="4800600" y="4572000"/>
            <a:ext cx="6583680" cy="1463040"/>
          </a:xfrm>
          <a:prstGeom prst="rect">
            <a:avLst/>
          </a:prstGeom>
          <a:noFill/>
          <a:ln/>
        </p:spPr>
        <p:txBody>
          <a:bodyPr wrap="square" lIns="0" tIns="0" rIns="0" bIns="0" rtlCol="0" anchor="t"/>
          <a:lstStyle/>
          <a:p>
            <a:pPr algn="l" indent="0" marL="0">
              <a:lnSpc>
                <a:spcPct val="105000"/>
              </a:lnSpc>
              <a:spcAft>
                <a:spcPts val="600"/>
              </a:spcAft>
              <a:buNone/>
            </a:pPr>
            <a:r>
              <a:rPr lang="en-US" sz="1600" b="1" dirty="0">
                <a:solidFill>
                  <a:srgbClr val="16202E"/>
                </a:solidFill>
                <a:latin typeface="Calibri" pitchFamily="34" charset="0"/>
                <a:ea typeface="Calibri" pitchFamily="34" charset="-122"/>
                <a:cs typeface="Calibri" pitchFamily="34" charset="-120"/>
              </a:rPr>
              <a:t>Fashion-MNIST</a:t>
            </a:r>
            <a:pPr algn="l" indent="0" marL="0">
              <a:lnSpc>
                <a:spcPct val="105000"/>
              </a:lnSpc>
              <a:spcAft>
                <a:spcPts val="600"/>
              </a:spcAft>
              <a:buNone/>
            </a:pPr>
            <a:r>
              <a:rPr lang="en-US" sz="1600" dirty="0">
                <a:solidFill>
                  <a:srgbClr val="16202E"/>
                </a:solidFill>
                <a:latin typeface="Calibri" pitchFamily="34" charset="0"/>
                <a:ea typeface="Calibri" pitchFamily="34" charset="-122"/>
                <a:cs typeface="Calibri" pitchFamily="34" charset="-120"/>
              </a:rPr>
              <a:t>: 70,000 grey 28×28 images of clothing, 10 classes.</a:t>
            </a:r>
            <a:pPr algn="l" indent="0" marL="0">
              <a:lnSpc>
                <a:spcPct val="105000"/>
              </a:lnSpc>
              <a:spcAft>
                <a:spcPts val="600"/>
              </a:spcAft>
              <a:buNone/>
            </a:pPr>
            <a:endParaRPr lang="en-US" sz="1600" dirty="0"/>
          </a:p>
          <a:p>
            <a:pPr algn="l" indent="0" marL="0">
              <a:lnSpc>
                <a:spcPct val="105000"/>
              </a:lnSpc>
              <a:spcAft>
                <a:spcPts val="600"/>
              </a:spcAft>
              <a:buNone/>
            </a:pPr>
            <a:r>
              <a:rPr lang="en-US" sz="1600" b="1" dirty="0">
                <a:solidFill>
                  <a:srgbClr val="16202E"/>
                </a:solidFill>
                <a:latin typeface="Calibri" pitchFamily="34" charset="0"/>
                <a:ea typeface="Calibri" pitchFamily="34" charset="-122"/>
                <a:cs typeface="Calibri" pitchFamily="34" charset="-120"/>
              </a:rPr>
              <a:t>One model all session</a:t>
            </a:r>
            <a:pPr algn="l" indent="0" marL="0">
              <a:lnSpc>
                <a:spcPct val="105000"/>
              </a:lnSpc>
              <a:spcAft>
                <a:spcPts val="600"/>
              </a:spcAft>
              <a:buNone/>
            </a:pPr>
            <a:r>
              <a:rPr lang="en-US" sz="1600" dirty="0">
                <a:solidFill>
                  <a:srgbClr val="16202E"/>
                </a:solidFill>
                <a:latin typeface="Calibri" pitchFamily="34" charset="0"/>
                <a:ea typeface="Calibri" pitchFamily="34" charset="-122"/>
                <a:cs typeface="Calibri" pitchFamily="34" charset="-120"/>
              </a:rPr>
              <a:t>: a 784–128–64–10 MLP — built in Part 1, trained in Part 2, diagnosed in Part 3.</a:t>
            </a:r>
            <a:pPr algn="l" indent="0" marL="0">
              <a:lnSpc>
                <a:spcPct val="105000"/>
              </a:lnSpc>
              <a:spcAft>
                <a:spcPts val="600"/>
              </a:spcAft>
              <a:buNone/>
            </a:pPr>
            <a:endParaRPr lang="en-US" sz="1600" dirty="0"/>
          </a:p>
          <a:p>
            <a:pPr algn="l" indent="0" marL="0">
              <a:lnSpc>
                <a:spcPct val="105000"/>
              </a:lnSpc>
              <a:spcAft>
                <a:spcPts val="600"/>
              </a:spcAft>
              <a:buNone/>
            </a:pPr>
            <a:r>
              <a:rPr lang="en-US" sz="1600" dirty="0">
                <a:solidFill>
                  <a:srgbClr val="16202E"/>
                </a:solidFill>
                <a:latin typeface="Calibri" pitchFamily="34" charset="0"/>
                <a:ea typeface="Calibri" pitchFamily="34" charset="-122"/>
                <a:cs typeface="Calibri" pitchFamily="34" charset="-120"/>
              </a:rPr>
              <a:t>Every number shown comes from seeded NumPy runs (3 seeds) shipped with the deck.</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PART 1  ·  0:05–0:45</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What a network computes</a:t>
            </a:r>
            <a:endParaRPr lang="en-US" sz="3800" dirty="0"/>
          </a:p>
        </p:txBody>
      </p:sp>
      <p:sp>
        <p:nvSpPr>
          <p:cNvPr id="4" name="Text 2"/>
          <p:cNvSpPr txBox="1"/>
          <p:nvPr/>
        </p:nvSpPr>
        <p:spPr>
          <a:xfrm>
            <a:off x="548640" y="3657600"/>
            <a:ext cx="6949440" cy="219456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Why can't a linear model bend its decision boundary?</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What does one neuron compute — and why can't it solve XOR?</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Why must a nonlinearity sit between layers?</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How does an MLP map an image to 10 scores?</a:t>
            </a:r>
            <a:endParaRPr lang="en-US" sz="1900" dirty="0"/>
          </a:p>
        </p:txBody>
      </p:sp>
      <p:sp>
        <p:nvSpPr>
          <p:cNvPr id="5" name="Shape 3"/>
          <p:cNvSpPr/>
          <p:nvPr/>
        </p:nvSpPr>
        <p:spPr>
          <a:xfrm flipV="1">
            <a:off x="8412480" y="1463040"/>
            <a:ext cx="1371600" cy="822960"/>
          </a:xfrm>
          <a:prstGeom prst="line">
            <a:avLst/>
          </a:prstGeom>
          <a:noFill/>
          <a:ln w="9525">
            <a:solidFill>
              <a:srgbClr val="3A4A5E"/>
            </a:solidFill>
            <a:prstDash val="solid"/>
          </a:ln>
        </p:spPr>
      </p:sp>
      <p:sp>
        <p:nvSpPr>
          <p:cNvPr id="6" name="Shape 4"/>
          <p:cNvSpPr/>
          <p:nvPr/>
        </p:nvSpPr>
        <p:spPr>
          <a:xfrm>
            <a:off x="8412480" y="2286000"/>
            <a:ext cx="1371600" cy="822960"/>
          </a:xfrm>
          <a:prstGeom prst="line">
            <a:avLst/>
          </a:prstGeom>
          <a:noFill/>
          <a:ln w="9525">
            <a:solidFill>
              <a:srgbClr val="3A4A5E"/>
            </a:solidFill>
            <a:prstDash val="solid"/>
          </a:ln>
        </p:spPr>
      </p:sp>
      <p:sp>
        <p:nvSpPr>
          <p:cNvPr id="7" name="Shape 5"/>
          <p:cNvSpPr/>
          <p:nvPr/>
        </p:nvSpPr>
        <p:spPr>
          <a:xfrm>
            <a:off x="8412480" y="2286000"/>
            <a:ext cx="1371600" cy="2468880"/>
          </a:xfrm>
          <a:prstGeom prst="line">
            <a:avLst/>
          </a:prstGeom>
          <a:noFill/>
          <a:ln w="9525">
            <a:solidFill>
              <a:srgbClr val="3A4A5E"/>
            </a:solidFill>
            <a:prstDash val="solid"/>
          </a:ln>
        </p:spPr>
      </p:sp>
      <p:sp>
        <p:nvSpPr>
          <p:cNvPr id="8" name="Shape 6"/>
          <p:cNvSpPr/>
          <p:nvPr/>
        </p:nvSpPr>
        <p:spPr>
          <a:xfrm flipV="1">
            <a:off x="8412480" y="1463040"/>
            <a:ext cx="1371600" cy="2468880"/>
          </a:xfrm>
          <a:prstGeom prst="line">
            <a:avLst/>
          </a:prstGeom>
          <a:noFill/>
          <a:ln w="9525">
            <a:solidFill>
              <a:srgbClr val="3A4A5E"/>
            </a:solidFill>
            <a:prstDash val="solid"/>
          </a:ln>
        </p:spPr>
      </p:sp>
      <p:sp>
        <p:nvSpPr>
          <p:cNvPr id="9" name="Shape 7"/>
          <p:cNvSpPr/>
          <p:nvPr/>
        </p:nvSpPr>
        <p:spPr>
          <a:xfrm flipV="1">
            <a:off x="8412480" y="3108960"/>
            <a:ext cx="1371600" cy="822960"/>
          </a:xfrm>
          <a:prstGeom prst="line">
            <a:avLst/>
          </a:prstGeom>
          <a:noFill/>
          <a:ln w="9525">
            <a:solidFill>
              <a:srgbClr val="3A4A5E"/>
            </a:solidFill>
            <a:prstDash val="solid"/>
          </a:ln>
        </p:spPr>
      </p:sp>
      <p:sp>
        <p:nvSpPr>
          <p:cNvPr id="10" name="Shape 8"/>
          <p:cNvSpPr/>
          <p:nvPr/>
        </p:nvSpPr>
        <p:spPr>
          <a:xfrm>
            <a:off x="8412480" y="3931920"/>
            <a:ext cx="1371600" cy="822960"/>
          </a:xfrm>
          <a:prstGeom prst="line">
            <a:avLst/>
          </a:prstGeom>
          <a:noFill/>
          <a:ln w="9525">
            <a:solidFill>
              <a:srgbClr val="3A4A5E"/>
            </a:solidFill>
            <a:prstDash val="solid"/>
          </a:ln>
        </p:spPr>
      </p:sp>
      <p:sp>
        <p:nvSpPr>
          <p:cNvPr id="11" name="Shape 9"/>
          <p:cNvSpPr/>
          <p:nvPr/>
        </p:nvSpPr>
        <p:spPr>
          <a:xfrm>
            <a:off x="9784080" y="1463040"/>
            <a:ext cx="1371600" cy="1645920"/>
          </a:xfrm>
          <a:prstGeom prst="line">
            <a:avLst/>
          </a:prstGeom>
          <a:noFill/>
          <a:ln w="9525">
            <a:solidFill>
              <a:srgbClr val="3A4A5E"/>
            </a:solidFill>
            <a:prstDash val="solid"/>
          </a:ln>
        </p:spPr>
      </p:sp>
      <p:sp>
        <p:nvSpPr>
          <p:cNvPr id="12" name="Shape 10"/>
          <p:cNvSpPr/>
          <p:nvPr/>
        </p:nvSpPr>
        <p:spPr>
          <a:xfrm>
            <a:off x="9784080" y="3108960"/>
            <a:ext cx="1371600" cy="914"/>
          </a:xfrm>
          <a:prstGeom prst="line">
            <a:avLst/>
          </a:prstGeom>
          <a:noFill/>
          <a:ln w="9525">
            <a:solidFill>
              <a:srgbClr val="3A4A5E"/>
            </a:solidFill>
            <a:prstDash val="solid"/>
          </a:ln>
        </p:spPr>
      </p:sp>
      <p:sp>
        <p:nvSpPr>
          <p:cNvPr id="13" name="Shape 11"/>
          <p:cNvSpPr/>
          <p:nvPr/>
        </p:nvSpPr>
        <p:spPr>
          <a:xfrm flipV="1">
            <a:off x="9784080" y="3108960"/>
            <a:ext cx="1371600" cy="1645920"/>
          </a:xfrm>
          <a:prstGeom prst="line">
            <a:avLst/>
          </a:prstGeom>
          <a:noFill/>
          <a:ln w="9525">
            <a:solidFill>
              <a:srgbClr val="3A4A5E"/>
            </a:solidFill>
            <a:prstDash val="solid"/>
          </a:ln>
        </p:spPr>
      </p:sp>
      <p:sp>
        <p:nvSpPr>
          <p:cNvPr id="14" name="Shape 12"/>
          <p:cNvSpPr/>
          <p:nvPr/>
        </p:nvSpPr>
        <p:spPr>
          <a:xfrm>
            <a:off x="8220456" y="2093976"/>
            <a:ext cx="384048" cy="384048"/>
          </a:xfrm>
          <a:prstGeom prst="ellipse">
            <a:avLst/>
          </a:prstGeom>
          <a:solidFill>
            <a:srgbClr val="8A94A3"/>
          </a:solidFill>
          <a:ln/>
        </p:spPr>
      </p:sp>
      <p:sp>
        <p:nvSpPr>
          <p:cNvPr id="15" name="Shape 13"/>
          <p:cNvSpPr/>
          <p:nvPr/>
        </p:nvSpPr>
        <p:spPr>
          <a:xfrm>
            <a:off x="8220456" y="3739896"/>
            <a:ext cx="384048" cy="384048"/>
          </a:xfrm>
          <a:prstGeom prst="ellipse">
            <a:avLst/>
          </a:prstGeom>
          <a:solidFill>
            <a:srgbClr val="8A94A3"/>
          </a:solidFill>
          <a:ln/>
        </p:spPr>
      </p:sp>
      <p:sp>
        <p:nvSpPr>
          <p:cNvPr id="16" name="Shape 14"/>
          <p:cNvSpPr/>
          <p:nvPr/>
        </p:nvSpPr>
        <p:spPr>
          <a:xfrm>
            <a:off x="9592056" y="1271016"/>
            <a:ext cx="384048" cy="384048"/>
          </a:xfrm>
          <a:prstGeom prst="ellipse">
            <a:avLst/>
          </a:prstGeom>
          <a:solidFill>
            <a:srgbClr val="0E7C7B"/>
          </a:solidFill>
          <a:ln/>
        </p:spPr>
      </p:sp>
      <p:sp>
        <p:nvSpPr>
          <p:cNvPr id="17" name="Shape 15"/>
          <p:cNvSpPr/>
          <p:nvPr/>
        </p:nvSpPr>
        <p:spPr>
          <a:xfrm>
            <a:off x="9592056" y="2916936"/>
            <a:ext cx="384048" cy="384048"/>
          </a:xfrm>
          <a:prstGeom prst="ellipse">
            <a:avLst/>
          </a:prstGeom>
          <a:solidFill>
            <a:srgbClr val="0E7C7B"/>
          </a:solidFill>
          <a:ln/>
        </p:spPr>
      </p:sp>
      <p:sp>
        <p:nvSpPr>
          <p:cNvPr id="18" name="Shape 16"/>
          <p:cNvSpPr/>
          <p:nvPr/>
        </p:nvSpPr>
        <p:spPr>
          <a:xfrm>
            <a:off x="9592056" y="4562856"/>
            <a:ext cx="384048" cy="384048"/>
          </a:xfrm>
          <a:prstGeom prst="ellipse">
            <a:avLst/>
          </a:prstGeom>
          <a:solidFill>
            <a:srgbClr val="0E7C7B"/>
          </a:solidFill>
          <a:ln/>
        </p:spPr>
      </p:sp>
      <p:sp>
        <p:nvSpPr>
          <p:cNvPr id="19" name="Shape 17"/>
          <p:cNvSpPr/>
          <p:nvPr/>
        </p:nvSpPr>
        <p:spPr>
          <a:xfrm>
            <a:off x="10963656" y="2916936"/>
            <a:ext cx="384048" cy="384048"/>
          </a:xfrm>
          <a:prstGeom prst="ellipse">
            <a:avLst/>
          </a:prstGeom>
          <a:solidFill>
            <a:srgbClr val="0E7C7B"/>
          </a:solidFill>
          <a:ln/>
        </p:spPr>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WHY NEURAL NETWORKS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Same raw inputs: a linear model draws a line, a small network bends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one neuron, and the logistic regression you already know</a:t>
            </a:r>
            <a:endParaRPr lang="en-US" sz="1100" dirty="0"/>
          </a:p>
        </p:txBody>
      </p:sp>
      <p:pic>
        <p:nvPicPr>
          <p:cNvPr id="6" name="Image 0" descr="Two-moons data: logistic regression gives a straight boundary; an MLP gives a curved boundary">    </p:cNvPr>
          <p:cNvPicPr>
            <a:picLocks noChangeAspect="1"/>
          </p:cNvPicPr>
          <p:nvPr/>
        </p:nvPicPr>
        <p:blipFill>
          <a:blip r:embed="rId1"/>
          <a:stretch>
            <a:fillRect/>
          </a:stretch>
        </p:blipFill>
        <p:spPr>
          <a:xfrm>
            <a:off x="1651704" y="1325880"/>
            <a:ext cx="8858113" cy="3886200"/>
          </a:xfrm>
          <a:prstGeom prst="rect">
            <a:avLst/>
          </a:prstGeom>
        </p:spPr>
      </p:pic>
      <p:sp>
        <p:nvSpPr>
          <p:cNvPr id="7" name="Shape 3"/>
          <p:cNvSpPr/>
          <p:nvPr/>
        </p:nvSpPr>
        <p:spPr>
          <a:xfrm>
            <a:off x="548640" y="5394960"/>
            <a:ext cx="11094415" cy="777240"/>
          </a:xfrm>
          <a:prstGeom prst="roundRect">
            <a:avLst>
              <a:gd name="adj" fmla="val 9412"/>
            </a:avLst>
          </a:prstGeom>
          <a:solidFill>
            <a:srgbClr val="E3F2F1"/>
          </a:solidFill>
          <a:ln/>
        </p:spPr>
      </p:sp>
      <p:sp>
        <p:nvSpPr>
          <p:cNvPr id="8" name="Text 4"/>
          <p:cNvSpPr txBox="1"/>
          <p:nvPr/>
        </p:nvSpPr>
        <p:spPr>
          <a:xfrm>
            <a:off x="822960" y="5394960"/>
            <a:ext cx="10545775" cy="777240"/>
          </a:xfrm>
          <a:prstGeom prst="rect">
            <a:avLst/>
          </a:prstGeom>
          <a:noFill/>
          <a:ln/>
        </p:spPr>
        <p:txBody>
          <a:bodyPr wrap="square" lIns="0" tIns="0" rIns="0" bIns="0" rtlCol="0" anchor="ctr"/>
          <a:lstStyle/>
          <a:p>
            <a:pPr algn="l" indent="0" marL="0">
              <a:lnSpc>
                <a:spcPct val="100000"/>
              </a:lnSpc>
              <a:buNone/>
            </a:pPr>
            <a:r>
              <a:rPr lang="en-US" sz="1650" dirty="0">
                <a:solidFill>
                  <a:srgbClr val="16202E"/>
                </a:solidFill>
                <a:latin typeface="Calibri" pitchFamily="34" charset="0"/>
                <a:ea typeface="Calibri" pitchFamily="34" charset="-122"/>
                <a:cs typeface="Calibri" pitchFamily="34" charset="-120"/>
              </a:rPr>
              <a:t>Logistic regression is linear in its inputs. Kernels or hand-made features can bend it too — </a:t>
            </a:r>
            <a:pPr algn="l" indent="0" marL="0">
              <a:lnSpc>
                <a:spcPct val="100000"/>
              </a:lnSpc>
              <a:buNone/>
            </a:pPr>
            <a:r>
              <a:rPr lang="en-US" sz="1650" b="1" dirty="0">
                <a:solidFill>
                  <a:srgbClr val="16202E"/>
                </a:solidFill>
                <a:latin typeface="Calibri" pitchFamily="34" charset="0"/>
                <a:ea typeface="Calibri" pitchFamily="34" charset="-122"/>
                <a:cs typeface="Calibri" pitchFamily="34" charset="-120"/>
              </a:rPr>
              <a:t>a network learns the bending from data</a:t>
            </a:r>
            <a:pPr algn="l" indent="0" marL="0">
              <a:lnSpc>
                <a:spcPct val="100000"/>
              </a:lnSpc>
              <a:buNone/>
            </a:pPr>
            <a:r>
              <a:rPr lang="en-US" sz="1650" dirty="0">
                <a:solidFill>
                  <a:srgbClr val="16202E"/>
                </a:solidFill>
                <a:latin typeface="Calibri" pitchFamily="34" charset="0"/>
                <a:ea typeface="Calibri" pitchFamily="34" charset="-122"/>
                <a:cs typeface="Calibri" pitchFamily="34" charset="-120"/>
              </a:rPr>
              <a:t>. By 0:45 you will know how.</a:t>
            </a:r>
            <a:endParaRPr lang="en-US" sz="16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THE NEURON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One neuron = logistic regression: a weighted sum, then a squash</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XOR: a problem one neuron cannot solve</a:t>
            </a:r>
            <a:endParaRPr lang="en-US" sz="1100" dirty="0"/>
          </a:p>
        </p:txBody>
      </p:sp>
      <p:sp>
        <p:nvSpPr>
          <p:cNvPr id="6" name="Shape 3"/>
          <p:cNvSpPr/>
          <p:nvPr/>
        </p:nvSpPr>
        <p:spPr>
          <a:xfrm>
            <a:off x="662940" y="1348740"/>
            <a:ext cx="502920" cy="502920"/>
          </a:xfrm>
          <a:prstGeom prst="ellipse">
            <a:avLst/>
          </a:prstGeom>
          <a:solidFill>
            <a:srgbClr val="FFFFFF"/>
          </a:solidFill>
          <a:ln w="19050">
            <a:solidFill>
              <a:srgbClr val="8A94A3"/>
            </a:solidFill>
            <a:prstDash val="solid"/>
          </a:ln>
        </p:spPr>
      </p:sp>
      <p:sp>
        <p:nvSpPr>
          <p:cNvPr id="7" name="Text 4"/>
          <p:cNvSpPr txBox="1"/>
          <p:nvPr/>
        </p:nvSpPr>
        <p:spPr>
          <a:xfrm>
            <a:off x="640080" y="1417320"/>
            <a:ext cx="548640"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700" i="1" baseline="-40000" dirty="0">
                <a:solidFill>
                  <a:srgbClr val="16202E"/>
                </a:solidFill>
                <a:latin typeface="Calibri" pitchFamily="34" charset="0"/>
                <a:ea typeface="Calibri" pitchFamily="34" charset="-122"/>
                <a:cs typeface="Calibri" pitchFamily="34" charset="-120"/>
              </a:rPr>
              <a:t>1</a:t>
            </a:r>
            <a:endParaRPr lang="en-US" sz="1700" dirty="0"/>
          </a:p>
        </p:txBody>
      </p:sp>
      <p:sp>
        <p:nvSpPr>
          <p:cNvPr id="8" name="Shape 5"/>
          <p:cNvSpPr/>
          <p:nvPr/>
        </p:nvSpPr>
        <p:spPr>
          <a:xfrm>
            <a:off x="1170432" y="1600200"/>
            <a:ext cx="1527048" cy="731520"/>
          </a:xfrm>
          <a:prstGeom prst="line">
            <a:avLst/>
          </a:prstGeom>
          <a:noFill/>
          <a:ln w="15875">
            <a:solidFill>
              <a:srgbClr val="8A94A3"/>
            </a:solidFill>
            <a:prstDash val="solid"/>
          </a:ln>
        </p:spPr>
      </p:sp>
      <p:sp>
        <p:nvSpPr>
          <p:cNvPr id="9" name="Shape 6"/>
          <p:cNvSpPr/>
          <p:nvPr/>
        </p:nvSpPr>
        <p:spPr>
          <a:xfrm>
            <a:off x="662940" y="1988820"/>
            <a:ext cx="502920" cy="502920"/>
          </a:xfrm>
          <a:prstGeom prst="ellipse">
            <a:avLst/>
          </a:prstGeom>
          <a:solidFill>
            <a:srgbClr val="FFFFFF"/>
          </a:solidFill>
          <a:ln w="19050">
            <a:solidFill>
              <a:srgbClr val="8A94A3"/>
            </a:solidFill>
            <a:prstDash val="solid"/>
          </a:ln>
        </p:spPr>
      </p:sp>
      <p:sp>
        <p:nvSpPr>
          <p:cNvPr id="10" name="Text 7"/>
          <p:cNvSpPr txBox="1"/>
          <p:nvPr/>
        </p:nvSpPr>
        <p:spPr>
          <a:xfrm>
            <a:off x="640080" y="2057400"/>
            <a:ext cx="548640"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700" i="1" baseline="-40000" dirty="0">
                <a:solidFill>
                  <a:srgbClr val="16202E"/>
                </a:solidFill>
                <a:latin typeface="Calibri" pitchFamily="34" charset="0"/>
                <a:ea typeface="Calibri" pitchFamily="34" charset="-122"/>
                <a:cs typeface="Calibri" pitchFamily="34" charset="-120"/>
              </a:rPr>
              <a:t>2</a:t>
            </a:r>
            <a:endParaRPr lang="en-US" sz="1700" dirty="0"/>
          </a:p>
        </p:txBody>
      </p:sp>
      <p:sp>
        <p:nvSpPr>
          <p:cNvPr id="11" name="Shape 8"/>
          <p:cNvSpPr/>
          <p:nvPr/>
        </p:nvSpPr>
        <p:spPr>
          <a:xfrm>
            <a:off x="1170432" y="2240280"/>
            <a:ext cx="1527048" cy="91440"/>
          </a:xfrm>
          <a:prstGeom prst="line">
            <a:avLst/>
          </a:prstGeom>
          <a:noFill/>
          <a:ln w="15875">
            <a:solidFill>
              <a:srgbClr val="8A94A3"/>
            </a:solidFill>
            <a:prstDash val="solid"/>
          </a:ln>
        </p:spPr>
      </p:sp>
      <p:sp>
        <p:nvSpPr>
          <p:cNvPr id="12" name="Shape 9"/>
          <p:cNvSpPr/>
          <p:nvPr/>
        </p:nvSpPr>
        <p:spPr>
          <a:xfrm>
            <a:off x="662940" y="2811780"/>
            <a:ext cx="502920" cy="502920"/>
          </a:xfrm>
          <a:prstGeom prst="ellipse">
            <a:avLst/>
          </a:prstGeom>
          <a:solidFill>
            <a:srgbClr val="FFFFFF"/>
          </a:solidFill>
          <a:ln w="19050">
            <a:solidFill>
              <a:srgbClr val="8A94A3"/>
            </a:solidFill>
            <a:prstDash val="solid"/>
          </a:ln>
        </p:spPr>
      </p:sp>
      <p:sp>
        <p:nvSpPr>
          <p:cNvPr id="13" name="Text 10"/>
          <p:cNvSpPr txBox="1"/>
          <p:nvPr/>
        </p:nvSpPr>
        <p:spPr>
          <a:xfrm>
            <a:off x="640080" y="2880360"/>
            <a:ext cx="548640"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700" i="1" baseline="-40000" dirty="0">
                <a:solidFill>
                  <a:srgbClr val="16202E"/>
                </a:solidFill>
                <a:latin typeface="Calibri" pitchFamily="34" charset="0"/>
                <a:ea typeface="Calibri" pitchFamily="34" charset="-122"/>
                <a:cs typeface="Calibri" pitchFamily="34" charset="-120"/>
              </a:rPr>
              <a:t>n</a:t>
            </a:r>
            <a:endParaRPr lang="en-US" sz="1700" dirty="0"/>
          </a:p>
        </p:txBody>
      </p:sp>
      <p:sp>
        <p:nvSpPr>
          <p:cNvPr id="14" name="Shape 11"/>
          <p:cNvSpPr/>
          <p:nvPr/>
        </p:nvSpPr>
        <p:spPr>
          <a:xfrm flipV="1">
            <a:off x="1170432" y="2331720"/>
            <a:ext cx="1527048" cy="731520"/>
          </a:xfrm>
          <a:prstGeom prst="line">
            <a:avLst/>
          </a:prstGeom>
          <a:noFill/>
          <a:ln w="15875">
            <a:solidFill>
              <a:srgbClr val="8A94A3"/>
            </a:solidFill>
            <a:prstDash val="solid"/>
          </a:ln>
        </p:spPr>
      </p:sp>
      <p:sp>
        <p:nvSpPr>
          <p:cNvPr id="15" name="Text 12"/>
          <p:cNvSpPr txBox="1"/>
          <p:nvPr/>
        </p:nvSpPr>
        <p:spPr>
          <a:xfrm>
            <a:off x="731520" y="2450592"/>
            <a:ext cx="365760" cy="365760"/>
          </a:xfrm>
          <a:prstGeom prst="rect">
            <a:avLst/>
          </a:prstGeom>
          <a:noFill/>
          <a:ln/>
        </p:spPr>
        <p:txBody>
          <a:bodyPr wrap="square" lIns="0" tIns="0" rIns="0" bIns="0" rtlCol="0" anchor="t"/>
          <a:lstStyle/>
          <a:p>
            <a:pPr algn="ctr" indent="0" marL="0">
              <a:lnSpc>
                <a:spcPct val="100000"/>
              </a:lnSpc>
              <a:buNone/>
            </a:pPr>
            <a:r>
              <a:rPr lang="en-US" sz="1800" dirty="0">
                <a:solidFill>
                  <a:srgbClr val="5B6675"/>
                </a:solidFill>
                <a:latin typeface="Calibri" pitchFamily="34" charset="0"/>
                <a:ea typeface="Calibri" pitchFamily="34" charset="-122"/>
                <a:cs typeface="Calibri" pitchFamily="34" charset="-120"/>
              </a:rPr>
              <a:t>⋮</a:t>
            </a:r>
            <a:endParaRPr lang="en-US" sz="1800" dirty="0"/>
          </a:p>
        </p:txBody>
      </p:sp>
      <p:sp>
        <p:nvSpPr>
          <p:cNvPr id="16" name="Text 13"/>
          <p:cNvSpPr txBox="1"/>
          <p:nvPr/>
        </p:nvSpPr>
        <p:spPr>
          <a:xfrm>
            <a:off x="1417320" y="1417320"/>
            <a:ext cx="1188720"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weights w</a:t>
            </a:r>
            <a:endParaRPr lang="en-US" sz="1300" dirty="0"/>
          </a:p>
        </p:txBody>
      </p:sp>
      <p:sp>
        <p:nvSpPr>
          <p:cNvPr id="17" name="Shape 14"/>
          <p:cNvSpPr/>
          <p:nvPr/>
        </p:nvSpPr>
        <p:spPr>
          <a:xfrm>
            <a:off x="2674620" y="1988820"/>
            <a:ext cx="685800" cy="685800"/>
          </a:xfrm>
          <a:prstGeom prst="ellipse">
            <a:avLst/>
          </a:prstGeom>
          <a:solidFill>
            <a:srgbClr val="0E7C7B"/>
          </a:solidFill>
          <a:ln/>
        </p:spPr>
      </p:sp>
      <p:sp>
        <p:nvSpPr>
          <p:cNvPr id="18" name="Text 15"/>
          <p:cNvSpPr txBox="1"/>
          <p:nvPr/>
        </p:nvSpPr>
        <p:spPr>
          <a:xfrm>
            <a:off x="2491740" y="1988820"/>
            <a:ext cx="1051560" cy="685800"/>
          </a:xfrm>
          <a:prstGeom prst="rect">
            <a:avLst/>
          </a:prstGeom>
          <a:noFill/>
          <a:ln/>
        </p:spPr>
        <p:txBody>
          <a:bodyPr wrap="square" lIns="0" tIns="0" rIns="0" bIns="0" rtlCol="0" anchor="ctr"/>
          <a:lstStyle/>
          <a:p>
            <a:pPr algn="ctr" indent="0" marL="0">
              <a:lnSpc>
                <a:spcPct val="100000"/>
              </a:lnSpc>
              <a:buNone/>
            </a:pPr>
            <a:r>
              <a:rPr lang="en-US" sz="2200" b="1" dirty="0">
                <a:solidFill>
                  <a:srgbClr val="FFFFFF"/>
                </a:solidFill>
                <a:latin typeface="Calibri" pitchFamily="34" charset="0"/>
                <a:ea typeface="Calibri" pitchFamily="34" charset="-122"/>
                <a:cs typeface="Calibri" pitchFamily="34" charset="-120"/>
              </a:rPr>
              <a:t>Σ</a:t>
            </a:r>
            <a:endParaRPr lang="en-US" sz="2200" dirty="0"/>
          </a:p>
        </p:txBody>
      </p:sp>
      <p:sp>
        <p:nvSpPr>
          <p:cNvPr id="19" name="Text 16"/>
          <p:cNvSpPr txBox="1"/>
          <p:nvPr/>
        </p:nvSpPr>
        <p:spPr>
          <a:xfrm>
            <a:off x="2743200" y="1600200"/>
            <a:ext cx="548640" cy="274320"/>
          </a:xfrm>
          <a:prstGeom prst="rect">
            <a:avLst/>
          </a:prstGeom>
          <a:noFill/>
          <a:ln/>
        </p:spPr>
        <p:txBody>
          <a:bodyPr wrap="square" lIns="0" tIns="0" rIns="0" bIns="0" rtlCol="0" anchor="t"/>
          <a:lstStyle/>
          <a:p>
            <a:pPr algn="ctr" indent="0" marL="0">
              <a:lnSpc>
                <a:spcPct val="100000"/>
              </a:lnSpc>
              <a:buNone/>
            </a:pPr>
            <a:r>
              <a:rPr lang="en-US" sz="1500" dirty="0">
                <a:solidFill>
                  <a:srgbClr val="5B6675"/>
                </a:solidFill>
                <a:latin typeface="Calibri" pitchFamily="34" charset="0"/>
                <a:ea typeface="Calibri" pitchFamily="34" charset="-122"/>
                <a:cs typeface="Calibri" pitchFamily="34" charset="-120"/>
              </a:rPr>
              <a:t>+ b</a:t>
            </a:r>
            <a:endParaRPr lang="en-US" sz="1500" dirty="0"/>
          </a:p>
        </p:txBody>
      </p:sp>
      <p:sp>
        <p:nvSpPr>
          <p:cNvPr id="20" name="Shape 17"/>
          <p:cNvSpPr/>
          <p:nvPr/>
        </p:nvSpPr>
        <p:spPr>
          <a:xfrm>
            <a:off x="3017520" y="1874520"/>
            <a:ext cx="914" cy="109728"/>
          </a:xfrm>
          <a:prstGeom prst="line">
            <a:avLst/>
          </a:prstGeom>
          <a:noFill/>
          <a:ln w="15875">
            <a:solidFill>
              <a:srgbClr val="5B6675"/>
            </a:solidFill>
            <a:prstDash val="solid"/>
            <a:tailEnd type="triangle"/>
          </a:ln>
        </p:spPr>
      </p:sp>
      <p:sp>
        <p:nvSpPr>
          <p:cNvPr id="21" name="Shape 18"/>
          <p:cNvSpPr/>
          <p:nvPr/>
        </p:nvSpPr>
        <p:spPr>
          <a:xfrm>
            <a:off x="3364992" y="2331720"/>
            <a:ext cx="521208" cy="914"/>
          </a:xfrm>
          <a:prstGeom prst="line">
            <a:avLst/>
          </a:prstGeom>
          <a:noFill/>
          <a:ln w="25400">
            <a:solidFill>
              <a:srgbClr val="0E7C7B"/>
            </a:solidFill>
            <a:prstDash val="solid"/>
            <a:tailEnd type="triangle"/>
          </a:ln>
        </p:spPr>
      </p:sp>
      <p:sp>
        <p:nvSpPr>
          <p:cNvPr id="22" name="Text 19"/>
          <p:cNvSpPr txBox="1"/>
          <p:nvPr/>
        </p:nvSpPr>
        <p:spPr>
          <a:xfrm>
            <a:off x="3474720" y="2011680"/>
            <a:ext cx="274320" cy="274320"/>
          </a:xfrm>
          <a:prstGeom prst="rect">
            <a:avLst/>
          </a:prstGeom>
          <a:noFill/>
          <a:ln/>
        </p:spPr>
        <p:txBody>
          <a:bodyPr wrap="square" lIns="0" tIns="0" rIns="0" bIns="0" rtlCol="0" anchor="t"/>
          <a:lstStyle/>
          <a:p>
            <a:pPr algn="l" indent="0" marL="0">
              <a:lnSpc>
                <a:spcPct val="100000"/>
              </a:lnSpc>
              <a:buNone/>
            </a:pPr>
            <a:r>
              <a:rPr lang="en-US" sz="1600" i="1" dirty="0">
                <a:solidFill>
                  <a:srgbClr val="0E7C7B"/>
                </a:solidFill>
                <a:latin typeface="Calibri" pitchFamily="34" charset="0"/>
                <a:ea typeface="Calibri" pitchFamily="34" charset="-122"/>
                <a:cs typeface="Calibri" pitchFamily="34" charset="-120"/>
              </a:rPr>
              <a:t>z</a:t>
            </a:r>
            <a:endParaRPr lang="en-US" sz="1600" dirty="0"/>
          </a:p>
        </p:txBody>
      </p:sp>
      <p:sp>
        <p:nvSpPr>
          <p:cNvPr id="23" name="Shape 20"/>
          <p:cNvSpPr/>
          <p:nvPr/>
        </p:nvSpPr>
        <p:spPr>
          <a:xfrm>
            <a:off x="3931920" y="2011680"/>
            <a:ext cx="822960" cy="640080"/>
          </a:xfrm>
          <a:prstGeom prst="roundRect">
            <a:avLst>
              <a:gd name="adj" fmla="val 8571"/>
            </a:avLst>
          </a:prstGeom>
          <a:solidFill>
            <a:srgbClr val="E3F2F1"/>
          </a:solidFill>
          <a:ln w="12700">
            <a:solidFill>
              <a:srgbClr val="0E7C7B"/>
            </a:solidFill>
            <a:prstDash val="solid"/>
          </a:ln>
        </p:spPr>
      </p:sp>
      <p:sp>
        <p:nvSpPr>
          <p:cNvPr id="24" name="Text 21"/>
          <p:cNvSpPr txBox="1"/>
          <p:nvPr/>
        </p:nvSpPr>
        <p:spPr>
          <a:xfrm>
            <a:off x="3931920" y="2011680"/>
            <a:ext cx="822960" cy="640080"/>
          </a:xfrm>
          <a:prstGeom prst="rect">
            <a:avLst/>
          </a:prstGeom>
          <a:noFill/>
          <a:ln/>
        </p:spPr>
        <p:txBody>
          <a:bodyPr wrap="square" lIns="0" tIns="0" rIns="0" bIns="0" rtlCol="0" anchor="ctr"/>
          <a:lstStyle/>
          <a:p>
            <a:pPr algn="ctr" indent="0" marL="0">
              <a:lnSpc>
                <a:spcPct val="100000"/>
              </a:lnSpc>
              <a:buNone/>
            </a:pPr>
            <a:r>
              <a:rPr lang="en-US" sz="2200" dirty="0">
                <a:solidFill>
                  <a:srgbClr val="16202E"/>
                </a:solidFill>
                <a:latin typeface="Calibri" pitchFamily="34" charset="0"/>
                <a:ea typeface="Calibri" pitchFamily="34" charset="-122"/>
                <a:cs typeface="Calibri" pitchFamily="34" charset="-120"/>
              </a:rPr>
              <a:t>σ</a:t>
            </a:r>
            <a:endParaRPr lang="en-US" sz="2200" dirty="0"/>
          </a:p>
        </p:txBody>
      </p:sp>
      <p:sp>
        <p:nvSpPr>
          <p:cNvPr id="25" name="Shape 22"/>
          <p:cNvSpPr/>
          <p:nvPr/>
        </p:nvSpPr>
        <p:spPr>
          <a:xfrm>
            <a:off x="4754880" y="2331720"/>
            <a:ext cx="502920" cy="914"/>
          </a:xfrm>
          <a:prstGeom prst="line">
            <a:avLst/>
          </a:prstGeom>
          <a:noFill/>
          <a:ln w="25400">
            <a:solidFill>
              <a:srgbClr val="0E7C7B"/>
            </a:solidFill>
            <a:prstDash val="solid"/>
            <a:tailEnd type="triangle"/>
          </a:ln>
        </p:spPr>
      </p:sp>
      <p:sp>
        <p:nvSpPr>
          <p:cNvPr id="26" name="Text 23"/>
          <p:cNvSpPr txBox="1"/>
          <p:nvPr/>
        </p:nvSpPr>
        <p:spPr>
          <a:xfrm>
            <a:off x="5321808" y="2176272"/>
            <a:ext cx="274320" cy="320040"/>
          </a:xfrm>
          <a:prstGeom prst="rect">
            <a:avLst/>
          </a:prstGeom>
          <a:noFill/>
          <a:ln/>
        </p:spPr>
        <p:txBody>
          <a:bodyPr wrap="square" lIns="0" tIns="0" rIns="0" bIns="0" rtlCol="0" anchor="t"/>
          <a:lstStyle/>
          <a:p>
            <a:pPr algn="l" indent="0" marL="0">
              <a:lnSpc>
                <a:spcPct val="100000"/>
              </a:lnSpc>
              <a:buNone/>
            </a:pPr>
            <a:r>
              <a:rPr lang="en-US" sz="1800" i="1" dirty="0">
                <a:solidFill>
                  <a:srgbClr val="0E7C7B"/>
                </a:solidFill>
                <a:latin typeface="Calibri" pitchFamily="34" charset="0"/>
                <a:ea typeface="Calibri" pitchFamily="34" charset="-122"/>
                <a:cs typeface="Calibri" pitchFamily="34" charset="-120"/>
              </a:rPr>
              <a:t>a</a:t>
            </a:r>
            <a:endParaRPr lang="en-US" sz="1800" dirty="0"/>
          </a:p>
        </p:txBody>
      </p:sp>
      <p:sp>
        <p:nvSpPr>
          <p:cNvPr id="27" name="Shape 24"/>
          <p:cNvSpPr/>
          <p:nvPr/>
        </p:nvSpPr>
        <p:spPr>
          <a:xfrm>
            <a:off x="548640" y="3611880"/>
            <a:ext cx="5303520" cy="2514600"/>
          </a:xfrm>
          <a:prstGeom prst="roundRect">
            <a:avLst>
              <a:gd name="adj" fmla="val 2909"/>
            </a:avLst>
          </a:prstGeom>
          <a:solidFill>
            <a:srgbClr val="F3F5F8"/>
          </a:solidFill>
          <a:ln/>
        </p:spPr>
      </p:sp>
      <p:pic>
        <p:nvPicPr>
          <p:cNvPr id="28" name="Image 0" descr="equation neuron">    </p:cNvPr>
          <p:cNvPicPr>
            <a:picLocks noChangeAspect="1"/>
          </p:cNvPicPr>
          <p:nvPr/>
        </p:nvPicPr>
        <p:blipFill>
          <a:blip r:embed="rId1"/>
          <a:stretch>
            <a:fillRect/>
          </a:stretch>
        </p:blipFill>
        <p:spPr>
          <a:xfrm>
            <a:off x="777240" y="3794760"/>
            <a:ext cx="4688266" cy="654985"/>
          </a:xfrm>
          <a:prstGeom prst="rect">
            <a:avLst/>
          </a:prstGeom>
        </p:spPr>
      </p:pic>
      <p:sp>
        <p:nvSpPr>
          <p:cNvPr id="29" name="Text 25"/>
          <p:cNvSpPr txBox="1"/>
          <p:nvPr/>
        </p:nvSpPr>
        <p:spPr>
          <a:xfrm>
            <a:off x="777240" y="4617720"/>
            <a:ext cx="4937760" cy="27432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The score z is the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log-odds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of class 1:</a:t>
            </a:r>
            <a:endParaRPr lang="en-US" sz="1550" dirty="0"/>
          </a:p>
        </p:txBody>
      </p:sp>
      <p:pic>
        <p:nvPicPr>
          <p:cNvPr id="30" name="Image 1" descr="equation logodds">    </p:cNvPr>
          <p:cNvPicPr>
            <a:picLocks noChangeAspect="1"/>
          </p:cNvPicPr>
          <p:nvPr/>
        </p:nvPicPr>
        <p:blipFill>
          <a:blip r:embed="rId2"/>
          <a:stretch>
            <a:fillRect/>
          </a:stretch>
        </p:blipFill>
        <p:spPr>
          <a:xfrm>
            <a:off x="868680" y="4983480"/>
            <a:ext cx="1384676" cy="531632"/>
          </a:xfrm>
          <a:prstGeom prst="rect">
            <a:avLst/>
          </a:prstGeom>
        </p:spPr>
      </p:pic>
      <p:sp>
        <p:nvSpPr>
          <p:cNvPr id="31" name="Text 26"/>
          <p:cNvSpPr txBox="1"/>
          <p:nvPr/>
        </p:nvSpPr>
        <p:spPr>
          <a:xfrm>
            <a:off x="2377440" y="5074920"/>
            <a:ext cx="3383280" cy="640080"/>
          </a:xfrm>
          <a:prstGeom prst="rect">
            <a:avLst/>
          </a:prstGeom>
          <a:noFill/>
          <a:ln/>
        </p:spPr>
        <p:txBody>
          <a:bodyPr wrap="square" lIns="0" tIns="0" rIns="0" bIns="0" rtlCol="0" anchor="t"/>
          <a:lstStyle/>
          <a:p>
            <a:pPr algn="l" indent="0" marL="0">
              <a:lnSpc>
                <a:spcPct val="100000"/>
              </a:lnSpc>
              <a:buNone/>
            </a:pPr>
            <a:r>
              <a:rPr lang="en-US" sz="1550" b="1" dirty="0">
                <a:solidFill>
                  <a:srgbClr val="0E7C7B"/>
                </a:solidFill>
                <a:latin typeface="Calibri" pitchFamily="34" charset="0"/>
                <a:ea typeface="Calibri" pitchFamily="34" charset="-122"/>
                <a:cs typeface="Calibri" pitchFamily="34" charset="-120"/>
              </a:rPr>
              <a:t>Fit by maximum likelihood → this </a:t>
            </a:r>
            <a:pPr algn="l" indent="0" marL="0">
              <a:lnSpc>
                <a:spcPct val="100000"/>
              </a:lnSpc>
              <a:buNone/>
            </a:pPr>
            <a:r>
              <a:rPr lang="en-US" sz="1550" b="1" dirty="0">
                <a:solidFill>
                  <a:srgbClr val="0E7C7B"/>
                </a:solidFill>
                <a:latin typeface="Calibri" pitchFamily="34" charset="0"/>
                <a:ea typeface="Calibri" pitchFamily="34" charset="-122"/>
                <a:cs typeface="Calibri" pitchFamily="34" charset="-120"/>
              </a:rPr>
              <a:t>is</a:t>
            </a:r>
            <a:pPr algn="l" indent="0" marL="0">
              <a:lnSpc>
                <a:spcPct val="100000"/>
              </a:lnSpc>
              <a:buNone/>
            </a:pPr>
            <a:r>
              <a:rPr lang="en-US" sz="1550" b="1" dirty="0">
                <a:solidFill>
                  <a:srgbClr val="0E7C7B"/>
                </a:solidFill>
                <a:latin typeface="Calibri" pitchFamily="34" charset="0"/>
                <a:ea typeface="Calibri" pitchFamily="34" charset="-122"/>
                <a:cs typeface="Calibri" pitchFamily="34" charset="-120"/>
              </a:rPr>
              <a:t> logistic regression.</a:t>
            </a:r>
            <a:endParaRPr lang="en-US" sz="1550" dirty="0"/>
          </a:p>
        </p:txBody>
      </p:sp>
      <p:pic>
        <p:nvPicPr>
          <p:cNvPr id="32" name="Image 2" descr="Decision boundary of one neuron with weight vector w perpendicular to it">    </p:cNvPr>
          <p:cNvPicPr>
            <a:picLocks noChangeAspect="1"/>
          </p:cNvPicPr>
          <p:nvPr/>
        </p:nvPicPr>
        <p:blipFill>
          <a:blip r:embed="rId3"/>
          <a:stretch>
            <a:fillRect/>
          </a:stretch>
        </p:blipFill>
        <p:spPr>
          <a:xfrm>
            <a:off x="6080760" y="1371600"/>
            <a:ext cx="3017520" cy="3102630"/>
          </a:xfrm>
          <a:prstGeom prst="rect">
            <a:avLst/>
          </a:prstGeom>
        </p:spPr>
      </p:pic>
      <p:sp>
        <p:nvSpPr>
          <p:cNvPr id="33" name="Shape 27"/>
          <p:cNvSpPr/>
          <p:nvPr/>
        </p:nvSpPr>
        <p:spPr>
          <a:xfrm>
            <a:off x="9326880" y="1463040"/>
            <a:ext cx="365760" cy="365760"/>
          </a:xfrm>
          <a:prstGeom prst="ellipse">
            <a:avLst/>
          </a:prstGeom>
          <a:solidFill>
            <a:srgbClr val="0E7C7B"/>
          </a:solidFill>
          <a:ln/>
        </p:spPr>
      </p:sp>
      <p:sp>
        <p:nvSpPr>
          <p:cNvPr id="34" name="Text 28"/>
          <p:cNvSpPr txBox="1"/>
          <p:nvPr/>
        </p:nvSpPr>
        <p:spPr>
          <a:xfrm>
            <a:off x="9326880" y="146304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5" name="Text 29"/>
          <p:cNvSpPr txBox="1"/>
          <p:nvPr/>
        </p:nvSpPr>
        <p:spPr>
          <a:xfrm>
            <a:off x="9802368" y="1481328"/>
            <a:ext cx="1874520" cy="365760"/>
          </a:xfrm>
          <a:prstGeom prst="rect">
            <a:avLst/>
          </a:prstGeom>
          <a:noFill/>
          <a:ln/>
        </p:spPr>
        <p:txBody>
          <a:bodyPr wrap="square" lIns="0" tIns="0" rIns="0" bIns="0" rtlCol="0" anchor="t"/>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w ⟂ boundary</a:t>
            </a:r>
            <a:endParaRPr lang="en-US" sz="1550" dirty="0"/>
          </a:p>
        </p:txBody>
      </p:sp>
      <p:sp>
        <p:nvSpPr>
          <p:cNvPr id="36" name="Text 30"/>
          <p:cNvSpPr txBox="1"/>
          <p:nvPr/>
        </p:nvSpPr>
        <p:spPr>
          <a:xfrm>
            <a:off x="9802368" y="1874520"/>
            <a:ext cx="1874520" cy="105156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w is perpendicular to z = 0 and points toward z &gt; 0.</a:t>
            </a:r>
            <a:endParaRPr lang="en-US" sz="1400" dirty="0"/>
          </a:p>
        </p:txBody>
      </p:sp>
      <p:sp>
        <p:nvSpPr>
          <p:cNvPr id="37" name="Shape 31"/>
          <p:cNvSpPr/>
          <p:nvPr/>
        </p:nvSpPr>
        <p:spPr>
          <a:xfrm>
            <a:off x="9326880" y="3017520"/>
            <a:ext cx="365760" cy="365760"/>
          </a:xfrm>
          <a:prstGeom prst="ellipse">
            <a:avLst/>
          </a:prstGeom>
          <a:solidFill>
            <a:srgbClr val="0E7C7B"/>
          </a:solidFill>
          <a:ln/>
        </p:spPr>
      </p:sp>
      <p:sp>
        <p:nvSpPr>
          <p:cNvPr id="38" name="Text 32"/>
          <p:cNvSpPr txBox="1"/>
          <p:nvPr/>
        </p:nvSpPr>
        <p:spPr>
          <a:xfrm>
            <a:off x="9326880" y="301752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9" name="Text 33"/>
          <p:cNvSpPr txBox="1"/>
          <p:nvPr/>
        </p:nvSpPr>
        <p:spPr>
          <a:xfrm>
            <a:off x="9802368" y="3035808"/>
            <a:ext cx="1874520" cy="365760"/>
          </a:xfrm>
          <a:prstGeom prst="rect">
            <a:avLst/>
          </a:prstGeom>
          <a:noFill/>
          <a:ln/>
        </p:spPr>
        <p:txBody>
          <a:bodyPr wrap="square" lIns="0" tIns="0" rIns="0" bIns="0" rtlCol="0" anchor="t"/>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b shifts, never rotates</a:t>
            </a:r>
            <a:endParaRPr lang="en-US" sz="1550" dirty="0"/>
          </a:p>
        </p:txBody>
      </p:sp>
      <p:sp>
        <p:nvSpPr>
          <p:cNvPr id="40" name="Text 34"/>
          <p:cNvSpPr txBox="1"/>
          <p:nvPr/>
        </p:nvSpPr>
        <p:spPr>
          <a:xfrm>
            <a:off x="9802368" y="3429000"/>
            <a:ext cx="1874520" cy="105156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Distance from origin to the boundary: |b| / ‖w‖.</a:t>
            </a:r>
            <a:endParaRPr lang="en-US" sz="1400" dirty="0"/>
          </a:p>
        </p:txBody>
      </p:sp>
      <p:sp>
        <p:nvSpPr>
          <p:cNvPr id="41" name="Shape 35"/>
          <p:cNvSpPr/>
          <p:nvPr/>
        </p:nvSpPr>
        <p:spPr>
          <a:xfrm>
            <a:off x="9326880" y="4572000"/>
            <a:ext cx="365760" cy="365760"/>
          </a:xfrm>
          <a:prstGeom prst="ellipse">
            <a:avLst/>
          </a:prstGeom>
          <a:solidFill>
            <a:srgbClr val="0E7C7B"/>
          </a:solidFill>
          <a:ln/>
        </p:spPr>
      </p:sp>
      <p:sp>
        <p:nvSpPr>
          <p:cNvPr id="42" name="Text 36"/>
          <p:cNvSpPr txBox="1"/>
          <p:nvPr/>
        </p:nvSpPr>
        <p:spPr>
          <a:xfrm>
            <a:off x="9326880" y="457200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3" name="Text 37"/>
          <p:cNvSpPr txBox="1"/>
          <p:nvPr/>
        </p:nvSpPr>
        <p:spPr>
          <a:xfrm>
            <a:off x="9802368" y="4590288"/>
            <a:ext cx="1874520" cy="365760"/>
          </a:xfrm>
          <a:prstGeom prst="rect">
            <a:avLst/>
          </a:prstGeom>
          <a:noFill/>
          <a:ln/>
        </p:spPr>
        <p:txBody>
          <a:bodyPr wrap="square" lIns="0" tIns="0" rIns="0" bIns="0" rtlCol="0" anchor="t"/>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One straight boundary</a:t>
            </a:r>
            <a:endParaRPr lang="en-US" sz="1550" dirty="0"/>
          </a:p>
        </p:txBody>
      </p:sp>
      <p:sp>
        <p:nvSpPr>
          <p:cNvPr id="44" name="Text 38"/>
          <p:cNvSpPr txBox="1"/>
          <p:nvPr/>
        </p:nvSpPr>
        <p:spPr>
          <a:xfrm>
            <a:off x="9802368" y="4983480"/>
            <a:ext cx="1874520" cy="105156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Class 1 wherever z &gt; 0: one side of one hyperplane.</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WHY NEURAL NETWORKS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XOR: no single straight line separates the two classes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fix 1: change the representation by hand</a:t>
            </a:r>
            <a:endParaRPr lang="en-US" sz="1100" dirty="0"/>
          </a:p>
        </p:txBody>
      </p:sp>
      <p:pic>
        <p:nvPicPr>
          <p:cNvPr id="6" name="Image 0" descr="XOR: four points at the corners of the unit square; no line separates them">    </p:cNvPr>
          <p:cNvPicPr>
            <a:picLocks noChangeAspect="1"/>
          </p:cNvPicPr>
          <p:nvPr/>
        </p:nvPicPr>
        <p:blipFill>
          <a:blip r:embed="rId1"/>
          <a:stretch>
            <a:fillRect/>
          </a:stretch>
        </p:blipFill>
        <p:spPr>
          <a:xfrm>
            <a:off x="548640" y="1417320"/>
            <a:ext cx="3566160" cy="3976588"/>
          </a:xfrm>
          <a:prstGeom prst="rect">
            <a:avLst/>
          </a:prstGeom>
        </p:spPr>
      </p:pic>
      <p:sp>
        <p:nvSpPr>
          <p:cNvPr id="7" name="Text 3"/>
          <p:cNvSpPr txBox="1"/>
          <p:nvPr/>
        </p:nvSpPr>
        <p:spPr>
          <a:xfrm>
            <a:off x="822960" y="5715000"/>
            <a:ext cx="3200400" cy="320040"/>
          </a:xfrm>
          <a:prstGeom prst="rect">
            <a:avLst/>
          </a:prstGeom>
          <a:noFill/>
          <a:ln/>
        </p:spPr>
        <p:txBody>
          <a:bodyPr wrap="square" lIns="0" tIns="0" rIns="0" bIns="0" rtlCol="0" anchor="t"/>
          <a:lstStyle/>
          <a:p>
            <a:pPr algn="ctr" indent="0" marL="0">
              <a:lnSpc>
                <a:spcPct val="100000"/>
              </a:lnSpc>
              <a:buNone/>
            </a:pPr>
            <a:r>
              <a:rPr lang="en-US" sz="1400" i="1" dirty="0">
                <a:solidFill>
                  <a:srgbClr val="5B6675"/>
                </a:solidFill>
                <a:latin typeface="Calibri" pitchFamily="34" charset="0"/>
                <a:ea typeface="Calibri" pitchFamily="34" charset="-122"/>
                <a:cs typeface="Calibri" pitchFamily="34" charset="-120"/>
              </a:rPr>
              <a:t>Try it: 30 seconds</a:t>
            </a:r>
            <a:endParaRPr lang="en-US" sz="1400" dirty="0"/>
          </a:p>
        </p:txBody>
      </p:sp>
      <p:sp>
        <p:nvSpPr>
          <p:cNvPr id="8" name="Text 4"/>
          <p:cNvSpPr txBox="1"/>
          <p:nvPr/>
        </p:nvSpPr>
        <p:spPr>
          <a:xfrm>
            <a:off x="4434840" y="1417320"/>
            <a:ext cx="6858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PREDICT CLASS 1 WHEN Z &gt; 0. EACH POINT DEMANDS:</a:t>
            </a:r>
            <a:endParaRPr lang="en-US" sz="1100" dirty="0"/>
          </a:p>
        </p:txBody>
      </p:sp>
      <p:sp>
        <p:nvSpPr>
          <p:cNvPr id="9" name="Shape 5"/>
          <p:cNvSpPr/>
          <p:nvPr/>
        </p:nvSpPr>
        <p:spPr>
          <a:xfrm>
            <a:off x="4434840" y="1737360"/>
            <a:ext cx="7205472" cy="1874520"/>
          </a:xfrm>
          <a:prstGeom prst="roundRect">
            <a:avLst>
              <a:gd name="adj" fmla="val 3902"/>
            </a:avLst>
          </a:prstGeom>
          <a:solidFill>
            <a:srgbClr val="F3F5F8"/>
          </a:solidFill>
          <a:ln/>
        </p:spPr>
      </p:sp>
      <p:pic>
        <p:nvPicPr>
          <p:cNvPr id="10" name="Image 1" descr="equation xor_rows">    </p:cNvPr>
          <p:cNvPicPr>
            <a:picLocks noChangeAspect="1"/>
          </p:cNvPicPr>
          <p:nvPr/>
        </p:nvPicPr>
        <p:blipFill>
          <a:blip r:embed="rId2"/>
          <a:stretch>
            <a:fillRect/>
          </a:stretch>
        </p:blipFill>
        <p:spPr>
          <a:xfrm>
            <a:off x="4754880" y="1828800"/>
            <a:ext cx="3375050" cy="1517904"/>
          </a:xfrm>
          <a:prstGeom prst="rect">
            <a:avLst/>
          </a:prstGeom>
        </p:spPr>
      </p:pic>
      <p:sp>
        <p:nvSpPr>
          <p:cNvPr id="11" name="Text 6"/>
          <p:cNvSpPr txBox="1"/>
          <p:nvPr/>
        </p:nvSpPr>
        <p:spPr>
          <a:xfrm>
            <a:off x="4434840" y="3794760"/>
            <a:ext cx="6858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COMBINE ROWS 1–3</a:t>
            </a:r>
            <a:endParaRPr lang="en-US" sz="1100" dirty="0"/>
          </a:p>
        </p:txBody>
      </p:sp>
      <p:sp>
        <p:nvSpPr>
          <p:cNvPr id="12" name="Shape 7"/>
          <p:cNvSpPr/>
          <p:nvPr/>
        </p:nvSpPr>
        <p:spPr>
          <a:xfrm>
            <a:off x="4434840" y="4114800"/>
            <a:ext cx="7205472" cy="960120"/>
          </a:xfrm>
          <a:prstGeom prst="roundRect">
            <a:avLst>
              <a:gd name="adj" fmla="val 7619"/>
            </a:avLst>
          </a:prstGeom>
          <a:solidFill>
            <a:srgbClr val="F3F5F8"/>
          </a:solidFill>
          <a:ln/>
        </p:spPr>
      </p:sp>
      <p:pic>
        <p:nvPicPr>
          <p:cNvPr id="13" name="Image 2" descr="equation xor_combine">    </p:cNvPr>
          <p:cNvPicPr>
            <a:picLocks noChangeAspect="1"/>
          </p:cNvPicPr>
          <p:nvPr/>
        </p:nvPicPr>
        <p:blipFill>
          <a:blip r:embed="rId3"/>
          <a:stretch>
            <a:fillRect/>
          </a:stretch>
        </p:blipFill>
        <p:spPr>
          <a:xfrm>
            <a:off x="4754880" y="4206240"/>
            <a:ext cx="4240402" cy="731227"/>
          </a:xfrm>
          <a:prstGeom prst="rect">
            <a:avLst/>
          </a:prstGeom>
        </p:spPr>
      </p:pic>
      <p:sp>
        <p:nvSpPr>
          <p:cNvPr id="14" name="Shape 8"/>
          <p:cNvSpPr/>
          <p:nvPr/>
        </p:nvSpPr>
        <p:spPr>
          <a:xfrm>
            <a:off x="4434840" y="5257800"/>
            <a:ext cx="7205472" cy="868680"/>
          </a:xfrm>
          <a:prstGeom prst="roundRect">
            <a:avLst>
              <a:gd name="adj" fmla="val 8421"/>
            </a:avLst>
          </a:prstGeom>
          <a:solidFill>
            <a:srgbClr val="FBE9E7"/>
          </a:solidFill>
          <a:ln/>
        </p:spPr>
      </p:sp>
      <p:sp>
        <p:nvSpPr>
          <p:cNvPr id="15" name="Text 9"/>
          <p:cNvSpPr txBox="1"/>
          <p:nvPr/>
        </p:nvSpPr>
        <p:spPr>
          <a:xfrm>
            <a:off x="4709160" y="5257800"/>
            <a:ext cx="6766560" cy="868680"/>
          </a:xfrm>
          <a:prstGeom prst="rect">
            <a:avLst/>
          </a:prstGeom>
          <a:noFill/>
          <a:ln/>
        </p:spPr>
        <p:txBody>
          <a:bodyPr wrap="square" lIns="0" tIns="0" rIns="0" bIns="0" rtlCol="0" anchor="ctr"/>
          <a:lstStyle/>
          <a:p>
            <a:pPr algn="l" indent="0" marL="0">
              <a:lnSpc>
                <a:spcPct val="100000"/>
              </a:lnSpc>
              <a:buNone/>
            </a:pPr>
            <a:r>
              <a:rPr lang="en-US" sz="1700" b="1" dirty="0">
                <a:solidFill>
                  <a:srgbClr val="B83227"/>
                </a:solidFill>
                <a:latin typeface="Calibri" pitchFamily="34" charset="0"/>
                <a:ea typeface="Calibri" pitchFamily="34" charset="-122"/>
                <a:cs typeface="Calibri" pitchFamily="34" charset="-120"/>
              </a:rPr>
              <a:t>Contradiction with row 4</a:t>
            </a:r>
            <a:pPr algn="l" indent="0" marL="0">
              <a:lnSpc>
                <a:spcPct val="100000"/>
              </a:lnSpc>
              <a:buNone/>
            </a:pPr>
            <a:r>
              <a:rPr lang="en-US" sz="1700" dirty="0">
                <a:solidFill>
                  <a:srgbClr val="B83227"/>
                </a:solidFill>
                <a:latin typeface="Calibri" pitchFamily="34" charset="0"/>
                <a:ea typeface="Calibri" pitchFamily="34" charset="-122"/>
                <a:cs typeface="Calibri" pitchFamily="34" charset="-120"/>
              </a:rPr>
              <a:t>: no w</a:t>
            </a:r>
            <a:pPr algn="l" indent="0" marL="0">
              <a:lnSpc>
                <a:spcPct val="100000"/>
              </a:lnSpc>
              <a:buNone/>
            </a:pPr>
            <a:r>
              <a:rPr lang="en-US" sz="1700" baseline="-40000" dirty="0">
                <a:solidFill>
                  <a:srgbClr val="B83227"/>
                </a:solidFill>
                <a:latin typeface="Calibri" pitchFamily="34" charset="0"/>
                <a:ea typeface="Calibri" pitchFamily="34" charset="-122"/>
                <a:cs typeface="Calibri" pitchFamily="34" charset="-120"/>
              </a:rPr>
              <a:t>1</a:t>
            </a:r>
            <a:pPr algn="l" indent="0" marL="0">
              <a:lnSpc>
                <a:spcPct val="100000"/>
              </a:lnSpc>
              <a:buNone/>
            </a:pPr>
            <a:r>
              <a:rPr lang="en-US" sz="1700" dirty="0">
                <a:solidFill>
                  <a:srgbClr val="B83227"/>
                </a:solidFill>
                <a:latin typeface="Calibri" pitchFamily="34" charset="0"/>
                <a:ea typeface="Calibri" pitchFamily="34" charset="-122"/>
                <a:cs typeface="Calibri" pitchFamily="34" charset="-120"/>
              </a:rPr>
              <a:t>, w</a:t>
            </a:r>
            <a:pPr algn="l" indent="0" marL="0">
              <a:lnSpc>
                <a:spcPct val="100000"/>
              </a:lnSpc>
              <a:buNone/>
            </a:pPr>
            <a:r>
              <a:rPr lang="en-US" sz="1700" baseline="-40000" dirty="0">
                <a:solidFill>
                  <a:srgbClr val="B83227"/>
                </a:solidFill>
                <a:latin typeface="Calibri" pitchFamily="34" charset="0"/>
                <a:ea typeface="Calibri" pitchFamily="34" charset="-122"/>
                <a:cs typeface="Calibri" pitchFamily="34" charset="-120"/>
              </a:rPr>
              <a:t>2</a:t>
            </a:r>
            <a:pPr algn="l" indent="0" marL="0">
              <a:lnSpc>
                <a:spcPct val="100000"/>
              </a:lnSpc>
              <a:buNone/>
            </a:pPr>
            <a:r>
              <a:rPr lang="en-US" sz="1700" dirty="0">
                <a:solidFill>
                  <a:srgbClr val="B83227"/>
                </a:solidFill>
                <a:latin typeface="Calibri" pitchFamily="34" charset="0"/>
                <a:ea typeface="Calibri" pitchFamily="34" charset="-122"/>
                <a:cs typeface="Calibri" pitchFamily="34" charset="-120"/>
              </a:rPr>
              <a:t>, b exist. One neuron cannot represent XOR.</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WHY NEURAL NETWORKS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Fix 1: add a hand-made feature, and XOR becomes linear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fix 2: learn the features instead</a:t>
            </a:r>
            <a:endParaRPr lang="en-US" sz="1100" dirty="0"/>
          </a:p>
        </p:txBody>
      </p:sp>
      <p:pic>
        <p:nvPicPr>
          <p:cNvPr id="6" name="Image 0" descr="XOR points lifted into 3-D by adding x1·x2; a plane separates them">    </p:cNvPr>
          <p:cNvPicPr>
            <a:picLocks noChangeAspect="1"/>
          </p:cNvPicPr>
          <p:nvPr/>
        </p:nvPicPr>
        <p:blipFill>
          <a:blip r:embed="rId1"/>
          <a:stretch>
            <a:fillRect/>
          </a:stretch>
        </p:blipFill>
        <p:spPr>
          <a:xfrm>
            <a:off x="548640" y="1325880"/>
            <a:ext cx="4206240" cy="3668565"/>
          </a:xfrm>
          <a:prstGeom prst="rect">
            <a:avLst/>
          </a:prstGeom>
        </p:spPr>
      </p:pic>
      <p:sp>
        <p:nvSpPr>
          <p:cNvPr id="7" name="Shape 3"/>
          <p:cNvSpPr/>
          <p:nvPr/>
        </p:nvSpPr>
        <p:spPr>
          <a:xfrm>
            <a:off x="5120640" y="1463040"/>
            <a:ext cx="1005840" cy="411480"/>
          </a:xfrm>
          <a:prstGeom prst="rect">
            <a:avLst/>
          </a:prstGeom>
          <a:solidFill>
            <a:srgbClr val="16202E"/>
          </a:solidFill>
          <a:ln w="12700">
            <a:solidFill>
              <a:srgbClr val="FFFFFF"/>
            </a:solidFill>
            <a:prstDash val="solid"/>
          </a:ln>
        </p:spPr>
      </p:sp>
      <p:sp>
        <p:nvSpPr>
          <p:cNvPr id="8" name="Text 4"/>
          <p:cNvSpPr txBox="1"/>
          <p:nvPr/>
        </p:nvSpPr>
        <p:spPr>
          <a:xfrm>
            <a:off x="5120640" y="1463040"/>
            <a:ext cx="100584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x</a:t>
            </a:r>
            <a:pPr algn="ctr"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1</a:t>
            </a:r>
            <a:endParaRPr lang="en-US" sz="1500" dirty="0"/>
          </a:p>
        </p:txBody>
      </p:sp>
      <p:sp>
        <p:nvSpPr>
          <p:cNvPr id="9" name="Shape 5"/>
          <p:cNvSpPr/>
          <p:nvPr/>
        </p:nvSpPr>
        <p:spPr>
          <a:xfrm>
            <a:off x="6126480" y="1463040"/>
            <a:ext cx="1005840" cy="411480"/>
          </a:xfrm>
          <a:prstGeom prst="rect">
            <a:avLst/>
          </a:prstGeom>
          <a:solidFill>
            <a:srgbClr val="16202E"/>
          </a:solidFill>
          <a:ln w="12700">
            <a:solidFill>
              <a:srgbClr val="FFFFFF"/>
            </a:solidFill>
            <a:prstDash val="solid"/>
          </a:ln>
        </p:spPr>
      </p:sp>
      <p:sp>
        <p:nvSpPr>
          <p:cNvPr id="10" name="Text 6"/>
          <p:cNvSpPr txBox="1"/>
          <p:nvPr/>
        </p:nvSpPr>
        <p:spPr>
          <a:xfrm>
            <a:off x="6126480" y="1463040"/>
            <a:ext cx="100584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x</a:t>
            </a:r>
            <a:pPr algn="ctr"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2</a:t>
            </a:r>
            <a:endParaRPr lang="en-US" sz="1500" dirty="0"/>
          </a:p>
        </p:txBody>
      </p:sp>
      <p:sp>
        <p:nvSpPr>
          <p:cNvPr id="11" name="Shape 7"/>
          <p:cNvSpPr/>
          <p:nvPr/>
        </p:nvSpPr>
        <p:spPr>
          <a:xfrm>
            <a:off x="7132320" y="1463040"/>
            <a:ext cx="1188720" cy="411480"/>
          </a:xfrm>
          <a:prstGeom prst="rect">
            <a:avLst/>
          </a:prstGeom>
          <a:solidFill>
            <a:srgbClr val="16202E"/>
          </a:solidFill>
          <a:ln w="12700">
            <a:solidFill>
              <a:srgbClr val="FFFFFF"/>
            </a:solidFill>
            <a:prstDash val="solid"/>
          </a:ln>
        </p:spPr>
      </p:sp>
      <p:sp>
        <p:nvSpPr>
          <p:cNvPr id="12" name="Text 8"/>
          <p:cNvSpPr txBox="1"/>
          <p:nvPr/>
        </p:nvSpPr>
        <p:spPr>
          <a:xfrm>
            <a:off x="7132320" y="146304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x</a:t>
            </a:r>
            <a:pPr algn="ctr"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1</a:t>
            </a:r>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x</a:t>
            </a:r>
            <a:pPr algn="ctr"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2</a:t>
            </a:r>
            <a:endParaRPr lang="en-US" sz="1500" dirty="0"/>
          </a:p>
        </p:txBody>
      </p:sp>
      <p:sp>
        <p:nvSpPr>
          <p:cNvPr id="13" name="Shape 9"/>
          <p:cNvSpPr/>
          <p:nvPr/>
        </p:nvSpPr>
        <p:spPr>
          <a:xfrm>
            <a:off x="8321040" y="1463040"/>
            <a:ext cx="914400" cy="411480"/>
          </a:xfrm>
          <a:prstGeom prst="rect">
            <a:avLst/>
          </a:prstGeom>
          <a:solidFill>
            <a:srgbClr val="16202E"/>
          </a:solidFill>
          <a:ln w="12700">
            <a:solidFill>
              <a:srgbClr val="FFFFFF"/>
            </a:solidFill>
            <a:prstDash val="solid"/>
          </a:ln>
        </p:spPr>
      </p:sp>
      <p:sp>
        <p:nvSpPr>
          <p:cNvPr id="14" name="Text 10"/>
          <p:cNvSpPr txBox="1"/>
          <p:nvPr/>
        </p:nvSpPr>
        <p:spPr>
          <a:xfrm>
            <a:off x="8321040" y="1463040"/>
            <a:ext cx="91440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y</a:t>
            </a:r>
            <a:endParaRPr lang="en-US" sz="1500" dirty="0"/>
          </a:p>
        </p:txBody>
      </p:sp>
      <p:sp>
        <p:nvSpPr>
          <p:cNvPr id="15" name="Shape 11"/>
          <p:cNvSpPr/>
          <p:nvPr/>
        </p:nvSpPr>
        <p:spPr>
          <a:xfrm>
            <a:off x="5120640" y="1874520"/>
            <a:ext cx="1005840" cy="411480"/>
          </a:xfrm>
          <a:prstGeom prst="rect">
            <a:avLst/>
          </a:prstGeom>
          <a:solidFill>
            <a:srgbClr val="F3F5F8"/>
          </a:solidFill>
          <a:ln w="9525">
            <a:solidFill>
              <a:srgbClr val="D5DBE3"/>
            </a:solidFill>
            <a:prstDash val="solid"/>
          </a:ln>
        </p:spPr>
      </p:sp>
      <p:sp>
        <p:nvSpPr>
          <p:cNvPr id="16" name="Text 12"/>
          <p:cNvSpPr txBox="1"/>
          <p:nvPr/>
        </p:nvSpPr>
        <p:spPr>
          <a:xfrm>
            <a:off x="5120640" y="187452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17" name="Shape 13"/>
          <p:cNvSpPr/>
          <p:nvPr/>
        </p:nvSpPr>
        <p:spPr>
          <a:xfrm>
            <a:off x="6126480" y="1874520"/>
            <a:ext cx="1005840" cy="411480"/>
          </a:xfrm>
          <a:prstGeom prst="rect">
            <a:avLst/>
          </a:prstGeom>
          <a:solidFill>
            <a:srgbClr val="F3F5F8"/>
          </a:solidFill>
          <a:ln w="9525">
            <a:solidFill>
              <a:srgbClr val="D5DBE3"/>
            </a:solidFill>
            <a:prstDash val="solid"/>
          </a:ln>
        </p:spPr>
      </p:sp>
      <p:sp>
        <p:nvSpPr>
          <p:cNvPr id="18" name="Text 14"/>
          <p:cNvSpPr txBox="1"/>
          <p:nvPr/>
        </p:nvSpPr>
        <p:spPr>
          <a:xfrm>
            <a:off x="6126480" y="187452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19" name="Shape 15"/>
          <p:cNvSpPr/>
          <p:nvPr/>
        </p:nvSpPr>
        <p:spPr>
          <a:xfrm>
            <a:off x="7132320" y="1874520"/>
            <a:ext cx="1188720" cy="411480"/>
          </a:xfrm>
          <a:prstGeom prst="rect">
            <a:avLst/>
          </a:prstGeom>
          <a:solidFill>
            <a:srgbClr val="E3F2F1"/>
          </a:solidFill>
          <a:ln w="9525">
            <a:solidFill>
              <a:srgbClr val="D5DBE3"/>
            </a:solidFill>
            <a:prstDash val="solid"/>
          </a:ln>
        </p:spPr>
      </p:sp>
      <p:sp>
        <p:nvSpPr>
          <p:cNvPr id="20" name="Text 16"/>
          <p:cNvSpPr txBox="1"/>
          <p:nvPr/>
        </p:nvSpPr>
        <p:spPr>
          <a:xfrm>
            <a:off x="7132320" y="187452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0</a:t>
            </a:r>
            <a:endParaRPr lang="en-US" sz="1500" dirty="0"/>
          </a:p>
        </p:txBody>
      </p:sp>
      <p:sp>
        <p:nvSpPr>
          <p:cNvPr id="21" name="Shape 17"/>
          <p:cNvSpPr/>
          <p:nvPr/>
        </p:nvSpPr>
        <p:spPr>
          <a:xfrm>
            <a:off x="8321040" y="1874520"/>
            <a:ext cx="914400" cy="411480"/>
          </a:xfrm>
          <a:prstGeom prst="rect">
            <a:avLst/>
          </a:prstGeom>
          <a:solidFill>
            <a:srgbClr val="F3F5F8"/>
          </a:solidFill>
          <a:ln w="9525">
            <a:solidFill>
              <a:srgbClr val="D5DBE3"/>
            </a:solidFill>
            <a:prstDash val="solid"/>
          </a:ln>
        </p:spPr>
      </p:sp>
      <p:sp>
        <p:nvSpPr>
          <p:cNvPr id="22" name="Text 18"/>
          <p:cNvSpPr txBox="1"/>
          <p:nvPr/>
        </p:nvSpPr>
        <p:spPr>
          <a:xfrm>
            <a:off x="8321040" y="1874520"/>
            <a:ext cx="91440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23" name="Shape 19"/>
          <p:cNvSpPr/>
          <p:nvPr/>
        </p:nvSpPr>
        <p:spPr>
          <a:xfrm>
            <a:off x="5120640" y="2286000"/>
            <a:ext cx="1005840" cy="411480"/>
          </a:xfrm>
          <a:prstGeom prst="rect">
            <a:avLst/>
          </a:prstGeom>
          <a:solidFill>
            <a:srgbClr val="FFFFFF"/>
          </a:solidFill>
          <a:ln w="9525">
            <a:solidFill>
              <a:srgbClr val="D5DBE3"/>
            </a:solidFill>
            <a:prstDash val="solid"/>
          </a:ln>
        </p:spPr>
      </p:sp>
      <p:sp>
        <p:nvSpPr>
          <p:cNvPr id="24" name="Text 20"/>
          <p:cNvSpPr txBox="1"/>
          <p:nvPr/>
        </p:nvSpPr>
        <p:spPr>
          <a:xfrm>
            <a:off x="5120640" y="228600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25" name="Shape 21"/>
          <p:cNvSpPr/>
          <p:nvPr/>
        </p:nvSpPr>
        <p:spPr>
          <a:xfrm>
            <a:off x="6126480" y="2286000"/>
            <a:ext cx="1005840" cy="411480"/>
          </a:xfrm>
          <a:prstGeom prst="rect">
            <a:avLst/>
          </a:prstGeom>
          <a:solidFill>
            <a:srgbClr val="FFFFFF"/>
          </a:solidFill>
          <a:ln w="9525">
            <a:solidFill>
              <a:srgbClr val="D5DBE3"/>
            </a:solidFill>
            <a:prstDash val="solid"/>
          </a:ln>
        </p:spPr>
      </p:sp>
      <p:sp>
        <p:nvSpPr>
          <p:cNvPr id="26" name="Text 22"/>
          <p:cNvSpPr txBox="1"/>
          <p:nvPr/>
        </p:nvSpPr>
        <p:spPr>
          <a:xfrm>
            <a:off x="6126480" y="228600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27" name="Shape 23"/>
          <p:cNvSpPr/>
          <p:nvPr/>
        </p:nvSpPr>
        <p:spPr>
          <a:xfrm>
            <a:off x="7132320" y="2286000"/>
            <a:ext cx="1188720" cy="411480"/>
          </a:xfrm>
          <a:prstGeom prst="rect">
            <a:avLst/>
          </a:prstGeom>
          <a:solidFill>
            <a:srgbClr val="E3F2F1"/>
          </a:solidFill>
          <a:ln w="9525">
            <a:solidFill>
              <a:srgbClr val="D5DBE3"/>
            </a:solidFill>
            <a:prstDash val="solid"/>
          </a:ln>
        </p:spPr>
      </p:sp>
      <p:sp>
        <p:nvSpPr>
          <p:cNvPr id="28" name="Text 24"/>
          <p:cNvSpPr txBox="1"/>
          <p:nvPr/>
        </p:nvSpPr>
        <p:spPr>
          <a:xfrm>
            <a:off x="7132320" y="228600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0</a:t>
            </a:r>
            <a:endParaRPr lang="en-US" sz="1500" dirty="0"/>
          </a:p>
        </p:txBody>
      </p:sp>
      <p:sp>
        <p:nvSpPr>
          <p:cNvPr id="29" name="Shape 25"/>
          <p:cNvSpPr/>
          <p:nvPr/>
        </p:nvSpPr>
        <p:spPr>
          <a:xfrm>
            <a:off x="8321040" y="2286000"/>
            <a:ext cx="914400" cy="411480"/>
          </a:xfrm>
          <a:prstGeom prst="rect">
            <a:avLst/>
          </a:prstGeom>
          <a:solidFill>
            <a:srgbClr val="FFFFFF"/>
          </a:solidFill>
          <a:ln w="9525">
            <a:solidFill>
              <a:srgbClr val="D5DBE3"/>
            </a:solidFill>
            <a:prstDash val="solid"/>
          </a:ln>
        </p:spPr>
      </p:sp>
      <p:sp>
        <p:nvSpPr>
          <p:cNvPr id="30" name="Text 26"/>
          <p:cNvSpPr txBox="1"/>
          <p:nvPr/>
        </p:nvSpPr>
        <p:spPr>
          <a:xfrm>
            <a:off x="8321040" y="2286000"/>
            <a:ext cx="91440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31" name="Shape 27"/>
          <p:cNvSpPr/>
          <p:nvPr/>
        </p:nvSpPr>
        <p:spPr>
          <a:xfrm>
            <a:off x="5120640" y="2697480"/>
            <a:ext cx="1005840" cy="411480"/>
          </a:xfrm>
          <a:prstGeom prst="rect">
            <a:avLst/>
          </a:prstGeom>
          <a:solidFill>
            <a:srgbClr val="F3F5F8"/>
          </a:solidFill>
          <a:ln w="9525">
            <a:solidFill>
              <a:srgbClr val="D5DBE3"/>
            </a:solidFill>
            <a:prstDash val="solid"/>
          </a:ln>
        </p:spPr>
      </p:sp>
      <p:sp>
        <p:nvSpPr>
          <p:cNvPr id="32" name="Text 28"/>
          <p:cNvSpPr txBox="1"/>
          <p:nvPr/>
        </p:nvSpPr>
        <p:spPr>
          <a:xfrm>
            <a:off x="5120640" y="269748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33" name="Shape 29"/>
          <p:cNvSpPr/>
          <p:nvPr/>
        </p:nvSpPr>
        <p:spPr>
          <a:xfrm>
            <a:off x="6126480" y="2697480"/>
            <a:ext cx="1005840" cy="411480"/>
          </a:xfrm>
          <a:prstGeom prst="rect">
            <a:avLst/>
          </a:prstGeom>
          <a:solidFill>
            <a:srgbClr val="F3F5F8"/>
          </a:solidFill>
          <a:ln w="9525">
            <a:solidFill>
              <a:srgbClr val="D5DBE3"/>
            </a:solidFill>
            <a:prstDash val="solid"/>
          </a:ln>
        </p:spPr>
      </p:sp>
      <p:sp>
        <p:nvSpPr>
          <p:cNvPr id="34" name="Text 30"/>
          <p:cNvSpPr txBox="1"/>
          <p:nvPr/>
        </p:nvSpPr>
        <p:spPr>
          <a:xfrm>
            <a:off x="6126480" y="269748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35" name="Shape 31"/>
          <p:cNvSpPr/>
          <p:nvPr/>
        </p:nvSpPr>
        <p:spPr>
          <a:xfrm>
            <a:off x="7132320" y="2697480"/>
            <a:ext cx="1188720" cy="411480"/>
          </a:xfrm>
          <a:prstGeom prst="rect">
            <a:avLst/>
          </a:prstGeom>
          <a:solidFill>
            <a:srgbClr val="E3F2F1"/>
          </a:solidFill>
          <a:ln w="9525">
            <a:solidFill>
              <a:srgbClr val="D5DBE3"/>
            </a:solidFill>
            <a:prstDash val="solid"/>
          </a:ln>
        </p:spPr>
      </p:sp>
      <p:sp>
        <p:nvSpPr>
          <p:cNvPr id="36" name="Text 32"/>
          <p:cNvSpPr txBox="1"/>
          <p:nvPr/>
        </p:nvSpPr>
        <p:spPr>
          <a:xfrm>
            <a:off x="7132320" y="269748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0</a:t>
            </a:r>
            <a:endParaRPr lang="en-US" sz="1500" dirty="0"/>
          </a:p>
        </p:txBody>
      </p:sp>
      <p:sp>
        <p:nvSpPr>
          <p:cNvPr id="37" name="Shape 33"/>
          <p:cNvSpPr/>
          <p:nvPr/>
        </p:nvSpPr>
        <p:spPr>
          <a:xfrm>
            <a:off x="8321040" y="2697480"/>
            <a:ext cx="914400" cy="411480"/>
          </a:xfrm>
          <a:prstGeom prst="rect">
            <a:avLst/>
          </a:prstGeom>
          <a:solidFill>
            <a:srgbClr val="F3F5F8"/>
          </a:solidFill>
          <a:ln w="9525">
            <a:solidFill>
              <a:srgbClr val="D5DBE3"/>
            </a:solidFill>
            <a:prstDash val="solid"/>
          </a:ln>
        </p:spPr>
      </p:sp>
      <p:sp>
        <p:nvSpPr>
          <p:cNvPr id="38" name="Text 34"/>
          <p:cNvSpPr txBox="1"/>
          <p:nvPr/>
        </p:nvSpPr>
        <p:spPr>
          <a:xfrm>
            <a:off x="8321040" y="2697480"/>
            <a:ext cx="91440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39" name="Shape 35"/>
          <p:cNvSpPr/>
          <p:nvPr/>
        </p:nvSpPr>
        <p:spPr>
          <a:xfrm>
            <a:off x="5120640" y="3108960"/>
            <a:ext cx="1005840" cy="411480"/>
          </a:xfrm>
          <a:prstGeom prst="rect">
            <a:avLst/>
          </a:prstGeom>
          <a:solidFill>
            <a:srgbClr val="FFFFFF"/>
          </a:solidFill>
          <a:ln w="9525">
            <a:solidFill>
              <a:srgbClr val="D5DBE3"/>
            </a:solidFill>
            <a:prstDash val="solid"/>
          </a:ln>
        </p:spPr>
      </p:sp>
      <p:sp>
        <p:nvSpPr>
          <p:cNvPr id="40" name="Text 36"/>
          <p:cNvSpPr txBox="1"/>
          <p:nvPr/>
        </p:nvSpPr>
        <p:spPr>
          <a:xfrm>
            <a:off x="5120640" y="310896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41" name="Shape 37"/>
          <p:cNvSpPr/>
          <p:nvPr/>
        </p:nvSpPr>
        <p:spPr>
          <a:xfrm>
            <a:off x="6126480" y="3108960"/>
            <a:ext cx="1005840" cy="411480"/>
          </a:xfrm>
          <a:prstGeom prst="rect">
            <a:avLst/>
          </a:prstGeom>
          <a:solidFill>
            <a:srgbClr val="FFFFFF"/>
          </a:solidFill>
          <a:ln w="9525">
            <a:solidFill>
              <a:srgbClr val="D5DBE3"/>
            </a:solidFill>
            <a:prstDash val="solid"/>
          </a:ln>
        </p:spPr>
      </p:sp>
      <p:sp>
        <p:nvSpPr>
          <p:cNvPr id="42" name="Text 38"/>
          <p:cNvSpPr txBox="1"/>
          <p:nvPr/>
        </p:nvSpPr>
        <p:spPr>
          <a:xfrm>
            <a:off x="6126480" y="3108960"/>
            <a:ext cx="100584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1</a:t>
            </a:r>
            <a:endParaRPr lang="en-US" sz="1500" dirty="0"/>
          </a:p>
        </p:txBody>
      </p:sp>
      <p:sp>
        <p:nvSpPr>
          <p:cNvPr id="43" name="Shape 39"/>
          <p:cNvSpPr/>
          <p:nvPr/>
        </p:nvSpPr>
        <p:spPr>
          <a:xfrm>
            <a:off x="7132320" y="3108960"/>
            <a:ext cx="1188720" cy="411480"/>
          </a:xfrm>
          <a:prstGeom prst="rect">
            <a:avLst/>
          </a:prstGeom>
          <a:solidFill>
            <a:srgbClr val="E3F2F1"/>
          </a:solidFill>
          <a:ln w="9525">
            <a:solidFill>
              <a:srgbClr val="D5DBE3"/>
            </a:solidFill>
            <a:prstDash val="solid"/>
          </a:ln>
        </p:spPr>
      </p:sp>
      <p:sp>
        <p:nvSpPr>
          <p:cNvPr id="44" name="Text 40"/>
          <p:cNvSpPr txBox="1"/>
          <p:nvPr/>
        </p:nvSpPr>
        <p:spPr>
          <a:xfrm>
            <a:off x="7132320" y="3108960"/>
            <a:ext cx="1188720" cy="411480"/>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1</a:t>
            </a:r>
            <a:endParaRPr lang="en-US" sz="1500" dirty="0"/>
          </a:p>
        </p:txBody>
      </p:sp>
      <p:sp>
        <p:nvSpPr>
          <p:cNvPr id="45" name="Shape 41"/>
          <p:cNvSpPr/>
          <p:nvPr/>
        </p:nvSpPr>
        <p:spPr>
          <a:xfrm>
            <a:off x="8321040" y="3108960"/>
            <a:ext cx="914400" cy="411480"/>
          </a:xfrm>
          <a:prstGeom prst="rect">
            <a:avLst/>
          </a:prstGeom>
          <a:solidFill>
            <a:srgbClr val="FFFFFF"/>
          </a:solidFill>
          <a:ln w="9525">
            <a:solidFill>
              <a:srgbClr val="D5DBE3"/>
            </a:solidFill>
            <a:prstDash val="solid"/>
          </a:ln>
        </p:spPr>
      </p:sp>
      <p:sp>
        <p:nvSpPr>
          <p:cNvPr id="46" name="Text 42"/>
          <p:cNvSpPr txBox="1"/>
          <p:nvPr/>
        </p:nvSpPr>
        <p:spPr>
          <a:xfrm>
            <a:off x="8321040" y="3108960"/>
            <a:ext cx="914400" cy="411480"/>
          </a:xfrm>
          <a:prstGeom prst="rect">
            <a:avLst/>
          </a:prstGeom>
          <a:noFill/>
          <a:ln/>
        </p:spPr>
        <p:txBody>
          <a:bodyPr wrap="square" lIns="0" tIns="0" rIns="0" bIns="0" rtlCol="0" anchor="ctr"/>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0</a:t>
            </a:r>
            <a:endParaRPr lang="en-US" sz="1500" dirty="0"/>
          </a:p>
        </p:txBody>
      </p:sp>
      <p:sp>
        <p:nvSpPr>
          <p:cNvPr id="47" name="Text 43"/>
          <p:cNvSpPr txBox="1"/>
          <p:nvPr/>
        </p:nvSpPr>
        <p:spPr>
          <a:xfrm>
            <a:off x="9464040" y="1508760"/>
            <a:ext cx="2176272" cy="2011680"/>
          </a:xfrm>
          <a:prstGeom prst="rect">
            <a:avLst/>
          </a:prstGeom>
          <a:noFill/>
          <a:ln/>
        </p:spPr>
        <p:txBody>
          <a:bodyPr wrap="square" lIns="0" tIns="0" rIns="0" bIns="0" rtlCol="0" anchor="t"/>
          <a:lstStyle/>
          <a:p>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In the new space (x</a:t>
            </a:r>
            <a:pPr algn="l"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 x</a:t>
            </a:r>
            <a:pPr algn="l"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 x</a:t>
            </a:r>
            <a:pPr algn="l"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x</a:t>
            </a:r>
            <a:pPr algn="l"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0E7C7B"/>
                </a:solidFill>
                <a:latin typeface="Calibri" pitchFamily="34" charset="0"/>
                <a:ea typeface="Calibri" pitchFamily="34" charset="-122"/>
                <a:cs typeface="Calibri" pitchFamily="34" charset="-120"/>
              </a:rPr>
              <a:t>) a plane separates the classes. On the four points, y is even exactly linear:</a:t>
            </a:r>
            <a:endParaRPr lang="en-US" sz="1500" dirty="0"/>
          </a:p>
        </p:txBody>
      </p:sp>
      <p:sp>
        <p:nvSpPr>
          <p:cNvPr id="48" name="Shape 44"/>
          <p:cNvSpPr/>
          <p:nvPr/>
        </p:nvSpPr>
        <p:spPr>
          <a:xfrm>
            <a:off x="5120640" y="3794760"/>
            <a:ext cx="6519672" cy="868680"/>
          </a:xfrm>
          <a:prstGeom prst="roundRect">
            <a:avLst>
              <a:gd name="adj" fmla="val 8421"/>
            </a:avLst>
          </a:prstGeom>
          <a:solidFill>
            <a:srgbClr val="FFFFFF"/>
          </a:solidFill>
          <a:ln w="12700">
            <a:solidFill>
              <a:srgbClr val="D5DBE3"/>
            </a:solidFill>
            <a:prstDash val="solid"/>
          </a:ln>
        </p:spPr>
      </p:sp>
      <p:pic>
        <p:nvPicPr>
          <p:cNvPr id="49" name="Image 1" descr="equation xor_feat">    </p:cNvPr>
          <p:cNvPicPr>
            <a:picLocks noChangeAspect="1"/>
          </p:cNvPicPr>
          <p:nvPr/>
        </p:nvPicPr>
        <p:blipFill>
          <a:blip r:embed="rId2"/>
          <a:stretch>
            <a:fillRect/>
          </a:stretch>
        </p:blipFill>
        <p:spPr>
          <a:xfrm>
            <a:off x="7042252" y="3950208"/>
            <a:ext cx="2676449" cy="301752"/>
          </a:xfrm>
          <a:prstGeom prst="rect">
            <a:avLst/>
          </a:prstGeom>
        </p:spPr>
      </p:pic>
      <p:sp>
        <p:nvSpPr>
          <p:cNvPr id="50" name="Shape 45"/>
          <p:cNvSpPr/>
          <p:nvPr/>
        </p:nvSpPr>
        <p:spPr>
          <a:xfrm>
            <a:off x="5120640" y="4892040"/>
            <a:ext cx="6519672" cy="1234440"/>
          </a:xfrm>
          <a:prstGeom prst="roundRect">
            <a:avLst>
              <a:gd name="adj" fmla="val 5926"/>
            </a:avLst>
          </a:prstGeom>
          <a:solidFill>
            <a:srgbClr val="16202E"/>
          </a:solidFill>
          <a:ln/>
        </p:spPr>
      </p:sp>
      <p:sp>
        <p:nvSpPr>
          <p:cNvPr id="51" name="Text 46"/>
          <p:cNvSpPr txBox="1"/>
          <p:nvPr/>
        </p:nvSpPr>
        <p:spPr>
          <a:xfrm>
            <a:off x="5394960" y="4892040"/>
            <a:ext cx="6035040" cy="1234440"/>
          </a:xfrm>
          <a:prstGeom prst="rect">
            <a:avLst/>
          </a:prstGeom>
          <a:noFill/>
          <a:ln/>
        </p:spPr>
        <p:txBody>
          <a:bodyPr wrap="square" lIns="0" tIns="0" rIns="0" bIns="0" rtlCol="0" anchor="ctr"/>
          <a:lstStyle/>
          <a:p>
            <a:pPr algn="l" indent="0" marL="0">
              <a:lnSpc>
                <a:spcPct val="100000"/>
              </a:lnSpc>
              <a:spcAft>
                <a:spcPts val="400"/>
              </a:spcAft>
              <a:buNone/>
            </a:pPr>
            <a:r>
              <a:rPr lang="en-US" sz="1700" dirty="0">
                <a:solidFill>
                  <a:srgbClr val="FFFFFF"/>
                </a:solidFill>
                <a:latin typeface="Calibri" pitchFamily="34" charset="0"/>
                <a:ea typeface="Calibri" pitchFamily="34" charset="-122"/>
                <a:cs typeface="Calibri" pitchFamily="34" charset="-120"/>
              </a:rPr>
              <a:t>A problem that is hard in one representation can be easy in another.</a:t>
            </a:r>
            <a:pPr algn="l" indent="0" marL="0">
              <a:lnSpc>
                <a:spcPct val="100000"/>
              </a:lnSpc>
              <a:spcAft>
                <a:spcPts val="400"/>
              </a:spcAft>
              <a:buNone/>
            </a:pPr>
            <a:endParaRPr lang="en-US" sz="1700" dirty="0"/>
          </a:p>
          <a:p>
            <a:pPr algn="l" indent="0" marL="0">
              <a:lnSpc>
                <a:spcPct val="100000"/>
              </a:lnSpc>
              <a:spcAft>
                <a:spcPts val="400"/>
              </a:spcAft>
              <a:buNone/>
            </a:pPr>
            <a:r>
              <a:rPr lang="en-US" sz="1700" b="1" dirty="0">
                <a:solidFill>
                  <a:srgbClr val="FFFFFF"/>
                </a:solidFill>
                <a:latin typeface="Calibri" pitchFamily="34" charset="0"/>
                <a:ea typeface="Calibri" pitchFamily="34" charset="-122"/>
                <a:cs typeface="Calibri" pitchFamily="34" charset="-120"/>
              </a:rPr>
              <a:t>But who designs the right feature for 784 pixels?</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WHY NEURAL NETWORKS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Fix 2: let the model learn the features — the neural-network idea</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what must the function g be?</a:t>
            </a:r>
            <a:endParaRPr lang="en-US" sz="1100" dirty="0"/>
          </a:p>
        </p:txBody>
      </p:sp>
      <p:sp>
        <p:nvSpPr>
          <p:cNvPr id="6" name="Shape 3"/>
          <p:cNvSpPr/>
          <p:nvPr/>
        </p:nvSpPr>
        <p:spPr>
          <a:xfrm>
            <a:off x="548640" y="1828800"/>
            <a:ext cx="914400" cy="1097280"/>
          </a:xfrm>
          <a:prstGeom prst="roundRect">
            <a:avLst>
              <a:gd name="adj" fmla="val 6000"/>
            </a:avLst>
          </a:prstGeom>
          <a:solidFill>
            <a:srgbClr val="FFFFFF"/>
          </a:solidFill>
          <a:ln w="12700">
            <a:solidFill>
              <a:srgbClr val="8A94A3"/>
            </a:solidFill>
            <a:prstDash val="solid"/>
          </a:ln>
        </p:spPr>
      </p:sp>
      <p:sp>
        <p:nvSpPr>
          <p:cNvPr id="7" name="Text 4"/>
          <p:cNvSpPr txBox="1"/>
          <p:nvPr/>
        </p:nvSpPr>
        <p:spPr>
          <a:xfrm>
            <a:off x="548640" y="1828800"/>
            <a:ext cx="914400" cy="1097280"/>
          </a:xfrm>
          <a:prstGeom prst="rect">
            <a:avLst/>
          </a:prstGeom>
          <a:noFill/>
          <a:ln/>
        </p:spPr>
        <p:txBody>
          <a:bodyPr wrap="square" lIns="0" tIns="0" rIns="0" bIns="0" rtlCol="0" anchor="ctr"/>
          <a:lstStyle/>
          <a:p>
            <a:pPr algn="ctr" indent="0" marL="0">
              <a:lnSpc>
                <a:spcPct val="100000"/>
              </a:lnSpc>
              <a:buNone/>
            </a:pPr>
            <a:r>
              <a:rPr lang="en-US" sz="2200" dirty="0">
                <a:solidFill>
                  <a:srgbClr val="16202E"/>
                </a:solidFill>
                <a:latin typeface="Cambria" pitchFamily="34" charset="0"/>
                <a:ea typeface="Cambria" pitchFamily="34" charset="-122"/>
                <a:cs typeface="Cambria" pitchFamily="34" charset="-120"/>
              </a:rPr>
              <a:t>x</a:t>
            </a:r>
            <a:endParaRPr lang="en-US" sz="2200" dirty="0"/>
          </a:p>
        </p:txBody>
      </p:sp>
      <p:sp>
        <p:nvSpPr>
          <p:cNvPr id="8" name="Shape 5"/>
          <p:cNvSpPr/>
          <p:nvPr/>
        </p:nvSpPr>
        <p:spPr>
          <a:xfrm>
            <a:off x="1874520" y="1417320"/>
            <a:ext cx="4206240" cy="1920240"/>
          </a:xfrm>
          <a:prstGeom prst="roundRect">
            <a:avLst>
              <a:gd name="adj" fmla="val 3810"/>
            </a:avLst>
          </a:prstGeom>
          <a:solidFill>
            <a:srgbClr val="E3F2F1"/>
          </a:solidFill>
          <a:ln w="12700">
            <a:solidFill>
              <a:srgbClr val="0E7C7B"/>
            </a:solidFill>
            <a:prstDash val="solid"/>
          </a:ln>
        </p:spPr>
      </p:sp>
      <p:sp>
        <p:nvSpPr>
          <p:cNvPr id="9" name="Text 6"/>
          <p:cNvSpPr txBox="1"/>
          <p:nvPr/>
        </p:nvSpPr>
        <p:spPr>
          <a:xfrm>
            <a:off x="1874520" y="1554480"/>
            <a:ext cx="420624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0E7C7B"/>
                </a:solidFill>
                <a:latin typeface="Calibri" pitchFamily="34" charset="0"/>
                <a:ea typeface="Calibri" pitchFamily="34" charset="-122"/>
                <a:cs typeface="Calibri" pitchFamily="34" charset="-120"/>
              </a:rPr>
              <a:t>Hidden layer: learned features</a:t>
            </a:r>
            <a:endParaRPr lang="en-US" sz="1600" dirty="0"/>
          </a:p>
        </p:txBody>
      </p:sp>
      <p:pic>
        <p:nvPicPr>
          <p:cNvPr id="10" name="Image 0" descr="equation learn_feat_h">    </p:cNvPr>
          <p:cNvPicPr>
            <a:picLocks noChangeAspect="1"/>
          </p:cNvPicPr>
          <p:nvPr/>
        </p:nvPicPr>
        <p:blipFill>
          <a:blip r:embed="rId1"/>
          <a:stretch>
            <a:fillRect/>
          </a:stretch>
        </p:blipFill>
        <p:spPr>
          <a:xfrm>
            <a:off x="2664562" y="2194560"/>
            <a:ext cx="2626157" cy="419710"/>
          </a:xfrm>
          <a:prstGeom prst="rect">
            <a:avLst/>
          </a:prstGeom>
        </p:spPr>
      </p:pic>
      <p:sp>
        <p:nvSpPr>
          <p:cNvPr id="11" name="Shape 7"/>
          <p:cNvSpPr/>
          <p:nvPr/>
        </p:nvSpPr>
        <p:spPr>
          <a:xfrm>
            <a:off x="6492240" y="1417320"/>
            <a:ext cx="3931920" cy="1920240"/>
          </a:xfrm>
          <a:prstGeom prst="roundRect">
            <a:avLst>
              <a:gd name="adj" fmla="val 3810"/>
            </a:avLst>
          </a:prstGeom>
          <a:solidFill>
            <a:srgbClr val="F3F5F8"/>
          </a:solidFill>
          <a:ln w="12700">
            <a:solidFill>
              <a:srgbClr val="8A94A3"/>
            </a:solidFill>
            <a:prstDash val="solid"/>
          </a:ln>
        </p:spPr>
      </p:sp>
      <p:sp>
        <p:nvSpPr>
          <p:cNvPr id="12" name="Text 8"/>
          <p:cNvSpPr txBox="1"/>
          <p:nvPr/>
        </p:nvSpPr>
        <p:spPr>
          <a:xfrm>
            <a:off x="6492240" y="1554480"/>
            <a:ext cx="393192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16202E"/>
                </a:solidFill>
                <a:latin typeface="Calibri" pitchFamily="34" charset="0"/>
                <a:ea typeface="Calibri" pitchFamily="34" charset="-122"/>
                <a:cs typeface="Calibri" pitchFamily="34" charset="-120"/>
              </a:rPr>
              <a:t>Output neuron: logistic regression on h</a:t>
            </a:r>
            <a:endParaRPr lang="en-US" sz="1600" dirty="0"/>
          </a:p>
        </p:txBody>
      </p:sp>
      <p:pic>
        <p:nvPicPr>
          <p:cNvPr id="13" name="Image 1" descr="equation learn_feat_y">    </p:cNvPr>
          <p:cNvPicPr>
            <a:picLocks noChangeAspect="1"/>
          </p:cNvPicPr>
          <p:nvPr/>
        </p:nvPicPr>
        <p:blipFill>
          <a:blip r:embed="rId2"/>
          <a:stretch>
            <a:fillRect/>
          </a:stretch>
        </p:blipFill>
        <p:spPr>
          <a:xfrm>
            <a:off x="7146950" y="2194560"/>
            <a:ext cx="2622499" cy="419710"/>
          </a:xfrm>
          <a:prstGeom prst="rect">
            <a:avLst/>
          </a:prstGeom>
        </p:spPr>
      </p:pic>
      <p:sp>
        <p:nvSpPr>
          <p:cNvPr id="14" name="Shape 9"/>
          <p:cNvSpPr/>
          <p:nvPr/>
        </p:nvSpPr>
        <p:spPr>
          <a:xfrm>
            <a:off x="10817352" y="1828800"/>
            <a:ext cx="822960" cy="1097280"/>
          </a:xfrm>
          <a:prstGeom prst="roundRect">
            <a:avLst>
              <a:gd name="adj" fmla="val 6667"/>
            </a:avLst>
          </a:prstGeom>
          <a:solidFill>
            <a:srgbClr val="FFFFFF"/>
          </a:solidFill>
          <a:ln w="12700">
            <a:solidFill>
              <a:srgbClr val="8A94A3"/>
            </a:solidFill>
            <a:prstDash val="solid"/>
          </a:ln>
        </p:spPr>
      </p:sp>
      <p:sp>
        <p:nvSpPr>
          <p:cNvPr id="15" name="Text 10"/>
          <p:cNvSpPr txBox="1"/>
          <p:nvPr/>
        </p:nvSpPr>
        <p:spPr>
          <a:xfrm>
            <a:off x="10817352" y="1828800"/>
            <a:ext cx="822960" cy="1097280"/>
          </a:xfrm>
          <a:prstGeom prst="rect">
            <a:avLst/>
          </a:prstGeom>
          <a:noFill/>
          <a:ln/>
        </p:spPr>
        <p:txBody>
          <a:bodyPr wrap="square" lIns="0" tIns="0" rIns="0" bIns="0" rtlCol="0" anchor="ctr"/>
          <a:lstStyle/>
          <a:p>
            <a:pPr algn="ctr" indent="0" marL="0">
              <a:lnSpc>
                <a:spcPct val="100000"/>
              </a:lnSpc>
              <a:buNone/>
            </a:pPr>
            <a:r>
              <a:rPr lang="en-US" sz="2200" dirty="0">
                <a:solidFill>
                  <a:srgbClr val="16202E"/>
                </a:solidFill>
                <a:latin typeface="Cambria" pitchFamily="34" charset="0"/>
                <a:ea typeface="Cambria" pitchFamily="34" charset="-122"/>
                <a:cs typeface="Cambria" pitchFamily="34" charset="-120"/>
              </a:rPr>
              <a:t>ŷ</a:t>
            </a:r>
            <a:endParaRPr lang="en-US" sz="2200" dirty="0"/>
          </a:p>
        </p:txBody>
      </p:sp>
      <p:sp>
        <p:nvSpPr>
          <p:cNvPr id="16" name="Shape 11"/>
          <p:cNvSpPr/>
          <p:nvPr/>
        </p:nvSpPr>
        <p:spPr>
          <a:xfrm>
            <a:off x="1463040" y="2377440"/>
            <a:ext cx="411480" cy="914"/>
          </a:xfrm>
          <a:prstGeom prst="line">
            <a:avLst/>
          </a:prstGeom>
          <a:noFill/>
          <a:ln w="25400">
            <a:solidFill>
              <a:srgbClr val="0E7C7B"/>
            </a:solidFill>
            <a:prstDash val="solid"/>
            <a:tailEnd type="triangle"/>
          </a:ln>
        </p:spPr>
      </p:sp>
      <p:sp>
        <p:nvSpPr>
          <p:cNvPr id="17" name="Shape 12"/>
          <p:cNvSpPr/>
          <p:nvPr/>
        </p:nvSpPr>
        <p:spPr>
          <a:xfrm>
            <a:off x="6080760" y="2377440"/>
            <a:ext cx="411480" cy="914"/>
          </a:xfrm>
          <a:prstGeom prst="line">
            <a:avLst/>
          </a:prstGeom>
          <a:noFill/>
          <a:ln w="25400">
            <a:solidFill>
              <a:srgbClr val="0E7C7B"/>
            </a:solidFill>
            <a:prstDash val="solid"/>
            <a:tailEnd type="triangle"/>
          </a:ln>
        </p:spPr>
      </p:sp>
      <p:sp>
        <p:nvSpPr>
          <p:cNvPr id="18" name="Shape 13"/>
          <p:cNvSpPr/>
          <p:nvPr/>
        </p:nvSpPr>
        <p:spPr>
          <a:xfrm>
            <a:off x="10424160" y="2377440"/>
            <a:ext cx="393192" cy="914"/>
          </a:xfrm>
          <a:prstGeom prst="line">
            <a:avLst/>
          </a:prstGeom>
          <a:noFill/>
          <a:ln w="25400">
            <a:solidFill>
              <a:srgbClr val="0E7C7B"/>
            </a:solidFill>
            <a:prstDash val="solid"/>
            <a:tailEnd type="triangle"/>
          </a:ln>
        </p:spPr>
      </p:sp>
      <p:sp>
        <p:nvSpPr>
          <p:cNvPr id="19" name="Shape 14"/>
          <p:cNvSpPr/>
          <p:nvPr/>
        </p:nvSpPr>
        <p:spPr>
          <a:xfrm>
            <a:off x="2103120" y="3611880"/>
            <a:ext cx="8138160" cy="914"/>
          </a:xfrm>
          <a:prstGeom prst="line">
            <a:avLst/>
          </a:prstGeom>
          <a:noFill/>
          <a:ln w="22225">
            <a:solidFill>
              <a:srgbClr val="D9611A"/>
            </a:solidFill>
            <a:prstDash val="solid"/>
            <a:headEnd type="triangle"/>
            <a:tailEnd type="triangle"/>
          </a:ln>
        </p:spPr>
      </p:sp>
      <p:sp>
        <p:nvSpPr>
          <p:cNvPr id="20" name="Text 15"/>
          <p:cNvSpPr txBox="1"/>
          <p:nvPr/>
        </p:nvSpPr>
        <p:spPr>
          <a:xfrm>
            <a:off x="2103120" y="3703320"/>
            <a:ext cx="8138160" cy="320040"/>
          </a:xfrm>
          <a:prstGeom prst="rect">
            <a:avLst/>
          </a:prstGeom>
          <a:noFill/>
          <a:ln/>
        </p:spPr>
        <p:txBody>
          <a:bodyPr wrap="square" lIns="0" tIns="0" rIns="0" bIns="0" rtlCol="0" anchor="t"/>
          <a:lstStyle/>
          <a:p>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all parameters W</a:t>
            </a:r>
            <a:pPr algn="ctr" indent="0" marL="0">
              <a:lnSpc>
                <a:spcPct val="100000"/>
              </a:lnSpc>
              <a:buNone/>
            </a:pPr>
            <a:r>
              <a:rPr lang="en-US" sz="1500" i="1" baseline="30000" dirty="0">
                <a:solidFill>
                  <a:srgbClr val="D9611A"/>
                </a:solidFill>
                <a:latin typeface="Calibri" pitchFamily="34" charset="0"/>
                <a:ea typeface="Calibri" pitchFamily="34" charset="-122"/>
                <a:cs typeface="Calibri" pitchFamily="34" charset="-120"/>
              </a:rPr>
              <a:t>[1]</a:t>
            </a:r>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 b</a:t>
            </a:r>
            <a:pPr algn="ctr" indent="0" marL="0">
              <a:lnSpc>
                <a:spcPct val="100000"/>
              </a:lnSpc>
              <a:buNone/>
            </a:pPr>
            <a:r>
              <a:rPr lang="en-US" sz="1500" i="1" baseline="30000" dirty="0">
                <a:solidFill>
                  <a:srgbClr val="D9611A"/>
                </a:solidFill>
                <a:latin typeface="Calibri" pitchFamily="34" charset="0"/>
                <a:ea typeface="Calibri" pitchFamily="34" charset="-122"/>
                <a:cs typeface="Calibri" pitchFamily="34" charset="-120"/>
              </a:rPr>
              <a:t>[1]</a:t>
            </a:r>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 w</a:t>
            </a:r>
            <a:pPr algn="ctr" indent="0" marL="0">
              <a:lnSpc>
                <a:spcPct val="100000"/>
              </a:lnSpc>
              <a:buNone/>
            </a:pPr>
            <a:r>
              <a:rPr lang="en-US" sz="1500" i="1" baseline="30000" dirty="0">
                <a:solidFill>
                  <a:srgbClr val="D9611A"/>
                </a:solidFill>
                <a:latin typeface="Calibri" pitchFamily="34" charset="0"/>
                <a:ea typeface="Calibri" pitchFamily="34" charset="-122"/>
                <a:cs typeface="Calibri" pitchFamily="34" charset="-120"/>
              </a:rPr>
              <a:t>[2]</a:t>
            </a:r>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 b</a:t>
            </a:r>
            <a:pPr algn="ctr" indent="0" marL="0">
              <a:lnSpc>
                <a:spcPct val="100000"/>
              </a:lnSpc>
              <a:buNone/>
            </a:pPr>
            <a:r>
              <a:rPr lang="en-US" sz="1500" i="1" baseline="30000" dirty="0">
                <a:solidFill>
                  <a:srgbClr val="D9611A"/>
                </a:solidFill>
                <a:latin typeface="Calibri" pitchFamily="34" charset="0"/>
                <a:ea typeface="Calibri" pitchFamily="34" charset="-122"/>
                <a:cs typeface="Calibri" pitchFamily="34" charset="-120"/>
              </a:rPr>
              <a:t>[2]</a:t>
            </a:r>
            <a:pPr algn="ctr" indent="0" marL="0">
              <a:lnSpc>
                <a:spcPct val="100000"/>
              </a:lnSpc>
              <a:buNone/>
            </a:pPr>
            <a:r>
              <a:rPr lang="en-US" sz="1500" i="1" dirty="0">
                <a:solidFill>
                  <a:srgbClr val="D9611A"/>
                </a:solidFill>
                <a:latin typeface="Calibri" pitchFamily="34" charset="0"/>
                <a:ea typeface="Calibri" pitchFamily="34" charset="-122"/>
                <a:cs typeface="Calibri" pitchFamily="34" charset="-120"/>
              </a:rPr>
              <a:t> trained together, by gradient descent on one loss</a:t>
            </a:r>
            <a:endParaRPr lang="en-US" sz="1500" dirty="0"/>
          </a:p>
        </p:txBody>
      </p:sp>
      <p:sp>
        <p:nvSpPr>
          <p:cNvPr id="21" name="Shape 16"/>
          <p:cNvSpPr/>
          <p:nvPr/>
        </p:nvSpPr>
        <p:spPr>
          <a:xfrm>
            <a:off x="548640" y="4343400"/>
            <a:ext cx="3515258" cy="1783080"/>
          </a:xfrm>
          <a:prstGeom prst="roundRect">
            <a:avLst>
              <a:gd name="adj" fmla="val 4103"/>
            </a:avLst>
          </a:prstGeom>
          <a:solidFill>
            <a:srgbClr val="F3F5F8"/>
          </a:solidFill>
          <a:ln/>
        </p:spPr>
      </p:sp>
      <p:sp>
        <p:nvSpPr>
          <p:cNvPr id="22" name="Shape 17"/>
          <p:cNvSpPr/>
          <p:nvPr/>
        </p:nvSpPr>
        <p:spPr>
          <a:xfrm>
            <a:off x="777240" y="4526280"/>
            <a:ext cx="384048" cy="384048"/>
          </a:xfrm>
          <a:prstGeom prst="ellipse">
            <a:avLst/>
          </a:prstGeom>
          <a:solidFill>
            <a:srgbClr val="0E7C7B"/>
          </a:solidFill>
          <a:ln/>
        </p:spPr>
      </p:sp>
      <p:sp>
        <p:nvSpPr>
          <p:cNvPr id="23" name="Text 18"/>
          <p:cNvSpPr txBox="1"/>
          <p:nvPr/>
        </p:nvSpPr>
        <p:spPr>
          <a:xfrm>
            <a:off x="777240" y="4526280"/>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4" name="Text 19"/>
          <p:cNvSpPr txBox="1"/>
          <p:nvPr/>
        </p:nvSpPr>
        <p:spPr>
          <a:xfrm>
            <a:off x="1325880" y="4544568"/>
            <a:ext cx="260085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Task-driven</a:t>
            </a:r>
            <a:endParaRPr lang="en-US" sz="1700" dirty="0"/>
          </a:p>
        </p:txBody>
      </p:sp>
      <p:sp>
        <p:nvSpPr>
          <p:cNvPr id="25" name="Text 20"/>
          <p:cNvSpPr txBox="1"/>
          <p:nvPr/>
        </p:nvSpPr>
        <p:spPr>
          <a:xfrm>
            <a:off x="777240" y="5029200"/>
            <a:ext cx="3058058" cy="10058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Features are shaped by the loss you care about, not by an expert's guess.</a:t>
            </a:r>
            <a:endParaRPr lang="en-US" sz="1500" dirty="0"/>
          </a:p>
        </p:txBody>
      </p:sp>
      <p:sp>
        <p:nvSpPr>
          <p:cNvPr id="26" name="Shape 21"/>
          <p:cNvSpPr/>
          <p:nvPr/>
        </p:nvSpPr>
        <p:spPr>
          <a:xfrm>
            <a:off x="4277228" y="4343400"/>
            <a:ext cx="3515258" cy="1783080"/>
          </a:xfrm>
          <a:prstGeom prst="roundRect">
            <a:avLst>
              <a:gd name="adj" fmla="val 4103"/>
            </a:avLst>
          </a:prstGeom>
          <a:solidFill>
            <a:srgbClr val="F3F5F8"/>
          </a:solidFill>
          <a:ln/>
        </p:spPr>
      </p:sp>
      <p:sp>
        <p:nvSpPr>
          <p:cNvPr id="27" name="Shape 22"/>
          <p:cNvSpPr/>
          <p:nvPr/>
        </p:nvSpPr>
        <p:spPr>
          <a:xfrm>
            <a:off x="4505828" y="4526280"/>
            <a:ext cx="384048" cy="384048"/>
          </a:xfrm>
          <a:prstGeom prst="ellipse">
            <a:avLst/>
          </a:prstGeom>
          <a:solidFill>
            <a:srgbClr val="0E7C7B"/>
          </a:solidFill>
          <a:ln/>
        </p:spPr>
      </p:sp>
      <p:sp>
        <p:nvSpPr>
          <p:cNvPr id="28" name="Text 23"/>
          <p:cNvSpPr txBox="1"/>
          <p:nvPr/>
        </p:nvSpPr>
        <p:spPr>
          <a:xfrm>
            <a:off x="4505828" y="4526280"/>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9" name="Text 24"/>
          <p:cNvSpPr txBox="1"/>
          <p:nvPr/>
        </p:nvSpPr>
        <p:spPr>
          <a:xfrm>
            <a:off x="5054468" y="4544568"/>
            <a:ext cx="260085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Stackable</a:t>
            </a:r>
            <a:endParaRPr lang="en-US" sz="1700" dirty="0"/>
          </a:p>
        </p:txBody>
      </p:sp>
      <p:sp>
        <p:nvSpPr>
          <p:cNvPr id="30" name="Text 25"/>
          <p:cNvSpPr txBox="1"/>
          <p:nvPr/>
        </p:nvSpPr>
        <p:spPr>
          <a:xfrm>
            <a:off x="4505828" y="5029200"/>
            <a:ext cx="3058058" cy="10058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Layer 2 builds features out of layer-1 features. Composing many layers is what “deep” means.</a:t>
            </a:r>
            <a:endParaRPr lang="en-US" sz="1500" dirty="0"/>
          </a:p>
        </p:txBody>
      </p:sp>
      <p:sp>
        <p:nvSpPr>
          <p:cNvPr id="31" name="Shape 26"/>
          <p:cNvSpPr/>
          <p:nvPr/>
        </p:nvSpPr>
        <p:spPr>
          <a:xfrm>
            <a:off x="8005816" y="4343400"/>
            <a:ext cx="3515258" cy="1783080"/>
          </a:xfrm>
          <a:prstGeom prst="roundRect">
            <a:avLst>
              <a:gd name="adj" fmla="val 4103"/>
            </a:avLst>
          </a:prstGeom>
          <a:solidFill>
            <a:srgbClr val="FCEDE3"/>
          </a:solidFill>
          <a:ln/>
        </p:spPr>
      </p:sp>
      <p:sp>
        <p:nvSpPr>
          <p:cNvPr id="32" name="Shape 27"/>
          <p:cNvSpPr/>
          <p:nvPr/>
        </p:nvSpPr>
        <p:spPr>
          <a:xfrm>
            <a:off x="8234416" y="4526280"/>
            <a:ext cx="384048" cy="384048"/>
          </a:xfrm>
          <a:prstGeom prst="ellipse">
            <a:avLst/>
          </a:prstGeom>
          <a:solidFill>
            <a:srgbClr val="D9611A"/>
          </a:solidFill>
          <a:ln/>
        </p:spPr>
      </p:sp>
      <p:sp>
        <p:nvSpPr>
          <p:cNvPr id="33" name="Text 28"/>
          <p:cNvSpPr txBox="1"/>
          <p:nvPr/>
        </p:nvSpPr>
        <p:spPr>
          <a:xfrm>
            <a:off x="8234416" y="4526280"/>
            <a:ext cx="384048" cy="384048"/>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29"/>
          <p:cNvSpPr txBox="1"/>
          <p:nvPr/>
        </p:nvSpPr>
        <p:spPr>
          <a:xfrm>
            <a:off x="8783056" y="4544568"/>
            <a:ext cx="260085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Open question</a:t>
            </a:r>
            <a:endParaRPr lang="en-US" sz="1700" dirty="0"/>
          </a:p>
        </p:txBody>
      </p:sp>
      <p:sp>
        <p:nvSpPr>
          <p:cNvPr id="35" name="Text 30"/>
          <p:cNvSpPr txBox="1"/>
          <p:nvPr/>
        </p:nvSpPr>
        <p:spPr>
          <a:xfrm>
            <a:off x="8234416" y="5029200"/>
            <a:ext cx="3058058" cy="10058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What must g be? If g(z) = z, does the hidden layer buy anything? → next slide.</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ACTIVATIONS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Without a nonlinearity g, stacked layers collapse into one linear layer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1</a:t>
            </a:r>
            <a:endParaRPr lang="en-US" sz="1100" dirty="0"/>
          </a:p>
        </p:txBody>
      </p:sp>
      <p:sp>
        <p:nvSpPr>
          <p:cNvPr id="6" name="Shape 3"/>
          <p:cNvSpPr/>
          <p:nvPr/>
        </p:nvSpPr>
        <p:spPr>
          <a:xfrm>
            <a:off x="548640" y="1600200"/>
            <a:ext cx="685800" cy="731520"/>
          </a:xfrm>
          <a:prstGeom prst="roundRect">
            <a:avLst>
              <a:gd name="adj" fmla="val 8000"/>
            </a:avLst>
          </a:prstGeom>
          <a:solidFill>
            <a:srgbClr val="FFFFFF"/>
          </a:solidFill>
          <a:ln w="12700">
            <a:solidFill>
              <a:srgbClr val="8A94A3"/>
            </a:solidFill>
            <a:prstDash val="solid"/>
          </a:ln>
        </p:spPr>
      </p:sp>
      <p:sp>
        <p:nvSpPr>
          <p:cNvPr id="7" name="Text 4"/>
          <p:cNvSpPr txBox="1"/>
          <p:nvPr/>
        </p:nvSpPr>
        <p:spPr>
          <a:xfrm>
            <a:off x="548640" y="1600200"/>
            <a:ext cx="68580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x</a:t>
            </a:r>
            <a:endParaRPr lang="en-US" sz="1700" dirty="0"/>
          </a:p>
        </p:txBody>
      </p:sp>
      <p:sp>
        <p:nvSpPr>
          <p:cNvPr id="8" name="Shape 5"/>
          <p:cNvSpPr/>
          <p:nvPr/>
        </p:nvSpPr>
        <p:spPr>
          <a:xfrm>
            <a:off x="1234440" y="1965960"/>
            <a:ext cx="320040" cy="914"/>
          </a:xfrm>
          <a:prstGeom prst="line">
            <a:avLst/>
          </a:prstGeom>
          <a:noFill/>
          <a:ln w="22225">
            <a:solidFill>
              <a:srgbClr val="0E7C7B"/>
            </a:solidFill>
            <a:prstDash val="solid"/>
            <a:tailEnd type="triangle"/>
          </a:ln>
        </p:spPr>
      </p:sp>
      <p:sp>
        <p:nvSpPr>
          <p:cNvPr id="9" name="Shape 6"/>
          <p:cNvSpPr/>
          <p:nvPr/>
        </p:nvSpPr>
        <p:spPr>
          <a:xfrm>
            <a:off x="1554480" y="1600200"/>
            <a:ext cx="1737360" cy="731520"/>
          </a:xfrm>
          <a:prstGeom prst="roundRect">
            <a:avLst>
              <a:gd name="adj" fmla="val 7500"/>
            </a:avLst>
          </a:prstGeom>
          <a:solidFill>
            <a:srgbClr val="F3F5F8"/>
          </a:solidFill>
          <a:ln w="12700">
            <a:solidFill>
              <a:srgbClr val="8A94A3"/>
            </a:solidFill>
            <a:prstDash val="solid"/>
          </a:ln>
        </p:spPr>
      </p:sp>
      <p:sp>
        <p:nvSpPr>
          <p:cNvPr id="10" name="Text 7"/>
          <p:cNvSpPr txBox="1"/>
          <p:nvPr/>
        </p:nvSpPr>
        <p:spPr>
          <a:xfrm>
            <a:off x="1554480" y="1600200"/>
            <a:ext cx="173736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W</a:t>
            </a:r>
            <a:pPr algn="ctr" indent="0" marL="0">
              <a:lnSpc>
                <a:spcPct val="100000"/>
              </a:lnSpc>
              <a:buNone/>
            </a:pPr>
            <a:r>
              <a:rPr lang="en-US" sz="1700" baseline="30000" dirty="0">
                <a:solidFill>
                  <a:srgbClr val="16202E"/>
                </a:solidFill>
                <a:latin typeface="Calibri" pitchFamily="34" charset="0"/>
                <a:ea typeface="Calibri" pitchFamily="34" charset="-122"/>
                <a:cs typeface="Calibri" pitchFamily="34" charset="-120"/>
              </a:rPr>
              <a:t>[1]</a:t>
            </a:r>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 b</a:t>
            </a:r>
            <a:pPr algn="ctr" indent="0" marL="0">
              <a:lnSpc>
                <a:spcPct val="100000"/>
              </a:lnSpc>
              <a:buNone/>
            </a:pPr>
            <a:r>
              <a:rPr lang="en-US" sz="1700" baseline="30000" dirty="0">
                <a:solidFill>
                  <a:srgbClr val="16202E"/>
                </a:solidFill>
                <a:latin typeface="Calibri" pitchFamily="34" charset="0"/>
                <a:ea typeface="Calibri" pitchFamily="34" charset="-122"/>
                <a:cs typeface="Calibri" pitchFamily="34" charset="-120"/>
              </a:rPr>
              <a:t>[1]</a:t>
            </a:r>
            <a:endParaRPr lang="en-US" sz="1700" dirty="0"/>
          </a:p>
        </p:txBody>
      </p:sp>
      <p:sp>
        <p:nvSpPr>
          <p:cNvPr id="11" name="Shape 8"/>
          <p:cNvSpPr/>
          <p:nvPr/>
        </p:nvSpPr>
        <p:spPr>
          <a:xfrm>
            <a:off x="3291840" y="1965960"/>
            <a:ext cx="320040" cy="914"/>
          </a:xfrm>
          <a:prstGeom prst="line">
            <a:avLst/>
          </a:prstGeom>
          <a:noFill/>
          <a:ln w="22225">
            <a:solidFill>
              <a:srgbClr val="0E7C7B"/>
            </a:solidFill>
            <a:prstDash val="solid"/>
            <a:tailEnd type="triangle"/>
          </a:ln>
        </p:spPr>
      </p:sp>
      <p:sp>
        <p:nvSpPr>
          <p:cNvPr id="12" name="Shape 9"/>
          <p:cNvSpPr/>
          <p:nvPr/>
        </p:nvSpPr>
        <p:spPr>
          <a:xfrm>
            <a:off x="3611880" y="1600200"/>
            <a:ext cx="1737360" cy="731520"/>
          </a:xfrm>
          <a:prstGeom prst="roundRect">
            <a:avLst>
              <a:gd name="adj" fmla="val 7500"/>
            </a:avLst>
          </a:prstGeom>
          <a:solidFill>
            <a:srgbClr val="F3F5F8"/>
          </a:solidFill>
          <a:ln w="12700">
            <a:solidFill>
              <a:srgbClr val="8A94A3"/>
            </a:solidFill>
            <a:prstDash val="solid"/>
          </a:ln>
        </p:spPr>
      </p:sp>
      <p:sp>
        <p:nvSpPr>
          <p:cNvPr id="13" name="Text 10"/>
          <p:cNvSpPr txBox="1"/>
          <p:nvPr/>
        </p:nvSpPr>
        <p:spPr>
          <a:xfrm>
            <a:off x="3611880" y="1600200"/>
            <a:ext cx="173736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W</a:t>
            </a:r>
            <a:pPr algn="ctr" indent="0" marL="0">
              <a:lnSpc>
                <a:spcPct val="100000"/>
              </a:lnSpc>
              <a:buNone/>
            </a:pPr>
            <a:r>
              <a:rPr lang="en-US" sz="1700" baseline="30000" dirty="0">
                <a:solidFill>
                  <a:srgbClr val="16202E"/>
                </a:solidFill>
                <a:latin typeface="Calibri" pitchFamily="34" charset="0"/>
                <a:ea typeface="Calibri" pitchFamily="34" charset="-122"/>
                <a:cs typeface="Calibri" pitchFamily="34" charset="-120"/>
              </a:rPr>
              <a:t>[2]</a:t>
            </a:r>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 b</a:t>
            </a:r>
            <a:pPr algn="ctr" indent="0" marL="0">
              <a:lnSpc>
                <a:spcPct val="100000"/>
              </a:lnSpc>
              <a:buNone/>
            </a:pPr>
            <a:r>
              <a:rPr lang="en-US" sz="1700" baseline="30000" dirty="0">
                <a:solidFill>
                  <a:srgbClr val="16202E"/>
                </a:solidFill>
                <a:latin typeface="Calibri" pitchFamily="34" charset="0"/>
                <a:ea typeface="Calibri" pitchFamily="34" charset="-122"/>
                <a:cs typeface="Calibri" pitchFamily="34" charset="-120"/>
              </a:rPr>
              <a:t>[2]</a:t>
            </a:r>
            <a:endParaRPr lang="en-US" sz="1700" dirty="0"/>
          </a:p>
        </p:txBody>
      </p:sp>
      <p:sp>
        <p:nvSpPr>
          <p:cNvPr id="14" name="Shape 11"/>
          <p:cNvSpPr/>
          <p:nvPr/>
        </p:nvSpPr>
        <p:spPr>
          <a:xfrm>
            <a:off x="5349240" y="1965960"/>
            <a:ext cx="320040" cy="914"/>
          </a:xfrm>
          <a:prstGeom prst="line">
            <a:avLst/>
          </a:prstGeom>
          <a:noFill/>
          <a:ln w="22225">
            <a:solidFill>
              <a:srgbClr val="0E7C7B"/>
            </a:solidFill>
            <a:prstDash val="solid"/>
            <a:tailEnd type="triangle"/>
          </a:ln>
        </p:spPr>
      </p:sp>
      <p:sp>
        <p:nvSpPr>
          <p:cNvPr id="15" name="Shape 12"/>
          <p:cNvSpPr/>
          <p:nvPr/>
        </p:nvSpPr>
        <p:spPr>
          <a:xfrm>
            <a:off x="5669280" y="1600200"/>
            <a:ext cx="685800" cy="731520"/>
          </a:xfrm>
          <a:prstGeom prst="roundRect">
            <a:avLst>
              <a:gd name="adj" fmla="val 8000"/>
            </a:avLst>
          </a:prstGeom>
          <a:solidFill>
            <a:srgbClr val="FFFFFF"/>
          </a:solidFill>
          <a:ln w="12700">
            <a:solidFill>
              <a:srgbClr val="8A94A3"/>
            </a:solidFill>
            <a:prstDash val="solid"/>
          </a:ln>
        </p:spPr>
      </p:sp>
      <p:sp>
        <p:nvSpPr>
          <p:cNvPr id="16" name="Text 13"/>
          <p:cNvSpPr txBox="1"/>
          <p:nvPr/>
        </p:nvSpPr>
        <p:spPr>
          <a:xfrm>
            <a:off x="5669280" y="1600200"/>
            <a:ext cx="68580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ŷ</a:t>
            </a:r>
            <a:endParaRPr lang="en-US" sz="1700" dirty="0"/>
          </a:p>
        </p:txBody>
      </p:sp>
      <p:sp>
        <p:nvSpPr>
          <p:cNvPr id="17" name="Text 14"/>
          <p:cNvSpPr txBox="1"/>
          <p:nvPr/>
        </p:nvSpPr>
        <p:spPr>
          <a:xfrm>
            <a:off x="6629400" y="1600200"/>
            <a:ext cx="548640" cy="731520"/>
          </a:xfrm>
          <a:prstGeom prst="rect">
            <a:avLst/>
          </a:prstGeom>
          <a:noFill/>
          <a:ln/>
        </p:spPr>
        <p:txBody>
          <a:bodyPr wrap="square" lIns="0" tIns="0" rIns="0" bIns="0" rtlCol="0" anchor="ctr"/>
          <a:lstStyle/>
          <a:p>
            <a:pPr algn="ctr" indent="0" marL="0">
              <a:lnSpc>
                <a:spcPct val="100000"/>
              </a:lnSpc>
              <a:buNone/>
            </a:pPr>
            <a:r>
              <a:rPr lang="en-US" sz="3000" b="1" dirty="0">
                <a:solidFill>
                  <a:srgbClr val="16202E"/>
                </a:solidFill>
                <a:latin typeface="Calibri" pitchFamily="34" charset="0"/>
                <a:ea typeface="Calibri" pitchFamily="34" charset="-122"/>
                <a:cs typeface="Calibri" pitchFamily="34" charset="-120"/>
              </a:rPr>
              <a:t>≡</a:t>
            </a:r>
            <a:endParaRPr lang="en-US" sz="3000" dirty="0"/>
          </a:p>
        </p:txBody>
      </p:sp>
      <p:sp>
        <p:nvSpPr>
          <p:cNvPr id="18" name="Shape 15"/>
          <p:cNvSpPr/>
          <p:nvPr/>
        </p:nvSpPr>
        <p:spPr>
          <a:xfrm>
            <a:off x="7269480" y="1600200"/>
            <a:ext cx="685800" cy="731520"/>
          </a:xfrm>
          <a:prstGeom prst="roundRect">
            <a:avLst>
              <a:gd name="adj" fmla="val 8000"/>
            </a:avLst>
          </a:prstGeom>
          <a:solidFill>
            <a:srgbClr val="FFFFFF"/>
          </a:solidFill>
          <a:ln w="12700">
            <a:solidFill>
              <a:srgbClr val="8A94A3"/>
            </a:solidFill>
            <a:prstDash val="solid"/>
          </a:ln>
        </p:spPr>
      </p:sp>
      <p:sp>
        <p:nvSpPr>
          <p:cNvPr id="19" name="Text 16"/>
          <p:cNvSpPr txBox="1"/>
          <p:nvPr/>
        </p:nvSpPr>
        <p:spPr>
          <a:xfrm>
            <a:off x="7269480" y="1600200"/>
            <a:ext cx="68580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x</a:t>
            </a:r>
            <a:endParaRPr lang="en-US" sz="1700" dirty="0"/>
          </a:p>
        </p:txBody>
      </p:sp>
      <p:sp>
        <p:nvSpPr>
          <p:cNvPr id="20" name="Shape 17"/>
          <p:cNvSpPr/>
          <p:nvPr/>
        </p:nvSpPr>
        <p:spPr>
          <a:xfrm>
            <a:off x="7955280" y="1965960"/>
            <a:ext cx="320040" cy="914"/>
          </a:xfrm>
          <a:prstGeom prst="line">
            <a:avLst/>
          </a:prstGeom>
          <a:noFill/>
          <a:ln w="22225">
            <a:solidFill>
              <a:srgbClr val="0E7C7B"/>
            </a:solidFill>
            <a:prstDash val="solid"/>
            <a:tailEnd type="triangle"/>
          </a:ln>
        </p:spPr>
      </p:sp>
      <p:sp>
        <p:nvSpPr>
          <p:cNvPr id="21" name="Shape 18"/>
          <p:cNvSpPr/>
          <p:nvPr/>
        </p:nvSpPr>
        <p:spPr>
          <a:xfrm>
            <a:off x="8275320" y="1600200"/>
            <a:ext cx="1463040" cy="731520"/>
          </a:xfrm>
          <a:prstGeom prst="roundRect">
            <a:avLst>
              <a:gd name="adj" fmla="val 7500"/>
            </a:avLst>
          </a:prstGeom>
          <a:solidFill>
            <a:srgbClr val="16202E"/>
          </a:solidFill>
          <a:ln w="12700">
            <a:solidFill>
              <a:srgbClr val="8A94A3"/>
            </a:solidFill>
            <a:prstDash val="solid"/>
          </a:ln>
        </p:spPr>
      </p:sp>
      <p:sp>
        <p:nvSpPr>
          <p:cNvPr id="22" name="Text 19"/>
          <p:cNvSpPr txBox="1"/>
          <p:nvPr/>
        </p:nvSpPr>
        <p:spPr>
          <a:xfrm>
            <a:off x="8275320" y="1600200"/>
            <a:ext cx="1463040" cy="731520"/>
          </a:xfrm>
          <a:prstGeom prst="rect">
            <a:avLst/>
          </a:prstGeom>
          <a:noFill/>
          <a:ln/>
        </p:spPr>
        <p:txBody>
          <a:bodyPr wrap="square" lIns="0" tIns="0" rIns="0" bIns="0" rtlCol="0" anchor="ctr"/>
          <a:lstStyle/>
          <a:p>
            <a:pPr algn="ctr" indent="0" marL="0">
              <a:lnSpc>
                <a:spcPct val="100000"/>
              </a:lnSpc>
              <a:buNone/>
            </a:pPr>
            <a:r>
              <a:rPr lang="en-US" sz="1700" dirty="0">
                <a:solidFill>
                  <a:srgbClr val="FFFFFF"/>
                </a:solidFill>
                <a:latin typeface="Calibri" pitchFamily="34" charset="0"/>
                <a:ea typeface="Calibri" pitchFamily="34" charset="-122"/>
                <a:cs typeface="Calibri" pitchFamily="34" charset="-120"/>
              </a:rPr>
              <a:t>W', b'</a:t>
            </a:r>
            <a:endParaRPr lang="en-US" sz="1700" dirty="0"/>
          </a:p>
        </p:txBody>
      </p:sp>
      <p:sp>
        <p:nvSpPr>
          <p:cNvPr id="23" name="Shape 20"/>
          <p:cNvSpPr/>
          <p:nvPr/>
        </p:nvSpPr>
        <p:spPr>
          <a:xfrm>
            <a:off x="9738360" y="1965960"/>
            <a:ext cx="320040" cy="914"/>
          </a:xfrm>
          <a:prstGeom prst="line">
            <a:avLst/>
          </a:prstGeom>
          <a:noFill/>
          <a:ln w="22225">
            <a:solidFill>
              <a:srgbClr val="0E7C7B"/>
            </a:solidFill>
            <a:prstDash val="solid"/>
            <a:tailEnd type="triangle"/>
          </a:ln>
        </p:spPr>
      </p:sp>
      <p:sp>
        <p:nvSpPr>
          <p:cNvPr id="24" name="Shape 21"/>
          <p:cNvSpPr/>
          <p:nvPr/>
        </p:nvSpPr>
        <p:spPr>
          <a:xfrm>
            <a:off x="10058400" y="1600200"/>
            <a:ext cx="685800" cy="731520"/>
          </a:xfrm>
          <a:prstGeom prst="roundRect">
            <a:avLst>
              <a:gd name="adj" fmla="val 8000"/>
            </a:avLst>
          </a:prstGeom>
          <a:solidFill>
            <a:srgbClr val="FFFFFF"/>
          </a:solidFill>
          <a:ln w="12700">
            <a:solidFill>
              <a:srgbClr val="8A94A3"/>
            </a:solidFill>
            <a:prstDash val="solid"/>
          </a:ln>
        </p:spPr>
      </p:sp>
      <p:sp>
        <p:nvSpPr>
          <p:cNvPr id="25" name="Text 22"/>
          <p:cNvSpPr txBox="1"/>
          <p:nvPr/>
        </p:nvSpPr>
        <p:spPr>
          <a:xfrm>
            <a:off x="10058400" y="1600200"/>
            <a:ext cx="685800" cy="731520"/>
          </a:xfrm>
          <a:prstGeom prst="rect">
            <a:avLst/>
          </a:prstGeom>
          <a:noFill/>
          <a:ln/>
        </p:spPr>
        <p:txBody>
          <a:bodyPr wrap="square" lIns="0" tIns="0" rIns="0" bIns="0" rtlCol="0" anchor="ctr"/>
          <a:lstStyle/>
          <a:p>
            <a:pPr algn="ctr" indent="0" marL="0">
              <a:lnSpc>
                <a:spcPct val="100000"/>
              </a:lnSpc>
              <a:buNone/>
            </a:pPr>
            <a:r>
              <a:rPr lang="en-US" sz="1700" dirty="0">
                <a:solidFill>
                  <a:srgbClr val="16202E"/>
                </a:solidFill>
                <a:latin typeface="Calibri" pitchFamily="34" charset="0"/>
                <a:ea typeface="Calibri" pitchFamily="34" charset="-122"/>
                <a:cs typeface="Calibri" pitchFamily="34" charset="-120"/>
              </a:rPr>
              <a:t>ŷ</a:t>
            </a:r>
            <a:endParaRPr lang="en-US" sz="1700" dirty="0"/>
          </a:p>
        </p:txBody>
      </p:sp>
      <p:sp>
        <p:nvSpPr>
          <p:cNvPr id="26" name="Text 23"/>
          <p:cNvSpPr txBox="1"/>
          <p:nvPr/>
        </p:nvSpPr>
        <p:spPr>
          <a:xfrm>
            <a:off x="548640" y="2395728"/>
            <a:ext cx="5669280" cy="274320"/>
          </a:xfrm>
          <a:prstGeom prst="rect">
            <a:avLst/>
          </a:prstGeom>
          <a:noFill/>
          <a:ln/>
        </p:spPr>
        <p:txBody>
          <a:bodyPr wrap="square" lIns="0" tIns="0" rIns="0" bIns="0" rtlCol="0" anchor="t"/>
          <a:lstStyle/>
          <a:p>
            <a:pPr algn="ctr" indent="0" marL="0">
              <a:lnSpc>
                <a:spcPct val="100000"/>
              </a:lnSpc>
              <a:buNone/>
            </a:pPr>
            <a:r>
              <a:rPr lang="en-US" sz="1300" i="1" dirty="0">
                <a:solidFill>
                  <a:srgbClr val="5B6675"/>
                </a:solidFill>
                <a:latin typeface="Calibri" pitchFamily="34" charset="0"/>
                <a:ea typeface="Calibri" pitchFamily="34" charset="-122"/>
                <a:cs typeface="Calibri" pitchFamily="34" charset="-120"/>
              </a:rPr>
              <a:t>two linear layers, no activation</a:t>
            </a:r>
            <a:endParaRPr lang="en-US" sz="1300" dirty="0"/>
          </a:p>
        </p:txBody>
      </p:sp>
      <p:sp>
        <p:nvSpPr>
          <p:cNvPr id="27" name="Text 24"/>
          <p:cNvSpPr txBox="1"/>
          <p:nvPr/>
        </p:nvSpPr>
        <p:spPr>
          <a:xfrm>
            <a:off x="7498080" y="2395728"/>
            <a:ext cx="3931920" cy="274320"/>
          </a:xfrm>
          <a:prstGeom prst="rect">
            <a:avLst/>
          </a:prstGeom>
          <a:noFill/>
          <a:ln/>
        </p:spPr>
        <p:txBody>
          <a:bodyPr wrap="square" lIns="0" tIns="0" rIns="0" bIns="0" rtlCol="0" anchor="t"/>
          <a:lstStyle/>
          <a:p>
            <a:pPr algn="ctr" indent="0" marL="0">
              <a:lnSpc>
                <a:spcPct val="100000"/>
              </a:lnSpc>
              <a:buNone/>
            </a:pPr>
            <a:r>
              <a:rPr lang="en-US" sz="1300" i="1" dirty="0">
                <a:solidFill>
                  <a:srgbClr val="5B6675"/>
                </a:solidFill>
                <a:latin typeface="Calibri" pitchFamily="34" charset="0"/>
                <a:ea typeface="Calibri" pitchFamily="34" charset="-122"/>
                <a:cs typeface="Calibri" pitchFamily="34" charset="-120"/>
              </a:rPr>
              <a:t>one linear layer</a:t>
            </a:r>
            <a:endParaRPr lang="en-US" sz="1300" dirty="0"/>
          </a:p>
        </p:txBody>
      </p:sp>
      <p:sp>
        <p:nvSpPr>
          <p:cNvPr id="28" name="Shape 25"/>
          <p:cNvSpPr/>
          <p:nvPr/>
        </p:nvSpPr>
        <p:spPr>
          <a:xfrm>
            <a:off x="548640" y="2880360"/>
            <a:ext cx="11094415" cy="2057400"/>
          </a:xfrm>
          <a:prstGeom prst="roundRect">
            <a:avLst>
              <a:gd name="adj" fmla="val 3556"/>
            </a:avLst>
          </a:prstGeom>
          <a:solidFill>
            <a:srgbClr val="F3F5F8"/>
          </a:solidFill>
          <a:ln/>
        </p:spPr>
      </p:sp>
      <p:sp>
        <p:nvSpPr>
          <p:cNvPr id="29" name="Text 26"/>
          <p:cNvSpPr txBox="1"/>
          <p:nvPr/>
        </p:nvSpPr>
        <p:spPr>
          <a:xfrm>
            <a:off x="822960" y="3017520"/>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SUBSTITUTE LAYER 1 INTO LAYER 2</a:t>
            </a:r>
            <a:endParaRPr lang="en-US" sz="1100" dirty="0"/>
          </a:p>
        </p:txBody>
      </p:sp>
      <p:pic>
        <p:nvPicPr>
          <p:cNvPr id="30" name="Image 0" descr="equation collapse">    </p:cNvPr>
          <p:cNvPicPr>
            <a:picLocks noChangeAspect="1"/>
          </p:cNvPicPr>
          <p:nvPr/>
        </p:nvPicPr>
        <p:blipFill>
          <a:blip r:embed="rId1"/>
          <a:stretch>
            <a:fillRect/>
          </a:stretch>
        </p:blipFill>
        <p:spPr>
          <a:xfrm>
            <a:off x="914400" y="3383280"/>
            <a:ext cx="4841885" cy="1385453"/>
          </a:xfrm>
          <a:prstGeom prst="rect">
            <a:avLst/>
          </a:prstGeom>
        </p:spPr>
      </p:pic>
      <p:sp>
        <p:nvSpPr>
          <p:cNvPr id="31" name="Shape 27"/>
          <p:cNvSpPr/>
          <p:nvPr/>
        </p:nvSpPr>
        <p:spPr>
          <a:xfrm>
            <a:off x="548640" y="5166360"/>
            <a:ext cx="11094415" cy="960120"/>
          </a:xfrm>
          <a:prstGeom prst="roundRect">
            <a:avLst>
              <a:gd name="adj" fmla="val 7619"/>
            </a:avLst>
          </a:prstGeom>
          <a:solidFill>
            <a:srgbClr val="E3F2F1"/>
          </a:solidFill>
          <a:ln/>
        </p:spPr>
      </p:sp>
      <p:sp>
        <p:nvSpPr>
          <p:cNvPr id="32" name="Text 28"/>
          <p:cNvSpPr txBox="1"/>
          <p:nvPr/>
        </p:nvSpPr>
        <p:spPr>
          <a:xfrm>
            <a:off x="822960" y="5166360"/>
            <a:ext cx="10545775" cy="960120"/>
          </a:xfrm>
          <a:prstGeom prst="rect">
            <a:avLst/>
          </a:prstGeom>
          <a:noFill/>
          <a:ln/>
        </p:spPr>
        <p:txBody>
          <a:bodyPr wrap="square" lIns="0" tIns="0" rIns="0" bIns="0" rtlCol="0" anchor="ctr"/>
          <a:lstStyle/>
          <a:p>
            <a:pPr algn="l" indent="0" marL="0">
              <a:lnSpc>
                <a:spcPct val="100000"/>
              </a:lnSpc>
              <a:buNone/>
            </a:pPr>
            <a:r>
              <a:rPr lang="en-US" sz="1700" dirty="0">
                <a:solidFill>
                  <a:srgbClr val="16202E"/>
                </a:solidFill>
                <a:latin typeface="Calibri" pitchFamily="34" charset="0"/>
                <a:ea typeface="Calibri" pitchFamily="34" charset="-122"/>
                <a:cs typeface="Calibri" pitchFamily="34" charset="-120"/>
              </a:rPr>
              <a:t>Any stack of linear layers is </a:t>
            </a:r>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one</a:t>
            </a:r>
            <a:pPr algn="l" indent="0" marL="0">
              <a:lnSpc>
                <a:spcPct val="100000"/>
              </a:lnSpc>
              <a:buNone/>
            </a:pPr>
            <a:r>
              <a:rPr lang="en-US" sz="1700" dirty="0">
                <a:solidFill>
                  <a:srgbClr val="16202E"/>
                </a:solidFill>
                <a:latin typeface="Calibri" pitchFamily="34" charset="0"/>
                <a:ea typeface="Calibri" pitchFamily="34" charset="-122"/>
                <a:cs typeface="Calibri" pitchFamily="34" charset="-120"/>
              </a:rPr>
              <a:t> linear layer. The nonlinearity g </a:t>
            </a:r>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between</a:t>
            </a:r>
            <a:pPr algn="l" indent="0" marL="0">
              <a:lnSpc>
                <a:spcPct val="100000"/>
              </a:lnSpc>
              <a:buNone/>
            </a:pPr>
            <a:r>
              <a:rPr lang="en-US" sz="1700" dirty="0">
                <a:solidFill>
                  <a:srgbClr val="16202E"/>
                </a:solidFill>
                <a:latin typeface="Calibri" pitchFamily="34" charset="0"/>
                <a:ea typeface="Calibri" pitchFamily="34" charset="-122"/>
                <a:cs typeface="Calibri" pitchFamily="34" charset="-120"/>
              </a:rPr>
              <a:t> layers is what lets depth add expressive power.</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1</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three common choices of g</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A 5-layer network uses g(z) = z (identity) in every hidden layer and a sigmoid on its single output. Which decision boundaries ŷ = 0.5 can it draw?</a:t>
            </a:r>
            <a:endParaRPr lang="en-US" sz="2100" dirty="0"/>
          </a:p>
        </p:txBody>
      </p:sp>
      <p:sp>
        <p:nvSpPr>
          <p:cNvPr id="7" name="Shape 4"/>
          <p:cNvSpPr/>
          <p:nvPr/>
        </p:nvSpPr>
        <p:spPr>
          <a:xfrm>
            <a:off x="548640" y="2606040"/>
            <a:ext cx="5455768" cy="1024128"/>
          </a:xfrm>
          <a:prstGeom prst="roundRect">
            <a:avLst>
              <a:gd name="adj" fmla="val 7143"/>
            </a:avLst>
          </a:prstGeom>
          <a:solidFill>
            <a:srgbClr val="F3F5F8"/>
          </a:solidFill>
          <a:ln/>
        </p:spPr>
      </p:sp>
      <p:sp>
        <p:nvSpPr>
          <p:cNvPr id="8" name="Shape 5"/>
          <p:cNvSpPr/>
          <p:nvPr/>
        </p:nvSpPr>
        <p:spPr>
          <a:xfrm>
            <a:off x="822960" y="2907792"/>
            <a:ext cx="420624" cy="420624"/>
          </a:xfrm>
          <a:prstGeom prst="ellipse">
            <a:avLst/>
          </a:prstGeom>
          <a:solidFill>
            <a:srgbClr val="16202E"/>
          </a:solidFill>
          <a:ln/>
        </p:spPr>
      </p:sp>
      <p:sp>
        <p:nvSpPr>
          <p:cNvPr id="9" name="Text 6"/>
          <p:cNvSpPr txBox="1"/>
          <p:nvPr/>
        </p:nvSpPr>
        <p:spPr>
          <a:xfrm>
            <a:off x="822960"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7"/>
          <p:cNvSpPr txBox="1"/>
          <p:nvPr/>
        </p:nvSpPr>
        <p:spPr>
          <a:xfrm>
            <a:off x="1463040"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Any smooth curve</a:t>
            </a:r>
            <a:endParaRPr lang="en-US" sz="1900" dirty="0"/>
          </a:p>
        </p:txBody>
      </p:sp>
      <p:sp>
        <p:nvSpPr>
          <p:cNvPr id="11" name="Shape 8"/>
          <p:cNvSpPr/>
          <p:nvPr/>
        </p:nvSpPr>
        <p:spPr>
          <a:xfrm>
            <a:off x="6187288" y="2606040"/>
            <a:ext cx="5455768" cy="1024128"/>
          </a:xfrm>
          <a:prstGeom prst="roundRect">
            <a:avLst>
              <a:gd name="adj" fmla="val 7143"/>
            </a:avLst>
          </a:prstGeom>
          <a:solidFill>
            <a:srgbClr val="F3F5F8"/>
          </a:solidFill>
          <a:ln/>
        </p:spPr>
      </p:sp>
      <p:sp>
        <p:nvSpPr>
          <p:cNvPr id="12" name="Shape 9"/>
          <p:cNvSpPr/>
          <p:nvPr/>
        </p:nvSpPr>
        <p:spPr>
          <a:xfrm>
            <a:off x="6461608" y="2907792"/>
            <a:ext cx="420624" cy="420624"/>
          </a:xfrm>
          <a:prstGeom prst="ellipse">
            <a:avLst/>
          </a:prstGeom>
          <a:solidFill>
            <a:srgbClr val="16202E"/>
          </a:solidFill>
          <a:ln/>
        </p:spPr>
      </p:sp>
      <p:sp>
        <p:nvSpPr>
          <p:cNvPr id="13" name="Text 10"/>
          <p:cNvSpPr txBox="1"/>
          <p:nvPr/>
        </p:nvSpPr>
        <p:spPr>
          <a:xfrm>
            <a:off x="6461608"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7101688"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Piecewise-linear curves</a:t>
            </a:r>
            <a:endParaRPr lang="en-US" sz="1900" dirty="0"/>
          </a:p>
        </p:txBody>
      </p:sp>
      <p:sp>
        <p:nvSpPr>
          <p:cNvPr id="15" name="Shape 12"/>
          <p:cNvSpPr/>
          <p:nvPr/>
        </p:nvSpPr>
        <p:spPr>
          <a:xfrm>
            <a:off x="548640" y="3813048"/>
            <a:ext cx="5455768" cy="1024128"/>
          </a:xfrm>
          <a:prstGeom prst="roundRect">
            <a:avLst>
              <a:gd name="adj" fmla="val 7143"/>
            </a:avLst>
          </a:prstGeom>
          <a:solidFill>
            <a:srgbClr val="F3F5F8"/>
          </a:solidFill>
          <a:ln/>
        </p:spPr>
      </p:sp>
      <p:sp>
        <p:nvSpPr>
          <p:cNvPr id="16" name="Shape 13"/>
          <p:cNvSpPr/>
          <p:nvPr/>
        </p:nvSpPr>
        <p:spPr>
          <a:xfrm>
            <a:off x="822960" y="4114800"/>
            <a:ext cx="420624" cy="420624"/>
          </a:xfrm>
          <a:prstGeom prst="ellipse">
            <a:avLst/>
          </a:prstGeom>
          <a:solidFill>
            <a:srgbClr val="16202E"/>
          </a:solidFill>
          <a:ln/>
        </p:spPr>
      </p:sp>
      <p:sp>
        <p:nvSpPr>
          <p:cNvPr id="17" name="Text 14"/>
          <p:cNvSpPr txBox="1"/>
          <p:nvPr/>
        </p:nvSpPr>
        <p:spPr>
          <a:xfrm>
            <a:off x="822960"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5"/>
          <p:cNvSpPr txBox="1"/>
          <p:nvPr/>
        </p:nvSpPr>
        <p:spPr>
          <a:xfrm>
            <a:off x="1463040"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Only a straight line (a hyperplane)</a:t>
            </a:r>
            <a:endParaRPr lang="en-US" sz="1900" dirty="0"/>
          </a:p>
        </p:txBody>
      </p:sp>
      <p:sp>
        <p:nvSpPr>
          <p:cNvPr id="19" name="Shape 16"/>
          <p:cNvSpPr/>
          <p:nvPr/>
        </p:nvSpPr>
        <p:spPr>
          <a:xfrm>
            <a:off x="6187288" y="3813048"/>
            <a:ext cx="5455768" cy="1024128"/>
          </a:xfrm>
          <a:prstGeom prst="roundRect">
            <a:avLst>
              <a:gd name="adj" fmla="val 7143"/>
            </a:avLst>
          </a:prstGeom>
          <a:solidFill>
            <a:srgbClr val="F3F5F8"/>
          </a:solidFill>
          <a:ln/>
        </p:spPr>
      </p:sp>
      <p:sp>
        <p:nvSpPr>
          <p:cNvPr id="20" name="Shape 17"/>
          <p:cNvSpPr/>
          <p:nvPr/>
        </p:nvSpPr>
        <p:spPr>
          <a:xfrm>
            <a:off x="6461608" y="4114800"/>
            <a:ext cx="420624" cy="420624"/>
          </a:xfrm>
          <a:prstGeom prst="ellipse">
            <a:avLst/>
          </a:prstGeom>
          <a:solidFill>
            <a:srgbClr val="16202E"/>
          </a:solidFill>
          <a:ln/>
        </p:spPr>
      </p:sp>
      <p:sp>
        <p:nvSpPr>
          <p:cNvPr id="21" name="Text 18"/>
          <p:cNvSpPr txBox="1"/>
          <p:nvPr/>
        </p:nvSpPr>
        <p:spPr>
          <a:xfrm>
            <a:off x="6461608"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19"/>
          <p:cNvSpPr txBox="1"/>
          <p:nvPr/>
        </p:nvSpPr>
        <p:spPr>
          <a:xfrm>
            <a:off x="7101688"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It depends on the layer widths</a:t>
            </a:r>
            <a:endParaRPr lang="en-US" sz="1900" dirty="0"/>
          </a:p>
        </p:txBody>
      </p:sp>
      <p:sp>
        <p:nvSpPr>
          <p:cNvPr id="23" name="Text 20"/>
          <p:cNvSpPr txBox="1"/>
          <p:nvPr/>
        </p:nvSpPr>
        <p:spPr>
          <a:xfrm>
            <a:off x="548640" y="509320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ACTIVATIONS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Three common choices of g; ReLU is the default for hidden layers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two ReLUs solve XOR</a:t>
            </a:r>
            <a:endParaRPr lang="en-US" sz="1100" dirty="0"/>
          </a:p>
        </p:txBody>
      </p:sp>
      <p:pic>
        <p:nvPicPr>
          <p:cNvPr id="6" name="Image 0" descr="Sigmoid, tanh and ReLU activation functions">    </p:cNvPr>
          <p:cNvPicPr>
            <a:picLocks noChangeAspect="1"/>
          </p:cNvPicPr>
          <p:nvPr/>
        </p:nvPicPr>
        <p:blipFill>
          <a:blip r:embed="rId1"/>
          <a:stretch>
            <a:fillRect/>
          </a:stretch>
        </p:blipFill>
        <p:spPr>
          <a:xfrm>
            <a:off x="569246" y="1371600"/>
            <a:ext cx="5810948" cy="4023360"/>
          </a:xfrm>
          <a:prstGeom prst="rect">
            <a:avLst/>
          </a:prstGeom>
        </p:spPr>
      </p:pic>
      <p:sp>
        <p:nvSpPr>
          <p:cNvPr id="7" name="Shape 3"/>
          <p:cNvSpPr/>
          <p:nvPr/>
        </p:nvSpPr>
        <p:spPr>
          <a:xfrm>
            <a:off x="6675120" y="1371600"/>
            <a:ext cx="4965192" cy="1207008"/>
          </a:xfrm>
          <a:prstGeom prst="roundRect">
            <a:avLst>
              <a:gd name="adj" fmla="val 6061"/>
            </a:avLst>
          </a:prstGeom>
          <a:solidFill>
            <a:srgbClr val="F3F5F8"/>
          </a:solidFill>
          <a:ln/>
        </p:spPr>
      </p:sp>
      <p:sp>
        <p:nvSpPr>
          <p:cNvPr id="8" name="Text 4"/>
          <p:cNvSpPr txBox="1"/>
          <p:nvPr/>
        </p:nvSpPr>
        <p:spPr>
          <a:xfrm>
            <a:off x="6903720" y="1481328"/>
            <a:ext cx="4572000" cy="329184"/>
          </a:xfrm>
          <a:prstGeom prst="rect">
            <a:avLst/>
          </a:prstGeom>
          <a:noFill/>
          <a:ln/>
        </p:spPr>
        <p:txBody>
          <a:bodyPr wrap="square" lIns="0" tIns="0" rIns="0" bIns="0" rtlCol="0" anchor="t"/>
          <a:lstStyle/>
          <a:p>
            <a:pPr algn="l" indent="0" marL="0">
              <a:lnSpc>
                <a:spcPct val="100000"/>
              </a:lnSpc>
              <a:buNone/>
            </a:pPr>
            <a:r>
              <a:rPr lang="en-US" sz="1700" b="1" dirty="0">
                <a:solidFill>
                  <a:srgbClr val="8A94A3"/>
                </a:solidFill>
                <a:latin typeface="Calibri" pitchFamily="34" charset="0"/>
                <a:ea typeface="Calibri" pitchFamily="34" charset="-122"/>
                <a:cs typeface="Calibri" pitchFamily="34" charset="-120"/>
              </a:rPr>
              <a:t>sigmoid  σ(z)</a:t>
            </a:r>
            <a:endParaRPr lang="en-US" sz="1700" dirty="0"/>
          </a:p>
        </p:txBody>
      </p:sp>
      <p:sp>
        <p:nvSpPr>
          <p:cNvPr id="9" name="Text 5"/>
          <p:cNvSpPr txBox="1"/>
          <p:nvPr/>
        </p:nvSpPr>
        <p:spPr>
          <a:xfrm>
            <a:off x="6903720" y="1828800"/>
            <a:ext cx="4572000" cy="73152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Output in (0, 1). Use it at a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binary output</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to give a probability. Flat tails: slope near 0 for large |z|.</a:t>
            </a:r>
            <a:endParaRPr lang="en-US" sz="1500" dirty="0"/>
          </a:p>
        </p:txBody>
      </p:sp>
      <p:sp>
        <p:nvSpPr>
          <p:cNvPr id="10" name="Shape 6"/>
          <p:cNvSpPr/>
          <p:nvPr/>
        </p:nvSpPr>
        <p:spPr>
          <a:xfrm>
            <a:off x="6675120" y="2743200"/>
            <a:ext cx="4965192" cy="1207008"/>
          </a:xfrm>
          <a:prstGeom prst="roundRect">
            <a:avLst>
              <a:gd name="adj" fmla="val 6061"/>
            </a:avLst>
          </a:prstGeom>
          <a:solidFill>
            <a:srgbClr val="EDEBFB"/>
          </a:solidFill>
          <a:ln/>
        </p:spPr>
      </p:sp>
      <p:sp>
        <p:nvSpPr>
          <p:cNvPr id="11" name="Text 7"/>
          <p:cNvSpPr txBox="1"/>
          <p:nvPr/>
        </p:nvSpPr>
        <p:spPr>
          <a:xfrm>
            <a:off x="6903720" y="2852928"/>
            <a:ext cx="4572000" cy="329184"/>
          </a:xfrm>
          <a:prstGeom prst="rect">
            <a:avLst/>
          </a:prstGeom>
          <a:noFill/>
          <a:ln/>
        </p:spPr>
        <p:txBody>
          <a:bodyPr wrap="square" lIns="0" tIns="0" rIns="0" bIns="0" rtlCol="0" anchor="t"/>
          <a:lstStyle/>
          <a:p>
            <a:pPr algn="l" indent="0" marL="0">
              <a:lnSpc>
                <a:spcPct val="100000"/>
              </a:lnSpc>
              <a:buNone/>
            </a:pPr>
            <a:r>
              <a:rPr lang="en-US" sz="1700" b="1" dirty="0">
                <a:solidFill>
                  <a:srgbClr val="5B4FCF"/>
                </a:solidFill>
                <a:latin typeface="Calibri" pitchFamily="34" charset="0"/>
                <a:ea typeface="Calibri" pitchFamily="34" charset="-122"/>
                <a:cs typeface="Calibri" pitchFamily="34" charset="-120"/>
              </a:rPr>
              <a:t>tanh(z)</a:t>
            </a:r>
            <a:endParaRPr lang="en-US" sz="1700" dirty="0"/>
          </a:p>
        </p:txBody>
      </p:sp>
      <p:sp>
        <p:nvSpPr>
          <p:cNvPr id="12" name="Text 8"/>
          <p:cNvSpPr txBox="1"/>
          <p:nvPr/>
        </p:nvSpPr>
        <p:spPr>
          <a:xfrm>
            <a:off x="6903720" y="3200400"/>
            <a:ext cx="4572000" cy="73152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Output in (−1, 1), zero-centred. Same flat tails as the sigmoid.</a:t>
            </a:r>
            <a:endParaRPr lang="en-US" sz="1500" dirty="0"/>
          </a:p>
        </p:txBody>
      </p:sp>
      <p:sp>
        <p:nvSpPr>
          <p:cNvPr id="13" name="Shape 9"/>
          <p:cNvSpPr/>
          <p:nvPr/>
        </p:nvSpPr>
        <p:spPr>
          <a:xfrm>
            <a:off x="6675120" y="4114800"/>
            <a:ext cx="4965192" cy="1207008"/>
          </a:xfrm>
          <a:prstGeom prst="roundRect">
            <a:avLst>
              <a:gd name="adj" fmla="val 6061"/>
            </a:avLst>
          </a:prstGeom>
          <a:solidFill>
            <a:srgbClr val="E3F2F1"/>
          </a:solidFill>
          <a:ln/>
        </p:spPr>
      </p:sp>
      <p:sp>
        <p:nvSpPr>
          <p:cNvPr id="14" name="Text 10"/>
          <p:cNvSpPr txBox="1"/>
          <p:nvPr/>
        </p:nvSpPr>
        <p:spPr>
          <a:xfrm>
            <a:off x="6903720" y="4224528"/>
            <a:ext cx="4572000" cy="329184"/>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ReLU  max(0, z)</a:t>
            </a:r>
            <a:endParaRPr lang="en-US" sz="1700" dirty="0"/>
          </a:p>
        </p:txBody>
      </p:sp>
      <p:sp>
        <p:nvSpPr>
          <p:cNvPr id="15" name="Text 11"/>
          <p:cNvSpPr txBox="1"/>
          <p:nvPr/>
        </p:nvSpPr>
        <p:spPr>
          <a:xfrm>
            <a:off x="6903720" y="4572000"/>
            <a:ext cx="4572000" cy="73152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Slope 1 when active, 0 when not. Cheap, does not saturate for z &gt; 0.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Default for hidden layers.</a:t>
            </a:r>
            <a:endParaRPr lang="en-US" sz="1500" dirty="0"/>
          </a:p>
        </p:txBody>
      </p:sp>
      <p:sp>
        <p:nvSpPr>
          <p:cNvPr id="16" name="Shape 12"/>
          <p:cNvSpPr/>
          <p:nvPr/>
        </p:nvSpPr>
        <p:spPr>
          <a:xfrm>
            <a:off x="548640" y="5577840"/>
            <a:ext cx="11094415" cy="594360"/>
          </a:xfrm>
          <a:prstGeom prst="roundRect">
            <a:avLst>
              <a:gd name="adj" fmla="val 12308"/>
            </a:avLst>
          </a:prstGeom>
          <a:solidFill>
            <a:srgbClr val="FCEDE3"/>
          </a:solidFill>
          <a:ln/>
        </p:spPr>
      </p:sp>
      <p:sp>
        <p:nvSpPr>
          <p:cNvPr id="17" name="Text 13"/>
          <p:cNvSpPr txBox="1"/>
          <p:nvPr/>
        </p:nvSpPr>
        <p:spPr>
          <a:xfrm>
            <a:off x="822960" y="5577840"/>
            <a:ext cx="10545775" cy="594360"/>
          </a:xfrm>
          <a:prstGeom prst="rect">
            <a:avLst/>
          </a:prstGeom>
          <a:noFill/>
          <a:ln/>
        </p:spPr>
        <p:txBody>
          <a:bodyPr wrap="square" lIns="0" tIns="0" rIns="0" bIns="0" rtlCol="0" anchor="ctr"/>
          <a:lstStyle/>
          <a:p>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Why flat tails matter for </a:t>
            </a:r>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learning</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you will measure it during backprop in Part 3.</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ACTIVATIONS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Two ReLU units solve XOR: move the points, then draw one line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what many ReLUs do together</a:t>
            </a:r>
            <a:endParaRPr lang="en-US" sz="1100" dirty="0"/>
          </a:p>
        </p:txBody>
      </p:sp>
      <p:sp>
        <p:nvSpPr>
          <p:cNvPr id="6" name="Shape 3"/>
          <p:cNvSpPr/>
          <p:nvPr/>
        </p:nvSpPr>
        <p:spPr>
          <a:xfrm>
            <a:off x="914400" y="1828800"/>
            <a:ext cx="1920240" cy="914"/>
          </a:xfrm>
          <a:prstGeom prst="line">
            <a:avLst/>
          </a:prstGeom>
          <a:noFill/>
          <a:ln w="19050">
            <a:solidFill>
              <a:srgbClr val="8A94A3"/>
            </a:solidFill>
            <a:prstDash val="solid"/>
          </a:ln>
        </p:spPr>
      </p:sp>
      <p:sp>
        <p:nvSpPr>
          <p:cNvPr id="7" name="Shape 4"/>
          <p:cNvSpPr/>
          <p:nvPr/>
        </p:nvSpPr>
        <p:spPr>
          <a:xfrm>
            <a:off x="914400" y="1828800"/>
            <a:ext cx="1920240" cy="1828800"/>
          </a:xfrm>
          <a:prstGeom prst="line">
            <a:avLst/>
          </a:prstGeom>
          <a:noFill/>
          <a:ln w="19050">
            <a:solidFill>
              <a:srgbClr val="8A94A3"/>
            </a:solidFill>
            <a:prstDash val="solid"/>
          </a:ln>
        </p:spPr>
      </p:sp>
      <p:sp>
        <p:nvSpPr>
          <p:cNvPr id="8" name="Shape 5"/>
          <p:cNvSpPr/>
          <p:nvPr/>
        </p:nvSpPr>
        <p:spPr>
          <a:xfrm flipV="1">
            <a:off x="914400" y="1828800"/>
            <a:ext cx="1920240" cy="1828800"/>
          </a:xfrm>
          <a:prstGeom prst="line">
            <a:avLst/>
          </a:prstGeom>
          <a:noFill/>
          <a:ln w="19050">
            <a:solidFill>
              <a:srgbClr val="8A94A3"/>
            </a:solidFill>
            <a:prstDash val="solid"/>
          </a:ln>
        </p:spPr>
      </p:sp>
      <p:sp>
        <p:nvSpPr>
          <p:cNvPr id="9" name="Shape 6"/>
          <p:cNvSpPr/>
          <p:nvPr/>
        </p:nvSpPr>
        <p:spPr>
          <a:xfrm>
            <a:off x="914400" y="3657600"/>
            <a:ext cx="1920240" cy="914"/>
          </a:xfrm>
          <a:prstGeom prst="line">
            <a:avLst/>
          </a:prstGeom>
          <a:noFill/>
          <a:ln w="19050">
            <a:solidFill>
              <a:srgbClr val="8A94A3"/>
            </a:solidFill>
            <a:prstDash val="solid"/>
          </a:ln>
        </p:spPr>
      </p:sp>
      <p:sp>
        <p:nvSpPr>
          <p:cNvPr id="10" name="Shape 7"/>
          <p:cNvSpPr/>
          <p:nvPr/>
        </p:nvSpPr>
        <p:spPr>
          <a:xfrm>
            <a:off x="2834640" y="1828800"/>
            <a:ext cx="1828800" cy="914400"/>
          </a:xfrm>
          <a:prstGeom prst="line">
            <a:avLst/>
          </a:prstGeom>
          <a:noFill/>
          <a:ln w="31750">
            <a:solidFill>
              <a:srgbClr val="0E7C7B"/>
            </a:solidFill>
            <a:prstDash val="solid"/>
          </a:ln>
        </p:spPr>
      </p:sp>
      <p:sp>
        <p:nvSpPr>
          <p:cNvPr id="11" name="Shape 8"/>
          <p:cNvSpPr/>
          <p:nvPr/>
        </p:nvSpPr>
        <p:spPr>
          <a:xfrm flipV="1">
            <a:off x="2834640" y="2743200"/>
            <a:ext cx="1828800" cy="914400"/>
          </a:xfrm>
          <a:prstGeom prst="line">
            <a:avLst/>
          </a:prstGeom>
          <a:noFill/>
          <a:ln w="31750">
            <a:solidFill>
              <a:srgbClr val="16202E"/>
            </a:solidFill>
            <a:prstDash val="solid"/>
          </a:ln>
        </p:spPr>
      </p:sp>
      <p:sp>
        <p:nvSpPr>
          <p:cNvPr id="12" name="Shape 9"/>
          <p:cNvSpPr/>
          <p:nvPr/>
        </p:nvSpPr>
        <p:spPr>
          <a:xfrm>
            <a:off x="594360" y="1508760"/>
            <a:ext cx="640080" cy="640080"/>
          </a:xfrm>
          <a:prstGeom prst="ellipse">
            <a:avLst/>
          </a:prstGeom>
          <a:solidFill>
            <a:srgbClr val="FFFFFF"/>
          </a:solidFill>
          <a:ln w="19050">
            <a:solidFill>
              <a:srgbClr val="8A94A3"/>
            </a:solidFill>
            <a:prstDash val="solid"/>
          </a:ln>
        </p:spPr>
      </p:sp>
      <p:sp>
        <p:nvSpPr>
          <p:cNvPr id="13" name="Text 10"/>
          <p:cNvSpPr txBox="1"/>
          <p:nvPr/>
        </p:nvSpPr>
        <p:spPr>
          <a:xfrm>
            <a:off x="640080" y="16459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800" i="1" baseline="-40000" dirty="0">
                <a:solidFill>
                  <a:srgbClr val="16202E"/>
                </a:solidFill>
                <a:latin typeface="Calibri" pitchFamily="34" charset="0"/>
                <a:ea typeface="Calibri" pitchFamily="34" charset="-122"/>
                <a:cs typeface="Calibri" pitchFamily="34" charset="-120"/>
              </a:rPr>
              <a:t>1</a:t>
            </a:r>
            <a:endParaRPr lang="en-US" sz="1800" dirty="0"/>
          </a:p>
        </p:txBody>
      </p:sp>
      <p:sp>
        <p:nvSpPr>
          <p:cNvPr id="14" name="Shape 11"/>
          <p:cNvSpPr/>
          <p:nvPr/>
        </p:nvSpPr>
        <p:spPr>
          <a:xfrm>
            <a:off x="594360" y="3337560"/>
            <a:ext cx="640080" cy="640080"/>
          </a:xfrm>
          <a:prstGeom prst="ellipse">
            <a:avLst/>
          </a:prstGeom>
          <a:solidFill>
            <a:srgbClr val="FFFFFF"/>
          </a:solidFill>
          <a:ln w="19050">
            <a:solidFill>
              <a:srgbClr val="8A94A3"/>
            </a:solidFill>
            <a:prstDash val="solid"/>
          </a:ln>
        </p:spPr>
      </p:sp>
      <p:sp>
        <p:nvSpPr>
          <p:cNvPr id="15" name="Text 12"/>
          <p:cNvSpPr txBox="1"/>
          <p:nvPr/>
        </p:nvSpPr>
        <p:spPr>
          <a:xfrm>
            <a:off x="640080" y="34747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16202E"/>
                </a:solidFill>
                <a:latin typeface="Calibri" pitchFamily="34" charset="0"/>
                <a:ea typeface="Calibri" pitchFamily="34" charset="-122"/>
                <a:cs typeface="Calibri" pitchFamily="34" charset="-120"/>
              </a:rPr>
              <a:t>x</a:t>
            </a:r>
            <a:pPr algn="ctr" indent="0" marL="0">
              <a:lnSpc>
                <a:spcPct val="100000"/>
              </a:lnSpc>
              <a:buNone/>
            </a:pPr>
            <a:r>
              <a:rPr lang="en-US" sz="1800" i="1" baseline="-40000" dirty="0">
                <a:solidFill>
                  <a:srgbClr val="16202E"/>
                </a:solidFill>
                <a:latin typeface="Calibri" pitchFamily="34" charset="0"/>
                <a:ea typeface="Calibri" pitchFamily="34" charset="-122"/>
                <a:cs typeface="Calibri" pitchFamily="34" charset="-120"/>
              </a:rPr>
              <a:t>2</a:t>
            </a:r>
            <a:endParaRPr lang="en-US" sz="1800" dirty="0"/>
          </a:p>
        </p:txBody>
      </p:sp>
      <p:sp>
        <p:nvSpPr>
          <p:cNvPr id="16" name="Shape 13"/>
          <p:cNvSpPr/>
          <p:nvPr/>
        </p:nvSpPr>
        <p:spPr>
          <a:xfrm>
            <a:off x="2514600" y="1508760"/>
            <a:ext cx="640080" cy="640080"/>
          </a:xfrm>
          <a:prstGeom prst="ellipse">
            <a:avLst/>
          </a:prstGeom>
          <a:solidFill>
            <a:srgbClr val="0E7C7B"/>
          </a:solidFill>
          <a:ln/>
        </p:spPr>
      </p:sp>
      <p:sp>
        <p:nvSpPr>
          <p:cNvPr id="17" name="Text 14"/>
          <p:cNvSpPr txBox="1"/>
          <p:nvPr/>
        </p:nvSpPr>
        <p:spPr>
          <a:xfrm>
            <a:off x="2560320" y="16459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FFFFFF"/>
                </a:solidFill>
                <a:latin typeface="Calibri" pitchFamily="34" charset="0"/>
                <a:ea typeface="Calibri" pitchFamily="34" charset="-122"/>
                <a:cs typeface="Calibri" pitchFamily="34" charset="-120"/>
              </a:rPr>
              <a:t>h</a:t>
            </a:r>
            <a:pPr algn="ctr" indent="0" marL="0">
              <a:lnSpc>
                <a:spcPct val="100000"/>
              </a:lnSpc>
              <a:buNone/>
            </a:pPr>
            <a:r>
              <a:rPr lang="en-US" sz="1800" i="1" baseline="-40000" dirty="0">
                <a:solidFill>
                  <a:srgbClr val="FFFFFF"/>
                </a:solidFill>
                <a:latin typeface="Calibri" pitchFamily="34" charset="0"/>
                <a:ea typeface="Calibri" pitchFamily="34" charset="-122"/>
                <a:cs typeface="Calibri" pitchFamily="34" charset="-120"/>
              </a:rPr>
              <a:t>1</a:t>
            </a:r>
            <a:endParaRPr lang="en-US" sz="1800" dirty="0"/>
          </a:p>
        </p:txBody>
      </p:sp>
      <p:sp>
        <p:nvSpPr>
          <p:cNvPr id="18" name="Shape 15"/>
          <p:cNvSpPr/>
          <p:nvPr/>
        </p:nvSpPr>
        <p:spPr>
          <a:xfrm>
            <a:off x="2514600" y="3337560"/>
            <a:ext cx="640080" cy="640080"/>
          </a:xfrm>
          <a:prstGeom prst="ellipse">
            <a:avLst/>
          </a:prstGeom>
          <a:solidFill>
            <a:srgbClr val="0E7C7B"/>
          </a:solidFill>
          <a:ln/>
        </p:spPr>
      </p:sp>
      <p:sp>
        <p:nvSpPr>
          <p:cNvPr id="19" name="Text 16"/>
          <p:cNvSpPr txBox="1"/>
          <p:nvPr/>
        </p:nvSpPr>
        <p:spPr>
          <a:xfrm>
            <a:off x="2560320" y="34747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FFFFFF"/>
                </a:solidFill>
                <a:latin typeface="Calibri" pitchFamily="34" charset="0"/>
                <a:ea typeface="Calibri" pitchFamily="34" charset="-122"/>
                <a:cs typeface="Calibri" pitchFamily="34" charset="-120"/>
              </a:rPr>
              <a:t>h</a:t>
            </a:r>
            <a:pPr algn="ctr" indent="0" marL="0">
              <a:lnSpc>
                <a:spcPct val="100000"/>
              </a:lnSpc>
              <a:buNone/>
            </a:pPr>
            <a:r>
              <a:rPr lang="en-US" sz="1800" i="1" baseline="-40000" dirty="0">
                <a:solidFill>
                  <a:srgbClr val="FFFFFF"/>
                </a:solidFill>
                <a:latin typeface="Calibri" pitchFamily="34" charset="0"/>
                <a:ea typeface="Calibri" pitchFamily="34" charset="-122"/>
                <a:cs typeface="Calibri" pitchFamily="34" charset="-120"/>
              </a:rPr>
              <a:t>2</a:t>
            </a:r>
            <a:endParaRPr lang="en-US" sz="1800" dirty="0"/>
          </a:p>
        </p:txBody>
      </p:sp>
      <p:sp>
        <p:nvSpPr>
          <p:cNvPr id="20" name="Shape 17"/>
          <p:cNvSpPr/>
          <p:nvPr/>
        </p:nvSpPr>
        <p:spPr>
          <a:xfrm>
            <a:off x="4343400" y="2423160"/>
            <a:ext cx="640080" cy="640080"/>
          </a:xfrm>
          <a:prstGeom prst="ellipse">
            <a:avLst/>
          </a:prstGeom>
          <a:solidFill>
            <a:srgbClr val="16202E"/>
          </a:solidFill>
          <a:ln/>
        </p:spPr>
      </p:sp>
      <p:sp>
        <p:nvSpPr>
          <p:cNvPr id="21" name="Text 18"/>
          <p:cNvSpPr txBox="1"/>
          <p:nvPr/>
        </p:nvSpPr>
        <p:spPr>
          <a:xfrm>
            <a:off x="4389120" y="2560320"/>
            <a:ext cx="548640" cy="365760"/>
          </a:xfrm>
          <a:prstGeom prst="rect">
            <a:avLst/>
          </a:prstGeom>
          <a:noFill/>
          <a:ln/>
        </p:spPr>
        <p:txBody>
          <a:bodyPr wrap="square" lIns="0" tIns="0" rIns="0" bIns="0" rtlCol="0" anchor="t"/>
          <a:lstStyle/>
          <a:p>
            <a:pPr algn="ctr" indent="0" marL="0">
              <a:lnSpc>
                <a:spcPct val="100000"/>
              </a:lnSpc>
              <a:buNone/>
            </a:pPr>
            <a:r>
              <a:rPr lang="en-US" sz="1800" i="1" dirty="0">
                <a:solidFill>
                  <a:srgbClr val="FFFFFF"/>
                </a:solidFill>
                <a:latin typeface="Calibri" pitchFamily="34" charset="0"/>
                <a:ea typeface="Calibri" pitchFamily="34" charset="-122"/>
                <a:cs typeface="Calibri" pitchFamily="34" charset="-120"/>
              </a:rPr>
              <a:t>s</a:t>
            </a:r>
            <a:endParaRPr lang="en-US" sz="1800" dirty="0"/>
          </a:p>
        </p:txBody>
      </p:sp>
      <p:sp>
        <p:nvSpPr>
          <p:cNvPr id="22" name="Text 19"/>
          <p:cNvSpPr txBox="1"/>
          <p:nvPr/>
        </p:nvSpPr>
        <p:spPr>
          <a:xfrm>
            <a:off x="2514600" y="1261872"/>
            <a:ext cx="731520" cy="256032"/>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bias 0</a:t>
            </a:r>
            <a:endParaRPr lang="en-US" sz="1300" dirty="0"/>
          </a:p>
        </p:txBody>
      </p:sp>
      <p:sp>
        <p:nvSpPr>
          <p:cNvPr id="23" name="Text 20"/>
          <p:cNvSpPr txBox="1"/>
          <p:nvPr/>
        </p:nvSpPr>
        <p:spPr>
          <a:xfrm>
            <a:off x="2423160" y="4041648"/>
            <a:ext cx="914400" cy="256032"/>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bias −1</a:t>
            </a:r>
            <a:endParaRPr lang="en-US" sz="1300" dirty="0"/>
          </a:p>
        </p:txBody>
      </p:sp>
      <p:sp>
        <p:nvSpPr>
          <p:cNvPr id="24" name="Text 21"/>
          <p:cNvSpPr txBox="1"/>
          <p:nvPr/>
        </p:nvSpPr>
        <p:spPr>
          <a:xfrm>
            <a:off x="3794760" y="1965960"/>
            <a:ext cx="457200" cy="274320"/>
          </a:xfrm>
          <a:prstGeom prst="rect">
            <a:avLst/>
          </a:prstGeom>
          <a:noFill/>
          <a:ln/>
        </p:spPr>
        <p:txBody>
          <a:bodyPr wrap="square" lIns="0" tIns="0" rIns="0" bIns="0" rtlCol="0" anchor="t"/>
          <a:lstStyle/>
          <a:p>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+1</a:t>
            </a:r>
            <a:endParaRPr lang="en-US" sz="1600" dirty="0"/>
          </a:p>
        </p:txBody>
      </p:sp>
      <p:sp>
        <p:nvSpPr>
          <p:cNvPr id="25" name="Text 22"/>
          <p:cNvSpPr txBox="1"/>
          <p:nvPr/>
        </p:nvSpPr>
        <p:spPr>
          <a:xfrm>
            <a:off x="3794760" y="3291840"/>
            <a:ext cx="457200" cy="27432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−2</a:t>
            </a:r>
            <a:endParaRPr lang="en-US" sz="1600" dirty="0"/>
          </a:p>
        </p:txBody>
      </p:sp>
      <p:sp>
        <p:nvSpPr>
          <p:cNvPr id="26" name="Text 23"/>
          <p:cNvSpPr txBox="1"/>
          <p:nvPr/>
        </p:nvSpPr>
        <p:spPr>
          <a:xfrm>
            <a:off x="914400" y="4251960"/>
            <a:ext cx="3200400"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all four input weights = 1</a:t>
            </a:r>
            <a:endParaRPr lang="en-US" sz="1300" dirty="0"/>
          </a:p>
        </p:txBody>
      </p:sp>
      <p:sp>
        <p:nvSpPr>
          <p:cNvPr id="27" name="Shape 24"/>
          <p:cNvSpPr/>
          <p:nvPr/>
        </p:nvSpPr>
        <p:spPr>
          <a:xfrm>
            <a:off x="548640" y="4663440"/>
            <a:ext cx="4754880" cy="1463040"/>
          </a:xfrm>
          <a:prstGeom prst="roundRect">
            <a:avLst>
              <a:gd name="adj" fmla="val 5000"/>
            </a:avLst>
          </a:prstGeom>
          <a:solidFill>
            <a:srgbClr val="F3F5F8"/>
          </a:solidFill>
          <a:ln/>
        </p:spPr>
      </p:sp>
      <p:pic>
        <p:nvPicPr>
          <p:cNvPr id="28" name="Image 0" descr="equation xor_relu">    </p:cNvPr>
          <p:cNvPicPr>
            <a:picLocks noChangeAspect="1"/>
          </p:cNvPicPr>
          <p:nvPr/>
        </p:nvPicPr>
        <p:blipFill>
          <a:blip r:embed="rId1"/>
          <a:stretch>
            <a:fillRect/>
          </a:stretch>
        </p:blipFill>
        <p:spPr>
          <a:xfrm>
            <a:off x="822960" y="4754880"/>
            <a:ext cx="2914924" cy="1252271"/>
          </a:xfrm>
          <a:prstGeom prst="rect">
            <a:avLst/>
          </a:prstGeom>
        </p:spPr>
      </p:pic>
      <p:pic>
        <p:nvPicPr>
          <p:cNvPr id="29" name="Image 1" descr="Input space and hidden space: in hidden space a line separates the classes">    </p:cNvPr>
          <p:cNvPicPr>
            <a:picLocks noChangeAspect="1"/>
          </p:cNvPicPr>
          <p:nvPr/>
        </p:nvPicPr>
        <p:blipFill>
          <a:blip r:embed="rId2"/>
          <a:stretch>
            <a:fillRect/>
          </a:stretch>
        </p:blipFill>
        <p:spPr>
          <a:xfrm>
            <a:off x="5532120" y="1325880"/>
            <a:ext cx="6126480" cy="3222992"/>
          </a:xfrm>
          <a:prstGeom prst="rect">
            <a:avLst/>
          </a:prstGeom>
        </p:spPr>
      </p:pic>
      <p:sp>
        <p:nvSpPr>
          <p:cNvPr id="30" name="Shape 25"/>
          <p:cNvSpPr/>
          <p:nvPr/>
        </p:nvSpPr>
        <p:spPr>
          <a:xfrm>
            <a:off x="5532120" y="4663440"/>
            <a:ext cx="6108192" cy="1463040"/>
          </a:xfrm>
          <a:prstGeom prst="roundRect">
            <a:avLst>
              <a:gd name="adj" fmla="val 5000"/>
            </a:avLst>
          </a:prstGeom>
          <a:solidFill>
            <a:srgbClr val="E3F2F1"/>
          </a:solidFill>
          <a:ln/>
        </p:spPr>
      </p:sp>
      <p:sp>
        <p:nvSpPr>
          <p:cNvPr id="31" name="Text 26"/>
          <p:cNvSpPr txBox="1"/>
          <p:nvPr/>
        </p:nvSpPr>
        <p:spPr>
          <a:xfrm>
            <a:off x="5760720" y="4709160"/>
            <a:ext cx="5715000" cy="1371600"/>
          </a:xfrm>
          <a:prstGeom prst="rect">
            <a:avLst/>
          </a:prstGeom>
          <a:noFill/>
          <a:ln/>
        </p:spPr>
        <p:txBody>
          <a:bodyPr wrap="square" lIns="0" tIns="0" rIns="0" bIns="0" rtlCol="0" anchor="ctr"/>
          <a:lstStyle/>
          <a:p>
            <a:pPr algn="l" indent="0" marL="0">
              <a:lnSpc>
                <a:spcPct val="100000"/>
              </a:lnSpc>
              <a:spcAft>
                <a:spcPts val="600"/>
              </a:spcAft>
              <a:buNone/>
            </a:pPr>
            <a:r>
              <a:rPr lang="en-US" sz="1550" b="1" dirty="0">
                <a:solidFill>
                  <a:srgbClr val="16202E"/>
                </a:solidFill>
                <a:latin typeface="Calibri" pitchFamily="34" charset="0"/>
                <a:ea typeface="Calibri" pitchFamily="34" charset="-122"/>
                <a:cs typeface="Calibri" pitchFamily="34" charset="-120"/>
              </a:rPr>
              <a:t>Your turn (2 min, pairs):</a:t>
            </a:r>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 compute h</a:t>
            </a:r>
            <a:pPr algn="l" indent="0" marL="0">
              <a:lnSpc>
                <a:spcPct val="100000"/>
              </a:lnSpc>
              <a:spcAft>
                <a:spcPts val="600"/>
              </a:spcAft>
              <a:buNone/>
            </a:pPr>
            <a:r>
              <a:rPr lang="en-US" sz="1550" baseline="-40000" dirty="0">
                <a:solidFill>
                  <a:srgbClr val="16202E"/>
                </a:solidFill>
                <a:latin typeface="Calibri" pitchFamily="34" charset="0"/>
                <a:ea typeface="Calibri" pitchFamily="34" charset="-122"/>
                <a:cs typeface="Calibri" pitchFamily="34" charset="-120"/>
              </a:rPr>
              <a:t>1</a:t>
            </a:r>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 h</a:t>
            </a:r>
            <a:pPr algn="l" indent="0" marL="0">
              <a:lnSpc>
                <a:spcPct val="100000"/>
              </a:lnSpc>
              <a:spcAft>
                <a:spcPts val="600"/>
              </a:spcAft>
              <a:buNone/>
            </a:pPr>
            <a:r>
              <a:rPr lang="en-US" sz="1550" baseline="-40000" dirty="0">
                <a:solidFill>
                  <a:srgbClr val="16202E"/>
                </a:solidFill>
                <a:latin typeface="Calibri" pitchFamily="34" charset="0"/>
                <a:ea typeface="Calibri" pitchFamily="34" charset="-122"/>
                <a:cs typeface="Calibri" pitchFamily="34" charset="-120"/>
              </a:rPr>
              <a:t>2</a:t>
            </a:r>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 s for (0,0), (0,1), (1,0), (1,1). Check that s is XOR.</a:t>
            </a:r>
            <a:pPr algn="l" indent="0" marL="0">
              <a:lnSpc>
                <a:spcPct val="100000"/>
              </a:lnSpc>
              <a:spcAft>
                <a:spcPts val="600"/>
              </a:spcAft>
              <a:buNone/>
            </a:pPr>
            <a:endParaRPr lang="en-US" sz="1550" dirty="0"/>
          </a:p>
          <a:p>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The hidden layer makes the classes linearly separable; the output just draws the line.</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EXPRESSIVE POWER</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Many ReLUs: a patchwork of linear pieces that can follow a curve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the forward pass for a whole network</a:t>
            </a:r>
            <a:endParaRPr lang="en-US" sz="1100" dirty="0"/>
          </a:p>
        </p:txBody>
      </p:sp>
      <p:pic>
        <p:nvPicPr>
          <p:cNvPr id="6" name="Image 0" descr="Linear regions of a trained 2-12-12-1 ReLU network on two-moons data">    </p:cNvPr>
          <p:cNvPicPr>
            <a:picLocks noChangeAspect="1"/>
          </p:cNvPicPr>
          <p:nvPr/>
        </p:nvPicPr>
        <p:blipFill>
          <a:blip r:embed="rId1"/>
          <a:stretch>
            <a:fillRect/>
          </a:stretch>
        </p:blipFill>
        <p:spPr>
          <a:xfrm>
            <a:off x="548640" y="1371600"/>
            <a:ext cx="6583680" cy="4226366"/>
          </a:xfrm>
          <a:prstGeom prst="rect">
            <a:avLst/>
          </a:prstGeom>
        </p:spPr>
      </p:pic>
      <p:sp>
        <p:nvSpPr>
          <p:cNvPr id="7" name="Text 3"/>
          <p:cNvSpPr txBox="1"/>
          <p:nvPr/>
        </p:nvSpPr>
        <p:spPr>
          <a:xfrm>
            <a:off x="7498080" y="1325880"/>
            <a:ext cx="2743200" cy="868680"/>
          </a:xfrm>
          <a:prstGeom prst="rect">
            <a:avLst/>
          </a:prstGeom>
          <a:noFill/>
          <a:ln/>
        </p:spPr>
        <p:txBody>
          <a:bodyPr wrap="square" lIns="0" tIns="0" rIns="0" bIns="0" rtlCol="0" anchor="t"/>
          <a:lstStyle/>
          <a:p>
            <a:pPr algn="l" indent="0" marL="0">
              <a:lnSpc>
                <a:spcPct val="100000"/>
              </a:lnSpc>
              <a:buNone/>
            </a:pPr>
            <a:r>
              <a:rPr lang="en-US" sz="5400" b="1" dirty="0">
                <a:solidFill>
                  <a:srgbClr val="0E7C7B"/>
                </a:solidFill>
                <a:latin typeface="Cambria" pitchFamily="34" charset="0"/>
                <a:ea typeface="Cambria" pitchFamily="34" charset="-122"/>
                <a:cs typeface="Cambria" pitchFamily="34" charset="-120"/>
              </a:rPr>
              <a:t>67</a:t>
            </a:r>
            <a:endParaRPr lang="en-US" sz="5400" dirty="0"/>
          </a:p>
        </p:txBody>
      </p:sp>
      <p:sp>
        <p:nvSpPr>
          <p:cNvPr id="8" name="Text 4"/>
          <p:cNvSpPr txBox="1"/>
          <p:nvPr/>
        </p:nvSpPr>
        <p:spPr>
          <a:xfrm>
            <a:off x="7498080" y="2212848"/>
            <a:ext cx="4114800" cy="5943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linear regions in this window, for the 2–12–12–1 ReLU net from slide 5</a:t>
            </a:r>
            <a:endParaRPr lang="en-US" sz="1500" dirty="0"/>
          </a:p>
        </p:txBody>
      </p:sp>
      <p:sp>
        <p:nvSpPr>
          <p:cNvPr id="9" name="Shape 5"/>
          <p:cNvSpPr/>
          <p:nvPr/>
        </p:nvSpPr>
        <p:spPr>
          <a:xfrm>
            <a:off x="7498080" y="2971800"/>
            <a:ext cx="365760" cy="365760"/>
          </a:xfrm>
          <a:prstGeom prst="ellipse">
            <a:avLst/>
          </a:prstGeom>
          <a:solidFill>
            <a:srgbClr val="0E7C7B"/>
          </a:solidFill>
          <a:ln/>
        </p:spPr>
      </p:sp>
      <p:sp>
        <p:nvSpPr>
          <p:cNvPr id="10" name="Text 6"/>
          <p:cNvSpPr txBox="1"/>
          <p:nvPr/>
        </p:nvSpPr>
        <p:spPr>
          <a:xfrm>
            <a:off x="7498080" y="297180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8001000" y="2953512"/>
            <a:ext cx="36576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Inside a patch: exactly linear</a:t>
            </a:r>
            <a:endParaRPr lang="en-US" sz="1600" dirty="0"/>
          </a:p>
        </p:txBody>
      </p:sp>
      <p:sp>
        <p:nvSpPr>
          <p:cNvPr id="12" name="Text 8"/>
          <p:cNvSpPr txBox="1"/>
          <p:nvPr/>
        </p:nvSpPr>
        <p:spPr>
          <a:xfrm>
            <a:off x="8001000" y="3291840"/>
            <a:ext cx="3639312" cy="73152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Every ReLU is fixed on or off there.</a:t>
            </a:r>
            <a:endParaRPr lang="en-US" sz="1400" dirty="0"/>
          </a:p>
        </p:txBody>
      </p:sp>
      <p:sp>
        <p:nvSpPr>
          <p:cNvPr id="13" name="Shape 9"/>
          <p:cNvSpPr/>
          <p:nvPr/>
        </p:nvSpPr>
        <p:spPr>
          <a:xfrm>
            <a:off x="7498080" y="4023360"/>
            <a:ext cx="365760" cy="365760"/>
          </a:xfrm>
          <a:prstGeom prst="ellipse">
            <a:avLst/>
          </a:prstGeom>
          <a:solidFill>
            <a:srgbClr val="0E7C7B"/>
          </a:solidFill>
          <a:ln/>
        </p:spPr>
      </p:sp>
      <p:sp>
        <p:nvSpPr>
          <p:cNvPr id="14" name="Text 10"/>
          <p:cNvSpPr txBox="1"/>
          <p:nvPr/>
        </p:nvSpPr>
        <p:spPr>
          <a:xfrm>
            <a:off x="7498080" y="402336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8001000" y="4005072"/>
            <a:ext cx="36576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Boundary: a polyline</a:t>
            </a:r>
            <a:endParaRPr lang="en-US" sz="1600" dirty="0"/>
          </a:p>
        </p:txBody>
      </p:sp>
      <p:sp>
        <p:nvSpPr>
          <p:cNvPr id="16" name="Text 12"/>
          <p:cNvSpPr txBox="1"/>
          <p:nvPr/>
        </p:nvSpPr>
        <p:spPr>
          <a:xfrm>
            <a:off x="8001000" y="4343400"/>
            <a:ext cx="3639312" cy="73152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Straight pieces that bend to follow the data.</a:t>
            </a:r>
            <a:endParaRPr lang="en-US" sz="1400" dirty="0"/>
          </a:p>
        </p:txBody>
      </p:sp>
      <p:sp>
        <p:nvSpPr>
          <p:cNvPr id="17" name="Shape 13"/>
          <p:cNvSpPr/>
          <p:nvPr/>
        </p:nvSpPr>
        <p:spPr>
          <a:xfrm>
            <a:off x="7498080" y="5074920"/>
            <a:ext cx="365760" cy="365760"/>
          </a:xfrm>
          <a:prstGeom prst="ellipse">
            <a:avLst/>
          </a:prstGeom>
          <a:solidFill>
            <a:srgbClr val="0E7C7B"/>
          </a:solidFill>
          <a:ln/>
        </p:spPr>
      </p:sp>
      <p:sp>
        <p:nvSpPr>
          <p:cNvPr id="18" name="Text 14"/>
          <p:cNvSpPr txBox="1"/>
          <p:nvPr/>
        </p:nvSpPr>
        <p:spPr>
          <a:xfrm>
            <a:off x="7498080" y="507492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8001000" y="5056632"/>
            <a:ext cx="3657600" cy="32004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More units → more pieces</a:t>
            </a:r>
            <a:endParaRPr lang="en-US" sz="1600" dirty="0"/>
          </a:p>
        </p:txBody>
      </p:sp>
      <p:sp>
        <p:nvSpPr>
          <p:cNvPr id="20" name="Text 16"/>
          <p:cNvSpPr txBox="1"/>
          <p:nvPr/>
        </p:nvSpPr>
        <p:spPr>
          <a:xfrm>
            <a:off x="8001000" y="5394960"/>
            <a:ext cx="3639312" cy="73152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With enough units, one hidden layer can approximate any continuous function on a bounded region (Appendix A4).</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THE MLP</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The forward pass repeats one rule per layer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our Fashion-MNIST network</a:t>
            </a:r>
            <a:endParaRPr lang="en-US" sz="1100" dirty="0"/>
          </a:p>
        </p:txBody>
      </p:sp>
      <p:sp>
        <p:nvSpPr>
          <p:cNvPr id="6" name="Shape 3"/>
          <p:cNvSpPr/>
          <p:nvPr/>
        </p:nvSpPr>
        <p:spPr>
          <a:xfrm flipV="1">
            <a:off x="914400" y="1783080"/>
            <a:ext cx="1341120" cy="388620"/>
          </a:xfrm>
          <a:prstGeom prst="line">
            <a:avLst/>
          </a:prstGeom>
          <a:noFill/>
          <a:ln w="9525">
            <a:solidFill>
              <a:srgbClr val="B9C1CC"/>
            </a:solidFill>
            <a:prstDash val="solid"/>
          </a:ln>
        </p:spPr>
      </p:sp>
      <p:sp>
        <p:nvSpPr>
          <p:cNvPr id="7" name="Shape 4"/>
          <p:cNvSpPr/>
          <p:nvPr/>
        </p:nvSpPr>
        <p:spPr>
          <a:xfrm>
            <a:off x="914400" y="2171700"/>
            <a:ext cx="1341120" cy="388620"/>
          </a:xfrm>
          <a:prstGeom prst="line">
            <a:avLst/>
          </a:prstGeom>
          <a:noFill/>
          <a:ln w="9525">
            <a:solidFill>
              <a:srgbClr val="B9C1CC"/>
            </a:solidFill>
            <a:prstDash val="solid"/>
          </a:ln>
        </p:spPr>
      </p:sp>
      <p:sp>
        <p:nvSpPr>
          <p:cNvPr id="8" name="Shape 5"/>
          <p:cNvSpPr/>
          <p:nvPr/>
        </p:nvSpPr>
        <p:spPr>
          <a:xfrm>
            <a:off x="914400" y="2171700"/>
            <a:ext cx="1341120" cy="1165860"/>
          </a:xfrm>
          <a:prstGeom prst="line">
            <a:avLst/>
          </a:prstGeom>
          <a:noFill/>
          <a:ln w="9525">
            <a:solidFill>
              <a:srgbClr val="B9C1CC"/>
            </a:solidFill>
            <a:prstDash val="solid"/>
          </a:ln>
        </p:spPr>
      </p:sp>
      <p:sp>
        <p:nvSpPr>
          <p:cNvPr id="9" name="Shape 6"/>
          <p:cNvSpPr/>
          <p:nvPr/>
        </p:nvSpPr>
        <p:spPr>
          <a:xfrm>
            <a:off x="914400" y="2171700"/>
            <a:ext cx="1341120" cy="1943100"/>
          </a:xfrm>
          <a:prstGeom prst="line">
            <a:avLst/>
          </a:prstGeom>
          <a:noFill/>
          <a:ln w="9525">
            <a:solidFill>
              <a:srgbClr val="B9C1CC"/>
            </a:solidFill>
            <a:prstDash val="solid"/>
          </a:ln>
        </p:spPr>
      </p:sp>
      <p:sp>
        <p:nvSpPr>
          <p:cNvPr id="10" name="Shape 7"/>
          <p:cNvSpPr/>
          <p:nvPr/>
        </p:nvSpPr>
        <p:spPr>
          <a:xfrm>
            <a:off x="914400" y="2171700"/>
            <a:ext cx="1341120" cy="2720340"/>
          </a:xfrm>
          <a:prstGeom prst="line">
            <a:avLst/>
          </a:prstGeom>
          <a:noFill/>
          <a:ln w="9525">
            <a:solidFill>
              <a:srgbClr val="B9C1CC"/>
            </a:solidFill>
            <a:prstDash val="solid"/>
          </a:ln>
        </p:spPr>
      </p:sp>
      <p:sp>
        <p:nvSpPr>
          <p:cNvPr id="11" name="Shape 8"/>
          <p:cNvSpPr/>
          <p:nvPr/>
        </p:nvSpPr>
        <p:spPr>
          <a:xfrm flipV="1">
            <a:off x="914400" y="1783080"/>
            <a:ext cx="1341120" cy="1165860"/>
          </a:xfrm>
          <a:prstGeom prst="line">
            <a:avLst/>
          </a:prstGeom>
          <a:noFill/>
          <a:ln w="9525">
            <a:solidFill>
              <a:srgbClr val="B9C1CC"/>
            </a:solidFill>
            <a:prstDash val="solid"/>
          </a:ln>
        </p:spPr>
      </p:sp>
      <p:sp>
        <p:nvSpPr>
          <p:cNvPr id="12" name="Shape 9"/>
          <p:cNvSpPr/>
          <p:nvPr/>
        </p:nvSpPr>
        <p:spPr>
          <a:xfrm flipV="1">
            <a:off x="914400" y="2560320"/>
            <a:ext cx="1341120" cy="388620"/>
          </a:xfrm>
          <a:prstGeom prst="line">
            <a:avLst/>
          </a:prstGeom>
          <a:noFill/>
          <a:ln w="9525">
            <a:solidFill>
              <a:srgbClr val="B9C1CC"/>
            </a:solidFill>
            <a:prstDash val="solid"/>
          </a:ln>
        </p:spPr>
      </p:sp>
      <p:sp>
        <p:nvSpPr>
          <p:cNvPr id="13" name="Shape 10"/>
          <p:cNvSpPr/>
          <p:nvPr/>
        </p:nvSpPr>
        <p:spPr>
          <a:xfrm>
            <a:off x="914400" y="2948940"/>
            <a:ext cx="1341120" cy="388620"/>
          </a:xfrm>
          <a:prstGeom prst="line">
            <a:avLst/>
          </a:prstGeom>
          <a:noFill/>
          <a:ln w="9525">
            <a:solidFill>
              <a:srgbClr val="B9C1CC"/>
            </a:solidFill>
            <a:prstDash val="solid"/>
          </a:ln>
        </p:spPr>
      </p:sp>
      <p:sp>
        <p:nvSpPr>
          <p:cNvPr id="14" name="Shape 11"/>
          <p:cNvSpPr/>
          <p:nvPr/>
        </p:nvSpPr>
        <p:spPr>
          <a:xfrm>
            <a:off x="914400" y="2948940"/>
            <a:ext cx="1341120" cy="1165860"/>
          </a:xfrm>
          <a:prstGeom prst="line">
            <a:avLst/>
          </a:prstGeom>
          <a:noFill/>
          <a:ln w="9525">
            <a:solidFill>
              <a:srgbClr val="B9C1CC"/>
            </a:solidFill>
            <a:prstDash val="solid"/>
          </a:ln>
        </p:spPr>
      </p:sp>
      <p:sp>
        <p:nvSpPr>
          <p:cNvPr id="15" name="Shape 12"/>
          <p:cNvSpPr/>
          <p:nvPr/>
        </p:nvSpPr>
        <p:spPr>
          <a:xfrm>
            <a:off x="914400" y="2948940"/>
            <a:ext cx="1341120" cy="1943100"/>
          </a:xfrm>
          <a:prstGeom prst="line">
            <a:avLst/>
          </a:prstGeom>
          <a:noFill/>
          <a:ln w="9525">
            <a:solidFill>
              <a:srgbClr val="B9C1CC"/>
            </a:solidFill>
            <a:prstDash val="solid"/>
          </a:ln>
        </p:spPr>
      </p:sp>
      <p:sp>
        <p:nvSpPr>
          <p:cNvPr id="16" name="Shape 13"/>
          <p:cNvSpPr/>
          <p:nvPr/>
        </p:nvSpPr>
        <p:spPr>
          <a:xfrm flipV="1">
            <a:off x="914400" y="1783080"/>
            <a:ext cx="1341120" cy="1943100"/>
          </a:xfrm>
          <a:prstGeom prst="line">
            <a:avLst/>
          </a:prstGeom>
          <a:noFill/>
          <a:ln w="9525">
            <a:solidFill>
              <a:srgbClr val="B9C1CC"/>
            </a:solidFill>
            <a:prstDash val="solid"/>
          </a:ln>
        </p:spPr>
      </p:sp>
      <p:sp>
        <p:nvSpPr>
          <p:cNvPr id="17" name="Shape 14"/>
          <p:cNvSpPr/>
          <p:nvPr/>
        </p:nvSpPr>
        <p:spPr>
          <a:xfrm flipV="1">
            <a:off x="914400" y="2560320"/>
            <a:ext cx="1341120" cy="1165860"/>
          </a:xfrm>
          <a:prstGeom prst="line">
            <a:avLst/>
          </a:prstGeom>
          <a:noFill/>
          <a:ln w="9525">
            <a:solidFill>
              <a:srgbClr val="B9C1CC"/>
            </a:solidFill>
            <a:prstDash val="solid"/>
          </a:ln>
        </p:spPr>
      </p:sp>
      <p:sp>
        <p:nvSpPr>
          <p:cNvPr id="18" name="Shape 15"/>
          <p:cNvSpPr/>
          <p:nvPr/>
        </p:nvSpPr>
        <p:spPr>
          <a:xfrm flipV="1">
            <a:off x="914400" y="3337560"/>
            <a:ext cx="1341120" cy="388620"/>
          </a:xfrm>
          <a:prstGeom prst="line">
            <a:avLst/>
          </a:prstGeom>
          <a:noFill/>
          <a:ln w="9525">
            <a:solidFill>
              <a:srgbClr val="B9C1CC"/>
            </a:solidFill>
            <a:prstDash val="solid"/>
          </a:ln>
        </p:spPr>
      </p:sp>
      <p:sp>
        <p:nvSpPr>
          <p:cNvPr id="19" name="Shape 16"/>
          <p:cNvSpPr/>
          <p:nvPr/>
        </p:nvSpPr>
        <p:spPr>
          <a:xfrm>
            <a:off x="914400" y="3726180"/>
            <a:ext cx="1341120" cy="388620"/>
          </a:xfrm>
          <a:prstGeom prst="line">
            <a:avLst/>
          </a:prstGeom>
          <a:noFill/>
          <a:ln w="9525">
            <a:solidFill>
              <a:srgbClr val="B9C1CC"/>
            </a:solidFill>
            <a:prstDash val="solid"/>
          </a:ln>
        </p:spPr>
      </p:sp>
      <p:sp>
        <p:nvSpPr>
          <p:cNvPr id="20" name="Shape 17"/>
          <p:cNvSpPr/>
          <p:nvPr/>
        </p:nvSpPr>
        <p:spPr>
          <a:xfrm>
            <a:off x="914400" y="3726180"/>
            <a:ext cx="1341120" cy="1165860"/>
          </a:xfrm>
          <a:prstGeom prst="line">
            <a:avLst/>
          </a:prstGeom>
          <a:noFill/>
          <a:ln w="9525">
            <a:solidFill>
              <a:srgbClr val="B9C1CC"/>
            </a:solidFill>
            <a:prstDash val="solid"/>
          </a:ln>
        </p:spPr>
      </p:sp>
      <p:sp>
        <p:nvSpPr>
          <p:cNvPr id="21" name="Shape 18"/>
          <p:cNvSpPr/>
          <p:nvPr/>
        </p:nvSpPr>
        <p:spPr>
          <a:xfrm flipV="1">
            <a:off x="914400" y="1783080"/>
            <a:ext cx="1341120" cy="2720340"/>
          </a:xfrm>
          <a:prstGeom prst="line">
            <a:avLst/>
          </a:prstGeom>
          <a:noFill/>
          <a:ln w="9525">
            <a:solidFill>
              <a:srgbClr val="B9C1CC"/>
            </a:solidFill>
            <a:prstDash val="solid"/>
          </a:ln>
        </p:spPr>
      </p:sp>
      <p:sp>
        <p:nvSpPr>
          <p:cNvPr id="22" name="Shape 19"/>
          <p:cNvSpPr/>
          <p:nvPr/>
        </p:nvSpPr>
        <p:spPr>
          <a:xfrm flipV="1">
            <a:off x="914400" y="2560320"/>
            <a:ext cx="1341120" cy="1943100"/>
          </a:xfrm>
          <a:prstGeom prst="line">
            <a:avLst/>
          </a:prstGeom>
          <a:noFill/>
          <a:ln w="9525">
            <a:solidFill>
              <a:srgbClr val="B9C1CC"/>
            </a:solidFill>
            <a:prstDash val="solid"/>
          </a:ln>
        </p:spPr>
      </p:sp>
      <p:sp>
        <p:nvSpPr>
          <p:cNvPr id="23" name="Shape 20"/>
          <p:cNvSpPr/>
          <p:nvPr/>
        </p:nvSpPr>
        <p:spPr>
          <a:xfrm flipV="1">
            <a:off x="914400" y="3337560"/>
            <a:ext cx="1341120" cy="1165860"/>
          </a:xfrm>
          <a:prstGeom prst="line">
            <a:avLst/>
          </a:prstGeom>
          <a:noFill/>
          <a:ln w="9525">
            <a:solidFill>
              <a:srgbClr val="B9C1CC"/>
            </a:solidFill>
            <a:prstDash val="solid"/>
          </a:ln>
        </p:spPr>
      </p:sp>
      <p:sp>
        <p:nvSpPr>
          <p:cNvPr id="24" name="Shape 21"/>
          <p:cNvSpPr/>
          <p:nvPr/>
        </p:nvSpPr>
        <p:spPr>
          <a:xfrm flipV="1">
            <a:off x="914400" y="4114800"/>
            <a:ext cx="1341120" cy="388620"/>
          </a:xfrm>
          <a:prstGeom prst="line">
            <a:avLst/>
          </a:prstGeom>
          <a:noFill/>
          <a:ln w="9525">
            <a:solidFill>
              <a:srgbClr val="B9C1CC"/>
            </a:solidFill>
            <a:prstDash val="solid"/>
          </a:ln>
        </p:spPr>
      </p:sp>
      <p:sp>
        <p:nvSpPr>
          <p:cNvPr id="25" name="Shape 22"/>
          <p:cNvSpPr/>
          <p:nvPr/>
        </p:nvSpPr>
        <p:spPr>
          <a:xfrm>
            <a:off x="914400" y="4503420"/>
            <a:ext cx="1341120" cy="388620"/>
          </a:xfrm>
          <a:prstGeom prst="line">
            <a:avLst/>
          </a:prstGeom>
          <a:noFill/>
          <a:ln w="9525">
            <a:solidFill>
              <a:srgbClr val="B9C1CC"/>
            </a:solidFill>
            <a:prstDash val="solid"/>
          </a:ln>
        </p:spPr>
      </p:sp>
      <p:sp>
        <p:nvSpPr>
          <p:cNvPr id="26" name="Shape 23"/>
          <p:cNvSpPr/>
          <p:nvPr/>
        </p:nvSpPr>
        <p:spPr>
          <a:xfrm>
            <a:off x="2255520" y="1783080"/>
            <a:ext cx="1341120" cy="914"/>
          </a:xfrm>
          <a:prstGeom prst="line">
            <a:avLst/>
          </a:prstGeom>
          <a:noFill/>
          <a:ln w="9525">
            <a:solidFill>
              <a:srgbClr val="B9C1CC"/>
            </a:solidFill>
            <a:prstDash val="solid"/>
          </a:ln>
        </p:spPr>
      </p:sp>
      <p:sp>
        <p:nvSpPr>
          <p:cNvPr id="27" name="Shape 24"/>
          <p:cNvSpPr/>
          <p:nvPr/>
        </p:nvSpPr>
        <p:spPr>
          <a:xfrm>
            <a:off x="2255520" y="1783080"/>
            <a:ext cx="1341120" cy="777240"/>
          </a:xfrm>
          <a:prstGeom prst="line">
            <a:avLst/>
          </a:prstGeom>
          <a:noFill/>
          <a:ln w="9525">
            <a:solidFill>
              <a:srgbClr val="B9C1CC"/>
            </a:solidFill>
            <a:prstDash val="solid"/>
          </a:ln>
        </p:spPr>
      </p:sp>
      <p:sp>
        <p:nvSpPr>
          <p:cNvPr id="28" name="Shape 25"/>
          <p:cNvSpPr/>
          <p:nvPr/>
        </p:nvSpPr>
        <p:spPr>
          <a:xfrm>
            <a:off x="2255520" y="1783080"/>
            <a:ext cx="1341120" cy="1554480"/>
          </a:xfrm>
          <a:prstGeom prst="line">
            <a:avLst/>
          </a:prstGeom>
          <a:noFill/>
          <a:ln w="9525">
            <a:solidFill>
              <a:srgbClr val="B9C1CC"/>
            </a:solidFill>
            <a:prstDash val="solid"/>
          </a:ln>
        </p:spPr>
      </p:sp>
      <p:sp>
        <p:nvSpPr>
          <p:cNvPr id="29" name="Shape 26"/>
          <p:cNvSpPr/>
          <p:nvPr/>
        </p:nvSpPr>
        <p:spPr>
          <a:xfrm>
            <a:off x="2255520" y="1783080"/>
            <a:ext cx="1341120" cy="2331720"/>
          </a:xfrm>
          <a:prstGeom prst="line">
            <a:avLst/>
          </a:prstGeom>
          <a:noFill/>
          <a:ln w="9525">
            <a:solidFill>
              <a:srgbClr val="B9C1CC"/>
            </a:solidFill>
            <a:prstDash val="solid"/>
          </a:ln>
        </p:spPr>
      </p:sp>
      <p:sp>
        <p:nvSpPr>
          <p:cNvPr id="30" name="Shape 27"/>
          <p:cNvSpPr/>
          <p:nvPr/>
        </p:nvSpPr>
        <p:spPr>
          <a:xfrm>
            <a:off x="2255520" y="1783080"/>
            <a:ext cx="1341120" cy="3108960"/>
          </a:xfrm>
          <a:prstGeom prst="line">
            <a:avLst/>
          </a:prstGeom>
          <a:noFill/>
          <a:ln w="9525">
            <a:solidFill>
              <a:srgbClr val="B9C1CC"/>
            </a:solidFill>
            <a:prstDash val="solid"/>
          </a:ln>
        </p:spPr>
      </p:sp>
      <p:sp>
        <p:nvSpPr>
          <p:cNvPr id="31" name="Shape 28"/>
          <p:cNvSpPr/>
          <p:nvPr/>
        </p:nvSpPr>
        <p:spPr>
          <a:xfrm flipV="1">
            <a:off x="2255520" y="1783080"/>
            <a:ext cx="1341120" cy="777240"/>
          </a:xfrm>
          <a:prstGeom prst="line">
            <a:avLst/>
          </a:prstGeom>
          <a:noFill/>
          <a:ln w="9525">
            <a:solidFill>
              <a:srgbClr val="B9C1CC"/>
            </a:solidFill>
            <a:prstDash val="solid"/>
          </a:ln>
        </p:spPr>
      </p:sp>
      <p:sp>
        <p:nvSpPr>
          <p:cNvPr id="32" name="Shape 29"/>
          <p:cNvSpPr/>
          <p:nvPr/>
        </p:nvSpPr>
        <p:spPr>
          <a:xfrm>
            <a:off x="2255520" y="2560320"/>
            <a:ext cx="1341120" cy="914"/>
          </a:xfrm>
          <a:prstGeom prst="line">
            <a:avLst/>
          </a:prstGeom>
          <a:noFill/>
          <a:ln w="9525">
            <a:solidFill>
              <a:srgbClr val="B9C1CC"/>
            </a:solidFill>
            <a:prstDash val="solid"/>
          </a:ln>
        </p:spPr>
      </p:sp>
      <p:sp>
        <p:nvSpPr>
          <p:cNvPr id="33" name="Shape 30"/>
          <p:cNvSpPr/>
          <p:nvPr/>
        </p:nvSpPr>
        <p:spPr>
          <a:xfrm>
            <a:off x="2255520" y="2560320"/>
            <a:ext cx="1341120" cy="777240"/>
          </a:xfrm>
          <a:prstGeom prst="line">
            <a:avLst/>
          </a:prstGeom>
          <a:noFill/>
          <a:ln w="9525">
            <a:solidFill>
              <a:srgbClr val="B9C1CC"/>
            </a:solidFill>
            <a:prstDash val="solid"/>
          </a:ln>
        </p:spPr>
      </p:sp>
      <p:sp>
        <p:nvSpPr>
          <p:cNvPr id="34" name="Shape 31"/>
          <p:cNvSpPr/>
          <p:nvPr/>
        </p:nvSpPr>
        <p:spPr>
          <a:xfrm>
            <a:off x="2255520" y="2560320"/>
            <a:ext cx="1341120" cy="1554480"/>
          </a:xfrm>
          <a:prstGeom prst="line">
            <a:avLst/>
          </a:prstGeom>
          <a:noFill/>
          <a:ln w="9525">
            <a:solidFill>
              <a:srgbClr val="B9C1CC"/>
            </a:solidFill>
            <a:prstDash val="solid"/>
          </a:ln>
        </p:spPr>
      </p:sp>
      <p:sp>
        <p:nvSpPr>
          <p:cNvPr id="35" name="Shape 32"/>
          <p:cNvSpPr/>
          <p:nvPr/>
        </p:nvSpPr>
        <p:spPr>
          <a:xfrm>
            <a:off x="2255520" y="2560320"/>
            <a:ext cx="1341120" cy="2331720"/>
          </a:xfrm>
          <a:prstGeom prst="line">
            <a:avLst/>
          </a:prstGeom>
          <a:noFill/>
          <a:ln w="9525">
            <a:solidFill>
              <a:srgbClr val="B9C1CC"/>
            </a:solidFill>
            <a:prstDash val="solid"/>
          </a:ln>
        </p:spPr>
      </p:sp>
      <p:sp>
        <p:nvSpPr>
          <p:cNvPr id="36" name="Shape 33"/>
          <p:cNvSpPr/>
          <p:nvPr/>
        </p:nvSpPr>
        <p:spPr>
          <a:xfrm flipV="1">
            <a:off x="2255520" y="1783080"/>
            <a:ext cx="1341120" cy="1554480"/>
          </a:xfrm>
          <a:prstGeom prst="line">
            <a:avLst/>
          </a:prstGeom>
          <a:noFill/>
          <a:ln w="9525">
            <a:solidFill>
              <a:srgbClr val="B9C1CC"/>
            </a:solidFill>
            <a:prstDash val="solid"/>
          </a:ln>
        </p:spPr>
      </p:sp>
      <p:sp>
        <p:nvSpPr>
          <p:cNvPr id="37" name="Shape 34"/>
          <p:cNvSpPr/>
          <p:nvPr/>
        </p:nvSpPr>
        <p:spPr>
          <a:xfrm flipV="1">
            <a:off x="2255520" y="2560320"/>
            <a:ext cx="1341120" cy="777240"/>
          </a:xfrm>
          <a:prstGeom prst="line">
            <a:avLst/>
          </a:prstGeom>
          <a:noFill/>
          <a:ln w="9525">
            <a:solidFill>
              <a:srgbClr val="B9C1CC"/>
            </a:solidFill>
            <a:prstDash val="solid"/>
          </a:ln>
        </p:spPr>
      </p:sp>
      <p:sp>
        <p:nvSpPr>
          <p:cNvPr id="38" name="Shape 35"/>
          <p:cNvSpPr/>
          <p:nvPr/>
        </p:nvSpPr>
        <p:spPr>
          <a:xfrm>
            <a:off x="2255520" y="3337560"/>
            <a:ext cx="1341120" cy="914"/>
          </a:xfrm>
          <a:prstGeom prst="line">
            <a:avLst/>
          </a:prstGeom>
          <a:noFill/>
          <a:ln w="9525">
            <a:solidFill>
              <a:srgbClr val="B9C1CC"/>
            </a:solidFill>
            <a:prstDash val="solid"/>
          </a:ln>
        </p:spPr>
      </p:sp>
      <p:sp>
        <p:nvSpPr>
          <p:cNvPr id="39" name="Shape 36"/>
          <p:cNvSpPr/>
          <p:nvPr/>
        </p:nvSpPr>
        <p:spPr>
          <a:xfrm>
            <a:off x="2255520" y="3337560"/>
            <a:ext cx="1341120" cy="777240"/>
          </a:xfrm>
          <a:prstGeom prst="line">
            <a:avLst/>
          </a:prstGeom>
          <a:noFill/>
          <a:ln w="9525">
            <a:solidFill>
              <a:srgbClr val="B9C1CC"/>
            </a:solidFill>
            <a:prstDash val="solid"/>
          </a:ln>
        </p:spPr>
      </p:sp>
      <p:sp>
        <p:nvSpPr>
          <p:cNvPr id="40" name="Shape 37"/>
          <p:cNvSpPr/>
          <p:nvPr/>
        </p:nvSpPr>
        <p:spPr>
          <a:xfrm>
            <a:off x="2255520" y="3337560"/>
            <a:ext cx="1341120" cy="1554480"/>
          </a:xfrm>
          <a:prstGeom prst="line">
            <a:avLst/>
          </a:prstGeom>
          <a:noFill/>
          <a:ln w="9525">
            <a:solidFill>
              <a:srgbClr val="B9C1CC"/>
            </a:solidFill>
            <a:prstDash val="solid"/>
          </a:ln>
        </p:spPr>
      </p:sp>
      <p:sp>
        <p:nvSpPr>
          <p:cNvPr id="41" name="Shape 38"/>
          <p:cNvSpPr/>
          <p:nvPr/>
        </p:nvSpPr>
        <p:spPr>
          <a:xfrm flipV="1">
            <a:off x="2255520" y="1783080"/>
            <a:ext cx="1341120" cy="2331720"/>
          </a:xfrm>
          <a:prstGeom prst="line">
            <a:avLst/>
          </a:prstGeom>
          <a:noFill/>
          <a:ln w="9525">
            <a:solidFill>
              <a:srgbClr val="B9C1CC"/>
            </a:solidFill>
            <a:prstDash val="solid"/>
          </a:ln>
        </p:spPr>
      </p:sp>
      <p:sp>
        <p:nvSpPr>
          <p:cNvPr id="42" name="Shape 39"/>
          <p:cNvSpPr/>
          <p:nvPr/>
        </p:nvSpPr>
        <p:spPr>
          <a:xfrm flipV="1">
            <a:off x="2255520" y="2560320"/>
            <a:ext cx="1341120" cy="1554480"/>
          </a:xfrm>
          <a:prstGeom prst="line">
            <a:avLst/>
          </a:prstGeom>
          <a:noFill/>
          <a:ln w="9525">
            <a:solidFill>
              <a:srgbClr val="B9C1CC"/>
            </a:solidFill>
            <a:prstDash val="solid"/>
          </a:ln>
        </p:spPr>
      </p:sp>
      <p:sp>
        <p:nvSpPr>
          <p:cNvPr id="43" name="Shape 40"/>
          <p:cNvSpPr/>
          <p:nvPr/>
        </p:nvSpPr>
        <p:spPr>
          <a:xfrm flipV="1">
            <a:off x="2255520" y="3337560"/>
            <a:ext cx="1341120" cy="777240"/>
          </a:xfrm>
          <a:prstGeom prst="line">
            <a:avLst/>
          </a:prstGeom>
          <a:noFill/>
          <a:ln w="9525">
            <a:solidFill>
              <a:srgbClr val="B9C1CC"/>
            </a:solidFill>
            <a:prstDash val="solid"/>
          </a:ln>
        </p:spPr>
      </p:sp>
      <p:sp>
        <p:nvSpPr>
          <p:cNvPr id="44" name="Shape 41"/>
          <p:cNvSpPr/>
          <p:nvPr/>
        </p:nvSpPr>
        <p:spPr>
          <a:xfrm>
            <a:off x="2255520" y="4114800"/>
            <a:ext cx="1341120" cy="914"/>
          </a:xfrm>
          <a:prstGeom prst="line">
            <a:avLst/>
          </a:prstGeom>
          <a:noFill/>
          <a:ln w="9525">
            <a:solidFill>
              <a:srgbClr val="B9C1CC"/>
            </a:solidFill>
            <a:prstDash val="solid"/>
          </a:ln>
        </p:spPr>
      </p:sp>
      <p:sp>
        <p:nvSpPr>
          <p:cNvPr id="45" name="Shape 42"/>
          <p:cNvSpPr/>
          <p:nvPr/>
        </p:nvSpPr>
        <p:spPr>
          <a:xfrm>
            <a:off x="2255520" y="4114800"/>
            <a:ext cx="1341120" cy="777240"/>
          </a:xfrm>
          <a:prstGeom prst="line">
            <a:avLst/>
          </a:prstGeom>
          <a:noFill/>
          <a:ln w="9525">
            <a:solidFill>
              <a:srgbClr val="B9C1CC"/>
            </a:solidFill>
            <a:prstDash val="solid"/>
          </a:ln>
        </p:spPr>
      </p:sp>
      <p:sp>
        <p:nvSpPr>
          <p:cNvPr id="46" name="Shape 43"/>
          <p:cNvSpPr/>
          <p:nvPr/>
        </p:nvSpPr>
        <p:spPr>
          <a:xfrm flipV="1">
            <a:off x="2255520" y="1783080"/>
            <a:ext cx="1341120" cy="3108960"/>
          </a:xfrm>
          <a:prstGeom prst="line">
            <a:avLst/>
          </a:prstGeom>
          <a:noFill/>
          <a:ln w="9525">
            <a:solidFill>
              <a:srgbClr val="B9C1CC"/>
            </a:solidFill>
            <a:prstDash val="solid"/>
          </a:ln>
        </p:spPr>
      </p:sp>
      <p:sp>
        <p:nvSpPr>
          <p:cNvPr id="47" name="Shape 44"/>
          <p:cNvSpPr/>
          <p:nvPr/>
        </p:nvSpPr>
        <p:spPr>
          <a:xfrm flipV="1">
            <a:off x="2255520" y="2560320"/>
            <a:ext cx="1341120" cy="2331720"/>
          </a:xfrm>
          <a:prstGeom prst="line">
            <a:avLst/>
          </a:prstGeom>
          <a:noFill/>
          <a:ln w="9525">
            <a:solidFill>
              <a:srgbClr val="B9C1CC"/>
            </a:solidFill>
            <a:prstDash val="solid"/>
          </a:ln>
        </p:spPr>
      </p:sp>
      <p:sp>
        <p:nvSpPr>
          <p:cNvPr id="48" name="Shape 45"/>
          <p:cNvSpPr/>
          <p:nvPr/>
        </p:nvSpPr>
        <p:spPr>
          <a:xfrm flipV="1">
            <a:off x="2255520" y="3337560"/>
            <a:ext cx="1341120" cy="1554480"/>
          </a:xfrm>
          <a:prstGeom prst="line">
            <a:avLst/>
          </a:prstGeom>
          <a:noFill/>
          <a:ln w="9525">
            <a:solidFill>
              <a:srgbClr val="B9C1CC"/>
            </a:solidFill>
            <a:prstDash val="solid"/>
          </a:ln>
        </p:spPr>
      </p:sp>
      <p:sp>
        <p:nvSpPr>
          <p:cNvPr id="49" name="Shape 46"/>
          <p:cNvSpPr/>
          <p:nvPr/>
        </p:nvSpPr>
        <p:spPr>
          <a:xfrm flipV="1">
            <a:off x="2255520" y="4114800"/>
            <a:ext cx="1341120" cy="777240"/>
          </a:xfrm>
          <a:prstGeom prst="line">
            <a:avLst/>
          </a:prstGeom>
          <a:noFill/>
          <a:ln w="9525">
            <a:solidFill>
              <a:srgbClr val="B9C1CC"/>
            </a:solidFill>
            <a:prstDash val="solid"/>
          </a:ln>
        </p:spPr>
      </p:sp>
      <p:sp>
        <p:nvSpPr>
          <p:cNvPr id="50" name="Shape 47"/>
          <p:cNvSpPr/>
          <p:nvPr/>
        </p:nvSpPr>
        <p:spPr>
          <a:xfrm>
            <a:off x="2255520" y="4892040"/>
            <a:ext cx="1341120" cy="914"/>
          </a:xfrm>
          <a:prstGeom prst="line">
            <a:avLst/>
          </a:prstGeom>
          <a:noFill/>
          <a:ln w="9525">
            <a:solidFill>
              <a:srgbClr val="B9C1CC"/>
            </a:solidFill>
            <a:prstDash val="solid"/>
          </a:ln>
        </p:spPr>
      </p:sp>
      <p:sp>
        <p:nvSpPr>
          <p:cNvPr id="51" name="Shape 48"/>
          <p:cNvSpPr/>
          <p:nvPr/>
        </p:nvSpPr>
        <p:spPr>
          <a:xfrm>
            <a:off x="3596640" y="1783080"/>
            <a:ext cx="1341120" cy="777240"/>
          </a:xfrm>
          <a:prstGeom prst="line">
            <a:avLst/>
          </a:prstGeom>
          <a:noFill/>
          <a:ln w="9525">
            <a:solidFill>
              <a:srgbClr val="B9C1CC"/>
            </a:solidFill>
            <a:prstDash val="solid"/>
          </a:ln>
        </p:spPr>
      </p:sp>
      <p:sp>
        <p:nvSpPr>
          <p:cNvPr id="52" name="Shape 49"/>
          <p:cNvSpPr/>
          <p:nvPr/>
        </p:nvSpPr>
        <p:spPr>
          <a:xfrm>
            <a:off x="3596640" y="1783080"/>
            <a:ext cx="1341120" cy="1554480"/>
          </a:xfrm>
          <a:prstGeom prst="line">
            <a:avLst/>
          </a:prstGeom>
          <a:noFill/>
          <a:ln w="9525">
            <a:solidFill>
              <a:srgbClr val="B9C1CC"/>
            </a:solidFill>
            <a:prstDash val="solid"/>
          </a:ln>
        </p:spPr>
      </p:sp>
      <p:sp>
        <p:nvSpPr>
          <p:cNvPr id="53" name="Shape 50"/>
          <p:cNvSpPr/>
          <p:nvPr/>
        </p:nvSpPr>
        <p:spPr>
          <a:xfrm>
            <a:off x="3596640" y="1783080"/>
            <a:ext cx="1341120" cy="2331720"/>
          </a:xfrm>
          <a:prstGeom prst="line">
            <a:avLst/>
          </a:prstGeom>
          <a:noFill/>
          <a:ln w="9525">
            <a:solidFill>
              <a:srgbClr val="B9C1CC"/>
            </a:solidFill>
            <a:prstDash val="solid"/>
          </a:ln>
        </p:spPr>
      </p:sp>
      <p:sp>
        <p:nvSpPr>
          <p:cNvPr id="54" name="Shape 51"/>
          <p:cNvSpPr/>
          <p:nvPr/>
        </p:nvSpPr>
        <p:spPr>
          <a:xfrm>
            <a:off x="3596640" y="2560320"/>
            <a:ext cx="1341120" cy="914"/>
          </a:xfrm>
          <a:prstGeom prst="line">
            <a:avLst/>
          </a:prstGeom>
          <a:noFill/>
          <a:ln w="9525">
            <a:solidFill>
              <a:srgbClr val="B9C1CC"/>
            </a:solidFill>
            <a:prstDash val="solid"/>
          </a:ln>
        </p:spPr>
      </p:sp>
      <p:sp>
        <p:nvSpPr>
          <p:cNvPr id="55" name="Shape 52"/>
          <p:cNvSpPr/>
          <p:nvPr/>
        </p:nvSpPr>
        <p:spPr>
          <a:xfrm>
            <a:off x="3596640" y="2560320"/>
            <a:ext cx="1341120" cy="777240"/>
          </a:xfrm>
          <a:prstGeom prst="line">
            <a:avLst/>
          </a:prstGeom>
          <a:noFill/>
          <a:ln w="9525">
            <a:solidFill>
              <a:srgbClr val="B9C1CC"/>
            </a:solidFill>
            <a:prstDash val="solid"/>
          </a:ln>
        </p:spPr>
      </p:sp>
      <p:sp>
        <p:nvSpPr>
          <p:cNvPr id="56" name="Shape 53"/>
          <p:cNvSpPr/>
          <p:nvPr/>
        </p:nvSpPr>
        <p:spPr>
          <a:xfrm>
            <a:off x="3596640" y="2560320"/>
            <a:ext cx="1341120" cy="1554480"/>
          </a:xfrm>
          <a:prstGeom prst="line">
            <a:avLst/>
          </a:prstGeom>
          <a:noFill/>
          <a:ln w="9525">
            <a:solidFill>
              <a:srgbClr val="B9C1CC"/>
            </a:solidFill>
            <a:prstDash val="solid"/>
          </a:ln>
        </p:spPr>
      </p:sp>
      <p:sp>
        <p:nvSpPr>
          <p:cNvPr id="57" name="Shape 54"/>
          <p:cNvSpPr/>
          <p:nvPr/>
        </p:nvSpPr>
        <p:spPr>
          <a:xfrm flipV="1">
            <a:off x="3596640" y="2560320"/>
            <a:ext cx="1341120" cy="777240"/>
          </a:xfrm>
          <a:prstGeom prst="line">
            <a:avLst/>
          </a:prstGeom>
          <a:noFill/>
          <a:ln w="9525">
            <a:solidFill>
              <a:srgbClr val="B9C1CC"/>
            </a:solidFill>
            <a:prstDash val="solid"/>
          </a:ln>
        </p:spPr>
      </p:sp>
      <p:sp>
        <p:nvSpPr>
          <p:cNvPr id="58" name="Shape 55"/>
          <p:cNvSpPr/>
          <p:nvPr/>
        </p:nvSpPr>
        <p:spPr>
          <a:xfrm>
            <a:off x="3596640" y="3337560"/>
            <a:ext cx="1341120" cy="914"/>
          </a:xfrm>
          <a:prstGeom prst="line">
            <a:avLst/>
          </a:prstGeom>
          <a:noFill/>
          <a:ln w="9525">
            <a:solidFill>
              <a:srgbClr val="B9C1CC"/>
            </a:solidFill>
            <a:prstDash val="solid"/>
          </a:ln>
        </p:spPr>
      </p:sp>
      <p:sp>
        <p:nvSpPr>
          <p:cNvPr id="59" name="Shape 56"/>
          <p:cNvSpPr/>
          <p:nvPr/>
        </p:nvSpPr>
        <p:spPr>
          <a:xfrm>
            <a:off x="3596640" y="3337560"/>
            <a:ext cx="1341120" cy="777240"/>
          </a:xfrm>
          <a:prstGeom prst="line">
            <a:avLst/>
          </a:prstGeom>
          <a:noFill/>
          <a:ln w="9525">
            <a:solidFill>
              <a:srgbClr val="B9C1CC"/>
            </a:solidFill>
            <a:prstDash val="solid"/>
          </a:ln>
        </p:spPr>
      </p:sp>
      <p:sp>
        <p:nvSpPr>
          <p:cNvPr id="60" name="Shape 57"/>
          <p:cNvSpPr/>
          <p:nvPr/>
        </p:nvSpPr>
        <p:spPr>
          <a:xfrm flipV="1">
            <a:off x="3596640" y="2560320"/>
            <a:ext cx="1341120" cy="1554480"/>
          </a:xfrm>
          <a:prstGeom prst="line">
            <a:avLst/>
          </a:prstGeom>
          <a:noFill/>
          <a:ln w="9525">
            <a:solidFill>
              <a:srgbClr val="B9C1CC"/>
            </a:solidFill>
            <a:prstDash val="solid"/>
          </a:ln>
        </p:spPr>
      </p:sp>
      <p:sp>
        <p:nvSpPr>
          <p:cNvPr id="61" name="Shape 58"/>
          <p:cNvSpPr/>
          <p:nvPr/>
        </p:nvSpPr>
        <p:spPr>
          <a:xfrm flipV="1">
            <a:off x="3596640" y="3337560"/>
            <a:ext cx="1341120" cy="777240"/>
          </a:xfrm>
          <a:prstGeom prst="line">
            <a:avLst/>
          </a:prstGeom>
          <a:noFill/>
          <a:ln w="9525">
            <a:solidFill>
              <a:srgbClr val="B9C1CC"/>
            </a:solidFill>
            <a:prstDash val="solid"/>
          </a:ln>
        </p:spPr>
      </p:sp>
      <p:sp>
        <p:nvSpPr>
          <p:cNvPr id="62" name="Shape 59"/>
          <p:cNvSpPr/>
          <p:nvPr/>
        </p:nvSpPr>
        <p:spPr>
          <a:xfrm>
            <a:off x="3596640" y="4114800"/>
            <a:ext cx="1341120" cy="914"/>
          </a:xfrm>
          <a:prstGeom prst="line">
            <a:avLst/>
          </a:prstGeom>
          <a:noFill/>
          <a:ln w="9525">
            <a:solidFill>
              <a:srgbClr val="B9C1CC"/>
            </a:solidFill>
            <a:prstDash val="solid"/>
          </a:ln>
        </p:spPr>
      </p:sp>
      <p:sp>
        <p:nvSpPr>
          <p:cNvPr id="63" name="Shape 60"/>
          <p:cNvSpPr/>
          <p:nvPr/>
        </p:nvSpPr>
        <p:spPr>
          <a:xfrm flipV="1">
            <a:off x="3596640" y="2560320"/>
            <a:ext cx="1341120" cy="2331720"/>
          </a:xfrm>
          <a:prstGeom prst="line">
            <a:avLst/>
          </a:prstGeom>
          <a:noFill/>
          <a:ln w="9525">
            <a:solidFill>
              <a:srgbClr val="B9C1CC"/>
            </a:solidFill>
            <a:prstDash val="solid"/>
          </a:ln>
        </p:spPr>
      </p:sp>
      <p:sp>
        <p:nvSpPr>
          <p:cNvPr id="64" name="Shape 61"/>
          <p:cNvSpPr/>
          <p:nvPr/>
        </p:nvSpPr>
        <p:spPr>
          <a:xfrm flipV="1">
            <a:off x="3596640" y="3337560"/>
            <a:ext cx="1341120" cy="1554480"/>
          </a:xfrm>
          <a:prstGeom prst="line">
            <a:avLst/>
          </a:prstGeom>
          <a:noFill/>
          <a:ln w="9525">
            <a:solidFill>
              <a:srgbClr val="B9C1CC"/>
            </a:solidFill>
            <a:prstDash val="solid"/>
          </a:ln>
        </p:spPr>
      </p:sp>
      <p:sp>
        <p:nvSpPr>
          <p:cNvPr id="65" name="Shape 62"/>
          <p:cNvSpPr/>
          <p:nvPr/>
        </p:nvSpPr>
        <p:spPr>
          <a:xfrm flipV="1">
            <a:off x="3596640" y="4114800"/>
            <a:ext cx="1341120" cy="777240"/>
          </a:xfrm>
          <a:prstGeom prst="line">
            <a:avLst/>
          </a:prstGeom>
          <a:noFill/>
          <a:ln w="9525">
            <a:solidFill>
              <a:srgbClr val="B9C1CC"/>
            </a:solidFill>
            <a:prstDash val="solid"/>
          </a:ln>
        </p:spPr>
      </p:sp>
      <p:sp>
        <p:nvSpPr>
          <p:cNvPr id="66" name="Shape 63"/>
          <p:cNvSpPr/>
          <p:nvPr/>
        </p:nvSpPr>
        <p:spPr>
          <a:xfrm>
            <a:off x="749808" y="2007108"/>
            <a:ext cx="329184" cy="329184"/>
          </a:xfrm>
          <a:prstGeom prst="ellipse">
            <a:avLst/>
          </a:prstGeom>
          <a:solidFill>
            <a:srgbClr val="8A94A3"/>
          </a:solidFill>
          <a:ln/>
        </p:spPr>
      </p:sp>
      <p:sp>
        <p:nvSpPr>
          <p:cNvPr id="67" name="Shape 64"/>
          <p:cNvSpPr/>
          <p:nvPr/>
        </p:nvSpPr>
        <p:spPr>
          <a:xfrm>
            <a:off x="749808" y="2784348"/>
            <a:ext cx="329184" cy="329184"/>
          </a:xfrm>
          <a:prstGeom prst="ellipse">
            <a:avLst/>
          </a:prstGeom>
          <a:solidFill>
            <a:srgbClr val="8A94A3"/>
          </a:solidFill>
          <a:ln/>
        </p:spPr>
      </p:sp>
      <p:sp>
        <p:nvSpPr>
          <p:cNvPr id="68" name="Shape 65"/>
          <p:cNvSpPr/>
          <p:nvPr/>
        </p:nvSpPr>
        <p:spPr>
          <a:xfrm>
            <a:off x="749808" y="3561588"/>
            <a:ext cx="329184" cy="329184"/>
          </a:xfrm>
          <a:prstGeom prst="ellipse">
            <a:avLst/>
          </a:prstGeom>
          <a:solidFill>
            <a:srgbClr val="8A94A3"/>
          </a:solidFill>
          <a:ln/>
        </p:spPr>
      </p:sp>
      <p:sp>
        <p:nvSpPr>
          <p:cNvPr id="69" name="Shape 66"/>
          <p:cNvSpPr/>
          <p:nvPr/>
        </p:nvSpPr>
        <p:spPr>
          <a:xfrm>
            <a:off x="749808" y="4338828"/>
            <a:ext cx="329184" cy="329184"/>
          </a:xfrm>
          <a:prstGeom prst="ellipse">
            <a:avLst/>
          </a:prstGeom>
          <a:solidFill>
            <a:srgbClr val="8A94A3"/>
          </a:solidFill>
          <a:ln/>
        </p:spPr>
      </p:sp>
      <p:sp>
        <p:nvSpPr>
          <p:cNvPr id="70" name="Shape 67"/>
          <p:cNvSpPr/>
          <p:nvPr/>
        </p:nvSpPr>
        <p:spPr>
          <a:xfrm>
            <a:off x="2090928" y="1618488"/>
            <a:ext cx="329184" cy="329184"/>
          </a:xfrm>
          <a:prstGeom prst="ellipse">
            <a:avLst/>
          </a:prstGeom>
          <a:solidFill>
            <a:srgbClr val="0E7C7B"/>
          </a:solidFill>
          <a:ln/>
        </p:spPr>
      </p:sp>
      <p:sp>
        <p:nvSpPr>
          <p:cNvPr id="71" name="Shape 68"/>
          <p:cNvSpPr/>
          <p:nvPr/>
        </p:nvSpPr>
        <p:spPr>
          <a:xfrm>
            <a:off x="2090928" y="2395728"/>
            <a:ext cx="329184" cy="329184"/>
          </a:xfrm>
          <a:prstGeom prst="ellipse">
            <a:avLst/>
          </a:prstGeom>
          <a:solidFill>
            <a:srgbClr val="0E7C7B"/>
          </a:solidFill>
          <a:ln/>
        </p:spPr>
      </p:sp>
      <p:sp>
        <p:nvSpPr>
          <p:cNvPr id="72" name="Shape 69"/>
          <p:cNvSpPr/>
          <p:nvPr/>
        </p:nvSpPr>
        <p:spPr>
          <a:xfrm>
            <a:off x="2090928" y="3172968"/>
            <a:ext cx="329184" cy="329184"/>
          </a:xfrm>
          <a:prstGeom prst="ellipse">
            <a:avLst/>
          </a:prstGeom>
          <a:solidFill>
            <a:srgbClr val="0E7C7B"/>
          </a:solidFill>
          <a:ln/>
        </p:spPr>
      </p:sp>
      <p:sp>
        <p:nvSpPr>
          <p:cNvPr id="73" name="Shape 70"/>
          <p:cNvSpPr/>
          <p:nvPr/>
        </p:nvSpPr>
        <p:spPr>
          <a:xfrm>
            <a:off x="2090928" y="3950208"/>
            <a:ext cx="329184" cy="329184"/>
          </a:xfrm>
          <a:prstGeom prst="ellipse">
            <a:avLst/>
          </a:prstGeom>
          <a:solidFill>
            <a:srgbClr val="0E7C7B"/>
          </a:solidFill>
          <a:ln/>
        </p:spPr>
      </p:sp>
      <p:sp>
        <p:nvSpPr>
          <p:cNvPr id="74" name="Shape 71"/>
          <p:cNvSpPr/>
          <p:nvPr/>
        </p:nvSpPr>
        <p:spPr>
          <a:xfrm>
            <a:off x="2090928" y="4727448"/>
            <a:ext cx="329184" cy="329184"/>
          </a:xfrm>
          <a:prstGeom prst="ellipse">
            <a:avLst/>
          </a:prstGeom>
          <a:solidFill>
            <a:srgbClr val="0E7C7B"/>
          </a:solidFill>
          <a:ln/>
        </p:spPr>
      </p:sp>
      <p:sp>
        <p:nvSpPr>
          <p:cNvPr id="75" name="Shape 72"/>
          <p:cNvSpPr/>
          <p:nvPr/>
        </p:nvSpPr>
        <p:spPr>
          <a:xfrm>
            <a:off x="3432048" y="1618488"/>
            <a:ext cx="329184" cy="329184"/>
          </a:xfrm>
          <a:prstGeom prst="ellipse">
            <a:avLst/>
          </a:prstGeom>
          <a:solidFill>
            <a:srgbClr val="0E7C7B"/>
          </a:solidFill>
          <a:ln/>
        </p:spPr>
      </p:sp>
      <p:sp>
        <p:nvSpPr>
          <p:cNvPr id="76" name="Shape 73"/>
          <p:cNvSpPr/>
          <p:nvPr/>
        </p:nvSpPr>
        <p:spPr>
          <a:xfrm>
            <a:off x="3432048" y="2395728"/>
            <a:ext cx="329184" cy="329184"/>
          </a:xfrm>
          <a:prstGeom prst="ellipse">
            <a:avLst/>
          </a:prstGeom>
          <a:solidFill>
            <a:srgbClr val="0E7C7B"/>
          </a:solidFill>
          <a:ln/>
        </p:spPr>
      </p:sp>
      <p:sp>
        <p:nvSpPr>
          <p:cNvPr id="77" name="Shape 74"/>
          <p:cNvSpPr/>
          <p:nvPr/>
        </p:nvSpPr>
        <p:spPr>
          <a:xfrm>
            <a:off x="3432048" y="3172968"/>
            <a:ext cx="329184" cy="329184"/>
          </a:xfrm>
          <a:prstGeom prst="ellipse">
            <a:avLst/>
          </a:prstGeom>
          <a:solidFill>
            <a:srgbClr val="0E7C7B"/>
          </a:solidFill>
          <a:ln/>
        </p:spPr>
      </p:sp>
      <p:sp>
        <p:nvSpPr>
          <p:cNvPr id="78" name="Shape 75"/>
          <p:cNvSpPr/>
          <p:nvPr/>
        </p:nvSpPr>
        <p:spPr>
          <a:xfrm>
            <a:off x="3432048" y="3950208"/>
            <a:ext cx="329184" cy="329184"/>
          </a:xfrm>
          <a:prstGeom prst="ellipse">
            <a:avLst/>
          </a:prstGeom>
          <a:solidFill>
            <a:srgbClr val="0E7C7B"/>
          </a:solidFill>
          <a:ln/>
        </p:spPr>
      </p:sp>
      <p:sp>
        <p:nvSpPr>
          <p:cNvPr id="79" name="Shape 76"/>
          <p:cNvSpPr/>
          <p:nvPr/>
        </p:nvSpPr>
        <p:spPr>
          <a:xfrm>
            <a:off x="3432048" y="4727448"/>
            <a:ext cx="329184" cy="329184"/>
          </a:xfrm>
          <a:prstGeom prst="ellipse">
            <a:avLst/>
          </a:prstGeom>
          <a:solidFill>
            <a:srgbClr val="0E7C7B"/>
          </a:solidFill>
          <a:ln/>
        </p:spPr>
      </p:sp>
      <p:sp>
        <p:nvSpPr>
          <p:cNvPr id="80" name="Shape 77"/>
          <p:cNvSpPr/>
          <p:nvPr/>
        </p:nvSpPr>
        <p:spPr>
          <a:xfrm>
            <a:off x="4773168" y="2395728"/>
            <a:ext cx="329184" cy="329184"/>
          </a:xfrm>
          <a:prstGeom prst="ellipse">
            <a:avLst/>
          </a:prstGeom>
          <a:solidFill>
            <a:srgbClr val="16202E"/>
          </a:solidFill>
          <a:ln/>
        </p:spPr>
      </p:sp>
      <p:sp>
        <p:nvSpPr>
          <p:cNvPr id="81" name="Shape 78"/>
          <p:cNvSpPr/>
          <p:nvPr/>
        </p:nvSpPr>
        <p:spPr>
          <a:xfrm>
            <a:off x="4773168" y="3172968"/>
            <a:ext cx="329184" cy="329184"/>
          </a:xfrm>
          <a:prstGeom prst="ellipse">
            <a:avLst/>
          </a:prstGeom>
          <a:solidFill>
            <a:srgbClr val="16202E"/>
          </a:solidFill>
          <a:ln/>
        </p:spPr>
      </p:sp>
      <p:sp>
        <p:nvSpPr>
          <p:cNvPr id="82" name="Shape 79"/>
          <p:cNvSpPr/>
          <p:nvPr/>
        </p:nvSpPr>
        <p:spPr>
          <a:xfrm>
            <a:off x="4773168" y="3950208"/>
            <a:ext cx="329184" cy="329184"/>
          </a:xfrm>
          <a:prstGeom prst="ellipse">
            <a:avLst/>
          </a:prstGeom>
          <a:solidFill>
            <a:srgbClr val="16202E"/>
          </a:solidFill>
          <a:ln/>
        </p:spPr>
      </p:sp>
      <p:sp>
        <p:nvSpPr>
          <p:cNvPr id="83" name="Text 80"/>
          <p:cNvSpPr txBox="1"/>
          <p:nvPr/>
        </p:nvSpPr>
        <p:spPr>
          <a:xfrm>
            <a:off x="1173480" y="1371600"/>
            <a:ext cx="82296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600" b="1" baseline="30000" dirty="0">
                <a:solidFill>
                  <a:srgbClr val="0E7C7B"/>
                </a:solidFill>
                <a:latin typeface="Calibri" pitchFamily="34" charset="0"/>
                <a:ea typeface="Calibri" pitchFamily="34" charset="-122"/>
                <a:cs typeface="Calibri" pitchFamily="34" charset="-120"/>
              </a:rPr>
              <a:t>[1]</a:t>
            </a:r>
            <a:endParaRPr lang="en-US" sz="1600" dirty="0"/>
          </a:p>
        </p:txBody>
      </p:sp>
      <p:sp>
        <p:nvSpPr>
          <p:cNvPr id="84" name="Text 81"/>
          <p:cNvSpPr txBox="1"/>
          <p:nvPr/>
        </p:nvSpPr>
        <p:spPr>
          <a:xfrm>
            <a:off x="2514600" y="1371600"/>
            <a:ext cx="82296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600" b="1" baseline="30000" dirty="0">
                <a:solidFill>
                  <a:srgbClr val="0E7C7B"/>
                </a:solidFill>
                <a:latin typeface="Calibri" pitchFamily="34" charset="0"/>
                <a:ea typeface="Calibri" pitchFamily="34" charset="-122"/>
                <a:cs typeface="Calibri" pitchFamily="34" charset="-120"/>
              </a:rPr>
              <a:t>[2]</a:t>
            </a:r>
            <a:endParaRPr lang="en-US" sz="1600" dirty="0"/>
          </a:p>
        </p:txBody>
      </p:sp>
      <p:sp>
        <p:nvSpPr>
          <p:cNvPr id="85" name="Text 82"/>
          <p:cNvSpPr txBox="1"/>
          <p:nvPr/>
        </p:nvSpPr>
        <p:spPr>
          <a:xfrm>
            <a:off x="3855720" y="1371600"/>
            <a:ext cx="822960" cy="320040"/>
          </a:xfrm>
          <a:prstGeom prst="rect">
            <a:avLst/>
          </a:prstGeom>
          <a:noFill/>
          <a:ln/>
        </p:spPr>
        <p:txBody>
          <a:bodyPr wrap="square" lIns="0" tIns="0" rIns="0" bIns="0" rtlCol="0" anchor="t"/>
          <a:lstStyle/>
          <a:p>
            <a:pPr algn="ctr"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600" b="1" baseline="30000" dirty="0">
                <a:solidFill>
                  <a:srgbClr val="0E7C7B"/>
                </a:solidFill>
                <a:latin typeface="Calibri" pitchFamily="34" charset="0"/>
                <a:ea typeface="Calibri" pitchFamily="34" charset="-122"/>
                <a:cs typeface="Calibri" pitchFamily="34" charset="-120"/>
              </a:rPr>
              <a:t>[3]</a:t>
            </a:r>
            <a:endParaRPr lang="en-US" sz="1600" dirty="0"/>
          </a:p>
        </p:txBody>
      </p:sp>
      <p:sp>
        <p:nvSpPr>
          <p:cNvPr id="86" name="Text 83"/>
          <p:cNvSpPr txBox="1"/>
          <p:nvPr/>
        </p:nvSpPr>
        <p:spPr>
          <a:xfrm>
            <a:off x="228600" y="5120640"/>
            <a:ext cx="1371600" cy="320040"/>
          </a:xfrm>
          <a:prstGeom prst="rect">
            <a:avLst/>
          </a:prstGeom>
          <a:noFill/>
          <a:ln/>
        </p:spPr>
        <p:txBody>
          <a:bodyPr wrap="square" lIns="0" tIns="0" rIns="0" bIns="0" rtlCol="0" anchor="t"/>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a</a:t>
            </a:r>
            <a:pPr algn="ctr"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[0]</a:t>
            </a:r>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 = x</a:t>
            </a:r>
            <a:endParaRPr lang="en-US" sz="1500" dirty="0"/>
          </a:p>
        </p:txBody>
      </p:sp>
      <p:sp>
        <p:nvSpPr>
          <p:cNvPr id="87" name="Text 84"/>
          <p:cNvSpPr txBox="1"/>
          <p:nvPr/>
        </p:nvSpPr>
        <p:spPr>
          <a:xfrm>
            <a:off x="1569720" y="5120640"/>
            <a:ext cx="1371600" cy="320040"/>
          </a:xfrm>
          <a:prstGeom prst="rect">
            <a:avLst/>
          </a:prstGeom>
          <a:noFill/>
          <a:ln/>
        </p:spPr>
        <p:txBody>
          <a:bodyPr wrap="square" lIns="0" tIns="0" rIns="0" bIns="0" rtlCol="0" anchor="t"/>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a</a:t>
            </a:r>
            <a:pPr algn="ctr"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[1]</a:t>
            </a:r>
            <a:endParaRPr lang="en-US" sz="1500" dirty="0"/>
          </a:p>
        </p:txBody>
      </p:sp>
      <p:sp>
        <p:nvSpPr>
          <p:cNvPr id="88" name="Text 85"/>
          <p:cNvSpPr txBox="1"/>
          <p:nvPr/>
        </p:nvSpPr>
        <p:spPr>
          <a:xfrm>
            <a:off x="2910840" y="5120640"/>
            <a:ext cx="1371600" cy="320040"/>
          </a:xfrm>
          <a:prstGeom prst="rect">
            <a:avLst/>
          </a:prstGeom>
          <a:noFill/>
          <a:ln/>
        </p:spPr>
        <p:txBody>
          <a:bodyPr wrap="square" lIns="0" tIns="0" rIns="0" bIns="0" rtlCol="0" anchor="t"/>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a</a:t>
            </a:r>
            <a:pPr algn="ctr"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[2]</a:t>
            </a:r>
            <a:endParaRPr lang="en-US" sz="1500" dirty="0"/>
          </a:p>
        </p:txBody>
      </p:sp>
      <p:sp>
        <p:nvSpPr>
          <p:cNvPr id="89" name="Text 86"/>
          <p:cNvSpPr txBox="1"/>
          <p:nvPr/>
        </p:nvSpPr>
        <p:spPr>
          <a:xfrm>
            <a:off x="4251960" y="5120640"/>
            <a:ext cx="1371600" cy="320040"/>
          </a:xfrm>
          <a:prstGeom prst="rect">
            <a:avLst/>
          </a:prstGeom>
          <a:noFill/>
          <a:ln/>
        </p:spPr>
        <p:txBody>
          <a:bodyPr wrap="square" lIns="0" tIns="0" rIns="0" bIns="0" rtlCol="0" anchor="t"/>
          <a:lstStyle/>
          <a:p>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z</a:t>
            </a:r>
            <a:pPr algn="ctr"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[3]</a:t>
            </a:r>
            <a:pPr algn="ctr" indent="0" marL="0">
              <a:lnSpc>
                <a:spcPct val="100000"/>
              </a:lnSpc>
              <a:buNone/>
            </a:pPr>
            <a:r>
              <a:rPr lang="en-US" sz="1500" dirty="0">
                <a:solidFill>
                  <a:srgbClr val="16202E"/>
                </a:solidFill>
                <a:latin typeface="Calibri" pitchFamily="34" charset="0"/>
                <a:ea typeface="Calibri" pitchFamily="34" charset="-122"/>
                <a:cs typeface="Calibri" pitchFamily="34" charset="-120"/>
              </a:rPr>
              <a:t> = logits</a:t>
            </a:r>
            <a:endParaRPr lang="en-US" sz="1500" dirty="0"/>
          </a:p>
        </p:txBody>
      </p:sp>
      <p:sp>
        <p:nvSpPr>
          <p:cNvPr id="90" name="Shape 87"/>
          <p:cNvSpPr/>
          <p:nvPr/>
        </p:nvSpPr>
        <p:spPr>
          <a:xfrm>
            <a:off x="5669280" y="1371600"/>
            <a:ext cx="5971032" cy="2240280"/>
          </a:xfrm>
          <a:prstGeom prst="roundRect">
            <a:avLst>
              <a:gd name="adj" fmla="val 3265"/>
            </a:avLst>
          </a:prstGeom>
          <a:solidFill>
            <a:srgbClr val="F3F5F8"/>
          </a:solidFill>
          <a:ln/>
        </p:spPr>
      </p:sp>
      <p:sp>
        <p:nvSpPr>
          <p:cNvPr id="91" name="Text 88"/>
          <p:cNvSpPr txBox="1"/>
          <p:nvPr/>
        </p:nvSpPr>
        <p:spPr>
          <a:xfrm>
            <a:off x="5897880" y="14813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FORWARD PASS, ONE EXAMPLE</a:t>
            </a:r>
            <a:endParaRPr lang="en-US" sz="1100" dirty="0"/>
          </a:p>
        </p:txBody>
      </p:sp>
      <p:pic>
        <p:nvPicPr>
          <p:cNvPr id="92" name="Image 0" descr="equation forward">    </p:cNvPr>
          <p:cNvPicPr>
            <a:picLocks noChangeAspect="1"/>
          </p:cNvPicPr>
          <p:nvPr/>
        </p:nvPicPr>
        <p:blipFill>
          <a:blip r:embed="rId1"/>
          <a:stretch>
            <a:fillRect/>
          </a:stretch>
        </p:blipFill>
        <p:spPr>
          <a:xfrm>
            <a:off x="5897880" y="1810512"/>
            <a:ext cx="4498482" cy="1529663"/>
          </a:xfrm>
          <a:prstGeom prst="rect">
            <a:avLst/>
          </a:prstGeom>
        </p:spPr>
      </p:pic>
      <p:sp>
        <p:nvSpPr>
          <p:cNvPr id="93" name="Shape 89"/>
          <p:cNvSpPr/>
          <p:nvPr/>
        </p:nvSpPr>
        <p:spPr>
          <a:xfrm>
            <a:off x="5669280" y="3794760"/>
            <a:ext cx="5971032" cy="1325880"/>
          </a:xfrm>
          <a:prstGeom prst="roundRect">
            <a:avLst>
              <a:gd name="adj" fmla="val 5517"/>
            </a:avLst>
          </a:prstGeom>
          <a:solidFill>
            <a:srgbClr val="E3F2F1"/>
          </a:solidFill>
          <a:ln/>
        </p:spPr>
      </p:sp>
      <p:sp>
        <p:nvSpPr>
          <p:cNvPr id="94" name="Text 90"/>
          <p:cNvSpPr txBox="1"/>
          <p:nvPr/>
        </p:nvSpPr>
        <p:spPr>
          <a:xfrm>
            <a:off x="5897880" y="390448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SHAPE CHECK</a:t>
            </a:r>
            <a:endParaRPr lang="en-US" sz="1100" dirty="0"/>
          </a:p>
        </p:txBody>
      </p:sp>
      <p:pic>
        <p:nvPicPr>
          <p:cNvPr id="95" name="Image 1" descr="equation shapes">    </p:cNvPr>
          <p:cNvPicPr>
            <a:picLocks noChangeAspect="1"/>
          </p:cNvPicPr>
          <p:nvPr/>
        </p:nvPicPr>
        <p:blipFill>
          <a:blip r:embed="rId2"/>
          <a:stretch>
            <a:fillRect/>
          </a:stretch>
        </p:blipFill>
        <p:spPr>
          <a:xfrm>
            <a:off x="5897880" y="4224528"/>
            <a:ext cx="3528670" cy="640080"/>
          </a:xfrm>
          <a:prstGeom prst="rect">
            <a:avLst/>
          </a:prstGeom>
        </p:spPr>
      </p:pic>
      <p:sp>
        <p:nvSpPr>
          <p:cNvPr id="96" name="Text 91"/>
          <p:cNvSpPr txBox="1"/>
          <p:nvPr/>
        </p:nvSpPr>
        <p:spPr>
          <a:xfrm>
            <a:off x="5669280" y="5303520"/>
            <a:ext cx="5971032" cy="5486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W</a:t>
            </a:r>
            <a:pPr algn="l" indent="0" marL="0">
              <a:lnSpc>
                <a:spcPct val="100000"/>
              </a:lnSpc>
              <a:buNone/>
            </a:pPr>
            <a:r>
              <a:rPr lang="en-US" sz="1500" baseline="30000" dirty="0">
                <a:solidFill>
                  <a:srgbClr val="5B6675"/>
                </a:solidFill>
                <a:latin typeface="Calibri" pitchFamily="34" charset="0"/>
                <a:ea typeface="Calibri" pitchFamily="34" charset="-122"/>
                <a:cs typeface="Calibri" pitchFamily="34" charset="-120"/>
              </a:rPr>
              <a:t>[ℓ]</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one </a:t>
            </a:r>
            <a:pPr algn="l" indent="0" marL="0">
              <a:lnSpc>
                <a:spcPct val="100000"/>
              </a:lnSpc>
              <a:buNone/>
            </a:pPr>
            <a:r>
              <a:rPr lang="en-US" sz="1500" b="1" dirty="0">
                <a:solidFill>
                  <a:srgbClr val="5B6675"/>
                </a:solidFill>
                <a:latin typeface="Calibri" pitchFamily="34" charset="0"/>
                <a:ea typeface="Calibri" pitchFamily="34" charset="-122"/>
                <a:cs typeface="Calibri" pitchFamily="34" charset="-120"/>
              </a:rPr>
              <a:t>row</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per unit of layer ℓ, one </a:t>
            </a:r>
            <a:pPr algn="l" indent="0" marL="0">
              <a:lnSpc>
                <a:spcPct val="100000"/>
              </a:lnSpc>
              <a:buNone/>
            </a:pPr>
            <a:r>
              <a:rPr lang="en-US" sz="1500" b="1" dirty="0">
                <a:solidFill>
                  <a:srgbClr val="5B6675"/>
                </a:solidFill>
                <a:latin typeface="Calibri" pitchFamily="34" charset="0"/>
                <a:ea typeface="Calibri" pitchFamily="34" charset="-122"/>
                <a:cs typeface="Calibri" pitchFamily="34" charset="-120"/>
              </a:rPr>
              <a:t>column</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per unit of layer ℓ−1.</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RUNNING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Running example: a 784–128–64–10 MLP for Fashion-MNIST</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count its parameters</a:t>
            </a:r>
            <a:endParaRPr lang="en-US" sz="1100" dirty="0"/>
          </a:p>
        </p:txBody>
      </p:sp>
      <p:pic>
        <p:nvPicPr>
          <p:cNvPr id="6" name="Image 0" descr="Fashion-MNIST: one example per class">    </p:cNvPr>
          <p:cNvPicPr>
            <a:picLocks noChangeAspect="1"/>
          </p:cNvPicPr>
          <p:nvPr/>
        </p:nvPicPr>
        <p:blipFill>
          <a:blip r:embed="rId1"/>
          <a:stretch>
            <a:fillRect/>
          </a:stretch>
        </p:blipFill>
        <p:spPr>
          <a:xfrm>
            <a:off x="613238" y="1371600"/>
            <a:ext cx="4808564" cy="2377440"/>
          </a:xfrm>
          <a:prstGeom prst="rect">
            <a:avLst/>
          </a:prstGeom>
        </p:spPr>
      </p:pic>
      <p:sp>
        <p:nvSpPr>
          <p:cNvPr id="7" name="Text 3"/>
          <p:cNvSpPr txBox="1"/>
          <p:nvPr/>
        </p:nvSpPr>
        <p:spPr>
          <a:xfrm>
            <a:off x="548640" y="3886200"/>
            <a:ext cx="4937760" cy="731520"/>
          </a:xfrm>
          <a:prstGeom prst="rect">
            <a:avLst/>
          </a:prstGeom>
          <a:noFill/>
          <a:ln/>
        </p:spPr>
        <p:txBody>
          <a:bodyPr wrap="square" lIns="0" tIns="0" rIns="0" bIns="0" rtlCol="0" anchor="t"/>
          <a:lstStyle/>
          <a:p>
            <a:pPr algn="ctr" indent="0" marL="0">
              <a:lnSpc>
                <a:spcPct val="100000"/>
              </a:lnSpc>
              <a:spcAft>
                <a:spcPts val="400"/>
              </a:spcAft>
              <a:buNone/>
            </a:pPr>
            <a:r>
              <a:rPr lang="en-US" sz="1550" dirty="0">
                <a:solidFill>
                  <a:srgbClr val="16202E"/>
                </a:solidFill>
                <a:latin typeface="Calibri" pitchFamily="34" charset="0"/>
                <a:ea typeface="Calibri" pitchFamily="34" charset="-122"/>
                <a:cs typeface="Calibri" pitchFamily="34" charset="-120"/>
              </a:rPr>
              <a:t>70,000 grey 28×28 images · 10 classes</a:t>
            </a:r>
            <a:pPr algn="ctr" indent="0" marL="0">
              <a:lnSpc>
                <a:spcPct val="100000"/>
              </a:lnSpc>
              <a:spcAft>
                <a:spcPts val="400"/>
              </a:spcAft>
              <a:buNone/>
            </a:pPr>
            <a:endParaRPr lang="en-US" sz="1550" dirty="0"/>
          </a:p>
          <a:p>
            <a:pPr algn="ctr" indent="0" marL="0">
              <a:lnSpc>
                <a:spcPct val="100000"/>
              </a:lnSpc>
              <a:spcAft>
                <a:spcPts val="400"/>
              </a:spcAft>
              <a:buNone/>
            </a:pPr>
            <a:r>
              <a:rPr lang="en-US" sz="1550" dirty="0">
                <a:solidFill>
                  <a:srgbClr val="16202E"/>
                </a:solidFill>
                <a:latin typeface="Calibri" pitchFamily="34" charset="0"/>
                <a:ea typeface="Calibri" pitchFamily="34" charset="-122"/>
                <a:cs typeface="Calibri" pitchFamily="34" charset="-120"/>
              </a:rPr>
              <a:t>split: </a:t>
            </a:r>
            <a:pPr algn="ctr" indent="0" marL="0">
              <a:lnSpc>
                <a:spcPct val="100000"/>
              </a:lnSpc>
              <a:spcAft>
                <a:spcPts val="400"/>
              </a:spcAft>
              <a:buNone/>
            </a:pPr>
            <a:r>
              <a:rPr lang="en-US" sz="1550" b="1" dirty="0">
                <a:solidFill>
                  <a:srgbClr val="16202E"/>
                </a:solidFill>
                <a:latin typeface="Calibri" pitchFamily="34" charset="0"/>
                <a:ea typeface="Calibri" pitchFamily="34" charset="-122"/>
                <a:cs typeface="Calibri" pitchFamily="34" charset="-120"/>
              </a:rPr>
              <a:t>55,000 train · 5,000 validation · 10,000 test</a:t>
            </a:r>
            <a:endParaRPr lang="en-US" sz="1550" dirty="0"/>
          </a:p>
        </p:txBody>
      </p:sp>
      <p:sp>
        <p:nvSpPr>
          <p:cNvPr id="8" name="Shape 4"/>
          <p:cNvSpPr/>
          <p:nvPr/>
        </p:nvSpPr>
        <p:spPr>
          <a:xfrm>
            <a:off x="548640" y="4892040"/>
            <a:ext cx="4937760" cy="1234440"/>
          </a:xfrm>
          <a:prstGeom prst="roundRect">
            <a:avLst>
              <a:gd name="adj" fmla="val 5926"/>
            </a:avLst>
          </a:prstGeom>
          <a:solidFill>
            <a:srgbClr val="FCEDE3"/>
          </a:solidFill>
          <a:ln/>
        </p:spPr>
      </p:sp>
      <p:sp>
        <p:nvSpPr>
          <p:cNvPr id="9" name="Text 5"/>
          <p:cNvSpPr txBox="1"/>
          <p:nvPr/>
        </p:nvSpPr>
        <p:spPr>
          <a:xfrm>
            <a:off x="777240" y="4892040"/>
            <a:ext cx="4480560" cy="1234440"/>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Predict:</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what is the shape of W</a:t>
            </a:r>
            <a:pPr algn="l" indent="0" marL="0">
              <a:lnSpc>
                <a:spcPct val="100000"/>
              </a:lnSpc>
              <a:buNone/>
            </a:pPr>
            <a:r>
              <a:rPr lang="en-US" sz="1600" baseline="3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784 × 128, or 128 × 784?  (answer on the next slide)</a:t>
            </a:r>
            <a:endParaRPr lang="en-US" sz="1600" dirty="0"/>
          </a:p>
        </p:txBody>
      </p:sp>
      <p:sp>
        <p:nvSpPr>
          <p:cNvPr id="10" name="Shape 6"/>
          <p:cNvSpPr/>
          <p:nvPr/>
        </p:nvSpPr>
        <p:spPr>
          <a:xfrm>
            <a:off x="5943600" y="1371600"/>
            <a:ext cx="5696712" cy="658368"/>
          </a:xfrm>
          <a:prstGeom prst="roundRect">
            <a:avLst>
              <a:gd name="adj" fmla="val 11111"/>
            </a:avLst>
          </a:prstGeom>
          <a:solidFill>
            <a:srgbClr val="FFFFFF"/>
          </a:solidFill>
          <a:ln w="12700">
            <a:solidFill>
              <a:srgbClr val="D5DBE3"/>
            </a:solidFill>
            <a:prstDash val="solid"/>
          </a:ln>
        </p:spPr>
      </p:sp>
      <p:sp>
        <p:nvSpPr>
          <p:cNvPr id="11" name="Text 7"/>
          <p:cNvSpPr txBox="1"/>
          <p:nvPr/>
        </p:nvSpPr>
        <p:spPr>
          <a:xfrm>
            <a:off x="6172200" y="1371600"/>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Input batch</a:t>
            </a:r>
            <a:endParaRPr lang="en-US" sz="1700" dirty="0"/>
          </a:p>
        </p:txBody>
      </p:sp>
      <p:sp>
        <p:nvSpPr>
          <p:cNvPr id="12" name="Text 8"/>
          <p:cNvSpPr txBox="1"/>
          <p:nvPr/>
        </p:nvSpPr>
        <p:spPr>
          <a:xfrm>
            <a:off x="8778240" y="1371600"/>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(256, 28, 28)</a:t>
            </a:r>
            <a:endParaRPr lang="en-US" sz="1800" dirty="0"/>
          </a:p>
        </p:txBody>
      </p:sp>
      <p:sp>
        <p:nvSpPr>
          <p:cNvPr id="13" name="Shape 9"/>
          <p:cNvSpPr/>
          <p:nvPr/>
        </p:nvSpPr>
        <p:spPr>
          <a:xfrm>
            <a:off x="8778240" y="2048256"/>
            <a:ext cx="914" cy="201168"/>
          </a:xfrm>
          <a:prstGeom prst="line">
            <a:avLst/>
          </a:prstGeom>
          <a:noFill/>
          <a:ln w="15875">
            <a:solidFill>
              <a:srgbClr val="8A94A3"/>
            </a:solidFill>
            <a:prstDash val="solid"/>
            <a:tailEnd type="triangle"/>
          </a:ln>
        </p:spPr>
      </p:sp>
      <p:sp>
        <p:nvSpPr>
          <p:cNvPr id="14" name="Shape 10"/>
          <p:cNvSpPr/>
          <p:nvPr/>
        </p:nvSpPr>
        <p:spPr>
          <a:xfrm>
            <a:off x="5943600" y="2267712"/>
            <a:ext cx="5696712" cy="658368"/>
          </a:xfrm>
          <a:prstGeom prst="roundRect">
            <a:avLst>
              <a:gd name="adj" fmla="val 11111"/>
            </a:avLst>
          </a:prstGeom>
          <a:solidFill>
            <a:srgbClr val="F3F5F8"/>
          </a:solidFill>
          <a:ln/>
        </p:spPr>
      </p:sp>
      <p:sp>
        <p:nvSpPr>
          <p:cNvPr id="15" name="Text 11"/>
          <p:cNvSpPr txBox="1"/>
          <p:nvPr/>
        </p:nvSpPr>
        <p:spPr>
          <a:xfrm>
            <a:off x="6172200" y="2267712"/>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Flatten</a:t>
            </a:r>
            <a:endParaRPr lang="en-US" sz="1700" dirty="0"/>
          </a:p>
        </p:txBody>
      </p:sp>
      <p:sp>
        <p:nvSpPr>
          <p:cNvPr id="16" name="Text 12"/>
          <p:cNvSpPr txBox="1"/>
          <p:nvPr/>
        </p:nvSpPr>
        <p:spPr>
          <a:xfrm>
            <a:off x="8778240" y="2267712"/>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(256, 784)</a:t>
            </a:r>
            <a:endParaRPr lang="en-US" sz="1800" dirty="0"/>
          </a:p>
        </p:txBody>
      </p:sp>
      <p:sp>
        <p:nvSpPr>
          <p:cNvPr id="17" name="Shape 13"/>
          <p:cNvSpPr/>
          <p:nvPr/>
        </p:nvSpPr>
        <p:spPr>
          <a:xfrm>
            <a:off x="8778240" y="2944368"/>
            <a:ext cx="914" cy="201168"/>
          </a:xfrm>
          <a:prstGeom prst="line">
            <a:avLst/>
          </a:prstGeom>
          <a:noFill/>
          <a:ln w="15875">
            <a:solidFill>
              <a:srgbClr val="8A94A3"/>
            </a:solidFill>
            <a:prstDash val="solid"/>
            <a:tailEnd type="triangle"/>
          </a:ln>
        </p:spPr>
      </p:sp>
      <p:sp>
        <p:nvSpPr>
          <p:cNvPr id="18" name="Shape 14"/>
          <p:cNvSpPr/>
          <p:nvPr/>
        </p:nvSpPr>
        <p:spPr>
          <a:xfrm>
            <a:off x="5943600" y="3163824"/>
            <a:ext cx="5696712" cy="658368"/>
          </a:xfrm>
          <a:prstGeom prst="roundRect">
            <a:avLst>
              <a:gd name="adj" fmla="val 11111"/>
            </a:avLst>
          </a:prstGeom>
          <a:solidFill>
            <a:srgbClr val="E3F2F1"/>
          </a:solidFill>
          <a:ln/>
        </p:spPr>
      </p:sp>
      <p:sp>
        <p:nvSpPr>
          <p:cNvPr id="19" name="Text 15"/>
          <p:cNvSpPr txBox="1"/>
          <p:nvPr/>
        </p:nvSpPr>
        <p:spPr>
          <a:xfrm>
            <a:off x="6172200" y="3163824"/>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Linear + ReLU</a:t>
            </a:r>
            <a:endParaRPr lang="en-US" sz="1700" dirty="0"/>
          </a:p>
        </p:txBody>
      </p:sp>
      <p:sp>
        <p:nvSpPr>
          <p:cNvPr id="20" name="Text 16"/>
          <p:cNvSpPr txBox="1"/>
          <p:nvPr/>
        </p:nvSpPr>
        <p:spPr>
          <a:xfrm>
            <a:off x="8778240" y="3163824"/>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(256, 128)</a:t>
            </a:r>
            <a:endParaRPr lang="en-US" sz="1800" dirty="0"/>
          </a:p>
        </p:txBody>
      </p:sp>
      <p:sp>
        <p:nvSpPr>
          <p:cNvPr id="21" name="Shape 17"/>
          <p:cNvSpPr/>
          <p:nvPr/>
        </p:nvSpPr>
        <p:spPr>
          <a:xfrm>
            <a:off x="8778240" y="3840480"/>
            <a:ext cx="914" cy="201168"/>
          </a:xfrm>
          <a:prstGeom prst="line">
            <a:avLst/>
          </a:prstGeom>
          <a:noFill/>
          <a:ln w="15875">
            <a:solidFill>
              <a:srgbClr val="8A94A3"/>
            </a:solidFill>
            <a:prstDash val="solid"/>
            <a:tailEnd type="triangle"/>
          </a:ln>
        </p:spPr>
      </p:sp>
      <p:sp>
        <p:nvSpPr>
          <p:cNvPr id="22" name="Shape 18"/>
          <p:cNvSpPr/>
          <p:nvPr/>
        </p:nvSpPr>
        <p:spPr>
          <a:xfrm>
            <a:off x="5943600" y="4059936"/>
            <a:ext cx="5696712" cy="658368"/>
          </a:xfrm>
          <a:prstGeom prst="roundRect">
            <a:avLst>
              <a:gd name="adj" fmla="val 11111"/>
            </a:avLst>
          </a:prstGeom>
          <a:solidFill>
            <a:srgbClr val="E3F2F1"/>
          </a:solidFill>
          <a:ln/>
        </p:spPr>
      </p:sp>
      <p:sp>
        <p:nvSpPr>
          <p:cNvPr id="23" name="Text 19"/>
          <p:cNvSpPr txBox="1"/>
          <p:nvPr/>
        </p:nvSpPr>
        <p:spPr>
          <a:xfrm>
            <a:off x="6172200" y="4059936"/>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Linear + ReLU</a:t>
            </a:r>
            <a:endParaRPr lang="en-US" sz="1700" dirty="0"/>
          </a:p>
        </p:txBody>
      </p:sp>
      <p:sp>
        <p:nvSpPr>
          <p:cNvPr id="24" name="Text 20"/>
          <p:cNvSpPr txBox="1"/>
          <p:nvPr/>
        </p:nvSpPr>
        <p:spPr>
          <a:xfrm>
            <a:off x="8778240" y="4059936"/>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(256, 64)</a:t>
            </a:r>
            <a:endParaRPr lang="en-US" sz="1800" dirty="0"/>
          </a:p>
        </p:txBody>
      </p:sp>
      <p:sp>
        <p:nvSpPr>
          <p:cNvPr id="25" name="Shape 21"/>
          <p:cNvSpPr/>
          <p:nvPr/>
        </p:nvSpPr>
        <p:spPr>
          <a:xfrm>
            <a:off x="8778240" y="4736592"/>
            <a:ext cx="914" cy="201168"/>
          </a:xfrm>
          <a:prstGeom prst="line">
            <a:avLst/>
          </a:prstGeom>
          <a:noFill/>
          <a:ln w="15875">
            <a:solidFill>
              <a:srgbClr val="8A94A3"/>
            </a:solidFill>
            <a:prstDash val="solid"/>
            <a:tailEnd type="triangle"/>
          </a:ln>
        </p:spPr>
      </p:sp>
      <p:sp>
        <p:nvSpPr>
          <p:cNvPr id="26" name="Shape 22"/>
          <p:cNvSpPr/>
          <p:nvPr/>
        </p:nvSpPr>
        <p:spPr>
          <a:xfrm>
            <a:off x="5943600" y="4956048"/>
            <a:ext cx="5696712" cy="658368"/>
          </a:xfrm>
          <a:prstGeom prst="roundRect">
            <a:avLst>
              <a:gd name="adj" fmla="val 11111"/>
            </a:avLst>
          </a:prstGeom>
          <a:solidFill>
            <a:srgbClr val="D6E4F5"/>
          </a:solidFill>
          <a:ln/>
        </p:spPr>
      </p:sp>
      <p:sp>
        <p:nvSpPr>
          <p:cNvPr id="27" name="Text 23"/>
          <p:cNvSpPr txBox="1"/>
          <p:nvPr/>
        </p:nvSpPr>
        <p:spPr>
          <a:xfrm>
            <a:off x="6172200" y="4956048"/>
            <a:ext cx="2377440" cy="658368"/>
          </a:xfrm>
          <a:prstGeom prst="rect">
            <a:avLst/>
          </a:prstGeom>
          <a:noFill/>
          <a:ln/>
        </p:spPr>
        <p:txBody>
          <a:bodyPr wrap="square" lIns="0" tIns="0" rIns="0" bIns="0" rtlCol="0" anchor="ctr"/>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Linear → logits</a:t>
            </a:r>
            <a:endParaRPr lang="en-US" sz="1700" dirty="0"/>
          </a:p>
        </p:txBody>
      </p:sp>
      <p:sp>
        <p:nvSpPr>
          <p:cNvPr id="28" name="Text 24"/>
          <p:cNvSpPr txBox="1"/>
          <p:nvPr/>
        </p:nvSpPr>
        <p:spPr>
          <a:xfrm>
            <a:off x="8778240" y="4956048"/>
            <a:ext cx="2743200" cy="658368"/>
          </a:xfrm>
          <a:prstGeom prst="rect">
            <a:avLst/>
          </a:prstGeom>
          <a:noFill/>
          <a:ln/>
        </p:spPr>
        <p:txBody>
          <a:bodyPr wrap="square" lIns="0" tIns="0" rIns="0" bIns="0" rtlCol="0" anchor="ctr"/>
          <a:lstStyle/>
          <a:p>
            <a:pPr algn="l" indent="0" marL="0">
              <a:lnSpc>
                <a:spcPct val="100000"/>
              </a:lnSpc>
              <a:buNone/>
            </a:pPr>
            <a:r>
              <a:rPr lang="en-US" sz="1800" b="1" dirty="0">
                <a:solidFill>
                  <a:srgbClr val="0E7C7B"/>
                </a:solidFill>
                <a:latin typeface="Courier New" pitchFamily="34" charset="0"/>
                <a:ea typeface="Courier New" pitchFamily="34" charset="-122"/>
                <a:cs typeface="Courier New" pitchFamily="34" charset="-120"/>
              </a:rPr>
              <a:t>(256, 10)</a:t>
            </a:r>
            <a:endParaRPr lang="en-US" sz="1800" dirty="0"/>
          </a:p>
        </p:txBody>
      </p:sp>
      <p:sp>
        <p:nvSpPr>
          <p:cNvPr id="29" name="Text 25"/>
          <p:cNvSpPr txBox="1"/>
          <p:nvPr/>
        </p:nvSpPr>
        <p:spPr>
          <a:xfrm>
            <a:off x="5943600" y="5870448"/>
            <a:ext cx="5696712" cy="274320"/>
          </a:xfrm>
          <a:prstGeom prst="rect">
            <a:avLst/>
          </a:prstGeom>
          <a:noFill/>
          <a:ln/>
        </p:spPr>
        <p:txBody>
          <a:bodyPr wrap="square" lIns="0" tIns="0" rIns="0" bIns="0" rtlCol="0" anchor="t"/>
          <a:lstStyle/>
          <a:p>
            <a:pPr algn="l" indent="0" marL="0">
              <a:lnSpc>
                <a:spcPct val="100000"/>
              </a:lnSpc>
              <a:buNone/>
            </a:pPr>
            <a:r>
              <a:rPr lang="en-US" sz="1400" i="1" dirty="0">
                <a:solidFill>
                  <a:srgbClr val="5B6675"/>
                </a:solidFill>
                <a:latin typeface="Calibri" pitchFamily="34" charset="0"/>
                <a:ea typeface="Calibri" pitchFamily="34" charset="-122"/>
                <a:cs typeface="Calibri" pitchFamily="34" charset="-120"/>
              </a:rPr>
              <a:t>Batch size B = 256: the first dimension never changes.</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RUNNING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109,386 parameters, and 92% of them sit in the first layer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turn 10 scores into probabilities</a:t>
            </a:r>
            <a:endParaRPr lang="en-US" sz="1100" dirty="0"/>
          </a:p>
        </p:txBody>
      </p:sp>
      <p:sp>
        <p:nvSpPr>
          <p:cNvPr id="6" name="Shape 3"/>
          <p:cNvSpPr/>
          <p:nvPr/>
        </p:nvSpPr>
        <p:spPr>
          <a:xfrm>
            <a:off x="548640" y="1371600"/>
            <a:ext cx="5760720" cy="2377440"/>
          </a:xfrm>
          <a:prstGeom prst="roundRect">
            <a:avLst>
              <a:gd name="adj" fmla="val 3077"/>
            </a:avLst>
          </a:prstGeom>
          <a:solidFill>
            <a:srgbClr val="16202E"/>
          </a:solidFill>
          <a:ln/>
        </p:spPr>
      </p:sp>
      <p:sp>
        <p:nvSpPr>
          <p:cNvPr id="7" name="Text 4"/>
          <p:cNvSpPr txBox="1"/>
          <p:nvPr/>
        </p:nvSpPr>
        <p:spPr>
          <a:xfrm>
            <a:off x="822960" y="1463040"/>
            <a:ext cx="5394960" cy="2194560"/>
          </a:xfrm>
          <a:prstGeom prst="rect">
            <a:avLst/>
          </a:prstGeom>
          <a:noFill/>
          <a:ln/>
        </p:spPr>
        <p:txBody>
          <a:bodyPr wrap="square" lIns="0" tIns="0" rIns="0" bIns="0" rtlCol="0" anchor="ctr"/>
          <a:lstStyle/>
          <a:p>
            <a:pPr algn="l"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layer 1:  128·784 + 128  =  100,480</a:t>
            </a:r>
            <a:endParaRPr lang="en-US" sz="1700" dirty="0"/>
          </a:p>
          <a:p>
            <a:pPr algn="l"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layer 2:   64·128 +  64  =    8,256</a:t>
            </a:r>
            <a:endParaRPr lang="en-US" sz="1700" dirty="0"/>
          </a:p>
          <a:p>
            <a:pPr algn="l"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layer 3:   10·64  +  10  =      650</a:t>
            </a:r>
            <a:endParaRPr lang="en-US" sz="1700" dirty="0"/>
          </a:p>
          <a:p>
            <a:pPr algn="l" indent="0" marL="0">
              <a:lnSpc>
                <a:spcPct val="115000"/>
              </a:lnSpc>
              <a:buNone/>
            </a:pPr>
            <a:r>
              <a:rPr lang="en-US" sz="1700" dirty="0">
                <a:solidFill>
                  <a:srgbClr val="FFFFFF"/>
                </a:solidFill>
                <a:latin typeface="Courier New" pitchFamily="34" charset="0"/>
                <a:ea typeface="Courier New" pitchFamily="34" charset="-122"/>
                <a:cs typeface="Courier New" pitchFamily="34" charset="-120"/>
              </a:rPr>
              <a:t>                    total  =  109,386</a:t>
            </a:r>
            <a:endParaRPr lang="en-US" sz="1700" dirty="0"/>
          </a:p>
        </p:txBody>
      </p:sp>
      <p:pic>
        <p:nvPicPr>
          <p:cNvPr id="8" name="Image 0" descr="equation params">    </p:cNvPr>
          <p:cNvPicPr>
            <a:picLocks noChangeAspect="1"/>
          </p:cNvPicPr>
          <p:nvPr/>
        </p:nvPicPr>
        <p:blipFill>
          <a:blip r:embed="rId1"/>
          <a:stretch>
            <a:fillRect/>
          </a:stretch>
        </p:blipFill>
        <p:spPr>
          <a:xfrm>
            <a:off x="731520" y="3977640"/>
            <a:ext cx="3854196" cy="699516"/>
          </a:xfrm>
          <a:prstGeom prst="rect">
            <a:avLst/>
          </a:prstGeom>
        </p:spPr>
      </p:pic>
      <p:sp>
        <p:nvSpPr>
          <p:cNvPr id="9" name="Shape 5"/>
          <p:cNvSpPr/>
          <p:nvPr/>
        </p:nvSpPr>
        <p:spPr>
          <a:xfrm>
            <a:off x="548640" y="4892040"/>
            <a:ext cx="5760720" cy="1234440"/>
          </a:xfrm>
          <a:prstGeom prst="roundRect">
            <a:avLst>
              <a:gd name="adj" fmla="val 5926"/>
            </a:avLst>
          </a:prstGeom>
          <a:solidFill>
            <a:srgbClr val="E3F2F1"/>
          </a:solidFill>
          <a:ln/>
        </p:spPr>
      </p:sp>
      <p:sp>
        <p:nvSpPr>
          <p:cNvPr id="10" name="Text 6"/>
          <p:cNvSpPr txBox="1"/>
          <p:nvPr/>
        </p:nvSpPr>
        <p:spPr>
          <a:xfrm>
            <a:off x="777240" y="4937760"/>
            <a:ext cx="5394960" cy="365760"/>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Answer:</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W</a:t>
            </a:r>
            <a:pPr algn="l" indent="0" marL="0">
              <a:lnSpc>
                <a:spcPct val="100000"/>
              </a:lnSpc>
              <a:buNone/>
            </a:pPr>
            <a:r>
              <a:rPr lang="en-US" sz="1600" baseline="3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is </a:t>
            </a:r>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128 × 784</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 one row per hidden unit.</a:t>
            </a:r>
            <a:endParaRPr lang="en-US" sz="1600" dirty="0"/>
          </a:p>
        </p:txBody>
      </p:sp>
      <p:pic>
        <p:nvPicPr>
          <p:cNvPr id="11" name="Image 1" descr="equation batch">    </p:cNvPr>
          <p:cNvPicPr>
            <a:picLocks noChangeAspect="1"/>
          </p:cNvPicPr>
          <p:nvPr/>
        </p:nvPicPr>
        <p:blipFill>
          <a:blip r:embed="rId2"/>
          <a:stretch>
            <a:fillRect/>
          </a:stretch>
        </p:blipFill>
        <p:spPr>
          <a:xfrm>
            <a:off x="822960" y="5349240"/>
            <a:ext cx="2777728" cy="551200"/>
          </a:xfrm>
          <a:prstGeom prst="rect">
            <a:avLst/>
          </a:prstGeom>
        </p:spPr>
      </p:pic>
      <p:sp>
        <p:nvSpPr>
          <p:cNvPr id="12" name="Text 7"/>
          <p:cNvSpPr txBox="1"/>
          <p:nvPr/>
        </p:nvSpPr>
        <p:spPr>
          <a:xfrm>
            <a:off x="3794760" y="5532120"/>
            <a:ext cx="2286000" cy="3200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(rows = examples)</a:t>
            </a:r>
            <a:endParaRPr lang="en-US" sz="1350" dirty="0"/>
          </a:p>
        </p:txBody>
      </p:sp>
      <p:graphicFrame>
        <p:nvGraphicFramePr>
          <p:cNvPr id="13" name="Chart 0" descr=""/>
          <p:cNvGraphicFramePr/>
          <p:nvPr/>
        </p:nvGraphicFramePr>
        <p:xfrm>
          <a:off x="6583680" y="1325880"/>
          <a:ext cx="5074920" cy="3063240"/>
        </p:xfrm>
        <a:graphic xmlns:a="http://schemas.openxmlformats.org/drawingml/2006/main">
          <a:graphicData uri="http://schemas.openxmlformats.org/drawingml/2006/chart">
            <c:chart xmlns:c="http://schemas.openxmlformats.org/drawingml/2006/chart" r:id="rId3"/>
          </a:graphicData>
        </a:graphic>
      </p:graphicFrame>
      <p:sp>
        <p:nvSpPr>
          <p:cNvPr id="14" name="Text 8"/>
          <p:cNvSpPr txBox="1"/>
          <p:nvPr/>
        </p:nvSpPr>
        <p:spPr>
          <a:xfrm>
            <a:off x="6766560" y="4572000"/>
            <a:ext cx="1920240" cy="914400"/>
          </a:xfrm>
          <a:prstGeom prst="rect">
            <a:avLst/>
          </a:prstGeom>
          <a:noFill/>
          <a:ln/>
        </p:spPr>
        <p:txBody>
          <a:bodyPr wrap="square" lIns="0" tIns="0" rIns="0" bIns="0" rtlCol="0" anchor="t"/>
          <a:lstStyle/>
          <a:p>
            <a:pPr algn="l" indent="0" marL="0">
              <a:lnSpc>
                <a:spcPct val="100000"/>
              </a:lnSpc>
              <a:buNone/>
            </a:pPr>
            <a:r>
              <a:rPr lang="en-US" sz="5400" b="1" dirty="0">
                <a:solidFill>
                  <a:srgbClr val="0E7C7B"/>
                </a:solidFill>
                <a:latin typeface="Cambria" pitchFamily="34" charset="0"/>
                <a:ea typeface="Cambria" pitchFamily="34" charset="-122"/>
                <a:cs typeface="Cambria" pitchFamily="34" charset="-120"/>
              </a:rPr>
              <a:t>92%</a:t>
            </a:r>
            <a:endParaRPr lang="en-US" sz="5400" dirty="0"/>
          </a:p>
        </p:txBody>
      </p:sp>
      <p:sp>
        <p:nvSpPr>
          <p:cNvPr id="15" name="Text 9"/>
          <p:cNvSpPr txBox="1"/>
          <p:nvPr/>
        </p:nvSpPr>
        <p:spPr>
          <a:xfrm>
            <a:off x="8686800" y="4709160"/>
            <a:ext cx="2926080" cy="822960"/>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of all 109,386 parameters are in layer 1: it connects to every pixel.</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THE OUTPUT</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The last layer outputs 10 logits; softmax turns them into probabilities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2</a:t>
            </a:r>
            <a:endParaRPr lang="en-US" sz="1100" dirty="0"/>
          </a:p>
        </p:txBody>
      </p:sp>
      <p:graphicFrame>
        <p:nvGraphicFramePr>
          <p:cNvPr id="6" name="Chart 0" descr=""/>
          <p:cNvGraphicFramePr/>
          <p:nvPr/>
        </p:nvGraphicFramePr>
        <p:xfrm>
          <a:off x="548640" y="1371600"/>
          <a:ext cx="3017520" cy="29260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3657600" y="2834640"/>
            <a:ext cx="685800" cy="914"/>
          </a:xfrm>
          <a:prstGeom prst="line">
            <a:avLst/>
          </a:prstGeom>
          <a:noFill/>
          <a:ln w="31750">
            <a:solidFill>
              <a:srgbClr val="0E7C7B"/>
            </a:solidFill>
            <a:prstDash val="solid"/>
            <a:tailEnd type="triangle"/>
          </a:ln>
        </p:spPr>
      </p:sp>
      <p:sp>
        <p:nvSpPr>
          <p:cNvPr id="8" name="Text 4"/>
          <p:cNvSpPr txBox="1"/>
          <p:nvPr/>
        </p:nvSpPr>
        <p:spPr>
          <a:xfrm>
            <a:off x="3429000" y="2423160"/>
            <a:ext cx="1188720" cy="320040"/>
          </a:xfrm>
          <a:prstGeom prst="rect">
            <a:avLst/>
          </a:prstGeom>
          <a:noFill/>
          <a:ln/>
        </p:spPr>
        <p:txBody>
          <a:bodyPr wrap="square" lIns="0" tIns="0" rIns="0" bIns="0" rtlCol="0" anchor="t"/>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softmax</a:t>
            </a:r>
            <a:endParaRPr lang="en-US" sz="1500" dirty="0"/>
          </a:p>
        </p:txBody>
      </p:sp>
      <p:graphicFrame>
        <p:nvGraphicFramePr>
          <p:cNvPr id="9" name="Chart 1" descr=""/>
          <p:cNvGraphicFramePr/>
          <p:nvPr/>
        </p:nvGraphicFramePr>
        <p:xfrm>
          <a:off x="4434840" y="1371600"/>
          <a:ext cx="3017520" cy="292608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548640" y="4526280"/>
            <a:ext cx="6903720" cy="1600200"/>
          </a:xfrm>
          <a:prstGeom prst="roundRect">
            <a:avLst>
              <a:gd name="adj" fmla="val 4571"/>
            </a:avLst>
          </a:prstGeom>
          <a:solidFill>
            <a:srgbClr val="F3F5F8"/>
          </a:solidFill>
          <a:ln/>
        </p:spPr>
      </p:sp>
      <p:pic>
        <p:nvPicPr>
          <p:cNvPr id="11" name="Image 0" descr="equation softmax">    </p:cNvPr>
          <p:cNvPicPr>
            <a:picLocks noChangeAspect="1"/>
          </p:cNvPicPr>
          <p:nvPr/>
        </p:nvPicPr>
        <p:blipFill>
          <a:blip r:embed="rId3"/>
          <a:stretch>
            <a:fillRect/>
          </a:stretch>
        </p:blipFill>
        <p:spPr>
          <a:xfrm>
            <a:off x="868680" y="4709160"/>
            <a:ext cx="1838858" cy="874166"/>
          </a:xfrm>
          <a:prstGeom prst="rect">
            <a:avLst/>
          </a:prstGeom>
        </p:spPr>
      </p:pic>
      <p:sp>
        <p:nvSpPr>
          <p:cNvPr id="12" name="Text 6"/>
          <p:cNvSpPr txBox="1"/>
          <p:nvPr/>
        </p:nvSpPr>
        <p:spPr>
          <a:xfrm>
            <a:off x="3108960" y="4617720"/>
            <a:ext cx="4206240" cy="1417320"/>
          </a:xfrm>
          <a:prstGeom prst="rect">
            <a:avLst/>
          </a:prstGeom>
          <a:noFill/>
          <a:ln/>
        </p:spPr>
        <p:txBody>
          <a:bodyPr wrap="square" lIns="0" tIns="0" rIns="0" bIns="0" rtlCol="0" anchor="ctr"/>
          <a:lstStyle/>
          <a:p>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positive, sums to 1, keeps the ranking.</a:t>
            </a:r>
            <a:pPr algn="l" indent="0" marL="0">
              <a:lnSpc>
                <a:spcPct val="100000"/>
              </a:lnSpc>
              <a:spcAft>
                <a:spcPts val="600"/>
              </a:spcAft>
              <a:buNone/>
            </a:pPr>
            <a:endParaRPr lang="en-US" sz="1550" dirty="0"/>
          </a:p>
          <a:p>
            <a:pPr algn="l" indent="0" marL="0">
              <a:lnSpc>
                <a:spcPct val="100000"/>
              </a:lnSpc>
              <a:spcAft>
                <a:spcPts val="600"/>
              </a:spcAft>
              <a:buNone/>
            </a:pPr>
            <a:r>
              <a:rPr lang="en-US" sz="1550" dirty="0">
                <a:solidFill>
                  <a:srgbClr val="16202E"/>
                </a:solidFill>
                <a:latin typeface="Calibri" pitchFamily="34" charset="0"/>
                <a:ea typeface="Calibri" pitchFamily="34" charset="-122"/>
                <a:cs typeface="Calibri" pitchFamily="34" charset="-120"/>
              </a:rPr>
              <a:t>With K = 2 and logits (z, 0) it is exactly σ(z).</a:t>
            </a:r>
            <a:endParaRPr lang="en-US" sz="1550" dirty="0"/>
          </a:p>
        </p:txBody>
      </p:sp>
      <p:sp>
        <p:nvSpPr>
          <p:cNvPr id="13" name="Shape 7"/>
          <p:cNvSpPr/>
          <p:nvPr/>
        </p:nvSpPr>
        <p:spPr>
          <a:xfrm>
            <a:off x="7818120" y="1371600"/>
            <a:ext cx="3822192" cy="2331720"/>
          </a:xfrm>
          <a:prstGeom prst="roundRect">
            <a:avLst>
              <a:gd name="adj" fmla="val 3137"/>
            </a:avLst>
          </a:prstGeom>
          <a:solidFill>
            <a:srgbClr val="E3F2F1"/>
          </a:solidFill>
          <a:ln/>
        </p:spPr>
      </p:sp>
      <p:sp>
        <p:nvSpPr>
          <p:cNvPr id="14" name="Text 8"/>
          <p:cNvSpPr txBox="1"/>
          <p:nvPr/>
        </p:nvSpPr>
        <p:spPr>
          <a:xfrm>
            <a:off x="8046720" y="1508760"/>
            <a:ext cx="3200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IN CODE</a:t>
            </a:r>
            <a:endParaRPr lang="en-US" sz="1100" dirty="0"/>
          </a:p>
        </p:txBody>
      </p:sp>
      <p:sp>
        <p:nvSpPr>
          <p:cNvPr id="15" name="Text 9"/>
          <p:cNvSpPr txBox="1"/>
          <p:nvPr/>
        </p:nvSpPr>
        <p:spPr>
          <a:xfrm>
            <a:off x="8046720" y="1828800"/>
            <a:ext cx="3429000" cy="178308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The model returns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raw logits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The cross-entropy loss applies softmax itself, in a numerically stable way (log-sum-exp, Appendix A3).</a:t>
            </a:r>
            <a:endParaRPr lang="en-US" sz="1550" dirty="0"/>
          </a:p>
        </p:txBody>
      </p:sp>
      <p:sp>
        <p:nvSpPr>
          <p:cNvPr id="16" name="Shape 10"/>
          <p:cNvSpPr/>
          <p:nvPr/>
        </p:nvSpPr>
        <p:spPr>
          <a:xfrm>
            <a:off x="7818120" y="3886200"/>
            <a:ext cx="3822192" cy="2240280"/>
          </a:xfrm>
          <a:prstGeom prst="roundRect">
            <a:avLst>
              <a:gd name="adj" fmla="val 3265"/>
            </a:avLst>
          </a:prstGeom>
          <a:solidFill>
            <a:srgbClr val="FBE9E7"/>
          </a:solidFill>
          <a:ln/>
        </p:spPr>
      </p:sp>
      <p:sp>
        <p:nvSpPr>
          <p:cNvPr id="17" name="Text 11"/>
          <p:cNvSpPr txBox="1"/>
          <p:nvPr/>
        </p:nvSpPr>
        <p:spPr>
          <a:xfrm>
            <a:off x="8046720" y="4023360"/>
            <a:ext cx="3200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B83227"/>
                </a:solidFill>
                <a:latin typeface="Calibri" pitchFamily="34" charset="0"/>
                <a:ea typeface="Calibri" pitchFamily="34" charset="-122"/>
                <a:cs typeface="Calibri" pitchFamily="34" charset="-120"/>
              </a:rPr>
              <a:t>SILENT BUG</a:t>
            </a:r>
            <a:endParaRPr lang="en-US" sz="1100" dirty="0"/>
          </a:p>
        </p:txBody>
      </p:sp>
      <p:sp>
        <p:nvSpPr>
          <p:cNvPr id="18" name="Text 12"/>
          <p:cNvSpPr txBox="1"/>
          <p:nvPr/>
        </p:nvSpPr>
        <p:spPr>
          <a:xfrm>
            <a:off x="8046720" y="4343400"/>
            <a:ext cx="3429000" cy="169164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Softmax in the model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and</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inside the loss: training runs, no error — but it optimizes the wrong objective. End the model in logits.</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1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2</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Part 2: turn predictions into a number to minimize</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How many learnable parameters (weights and biases) does a 784–256–10 MLP have?</a:t>
            </a:r>
            <a:endParaRPr lang="en-US" sz="2100" dirty="0"/>
          </a:p>
        </p:txBody>
      </p:sp>
      <p:sp>
        <p:nvSpPr>
          <p:cNvPr id="7" name="Shape 4"/>
          <p:cNvSpPr/>
          <p:nvPr/>
        </p:nvSpPr>
        <p:spPr>
          <a:xfrm>
            <a:off x="548640" y="2606040"/>
            <a:ext cx="5455768" cy="1024128"/>
          </a:xfrm>
          <a:prstGeom prst="roundRect">
            <a:avLst>
              <a:gd name="adj" fmla="val 7143"/>
            </a:avLst>
          </a:prstGeom>
          <a:solidFill>
            <a:srgbClr val="F3F5F8"/>
          </a:solidFill>
          <a:ln/>
        </p:spPr>
      </p:sp>
      <p:sp>
        <p:nvSpPr>
          <p:cNvPr id="8" name="Shape 5"/>
          <p:cNvSpPr/>
          <p:nvPr/>
        </p:nvSpPr>
        <p:spPr>
          <a:xfrm>
            <a:off x="822960" y="2907792"/>
            <a:ext cx="420624" cy="420624"/>
          </a:xfrm>
          <a:prstGeom prst="ellipse">
            <a:avLst/>
          </a:prstGeom>
          <a:solidFill>
            <a:srgbClr val="16202E"/>
          </a:solidFill>
          <a:ln/>
        </p:spPr>
      </p:sp>
      <p:sp>
        <p:nvSpPr>
          <p:cNvPr id="9" name="Text 6"/>
          <p:cNvSpPr txBox="1"/>
          <p:nvPr/>
        </p:nvSpPr>
        <p:spPr>
          <a:xfrm>
            <a:off x="822960"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7"/>
          <p:cNvSpPr txBox="1"/>
          <p:nvPr/>
        </p:nvSpPr>
        <p:spPr>
          <a:xfrm>
            <a:off x="1463040"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203,264</a:t>
            </a:r>
            <a:endParaRPr lang="en-US" sz="1900" dirty="0"/>
          </a:p>
        </p:txBody>
      </p:sp>
      <p:sp>
        <p:nvSpPr>
          <p:cNvPr id="11" name="Shape 8"/>
          <p:cNvSpPr/>
          <p:nvPr/>
        </p:nvSpPr>
        <p:spPr>
          <a:xfrm>
            <a:off x="6187288" y="2606040"/>
            <a:ext cx="5455768" cy="1024128"/>
          </a:xfrm>
          <a:prstGeom prst="roundRect">
            <a:avLst>
              <a:gd name="adj" fmla="val 7143"/>
            </a:avLst>
          </a:prstGeom>
          <a:solidFill>
            <a:srgbClr val="F3F5F8"/>
          </a:solidFill>
          <a:ln/>
        </p:spPr>
      </p:sp>
      <p:sp>
        <p:nvSpPr>
          <p:cNvPr id="12" name="Shape 9"/>
          <p:cNvSpPr/>
          <p:nvPr/>
        </p:nvSpPr>
        <p:spPr>
          <a:xfrm>
            <a:off x="6461608" y="2907792"/>
            <a:ext cx="420624" cy="420624"/>
          </a:xfrm>
          <a:prstGeom prst="ellipse">
            <a:avLst/>
          </a:prstGeom>
          <a:solidFill>
            <a:srgbClr val="16202E"/>
          </a:solidFill>
          <a:ln/>
        </p:spPr>
      </p:sp>
      <p:sp>
        <p:nvSpPr>
          <p:cNvPr id="13" name="Text 10"/>
          <p:cNvSpPr txBox="1"/>
          <p:nvPr/>
        </p:nvSpPr>
        <p:spPr>
          <a:xfrm>
            <a:off x="6461608"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7101688"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203,530</a:t>
            </a:r>
            <a:endParaRPr lang="en-US" sz="1900" dirty="0"/>
          </a:p>
        </p:txBody>
      </p:sp>
      <p:sp>
        <p:nvSpPr>
          <p:cNvPr id="15" name="Shape 12"/>
          <p:cNvSpPr/>
          <p:nvPr/>
        </p:nvSpPr>
        <p:spPr>
          <a:xfrm>
            <a:off x="548640" y="3813048"/>
            <a:ext cx="5455768" cy="1024128"/>
          </a:xfrm>
          <a:prstGeom prst="roundRect">
            <a:avLst>
              <a:gd name="adj" fmla="val 7143"/>
            </a:avLst>
          </a:prstGeom>
          <a:solidFill>
            <a:srgbClr val="F3F5F8"/>
          </a:solidFill>
          <a:ln/>
        </p:spPr>
      </p:sp>
      <p:sp>
        <p:nvSpPr>
          <p:cNvPr id="16" name="Shape 13"/>
          <p:cNvSpPr/>
          <p:nvPr/>
        </p:nvSpPr>
        <p:spPr>
          <a:xfrm>
            <a:off x="822960" y="4114800"/>
            <a:ext cx="420624" cy="420624"/>
          </a:xfrm>
          <a:prstGeom prst="ellipse">
            <a:avLst/>
          </a:prstGeom>
          <a:solidFill>
            <a:srgbClr val="16202E"/>
          </a:solidFill>
          <a:ln/>
        </p:spPr>
      </p:sp>
      <p:sp>
        <p:nvSpPr>
          <p:cNvPr id="17" name="Text 14"/>
          <p:cNvSpPr txBox="1"/>
          <p:nvPr/>
        </p:nvSpPr>
        <p:spPr>
          <a:xfrm>
            <a:off x="822960"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5"/>
          <p:cNvSpPr txBox="1"/>
          <p:nvPr/>
        </p:nvSpPr>
        <p:spPr>
          <a:xfrm>
            <a:off x="1463040"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200,960</a:t>
            </a:r>
            <a:endParaRPr lang="en-US" sz="1900" dirty="0"/>
          </a:p>
        </p:txBody>
      </p:sp>
      <p:sp>
        <p:nvSpPr>
          <p:cNvPr id="19" name="Shape 16"/>
          <p:cNvSpPr/>
          <p:nvPr/>
        </p:nvSpPr>
        <p:spPr>
          <a:xfrm>
            <a:off x="6187288" y="3813048"/>
            <a:ext cx="5455768" cy="1024128"/>
          </a:xfrm>
          <a:prstGeom prst="roundRect">
            <a:avLst>
              <a:gd name="adj" fmla="val 7143"/>
            </a:avLst>
          </a:prstGeom>
          <a:solidFill>
            <a:srgbClr val="F3F5F8"/>
          </a:solidFill>
          <a:ln/>
        </p:spPr>
      </p:sp>
      <p:sp>
        <p:nvSpPr>
          <p:cNvPr id="20" name="Shape 17"/>
          <p:cNvSpPr/>
          <p:nvPr/>
        </p:nvSpPr>
        <p:spPr>
          <a:xfrm>
            <a:off x="6461608" y="4114800"/>
            <a:ext cx="420624" cy="420624"/>
          </a:xfrm>
          <a:prstGeom prst="ellipse">
            <a:avLst/>
          </a:prstGeom>
          <a:solidFill>
            <a:srgbClr val="16202E"/>
          </a:solidFill>
          <a:ln/>
        </p:spPr>
      </p:sp>
      <p:sp>
        <p:nvSpPr>
          <p:cNvPr id="21" name="Text 18"/>
          <p:cNvSpPr txBox="1"/>
          <p:nvPr/>
        </p:nvSpPr>
        <p:spPr>
          <a:xfrm>
            <a:off x="6461608"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19"/>
          <p:cNvSpPr txBox="1"/>
          <p:nvPr/>
        </p:nvSpPr>
        <p:spPr>
          <a:xfrm>
            <a:off x="7101688"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2,570</a:t>
            </a:r>
            <a:endParaRPr lang="en-US" sz="1900" dirty="0"/>
          </a:p>
        </p:txBody>
      </p:sp>
      <p:sp>
        <p:nvSpPr>
          <p:cNvPr id="23" name="Text 20"/>
          <p:cNvSpPr txBox="1"/>
          <p:nvPr/>
        </p:nvSpPr>
        <p:spPr>
          <a:xfrm>
            <a:off x="548640" y="509320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PART 2  ·  0:45–1:10</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How a network learns: loss and gradient descent</a:t>
            </a:r>
            <a:endParaRPr lang="en-US" sz="3800" dirty="0"/>
          </a:p>
        </p:txBody>
      </p:sp>
      <p:sp>
        <p:nvSpPr>
          <p:cNvPr id="4" name="Text 2"/>
          <p:cNvSpPr txBox="1"/>
          <p:nvPr/>
        </p:nvSpPr>
        <p:spPr>
          <a:xfrm>
            <a:off x="548640" y="3657600"/>
            <a:ext cx="6949440" cy="219456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How do we turn “wrong” into one number?</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Which way should the weights move — and how far?</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Why update on small mini-batches?</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What do momentum and Adam add?</a:t>
            </a:r>
            <a:endParaRPr lang="en-US" sz="1900" dirty="0"/>
          </a:p>
        </p:txBody>
      </p:sp>
      <p:sp>
        <p:nvSpPr>
          <p:cNvPr id="5" name="Shape 3"/>
          <p:cNvSpPr/>
          <p:nvPr/>
        </p:nvSpPr>
        <p:spPr>
          <a:xfrm flipV="1">
            <a:off x="8412480" y="1463040"/>
            <a:ext cx="1371600" cy="822960"/>
          </a:xfrm>
          <a:prstGeom prst="line">
            <a:avLst/>
          </a:prstGeom>
          <a:noFill/>
          <a:ln w="9525">
            <a:solidFill>
              <a:srgbClr val="3A4A5E"/>
            </a:solidFill>
            <a:prstDash val="solid"/>
          </a:ln>
        </p:spPr>
      </p:sp>
      <p:sp>
        <p:nvSpPr>
          <p:cNvPr id="6" name="Shape 4"/>
          <p:cNvSpPr/>
          <p:nvPr/>
        </p:nvSpPr>
        <p:spPr>
          <a:xfrm>
            <a:off x="8412480" y="2286000"/>
            <a:ext cx="1371600" cy="822960"/>
          </a:xfrm>
          <a:prstGeom prst="line">
            <a:avLst/>
          </a:prstGeom>
          <a:noFill/>
          <a:ln w="9525">
            <a:solidFill>
              <a:srgbClr val="3A4A5E"/>
            </a:solidFill>
            <a:prstDash val="solid"/>
          </a:ln>
        </p:spPr>
      </p:sp>
      <p:sp>
        <p:nvSpPr>
          <p:cNvPr id="7" name="Shape 5"/>
          <p:cNvSpPr/>
          <p:nvPr/>
        </p:nvSpPr>
        <p:spPr>
          <a:xfrm>
            <a:off x="8412480" y="2286000"/>
            <a:ext cx="1371600" cy="2468880"/>
          </a:xfrm>
          <a:prstGeom prst="line">
            <a:avLst/>
          </a:prstGeom>
          <a:noFill/>
          <a:ln w="9525">
            <a:solidFill>
              <a:srgbClr val="3A4A5E"/>
            </a:solidFill>
            <a:prstDash val="solid"/>
          </a:ln>
        </p:spPr>
      </p:sp>
      <p:sp>
        <p:nvSpPr>
          <p:cNvPr id="8" name="Shape 6"/>
          <p:cNvSpPr/>
          <p:nvPr/>
        </p:nvSpPr>
        <p:spPr>
          <a:xfrm flipV="1">
            <a:off x="8412480" y="1463040"/>
            <a:ext cx="1371600" cy="2468880"/>
          </a:xfrm>
          <a:prstGeom prst="line">
            <a:avLst/>
          </a:prstGeom>
          <a:noFill/>
          <a:ln w="9525">
            <a:solidFill>
              <a:srgbClr val="3A4A5E"/>
            </a:solidFill>
            <a:prstDash val="solid"/>
          </a:ln>
        </p:spPr>
      </p:sp>
      <p:sp>
        <p:nvSpPr>
          <p:cNvPr id="9" name="Shape 7"/>
          <p:cNvSpPr/>
          <p:nvPr/>
        </p:nvSpPr>
        <p:spPr>
          <a:xfrm flipV="1">
            <a:off x="8412480" y="3108960"/>
            <a:ext cx="1371600" cy="822960"/>
          </a:xfrm>
          <a:prstGeom prst="line">
            <a:avLst/>
          </a:prstGeom>
          <a:noFill/>
          <a:ln w="9525">
            <a:solidFill>
              <a:srgbClr val="3A4A5E"/>
            </a:solidFill>
            <a:prstDash val="solid"/>
          </a:ln>
        </p:spPr>
      </p:sp>
      <p:sp>
        <p:nvSpPr>
          <p:cNvPr id="10" name="Shape 8"/>
          <p:cNvSpPr/>
          <p:nvPr/>
        </p:nvSpPr>
        <p:spPr>
          <a:xfrm>
            <a:off x="8412480" y="3931920"/>
            <a:ext cx="1371600" cy="822960"/>
          </a:xfrm>
          <a:prstGeom prst="line">
            <a:avLst/>
          </a:prstGeom>
          <a:noFill/>
          <a:ln w="9525">
            <a:solidFill>
              <a:srgbClr val="3A4A5E"/>
            </a:solidFill>
            <a:prstDash val="solid"/>
          </a:ln>
        </p:spPr>
      </p:sp>
      <p:sp>
        <p:nvSpPr>
          <p:cNvPr id="11" name="Shape 9"/>
          <p:cNvSpPr/>
          <p:nvPr/>
        </p:nvSpPr>
        <p:spPr>
          <a:xfrm>
            <a:off x="9784080" y="1463040"/>
            <a:ext cx="1371600" cy="1645920"/>
          </a:xfrm>
          <a:prstGeom prst="line">
            <a:avLst/>
          </a:prstGeom>
          <a:noFill/>
          <a:ln w="9525">
            <a:solidFill>
              <a:srgbClr val="3A4A5E"/>
            </a:solidFill>
            <a:prstDash val="solid"/>
          </a:ln>
        </p:spPr>
      </p:sp>
      <p:sp>
        <p:nvSpPr>
          <p:cNvPr id="12" name="Shape 10"/>
          <p:cNvSpPr/>
          <p:nvPr/>
        </p:nvSpPr>
        <p:spPr>
          <a:xfrm>
            <a:off x="9784080" y="3108960"/>
            <a:ext cx="1371600" cy="914"/>
          </a:xfrm>
          <a:prstGeom prst="line">
            <a:avLst/>
          </a:prstGeom>
          <a:noFill/>
          <a:ln w="9525">
            <a:solidFill>
              <a:srgbClr val="3A4A5E"/>
            </a:solidFill>
            <a:prstDash val="solid"/>
          </a:ln>
        </p:spPr>
      </p:sp>
      <p:sp>
        <p:nvSpPr>
          <p:cNvPr id="13" name="Shape 11"/>
          <p:cNvSpPr/>
          <p:nvPr/>
        </p:nvSpPr>
        <p:spPr>
          <a:xfrm flipV="1">
            <a:off x="9784080" y="3108960"/>
            <a:ext cx="1371600" cy="1645920"/>
          </a:xfrm>
          <a:prstGeom prst="line">
            <a:avLst/>
          </a:prstGeom>
          <a:noFill/>
          <a:ln w="9525">
            <a:solidFill>
              <a:srgbClr val="3A4A5E"/>
            </a:solidFill>
            <a:prstDash val="solid"/>
          </a:ln>
        </p:spPr>
      </p:sp>
      <p:sp>
        <p:nvSpPr>
          <p:cNvPr id="14" name="Shape 12"/>
          <p:cNvSpPr/>
          <p:nvPr/>
        </p:nvSpPr>
        <p:spPr>
          <a:xfrm>
            <a:off x="8220456" y="2093976"/>
            <a:ext cx="384048" cy="384048"/>
          </a:xfrm>
          <a:prstGeom prst="ellipse">
            <a:avLst/>
          </a:prstGeom>
          <a:solidFill>
            <a:srgbClr val="8A94A3"/>
          </a:solidFill>
          <a:ln/>
        </p:spPr>
      </p:sp>
      <p:sp>
        <p:nvSpPr>
          <p:cNvPr id="15" name="Shape 13"/>
          <p:cNvSpPr/>
          <p:nvPr/>
        </p:nvSpPr>
        <p:spPr>
          <a:xfrm>
            <a:off x="8220456" y="3739896"/>
            <a:ext cx="384048" cy="384048"/>
          </a:xfrm>
          <a:prstGeom prst="ellipse">
            <a:avLst/>
          </a:prstGeom>
          <a:solidFill>
            <a:srgbClr val="8A94A3"/>
          </a:solidFill>
          <a:ln/>
        </p:spPr>
      </p:sp>
      <p:sp>
        <p:nvSpPr>
          <p:cNvPr id="16" name="Shape 14"/>
          <p:cNvSpPr/>
          <p:nvPr/>
        </p:nvSpPr>
        <p:spPr>
          <a:xfrm>
            <a:off x="9592056" y="1271016"/>
            <a:ext cx="384048" cy="384048"/>
          </a:xfrm>
          <a:prstGeom prst="ellipse">
            <a:avLst/>
          </a:prstGeom>
          <a:solidFill>
            <a:srgbClr val="0E7C7B"/>
          </a:solidFill>
          <a:ln/>
        </p:spPr>
      </p:sp>
      <p:sp>
        <p:nvSpPr>
          <p:cNvPr id="17" name="Shape 15"/>
          <p:cNvSpPr/>
          <p:nvPr/>
        </p:nvSpPr>
        <p:spPr>
          <a:xfrm>
            <a:off x="9592056" y="2916936"/>
            <a:ext cx="384048" cy="384048"/>
          </a:xfrm>
          <a:prstGeom prst="ellipse">
            <a:avLst/>
          </a:prstGeom>
          <a:solidFill>
            <a:srgbClr val="0E7C7B"/>
          </a:solidFill>
          <a:ln/>
        </p:spPr>
      </p:sp>
      <p:sp>
        <p:nvSpPr>
          <p:cNvPr id="18" name="Shape 16"/>
          <p:cNvSpPr/>
          <p:nvPr/>
        </p:nvSpPr>
        <p:spPr>
          <a:xfrm>
            <a:off x="9592056" y="4562856"/>
            <a:ext cx="384048" cy="384048"/>
          </a:xfrm>
          <a:prstGeom prst="ellipse">
            <a:avLst/>
          </a:prstGeom>
          <a:solidFill>
            <a:srgbClr val="0E7C7B"/>
          </a:solidFill>
          <a:ln/>
        </p:spPr>
      </p:sp>
      <p:sp>
        <p:nvSpPr>
          <p:cNvPr id="19" name="Shape 17"/>
          <p:cNvSpPr/>
          <p:nvPr/>
        </p:nvSpPr>
        <p:spPr>
          <a:xfrm>
            <a:off x="10963656" y="2916936"/>
            <a:ext cx="384048" cy="384048"/>
          </a:xfrm>
          <a:prstGeom prst="ellipse">
            <a:avLst/>
          </a:prstGeom>
          <a:solidFill>
            <a:srgbClr val="0E7C7B"/>
          </a:solidFill>
          <a:ln/>
        </p:spPr>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LOSSES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A loss turns every prediction into one number — and it has a slope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which loss? the one logistic regression already uses</a:t>
            </a:r>
            <a:endParaRPr lang="en-US" sz="1100" dirty="0"/>
          </a:p>
        </p:txBody>
      </p:sp>
      <p:pic>
        <p:nvPicPr>
          <p:cNvPr id="6" name="Image 0" descr="a sneaker image">    </p:cNvPr>
          <p:cNvPicPr>
            <a:picLocks noChangeAspect="1"/>
          </p:cNvPicPr>
          <p:nvPr/>
        </p:nvPicPr>
        <p:blipFill>
          <a:blip r:embed="rId1"/>
          <a:stretch>
            <a:fillRect/>
          </a:stretch>
        </p:blipFill>
        <p:spPr>
          <a:xfrm>
            <a:off x="548640" y="1417320"/>
            <a:ext cx="1143000" cy="1143000"/>
          </a:xfrm>
          <a:prstGeom prst="rect">
            <a:avLst/>
          </a:prstGeom>
        </p:spPr>
      </p:pic>
      <p:sp>
        <p:nvSpPr>
          <p:cNvPr id="7" name="Text 3"/>
          <p:cNvSpPr txBox="1"/>
          <p:nvPr/>
        </p:nvSpPr>
        <p:spPr>
          <a:xfrm>
            <a:off x="548640" y="2587752"/>
            <a:ext cx="1143000" cy="256032"/>
          </a:xfrm>
          <a:prstGeom prst="rect">
            <a:avLst/>
          </a:prstGeom>
          <a:noFill/>
          <a:ln/>
        </p:spPr>
        <p:txBody>
          <a:bodyPr wrap="square" lIns="0" tIns="0" rIns="0" bIns="0" rtlCol="0" anchor="t"/>
          <a:lstStyle/>
          <a:p>
            <a:pPr algn="ctr" indent="0" marL="0">
              <a:lnSpc>
                <a:spcPct val="100000"/>
              </a:lnSpc>
              <a:buNone/>
            </a:pPr>
            <a:r>
              <a:rPr lang="en-US" sz="1200" dirty="0">
                <a:solidFill>
                  <a:srgbClr val="5B6675"/>
                </a:solidFill>
                <a:latin typeface="Calibri" pitchFamily="34" charset="0"/>
                <a:ea typeface="Calibri" pitchFamily="34" charset="-122"/>
                <a:cs typeface="Calibri" pitchFamily="34" charset="-120"/>
              </a:rPr>
              <a:t>input x</a:t>
            </a:r>
            <a:endParaRPr lang="en-US" sz="1200" dirty="0"/>
          </a:p>
        </p:txBody>
      </p:sp>
      <p:sp>
        <p:nvSpPr>
          <p:cNvPr id="8" name="Shape 4"/>
          <p:cNvSpPr/>
          <p:nvPr/>
        </p:nvSpPr>
        <p:spPr>
          <a:xfrm>
            <a:off x="1965960" y="1417320"/>
            <a:ext cx="2331720" cy="1143000"/>
          </a:xfrm>
          <a:prstGeom prst="roundRect">
            <a:avLst>
              <a:gd name="adj" fmla="val 6400"/>
            </a:avLst>
          </a:prstGeom>
          <a:solidFill>
            <a:srgbClr val="16202E"/>
          </a:solidFill>
          <a:ln/>
        </p:spPr>
      </p:sp>
      <p:sp>
        <p:nvSpPr>
          <p:cNvPr id="9" name="Text 5"/>
          <p:cNvSpPr txBox="1"/>
          <p:nvPr/>
        </p:nvSpPr>
        <p:spPr>
          <a:xfrm>
            <a:off x="2148840" y="1554480"/>
            <a:ext cx="2057400" cy="365760"/>
          </a:xfrm>
          <a:prstGeom prst="rect">
            <a:avLst/>
          </a:prstGeom>
          <a:noFill/>
          <a:ln/>
        </p:spPr>
        <p:txBody>
          <a:bodyPr wrap="square" lIns="0" tIns="0" rIns="0" bIns="0" rtlCol="0" anchor="t"/>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network  f(x; θ)</a:t>
            </a:r>
            <a:endParaRPr lang="en-US" sz="1500" dirty="0"/>
          </a:p>
        </p:txBody>
      </p:sp>
      <p:sp>
        <p:nvSpPr>
          <p:cNvPr id="10" name="Text 6"/>
          <p:cNvSpPr txBox="1"/>
          <p:nvPr/>
        </p:nvSpPr>
        <p:spPr>
          <a:xfrm>
            <a:off x="2148840" y="1965960"/>
            <a:ext cx="2057400" cy="457200"/>
          </a:xfrm>
          <a:prstGeom prst="rect">
            <a:avLst/>
          </a:prstGeom>
          <a:noFill/>
          <a:ln/>
        </p:spPr>
        <p:txBody>
          <a:bodyPr wrap="square" lIns="0" tIns="0" rIns="0" bIns="0" rtlCol="0" anchor="t"/>
          <a:lstStyle/>
          <a:p>
            <a:pPr algn="l" indent="0" marL="0">
              <a:lnSpc>
                <a:spcPct val="100000"/>
              </a:lnSpc>
              <a:buNone/>
            </a:pPr>
            <a:r>
              <a:rPr lang="en-US" sz="1600" dirty="0">
                <a:solidFill>
                  <a:srgbClr val="C9D2DD"/>
                </a:solidFill>
                <a:latin typeface="Calibri" pitchFamily="34" charset="0"/>
                <a:ea typeface="Calibri" pitchFamily="34" charset="-122"/>
                <a:cs typeface="Calibri" pitchFamily="34" charset="-120"/>
              </a:rPr>
              <a:t>109,386 parameters θ</a:t>
            </a:r>
            <a:endParaRPr lang="en-US" sz="1600" dirty="0"/>
          </a:p>
        </p:txBody>
      </p:sp>
      <p:sp>
        <p:nvSpPr>
          <p:cNvPr id="11" name="Shape 7"/>
          <p:cNvSpPr/>
          <p:nvPr/>
        </p:nvSpPr>
        <p:spPr>
          <a:xfrm>
            <a:off x="1737360" y="1988820"/>
            <a:ext cx="182880" cy="914"/>
          </a:xfrm>
          <a:prstGeom prst="line">
            <a:avLst/>
          </a:prstGeom>
          <a:noFill/>
          <a:ln w="22225">
            <a:solidFill>
              <a:srgbClr val="0E7C7B"/>
            </a:solidFill>
            <a:prstDash val="solid"/>
            <a:tailEnd type="triangle"/>
          </a:ln>
        </p:spPr>
      </p:sp>
      <p:sp>
        <p:nvSpPr>
          <p:cNvPr id="12" name="Shape 8"/>
          <p:cNvSpPr/>
          <p:nvPr/>
        </p:nvSpPr>
        <p:spPr>
          <a:xfrm>
            <a:off x="4617720" y="1417320"/>
            <a:ext cx="2103120" cy="1143000"/>
          </a:xfrm>
          <a:prstGeom prst="roundRect">
            <a:avLst>
              <a:gd name="adj" fmla="val 6400"/>
            </a:avLst>
          </a:prstGeom>
          <a:solidFill>
            <a:srgbClr val="E3F2F1"/>
          </a:solidFill>
          <a:ln/>
        </p:spPr>
      </p:sp>
      <p:sp>
        <p:nvSpPr>
          <p:cNvPr id="13" name="Text 9"/>
          <p:cNvSpPr txBox="1"/>
          <p:nvPr/>
        </p:nvSpPr>
        <p:spPr>
          <a:xfrm>
            <a:off x="4800600" y="1554480"/>
            <a:ext cx="1828800" cy="36576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prediction</a:t>
            </a:r>
            <a:endParaRPr lang="en-US" sz="1500" dirty="0"/>
          </a:p>
        </p:txBody>
      </p:sp>
      <p:sp>
        <p:nvSpPr>
          <p:cNvPr id="14" name="Text 10"/>
          <p:cNvSpPr txBox="1"/>
          <p:nvPr/>
        </p:nvSpPr>
        <p:spPr>
          <a:xfrm>
            <a:off x="4800600" y="1965960"/>
            <a:ext cx="1828800" cy="457200"/>
          </a:xfrm>
          <a:prstGeom prst="rect">
            <a:avLst/>
          </a:prstGeom>
          <a:noFill/>
          <a:ln/>
        </p:spPr>
        <p:txBody>
          <a:bodyPr wrap="square" lIns="0" tIns="0" rIns="0" bIns="0" rtlCol="0" anchor="t"/>
          <a:lstStyle/>
          <a:p>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p(sneaker) = 0.70</a:t>
            </a:r>
            <a:endParaRPr lang="en-US" sz="1600" dirty="0"/>
          </a:p>
        </p:txBody>
      </p:sp>
      <p:sp>
        <p:nvSpPr>
          <p:cNvPr id="15" name="Shape 11"/>
          <p:cNvSpPr/>
          <p:nvPr/>
        </p:nvSpPr>
        <p:spPr>
          <a:xfrm>
            <a:off x="4343400" y="1988820"/>
            <a:ext cx="228600" cy="914"/>
          </a:xfrm>
          <a:prstGeom prst="line">
            <a:avLst/>
          </a:prstGeom>
          <a:noFill/>
          <a:ln w="22225">
            <a:solidFill>
              <a:srgbClr val="0E7C7B"/>
            </a:solidFill>
            <a:prstDash val="solid"/>
            <a:tailEnd type="triangle"/>
          </a:ln>
        </p:spPr>
      </p:sp>
      <p:sp>
        <p:nvSpPr>
          <p:cNvPr id="16" name="Shape 12"/>
          <p:cNvSpPr/>
          <p:nvPr/>
        </p:nvSpPr>
        <p:spPr>
          <a:xfrm>
            <a:off x="7040880" y="1417320"/>
            <a:ext cx="1691640" cy="1143000"/>
          </a:xfrm>
          <a:prstGeom prst="roundRect">
            <a:avLst>
              <a:gd name="adj" fmla="val 6400"/>
            </a:avLst>
          </a:prstGeom>
          <a:solidFill>
            <a:srgbClr val="F3F5F8"/>
          </a:solidFill>
          <a:ln/>
        </p:spPr>
      </p:sp>
      <p:sp>
        <p:nvSpPr>
          <p:cNvPr id="17" name="Text 13"/>
          <p:cNvSpPr txBox="1"/>
          <p:nvPr/>
        </p:nvSpPr>
        <p:spPr>
          <a:xfrm>
            <a:off x="7223760" y="1554480"/>
            <a:ext cx="1417320" cy="36576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target  y</a:t>
            </a:r>
            <a:endParaRPr lang="en-US" sz="1500" dirty="0"/>
          </a:p>
        </p:txBody>
      </p:sp>
      <p:sp>
        <p:nvSpPr>
          <p:cNvPr id="18" name="Text 14"/>
          <p:cNvSpPr txBox="1"/>
          <p:nvPr/>
        </p:nvSpPr>
        <p:spPr>
          <a:xfrm>
            <a:off x="7223760" y="1965960"/>
            <a:ext cx="1417320" cy="457200"/>
          </a:xfrm>
          <a:prstGeom prst="rect">
            <a:avLst/>
          </a:prstGeom>
          <a:noFill/>
          <a:ln/>
        </p:spPr>
        <p:txBody>
          <a:bodyPr wrap="square" lIns="0" tIns="0" rIns="0" bIns="0" rtlCol="0" anchor="t"/>
          <a:lstStyle/>
          <a:p>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sneaker</a:t>
            </a:r>
            <a:endParaRPr lang="en-US" sz="1600" dirty="0"/>
          </a:p>
        </p:txBody>
      </p:sp>
      <p:sp>
        <p:nvSpPr>
          <p:cNvPr id="19" name="Shape 15"/>
          <p:cNvSpPr/>
          <p:nvPr/>
        </p:nvSpPr>
        <p:spPr>
          <a:xfrm>
            <a:off x="9052560" y="1417320"/>
            <a:ext cx="2587752" cy="1143000"/>
          </a:xfrm>
          <a:prstGeom prst="roundRect">
            <a:avLst>
              <a:gd name="adj" fmla="val 6400"/>
            </a:avLst>
          </a:prstGeom>
          <a:solidFill>
            <a:srgbClr val="16202E"/>
          </a:solidFill>
          <a:ln/>
        </p:spPr>
      </p:sp>
      <p:sp>
        <p:nvSpPr>
          <p:cNvPr id="20" name="Text 16"/>
          <p:cNvSpPr txBox="1"/>
          <p:nvPr/>
        </p:nvSpPr>
        <p:spPr>
          <a:xfrm>
            <a:off x="9235440" y="1554480"/>
            <a:ext cx="2313432" cy="365760"/>
          </a:xfrm>
          <a:prstGeom prst="rect">
            <a:avLst/>
          </a:prstGeom>
          <a:noFill/>
          <a:ln/>
        </p:spPr>
        <p:txBody>
          <a:bodyPr wrap="square" lIns="0" tIns="0" rIns="0" bIns="0" rtlCol="0" anchor="t"/>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loss  L = −log p</a:t>
            </a:r>
            <a:pPr algn="l" indent="0" marL="0">
              <a:lnSpc>
                <a:spcPct val="100000"/>
              </a:lnSpc>
              <a:buNone/>
            </a:pPr>
            <a:r>
              <a:rPr lang="en-US" sz="1500" b="1" baseline="-40000" dirty="0">
                <a:solidFill>
                  <a:srgbClr val="FFFFFF"/>
                </a:solidFill>
                <a:latin typeface="Calibri" pitchFamily="34" charset="0"/>
                <a:ea typeface="Calibri" pitchFamily="34" charset="-122"/>
                <a:cs typeface="Calibri" pitchFamily="34" charset="-120"/>
              </a:rPr>
              <a:t>y</a:t>
            </a:r>
            <a:endParaRPr lang="en-US" sz="1500" dirty="0"/>
          </a:p>
        </p:txBody>
      </p:sp>
      <p:sp>
        <p:nvSpPr>
          <p:cNvPr id="21" name="Text 17"/>
          <p:cNvSpPr txBox="1"/>
          <p:nvPr/>
        </p:nvSpPr>
        <p:spPr>
          <a:xfrm>
            <a:off x="9235440" y="1965960"/>
            <a:ext cx="2313432" cy="457200"/>
          </a:xfrm>
          <a:prstGeom prst="rect">
            <a:avLst/>
          </a:prstGeom>
          <a:noFill/>
          <a:ln/>
        </p:spPr>
        <p:txBody>
          <a:bodyPr wrap="square" lIns="0" tIns="0" rIns="0" bIns="0" rtlCol="0" anchor="t"/>
          <a:lstStyle/>
          <a:p>
            <a:pPr algn="l" indent="0" marL="0">
              <a:lnSpc>
                <a:spcPct val="100000"/>
              </a:lnSpc>
              <a:buNone/>
            </a:pPr>
            <a:r>
              <a:rPr lang="en-US" sz="2000" b="1" dirty="0">
                <a:solidFill>
                  <a:srgbClr val="C9D2DD"/>
                </a:solidFill>
                <a:latin typeface="Calibri" pitchFamily="34" charset="0"/>
                <a:ea typeface="Calibri" pitchFamily="34" charset="-122"/>
                <a:cs typeface="Calibri" pitchFamily="34" charset="-120"/>
              </a:rPr>
              <a:t>−log 0.70 = 0.36</a:t>
            </a:r>
            <a:endParaRPr lang="en-US" sz="2000" dirty="0"/>
          </a:p>
        </p:txBody>
      </p:sp>
      <p:sp>
        <p:nvSpPr>
          <p:cNvPr id="22" name="Shape 18"/>
          <p:cNvSpPr/>
          <p:nvPr/>
        </p:nvSpPr>
        <p:spPr>
          <a:xfrm>
            <a:off x="8778240" y="1988820"/>
            <a:ext cx="228600" cy="914"/>
          </a:xfrm>
          <a:prstGeom prst="line">
            <a:avLst/>
          </a:prstGeom>
          <a:noFill/>
          <a:ln w="22225">
            <a:solidFill>
              <a:srgbClr val="0E7C7B"/>
            </a:solidFill>
            <a:prstDash val="solid"/>
            <a:tailEnd type="triangle"/>
          </a:ln>
        </p:spPr>
      </p:sp>
      <p:sp>
        <p:nvSpPr>
          <p:cNvPr id="23" name="Shape 19"/>
          <p:cNvSpPr/>
          <p:nvPr/>
        </p:nvSpPr>
        <p:spPr>
          <a:xfrm>
            <a:off x="8732520" y="1988820"/>
            <a:ext cx="274320" cy="914"/>
          </a:xfrm>
          <a:prstGeom prst="line">
            <a:avLst/>
          </a:prstGeom>
          <a:noFill/>
          <a:ln w="19050">
            <a:solidFill>
              <a:srgbClr val="8A94A3"/>
            </a:solidFill>
            <a:prstDash val="solid"/>
            <a:tailEnd type="triangle"/>
          </a:ln>
        </p:spPr>
      </p:sp>
      <p:pic>
        <p:nvPicPr>
          <p:cNvPr id="24" name="Image 1" descr="Cross-entropy loss is smooth in a weight; the error rate is piecewise constant">    </p:cNvPr>
          <p:cNvPicPr>
            <a:picLocks noChangeAspect="1"/>
          </p:cNvPicPr>
          <p:nvPr/>
        </p:nvPicPr>
        <p:blipFill>
          <a:blip r:embed="rId2"/>
          <a:stretch>
            <a:fillRect/>
          </a:stretch>
        </p:blipFill>
        <p:spPr>
          <a:xfrm>
            <a:off x="814358" y="2880360"/>
            <a:ext cx="4954965" cy="3291840"/>
          </a:xfrm>
          <a:prstGeom prst="rect">
            <a:avLst/>
          </a:prstGeom>
        </p:spPr>
      </p:pic>
      <p:sp>
        <p:nvSpPr>
          <p:cNvPr id="25" name="Shape 20"/>
          <p:cNvSpPr/>
          <p:nvPr/>
        </p:nvSpPr>
        <p:spPr>
          <a:xfrm>
            <a:off x="6355080" y="2880360"/>
            <a:ext cx="5285232" cy="1874520"/>
          </a:xfrm>
          <a:prstGeom prst="roundRect">
            <a:avLst>
              <a:gd name="adj" fmla="val 3902"/>
            </a:avLst>
          </a:prstGeom>
          <a:solidFill>
            <a:srgbClr val="F3F5F8"/>
          </a:solidFill>
          <a:ln/>
        </p:spPr>
      </p:sp>
      <p:sp>
        <p:nvSpPr>
          <p:cNvPr id="26" name="Text 21"/>
          <p:cNvSpPr txBox="1"/>
          <p:nvPr/>
        </p:nvSpPr>
        <p:spPr>
          <a:xfrm>
            <a:off x="6583680" y="3017520"/>
            <a:ext cx="484632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TRAINING = MINIMIZING THE AVERAGE LOSS</a:t>
            </a:r>
            <a:endParaRPr lang="en-US" sz="1100" dirty="0"/>
          </a:p>
        </p:txBody>
      </p:sp>
      <p:pic>
        <p:nvPicPr>
          <p:cNvPr id="27" name="Image 2" descr="equation J">    </p:cNvPr>
          <p:cNvPicPr>
            <a:picLocks noChangeAspect="1"/>
          </p:cNvPicPr>
          <p:nvPr/>
        </p:nvPicPr>
        <p:blipFill>
          <a:blip r:embed="rId3"/>
          <a:stretch>
            <a:fillRect/>
          </a:stretch>
        </p:blipFill>
        <p:spPr>
          <a:xfrm>
            <a:off x="6629400" y="3383280"/>
            <a:ext cx="3064154" cy="565099"/>
          </a:xfrm>
          <a:prstGeom prst="rect">
            <a:avLst/>
          </a:prstGeom>
        </p:spPr>
      </p:pic>
      <p:sp>
        <p:nvSpPr>
          <p:cNvPr id="28" name="Text 22"/>
          <p:cNvSpPr txBox="1"/>
          <p:nvPr/>
        </p:nvSpPr>
        <p:spPr>
          <a:xfrm>
            <a:off x="6583680" y="4251960"/>
            <a:ext cx="4937760" cy="3657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The data are fixed, so J depends on θ alone.</a:t>
            </a:r>
            <a:endParaRPr lang="en-US" sz="1500" dirty="0"/>
          </a:p>
        </p:txBody>
      </p:sp>
      <p:sp>
        <p:nvSpPr>
          <p:cNvPr id="29" name="Shape 23"/>
          <p:cNvSpPr/>
          <p:nvPr/>
        </p:nvSpPr>
        <p:spPr>
          <a:xfrm>
            <a:off x="6355080" y="4937760"/>
            <a:ext cx="5285232" cy="1188720"/>
          </a:xfrm>
          <a:prstGeom prst="roundRect">
            <a:avLst>
              <a:gd name="adj" fmla="val 6154"/>
            </a:avLst>
          </a:prstGeom>
          <a:solidFill>
            <a:srgbClr val="FBE9E7"/>
          </a:solidFill>
          <a:ln/>
        </p:spPr>
      </p:sp>
      <p:sp>
        <p:nvSpPr>
          <p:cNvPr id="30" name="Text 24"/>
          <p:cNvSpPr txBox="1"/>
          <p:nvPr/>
        </p:nvSpPr>
        <p:spPr>
          <a:xfrm>
            <a:off x="6583680" y="4937760"/>
            <a:ext cx="4892040" cy="1188720"/>
          </a:xfrm>
          <a:prstGeom prst="rect">
            <a:avLst/>
          </a:prstGeom>
          <a:noFill/>
          <a:ln/>
        </p:spPr>
        <p:txBody>
          <a:bodyPr wrap="square" lIns="0" tIns="0" rIns="0" bIns="0" rtlCol="0" anchor="ctr"/>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Accuracy is flat almost everywhere (slope 0): it cannot tell us which way to move.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Train on the loss; report accuracy.</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LOSSES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Cross-entropy is the negative log-likelihood, as in logistic regression</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a sanity check before training</a:t>
            </a:r>
            <a:endParaRPr lang="en-US" sz="1100" dirty="0"/>
          </a:p>
        </p:txBody>
      </p:sp>
      <p:sp>
        <p:nvSpPr>
          <p:cNvPr id="6" name="Shape 3"/>
          <p:cNvSpPr/>
          <p:nvPr/>
        </p:nvSpPr>
        <p:spPr>
          <a:xfrm>
            <a:off x="548640" y="1371600"/>
            <a:ext cx="1783080" cy="457200"/>
          </a:xfrm>
          <a:prstGeom prst="rect">
            <a:avLst/>
          </a:prstGeom>
          <a:solidFill>
            <a:srgbClr val="16202E"/>
          </a:solidFill>
          <a:ln/>
        </p:spPr>
      </p:sp>
      <p:sp>
        <p:nvSpPr>
          <p:cNvPr id="7" name="Text 4"/>
          <p:cNvSpPr txBox="1"/>
          <p:nvPr/>
        </p:nvSpPr>
        <p:spPr>
          <a:xfrm>
            <a:off x="685800" y="1371600"/>
            <a:ext cx="16459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Task</a:t>
            </a:r>
            <a:endParaRPr lang="en-US" sz="1500" dirty="0"/>
          </a:p>
        </p:txBody>
      </p:sp>
      <p:sp>
        <p:nvSpPr>
          <p:cNvPr id="8" name="Shape 5"/>
          <p:cNvSpPr/>
          <p:nvPr/>
        </p:nvSpPr>
        <p:spPr>
          <a:xfrm>
            <a:off x="2468880" y="1371600"/>
            <a:ext cx="2697480" cy="457200"/>
          </a:xfrm>
          <a:prstGeom prst="rect">
            <a:avLst/>
          </a:prstGeom>
          <a:solidFill>
            <a:srgbClr val="16202E"/>
          </a:solidFill>
          <a:ln/>
        </p:spPr>
      </p:sp>
      <p:sp>
        <p:nvSpPr>
          <p:cNvPr id="9" name="Text 6"/>
          <p:cNvSpPr txBox="1"/>
          <p:nvPr/>
        </p:nvSpPr>
        <p:spPr>
          <a:xfrm>
            <a:off x="2606040" y="1371600"/>
            <a:ext cx="256032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Assumed model of y</a:t>
            </a:r>
            <a:endParaRPr lang="en-US" sz="1500" dirty="0"/>
          </a:p>
        </p:txBody>
      </p:sp>
      <p:sp>
        <p:nvSpPr>
          <p:cNvPr id="10" name="Shape 7"/>
          <p:cNvSpPr/>
          <p:nvPr/>
        </p:nvSpPr>
        <p:spPr>
          <a:xfrm>
            <a:off x="5303520" y="1371600"/>
            <a:ext cx="3886200" cy="457200"/>
          </a:xfrm>
          <a:prstGeom prst="rect">
            <a:avLst/>
          </a:prstGeom>
          <a:solidFill>
            <a:srgbClr val="16202E"/>
          </a:solidFill>
          <a:ln/>
        </p:spPr>
      </p:sp>
      <p:sp>
        <p:nvSpPr>
          <p:cNvPr id="11" name="Text 8"/>
          <p:cNvSpPr txBox="1"/>
          <p:nvPr/>
        </p:nvSpPr>
        <p:spPr>
          <a:xfrm>
            <a:off x="5440680" y="1371600"/>
            <a:ext cx="3749040" cy="45720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Loss  = −log p(y | x)</a:t>
            </a:r>
            <a:endParaRPr lang="en-US" sz="1500" dirty="0"/>
          </a:p>
        </p:txBody>
      </p:sp>
      <p:sp>
        <p:nvSpPr>
          <p:cNvPr id="12" name="Shape 9"/>
          <p:cNvSpPr/>
          <p:nvPr/>
        </p:nvSpPr>
        <p:spPr>
          <a:xfrm>
            <a:off x="9326880" y="1371600"/>
            <a:ext cx="2267712" cy="457200"/>
          </a:xfrm>
          <a:prstGeom prst="rect">
            <a:avLst/>
          </a:prstGeom>
          <a:solidFill>
            <a:srgbClr val="16202E"/>
          </a:solidFill>
          <a:ln/>
        </p:spPr>
      </p:sp>
      <p:sp>
        <p:nvSpPr>
          <p:cNvPr id="13" name="Text 10"/>
          <p:cNvSpPr txBox="1"/>
          <p:nvPr/>
        </p:nvSpPr>
        <p:spPr>
          <a:xfrm>
            <a:off x="9464040" y="1371600"/>
            <a:ext cx="2130552" cy="457200"/>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In code (logits in)</a:t>
            </a:r>
            <a:endParaRPr lang="en-US" sz="1500" dirty="0"/>
          </a:p>
        </p:txBody>
      </p:sp>
      <p:sp>
        <p:nvSpPr>
          <p:cNvPr id="14" name="Shape 11"/>
          <p:cNvSpPr/>
          <p:nvPr/>
        </p:nvSpPr>
        <p:spPr>
          <a:xfrm>
            <a:off x="548640" y="1901952"/>
            <a:ext cx="1783080" cy="804672"/>
          </a:xfrm>
          <a:prstGeom prst="rect">
            <a:avLst/>
          </a:prstGeom>
          <a:solidFill>
            <a:srgbClr val="F3F5F8"/>
          </a:solidFill>
          <a:ln/>
        </p:spPr>
      </p:sp>
      <p:sp>
        <p:nvSpPr>
          <p:cNvPr id="15" name="Shape 12"/>
          <p:cNvSpPr/>
          <p:nvPr/>
        </p:nvSpPr>
        <p:spPr>
          <a:xfrm>
            <a:off x="2468880" y="1901952"/>
            <a:ext cx="2697480" cy="804672"/>
          </a:xfrm>
          <a:prstGeom prst="rect">
            <a:avLst/>
          </a:prstGeom>
          <a:solidFill>
            <a:srgbClr val="F3F5F8"/>
          </a:solidFill>
          <a:ln/>
        </p:spPr>
      </p:sp>
      <p:sp>
        <p:nvSpPr>
          <p:cNvPr id="16" name="Shape 13"/>
          <p:cNvSpPr/>
          <p:nvPr/>
        </p:nvSpPr>
        <p:spPr>
          <a:xfrm>
            <a:off x="5303520" y="1901952"/>
            <a:ext cx="3886200" cy="804672"/>
          </a:xfrm>
          <a:prstGeom prst="rect">
            <a:avLst/>
          </a:prstGeom>
          <a:solidFill>
            <a:srgbClr val="F3F5F8"/>
          </a:solidFill>
          <a:ln/>
        </p:spPr>
      </p:sp>
      <p:sp>
        <p:nvSpPr>
          <p:cNvPr id="17" name="Shape 14"/>
          <p:cNvSpPr/>
          <p:nvPr/>
        </p:nvSpPr>
        <p:spPr>
          <a:xfrm>
            <a:off x="9326880" y="1901952"/>
            <a:ext cx="2267712" cy="804672"/>
          </a:xfrm>
          <a:prstGeom prst="rect">
            <a:avLst/>
          </a:prstGeom>
          <a:solidFill>
            <a:srgbClr val="F3F5F8"/>
          </a:solidFill>
          <a:ln/>
        </p:spPr>
      </p:sp>
      <p:sp>
        <p:nvSpPr>
          <p:cNvPr id="18" name="Text 15"/>
          <p:cNvSpPr txBox="1"/>
          <p:nvPr/>
        </p:nvSpPr>
        <p:spPr>
          <a:xfrm>
            <a:off x="685800" y="1901952"/>
            <a:ext cx="1645920" cy="804672"/>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Regression</a:t>
            </a:r>
            <a:endParaRPr lang="en-US" sz="1600" dirty="0"/>
          </a:p>
        </p:txBody>
      </p:sp>
      <p:sp>
        <p:nvSpPr>
          <p:cNvPr id="19" name="Text 16"/>
          <p:cNvSpPr txBox="1"/>
          <p:nvPr/>
        </p:nvSpPr>
        <p:spPr>
          <a:xfrm>
            <a:off x="2606040" y="1901952"/>
            <a:ext cx="2560320" cy="804672"/>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ŷ + Gaussian noise</a:t>
            </a:r>
            <a:endParaRPr lang="en-US" sz="1500" dirty="0"/>
          </a:p>
        </p:txBody>
      </p:sp>
      <p:pic>
        <p:nvPicPr>
          <p:cNvPr id="20" name="Image 0" descr="equation nll_reg">    </p:cNvPr>
          <p:cNvPicPr>
            <a:picLocks noChangeAspect="1"/>
          </p:cNvPicPr>
          <p:nvPr/>
        </p:nvPicPr>
        <p:blipFill>
          <a:blip r:embed="rId1"/>
          <a:stretch>
            <a:fillRect/>
          </a:stretch>
        </p:blipFill>
        <p:spPr>
          <a:xfrm>
            <a:off x="5440680" y="2015452"/>
            <a:ext cx="1704350" cy="577672"/>
          </a:xfrm>
          <a:prstGeom prst="rect">
            <a:avLst/>
          </a:prstGeom>
        </p:spPr>
      </p:pic>
      <p:sp>
        <p:nvSpPr>
          <p:cNvPr id="21" name="Text 17"/>
          <p:cNvSpPr txBox="1"/>
          <p:nvPr/>
        </p:nvSpPr>
        <p:spPr>
          <a:xfrm>
            <a:off x="9418320" y="1901952"/>
            <a:ext cx="2212848" cy="804672"/>
          </a:xfrm>
          <a:prstGeom prst="rect">
            <a:avLst/>
          </a:prstGeom>
          <a:noFill/>
          <a:ln/>
        </p:spPr>
        <p:txBody>
          <a:bodyPr wrap="square" lIns="0" tIns="0" rIns="0" bIns="0" rtlCol="0" anchor="ctr"/>
          <a:lstStyle/>
          <a:p>
            <a:pPr algn="l" indent="0" marL="0">
              <a:lnSpc>
                <a:spcPct val="100000"/>
              </a:lnSpc>
              <a:buNone/>
            </a:pPr>
            <a:r>
              <a:rPr lang="en-US" sz="1250" dirty="0">
                <a:solidFill>
                  <a:srgbClr val="16202E"/>
                </a:solidFill>
                <a:latin typeface="Courier New" pitchFamily="34" charset="0"/>
                <a:ea typeface="Courier New" pitchFamily="34" charset="-122"/>
                <a:cs typeface="Courier New" pitchFamily="34" charset="-120"/>
              </a:rPr>
              <a:t>mse(ŷ, y)</a:t>
            </a:r>
            <a:endParaRPr lang="en-US" sz="1250" dirty="0"/>
          </a:p>
        </p:txBody>
      </p:sp>
      <p:sp>
        <p:nvSpPr>
          <p:cNvPr id="22" name="Shape 18"/>
          <p:cNvSpPr/>
          <p:nvPr/>
        </p:nvSpPr>
        <p:spPr>
          <a:xfrm>
            <a:off x="548640" y="2770632"/>
            <a:ext cx="1783080" cy="804672"/>
          </a:xfrm>
          <a:prstGeom prst="rect">
            <a:avLst/>
          </a:prstGeom>
          <a:solidFill>
            <a:srgbClr val="F3F5F8"/>
          </a:solidFill>
          <a:ln/>
        </p:spPr>
      </p:sp>
      <p:sp>
        <p:nvSpPr>
          <p:cNvPr id="23" name="Shape 19"/>
          <p:cNvSpPr/>
          <p:nvPr/>
        </p:nvSpPr>
        <p:spPr>
          <a:xfrm>
            <a:off x="2468880" y="2770632"/>
            <a:ext cx="2697480" cy="804672"/>
          </a:xfrm>
          <a:prstGeom prst="rect">
            <a:avLst/>
          </a:prstGeom>
          <a:solidFill>
            <a:srgbClr val="F3F5F8"/>
          </a:solidFill>
          <a:ln/>
        </p:spPr>
      </p:sp>
      <p:sp>
        <p:nvSpPr>
          <p:cNvPr id="24" name="Shape 20"/>
          <p:cNvSpPr/>
          <p:nvPr/>
        </p:nvSpPr>
        <p:spPr>
          <a:xfrm>
            <a:off x="5303520" y="2770632"/>
            <a:ext cx="3886200" cy="804672"/>
          </a:xfrm>
          <a:prstGeom prst="rect">
            <a:avLst/>
          </a:prstGeom>
          <a:solidFill>
            <a:srgbClr val="F3F5F8"/>
          </a:solidFill>
          <a:ln/>
        </p:spPr>
      </p:sp>
      <p:sp>
        <p:nvSpPr>
          <p:cNvPr id="25" name="Shape 21"/>
          <p:cNvSpPr/>
          <p:nvPr/>
        </p:nvSpPr>
        <p:spPr>
          <a:xfrm>
            <a:off x="9326880" y="2770632"/>
            <a:ext cx="2267712" cy="804672"/>
          </a:xfrm>
          <a:prstGeom prst="rect">
            <a:avLst/>
          </a:prstGeom>
          <a:solidFill>
            <a:srgbClr val="F3F5F8"/>
          </a:solidFill>
          <a:ln/>
        </p:spPr>
      </p:sp>
      <p:sp>
        <p:nvSpPr>
          <p:cNvPr id="26" name="Text 22"/>
          <p:cNvSpPr txBox="1"/>
          <p:nvPr/>
        </p:nvSpPr>
        <p:spPr>
          <a:xfrm>
            <a:off x="685800" y="2770632"/>
            <a:ext cx="1645920" cy="804672"/>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Binary</a:t>
            </a:r>
            <a:endParaRPr lang="en-US" sz="1600" dirty="0"/>
          </a:p>
        </p:txBody>
      </p:sp>
      <p:sp>
        <p:nvSpPr>
          <p:cNvPr id="27" name="Text 23"/>
          <p:cNvSpPr txBox="1"/>
          <p:nvPr/>
        </p:nvSpPr>
        <p:spPr>
          <a:xfrm>
            <a:off x="2606040" y="2770632"/>
            <a:ext cx="2560320" cy="804672"/>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Bernoulli, ŷ = σ(z)</a:t>
            </a:r>
            <a:endParaRPr lang="en-US" sz="1500" dirty="0"/>
          </a:p>
        </p:txBody>
      </p:sp>
      <p:pic>
        <p:nvPicPr>
          <p:cNvPr id="28" name="Image 1" descr="equation nll_bin">    </p:cNvPr>
          <p:cNvPicPr>
            <a:picLocks noChangeAspect="1"/>
          </p:cNvPicPr>
          <p:nvPr/>
        </p:nvPicPr>
        <p:blipFill>
          <a:blip r:embed="rId2"/>
          <a:stretch>
            <a:fillRect/>
          </a:stretch>
        </p:blipFill>
        <p:spPr>
          <a:xfrm>
            <a:off x="5440680" y="3005747"/>
            <a:ext cx="3136803" cy="334442"/>
          </a:xfrm>
          <a:prstGeom prst="rect">
            <a:avLst/>
          </a:prstGeom>
        </p:spPr>
      </p:pic>
      <p:sp>
        <p:nvSpPr>
          <p:cNvPr id="29" name="Text 24"/>
          <p:cNvSpPr txBox="1"/>
          <p:nvPr/>
        </p:nvSpPr>
        <p:spPr>
          <a:xfrm>
            <a:off x="9418320" y="2770632"/>
            <a:ext cx="2212848" cy="804672"/>
          </a:xfrm>
          <a:prstGeom prst="rect">
            <a:avLst/>
          </a:prstGeom>
          <a:noFill/>
          <a:ln/>
        </p:spPr>
        <p:txBody>
          <a:bodyPr wrap="square" lIns="0" tIns="0" rIns="0" bIns="0" rtlCol="0" anchor="ctr"/>
          <a:lstStyle/>
          <a:p>
            <a:pPr algn="l" indent="0" marL="0">
              <a:lnSpc>
                <a:spcPct val="100000"/>
              </a:lnSpc>
              <a:buNone/>
            </a:pPr>
            <a:r>
              <a:rPr lang="en-US" sz="1250" dirty="0">
                <a:solidFill>
                  <a:srgbClr val="16202E"/>
                </a:solidFill>
                <a:latin typeface="Courier New" pitchFamily="34" charset="0"/>
                <a:ea typeface="Courier New" pitchFamily="34" charset="-122"/>
                <a:cs typeface="Courier New" pitchFamily="34" charset="-120"/>
              </a:rPr>
              <a:t>bce_with_logits(z, y)</a:t>
            </a:r>
            <a:endParaRPr lang="en-US" sz="1250" dirty="0"/>
          </a:p>
        </p:txBody>
      </p:sp>
      <p:sp>
        <p:nvSpPr>
          <p:cNvPr id="30" name="Shape 25"/>
          <p:cNvSpPr/>
          <p:nvPr/>
        </p:nvSpPr>
        <p:spPr>
          <a:xfrm>
            <a:off x="548640" y="3639312"/>
            <a:ext cx="1783080" cy="804672"/>
          </a:xfrm>
          <a:prstGeom prst="rect">
            <a:avLst/>
          </a:prstGeom>
          <a:solidFill>
            <a:srgbClr val="E3F2F1"/>
          </a:solidFill>
          <a:ln/>
        </p:spPr>
      </p:sp>
      <p:sp>
        <p:nvSpPr>
          <p:cNvPr id="31" name="Shape 26"/>
          <p:cNvSpPr/>
          <p:nvPr/>
        </p:nvSpPr>
        <p:spPr>
          <a:xfrm>
            <a:off x="2468880" y="3639312"/>
            <a:ext cx="2697480" cy="804672"/>
          </a:xfrm>
          <a:prstGeom prst="rect">
            <a:avLst/>
          </a:prstGeom>
          <a:solidFill>
            <a:srgbClr val="E3F2F1"/>
          </a:solidFill>
          <a:ln/>
        </p:spPr>
      </p:sp>
      <p:sp>
        <p:nvSpPr>
          <p:cNvPr id="32" name="Shape 27"/>
          <p:cNvSpPr/>
          <p:nvPr/>
        </p:nvSpPr>
        <p:spPr>
          <a:xfrm>
            <a:off x="5303520" y="3639312"/>
            <a:ext cx="3886200" cy="804672"/>
          </a:xfrm>
          <a:prstGeom prst="rect">
            <a:avLst/>
          </a:prstGeom>
          <a:solidFill>
            <a:srgbClr val="E3F2F1"/>
          </a:solidFill>
          <a:ln/>
        </p:spPr>
      </p:sp>
      <p:sp>
        <p:nvSpPr>
          <p:cNvPr id="33" name="Shape 28"/>
          <p:cNvSpPr/>
          <p:nvPr/>
        </p:nvSpPr>
        <p:spPr>
          <a:xfrm>
            <a:off x="9326880" y="3639312"/>
            <a:ext cx="2267712" cy="804672"/>
          </a:xfrm>
          <a:prstGeom prst="rect">
            <a:avLst/>
          </a:prstGeom>
          <a:solidFill>
            <a:srgbClr val="E3F2F1"/>
          </a:solidFill>
          <a:ln/>
        </p:spPr>
      </p:sp>
      <p:sp>
        <p:nvSpPr>
          <p:cNvPr id="34" name="Text 29"/>
          <p:cNvSpPr txBox="1"/>
          <p:nvPr/>
        </p:nvSpPr>
        <p:spPr>
          <a:xfrm>
            <a:off x="685800" y="3639312"/>
            <a:ext cx="1645920" cy="804672"/>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Multi-class</a:t>
            </a:r>
            <a:endParaRPr lang="en-US" sz="1600" dirty="0"/>
          </a:p>
        </p:txBody>
      </p:sp>
      <p:sp>
        <p:nvSpPr>
          <p:cNvPr id="35" name="Text 30"/>
          <p:cNvSpPr txBox="1"/>
          <p:nvPr/>
        </p:nvSpPr>
        <p:spPr>
          <a:xfrm>
            <a:off x="2606040" y="3639312"/>
            <a:ext cx="2560320" cy="804672"/>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Categorical, p = softmax(z)</a:t>
            </a:r>
            <a:endParaRPr lang="en-US" sz="1500" dirty="0"/>
          </a:p>
        </p:txBody>
      </p:sp>
      <p:pic>
        <p:nvPicPr>
          <p:cNvPr id="36" name="Image 2" descr="equation nll_multi">    </p:cNvPr>
          <p:cNvPicPr>
            <a:picLocks noChangeAspect="1"/>
          </p:cNvPicPr>
          <p:nvPr/>
        </p:nvPicPr>
        <p:blipFill>
          <a:blip r:embed="rId3"/>
          <a:stretch>
            <a:fillRect/>
          </a:stretch>
        </p:blipFill>
        <p:spPr>
          <a:xfrm>
            <a:off x="5440680" y="3901356"/>
            <a:ext cx="824377" cy="280584"/>
          </a:xfrm>
          <a:prstGeom prst="rect">
            <a:avLst/>
          </a:prstGeom>
        </p:spPr>
      </p:pic>
      <p:sp>
        <p:nvSpPr>
          <p:cNvPr id="37" name="Text 31"/>
          <p:cNvSpPr txBox="1"/>
          <p:nvPr/>
        </p:nvSpPr>
        <p:spPr>
          <a:xfrm>
            <a:off x="9418320" y="3639312"/>
            <a:ext cx="2212848" cy="804672"/>
          </a:xfrm>
          <a:prstGeom prst="rect">
            <a:avLst/>
          </a:prstGeom>
          <a:noFill/>
          <a:ln/>
        </p:spPr>
        <p:txBody>
          <a:bodyPr wrap="square" lIns="0" tIns="0" rIns="0" bIns="0" rtlCol="0" anchor="ctr"/>
          <a:lstStyle/>
          <a:p>
            <a:pPr algn="l" indent="0" marL="0">
              <a:lnSpc>
                <a:spcPct val="100000"/>
              </a:lnSpc>
              <a:buNone/>
            </a:pPr>
            <a:r>
              <a:rPr lang="en-US" sz="1250" dirty="0">
                <a:solidFill>
                  <a:srgbClr val="16202E"/>
                </a:solidFill>
                <a:latin typeface="Courier New" pitchFamily="34" charset="0"/>
                <a:ea typeface="Courier New" pitchFamily="34" charset="-122"/>
                <a:cs typeface="Courier New" pitchFamily="34" charset="-120"/>
              </a:rPr>
              <a:t>cross_entropy(z, y)</a:t>
            </a:r>
            <a:endParaRPr lang="en-US" sz="1250" dirty="0"/>
          </a:p>
        </p:txBody>
      </p:sp>
      <p:sp>
        <p:nvSpPr>
          <p:cNvPr id="38" name="Shape 32"/>
          <p:cNvSpPr/>
          <p:nvPr/>
        </p:nvSpPr>
        <p:spPr>
          <a:xfrm>
            <a:off x="548640" y="4617720"/>
            <a:ext cx="5852160" cy="1508760"/>
          </a:xfrm>
          <a:prstGeom prst="roundRect">
            <a:avLst>
              <a:gd name="adj" fmla="val 4848"/>
            </a:avLst>
          </a:prstGeom>
          <a:solidFill>
            <a:srgbClr val="F3F5F8"/>
          </a:solidFill>
          <a:ln/>
        </p:spPr>
      </p:sp>
      <p:sp>
        <p:nvSpPr>
          <p:cNvPr id="39" name="Text 33"/>
          <p:cNvSpPr txBox="1"/>
          <p:nvPr/>
        </p:nvSpPr>
        <p:spPr>
          <a:xfrm>
            <a:off x="777240" y="4736592"/>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HOW HARD IS A MISTAKE PUNISHED?</a:t>
            </a:r>
            <a:endParaRPr lang="en-US" sz="1100" dirty="0"/>
          </a:p>
        </p:txBody>
      </p:sp>
      <p:sp>
        <p:nvSpPr>
          <p:cNvPr id="40" name="Text 34"/>
          <p:cNvSpPr txBox="1"/>
          <p:nvPr/>
        </p:nvSpPr>
        <p:spPr>
          <a:xfrm>
            <a:off x="777240" y="5074920"/>
            <a:ext cx="5486400" cy="365760"/>
          </a:xfrm>
          <a:prstGeom prst="rect">
            <a:avLst/>
          </a:prstGeom>
          <a:noFill/>
          <a:ln/>
        </p:spPr>
        <p:txBody>
          <a:bodyPr wrap="square" lIns="0" tIns="0" rIns="0" bIns="0" rtlCol="0" anchor="t"/>
          <a:lstStyle/>
          <a:p>
            <a:pPr algn="l" indent="0" marL="0">
              <a:lnSpc>
                <a:spcPct val="100000"/>
              </a:lnSpc>
              <a:buNone/>
            </a:pPr>
            <a:r>
              <a:rPr lang="en-US" sz="1700" dirty="0">
                <a:solidFill>
                  <a:srgbClr val="16202E"/>
                </a:solidFill>
                <a:latin typeface="Calibri" pitchFamily="34" charset="0"/>
                <a:ea typeface="Calibri" pitchFamily="34" charset="-122"/>
                <a:cs typeface="Calibri" pitchFamily="34" charset="-120"/>
              </a:rPr>
              <a:t>−log 0.9 = 0.105   ·   −log 0.5 = 0.693   ·   −log 0.01 = 4.61</a:t>
            </a:r>
            <a:endParaRPr lang="en-US" sz="1700" dirty="0"/>
          </a:p>
        </p:txBody>
      </p:sp>
      <p:sp>
        <p:nvSpPr>
          <p:cNvPr id="41" name="Text 35"/>
          <p:cNvSpPr txBox="1"/>
          <p:nvPr/>
        </p:nvSpPr>
        <p:spPr>
          <a:xfrm>
            <a:off x="777240" y="5532120"/>
            <a:ext cx="5486400" cy="45720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Confident and wrong costs ~40× more than confident and right.</a:t>
            </a:r>
            <a:endParaRPr lang="en-US" sz="1500" dirty="0"/>
          </a:p>
        </p:txBody>
      </p:sp>
      <p:sp>
        <p:nvSpPr>
          <p:cNvPr id="42" name="Shape 36"/>
          <p:cNvSpPr/>
          <p:nvPr/>
        </p:nvSpPr>
        <p:spPr>
          <a:xfrm>
            <a:off x="6583680" y="4617720"/>
            <a:ext cx="5056632" cy="1508760"/>
          </a:xfrm>
          <a:prstGeom prst="roundRect">
            <a:avLst>
              <a:gd name="adj" fmla="val 4848"/>
            </a:avLst>
          </a:prstGeom>
          <a:solidFill>
            <a:srgbClr val="E3F2F1"/>
          </a:solidFill>
          <a:ln/>
        </p:spPr>
      </p:sp>
      <p:sp>
        <p:nvSpPr>
          <p:cNvPr id="43" name="Text 37"/>
          <p:cNvSpPr txBox="1"/>
          <p:nvPr/>
        </p:nvSpPr>
        <p:spPr>
          <a:xfrm>
            <a:off x="6812280" y="4617720"/>
            <a:ext cx="4663440" cy="1508760"/>
          </a:xfrm>
          <a:prstGeom prst="rect">
            <a:avLst/>
          </a:prstGeom>
          <a:noFill/>
          <a:ln/>
        </p:spPr>
        <p:txBody>
          <a:bodyPr wrap="square" lIns="0" tIns="0" rIns="0" bIns="0" rtlCol="0" anchor="ctr"/>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Maximizing the likelihood of the training labels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minimizing the average negative log-likelihood. Same principle you used for logistic regression.</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LOSSES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Sanity check before training: the first loss should be about ln 10 = 2.30</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why cross-entropy and not squared error</a:t>
            </a:r>
            <a:endParaRPr lang="en-US" sz="1100" dirty="0"/>
          </a:p>
        </p:txBody>
      </p:sp>
      <p:sp>
        <p:nvSpPr>
          <p:cNvPr id="6" name="Shape 3"/>
          <p:cNvSpPr/>
          <p:nvPr/>
        </p:nvSpPr>
        <p:spPr>
          <a:xfrm>
            <a:off x="548640" y="1371600"/>
            <a:ext cx="6400800" cy="1417320"/>
          </a:xfrm>
          <a:prstGeom prst="roundRect">
            <a:avLst>
              <a:gd name="adj" fmla="val 5161"/>
            </a:avLst>
          </a:prstGeom>
          <a:solidFill>
            <a:srgbClr val="F3F5F8"/>
          </a:solidFill>
          <a:ln/>
        </p:spPr>
      </p:sp>
      <p:pic>
        <p:nvPicPr>
          <p:cNvPr id="7" name="Image 0" descr="equation lnK">    </p:cNvPr>
          <p:cNvPicPr>
            <a:picLocks noChangeAspect="1"/>
          </p:cNvPicPr>
          <p:nvPr/>
        </p:nvPicPr>
        <p:blipFill>
          <a:blip r:embed="rId1"/>
          <a:stretch>
            <a:fillRect/>
          </a:stretch>
        </p:blipFill>
        <p:spPr>
          <a:xfrm>
            <a:off x="822960" y="1572768"/>
            <a:ext cx="4090111" cy="349301"/>
          </a:xfrm>
          <a:prstGeom prst="rect">
            <a:avLst/>
          </a:prstGeom>
        </p:spPr>
      </p:pic>
      <p:sp>
        <p:nvSpPr>
          <p:cNvPr id="8" name="Text 4"/>
          <p:cNvSpPr txBox="1"/>
          <p:nvPr/>
        </p:nvSpPr>
        <p:spPr>
          <a:xfrm>
            <a:off x="822960" y="2148840"/>
            <a:ext cx="5943600" cy="457200"/>
          </a:xfrm>
          <a:prstGeom prst="rect">
            <a:avLst/>
          </a:prstGeom>
          <a:noFill/>
          <a:ln/>
        </p:spPr>
        <p:txBody>
          <a:bodyPr wrap="square" lIns="0" tIns="0" rIns="0" bIns="0" rtlCol="0" anchor="t"/>
          <a:lstStyle/>
          <a:p>
            <a:pPr algn="l" indent="0" marL="0">
              <a:lnSpc>
                <a:spcPct val="100000"/>
              </a:lnSpc>
              <a:buNone/>
            </a:pPr>
            <a:r>
              <a:rPr lang="en-US" sz="1550" dirty="0">
                <a:solidFill>
                  <a:srgbClr val="5B6675"/>
                </a:solidFill>
                <a:latin typeface="Calibri" pitchFamily="34" charset="0"/>
                <a:ea typeface="Calibri" pitchFamily="34" charset="-122"/>
                <a:cs typeface="Calibri" pitchFamily="34" charset="-120"/>
              </a:rPr>
              <a:t>If all K logits start nearly equal, every class gets p ≈ 1/K.</a:t>
            </a:r>
            <a:endParaRPr lang="en-US" sz="1550" dirty="0"/>
          </a:p>
        </p:txBody>
      </p:sp>
      <p:sp>
        <p:nvSpPr>
          <p:cNvPr id="9" name="Shape 5"/>
          <p:cNvSpPr/>
          <p:nvPr/>
        </p:nvSpPr>
        <p:spPr>
          <a:xfrm>
            <a:off x="548640" y="2971800"/>
            <a:ext cx="6400800" cy="1783080"/>
          </a:xfrm>
          <a:prstGeom prst="roundRect">
            <a:avLst>
              <a:gd name="adj" fmla="val 4103"/>
            </a:avLst>
          </a:prstGeom>
          <a:solidFill>
            <a:srgbClr val="E3F2F1"/>
          </a:solidFill>
          <a:ln/>
        </p:spPr>
      </p:sp>
      <p:sp>
        <p:nvSpPr>
          <p:cNvPr id="10" name="Text 6"/>
          <p:cNvSpPr txBox="1"/>
          <p:nvPr/>
        </p:nvSpPr>
        <p:spPr>
          <a:xfrm>
            <a:off x="822960" y="3063240"/>
            <a:ext cx="3657600" cy="914400"/>
          </a:xfrm>
          <a:prstGeom prst="rect">
            <a:avLst/>
          </a:prstGeom>
          <a:noFill/>
          <a:ln/>
        </p:spPr>
        <p:txBody>
          <a:bodyPr wrap="square" lIns="0" tIns="0" rIns="0" bIns="0" rtlCol="0" anchor="t"/>
          <a:lstStyle/>
          <a:p>
            <a:pPr algn="l" indent="0" marL="0">
              <a:lnSpc>
                <a:spcPct val="100000"/>
              </a:lnSpc>
              <a:buNone/>
            </a:pPr>
            <a:r>
              <a:rPr lang="en-US" sz="4600" b="1" dirty="0">
                <a:solidFill>
                  <a:srgbClr val="0E7C7B"/>
                </a:solidFill>
                <a:latin typeface="Cambria" pitchFamily="34" charset="0"/>
                <a:ea typeface="Cambria" pitchFamily="34" charset="-122"/>
                <a:cs typeface="Cambria" pitchFamily="34" charset="-120"/>
              </a:rPr>
              <a:t>2.29 – 2.33</a:t>
            </a:r>
            <a:endParaRPr lang="en-US" sz="4600" dirty="0"/>
          </a:p>
        </p:txBody>
      </p:sp>
      <p:sp>
        <p:nvSpPr>
          <p:cNvPr id="11" name="Text 7"/>
          <p:cNvSpPr txBox="1"/>
          <p:nvPr/>
        </p:nvSpPr>
        <p:spPr>
          <a:xfrm>
            <a:off x="822960" y="4023360"/>
            <a:ext cx="5943600" cy="36576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first-batch loss of our MLP, 3 seeds. ✓ Close to 2.30.</a:t>
            </a:r>
            <a:endParaRPr lang="en-US" sz="1550" dirty="0"/>
          </a:p>
        </p:txBody>
      </p:sp>
      <p:sp>
        <p:nvSpPr>
          <p:cNvPr id="12" name="Text 8"/>
          <p:cNvSpPr txBox="1"/>
          <p:nvPr/>
        </p:nvSpPr>
        <p:spPr>
          <a:xfrm>
            <a:off x="822960" y="4343400"/>
            <a:ext cx="5943600" cy="365760"/>
          </a:xfrm>
          <a:prstGeom prst="rect">
            <a:avLst/>
          </a:prstGeom>
          <a:noFill/>
          <a:ln/>
        </p:spPr>
        <p:txBody>
          <a:bodyPr wrap="square" lIns="0" tIns="0" rIns="0" bIns="0" rtlCol="0" anchor="t"/>
          <a:lstStyle/>
          <a:p>
            <a:pPr algn="l" indent="0" marL="0">
              <a:lnSpc>
                <a:spcPct val="100000"/>
              </a:lnSpc>
              <a:buNone/>
            </a:pPr>
            <a:r>
              <a:rPr lang="en-US" sz="1400" dirty="0">
                <a:solidFill>
                  <a:srgbClr val="5B6675"/>
                </a:solidFill>
                <a:latin typeface="Calibri" pitchFamily="34" charset="0"/>
                <a:ea typeface="Calibri" pitchFamily="34" charset="-122"/>
                <a:cs typeface="Calibri" pitchFamily="34" charset="-120"/>
              </a:rPr>
              <a:t>Output layer initialized small (std 0.01), so the logits start near 0.</a:t>
            </a:r>
            <a:endParaRPr lang="en-US" sz="1400" dirty="0"/>
          </a:p>
        </p:txBody>
      </p:sp>
      <p:sp>
        <p:nvSpPr>
          <p:cNvPr id="13" name="Shape 9"/>
          <p:cNvSpPr/>
          <p:nvPr/>
        </p:nvSpPr>
        <p:spPr>
          <a:xfrm>
            <a:off x="548640" y="4937760"/>
            <a:ext cx="6400800" cy="1188720"/>
          </a:xfrm>
          <a:prstGeom prst="roundRect">
            <a:avLst>
              <a:gd name="adj" fmla="val 6154"/>
            </a:avLst>
          </a:prstGeom>
          <a:solidFill>
            <a:srgbClr val="FBE9E7"/>
          </a:solidFill>
          <a:ln/>
        </p:spPr>
      </p:sp>
      <p:sp>
        <p:nvSpPr>
          <p:cNvPr id="14" name="Text 10"/>
          <p:cNvSpPr txBox="1"/>
          <p:nvPr/>
        </p:nvSpPr>
        <p:spPr>
          <a:xfrm>
            <a:off x="822960" y="4937760"/>
            <a:ext cx="5943600" cy="1188720"/>
          </a:xfrm>
          <a:prstGeom prst="rect">
            <a:avLst/>
          </a:prstGeom>
          <a:noFill/>
          <a:ln/>
        </p:spPr>
        <p:txBody>
          <a:bodyPr wrap="square" lIns="0" tIns="0" rIns="0" bIns="0" rtlCol="0" anchor="ctr"/>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First loss far above ln K</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(say 5–15)? The logits start large and confident: check input scaling, initialization and the label encoding before training further.</a:t>
            </a:r>
            <a:endParaRPr lang="en-US" sz="1550" dirty="0"/>
          </a:p>
        </p:txBody>
      </p:sp>
      <p:sp>
        <p:nvSpPr>
          <p:cNvPr id="15" name="Shape 11"/>
          <p:cNvSpPr/>
          <p:nvPr/>
        </p:nvSpPr>
        <p:spPr>
          <a:xfrm>
            <a:off x="7315200" y="1371600"/>
            <a:ext cx="4325112" cy="4754880"/>
          </a:xfrm>
          <a:prstGeom prst="roundRect">
            <a:avLst>
              <a:gd name="adj" fmla="val 1691"/>
            </a:avLst>
          </a:prstGeom>
          <a:solidFill>
            <a:srgbClr val="16202E"/>
          </a:solidFill>
          <a:ln/>
        </p:spPr>
      </p:sp>
      <p:sp>
        <p:nvSpPr>
          <p:cNvPr id="16" name="Text 12"/>
          <p:cNvSpPr txBox="1"/>
          <p:nvPr/>
        </p:nvSpPr>
        <p:spPr>
          <a:xfrm>
            <a:off x="7589520" y="1554480"/>
            <a:ext cx="36576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C4BE"/>
                </a:solidFill>
                <a:latin typeface="Calibri" pitchFamily="34" charset="0"/>
                <a:ea typeface="Calibri" pitchFamily="34" charset="-122"/>
                <a:cs typeface="Calibri" pitchFamily="34" charset="-120"/>
              </a:rPr>
              <a:t>WHY BOTHER?</a:t>
            </a:r>
            <a:endParaRPr lang="en-US" sz="1100" dirty="0"/>
          </a:p>
        </p:txBody>
      </p:sp>
      <p:sp>
        <p:nvSpPr>
          <p:cNvPr id="17" name="Text 13"/>
          <p:cNvSpPr txBox="1"/>
          <p:nvPr/>
        </p:nvSpPr>
        <p:spPr>
          <a:xfrm>
            <a:off x="7589520" y="1920240"/>
            <a:ext cx="3840480" cy="822960"/>
          </a:xfrm>
          <a:prstGeom prst="rect">
            <a:avLst/>
          </a:prstGeom>
          <a:noFill/>
          <a:ln/>
        </p:spPr>
        <p:txBody>
          <a:bodyPr wrap="square" lIns="0" tIns="0" rIns="0" bIns="0" rtlCol="0" anchor="t"/>
          <a:lstStyle/>
          <a:p>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One forward pass catches whole classes of bugs before you spend hours training:</a:t>
            </a:r>
            <a:endParaRPr lang="en-US" sz="1550" dirty="0"/>
          </a:p>
        </p:txBody>
      </p:sp>
      <p:sp>
        <p:nvSpPr>
          <p:cNvPr id="18" name="Text 14"/>
          <p:cNvSpPr txBox="1"/>
          <p:nvPr/>
        </p:nvSpPr>
        <p:spPr>
          <a:xfrm>
            <a:off x="7589520" y="2834640"/>
            <a:ext cx="3840480" cy="1463040"/>
          </a:xfrm>
          <a:prstGeom prst="rect">
            <a:avLst/>
          </a:prstGeom>
          <a:noFill/>
          <a:ln/>
        </p:spPr>
        <p:txBody>
          <a:bodyPr wrap="square" lIns="0" tIns="0" rIns="0" bIns="0" rtlCol="0" anchor="t"/>
          <a:lstStyle/>
          <a:p>
            <a:pPr marL="228600" indent="-228600">
              <a:spcAft>
                <a:spcPts val="600"/>
              </a:spcAft>
              <a:buSzPct val="100000"/>
              <a:buChar char="•"/>
            </a:pPr>
            <a:r>
              <a:rPr lang="en-US" sz="1550" dirty="0">
                <a:solidFill>
                  <a:srgbClr val="D5DCE5"/>
                </a:solidFill>
                <a:latin typeface="Calibri" pitchFamily="34" charset="0"/>
                <a:ea typeface="Calibri" pitchFamily="34" charset="-122"/>
                <a:cs typeface="Calibri" pitchFamily="34" charset="-120"/>
              </a:rPr>
              <a:t>wrong input scaling</a:t>
            </a:r>
            <a:endParaRPr lang="en-US" sz="1550" dirty="0"/>
          </a:p>
          <a:p>
            <a:pPr marL="228600" indent="-228600">
              <a:spcAft>
                <a:spcPts val="600"/>
              </a:spcAft>
              <a:buSzPct val="100000"/>
              <a:buChar char="•"/>
            </a:pPr>
            <a:r>
              <a:rPr lang="en-US" sz="1550" dirty="0">
                <a:solidFill>
                  <a:srgbClr val="D5DCE5"/>
                </a:solidFill>
                <a:latin typeface="Calibri" pitchFamily="34" charset="0"/>
                <a:ea typeface="Calibri" pitchFamily="34" charset="-122"/>
                <a:cs typeface="Calibri" pitchFamily="34" charset="-120"/>
              </a:rPr>
              <a:t>bad initialization</a:t>
            </a:r>
            <a:endParaRPr lang="en-US" sz="1550" dirty="0"/>
          </a:p>
          <a:p>
            <a:pPr marL="228600" indent="-228600">
              <a:spcAft>
                <a:spcPts val="600"/>
              </a:spcAft>
              <a:buSzPct val="100000"/>
              <a:buChar char="•"/>
            </a:pPr>
            <a:r>
              <a:rPr lang="en-US" sz="1550" dirty="0">
                <a:solidFill>
                  <a:srgbClr val="D5DCE5"/>
                </a:solidFill>
                <a:latin typeface="Calibri" pitchFamily="34" charset="0"/>
                <a:ea typeface="Calibri" pitchFamily="34" charset="-122"/>
                <a:cs typeface="Calibri" pitchFamily="34" charset="-120"/>
              </a:rPr>
              <a:t>labels shifted, or one-hot where indices were expected</a:t>
            </a:r>
            <a:endParaRPr lang="en-US" sz="1550" dirty="0"/>
          </a:p>
        </p:txBody>
      </p:sp>
      <p:sp>
        <p:nvSpPr>
          <p:cNvPr id="19" name="Text 15"/>
          <p:cNvSpPr txBox="1"/>
          <p:nvPr/>
        </p:nvSpPr>
        <p:spPr>
          <a:xfrm>
            <a:off x="7589520" y="4754880"/>
            <a:ext cx="3840480" cy="1097280"/>
          </a:xfrm>
          <a:prstGeom prst="rect">
            <a:avLst/>
          </a:prstGeom>
          <a:noFill/>
          <a:ln/>
        </p:spPr>
        <p:txBody>
          <a:bodyPr wrap="square" lIns="0" tIns="0" rIns="0" bIns="0" rtlCol="0" anchor="t"/>
          <a:lstStyle/>
          <a:p>
            <a:pPr algn="l" indent="0" marL="0">
              <a:lnSpc>
                <a:spcPct val="100000"/>
              </a:lnSpc>
              <a:buNone/>
            </a:pPr>
            <a:r>
              <a:rPr lang="en-US" sz="1500" i="1" dirty="0">
                <a:solidFill>
                  <a:srgbClr val="5FC4BE"/>
                </a:solidFill>
                <a:latin typeface="Calibri" pitchFamily="34" charset="0"/>
                <a:ea typeface="Calibri" pitchFamily="34" charset="-122"/>
                <a:cs typeface="Calibri" pitchFamily="34" charset="-120"/>
              </a:rPr>
              <a:t>“Verify loss @ init”</a:t>
            </a:r>
            <a:pPr algn="l" indent="0" marL="0">
              <a:lnSpc>
                <a:spcPct val="100000"/>
              </a:lnSpc>
              <a:buNone/>
            </a:pPr>
            <a:r>
              <a:rPr lang="en-US" sz="1500" dirty="0">
                <a:solidFill>
                  <a:srgbClr val="5FC4BE"/>
                </a:solidFill>
                <a:latin typeface="Calibri" pitchFamily="34" charset="0"/>
                <a:ea typeface="Calibri" pitchFamily="34" charset="-122"/>
                <a:cs typeface="Calibri" pitchFamily="34" charset="-120"/>
              </a:rPr>
              <a:t> — step 1 of Karpathy's recipe for training neural networks (2019).</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LOSSES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Cross-entropy pushes hardest when wrong; squared error stalls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gradient descent</a:t>
            </a:r>
            <a:endParaRPr lang="en-US" sz="1100" dirty="0"/>
          </a:p>
        </p:txBody>
      </p:sp>
      <p:pic>
        <p:nvPicPr>
          <p:cNvPr id="6" name="Image 0" descr="Gradient magnitude with respect to the logit: cross-entropy vs squared error">    </p:cNvPr>
          <p:cNvPicPr>
            <a:picLocks noChangeAspect="1"/>
          </p:cNvPicPr>
          <p:nvPr/>
        </p:nvPicPr>
        <p:blipFill>
          <a:blip r:embed="rId1"/>
          <a:stretch>
            <a:fillRect/>
          </a:stretch>
        </p:blipFill>
        <p:spPr>
          <a:xfrm>
            <a:off x="548640" y="1371600"/>
            <a:ext cx="5760720" cy="4331121"/>
          </a:xfrm>
          <a:prstGeom prst="rect">
            <a:avLst/>
          </a:prstGeom>
        </p:spPr>
      </p:pic>
      <p:sp>
        <p:nvSpPr>
          <p:cNvPr id="7" name="Shape 3"/>
          <p:cNvSpPr/>
          <p:nvPr/>
        </p:nvSpPr>
        <p:spPr>
          <a:xfrm>
            <a:off x="6583680" y="1371600"/>
            <a:ext cx="5056632" cy="1600200"/>
          </a:xfrm>
          <a:prstGeom prst="roundRect">
            <a:avLst>
              <a:gd name="adj" fmla="val 4571"/>
            </a:avLst>
          </a:prstGeom>
          <a:solidFill>
            <a:srgbClr val="FBE9E7"/>
          </a:solidFill>
          <a:ln/>
        </p:spPr>
      </p:sp>
      <p:sp>
        <p:nvSpPr>
          <p:cNvPr id="8" name="Text 4"/>
          <p:cNvSpPr txBox="1"/>
          <p:nvPr/>
        </p:nvSpPr>
        <p:spPr>
          <a:xfrm>
            <a:off x="6812280" y="14813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B83227"/>
                </a:solidFill>
                <a:latin typeface="Calibri" pitchFamily="34" charset="0"/>
                <a:ea typeface="Calibri" pitchFamily="34" charset="-122"/>
                <a:cs typeface="Calibri" pitchFamily="34" charset="-120"/>
              </a:rPr>
              <a:t>SQUARED ERROR ON A SIGMOID</a:t>
            </a:r>
            <a:endParaRPr lang="en-US" sz="1100" dirty="0"/>
          </a:p>
        </p:txBody>
      </p:sp>
      <p:pic>
        <p:nvPicPr>
          <p:cNvPr id="9" name="Image 1" descr="equation mse_grad">    </p:cNvPr>
          <p:cNvPicPr>
            <a:picLocks noChangeAspect="1"/>
          </p:cNvPicPr>
          <p:nvPr/>
        </p:nvPicPr>
        <p:blipFill>
          <a:blip r:embed="rId2"/>
          <a:stretch>
            <a:fillRect/>
          </a:stretch>
        </p:blipFill>
        <p:spPr>
          <a:xfrm>
            <a:off x="6812280" y="1828800"/>
            <a:ext cx="3415650" cy="549006"/>
          </a:xfrm>
          <a:prstGeom prst="rect">
            <a:avLst/>
          </a:prstGeom>
        </p:spPr>
      </p:pic>
      <p:sp>
        <p:nvSpPr>
          <p:cNvPr id="10" name="Text 5"/>
          <p:cNvSpPr txBox="1"/>
          <p:nvPr/>
        </p:nvSpPr>
        <p:spPr>
          <a:xfrm>
            <a:off x="6812280" y="2514600"/>
            <a:ext cx="4663440" cy="365760"/>
          </a:xfrm>
          <a:prstGeom prst="rect">
            <a:avLst/>
          </a:prstGeom>
          <a:noFill/>
          <a:ln/>
        </p:spPr>
        <p:txBody>
          <a:bodyPr wrap="square" lIns="0" tIns="0" rIns="0" bIns="0" rtlCol="0" anchor="t"/>
          <a:lstStyle/>
          <a:p>
            <a:pPr algn="l" indent="0" marL="0">
              <a:lnSpc>
                <a:spcPct val="100000"/>
              </a:lnSpc>
              <a:buNone/>
            </a:pPr>
            <a:r>
              <a:rPr lang="en-US" sz="1500" dirty="0">
                <a:solidFill>
                  <a:srgbClr val="B83227"/>
                </a:solidFill>
                <a:latin typeface="Calibri" pitchFamily="34" charset="0"/>
                <a:ea typeface="Calibri" pitchFamily="34" charset="-122"/>
                <a:cs typeface="Calibri" pitchFamily="34" charset="-120"/>
              </a:rPr>
              <a:t>σ(z) = 0.0001, y = 1  →  ∂L/∂z ≈ −0.0001</a:t>
            </a:r>
            <a:endParaRPr lang="en-US" sz="1500" dirty="0"/>
          </a:p>
        </p:txBody>
      </p:sp>
      <p:sp>
        <p:nvSpPr>
          <p:cNvPr id="11" name="Shape 6"/>
          <p:cNvSpPr/>
          <p:nvPr/>
        </p:nvSpPr>
        <p:spPr>
          <a:xfrm>
            <a:off x="6583680" y="3154680"/>
            <a:ext cx="5056632" cy="1463040"/>
          </a:xfrm>
          <a:prstGeom prst="roundRect">
            <a:avLst>
              <a:gd name="adj" fmla="val 5000"/>
            </a:avLst>
          </a:prstGeom>
          <a:solidFill>
            <a:srgbClr val="E3F2F1"/>
          </a:solidFill>
          <a:ln/>
        </p:spPr>
      </p:sp>
      <p:sp>
        <p:nvSpPr>
          <p:cNvPr id="12" name="Text 7"/>
          <p:cNvSpPr txBox="1"/>
          <p:nvPr/>
        </p:nvSpPr>
        <p:spPr>
          <a:xfrm>
            <a:off x="6812280" y="326440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CROSS-ENTROPY ON A SIGMOID</a:t>
            </a:r>
            <a:endParaRPr lang="en-US" sz="1100" dirty="0"/>
          </a:p>
        </p:txBody>
      </p:sp>
      <p:pic>
        <p:nvPicPr>
          <p:cNvPr id="13" name="Image 2" descr="equation ce_grad">    </p:cNvPr>
          <p:cNvPicPr>
            <a:picLocks noChangeAspect="1"/>
          </p:cNvPicPr>
          <p:nvPr/>
        </p:nvPicPr>
        <p:blipFill>
          <a:blip r:embed="rId3"/>
          <a:stretch>
            <a:fillRect/>
          </a:stretch>
        </p:blipFill>
        <p:spPr>
          <a:xfrm>
            <a:off x="6812280" y="3611880"/>
            <a:ext cx="1573179" cy="549006"/>
          </a:xfrm>
          <a:prstGeom prst="rect">
            <a:avLst/>
          </a:prstGeom>
        </p:spPr>
      </p:pic>
      <p:sp>
        <p:nvSpPr>
          <p:cNvPr id="14" name="Text 8"/>
          <p:cNvSpPr txBox="1"/>
          <p:nvPr/>
        </p:nvSpPr>
        <p:spPr>
          <a:xfrm>
            <a:off x="8778240" y="3749040"/>
            <a:ext cx="2743200" cy="365760"/>
          </a:xfrm>
          <a:prstGeom prst="rect">
            <a:avLst/>
          </a:prstGeom>
          <a:noFill/>
          <a:ln/>
        </p:spPr>
        <p:txBody>
          <a:bodyPr wrap="square" lIns="0" tIns="0" rIns="0" bIns="0" rtlCol="0" anchor="t"/>
          <a:lstStyle/>
          <a:p>
            <a:pPr algn="l" indent="0" marL="0">
              <a:lnSpc>
                <a:spcPct val="100000"/>
              </a:lnSpc>
              <a:buNone/>
            </a:pPr>
            <a:r>
              <a:rPr lang="en-US" sz="1500" b="1" dirty="0">
                <a:solidFill>
                  <a:srgbClr val="0E7C7B"/>
                </a:solidFill>
                <a:latin typeface="Calibri" pitchFamily="34" charset="0"/>
                <a:ea typeface="Calibri" pitchFamily="34" charset="-122"/>
                <a:cs typeface="Calibri" pitchFamily="34" charset="-120"/>
              </a:rPr>
              <a:t>same case  →  ∂L/∂z ≈ −1</a:t>
            </a:r>
            <a:endParaRPr lang="en-US" sz="1500" dirty="0"/>
          </a:p>
        </p:txBody>
      </p:sp>
      <p:sp>
        <p:nvSpPr>
          <p:cNvPr id="15" name="Shape 9"/>
          <p:cNvSpPr/>
          <p:nvPr/>
        </p:nvSpPr>
        <p:spPr>
          <a:xfrm>
            <a:off x="6583680" y="4800600"/>
            <a:ext cx="5056632" cy="1325880"/>
          </a:xfrm>
          <a:prstGeom prst="roundRect">
            <a:avLst>
              <a:gd name="adj" fmla="val 5517"/>
            </a:avLst>
          </a:prstGeom>
          <a:solidFill>
            <a:srgbClr val="16202E"/>
          </a:solidFill>
          <a:ln/>
        </p:spPr>
      </p:sp>
      <p:sp>
        <p:nvSpPr>
          <p:cNvPr id="16" name="Text 10"/>
          <p:cNvSpPr txBox="1"/>
          <p:nvPr/>
        </p:nvSpPr>
        <p:spPr>
          <a:xfrm>
            <a:off x="6812280" y="4800600"/>
            <a:ext cx="4663440" cy="1325880"/>
          </a:xfrm>
          <a:prstGeom prst="rect">
            <a:avLst/>
          </a:prstGeom>
          <a:noFill/>
          <a:ln/>
        </p:spPr>
        <p:txBody>
          <a:bodyPr wrap="square" lIns="0" tIns="0" rIns="0" bIns="0" rtlCol="0" anchor="ctr"/>
          <a:lstStyle/>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For classification: </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cross-entropy on logits</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Its gradient is largest exactly when the model is most confidently wrong.</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GRADIENT DESCENT</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Gradient descent: take a small step downhill, then repeat</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how big can the step be?</a:t>
            </a:r>
            <a:endParaRPr lang="en-US" sz="1100" dirty="0"/>
          </a:p>
        </p:txBody>
      </p:sp>
      <p:pic>
        <p:nvPicPr>
          <p:cNvPr id="6" name="Image 0" descr="One gradient-descent step on a 1-D loss">    </p:cNvPr>
          <p:cNvPicPr>
            <a:picLocks noChangeAspect="1"/>
          </p:cNvPicPr>
          <p:nvPr/>
        </p:nvPicPr>
        <p:blipFill>
          <a:blip r:embed="rId1"/>
          <a:stretch>
            <a:fillRect/>
          </a:stretch>
        </p:blipFill>
        <p:spPr>
          <a:xfrm>
            <a:off x="548640" y="1371600"/>
            <a:ext cx="5120640" cy="3499013"/>
          </a:xfrm>
          <a:prstGeom prst="rect">
            <a:avLst/>
          </a:prstGeom>
        </p:spPr>
      </p:pic>
      <p:sp>
        <p:nvSpPr>
          <p:cNvPr id="7" name="Shape 3"/>
          <p:cNvSpPr/>
          <p:nvPr/>
        </p:nvSpPr>
        <p:spPr>
          <a:xfrm>
            <a:off x="6035040" y="1371600"/>
            <a:ext cx="5605272" cy="1417320"/>
          </a:xfrm>
          <a:prstGeom prst="roundRect">
            <a:avLst>
              <a:gd name="adj" fmla="val 5161"/>
            </a:avLst>
          </a:prstGeom>
          <a:solidFill>
            <a:srgbClr val="E3F2F1"/>
          </a:solidFill>
          <a:ln/>
        </p:spPr>
      </p:sp>
      <p:sp>
        <p:nvSpPr>
          <p:cNvPr id="8" name="Text 4"/>
          <p:cNvSpPr txBox="1"/>
          <p:nvPr/>
        </p:nvSpPr>
        <p:spPr>
          <a:xfrm>
            <a:off x="6263640" y="14813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UPDATE RULE</a:t>
            </a:r>
            <a:endParaRPr lang="en-US" sz="1100" dirty="0"/>
          </a:p>
        </p:txBody>
      </p:sp>
      <p:pic>
        <p:nvPicPr>
          <p:cNvPr id="9" name="Image 1" descr="equation gd">    </p:cNvPr>
          <p:cNvPicPr>
            <a:picLocks noChangeAspect="1"/>
          </p:cNvPicPr>
          <p:nvPr/>
        </p:nvPicPr>
        <p:blipFill>
          <a:blip r:embed="rId2"/>
          <a:stretch>
            <a:fillRect/>
          </a:stretch>
        </p:blipFill>
        <p:spPr>
          <a:xfrm>
            <a:off x="6263640" y="1920240"/>
            <a:ext cx="2421011" cy="334442"/>
          </a:xfrm>
          <a:prstGeom prst="rect">
            <a:avLst/>
          </a:prstGeom>
        </p:spPr>
      </p:pic>
      <p:sp>
        <p:nvSpPr>
          <p:cNvPr id="10" name="Text 5"/>
          <p:cNvSpPr txBox="1"/>
          <p:nvPr/>
        </p:nvSpPr>
        <p:spPr>
          <a:xfrm>
            <a:off x="9601200" y="1965960"/>
            <a:ext cx="1920240" cy="32004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η: learning rate</a:t>
            </a:r>
            <a:endParaRPr lang="en-US" sz="1500" dirty="0"/>
          </a:p>
        </p:txBody>
      </p:sp>
      <p:sp>
        <p:nvSpPr>
          <p:cNvPr id="11" name="Shape 6"/>
          <p:cNvSpPr/>
          <p:nvPr/>
        </p:nvSpPr>
        <p:spPr>
          <a:xfrm>
            <a:off x="6035040" y="2971800"/>
            <a:ext cx="5605272" cy="1737360"/>
          </a:xfrm>
          <a:prstGeom prst="roundRect">
            <a:avLst>
              <a:gd name="adj" fmla="val 4211"/>
            </a:avLst>
          </a:prstGeom>
          <a:solidFill>
            <a:srgbClr val="F3F5F8"/>
          </a:solidFill>
          <a:ln/>
        </p:spPr>
      </p:sp>
      <p:sp>
        <p:nvSpPr>
          <p:cNvPr id="12" name="Text 7"/>
          <p:cNvSpPr txBox="1"/>
          <p:nvPr/>
        </p:nvSpPr>
        <p:spPr>
          <a:xfrm>
            <a:off x="6263640" y="3081528"/>
            <a:ext cx="50292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WHY IT GOES DOWNHILL: FIRST-ORDER TAYLOR</a:t>
            </a:r>
            <a:endParaRPr lang="en-US" sz="1100" dirty="0"/>
          </a:p>
        </p:txBody>
      </p:sp>
      <p:pic>
        <p:nvPicPr>
          <p:cNvPr id="13" name="Image 2" descr="equation taylor">    </p:cNvPr>
          <p:cNvPicPr>
            <a:picLocks noChangeAspect="1"/>
          </p:cNvPicPr>
          <p:nvPr/>
        </p:nvPicPr>
        <p:blipFill>
          <a:blip r:embed="rId3"/>
          <a:stretch>
            <a:fillRect/>
          </a:stretch>
        </p:blipFill>
        <p:spPr>
          <a:xfrm>
            <a:off x="6263640" y="3474720"/>
            <a:ext cx="3380903" cy="353553"/>
          </a:xfrm>
          <a:prstGeom prst="rect">
            <a:avLst/>
          </a:prstGeom>
        </p:spPr>
      </p:pic>
      <p:sp>
        <p:nvSpPr>
          <p:cNvPr id="14" name="Text 8"/>
          <p:cNvSpPr txBox="1"/>
          <p:nvPr/>
        </p:nvSpPr>
        <p:spPr>
          <a:xfrm>
            <a:off x="6263640" y="4069080"/>
            <a:ext cx="5212080" cy="3657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The change is −η‖∇J‖² ≤ 0 — for a small enough η.</a:t>
            </a:r>
            <a:endParaRPr lang="en-US" sz="1500" dirty="0"/>
          </a:p>
        </p:txBody>
      </p:sp>
      <p:sp>
        <p:nvSpPr>
          <p:cNvPr id="15" name="Shape 9"/>
          <p:cNvSpPr/>
          <p:nvPr/>
        </p:nvSpPr>
        <p:spPr>
          <a:xfrm>
            <a:off x="6035040" y="4892040"/>
            <a:ext cx="5605272" cy="1234440"/>
          </a:xfrm>
          <a:prstGeom prst="roundRect">
            <a:avLst>
              <a:gd name="adj" fmla="val 5926"/>
            </a:avLst>
          </a:prstGeom>
          <a:solidFill>
            <a:srgbClr val="16202E"/>
          </a:solidFill>
          <a:ln/>
        </p:spPr>
      </p:sp>
      <p:sp>
        <p:nvSpPr>
          <p:cNvPr id="16" name="Text 10"/>
          <p:cNvSpPr txBox="1"/>
          <p:nvPr/>
        </p:nvSpPr>
        <p:spPr>
          <a:xfrm>
            <a:off x="6263640" y="4892040"/>
            <a:ext cx="5212080" cy="1234440"/>
          </a:xfrm>
          <a:prstGeom prst="rect">
            <a:avLst/>
          </a:prstGeom>
          <a:noFill/>
          <a:ln/>
        </p:spPr>
        <p:txBody>
          <a:bodyPr wrap="square" lIns="0" tIns="0" rIns="0" bIns="0" rtlCol="0" anchor="ctr"/>
          <a:lstStyle/>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η is the most important hyperparameter you will tune. Too small: crawls. Too large: oscillates or blows up.</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GRADIENT DESCENT</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How big a step? On a bowl, the sharpest direction caps η</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3</a:t>
            </a:r>
            <a:endParaRPr lang="en-US" sz="1100" dirty="0"/>
          </a:p>
        </p:txBody>
      </p:sp>
      <p:pic>
        <p:nvPicPr>
          <p:cNvPr id="6" name="Image 0" descr="Gradient descent on a quadratic with three step sizes">    </p:cNvPr>
          <p:cNvPicPr>
            <a:picLocks noChangeAspect="1"/>
          </p:cNvPicPr>
          <p:nvPr/>
        </p:nvPicPr>
        <p:blipFill>
          <a:blip r:embed="rId1"/>
          <a:stretch>
            <a:fillRect/>
          </a:stretch>
        </p:blipFill>
        <p:spPr>
          <a:xfrm>
            <a:off x="1478391" y="1325880"/>
            <a:ext cx="9234914" cy="3017520"/>
          </a:xfrm>
          <a:prstGeom prst="rect">
            <a:avLst/>
          </a:prstGeom>
        </p:spPr>
      </p:pic>
      <p:sp>
        <p:nvSpPr>
          <p:cNvPr id="7" name="Shape 3"/>
          <p:cNvSpPr/>
          <p:nvPr/>
        </p:nvSpPr>
        <p:spPr>
          <a:xfrm>
            <a:off x="548640" y="4526280"/>
            <a:ext cx="5303520" cy="1600200"/>
          </a:xfrm>
          <a:prstGeom prst="roundRect">
            <a:avLst>
              <a:gd name="adj" fmla="val 4571"/>
            </a:avLst>
          </a:prstGeom>
          <a:solidFill>
            <a:srgbClr val="F3F5F8"/>
          </a:solidFill>
          <a:ln/>
        </p:spPr>
      </p:sp>
      <p:pic>
        <p:nvPicPr>
          <p:cNvPr id="8" name="Image 1" descr="equation quad">    </p:cNvPr>
          <p:cNvPicPr>
            <a:picLocks noChangeAspect="1"/>
          </p:cNvPicPr>
          <p:nvPr/>
        </p:nvPicPr>
        <p:blipFill>
          <a:blip r:embed="rId2"/>
          <a:stretch>
            <a:fillRect/>
          </a:stretch>
        </p:blipFill>
        <p:spPr>
          <a:xfrm>
            <a:off x="822960" y="4599432"/>
            <a:ext cx="3178162" cy="1144737"/>
          </a:xfrm>
          <a:prstGeom prst="rect">
            <a:avLst/>
          </a:prstGeom>
        </p:spPr>
      </p:pic>
      <p:sp>
        <p:nvSpPr>
          <p:cNvPr id="9" name="Shape 4"/>
          <p:cNvSpPr/>
          <p:nvPr/>
        </p:nvSpPr>
        <p:spPr>
          <a:xfrm>
            <a:off x="6035040" y="4526280"/>
            <a:ext cx="5605272" cy="1600200"/>
          </a:xfrm>
          <a:prstGeom prst="roundRect">
            <a:avLst>
              <a:gd name="adj" fmla="val 4571"/>
            </a:avLst>
          </a:prstGeom>
          <a:solidFill>
            <a:srgbClr val="E3F2F1"/>
          </a:solidFill>
          <a:ln/>
        </p:spPr>
      </p:sp>
      <p:sp>
        <p:nvSpPr>
          <p:cNvPr id="10" name="Text 5"/>
          <p:cNvSpPr txBox="1"/>
          <p:nvPr/>
        </p:nvSpPr>
        <p:spPr>
          <a:xfrm>
            <a:off x="6263640" y="4526280"/>
            <a:ext cx="5212080" cy="1600200"/>
          </a:xfrm>
          <a:prstGeom prst="rect">
            <a:avLst/>
          </a:prstGeom>
          <a:noFill/>
          <a:ln/>
        </p:spPr>
        <p:txBody>
          <a:bodyPr wrap="square" lIns="0" tIns="0" rIns="0" bIns="0" rtlCol="0" anchor="ctr"/>
          <a:lstStyle/>
          <a:p>
            <a:pPr algn="l" indent="0" marL="0">
              <a:lnSpc>
                <a:spcPct val="100000"/>
              </a:lnSpc>
              <a:spcAft>
                <a:spcPts val="600"/>
              </a:spcAft>
              <a:buNone/>
            </a:pPr>
            <a:r>
              <a:rPr lang="en-US" sz="1600" dirty="0">
                <a:solidFill>
                  <a:srgbClr val="16202E"/>
                </a:solidFill>
                <a:latin typeface="Calibri" pitchFamily="34" charset="0"/>
                <a:ea typeface="Calibri" pitchFamily="34" charset="-122"/>
                <a:cs typeface="Calibri" pitchFamily="34" charset="-120"/>
              </a:rPr>
              <a:t>Here the curvatures are 1 and 10.</a:t>
            </a:r>
            <a:pPr algn="l" indent="0" marL="0">
              <a:lnSpc>
                <a:spcPct val="100000"/>
              </a:lnSpc>
              <a:spcAft>
                <a:spcPts val="600"/>
              </a:spcAft>
              <a:buNone/>
            </a:pPr>
            <a:endParaRPr lang="en-US" sz="1600" dirty="0"/>
          </a:p>
          <a:p>
            <a:pPr algn="l" indent="0" marL="0">
              <a:lnSpc>
                <a:spcPct val="100000"/>
              </a:lnSpc>
              <a:spcAft>
                <a:spcPts val="600"/>
              </a:spcAft>
              <a:buNone/>
            </a:pPr>
            <a:r>
              <a:rPr lang="en-US" sz="1600" b="1" dirty="0">
                <a:solidFill>
                  <a:srgbClr val="16202E"/>
                </a:solidFill>
                <a:latin typeface="Calibri" pitchFamily="34" charset="0"/>
                <a:ea typeface="Calibri" pitchFamily="34" charset="-122"/>
                <a:cs typeface="Calibri" pitchFamily="34" charset="-120"/>
              </a:rPr>
              <a:t>Sharpest direction</a:t>
            </a:r>
            <a:pPr algn="l" indent="0" marL="0">
              <a:lnSpc>
                <a:spcPct val="100000"/>
              </a:lnSpc>
              <a:spcAft>
                <a:spcPts val="600"/>
              </a:spcAft>
              <a:buNone/>
            </a:pPr>
            <a:r>
              <a:rPr lang="en-US" sz="1600" dirty="0">
                <a:solidFill>
                  <a:srgbClr val="16202E"/>
                </a:solidFill>
                <a:latin typeface="Calibri" pitchFamily="34" charset="0"/>
                <a:ea typeface="Calibri" pitchFamily="34" charset="-122"/>
                <a:cs typeface="Calibri" pitchFamily="34" charset="-120"/>
              </a:rPr>
              <a:t> sets the ceiling on η; the </a:t>
            </a:r>
            <a:pPr algn="l" indent="0" marL="0">
              <a:lnSpc>
                <a:spcPct val="100000"/>
              </a:lnSpc>
              <a:spcAft>
                <a:spcPts val="600"/>
              </a:spcAft>
              <a:buNone/>
            </a:pPr>
            <a:r>
              <a:rPr lang="en-US" sz="1600" b="1" dirty="0">
                <a:solidFill>
                  <a:srgbClr val="16202E"/>
                </a:solidFill>
                <a:latin typeface="Calibri" pitchFamily="34" charset="0"/>
                <a:ea typeface="Calibri" pitchFamily="34" charset="-122"/>
                <a:cs typeface="Calibri" pitchFamily="34" charset="-120"/>
              </a:rPr>
              <a:t>flattest</a:t>
            </a:r>
            <a:pPr algn="l" indent="0" marL="0">
              <a:lnSpc>
                <a:spcPct val="100000"/>
              </a:lnSpc>
              <a:spcAft>
                <a:spcPts val="600"/>
              </a:spcAft>
              <a:buNone/>
            </a:pPr>
            <a:r>
              <a:rPr lang="en-US" sz="1600" dirty="0">
                <a:solidFill>
                  <a:srgbClr val="16202E"/>
                </a:solidFill>
                <a:latin typeface="Calibri" pitchFamily="34" charset="0"/>
                <a:ea typeface="Calibri" pitchFamily="34" charset="-122"/>
                <a:cs typeface="Calibri" pitchFamily="34" charset="-120"/>
              </a:rPr>
              <a:t> sets how slowly you converge.</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3</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mini-batches</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Plain gradient descent on the loss below. For which step sizes does it converge from every starting point?</a:t>
            </a:r>
            <a:endParaRPr lang="en-US" sz="2100" dirty="0"/>
          </a:p>
        </p:txBody>
      </p:sp>
      <p:sp>
        <p:nvSpPr>
          <p:cNvPr id="7" name="Shape 4"/>
          <p:cNvSpPr/>
          <p:nvPr/>
        </p:nvSpPr>
        <p:spPr>
          <a:xfrm>
            <a:off x="548640" y="2240280"/>
            <a:ext cx="11094415" cy="777240"/>
          </a:xfrm>
          <a:prstGeom prst="roundRect">
            <a:avLst>
              <a:gd name="adj" fmla="val 9412"/>
            </a:avLst>
          </a:prstGeom>
          <a:solidFill>
            <a:srgbClr val="F3F5F8"/>
          </a:solidFill>
          <a:ln/>
        </p:spPr>
      </p:sp>
      <p:pic>
        <p:nvPicPr>
          <p:cNvPr id="8" name="Image 0" descr="equation qc3">    </p:cNvPr>
          <p:cNvPicPr>
            <a:picLocks noChangeAspect="1"/>
          </p:cNvPicPr>
          <p:nvPr/>
        </p:nvPicPr>
        <p:blipFill>
          <a:blip r:embed="rId1"/>
          <a:stretch>
            <a:fillRect/>
          </a:stretch>
        </p:blipFill>
        <p:spPr>
          <a:xfrm>
            <a:off x="4765944" y="2331720"/>
            <a:ext cx="2659807" cy="389260"/>
          </a:xfrm>
          <a:prstGeom prst="rect">
            <a:avLst/>
          </a:prstGeom>
        </p:spPr>
      </p:pic>
      <p:sp>
        <p:nvSpPr>
          <p:cNvPr id="9" name="Shape 5"/>
          <p:cNvSpPr/>
          <p:nvPr/>
        </p:nvSpPr>
        <p:spPr>
          <a:xfrm>
            <a:off x="548640" y="3200400"/>
            <a:ext cx="5455768" cy="1024128"/>
          </a:xfrm>
          <a:prstGeom prst="roundRect">
            <a:avLst>
              <a:gd name="adj" fmla="val 7143"/>
            </a:avLst>
          </a:prstGeom>
          <a:solidFill>
            <a:srgbClr val="F3F5F8"/>
          </a:solidFill>
          <a:ln/>
        </p:spPr>
      </p:sp>
      <p:sp>
        <p:nvSpPr>
          <p:cNvPr id="10" name="Shape 6"/>
          <p:cNvSpPr/>
          <p:nvPr/>
        </p:nvSpPr>
        <p:spPr>
          <a:xfrm>
            <a:off x="822960" y="3502152"/>
            <a:ext cx="420624" cy="420624"/>
          </a:xfrm>
          <a:prstGeom prst="ellipse">
            <a:avLst/>
          </a:prstGeom>
          <a:solidFill>
            <a:srgbClr val="16202E"/>
          </a:solidFill>
          <a:ln/>
        </p:spPr>
      </p:sp>
      <p:sp>
        <p:nvSpPr>
          <p:cNvPr id="11" name="Text 7"/>
          <p:cNvSpPr txBox="1"/>
          <p:nvPr/>
        </p:nvSpPr>
        <p:spPr>
          <a:xfrm>
            <a:off x="822960" y="350215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2" name="Text 8"/>
          <p:cNvSpPr txBox="1"/>
          <p:nvPr/>
        </p:nvSpPr>
        <p:spPr>
          <a:xfrm>
            <a:off x="1463040" y="329184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η &lt; 2/4 = 0.5</a:t>
            </a:r>
            <a:endParaRPr lang="en-US" sz="1900" dirty="0"/>
          </a:p>
        </p:txBody>
      </p:sp>
      <p:sp>
        <p:nvSpPr>
          <p:cNvPr id="13" name="Shape 9"/>
          <p:cNvSpPr/>
          <p:nvPr/>
        </p:nvSpPr>
        <p:spPr>
          <a:xfrm>
            <a:off x="6187288" y="3200400"/>
            <a:ext cx="5455768" cy="1024128"/>
          </a:xfrm>
          <a:prstGeom prst="roundRect">
            <a:avLst>
              <a:gd name="adj" fmla="val 7143"/>
            </a:avLst>
          </a:prstGeom>
          <a:solidFill>
            <a:srgbClr val="F3F5F8"/>
          </a:solidFill>
          <a:ln/>
        </p:spPr>
      </p:sp>
      <p:sp>
        <p:nvSpPr>
          <p:cNvPr id="14" name="Shape 10"/>
          <p:cNvSpPr/>
          <p:nvPr/>
        </p:nvSpPr>
        <p:spPr>
          <a:xfrm>
            <a:off x="6461608" y="3502152"/>
            <a:ext cx="420624" cy="420624"/>
          </a:xfrm>
          <a:prstGeom prst="ellipse">
            <a:avLst/>
          </a:prstGeom>
          <a:solidFill>
            <a:srgbClr val="16202E"/>
          </a:solidFill>
          <a:ln/>
        </p:spPr>
      </p:sp>
      <p:sp>
        <p:nvSpPr>
          <p:cNvPr id="15" name="Text 11"/>
          <p:cNvSpPr txBox="1"/>
          <p:nvPr/>
        </p:nvSpPr>
        <p:spPr>
          <a:xfrm>
            <a:off x="6461608" y="350215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6" name="Text 12"/>
          <p:cNvSpPr txBox="1"/>
          <p:nvPr/>
        </p:nvSpPr>
        <p:spPr>
          <a:xfrm>
            <a:off x="7101688" y="329184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η &lt; 2/50 = 0.04</a:t>
            </a:r>
            <a:endParaRPr lang="en-US" sz="1900" dirty="0"/>
          </a:p>
        </p:txBody>
      </p:sp>
      <p:sp>
        <p:nvSpPr>
          <p:cNvPr id="17" name="Shape 13"/>
          <p:cNvSpPr/>
          <p:nvPr/>
        </p:nvSpPr>
        <p:spPr>
          <a:xfrm>
            <a:off x="548640" y="4407408"/>
            <a:ext cx="5455768" cy="1024128"/>
          </a:xfrm>
          <a:prstGeom prst="roundRect">
            <a:avLst>
              <a:gd name="adj" fmla="val 7143"/>
            </a:avLst>
          </a:prstGeom>
          <a:solidFill>
            <a:srgbClr val="F3F5F8"/>
          </a:solidFill>
          <a:ln/>
        </p:spPr>
      </p:sp>
      <p:sp>
        <p:nvSpPr>
          <p:cNvPr id="18" name="Shape 14"/>
          <p:cNvSpPr/>
          <p:nvPr/>
        </p:nvSpPr>
        <p:spPr>
          <a:xfrm>
            <a:off x="822960" y="4709160"/>
            <a:ext cx="420624" cy="420624"/>
          </a:xfrm>
          <a:prstGeom prst="ellipse">
            <a:avLst/>
          </a:prstGeom>
          <a:solidFill>
            <a:srgbClr val="16202E"/>
          </a:solidFill>
          <a:ln/>
        </p:spPr>
      </p:sp>
      <p:sp>
        <p:nvSpPr>
          <p:cNvPr id="19" name="Text 15"/>
          <p:cNvSpPr txBox="1"/>
          <p:nvPr/>
        </p:nvSpPr>
        <p:spPr>
          <a:xfrm>
            <a:off x="822960" y="470916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0" name="Text 16"/>
          <p:cNvSpPr txBox="1"/>
          <p:nvPr/>
        </p:nvSpPr>
        <p:spPr>
          <a:xfrm>
            <a:off x="1463040" y="449884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η &lt; 1/50 = 0.02</a:t>
            </a:r>
            <a:endParaRPr lang="en-US" sz="1900" dirty="0"/>
          </a:p>
        </p:txBody>
      </p:sp>
      <p:sp>
        <p:nvSpPr>
          <p:cNvPr id="21" name="Shape 17"/>
          <p:cNvSpPr/>
          <p:nvPr/>
        </p:nvSpPr>
        <p:spPr>
          <a:xfrm>
            <a:off x="6187288" y="4407408"/>
            <a:ext cx="5455768" cy="1024128"/>
          </a:xfrm>
          <a:prstGeom prst="roundRect">
            <a:avLst>
              <a:gd name="adj" fmla="val 7143"/>
            </a:avLst>
          </a:prstGeom>
          <a:solidFill>
            <a:srgbClr val="F3F5F8"/>
          </a:solidFill>
          <a:ln/>
        </p:spPr>
      </p:sp>
      <p:sp>
        <p:nvSpPr>
          <p:cNvPr id="22" name="Shape 18"/>
          <p:cNvSpPr/>
          <p:nvPr/>
        </p:nvSpPr>
        <p:spPr>
          <a:xfrm>
            <a:off x="6461608" y="4709160"/>
            <a:ext cx="420624" cy="420624"/>
          </a:xfrm>
          <a:prstGeom prst="ellipse">
            <a:avLst/>
          </a:prstGeom>
          <a:solidFill>
            <a:srgbClr val="16202E"/>
          </a:solidFill>
          <a:ln/>
        </p:spPr>
      </p:sp>
      <p:sp>
        <p:nvSpPr>
          <p:cNvPr id="23" name="Text 19"/>
          <p:cNvSpPr txBox="1"/>
          <p:nvPr/>
        </p:nvSpPr>
        <p:spPr>
          <a:xfrm>
            <a:off x="6461608" y="470916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4" name="Text 20"/>
          <p:cNvSpPr txBox="1"/>
          <p:nvPr/>
        </p:nvSpPr>
        <p:spPr>
          <a:xfrm>
            <a:off x="7101688" y="449884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Any η &gt; 0: the loss is convex</a:t>
            </a:r>
            <a:endParaRPr lang="en-US" sz="1900" dirty="0"/>
          </a:p>
        </p:txBody>
      </p:sp>
      <p:sp>
        <p:nvSpPr>
          <p:cNvPr id="25" name="Text 21"/>
          <p:cNvSpPr txBox="1"/>
          <p:nvPr/>
        </p:nvSpPr>
        <p:spPr>
          <a:xfrm>
            <a:off x="548640" y="568756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DATA</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Standardize the inputs, then update on shuffled mini-batches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momentum and Adam</a:t>
            </a:r>
            <a:endParaRPr lang="en-US" sz="1100" dirty="0"/>
          </a:p>
        </p:txBody>
      </p:sp>
      <p:sp>
        <p:nvSpPr>
          <p:cNvPr id="6" name="Shape 3"/>
          <p:cNvSpPr/>
          <p:nvPr/>
        </p:nvSpPr>
        <p:spPr>
          <a:xfrm>
            <a:off x="548640" y="1371600"/>
            <a:ext cx="5760720" cy="1828800"/>
          </a:xfrm>
          <a:prstGeom prst="roundRect">
            <a:avLst>
              <a:gd name="adj" fmla="val 4000"/>
            </a:avLst>
          </a:prstGeom>
          <a:solidFill>
            <a:srgbClr val="E3F2F1"/>
          </a:solidFill>
          <a:ln/>
        </p:spPr>
      </p:sp>
      <p:sp>
        <p:nvSpPr>
          <p:cNvPr id="7" name="Text 4"/>
          <p:cNvSpPr txBox="1"/>
          <p:nvPr/>
        </p:nvSpPr>
        <p:spPr>
          <a:xfrm>
            <a:off x="777240" y="1481328"/>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STANDARDIZE WITH TRAINING STATISTICS ONLY</a:t>
            </a:r>
            <a:endParaRPr lang="en-US" sz="1100" dirty="0"/>
          </a:p>
        </p:txBody>
      </p:sp>
      <p:pic>
        <p:nvPicPr>
          <p:cNvPr id="8" name="Image 0" descr="equation standardize">    </p:cNvPr>
          <p:cNvPicPr>
            <a:picLocks noChangeAspect="1"/>
          </p:cNvPicPr>
          <p:nvPr/>
        </p:nvPicPr>
        <p:blipFill>
          <a:blip r:embed="rId1"/>
          <a:stretch>
            <a:fillRect/>
          </a:stretch>
        </p:blipFill>
        <p:spPr>
          <a:xfrm>
            <a:off x="822960" y="1828800"/>
            <a:ext cx="1475887" cy="558561"/>
          </a:xfrm>
          <a:prstGeom prst="rect">
            <a:avLst/>
          </a:prstGeom>
        </p:spPr>
      </p:pic>
      <p:sp>
        <p:nvSpPr>
          <p:cNvPr id="9" name="Text 5"/>
          <p:cNvSpPr txBox="1"/>
          <p:nvPr/>
        </p:nvSpPr>
        <p:spPr>
          <a:xfrm>
            <a:off x="2926080" y="1783080"/>
            <a:ext cx="3200400" cy="132588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Fashion-MNIST: μ = 0.286, σ = 0.353, from the 55,000 training images. Never from validation or test data.</a:t>
            </a:r>
            <a:endParaRPr lang="en-US" sz="1450" dirty="0"/>
          </a:p>
        </p:txBody>
      </p:sp>
      <p:sp>
        <p:nvSpPr>
          <p:cNvPr id="10" name="Shape 6"/>
          <p:cNvSpPr/>
          <p:nvPr/>
        </p:nvSpPr>
        <p:spPr>
          <a:xfrm>
            <a:off x="548640" y="3383280"/>
            <a:ext cx="5760720" cy="2743200"/>
          </a:xfrm>
          <a:prstGeom prst="roundRect">
            <a:avLst>
              <a:gd name="adj" fmla="val 2667"/>
            </a:avLst>
          </a:prstGeom>
          <a:solidFill>
            <a:srgbClr val="16202E"/>
          </a:solidFill>
          <a:ln/>
        </p:spPr>
      </p:sp>
      <p:sp>
        <p:nvSpPr>
          <p:cNvPr id="11" name="Text 7"/>
          <p:cNvSpPr txBox="1"/>
          <p:nvPr/>
        </p:nvSpPr>
        <p:spPr>
          <a:xfrm>
            <a:off x="822960" y="3520440"/>
            <a:ext cx="5303520" cy="2514600"/>
          </a:xfrm>
          <a:prstGeom prst="rect">
            <a:avLst/>
          </a:prstGeom>
          <a:noFill/>
          <a:ln/>
        </p:spPr>
        <p:txBody>
          <a:bodyPr wrap="square" lIns="0" tIns="0" rIns="0" bIns="0" rtlCol="0" anchor="t"/>
          <a:lstStyle/>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each epoch:</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    shuffle the 55,000 training images</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    cut them into mini-batches of B = 256</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    → ⌈55,000 / 256⌉ = 215 updates</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validation:</a:t>
            </a:r>
            <a:endParaRPr lang="en-US" sz="1500" dirty="0"/>
          </a:p>
          <a:p>
            <a:pPr algn="l" indent="0" marL="0">
              <a:lnSpc>
                <a:spcPct val="110000"/>
              </a:lnSpc>
              <a:buNone/>
            </a:pPr>
            <a:r>
              <a:rPr lang="en-US" sz="1500" dirty="0">
                <a:solidFill>
                  <a:srgbClr val="FFFFFF"/>
                </a:solidFill>
                <a:latin typeface="Courier New" pitchFamily="34" charset="0"/>
                <a:ea typeface="Courier New" pitchFamily="34" charset="-122"/>
                <a:cs typeface="Courier New" pitchFamily="34" charset="-120"/>
              </a:rPr>
              <a:t>    forward passes only, no updates</a:t>
            </a:r>
            <a:endParaRPr lang="en-US" sz="1500" dirty="0"/>
          </a:p>
        </p:txBody>
      </p:sp>
      <p:sp>
        <p:nvSpPr>
          <p:cNvPr id="12" name="Shape 8"/>
          <p:cNvSpPr/>
          <p:nvPr/>
        </p:nvSpPr>
        <p:spPr>
          <a:xfrm>
            <a:off x="6583680" y="1371600"/>
            <a:ext cx="1389888" cy="411480"/>
          </a:xfrm>
          <a:prstGeom prst="rect">
            <a:avLst/>
          </a:prstGeom>
          <a:solidFill>
            <a:srgbClr val="16202E"/>
          </a:solidFill>
          <a:ln/>
        </p:spPr>
      </p:sp>
      <p:sp>
        <p:nvSpPr>
          <p:cNvPr id="13" name="Text 9"/>
          <p:cNvSpPr txBox="1"/>
          <p:nvPr/>
        </p:nvSpPr>
        <p:spPr>
          <a:xfrm>
            <a:off x="6583680" y="1371600"/>
            <a:ext cx="1417320" cy="411480"/>
          </a:xfrm>
          <a:prstGeom prst="rect">
            <a:avLst/>
          </a:prstGeom>
          <a:noFill/>
          <a:ln/>
        </p:spPr>
        <p:txBody>
          <a:bodyPr wrap="square" lIns="0" tIns="0" rIns="0" bIns="0" rtlCol="0" anchor="ctr"/>
          <a:lstStyle/>
          <a:p>
            <a:pPr algn="ctr" indent="0" marL="0">
              <a:lnSpc>
                <a:spcPct val="100000"/>
              </a:lnSpc>
              <a:buNone/>
            </a:pPr>
            <a:endParaRPr lang="en-US" dirty="0"/>
          </a:p>
        </p:txBody>
      </p:sp>
      <p:sp>
        <p:nvSpPr>
          <p:cNvPr id="14" name="Shape 10"/>
          <p:cNvSpPr/>
          <p:nvPr/>
        </p:nvSpPr>
        <p:spPr>
          <a:xfrm>
            <a:off x="8001000" y="1371600"/>
            <a:ext cx="1161288" cy="411480"/>
          </a:xfrm>
          <a:prstGeom prst="rect">
            <a:avLst/>
          </a:prstGeom>
          <a:solidFill>
            <a:srgbClr val="16202E"/>
          </a:solidFill>
          <a:ln/>
        </p:spPr>
      </p:sp>
      <p:sp>
        <p:nvSpPr>
          <p:cNvPr id="15" name="Text 11"/>
          <p:cNvSpPr txBox="1"/>
          <p:nvPr/>
        </p:nvSpPr>
        <p:spPr>
          <a:xfrm>
            <a:off x="8001000" y="1371600"/>
            <a:ext cx="1188720" cy="41148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full batch</a:t>
            </a:r>
            <a:endParaRPr lang="en-US" sz="1400" dirty="0"/>
          </a:p>
        </p:txBody>
      </p:sp>
      <p:sp>
        <p:nvSpPr>
          <p:cNvPr id="16" name="Shape 12"/>
          <p:cNvSpPr/>
          <p:nvPr/>
        </p:nvSpPr>
        <p:spPr>
          <a:xfrm>
            <a:off x="9189720" y="1371600"/>
            <a:ext cx="1298448" cy="411480"/>
          </a:xfrm>
          <a:prstGeom prst="rect">
            <a:avLst/>
          </a:prstGeom>
          <a:solidFill>
            <a:srgbClr val="0E7C7B"/>
          </a:solidFill>
          <a:ln/>
        </p:spPr>
      </p:sp>
      <p:sp>
        <p:nvSpPr>
          <p:cNvPr id="17" name="Text 13"/>
          <p:cNvSpPr txBox="1"/>
          <p:nvPr/>
        </p:nvSpPr>
        <p:spPr>
          <a:xfrm>
            <a:off x="9189720" y="1371600"/>
            <a:ext cx="1325880" cy="41148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mini-batch</a:t>
            </a:r>
            <a:endParaRPr lang="en-US" sz="1400" dirty="0"/>
          </a:p>
        </p:txBody>
      </p:sp>
      <p:sp>
        <p:nvSpPr>
          <p:cNvPr id="18" name="Shape 14"/>
          <p:cNvSpPr/>
          <p:nvPr/>
        </p:nvSpPr>
        <p:spPr>
          <a:xfrm>
            <a:off x="10515600" y="1371600"/>
            <a:ext cx="1097280" cy="411480"/>
          </a:xfrm>
          <a:prstGeom prst="rect">
            <a:avLst/>
          </a:prstGeom>
          <a:solidFill>
            <a:srgbClr val="16202E"/>
          </a:solidFill>
          <a:ln/>
        </p:spPr>
      </p:sp>
      <p:sp>
        <p:nvSpPr>
          <p:cNvPr id="19" name="Text 15"/>
          <p:cNvSpPr txBox="1"/>
          <p:nvPr/>
        </p:nvSpPr>
        <p:spPr>
          <a:xfrm>
            <a:off x="10515600" y="1371600"/>
            <a:ext cx="1124712" cy="41148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one example</a:t>
            </a:r>
            <a:endParaRPr lang="en-US" sz="1400" dirty="0"/>
          </a:p>
        </p:txBody>
      </p:sp>
      <p:sp>
        <p:nvSpPr>
          <p:cNvPr id="20" name="Shape 16"/>
          <p:cNvSpPr/>
          <p:nvPr/>
        </p:nvSpPr>
        <p:spPr>
          <a:xfrm>
            <a:off x="6583680" y="1828800"/>
            <a:ext cx="1389888" cy="420624"/>
          </a:xfrm>
          <a:prstGeom prst="rect">
            <a:avLst/>
          </a:prstGeom>
          <a:solidFill>
            <a:srgbClr val="F3F5F8"/>
          </a:solidFill>
          <a:ln/>
        </p:spPr>
      </p:sp>
      <p:sp>
        <p:nvSpPr>
          <p:cNvPr id="21" name="Text 17"/>
          <p:cNvSpPr txBox="1"/>
          <p:nvPr/>
        </p:nvSpPr>
        <p:spPr>
          <a:xfrm>
            <a:off x="6629400" y="1828800"/>
            <a:ext cx="1325880" cy="420624"/>
          </a:xfrm>
          <a:prstGeom prst="rect">
            <a:avLst/>
          </a:prstGeom>
          <a:noFill/>
          <a:ln/>
        </p:spPr>
        <p:txBody>
          <a:bodyPr wrap="square" lIns="0" tIns="0" rIns="0" bIns="0" rtlCol="0" anchor="ctr"/>
          <a:lstStyle/>
          <a:p>
            <a:pPr algn="l" indent="0" marL="0">
              <a:lnSpc>
                <a:spcPct val="100000"/>
              </a:lnSpc>
              <a:buNone/>
            </a:pPr>
            <a:r>
              <a:rPr lang="en-US" sz="1400" b="1" dirty="0">
                <a:solidFill>
                  <a:srgbClr val="16202E"/>
                </a:solidFill>
                <a:latin typeface="Calibri" pitchFamily="34" charset="0"/>
                <a:ea typeface="Calibri" pitchFamily="34" charset="-122"/>
                <a:cs typeface="Calibri" pitchFamily="34" charset="-120"/>
              </a:rPr>
              <a:t>gradient</a:t>
            </a:r>
            <a:endParaRPr lang="en-US" sz="1400" dirty="0"/>
          </a:p>
        </p:txBody>
      </p:sp>
      <p:sp>
        <p:nvSpPr>
          <p:cNvPr id="22" name="Shape 18"/>
          <p:cNvSpPr/>
          <p:nvPr/>
        </p:nvSpPr>
        <p:spPr>
          <a:xfrm>
            <a:off x="8001000" y="1828800"/>
            <a:ext cx="1161288" cy="420624"/>
          </a:xfrm>
          <a:prstGeom prst="rect">
            <a:avLst/>
          </a:prstGeom>
          <a:solidFill>
            <a:srgbClr val="F3F5F8"/>
          </a:solidFill>
          <a:ln/>
        </p:spPr>
      </p:sp>
      <p:sp>
        <p:nvSpPr>
          <p:cNvPr id="23" name="Text 19"/>
          <p:cNvSpPr txBox="1"/>
          <p:nvPr/>
        </p:nvSpPr>
        <p:spPr>
          <a:xfrm>
            <a:off x="8046720" y="1828800"/>
            <a:ext cx="109728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exact</a:t>
            </a:r>
            <a:endParaRPr lang="en-US" sz="1400" dirty="0"/>
          </a:p>
        </p:txBody>
      </p:sp>
      <p:sp>
        <p:nvSpPr>
          <p:cNvPr id="24" name="Shape 20"/>
          <p:cNvSpPr/>
          <p:nvPr/>
        </p:nvSpPr>
        <p:spPr>
          <a:xfrm>
            <a:off x="9189720" y="1828800"/>
            <a:ext cx="1298448" cy="420624"/>
          </a:xfrm>
          <a:prstGeom prst="rect">
            <a:avLst/>
          </a:prstGeom>
          <a:solidFill>
            <a:srgbClr val="E3F2F1"/>
          </a:solidFill>
          <a:ln/>
        </p:spPr>
      </p:sp>
      <p:sp>
        <p:nvSpPr>
          <p:cNvPr id="25" name="Text 21"/>
          <p:cNvSpPr txBox="1"/>
          <p:nvPr/>
        </p:nvSpPr>
        <p:spPr>
          <a:xfrm>
            <a:off x="9235440" y="1828800"/>
            <a:ext cx="123444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good estimate</a:t>
            </a:r>
            <a:endParaRPr lang="en-US" sz="1400" dirty="0"/>
          </a:p>
        </p:txBody>
      </p:sp>
      <p:sp>
        <p:nvSpPr>
          <p:cNvPr id="26" name="Shape 22"/>
          <p:cNvSpPr/>
          <p:nvPr/>
        </p:nvSpPr>
        <p:spPr>
          <a:xfrm>
            <a:off x="10515600" y="1828800"/>
            <a:ext cx="1097280" cy="420624"/>
          </a:xfrm>
          <a:prstGeom prst="rect">
            <a:avLst/>
          </a:prstGeom>
          <a:solidFill>
            <a:srgbClr val="F3F5F8"/>
          </a:solidFill>
          <a:ln/>
        </p:spPr>
      </p:sp>
      <p:sp>
        <p:nvSpPr>
          <p:cNvPr id="27" name="Text 23"/>
          <p:cNvSpPr txBox="1"/>
          <p:nvPr/>
        </p:nvSpPr>
        <p:spPr>
          <a:xfrm>
            <a:off x="10561320" y="1828800"/>
            <a:ext cx="1033272"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very noisy</a:t>
            </a:r>
            <a:endParaRPr lang="en-US" sz="1400" dirty="0"/>
          </a:p>
        </p:txBody>
      </p:sp>
      <p:sp>
        <p:nvSpPr>
          <p:cNvPr id="28" name="Shape 24"/>
          <p:cNvSpPr/>
          <p:nvPr/>
        </p:nvSpPr>
        <p:spPr>
          <a:xfrm>
            <a:off x="6583680" y="2286000"/>
            <a:ext cx="1389888" cy="420624"/>
          </a:xfrm>
          <a:prstGeom prst="rect">
            <a:avLst/>
          </a:prstGeom>
          <a:solidFill>
            <a:srgbClr val="F3F5F8"/>
          </a:solidFill>
          <a:ln/>
        </p:spPr>
      </p:sp>
      <p:sp>
        <p:nvSpPr>
          <p:cNvPr id="29" name="Text 25"/>
          <p:cNvSpPr txBox="1"/>
          <p:nvPr/>
        </p:nvSpPr>
        <p:spPr>
          <a:xfrm>
            <a:off x="6629400" y="2286000"/>
            <a:ext cx="1325880" cy="420624"/>
          </a:xfrm>
          <a:prstGeom prst="rect">
            <a:avLst/>
          </a:prstGeom>
          <a:noFill/>
          <a:ln/>
        </p:spPr>
        <p:txBody>
          <a:bodyPr wrap="square" lIns="0" tIns="0" rIns="0" bIns="0" rtlCol="0" anchor="ctr"/>
          <a:lstStyle/>
          <a:p>
            <a:pPr algn="l" indent="0" marL="0">
              <a:lnSpc>
                <a:spcPct val="100000"/>
              </a:lnSpc>
              <a:buNone/>
            </a:pPr>
            <a:r>
              <a:rPr lang="en-US" sz="1400" b="1" dirty="0">
                <a:solidFill>
                  <a:srgbClr val="16202E"/>
                </a:solidFill>
                <a:latin typeface="Calibri" pitchFamily="34" charset="0"/>
                <a:ea typeface="Calibri" pitchFamily="34" charset="-122"/>
                <a:cs typeface="Calibri" pitchFamily="34" charset="-120"/>
              </a:rPr>
              <a:t>cost / step</a:t>
            </a:r>
            <a:endParaRPr lang="en-US" sz="1400" dirty="0"/>
          </a:p>
        </p:txBody>
      </p:sp>
      <p:sp>
        <p:nvSpPr>
          <p:cNvPr id="30" name="Shape 26"/>
          <p:cNvSpPr/>
          <p:nvPr/>
        </p:nvSpPr>
        <p:spPr>
          <a:xfrm>
            <a:off x="8001000" y="2286000"/>
            <a:ext cx="1161288" cy="420624"/>
          </a:xfrm>
          <a:prstGeom prst="rect">
            <a:avLst/>
          </a:prstGeom>
          <a:solidFill>
            <a:srgbClr val="F3F5F8"/>
          </a:solidFill>
          <a:ln/>
        </p:spPr>
      </p:sp>
      <p:sp>
        <p:nvSpPr>
          <p:cNvPr id="31" name="Text 27"/>
          <p:cNvSpPr txBox="1"/>
          <p:nvPr/>
        </p:nvSpPr>
        <p:spPr>
          <a:xfrm>
            <a:off x="8046720" y="2286000"/>
            <a:ext cx="109728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55,000 ex.</a:t>
            </a:r>
            <a:endParaRPr lang="en-US" sz="1400" dirty="0"/>
          </a:p>
        </p:txBody>
      </p:sp>
      <p:sp>
        <p:nvSpPr>
          <p:cNvPr id="32" name="Shape 28"/>
          <p:cNvSpPr/>
          <p:nvPr/>
        </p:nvSpPr>
        <p:spPr>
          <a:xfrm>
            <a:off x="9189720" y="2286000"/>
            <a:ext cx="1298448" cy="420624"/>
          </a:xfrm>
          <a:prstGeom prst="rect">
            <a:avLst/>
          </a:prstGeom>
          <a:solidFill>
            <a:srgbClr val="E3F2F1"/>
          </a:solidFill>
          <a:ln/>
        </p:spPr>
      </p:sp>
      <p:sp>
        <p:nvSpPr>
          <p:cNvPr id="33" name="Text 29"/>
          <p:cNvSpPr txBox="1"/>
          <p:nvPr/>
        </p:nvSpPr>
        <p:spPr>
          <a:xfrm>
            <a:off x="9235440" y="2286000"/>
            <a:ext cx="123444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256 ex.</a:t>
            </a:r>
            <a:endParaRPr lang="en-US" sz="1400" dirty="0"/>
          </a:p>
        </p:txBody>
      </p:sp>
      <p:sp>
        <p:nvSpPr>
          <p:cNvPr id="34" name="Shape 30"/>
          <p:cNvSpPr/>
          <p:nvPr/>
        </p:nvSpPr>
        <p:spPr>
          <a:xfrm>
            <a:off x="10515600" y="2286000"/>
            <a:ext cx="1097280" cy="420624"/>
          </a:xfrm>
          <a:prstGeom prst="rect">
            <a:avLst/>
          </a:prstGeom>
          <a:solidFill>
            <a:srgbClr val="F3F5F8"/>
          </a:solidFill>
          <a:ln/>
        </p:spPr>
      </p:sp>
      <p:sp>
        <p:nvSpPr>
          <p:cNvPr id="35" name="Text 31"/>
          <p:cNvSpPr txBox="1"/>
          <p:nvPr/>
        </p:nvSpPr>
        <p:spPr>
          <a:xfrm>
            <a:off x="10561320" y="2286000"/>
            <a:ext cx="1033272"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1 ex.</a:t>
            </a:r>
            <a:endParaRPr lang="en-US" sz="1400" dirty="0"/>
          </a:p>
        </p:txBody>
      </p:sp>
      <p:sp>
        <p:nvSpPr>
          <p:cNvPr id="36" name="Shape 32"/>
          <p:cNvSpPr/>
          <p:nvPr/>
        </p:nvSpPr>
        <p:spPr>
          <a:xfrm>
            <a:off x="6583680" y="2743200"/>
            <a:ext cx="1389888" cy="420624"/>
          </a:xfrm>
          <a:prstGeom prst="rect">
            <a:avLst/>
          </a:prstGeom>
          <a:solidFill>
            <a:srgbClr val="F3F5F8"/>
          </a:solidFill>
          <a:ln/>
        </p:spPr>
      </p:sp>
      <p:sp>
        <p:nvSpPr>
          <p:cNvPr id="37" name="Text 33"/>
          <p:cNvSpPr txBox="1"/>
          <p:nvPr/>
        </p:nvSpPr>
        <p:spPr>
          <a:xfrm>
            <a:off x="6629400" y="2743200"/>
            <a:ext cx="1325880" cy="420624"/>
          </a:xfrm>
          <a:prstGeom prst="rect">
            <a:avLst/>
          </a:prstGeom>
          <a:noFill/>
          <a:ln/>
        </p:spPr>
        <p:txBody>
          <a:bodyPr wrap="square" lIns="0" tIns="0" rIns="0" bIns="0" rtlCol="0" anchor="ctr"/>
          <a:lstStyle/>
          <a:p>
            <a:pPr algn="l" indent="0" marL="0">
              <a:lnSpc>
                <a:spcPct val="100000"/>
              </a:lnSpc>
              <a:buNone/>
            </a:pPr>
            <a:r>
              <a:rPr lang="en-US" sz="1400" b="1" dirty="0">
                <a:solidFill>
                  <a:srgbClr val="16202E"/>
                </a:solidFill>
                <a:latin typeface="Calibri" pitchFamily="34" charset="0"/>
                <a:ea typeface="Calibri" pitchFamily="34" charset="-122"/>
                <a:cs typeface="Calibri" pitchFamily="34" charset="-120"/>
              </a:rPr>
              <a:t>hardware</a:t>
            </a:r>
            <a:endParaRPr lang="en-US" sz="1400" dirty="0"/>
          </a:p>
        </p:txBody>
      </p:sp>
      <p:sp>
        <p:nvSpPr>
          <p:cNvPr id="38" name="Shape 34"/>
          <p:cNvSpPr/>
          <p:nvPr/>
        </p:nvSpPr>
        <p:spPr>
          <a:xfrm>
            <a:off x="8001000" y="2743200"/>
            <a:ext cx="1161288" cy="420624"/>
          </a:xfrm>
          <a:prstGeom prst="rect">
            <a:avLst/>
          </a:prstGeom>
          <a:solidFill>
            <a:srgbClr val="F3F5F8"/>
          </a:solidFill>
          <a:ln/>
        </p:spPr>
      </p:sp>
      <p:sp>
        <p:nvSpPr>
          <p:cNvPr id="39" name="Text 35"/>
          <p:cNvSpPr txBox="1"/>
          <p:nvPr/>
        </p:nvSpPr>
        <p:spPr>
          <a:xfrm>
            <a:off x="8046720" y="2743200"/>
            <a:ext cx="109728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slow per step</a:t>
            </a:r>
            <a:endParaRPr lang="en-US" sz="1400" dirty="0"/>
          </a:p>
        </p:txBody>
      </p:sp>
      <p:sp>
        <p:nvSpPr>
          <p:cNvPr id="40" name="Shape 36"/>
          <p:cNvSpPr/>
          <p:nvPr/>
        </p:nvSpPr>
        <p:spPr>
          <a:xfrm>
            <a:off x="9189720" y="2743200"/>
            <a:ext cx="1298448" cy="420624"/>
          </a:xfrm>
          <a:prstGeom prst="rect">
            <a:avLst/>
          </a:prstGeom>
          <a:solidFill>
            <a:srgbClr val="E3F2F1"/>
          </a:solidFill>
          <a:ln/>
        </p:spPr>
      </p:sp>
      <p:sp>
        <p:nvSpPr>
          <p:cNvPr id="41" name="Text 37"/>
          <p:cNvSpPr txBox="1"/>
          <p:nvPr/>
        </p:nvSpPr>
        <p:spPr>
          <a:xfrm>
            <a:off x="9235440" y="2743200"/>
            <a:ext cx="123444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parallel ✓</a:t>
            </a:r>
            <a:endParaRPr lang="en-US" sz="1400" dirty="0"/>
          </a:p>
        </p:txBody>
      </p:sp>
      <p:sp>
        <p:nvSpPr>
          <p:cNvPr id="42" name="Shape 38"/>
          <p:cNvSpPr/>
          <p:nvPr/>
        </p:nvSpPr>
        <p:spPr>
          <a:xfrm>
            <a:off x="10515600" y="2743200"/>
            <a:ext cx="1097280" cy="420624"/>
          </a:xfrm>
          <a:prstGeom prst="rect">
            <a:avLst/>
          </a:prstGeom>
          <a:solidFill>
            <a:srgbClr val="F3F5F8"/>
          </a:solidFill>
          <a:ln/>
        </p:spPr>
      </p:sp>
      <p:sp>
        <p:nvSpPr>
          <p:cNvPr id="43" name="Text 39"/>
          <p:cNvSpPr txBox="1"/>
          <p:nvPr/>
        </p:nvSpPr>
        <p:spPr>
          <a:xfrm>
            <a:off x="10561320" y="2743200"/>
            <a:ext cx="1033272"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underused</a:t>
            </a:r>
            <a:endParaRPr lang="en-US" sz="1400" dirty="0"/>
          </a:p>
        </p:txBody>
      </p:sp>
      <p:sp>
        <p:nvSpPr>
          <p:cNvPr id="44" name="Shape 40"/>
          <p:cNvSpPr/>
          <p:nvPr/>
        </p:nvSpPr>
        <p:spPr>
          <a:xfrm>
            <a:off x="6583680" y="3200400"/>
            <a:ext cx="1389888" cy="420624"/>
          </a:xfrm>
          <a:prstGeom prst="rect">
            <a:avLst/>
          </a:prstGeom>
          <a:solidFill>
            <a:srgbClr val="F3F5F8"/>
          </a:solidFill>
          <a:ln/>
        </p:spPr>
      </p:sp>
      <p:sp>
        <p:nvSpPr>
          <p:cNvPr id="45" name="Text 41"/>
          <p:cNvSpPr txBox="1"/>
          <p:nvPr/>
        </p:nvSpPr>
        <p:spPr>
          <a:xfrm>
            <a:off x="6629400" y="3200400"/>
            <a:ext cx="1325880" cy="420624"/>
          </a:xfrm>
          <a:prstGeom prst="rect">
            <a:avLst/>
          </a:prstGeom>
          <a:noFill/>
          <a:ln/>
        </p:spPr>
        <p:txBody>
          <a:bodyPr wrap="square" lIns="0" tIns="0" rIns="0" bIns="0" rtlCol="0" anchor="ctr"/>
          <a:lstStyle/>
          <a:p>
            <a:pPr algn="l" indent="0" marL="0">
              <a:lnSpc>
                <a:spcPct val="100000"/>
              </a:lnSpc>
              <a:buNone/>
            </a:pPr>
            <a:r>
              <a:rPr lang="en-US" sz="1400" b="1" dirty="0">
                <a:solidFill>
                  <a:srgbClr val="16202E"/>
                </a:solidFill>
                <a:latin typeface="Calibri" pitchFamily="34" charset="0"/>
                <a:ea typeface="Calibri" pitchFamily="34" charset="-122"/>
                <a:cs typeface="Calibri" pitchFamily="34" charset="-120"/>
              </a:rPr>
              <a:t>verdict</a:t>
            </a:r>
            <a:endParaRPr lang="en-US" sz="1400" dirty="0"/>
          </a:p>
        </p:txBody>
      </p:sp>
      <p:sp>
        <p:nvSpPr>
          <p:cNvPr id="46" name="Shape 42"/>
          <p:cNvSpPr/>
          <p:nvPr/>
        </p:nvSpPr>
        <p:spPr>
          <a:xfrm>
            <a:off x="8001000" y="3200400"/>
            <a:ext cx="1161288" cy="420624"/>
          </a:xfrm>
          <a:prstGeom prst="rect">
            <a:avLst/>
          </a:prstGeom>
          <a:solidFill>
            <a:srgbClr val="F3F5F8"/>
          </a:solidFill>
          <a:ln/>
        </p:spPr>
      </p:sp>
      <p:sp>
        <p:nvSpPr>
          <p:cNvPr id="47" name="Text 43"/>
          <p:cNvSpPr txBox="1"/>
          <p:nvPr/>
        </p:nvSpPr>
        <p:spPr>
          <a:xfrm>
            <a:off x="8046720" y="3200400"/>
            <a:ext cx="109728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rare</a:t>
            </a:r>
            <a:endParaRPr lang="en-US" sz="1400" dirty="0"/>
          </a:p>
        </p:txBody>
      </p:sp>
      <p:sp>
        <p:nvSpPr>
          <p:cNvPr id="48" name="Shape 44"/>
          <p:cNvSpPr/>
          <p:nvPr/>
        </p:nvSpPr>
        <p:spPr>
          <a:xfrm>
            <a:off x="9189720" y="3200400"/>
            <a:ext cx="1298448" cy="420624"/>
          </a:xfrm>
          <a:prstGeom prst="rect">
            <a:avLst/>
          </a:prstGeom>
          <a:solidFill>
            <a:srgbClr val="E3F2F1"/>
          </a:solidFill>
          <a:ln/>
        </p:spPr>
      </p:sp>
      <p:sp>
        <p:nvSpPr>
          <p:cNvPr id="49" name="Text 45"/>
          <p:cNvSpPr txBox="1"/>
          <p:nvPr/>
        </p:nvSpPr>
        <p:spPr>
          <a:xfrm>
            <a:off x="9235440" y="3200400"/>
            <a:ext cx="1234440"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use this</a:t>
            </a:r>
            <a:endParaRPr lang="en-US" sz="1400" dirty="0"/>
          </a:p>
        </p:txBody>
      </p:sp>
      <p:sp>
        <p:nvSpPr>
          <p:cNvPr id="50" name="Shape 46"/>
          <p:cNvSpPr/>
          <p:nvPr/>
        </p:nvSpPr>
        <p:spPr>
          <a:xfrm>
            <a:off x="10515600" y="3200400"/>
            <a:ext cx="1097280" cy="420624"/>
          </a:xfrm>
          <a:prstGeom prst="rect">
            <a:avLst/>
          </a:prstGeom>
          <a:solidFill>
            <a:srgbClr val="F3F5F8"/>
          </a:solidFill>
          <a:ln/>
        </p:spPr>
      </p:sp>
      <p:sp>
        <p:nvSpPr>
          <p:cNvPr id="51" name="Text 47"/>
          <p:cNvSpPr txBox="1"/>
          <p:nvPr/>
        </p:nvSpPr>
        <p:spPr>
          <a:xfrm>
            <a:off x="10561320" y="3200400"/>
            <a:ext cx="1033272" cy="420624"/>
          </a:xfrm>
          <a:prstGeom prst="rect">
            <a:avLst/>
          </a:prstGeom>
          <a:noFill/>
          <a:ln/>
        </p:spPr>
        <p:txBody>
          <a:bodyPr wrap="square" lIns="0" tIns="0" rIns="0" bIns="0" rtlCol="0" anchor="ctr"/>
          <a:lstStyle/>
          <a:p>
            <a:pPr algn="ctr" indent="0" marL="0">
              <a:lnSpc>
                <a:spcPct val="100000"/>
              </a:lnSpc>
              <a:buNone/>
            </a:pPr>
            <a:r>
              <a:rPr lang="en-US" sz="1400" dirty="0">
                <a:solidFill>
                  <a:srgbClr val="16202E"/>
                </a:solidFill>
                <a:latin typeface="Calibri" pitchFamily="34" charset="0"/>
                <a:ea typeface="Calibri" pitchFamily="34" charset="-122"/>
                <a:cs typeface="Calibri" pitchFamily="34" charset="-120"/>
              </a:rPr>
              <a:t>rare</a:t>
            </a:r>
            <a:endParaRPr lang="en-US" sz="1400" dirty="0"/>
          </a:p>
        </p:txBody>
      </p:sp>
      <p:sp>
        <p:nvSpPr>
          <p:cNvPr id="52" name="Shape 48"/>
          <p:cNvSpPr/>
          <p:nvPr/>
        </p:nvSpPr>
        <p:spPr>
          <a:xfrm>
            <a:off x="6583680" y="3840480"/>
            <a:ext cx="5056632" cy="1005840"/>
          </a:xfrm>
          <a:prstGeom prst="roundRect">
            <a:avLst>
              <a:gd name="adj" fmla="val 7273"/>
            </a:avLst>
          </a:prstGeom>
          <a:solidFill>
            <a:srgbClr val="F3F5F8"/>
          </a:solidFill>
          <a:ln/>
        </p:spPr>
      </p:sp>
      <p:sp>
        <p:nvSpPr>
          <p:cNvPr id="53" name="Text 49"/>
          <p:cNvSpPr txBox="1"/>
          <p:nvPr/>
        </p:nvSpPr>
        <p:spPr>
          <a:xfrm>
            <a:off x="6812280" y="3840480"/>
            <a:ext cx="4663440" cy="1005840"/>
          </a:xfrm>
          <a:prstGeom prst="rect">
            <a:avLst/>
          </a:prstGeom>
          <a:noFill/>
          <a:ln/>
        </p:spPr>
        <p:txBody>
          <a:bodyPr wrap="square" lIns="0" tIns="0" rIns="0" bIns="0" rtlCol="0" anchor="ctr"/>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Noise in the gradient estimate shrinks like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1/√B</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4× the batch, half the noise.</a:t>
            </a:r>
            <a:endParaRPr lang="en-US" sz="1550" dirty="0"/>
          </a:p>
        </p:txBody>
      </p:sp>
      <p:sp>
        <p:nvSpPr>
          <p:cNvPr id="54" name="Shape 50"/>
          <p:cNvSpPr/>
          <p:nvPr/>
        </p:nvSpPr>
        <p:spPr>
          <a:xfrm>
            <a:off x="6583680" y="5029200"/>
            <a:ext cx="5056632" cy="1097280"/>
          </a:xfrm>
          <a:prstGeom prst="roundRect">
            <a:avLst>
              <a:gd name="adj" fmla="val 6667"/>
            </a:avLst>
          </a:prstGeom>
          <a:solidFill>
            <a:srgbClr val="E3F2F1"/>
          </a:solidFill>
          <a:ln/>
        </p:spPr>
      </p:sp>
      <p:sp>
        <p:nvSpPr>
          <p:cNvPr id="55" name="Text 51"/>
          <p:cNvSpPr txBox="1"/>
          <p:nvPr/>
        </p:nvSpPr>
        <p:spPr>
          <a:xfrm>
            <a:off x="6812280" y="5029200"/>
            <a:ext cx="4663440" cy="1097280"/>
          </a:xfrm>
          <a:prstGeom prst="rect">
            <a:avLst/>
          </a:prstGeom>
          <a:noFill/>
          <a:ln/>
        </p:spPr>
        <p:txBody>
          <a:bodyPr wrap="square" lIns="0" tIns="0" rIns="0" bIns="0" rtlCol="0" anchor="ctr"/>
          <a:lstStyle/>
          <a:p>
            <a:pPr algn="l" indent="0" marL="0">
              <a:lnSpc>
                <a:spcPct val="100000"/>
              </a:lnSpc>
              <a:spcAft>
                <a:spcPts val="300"/>
              </a:spcAft>
              <a:buNone/>
            </a:pPr>
            <a:r>
              <a:rPr lang="en-US" sz="1450" b="1" dirty="0">
                <a:solidFill>
                  <a:srgbClr val="16202E"/>
                </a:solidFill>
                <a:latin typeface="Calibri" pitchFamily="34" charset="0"/>
                <a:ea typeface="Calibri" pitchFamily="34" charset="-122"/>
                <a:cs typeface="Calibri" pitchFamily="34" charset="-120"/>
              </a:rPr>
              <a:t>Stochastic gradient descent (SGD)</a:t>
            </a:r>
            <a:pPr algn="l" indent="0" marL="0">
              <a:lnSpc>
                <a:spcPct val="100000"/>
              </a:lnSpc>
              <a:spcAft>
                <a:spcPts val="300"/>
              </a:spcAft>
              <a:buNone/>
            </a:pPr>
            <a:r>
              <a:rPr lang="en-US" sz="1450" dirty="0">
                <a:solidFill>
                  <a:srgbClr val="16202E"/>
                </a:solidFill>
                <a:latin typeface="Calibri" pitchFamily="34" charset="0"/>
                <a:ea typeface="Calibri" pitchFamily="34" charset="-122"/>
                <a:cs typeface="Calibri" pitchFamily="34" charset="-120"/>
              </a:rPr>
              <a:t> = gradient descent with the gradient estimated on a mini-batch.</a:t>
            </a:r>
            <a:pPr algn="l" indent="0" marL="0">
              <a:lnSpc>
                <a:spcPct val="100000"/>
              </a:lnSpc>
              <a:spcAft>
                <a:spcPts val="300"/>
              </a:spcAft>
              <a:buNone/>
            </a:pPr>
            <a:endParaRPr lang="en-US" sz="1450" dirty="0"/>
          </a:p>
          <a:p>
            <a:pPr algn="l" indent="0" marL="0">
              <a:lnSpc>
                <a:spcPct val="100000"/>
              </a:lnSpc>
              <a:spcAft>
                <a:spcPts val="300"/>
              </a:spcAft>
              <a:buNone/>
            </a:pPr>
            <a:r>
              <a:rPr lang="en-US" sz="1450" b="1" dirty="0">
                <a:solidFill>
                  <a:srgbClr val="16202E"/>
                </a:solidFill>
                <a:latin typeface="Calibri" pitchFamily="34" charset="0"/>
                <a:ea typeface="Calibri" pitchFamily="34" charset="-122"/>
                <a:cs typeface="Calibri" pitchFamily="34" charset="-120"/>
              </a:rPr>
              <a:t>Epoch</a:t>
            </a:r>
            <a:pPr algn="l" indent="0" marL="0">
              <a:lnSpc>
                <a:spcPct val="100000"/>
              </a:lnSpc>
              <a:spcAft>
                <a:spcPts val="300"/>
              </a:spcAft>
              <a:buNone/>
            </a:pPr>
            <a:r>
              <a:rPr lang="en-US" sz="1450" dirty="0">
                <a:solidFill>
                  <a:srgbClr val="16202E"/>
                </a:solidFill>
                <a:latin typeface="Calibri" pitchFamily="34" charset="0"/>
                <a:ea typeface="Calibri" pitchFamily="34" charset="-122"/>
                <a:cs typeface="Calibri" pitchFamily="34" charset="-120"/>
              </a:rPr>
              <a:t> = one pass over the data. </a:t>
            </a:r>
            <a:pPr algn="l" indent="0" marL="0">
              <a:lnSpc>
                <a:spcPct val="100000"/>
              </a:lnSpc>
              <a:spcAft>
                <a:spcPts val="300"/>
              </a:spcAft>
              <a:buNone/>
            </a:pPr>
            <a:r>
              <a:rPr lang="en-US" sz="1450" b="1" dirty="0">
                <a:solidFill>
                  <a:srgbClr val="16202E"/>
                </a:solidFill>
                <a:latin typeface="Calibri" pitchFamily="34" charset="0"/>
                <a:ea typeface="Calibri" pitchFamily="34" charset="-122"/>
                <a:cs typeface="Calibri" pitchFamily="34" charset="-120"/>
              </a:rPr>
              <a:t>Iteration</a:t>
            </a:r>
            <a:pPr algn="l" indent="0" marL="0">
              <a:lnSpc>
                <a:spcPct val="100000"/>
              </a:lnSpc>
              <a:spcAft>
                <a:spcPts val="300"/>
              </a:spcAft>
              <a:buNone/>
            </a:pPr>
            <a:r>
              <a:rPr lang="en-US" sz="1450" dirty="0">
                <a:solidFill>
                  <a:srgbClr val="16202E"/>
                </a:solidFill>
                <a:latin typeface="Calibri" pitchFamily="34" charset="0"/>
                <a:ea typeface="Calibri" pitchFamily="34" charset="-122"/>
                <a:cs typeface="Calibri" pitchFamily="34" charset="-120"/>
              </a:rPr>
              <a:t> = one update.</a:t>
            </a:r>
            <a:endParaRPr lang="en-US" sz="14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2 · OPTIMIZERS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Momentum and Adam reuse past gradients to move faster along ravines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break, then: computing every gradient</a:t>
            </a:r>
            <a:endParaRPr lang="en-US" sz="1100" dirty="0"/>
          </a:p>
        </p:txBody>
      </p:sp>
      <p:pic>
        <p:nvPicPr>
          <p:cNvPr id="6" name="Image 0" descr="Gradient descent, momentum and Adam paths on an ill-conditioned quadratic">    </p:cNvPr>
          <p:cNvPicPr>
            <a:picLocks noChangeAspect="1"/>
          </p:cNvPicPr>
          <p:nvPr/>
        </p:nvPicPr>
        <p:blipFill>
          <a:blip r:embed="rId1"/>
          <a:stretch>
            <a:fillRect/>
          </a:stretch>
        </p:blipFill>
        <p:spPr>
          <a:xfrm>
            <a:off x="2024834" y="1298448"/>
            <a:ext cx="8142027" cy="2880360"/>
          </a:xfrm>
          <a:prstGeom prst="rect">
            <a:avLst/>
          </a:prstGeom>
        </p:spPr>
      </p:pic>
      <p:sp>
        <p:nvSpPr>
          <p:cNvPr id="7" name="Shape 3"/>
          <p:cNvSpPr/>
          <p:nvPr/>
        </p:nvSpPr>
        <p:spPr>
          <a:xfrm>
            <a:off x="548640" y="4315968"/>
            <a:ext cx="3515258" cy="1463040"/>
          </a:xfrm>
          <a:prstGeom prst="roundRect">
            <a:avLst>
              <a:gd name="adj" fmla="val 5000"/>
            </a:avLst>
          </a:prstGeom>
          <a:solidFill>
            <a:srgbClr val="F3F5F8"/>
          </a:solidFill>
          <a:ln/>
        </p:spPr>
      </p:sp>
      <p:sp>
        <p:nvSpPr>
          <p:cNvPr id="8" name="Text 4"/>
          <p:cNvSpPr txBox="1"/>
          <p:nvPr/>
        </p:nvSpPr>
        <p:spPr>
          <a:xfrm>
            <a:off x="777240" y="4407408"/>
            <a:ext cx="3149498" cy="320040"/>
          </a:xfrm>
          <a:prstGeom prst="rect">
            <a:avLst/>
          </a:prstGeom>
          <a:noFill/>
          <a:ln/>
        </p:spPr>
        <p:txBody>
          <a:bodyPr wrap="square" lIns="0" tIns="0" rIns="0" bIns="0" rtlCol="0" anchor="t"/>
          <a:lstStyle/>
          <a:p>
            <a:pPr algn="l" indent="0" marL="0">
              <a:lnSpc>
                <a:spcPct val="100000"/>
              </a:lnSpc>
              <a:buNone/>
            </a:pPr>
            <a:r>
              <a:rPr lang="en-US" sz="1650" b="1" dirty="0">
                <a:solidFill>
                  <a:srgbClr val="8A94A3"/>
                </a:solidFill>
                <a:latin typeface="Calibri" pitchFamily="34" charset="0"/>
                <a:ea typeface="Calibri" pitchFamily="34" charset="-122"/>
                <a:cs typeface="Calibri" pitchFamily="34" charset="-120"/>
              </a:rPr>
              <a:t>Gradient descent</a:t>
            </a:r>
            <a:endParaRPr lang="en-US" sz="1650" dirty="0"/>
          </a:p>
        </p:txBody>
      </p:sp>
      <p:sp>
        <p:nvSpPr>
          <p:cNvPr id="9" name="Text 5"/>
          <p:cNvSpPr txBox="1"/>
          <p:nvPr/>
        </p:nvSpPr>
        <p:spPr>
          <a:xfrm>
            <a:off x="777240" y="4800600"/>
            <a:ext cx="3103778" cy="82296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One η for every direction: bounces across the ravine, creeps along it.</a:t>
            </a:r>
            <a:endParaRPr lang="en-US" sz="1450" dirty="0"/>
          </a:p>
        </p:txBody>
      </p:sp>
      <p:sp>
        <p:nvSpPr>
          <p:cNvPr id="10" name="Shape 6"/>
          <p:cNvSpPr/>
          <p:nvPr/>
        </p:nvSpPr>
        <p:spPr>
          <a:xfrm>
            <a:off x="4277228" y="4315968"/>
            <a:ext cx="3515258" cy="1463040"/>
          </a:xfrm>
          <a:prstGeom prst="roundRect">
            <a:avLst>
              <a:gd name="adj" fmla="val 5000"/>
            </a:avLst>
          </a:prstGeom>
          <a:solidFill>
            <a:srgbClr val="E3F2F1"/>
          </a:solidFill>
          <a:ln/>
        </p:spPr>
      </p:sp>
      <p:sp>
        <p:nvSpPr>
          <p:cNvPr id="11" name="Text 7"/>
          <p:cNvSpPr txBox="1"/>
          <p:nvPr/>
        </p:nvSpPr>
        <p:spPr>
          <a:xfrm>
            <a:off x="4505828" y="4407408"/>
            <a:ext cx="3149498" cy="320040"/>
          </a:xfrm>
          <a:prstGeom prst="rect">
            <a:avLst/>
          </a:prstGeom>
          <a:noFill/>
          <a:ln/>
        </p:spPr>
        <p:txBody>
          <a:bodyPr wrap="square" lIns="0" tIns="0" rIns="0" bIns="0" rtlCol="0" anchor="t"/>
          <a:lstStyle/>
          <a:p>
            <a:pPr algn="l" indent="0" marL="0">
              <a:lnSpc>
                <a:spcPct val="100000"/>
              </a:lnSpc>
              <a:buNone/>
            </a:pPr>
            <a:r>
              <a:rPr lang="en-US" sz="1650" b="1" dirty="0">
                <a:solidFill>
                  <a:srgbClr val="0E7C7B"/>
                </a:solidFill>
                <a:latin typeface="Calibri" pitchFamily="34" charset="0"/>
                <a:ea typeface="Calibri" pitchFamily="34" charset="-122"/>
                <a:cs typeface="Calibri" pitchFamily="34" charset="-120"/>
              </a:rPr>
              <a:t>+ momentum</a:t>
            </a:r>
            <a:endParaRPr lang="en-US" sz="1650" dirty="0"/>
          </a:p>
        </p:txBody>
      </p:sp>
      <p:pic>
        <p:nvPicPr>
          <p:cNvPr id="12" name="Image 1" descr="equation momentum">    </p:cNvPr>
          <p:cNvPicPr>
            <a:picLocks noChangeAspect="1"/>
          </p:cNvPicPr>
          <p:nvPr/>
        </p:nvPicPr>
        <p:blipFill>
          <a:blip r:embed="rId2"/>
          <a:stretch>
            <a:fillRect/>
          </a:stretch>
        </p:blipFill>
        <p:spPr>
          <a:xfrm>
            <a:off x="4505828" y="4800600"/>
            <a:ext cx="3023555" cy="244419"/>
          </a:xfrm>
          <a:prstGeom prst="rect">
            <a:avLst/>
          </a:prstGeom>
        </p:spPr>
      </p:pic>
      <p:sp>
        <p:nvSpPr>
          <p:cNvPr id="13" name="Shape 8"/>
          <p:cNvSpPr/>
          <p:nvPr/>
        </p:nvSpPr>
        <p:spPr>
          <a:xfrm>
            <a:off x="8005816" y="4315968"/>
            <a:ext cx="3515258" cy="1463040"/>
          </a:xfrm>
          <a:prstGeom prst="roundRect">
            <a:avLst>
              <a:gd name="adj" fmla="val 5000"/>
            </a:avLst>
          </a:prstGeom>
          <a:solidFill>
            <a:srgbClr val="EDEBFB"/>
          </a:solidFill>
          <a:ln/>
        </p:spPr>
      </p:sp>
      <p:sp>
        <p:nvSpPr>
          <p:cNvPr id="14" name="Text 9"/>
          <p:cNvSpPr txBox="1"/>
          <p:nvPr/>
        </p:nvSpPr>
        <p:spPr>
          <a:xfrm>
            <a:off x="8234416" y="4407408"/>
            <a:ext cx="3149498" cy="320040"/>
          </a:xfrm>
          <a:prstGeom prst="rect">
            <a:avLst/>
          </a:prstGeom>
          <a:noFill/>
          <a:ln/>
        </p:spPr>
        <p:txBody>
          <a:bodyPr wrap="square" lIns="0" tIns="0" rIns="0" bIns="0" rtlCol="0" anchor="t"/>
          <a:lstStyle/>
          <a:p>
            <a:pPr algn="l" indent="0" marL="0">
              <a:lnSpc>
                <a:spcPct val="100000"/>
              </a:lnSpc>
              <a:buNone/>
            </a:pPr>
            <a:r>
              <a:rPr lang="en-US" sz="1650" b="1" dirty="0">
                <a:solidFill>
                  <a:srgbClr val="5B4FCF"/>
                </a:solidFill>
                <a:latin typeface="Calibri" pitchFamily="34" charset="0"/>
                <a:ea typeface="Calibri" pitchFamily="34" charset="-122"/>
                <a:cs typeface="Calibri" pitchFamily="34" charset="-120"/>
              </a:rPr>
              <a:t>Adam</a:t>
            </a:r>
            <a:endParaRPr lang="en-US" sz="1650" dirty="0"/>
          </a:p>
        </p:txBody>
      </p:sp>
      <p:pic>
        <p:nvPicPr>
          <p:cNvPr id="15" name="Image 2" descr="equation adam_short">    </p:cNvPr>
          <p:cNvPicPr>
            <a:picLocks noChangeAspect="1"/>
          </p:cNvPicPr>
          <p:nvPr/>
        </p:nvPicPr>
        <p:blipFill>
          <a:blip r:embed="rId3"/>
          <a:stretch>
            <a:fillRect/>
          </a:stretch>
        </p:blipFill>
        <p:spPr>
          <a:xfrm>
            <a:off x="8234416" y="4800600"/>
            <a:ext cx="1868942" cy="579364"/>
          </a:xfrm>
          <a:prstGeom prst="rect">
            <a:avLst/>
          </a:prstGeom>
        </p:spPr>
      </p:pic>
      <p:sp>
        <p:nvSpPr>
          <p:cNvPr id="16" name="Text 10"/>
          <p:cNvSpPr txBox="1"/>
          <p:nvPr/>
        </p:nvSpPr>
        <p:spPr>
          <a:xfrm>
            <a:off x="4502810" y="5376672"/>
            <a:ext cx="3149498" cy="320040"/>
          </a:xfrm>
          <a:prstGeom prst="rect">
            <a:avLst/>
          </a:prstGeom>
          <a:noFill/>
          <a:ln/>
        </p:spPr>
        <p:txBody>
          <a:bodyPr wrap="square" lIns="0" tIns="0" rIns="0" bIns="0" rtlCol="0" anchor="t"/>
          <a:lstStyle/>
          <a:p>
            <a:pPr algn="l" indent="0" marL="0">
              <a:lnSpc>
                <a:spcPct val="100000"/>
              </a:lnSpc>
              <a:buNone/>
            </a:pPr>
            <a:r>
              <a:rPr lang="en-US" sz="1300" dirty="0">
                <a:solidFill>
                  <a:srgbClr val="5B6675"/>
                </a:solidFill>
                <a:latin typeface="Calibri" pitchFamily="34" charset="0"/>
                <a:ea typeface="Calibri" pitchFamily="34" charset="-122"/>
                <a:cs typeface="Calibri" pitchFamily="34" charset="-120"/>
              </a:rPr>
              <a:t>Steady directions speed up; zig-zags cancel.</a:t>
            </a:r>
            <a:endParaRPr lang="en-US" sz="1300" dirty="0"/>
          </a:p>
        </p:txBody>
      </p:sp>
      <p:sp>
        <p:nvSpPr>
          <p:cNvPr id="17" name="Text 11"/>
          <p:cNvSpPr txBox="1"/>
          <p:nvPr/>
        </p:nvSpPr>
        <p:spPr>
          <a:xfrm>
            <a:off x="8219237" y="5413248"/>
            <a:ext cx="3149498" cy="320040"/>
          </a:xfrm>
          <a:prstGeom prst="rect">
            <a:avLst/>
          </a:prstGeom>
          <a:noFill/>
          <a:ln/>
        </p:spPr>
        <p:txBody>
          <a:bodyPr wrap="square" lIns="0" tIns="0" rIns="0" bIns="0" rtlCol="0" anchor="t"/>
          <a:lstStyle/>
          <a:p>
            <a:pPr algn="l" indent="0" marL="0">
              <a:lnSpc>
                <a:spcPct val="100000"/>
              </a:lnSpc>
              <a:buNone/>
            </a:pPr>
            <a:r>
              <a:rPr lang="en-US" sz="1300" dirty="0">
                <a:solidFill>
                  <a:srgbClr val="5B6675"/>
                </a:solidFill>
                <a:latin typeface="Calibri" pitchFamily="34" charset="0"/>
                <a:ea typeface="Calibri" pitchFamily="34" charset="-122"/>
                <a:cs typeface="Calibri" pitchFamily="34" charset="-120"/>
              </a:rPr>
              <a:t>Momentum + a per-parameter step size.</a:t>
            </a:r>
            <a:endParaRPr lang="en-US" sz="1300" dirty="0"/>
          </a:p>
        </p:txBody>
      </p:sp>
      <p:sp>
        <p:nvSpPr>
          <p:cNvPr id="18" name="Text 12"/>
          <p:cNvSpPr txBox="1"/>
          <p:nvPr/>
        </p:nvSpPr>
        <p:spPr>
          <a:xfrm>
            <a:off x="548640" y="5897880"/>
            <a:ext cx="11094415" cy="292608"/>
          </a:xfrm>
          <a:prstGeom prst="rect">
            <a:avLst/>
          </a:prstGeom>
          <a:noFill/>
          <a:ln/>
        </p:spPr>
        <p:txBody>
          <a:bodyPr wrap="square" lIns="0" tIns="0" rIns="0" bIns="0" rtlCol="0" anchor="t"/>
          <a:lstStyle/>
          <a:p>
            <a:pPr algn="l" indent="0" marL="0">
              <a:lnSpc>
                <a:spcPct val="100000"/>
              </a:lnSpc>
              <a:buNone/>
            </a:pPr>
            <a:r>
              <a:rPr lang="en-US" sz="1400" i="1" dirty="0">
                <a:solidFill>
                  <a:srgbClr val="5B6675"/>
                </a:solidFill>
                <a:latin typeface="Calibri" pitchFamily="34" charset="0"/>
                <a:ea typeface="Calibri" pitchFamily="34" charset="-122"/>
                <a:cs typeface="Calibri" pitchFamily="34" charset="-120"/>
              </a:rPr>
              <a:t>Toy problem, step sizes tuned separately for 40 steps — not a universal ranking.  Running example: </a:t>
            </a:r>
            <a:pPr algn="l" indent="0" marL="0">
              <a:lnSpc>
                <a:spcPct val="100000"/>
              </a:lnSpc>
              <a:buNone/>
            </a:pPr>
            <a:r>
              <a:rPr lang="en-US" sz="1400" b="1" i="1" dirty="0">
                <a:solidFill>
                  <a:srgbClr val="5B6675"/>
                </a:solidFill>
                <a:latin typeface="Calibri" pitchFamily="34" charset="0"/>
                <a:ea typeface="Calibri" pitchFamily="34" charset="-122"/>
                <a:cs typeface="Calibri" pitchFamily="34" charset="-120"/>
              </a:rPr>
              <a:t>Adam, η = 10</a:t>
            </a:r>
            <a:pPr algn="l" indent="0" marL="0">
              <a:lnSpc>
                <a:spcPct val="100000"/>
              </a:lnSpc>
              <a:buNone/>
            </a:pPr>
            <a:r>
              <a:rPr lang="en-US" sz="1400" b="1" i="1" baseline="30000" dirty="0">
                <a:solidFill>
                  <a:srgbClr val="5B6675"/>
                </a:solidFill>
                <a:latin typeface="Calibri" pitchFamily="34" charset="0"/>
                <a:ea typeface="Calibri" pitchFamily="34" charset="-122"/>
                <a:cs typeface="Calibri" pitchFamily="34" charset="-120"/>
              </a:rPr>
              <a:t>−3</a:t>
            </a:r>
            <a:pPr algn="l" indent="0" marL="0">
              <a:lnSpc>
                <a:spcPct val="100000"/>
              </a:lnSpc>
              <a:buNone/>
            </a:pPr>
            <a:r>
              <a:rPr lang="en-US" sz="1400" i="1" dirty="0">
                <a:solidFill>
                  <a:srgbClr val="5B6675"/>
                </a:solidFill>
                <a:latin typeface="Calibri" pitchFamily="34" charset="0"/>
                <a:ea typeface="Calibri" pitchFamily="34" charset="-122"/>
                <a:cs typeface="Calibri" pitchFamily="34" charset="-120"/>
              </a:rPr>
              <a:t>.</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10-MINUTE BREAK</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Back at 1:20</a:t>
            </a:r>
            <a:endParaRPr lang="en-US" sz="3800" dirty="0"/>
          </a:p>
        </p:txBody>
      </p:sp>
      <p:sp>
        <p:nvSpPr>
          <p:cNvPr id="4" name="Shape 2"/>
          <p:cNvSpPr/>
          <p:nvPr/>
        </p:nvSpPr>
        <p:spPr>
          <a:xfrm>
            <a:off x="548640" y="3383280"/>
            <a:ext cx="8686800" cy="2286000"/>
          </a:xfrm>
          <a:prstGeom prst="roundRect">
            <a:avLst>
              <a:gd name="adj" fmla="val 3200"/>
            </a:avLst>
          </a:prstGeom>
          <a:solidFill>
            <a:srgbClr val="223047"/>
          </a:solidFill>
          <a:ln/>
        </p:spPr>
      </p:sp>
      <p:sp>
        <p:nvSpPr>
          <p:cNvPr id="5" name="Text 3"/>
          <p:cNvSpPr txBox="1"/>
          <p:nvPr/>
        </p:nvSpPr>
        <p:spPr>
          <a:xfrm>
            <a:off x="868680" y="3566160"/>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C4BE"/>
                </a:solidFill>
                <a:latin typeface="Calibri" pitchFamily="34" charset="0"/>
                <a:ea typeface="Calibri" pitchFamily="34" charset="-122"/>
                <a:cs typeface="Calibri" pitchFamily="34" charset="-120"/>
              </a:rPr>
              <a:t>SOMETHING TO THINK ABOUT</a:t>
            </a:r>
            <a:endParaRPr lang="en-US" sz="1100" dirty="0"/>
          </a:p>
        </p:txBody>
      </p:sp>
      <p:sp>
        <p:nvSpPr>
          <p:cNvPr id="6" name="Text 4"/>
          <p:cNvSpPr txBox="1"/>
          <p:nvPr/>
        </p:nvSpPr>
        <p:spPr>
          <a:xfrm>
            <a:off x="868680" y="3931920"/>
            <a:ext cx="8046720" cy="1645920"/>
          </a:xfrm>
          <a:prstGeom prst="rect">
            <a:avLst/>
          </a:prstGeom>
          <a:noFill/>
          <a:ln/>
        </p:spPr>
        <p:txBody>
          <a:bodyPr wrap="square" lIns="0" tIns="0" rIns="0" bIns="0" rtlCol="0" anchor="t"/>
          <a:lstStyle/>
          <a:p>
            <a:pPr algn="l" indent="0" marL="0">
              <a:lnSpc>
                <a:spcPct val="100000"/>
              </a:lnSpc>
              <a:spcAft>
                <a:spcPts val="800"/>
              </a:spcAft>
              <a:buNone/>
            </a:pPr>
            <a:r>
              <a:rPr lang="en-US" sz="1800" dirty="0">
                <a:solidFill>
                  <a:srgbClr val="E2E8EF"/>
                </a:solidFill>
                <a:latin typeface="Calibri" pitchFamily="34" charset="0"/>
                <a:ea typeface="Calibri" pitchFamily="34" charset="-122"/>
                <a:cs typeface="Calibri" pitchFamily="34" charset="-120"/>
              </a:rPr>
              <a:t>A network has 10</a:t>
            </a:r>
            <a:pPr algn="l" indent="0" marL="0">
              <a:lnSpc>
                <a:spcPct val="100000"/>
              </a:lnSpc>
              <a:spcAft>
                <a:spcPts val="800"/>
              </a:spcAft>
              <a:buNone/>
            </a:pPr>
            <a:r>
              <a:rPr lang="en-US" sz="1800" baseline="30000" dirty="0">
                <a:solidFill>
                  <a:srgbClr val="E2E8EF"/>
                </a:solidFill>
                <a:latin typeface="Calibri" pitchFamily="34" charset="0"/>
                <a:ea typeface="Calibri" pitchFamily="34" charset="-122"/>
                <a:cs typeface="Calibri" pitchFamily="34" charset="-120"/>
              </a:rPr>
              <a:t>8</a:t>
            </a:r>
            <a:pPr algn="l" indent="0" marL="0">
              <a:lnSpc>
                <a:spcPct val="100000"/>
              </a:lnSpc>
              <a:spcAft>
                <a:spcPts val="800"/>
              </a:spcAft>
              <a:buNone/>
            </a:pPr>
            <a:r>
              <a:rPr lang="en-US" sz="1800" dirty="0">
                <a:solidFill>
                  <a:srgbClr val="E2E8EF"/>
                </a:solidFill>
                <a:latin typeface="Calibri" pitchFamily="34" charset="0"/>
                <a:ea typeface="Calibri" pitchFamily="34" charset="-122"/>
                <a:cs typeface="Calibri" pitchFamily="34" charset="-120"/>
              </a:rPr>
              <a:t> parameters. You estimate each partial derivative by nudging that one parameter and re-running the forward pass (1 ms each).</a:t>
            </a:r>
            <a:pPr algn="l" indent="0" marL="0">
              <a:lnSpc>
                <a:spcPct val="100000"/>
              </a:lnSpc>
              <a:spcAft>
                <a:spcPts val="800"/>
              </a:spcAft>
              <a:buNone/>
            </a:pPr>
            <a:endParaRPr lang="en-US" sz="1800" dirty="0"/>
          </a:p>
          <a:p>
            <a:pPr algn="l" indent="0" marL="0">
              <a:lnSpc>
                <a:spcPct val="100000"/>
              </a:lnSpc>
              <a:spcAft>
                <a:spcPts val="800"/>
              </a:spcAft>
              <a:buNone/>
            </a:pPr>
            <a:r>
              <a:rPr lang="en-US" sz="1800" b="1" dirty="0">
                <a:solidFill>
                  <a:srgbClr val="E2E8EF"/>
                </a:solidFill>
                <a:latin typeface="Calibri" pitchFamily="34" charset="0"/>
                <a:ea typeface="Calibri" pitchFamily="34" charset="-122"/>
                <a:cs typeface="Calibri" pitchFamily="34" charset="-120"/>
              </a:rPr>
              <a:t>How long does ONE gradient take? What would you do instead?</a:t>
            </a:r>
            <a:endParaRPr lang="en-US" sz="18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PART 3  ·  1:20–2:15</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Backpropagation, and reading training curves</a:t>
            </a:r>
            <a:endParaRPr lang="en-US" sz="3800" dirty="0"/>
          </a:p>
        </p:txBody>
      </p:sp>
      <p:sp>
        <p:nvSpPr>
          <p:cNvPr id="4" name="Text 2"/>
          <p:cNvSpPr txBox="1"/>
          <p:nvPr/>
        </p:nvSpPr>
        <p:spPr>
          <a:xfrm>
            <a:off x="548640" y="3657600"/>
            <a:ext cx="6949440" cy="2194560"/>
          </a:xfrm>
          <a:prstGeom prst="rect">
            <a:avLst/>
          </a:prstGeom>
          <a:noFill/>
          <a:ln/>
        </p:spPr>
        <p:txBody>
          <a:bodyPr wrap="square" lIns="0" tIns="0" rIns="0" bIns="0" rtlCol="0" anchor="t"/>
          <a:lstStyle/>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How do we get every gradient in one backward sweep?</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What happens when a value feeds several units?</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What does the full training loop look like?</a:t>
            </a:r>
            <a:endParaRPr lang="en-US" sz="1900" dirty="0"/>
          </a:p>
          <a:p>
            <a:pPr marL="228600" indent="-228600">
              <a:spcAft>
                <a:spcPts val="1000"/>
              </a:spcAft>
              <a:buSzPct val="100000"/>
              <a:buChar char="•"/>
            </a:pPr>
            <a:r>
              <a:rPr lang="en-US" sz="1900" dirty="0">
                <a:solidFill>
                  <a:srgbClr val="D5DCE5"/>
                </a:solidFill>
                <a:latin typeface="Calibri" pitchFamily="34" charset="0"/>
                <a:ea typeface="Calibri" pitchFamily="34" charset="-122"/>
                <a:cs typeface="Calibri" pitchFamily="34" charset="-120"/>
              </a:rPr>
              <a:t>Do the curves say “fit harder” or “generalize better”?</a:t>
            </a:r>
            <a:endParaRPr lang="en-US" sz="1900" dirty="0"/>
          </a:p>
        </p:txBody>
      </p:sp>
      <p:sp>
        <p:nvSpPr>
          <p:cNvPr id="5" name="Shape 3"/>
          <p:cNvSpPr/>
          <p:nvPr/>
        </p:nvSpPr>
        <p:spPr>
          <a:xfrm flipV="1">
            <a:off x="8412480" y="1463040"/>
            <a:ext cx="1371600" cy="822960"/>
          </a:xfrm>
          <a:prstGeom prst="line">
            <a:avLst/>
          </a:prstGeom>
          <a:noFill/>
          <a:ln w="9525">
            <a:solidFill>
              <a:srgbClr val="3A4A5E"/>
            </a:solidFill>
            <a:prstDash val="solid"/>
          </a:ln>
        </p:spPr>
      </p:sp>
      <p:sp>
        <p:nvSpPr>
          <p:cNvPr id="6" name="Shape 4"/>
          <p:cNvSpPr/>
          <p:nvPr/>
        </p:nvSpPr>
        <p:spPr>
          <a:xfrm>
            <a:off x="8412480" y="2286000"/>
            <a:ext cx="1371600" cy="822960"/>
          </a:xfrm>
          <a:prstGeom prst="line">
            <a:avLst/>
          </a:prstGeom>
          <a:noFill/>
          <a:ln w="9525">
            <a:solidFill>
              <a:srgbClr val="3A4A5E"/>
            </a:solidFill>
            <a:prstDash val="solid"/>
          </a:ln>
        </p:spPr>
      </p:sp>
      <p:sp>
        <p:nvSpPr>
          <p:cNvPr id="7" name="Shape 5"/>
          <p:cNvSpPr/>
          <p:nvPr/>
        </p:nvSpPr>
        <p:spPr>
          <a:xfrm>
            <a:off x="8412480" y="2286000"/>
            <a:ext cx="1371600" cy="2468880"/>
          </a:xfrm>
          <a:prstGeom prst="line">
            <a:avLst/>
          </a:prstGeom>
          <a:noFill/>
          <a:ln w="9525">
            <a:solidFill>
              <a:srgbClr val="3A4A5E"/>
            </a:solidFill>
            <a:prstDash val="solid"/>
          </a:ln>
        </p:spPr>
      </p:sp>
      <p:sp>
        <p:nvSpPr>
          <p:cNvPr id="8" name="Shape 6"/>
          <p:cNvSpPr/>
          <p:nvPr/>
        </p:nvSpPr>
        <p:spPr>
          <a:xfrm flipV="1">
            <a:off x="8412480" y="1463040"/>
            <a:ext cx="1371600" cy="2468880"/>
          </a:xfrm>
          <a:prstGeom prst="line">
            <a:avLst/>
          </a:prstGeom>
          <a:noFill/>
          <a:ln w="9525">
            <a:solidFill>
              <a:srgbClr val="3A4A5E"/>
            </a:solidFill>
            <a:prstDash val="solid"/>
          </a:ln>
        </p:spPr>
      </p:sp>
      <p:sp>
        <p:nvSpPr>
          <p:cNvPr id="9" name="Shape 7"/>
          <p:cNvSpPr/>
          <p:nvPr/>
        </p:nvSpPr>
        <p:spPr>
          <a:xfrm flipV="1">
            <a:off x="8412480" y="3108960"/>
            <a:ext cx="1371600" cy="822960"/>
          </a:xfrm>
          <a:prstGeom prst="line">
            <a:avLst/>
          </a:prstGeom>
          <a:noFill/>
          <a:ln w="9525">
            <a:solidFill>
              <a:srgbClr val="3A4A5E"/>
            </a:solidFill>
            <a:prstDash val="solid"/>
          </a:ln>
        </p:spPr>
      </p:sp>
      <p:sp>
        <p:nvSpPr>
          <p:cNvPr id="10" name="Shape 8"/>
          <p:cNvSpPr/>
          <p:nvPr/>
        </p:nvSpPr>
        <p:spPr>
          <a:xfrm>
            <a:off x="8412480" y="3931920"/>
            <a:ext cx="1371600" cy="822960"/>
          </a:xfrm>
          <a:prstGeom prst="line">
            <a:avLst/>
          </a:prstGeom>
          <a:noFill/>
          <a:ln w="9525">
            <a:solidFill>
              <a:srgbClr val="3A4A5E"/>
            </a:solidFill>
            <a:prstDash val="solid"/>
          </a:ln>
        </p:spPr>
      </p:sp>
      <p:sp>
        <p:nvSpPr>
          <p:cNvPr id="11" name="Shape 9"/>
          <p:cNvSpPr/>
          <p:nvPr/>
        </p:nvSpPr>
        <p:spPr>
          <a:xfrm>
            <a:off x="9784080" y="1463040"/>
            <a:ext cx="1371600" cy="1645920"/>
          </a:xfrm>
          <a:prstGeom prst="line">
            <a:avLst/>
          </a:prstGeom>
          <a:noFill/>
          <a:ln w="9525">
            <a:solidFill>
              <a:srgbClr val="3A4A5E"/>
            </a:solidFill>
            <a:prstDash val="solid"/>
          </a:ln>
        </p:spPr>
      </p:sp>
      <p:sp>
        <p:nvSpPr>
          <p:cNvPr id="12" name="Shape 10"/>
          <p:cNvSpPr/>
          <p:nvPr/>
        </p:nvSpPr>
        <p:spPr>
          <a:xfrm>
            <a:off x="9784080" y="3108960"/>
            <a:ext cx="1371600" cy="914"/>
          </a:xfrm>
          <a:prstGeom prst="line">
            <a:avLst/>
          </a:prstGeom>
          <a:noFill/>
          <a:ln w="9525">
            <a:solidFill>
              <a:srgbClr val="3A4A5E"/>
            </a:solidFill>
            <a:prstDash val="solid"/>
          </a:ln>
        </p:spPr>
      </p:sp>
      <p:sp>
        <p:nvSpPr>
          <p:cNvPr id="13" name="Shape 11"/>
          <p:cNvSpPr/>
          <p:nvPr/>
        </p:nvSpPr>
        <p:spPr>
          <a:xfrm flipV="1">
            <a:off x="9784080" y="3108960"/>
            <a:ext cx="1371600" cy="1645920"/>
          </a:xfrm>
          <a:prstGeom prst="line">
            <a:avLst/>
          </a:prstGeom>
          <a:noFill/>
          <a:ln w="9525">
            <a:solidFill>
              <a:srgbClr val="3A4A5E"/>
            </a:solidFill>
            <a:prstDash val="solid"/>
          </a:ln>
        </p:spPr>
      </p:sp>
      <p:sp>
        <p:nvSpPr>
          <p:cNvPr id="14" name="Shape 12"/>
          <p:cNvSpPr/>
          <p:nvPr/>
        </p:nvSpPr>
        <p:spPr>
          <a:xfrm>
            <a:off x="8220456" y="2093976"/>
            <a:ext cx="384048" cy="384048"/>
          </a:xfrm>
          <a:prstGeom prst="ellipse">
            <a:avLst/>
          </a:prstGeom>
          <a:solidFill>
            <a:srgbClr val="8A94A3"/>
          </a:solidFill>
          <a:ln/>
        </p:spPr>
      </p:sp>
      <p:sp>
        <p:nvSpPr>
          <p:cNvPr id="15" name="Shape 13"/>
          <p:cNvSpPr/>
          <p:nvPr/>
        </p:nvSpPr>
        <p:spPr>
          <a:xfrm>
            <a:off x="8220456" y="3739896"/>
            <a:ext cx="384048" cy="384048"/>
          </a:xfrm>
          <a:prstGeom prst="ellipse">
            <a:avLst/>
          </a:prstGeom>
          <a:solidFill>
            <a:srgbClr val="8A94A3"/>
          </a:solidFill>
          <a:ln/>
        </p:spPr>
      </p:sp>
      <p:sp>
        <p:nvSpPr>
          <p:cNvPr id="16" name="Shape 14"/>
          <p:cNvSpPr/>
          <p:nvPr/>
        </p:nvSpPr>
        <p:spPr>
          <a:xfrm>
            <a:off x="9592056" y="1271016"/>
            <a:ext cx="384048" cy="384048"/>
          </a:xfrm>
          <a:prstGeom prst="ellipse">
            <a:avLst/>
          </a:prstGeom>
          <a:solidFill>
            <a:srgbClr val="0E7C7B"/>
          </a:solidFill>
          <a:ln/>
        </p:spPr>
      </p:sp>
      <p:sp>
        <p:nvSpPr>
          <p:cNvPr id="17" name="Shape 15"/>
          <p:cNvSpPr/>
          <p:nvPr/>
        </p:nvSpPr>
        <p:spPr>
          <a:xfrm>
            <a:off x="9592056" y="2916936"/>
            <a:ext cx="384048" cy="384048"/>
          </a:xfrm>
          <a:prstGeom prst="ellipse">
            <a:avLst/>
          </a:prstGeom>
          <a:solidFill>
            <a:srgbClr val="0E7C7B"/>
          </a:solidFill>
          <a:ln/>
        </p:spPr>
      </p:sp>
      <p:sp>
        <p:nvSpPr>
          <p:cNvPr id="18" name="Shape 16"/>
          <p:cNvSpPr/>
          <p:nvPr/>
        </p:nvSpPr>
        <p:spPr>
          <a:xfrm>
            <a:off x="9592056" y="4562856"/>
            <a:ext cx="384048" cy="384048"/>
          </a:xfrm>
          <a:prstGeom prst="ellipse">
            <a:avLst/>
          </a:prstGeom>
          <a:solidFill>
            <a:srgbClr val="0E7C7B"/>
          </a:solidFill>
          <a:ln/>
        </p:spPr>
      </p:sp>
      <p:sp>
        <p:nvSpPr>
          <p:cNvPr id="19" name="Shape 17"/>
          <p:cNvSpPr/>
          <p:nvPr/>
        </p:nvSpPr>
        <p:spPr>
          <a:xfrm>
            <a:off x="10963656" y="2916936"/>
            <a:ext cx="384048" cy="384048"/>
          </a:xfrm>
          <a:prstGeom prst="ellipse">
            <a:avLst/>
          </a:prstGeom>
          <a:solidFill>
            <a:srgbClr val="0E7C7B"/>
          </a:solidFill>
          <a:ln/>
        </p:spPr>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Backpropagation: every gradient in one backward sweep</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work through it by hand</a:t>
            </a:r>
            <a:endParaRPr lang="en-US" sz="1100" dirty="0"/>
          </a:p>
        </p:txBody>
      </p:sp>
      <p:sp>
        <p:nvSpPr>
          <p:cNvPr id="6" name="Shape 3"/>
          <p:cNvSpPr/>
          <p:nvPr/>
        </p:nvSpPr>
        <p:spPr>
          <a:xfrm>
            <a:off x="548640" y="1371600"/>
            <a:ext cx="3474720" cy="2194560"/>
          </a:xfrm>
          <a:prstGeom prst="roundRect">
            <a:avLst>
              <a:gd name="adj" fmla="val 3333"/>
            </a:avLst>
          </a:prstGeom>
          <a:solidFill>
            <a:srgbClr val="FBE9E7"/>
          </a:solidFill>
          <a:ln/>
        </p:spPr>
      </p:sp>
      <p:sp>
        <p:nvSpPr>
          <p:cNvPr id="7" name="Text 4"/>
          <p:cNvSpPr txBox="1"/>
          <p:nvPr/>
        </p:nvSpPr>
        <p:spPr>
          <a:xfrm>
            <a:off x="777240" y="1481328"/>
            <a:ext cx="310896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B83227"/>
                </a:solidFill>
                <a:latin typeface="Calibri" pitchFamily="34" charset="0"/>
                <a:ea typeface="Calibri" pitchFamily="34" charset="-122"/>
                <a:cs typeface="Calibri" pitchFamily="34" charset="-120"/>
              </a:rPr>
              <a:t>FINITE DIFFERENCES</a:t>
            </a:r>
            <a:endParaRPr lang="en-US" sz="1100" dirty="0"/>
          </a:p>
        </p:txBody>
      </p:sp>
      <p:sp>
        <p:nvSpPr>
          <p:cNvPr id="8" name="Text 5"/>
          <p:cNvSpPr txBox="1"/>
          <p:nvPr/>
        </p:nvSpPr>
        <p:spPr>
          <a:xfrm>
            <a:off x="777240" y="1783080"/>
            <a:ext cx="3108960" cy="777240"/>
          </a:xfrm>
          <a:prstGeom prst="rect">
            <a:avLst/>
          </a:prstGeom>
          <a:noFill/>
          <a:ln/>
        </p:spPr>
        <p:txBody>
          <a:bodyPr wrap="square" lIns="0" tIns="0" rIns="0" bIns="0" rtlCol="0" anchor="t"/>
          <a:lstStyle/>
          <a:p>
            <a:pPr algn="l" indent="0" marL="0">
              <a:lnSpc>
                <a:spcPct val="100000"/>
              </a:lnSpc>
              <a:buNone/>
            </a:pPr>
            <a:r>
              <a:rPr lang="en-US" sz="4400" b="1" dirty="0">
                <a:solidFill>
                  <a:srgbClr val="B83227"/>
                </a:solidFill>
                <a:latin typeface="Cambria" pitchFamily="34" charset="0"/>
                <a:ea typeface="Cambria" pitchFamily="34" charset="-122"/>
                <a:cs typeface="Cambria" pitchFamily="34" charset="-120"/>
              </a:rPr>
              <a:t>10</a:t>
            </a:r>
            <a:pPr algn="l" indent="0" marL="0">
              <a:lnSpc>
                <a:spcPct val="100000"/>
              </a:lnSpc>
              <a:buNone/>
            </a:pPr>
            <a:r>
              <a:rPr lang="en-US" sz="4400" b="1" baseline="30000" dirty="0">
                <a:solidFill>
                  <a:srgbClr val="B83227"/>
                </a:solidFill>
                <a:latin typeface="Cambria" pitchFamily="34" charset="0"/>
                <a:ea typeface="Cambria" pitchFamily="34" charset="-122"/>
                <a:cs typeface="Cambria" pitchFamily="34" charset="-120"/>
              </a:rPr>
              <a:t>8</a:t>
            </a:r>
            <a:endParaRPr lang="en-US" sz="4400" dirty="0"/>
          </a:p>
        </p:txBody>
      </p:sp>
      <p:sp>
        <p:nvSpPr>
          <p:cNvPr id="9" name="Text 6"/>
          <p:cNvSpPr txBox="1"/>
          <p:nvPr/>
        </p:nvSpPr>
        <p:spPr>
          <a:xfrm>
            <a:off x="777240" y="2606040"/>
            <a:ext cx="3108960" cy="82296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forward passes per gradient ≈ 28 hours at 1 ms each</a:t>
            </a:r>
            <a:endParaRPr lang="en-US" sz="1500" dirty="0"/>
          </a:p>
        </p:txBody>
      </p:sp>
      <p:sp>
        <p:nvSpPr>
          <p:cNvPr id="10" name="Shape 7"/>
          <p:cNvSpPr/>
          <p:nvPr/>
        </p:nvSpPr>
        <p:spPr>
          <a:xfrm>
            <a:off x="548640" y="3749040"/>
            <a:ext cx="3474720" cy="2377440"/>
          </a:xfrm>
          <a:prstGeom prst="roundRect">
            <a:avLst>
              <a:gd name="adj" fmla="val 3077"/>
            </a:avLst>
          </a:prstGeom>
          <a:solidFill>
            <a:srgbClr val="E3F2F1"/>
          </a:solidFill>
          <a:ln/>
        </p:spPr>
      </p:sp>
      <p:sp>
        <p:nvSpPr>
          <p:cNvPr id="11" name="Text 8"/>
          <p:cNvSpPr txBox="1"/>
          <p:nvPr/>
        </p:nvSpPr>
        <p:spPr>
          <a:xfrm>
            <a:off x="777240" y="3858768"/>
            <a:ext cx="310896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BACKPROPAGATION</a:t>
            </a:r>
            <a:endParaRPr lang="en-US" sz="1100" dirty="0"/>
          </a:p>
        </p:txBody>
      </p:sp>
      <p:sp>
        <p:nvSpPr>
          <p:cNvPr id="12" name="Text 9"/>
          <p:cNvSpPr txBox="1"/>
          <p:nvPr/>
        </p:nvSpPr>
        <p:spPr>
          <a:xfrm>
            <a:off x="777240" y="4160520"/>
            <a:ext cx="3108960" cy="777240"/>
          </a:xfrm>
          <a:prstGeom prst="rect">
            <a:avLst/>
          </a:prstGeom>
          <a:noFill/>
          <a:ln/>
        </p:spPr>
        <p:txBody>
          <a:bodyPr wrap="square" lIns="0" tIns="0" rIns="0" bIns="0" rtlCol="0" anchor="t"/>
          <a:lstStyle/>
          <a:p>
            <a:pPr algn="l" indent="0" marL="0">
              <a:lnSpc>
                <a:spcPct val="100000"/>
              </a:lnSpc>
              <a:buNone/>
            </a:pPr>
            <a:r>
              <a:rPr lang="en-US" sz="4400" b="1" dirty="0">
                <a:solidFill>
                  <a:srgbClr val="0E7C7B"/>
                </a:solidFill>
                <a:latin typeface="Cambria" pitchFamily="34" charset="0"/>
                <a:ea typeface="Cambria" pitchFamily="34" charset="-122"/>
                <a:cs typeface="Cambria" pitchFamily="34" charset="-120"/>
              </a:rPr>
              <a:t>1 + 1</a:t>
            </a:r>
            <a:endParaRPr lang="en-US" sz="4400" dirty="0"/>
          </a:p>
        </p:txBody>
      </p:sp>
      <p:sp>
        <p:nvSpPr>
          <p:cNvPr id="13" name="Text 10"/>
          <p:cNvSpPr txBox="1"/>
          <p:nvPr/>
        </p:nvSpPr>
        <p:spPr>
          <a:xfrm>
            <a:off x="777240" y="4983480"/>
            <a:ext cx="3108960" cy="10058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one forward and one backward sweep — backward costs a small multiple of forward</a:t>
            </a:r>
            <a:endParaRPr lang="en-US" sz="1500" dirty="0"/>
          </a:p>
        </p:txBody>
      </p:sp>
      <p:sp>
        <p:nvSpPr>
          <p:cNvPr id="14" name="Shape 11"/>
          <p:cNvSpPr/>
          <p:nvPr/>
        </p:nvSpPr>
        <p:spPr>
          <a:xfrm>
            <a:off x="5074920" y="1755648"/>
            <a:ext cx="868680" cy="914"/>
          </a:xfrm>
          <a:prstGeom prst="line">
            <a:avLst/>
          </a:prstGeom>
          <a:noFill/>
          <a:ln w="22225">
            <a:solidFill>
              <a:srgbClr val="0E7C7B"/>
            </a:solidFill>
            <a:prstDash val="solid"/>
            <a:tailEnd type="triangle"/>
          </a:ln>
        </p:spPr>
      </p:sp>
      <p:sp>
        <p:nvSpPr>
          <p:cNvPr id="15" name="Shape 12"/>
          <p:cNvSpPr/>
          <p:nvPr/>
        </p:nvSpPr>
        <p:spPr>
          <a:xfrm flipH="1">
            <a:off x="5074920" y="1920240"/>
            <a:ext cx="868680" cy="914"/>
          </a:xfrm>
          <a:prstGeom prst="line">
            <a:avLst/>
          </a:prstGeom>
          <a:noFill/>
          <a:ln w="22225">
            <a:solidFill>
              <a:srgbClr val="D9611A"/>
            </a:solidFill>
            <a:prstDash val="solid"/>
            <a:tailEnd type="triangle"/>
          </a:ln>
        </p:spPr>
      </p:sp>
      <p:sp>
        <p:nvSpPr>
          <p:cNvPr id="16" name="Shape 13"/>
          <p:cNvSpPr/>
          <p:nvPr/>
        </p:nvSpPr>
        <p:spPr>
          <a:xfrm>
            <a:off x="4471416" y="1545336"/>
            <a:ext cx="566928" cy="566928"/>
          </a:xfrm>
          <a:prstGeom prst="ellipse">
            <a:avLst/>
          </a:prstGeom>
          <a:solidFill>
            <a:srgbClr val="FFFFFF"/>
          </a:solidFill>
          <a:ln w="19050">
            <a:solidFill>
              <a:srgbClr val="8A94A3"/>
            </a:solidFill>
            <a:prstDash val="solid"/>
          </a:ln>
        </p:spPr>
      </p:sp>
      <p:sp>
        <p:nvSpPr>
          <p:cNvPr id="17" name="Text 14"/>
          <p:cNvSpPr txBox="1"/>
          <p:nvPr/>
        </p:nvSpPr>
        <p:spPr>
          <a:xfrm>
            <a:off x="448056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x</a:t>
            </a:r>
            <a:endParaRPr lang="en-US" sz="1900" dirty="0"/>
          </a:p>
        </p:txBody>
      </p:sp>
      <p:sp>
        <p:nvSpPr>
          <p:cNvPr id="18" name="Shape 15"/>
          <p:cNvSpPr/>
          <p:nvPr/>
        </p:nvSpPr>
        <p:spPr>
          <a:xfrm>
            <a:off x="6583680" y="1755648"/>
            <a:ext cx="868680" cy="914"/>
          </a:xfrm>
          <a:prstGeom prst="line">
            <a:avLst/>
          </a:prstGeom>
          <a:noFill/>
          <a:ln w="22225">
            <a:solidFill>
              <a:srgbClr val="0E7C7B"/>
            </a:solidFill>
            <a:prstDash val="solid"/>
            <a:tailEnd type="triangle"/>
          </a:ln>
        </p:spPr>
      </p:sp>
      <p:sp>
        <p:nvSpPr>
          <p:cNvPr id="19" name="Shape 16"/>
          <p:cNvSpPr/>
          <p:nvPr/>
        </p:nvSpPr>
        <p:spPr>
          <a:xfrm flipH="1">
            <a:off x="6583680" y="1920240"/>
            <a:ext cx="868680" cy="914"/>
          </a:xfrm>
          <a:prstGeom prst="line">
            <a:avLst/>
          </a:prstGeom>
          <a:noFill/>
          <a:ln w="22225">
            <a:solidFill>
              <a:srgbClr val="D9611A"/>
            </a:solidFill>
            <a:prstDash val="solid"/>
            <a:tailEnd type="triangle"/>
          </a:ln>
        </p:spPr>
      </p:sp>
      <p:sp>
        <p:nvSpPr>
          <p:cNvPr id="20" name="Shape 17"/>
          <p:cNvSpPr/>
          <p:nvPr/>
        </p:nvSpPr>
        <p:spPr>
          <a:xfrm>
            <a:off x="5980176" y="1545336"/>
            <a:ext cx="566928" cy="566928"/>
          </a:xfrm>
          <a:prstGeom prst="ellipse">
            <a:avLst/>
          </a:prstGeom>
          <a:solidFill>
            <a:srgbClr val="FFFFFF"/>
          </a:solidFill>
          <a:ln w="19050">
            <a:solidFill>
              <a:srgbClr val="8A94A3"/>
            </a:solidFill>
            <a:prstDash val="solid"/>
          </a:ln>
        </p:spPr>
      </p:sp>
      <p:sp>
        <p:nvSpPr>
          <p:cNvPr id="21" name="Text 18"/>
          <p:cNvSpPr txBox="1"/>
          <p:nvPr/>
        </p:nvSpPr>
        <p:spPr>
          <a:xfrm>
            <a:off x="598932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a</a:t>
            </a:r>
            <a:endParaRPr lang="en-US" sz="1900" dirty="0"/>
          </a:p>
        </p:txBody>
      </p:sp>
      <p:sp>
        <p:nvSpPr>
          <p:cNvPr id="22" name="Shape 19"/>
          <p:cNvSpPr/>
          <p:nvPr/>
        </p:nvSpPr>
        <p:spPr>
          <a:xfrm>
            <a:off x="8092440" y="1755648"/>
            <a:ext cx="868680" cy="914"/>
          </a:xfrm>
          <a:prstGeom prst="line">
            <a:avLst/>
          </a:prstGeom>
          <a:noFill/>
          <a:ln w="22225">
            <a:solidFill>
              <a:srgbClr val="0E7C7B"/>
            </a:solidFill>
            <a:prstDash val="solid"/>
            <a:tailEnd type="triangle"/>
          </a:ln>
        </p:spPr>
      </p:sp>
      <p:sp>
        <p:nvSpPr>
          <p:cNvPr id="23" name="Shape 20"/>
          <p:cNvSpPr/>
          <p:nvPr/>
        </p:nvSpPr>
        <p:spPr>
          <a:xfrm flipH="1">
            <a:off x="8092440" y="1920240"/>
            <a:ext cx="868680" cy="914"/>
          </a:xfrm>
          <a:prstGeom prst="line">
            <a:avLst/>
          </a:prstGeom>
          <a:noFill/>
          <a:ln w="22225">
            <a:solidFill>
              <a:srgbClr val="D9611A"/>
            </a:solidFill>
            <a:prstDash val="solid"/>
            <a:tailEnd type="triangle"/>
          </a:ln>
        </p:spPr>
      </p:sp>
      <p:sp>
        <p:nvSpPr>
          <p:cNvPr id="24" name="Shape 21"/>
          <p:cNvSpPr/>
          <p:nvPr/>
        </p:nvSpPr>
        <p:spPr>
          <a:xfrm>
            <a:off x="7488936" y="1545336"/>
            <a:ext cx="566928" cy="566928"/>
          </a:xfrm>
          <a:prstGeom prst="ellipse">
            <a:avLst/>
          </a:prstGeom>
          <a:solidFill>
            <a:srgbClr val="FFFFFF"/>
          </a:solidFill>
          <a:ln w="19050">
            <a:solidFill>
              <a:srgbClr val="8A94A3"/>
            </a:solidFill>
            <a:prstDash val="solid"/>
          </a:ln>
        </p:spPr>
      </p:sp>
      <p:sp>
        <p:nvSpPr>
          <p:cNvPr id="25" name="Text 22"/>
          <p:cNvSpPr txBox="1"/>
          <p:nvPr/>
        </p:nvSpPr>
        <p:spPr>
          <a:xfrm>
            <a:off x="749808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b</a:t>
            </a:r>
            <a:endParaRPr lang="en-US" sz="1900" dirty="0"/>
          </a:p>
        </p:txBody>
      </p:sp>
      <p:sp>
        <p:nvSpPr>
          <p:cNvPr id="26" name="Shape 23"/>
          <p:cNvSpPr/>
          <p:nvPr/>
        </p:nvSpPr>
        <p:spPr>
          <a:xfrm>
            <a:off x="9601200" y="1755648"/>
            <a:ext cx="914400" cy="914"/>
          </a:xfrm>
          <a:prstGeom prst="line">
            <a:avLst/>
          </a:prstGeom>
          <a:noFill/>
          <a:ln w="22225">
            <a:solidFill>
              <a:srgbClr val="0E7C7B"/>
            </a:solidFill>
            <a:prstDash val="solid"/>
            <a:tailEnd type="triangle"/>
          </a:ln>
        </p:spPr>
      </p:sp>
      <p:sp>
        <p:nvSpPr>
          <p:cNvPr id="27" name="Shape 24"/>
          <p:cNvSpPr/>
          <p:nvPr/>
        </p:nvSpPr>
        <p:spPr>
          <a:xfrm flipH="1">
            <a:off x="9601200" y="1920240"/>
            <a:ext cx="914400" cy="914"/>
          </a:xfrm>
          <a:prstGeom prst="line">
            <a:avLst/>
          </a:prstGeom>
          <a:noFill/>
          <a:ln w="22225">
            <a:solidFill>
              <a:srgbClr val="D9611A"/>
            </a:solidFill>
            <a:prstDash val="solid"/>
            <a:tailEnd type="triangle"/>
          </a:ln>
        </p:spPr>
      </p:sp>
      <p:sp>
        <p:nvSpPr>
          <p:cNvPr id="28" name="Shape 25"/>
          <p:cNvSpPr/>
          <p:nvPr/>
        </p:nvSpPr>
        <p:spPr>
          <a:xfrm>
            <a:off x="8997696" y="1545336"/>
            <a:ext cx="566928" cy="566928"/>
          </a:xfrm>
          <a:prstGeom prst="ellipse">
            <a:avLst/>
          </a:prstGeom>
          <a:solidFill>
            <a:srgbClr val="FFFFFF"/>
          </a:solidFill>
          <a:ln w="19050">
            <a:solidFill>
              <a:srgbClr val="8A94A3"/>
            </a:solidFill>
            <a:prstDash val="solid"/>
          </a:ln>
        </p:spPr>
      </p:sp>
      <p:sp>
        <p:nvSpPr>
          <p:cNvPr id="29" name="Text 26"/>
          <p:cNvSpPr txBox="1"/>
          <p:nvPr/>
        </p:nvSpPr>
        <p:spPr>
          <a:xfrm>
            <a:off x="900684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c</a:t>
            </a:r>
            <a:endParaRPr lang="en-US" sz="1900" dirty="0"/>
          </a:p>
        </p:txBody>
      </p:sp>
      <p:sp>
        <p:nvSpPr>
          <p:cNvPr id="30" name="Shape 27"/>
          <p:cNvSpPr/>
          <p:nvPr/>
        </p:nvSpPr>
        <p:spPr>
          <a:xfrm>
            <a:off x="10552176" y="1545336"/>
            <a:ext cx="566928" cy="566928"/>
          </a:xfrm>
          <a:prstGeom prst="ellipse">
            <a:avLst/>
          </a:prstGeom>
          <a:solidFill>
            <a:srgbClr val="16202E"/>
          </a:solidFill>
          <a:ln/>
        </p:spPr>
      </p:sp>
      <p:sp>
        <p:nvSpPr>
          <p:cNvPr id="31" name="Text 28"/>
          <p:cNvSpPr txBox="1"/>
          <p:nvPr/>
        </p:nvSpPr>
        <p:spPr>
          <a:xfrm>
            <a:off x="10561320" y="1627632"/>
            <a:ext cx="54864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FFFFFF"/>
                </a:solidFill>
                <a:latin typeface="Cambria" pitchFamily="34" charset="0"/>
                <a:ea typeface="Cambria" pitchFamily="34" charset="-122"/>
                <a:cs typeface="Cambria" pitchFamily="34" charset="-120"/>
              </a:rPr>
              <a:t>J</a:t>
            </a:r>
            <a:endParaRPr lang="en-US" sz="1900" dirty="0"/>
          </a:p>
        </p:txBody>
      </p:sp>
      <p:sp>
        <p:nvSpPr>
          <p:cNvPr id="32" name="Text 29"/>
          <p:cNvSpPr txBox="1"/>
          <p:nvPr/>
        </p:nvSpPr>
        <p:spPr>
          <a:xfrm>
            <a:off x="5234940" y="1325880"/>
            <a:ext cx="548640" cy="292608"/>
          </a:xfrm>
          <a:prstGeom prst="rect">
            <a:avLst/>
          </a:prstGeom>
          <a:noFill/>
          <a:ln/>
        </p:spPr>
        <p:txBody>
          <a:bodyPr wrap="square" lIns="0" tIns="0" rIns="0" bIns="0" rtlCol="0" anchor="t"/>
          <a:lstStyle/>
          <a:p>
            <a:pPr algn="ctr" indent="0" marL="0">
              <a:lnSpc>
                <a:spcPct val="100000"/>
              </a:lnSpc>
              <a:buNone/>
            </a:pPr>
            <a:r>
              <a:rPr lang="en-US" sz="15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1</a:t>
            </a:r>
            <a:endParaRPr lang="en-US" sz="1500" dirty="0"/>
          </a:p>
        </p:txBody>
      </p:sp>
      <p:sp>
        <p:nvSpPr>
          <p:cNvPr id="33" name="Text 30"/>
          <p:cNvSpPr txBox="1"/>
          <p:nvPr/>
        </p:nvSpPr>
        <p:spPr>
          <a:xfrm>
            <a:off x="6743700" y="1325880"/>
            <a:ext cx="548640" cy="292608"/>
          </a:xfrm>
          <a:prstGeom prst="rect">
            <a:avLst/>
          </a:prstGeom>
          <a:noFill/>
          <a:ln/>
        </p:spPr>
        <p:txBody>
          <a:bodyPr wrap="square" lIns="0" tIns="0" rIns="0" bIns="0" rtlCol="0" anchor="t"/>
          <a:lstStyle/>
          <a:p>
            <a:pPr algn="ctr" indent="0" marL="0">
              <a:lnSpc>
                <a:spcPct val="100000"/>
              </a:lnSpc>
              <a:buNone/>
            </a:pPr>
            <a:r>
              <a:rPr lang="en-US" sz="15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2</a:t>
            </a:r>
            <a:endParaRPr lang="en-US" sz="1500" dirty="0"/>
          </a:p>
        </p:txBody>
      </p:sp>
      <p:sp>
        <p:nvSpPr>
          <p:cNvPr id="34" name="Text 31"/>
          <p:cNvSpPr txBox="1"/>
          <p:nvPr/>
        </p:nvSpPr>
        <p:spPr>
          <a:xfrm>
            <a:off x="8252460" y="1325880"/>
            <a:ext cx="548640" cy="292608"/>
          </a:xfrm>
          <a:prstGeom prst="rect">
            <a:avLst/>
          </a:prstGeom>
          <a:noFill/>
          <a:ln/>
        </p:spPr>
        <p:txBody>
          <a:bodyPr wrap="square" lIns="0" tIns="0" rIns="0" bIns="0" rtlCol="0" anchor="t"/>
          <a:lstStyle/>
          <a:p>
            <a:pPr algn="ctr" indent="0" marL="0">
              <a:lnSpc>
                <a:spcPct val="100000"/>
              </a:lnSpc>
              <a:buNone/>
            </a:pPr>
            <a:r>
              <a:rPr lang="en-US" sz="15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500" baseline="-40000" dirty="0">
                <a:solidFill>
                  <a:srgbClr val="0E7C7B"/>
                </a:solidFill>
                <a:latin typeface="Calibri" pitchFamily="34" charset="0"/>
                <a:ea typeface="Calibri" pitchFamily="34" charset="-122"/>
                <a:cs typeface="Calibri" pitchFamily="34" charset="-120"/>
              </a:rPr>
              <a:t>3</a:t>
            </a:r>
            <a:endParaRPr lang="en-US" sz="1500" dirty="0"/>
          </a:p>
        </p:txBody>
      </p:sp>
      <p:sp>
        <p:nvSpPr>
          <p:cNvPr id="35" name="Text 32"/>
          <p:cNvSpPr txBox="1"/>
          <p:nvPr/>
        </p:nvSpPr>
        <p:spPr>
          <a:xfrm>
            <a:off x="4572000" y="2240280"/>
            <a:ext cx="3200400" cy="274320"/>
          </a:xfrm>
          <a:prstGeom prst="rect">
            <a:avLst/>
          </a:prstGeom>
          <a:noFill/>
          <a:ln/>
        </p:spPr>
        <p:txBody>
          <a:bodyPr wrap="square" lIns="0" tIns="0" rIns="0" bIns="0" rtlCol="0" anchor="t"/>
          <a:lstStyle/>
          <a:p>
            <a:pPr algn="l" indent="0" marL="0">
              <a:lnSpc>
                <a:spcPct val="100000"/>
              </a:lnSpc>
              <a:buNone/>
            </a:pPr>
            <a:r>
              <a:rPr lang="en-US" sz="1300" i="1" dirty="0">
                <a:solidFill>
                  <a:srgbClr val="0E7C7B"/>
                </a:solidFill>
                <a:latin typeface="Calibri" pitchFamily="34" charset="0"/>
                <a:ea typeface="Calibri" pitchFamily="34" charset="-122"/>
                <a:cs typeface="Calibri" pitchFamily="34" charset="-120"/>
              </a:rPr>
              <a:t>forward: compute and cache values</a:t>
            </a:r>
            <a:endParaRPr lang="en-US" sz="1300" dirty="0"/>
          </a:p>
        </p:txBody>
      </p:sp>
      <p:sp>
        <p:nvSpPr>
          <p:cNvPr id="36" name="Text 33"/>
          <p:cNvSpPr txBox="1"/>
          <p:nvPr/>
        </p:nvSpPr>
        <p:spPr>
          <a:xfrm>
            <a:off x="8503920" y="2240280"/>
            <a:ext cx="3108960" cy="274320"/>
          </a:xfrm>
          <a:prstGeom prst="rect">
            <a:avLst/>
          </a:prstGeom>
          <a:noFill/>
          <a:ln/>
        </p:spPr>
        <p:txBody>
          <a:bodyPr wrap="square" lIns="0" tIns="0" rIns="0" bIns="0" rtlCol="0" anchor="t"/>
          <a:lstStyle/>
          <a:p>
            <a:pPr algn="r" indent="0" marL="0">
              <a:lnSpc>
                <a:spcPct val="100000"/>
              </a:lnSpc>
              <a:buNone/>
            </a:pPr>
            <a:r>
              <a:rPr lang="en-US" sz="1300" i="1" dirty="0">
                <a:solidFill>
                  <a:srgbClr val="D9611A"/>
                </a:solidFill>
                <a:latin typeface="Calibri" pitchFamily="34" charset="0"/>
                <a:ea typeface="Calibri" pitchFamily="34" charset="-122"/>
                <a:cs typeface="Calibri" pitchFamily="34" charset="-120"/>
              </a:rPr>
              <a:t>backward: one sweep from J</a:t>
            </a:r>
            <a:endParaRPr lang="en-US" sz="1300" dirty="0"/>
          </a:p>
        </p:txBody>
      </p:sp>
      <p:sp>
        <p:nvSpPr>
          <p:cNvPr id="37" name="Shape 34"/>
          <p:cNvSpPr/>
          <p:nvPr/>
        </p:nvSpPr>
        <p:spPr>
          <a:xfrm>
            <a:off x="4343400" y="2697480"/>
            <a:ext cx="7296912" cy="2194560"/>
          </a:xfrm>
          <a:prstGeom prst="roundRect">
            <a:avLst>
              <a:gd name="adj" fmla="val 3333"/>
            </a:avLst>
          </a:prstGeom>
          <a:solidFill>
            <a:srgbClr val="F3F5F8"/>
          </a:solidFill>
          <a:ln/>
        </p:spPr>
      </p:sp>
      <p:pic>
        <p:nvPicPr>
          <p:cNvPr id="38" name="Image 0" descr="equation chain_w2">    </p:cNvPr>
          <p:cNvPicPr>
            <a:picLocks noChangeAspect="1"/>
          </p:cNvPicPr>
          <p:nvPr/>
        </p:nvPicPr>
        <p:blipFill>
          <a:blip r:embed="rId1"/>
          <a:stretch>
            <a:fillRect/>
          </a:stretch>
        </p:blipFill>
        <p:spPr>
          <a:xfrm>
            <a:off x="4572000" y="2816352"/>
            <a:ext cx="1513423" cy="555498"/>
          </a:xfrm>
          <a:prstGeom prst="rect">
            <a:avLst/>
          </a:prstGeom>
        </p:spPr>
      </p:pic>
      <p:pic>
        <p:nvPicPr>
          <p:cNvPr id="39" name="Image 1" descr="equation chain_w1">    </p:cNvPr>
          <p:cNvPicPr>
            <a:picLocks noChangeAspect="1"/>
          </p:cNvPicPr>
          <p:nvPr/>
        </p:nvPicPr>
        <p:blipFill>
          <a:blip r:embed="rId2"/>
          <a:stretch>
            <a:fillRect/>
          </a:stretch>
        </p:blipFill>
        <p:spPr>
          <a:xfrm>
            <a:off x="6675120" y="2816352"/>
            <a:ext cx="1775125" cy="555498"/>
          </a:xfrm>
          <a:prstGeom prst="rect">
            <a:avLst/>
          </a:prstGeom>
        </p:spPr>
      </p:pic>
      <p:pic>
        <p:nvPicPr>
          <p:cNvPr id="40" name="Image 2" descr="equation chain_w0">    </p:cNvPr>
          <p:cNvPicPr>
            <a:picLocks noChangeAspect="1"/>
          </p:cNvPicPr>
          <p:nvPr/>
        </p:nvPicPr>
        <p:blipFill>
          <a:blip r:embed="rId3"/>
          <a:stretch>
            <a:fillRect/>
          </a:stretch>
        </p:blipFill>
        <p:spPr>
          <a:xfrm>
            <a:off x="4572000" y="3794760"/>
            <a:ext cx="2059046" cy="555498"/>
          </a:xfrm>
          <a:prstGeom prst="rect">
            <a:avLst/>
          </a:prstGeom>
        </p:spPr>
      </p:pic>
      <p:sp>
        <p:nvSpPr>
          <p:cNvPr id="41" name="Text 35"/>
          <p:cNvSpPr txBox="1"/>
          <p:nvPr/>
        </p:nvSpPr>
        <p:spPr>
          <a:xfrm>
            <a:off x="8732520" y="3703320"/>
            <a:ext cx="2788920" cy="1097280"/>
          </a:xfrm>
          <a:prstGeom prst="rect">
            <a:avLst/>
          </a:prstGeom>
          <a:noFill/>
          <a:ln/>
        </p:spPr>
        <p:txBody>
          <a:bodyPr wrap="square" lIns="0" tIns="0" rIns="0" bIns="0" rtlCol="0" anchor="t"/>
          <a:lstStyle/>
          <a:p>
            <a:pPr algn="l" indent="0" marL="0">
              <a:lnSpc>
                <a:spcPct val="100000"/>
              </a:lnSpc>
              <a:buNone/>
            </a:pPr>
            <a:r>
              <a:rPr lang="en-US" sz="1450" dirty="0">
                <a:solidFill>
                  <a:srgbClr val="D9611A"/>
                </a:solidFill>
                <a:latin typeface="Calibri" pitchFamily="34" charset="0"/>
                <a:ea typeface="Calibri" pitchFamily="34" charset="-122"/>
                <a:cs typeface="Calibri" pitchFamily="34" charset="-120"/>
              </a:rPr>
              <a:t>The </a:t>
            </a:r>
            <a:pPr algn="l" indent="0" marL="0">
              <a:lnSpc>
                <a:spcPct val="100000"/>
              </a:lnSpc>
              <a:buNone/>
            </a:pPr>
            <a:r>
              <a:rPr lang="en-US" sz="1450" b="1" dirty="0">
                <a:solidFill>
                  <a:srgbClr val="D9611A"/>
                </a:solidFill>
                <a:latin typeface="Calibri" pitchFamily="34" charset="0"/>
                <a:ea typeface="Calibri" pitchFamily="34" charset="-122"/>
                <a:cs typeface="Calibri" pitchFamily="34" charset="-120"/>
              </a:rPr>
              <a:t>orange</a:t>
            </a:r>
            <a:pPr algn="l" indent="0" marL="0">
              <a:lnSpc>
                <a:spcPct val="100000"/>
              </a:lnSpc>
              <a:buNone/>
            </a:pPr>
            <a:r>
              <a:rPr lang="en-US" sz="1450" dirty="0">
                <a:solidFill>
                  <a:srgbClr val="D9611A"/>
                </a:solidFill>
                <a:latin typeface="Calibri" pitchFamily="34" charset="0"/>
                <a:ea typeface="Calibri" pitchFamily="34" charset="-122"/>
                <a:cs typeface="Calibri" pitchFamily="34" charset="-120"/>
              </a:rPr>
              <a:t> factors are shared: computed once, going backward, and reused for every earlier weight.</a:t>
            </a:r>
            <a:endParaRPr lang="en-US" sz="1450" dirty="0"/>
          </a:p>
        </p:txBody>
      </p:sp>
      <p:sp>
        <p:nvSpPr>
          <p:cNvPr id="42" name="Shape 36"/>
          <p:cNvSpPr/>
          <p:nvPr/>
        </p:nvSpPr>
        <p:spPr>
          <a:xfrm>
            <a:off x="4343400" y="5074920"/>
            <a:ext cx="7296912" cy="1051560"/>
          </a:xfrm>
          <a:prstGeom prst="roundRect">
            <a:avLst>
              <a:gd name="adj" fmla="val 6957"/>
            </a:avLst>
          </a:prstGeom>
          <a:solidFill>
            <a:srgbClr val="16202E"/>
          </a:solidFill>
          <a:ln/>
        </p:spPr>
      </p:sp>
      <p:sp>
        <p:nvSpPr>
          <p:cNvPr id="43" name="Text 37"/>
          <p:cNvSpPr txBox="1"/>
          <p:nvPr/>
        </p:nvSpPr>
        <p:spPr>
          <a:xfrm>
            <a:off x="4572000" y="5074920"/>
            <a:ext cx="6858000" cy="1051560"/>
          </a:xfrm>
          <a:prstGeom prst="rect">
            <a:avLst/>
          </a:prstGeom>
          <a:noFill/>
          <a:ln/>
        </p:spPr>
        <p:txBody>
          <a:bodyPr wrap="square" lIns="0" tIns="0" rIns="0" bIns="0" rtlCol="0" anchor="ctr"/>
          <a:lstStyle/>
          <a:p>
            <a:pPr algn="l" indent="0" marL="0">
              <a:lnSpc>
                <a:spcPct val="100000"/>
              </a:lnSpc>
              <a:buNone/>
            </a:pPr>
            <a:r>
              <a:rPr lang="en-US" sz="1550" b="1" dirty="0">
                <a:solidFill>
                  <a:srgbClr val="FFFFFF"/>
                </a:solidFill>
                <a:latin typeface="Calibri" pitchFamily="34" charset="0"/>
                <a:ea typeface="Calibri" pitchFamily="34" charset="-122"/>
                <a:cs typeface="Calibri" pitchFamily="34" charset="-120"/>
              </a:rPr>
              <a:t>Backprop = the chain rule, evaluated from the output back, reusing shared factors.</a:t>
            </a:r>
            <a:pPr algn="l" indent="0" marL="0">
              <a:lnSpc>
                <a:spcPct val="100000"/>
              </a:lnSpc>
              <a:buNone/>
            </a:pPr>
            <a:r>
              <a:rPr lang="en-US" sz="1550" dirty="0">
                <a:solidFill>
                  <a:srgbClr val="FFFFFF"/>
                </a:solidFill>
                <a:latin typeface="Calibri" pitchFamily="34" charset="0"/>
                <a:ea typeface="Calibri" pitchFamily="34" charset="-122"/>
                <a:cs typeface="Calibri" pitchFamily="34" charset="-120"/>
              </a:rPr>
              <a:t> It computes gradients; the optimizer (SGD, Adam) uses them.</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WORKED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Worked example, your turn: run the forward pass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check your numbers</a:t>
            </a:r>
            <a:endParaRPr lang="en-US" sz="1100" dirty="0"/>
          </a:p>
        </p:txBody>
      </p:sp>
      <p:sp>
        <p:nvSpPr>
          <p:cNvPr id="6" name="Shape 3"/>
          <p:cNvSpPr/>
          <p:nvPr/>
        </p:nvSpPr>
        <p:spPr>
          <a:xfrm>
            <a:off x="1243584" y="2103120"/>
            <a:ext cx="1490472" cy="914"/>
          </a:xfrm>
          <a:prstGeom prst="line">
            <a:avLst/>
          </a:prstGeom>
          <a:noFill/>
          <a:ln w="22225">
            <a:solidFill>
              <a:srgbClr val="0E7C7B"/>
            </a:solidFill>
            <a:prstDash val="solid"/>
            <a:tailEnd type="triangle"/>
          </a:ln>
        </p:spPr>
      </p:sp>
      <p:sp>
        <p:nvSpPr>
          <p:cNvPr id="7" name="Text 4"/>
          <p:cNvSpPr txBox="1"/>
          <p:nvPr/>
        </p:nvSpPr>
        <p:spPr>
          <a:xfrm>
            <a:off x="144018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endParaRPr lang="en-US" sz="1300" dirty="0"/>
          </a:p>
        </p:txBody>
      </p:sp>
      <p:sp>
        <p:nvSpPr>
          <p:cNvPr id="8" name="Shape 5"/>
          <p:cNvSpPr/>
          <p:nvPr/>
        </p:nvSpPr>
        <p:spPr>
          <a:xfrm>
            <a:off x="612648" y="1801368"/>
            <a:ext cx="603504" cy="603504"/>
          </a:xfrm>
          <a:prstGeom prst="ellipse">
            <a:avLst/>
          </a:prstGeom>
          <a:solidFill>
            <a:srgbClr val="FFFFFF"/>
          </a:solidFill>
          <a:ln w="19050">
            <a:solidFill>
              <a:srgbClr val="8A94A3"/>
            </a:solidFill>
            <a:prstDash val="solid"/>
          </a:ln>
        </p:spPr>
      </p:sp>
      <p:sp>
        <p:nvSpPr>
          <p:cNvPr id="9" name="Text 6"/>
          <p:cNvSpPr txBox="1"/>
          <p:nvPr/>
        </p:nvSpPr>
        <p:spPr>
          <a:xfrm>
            <a:off x="61264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x</a:t>
            </a:r>
            <a:endParaRPr lang="en-US" sz="1700" dirty="0"/>
          </a:p>
        </p:txBody>
      </p:sp>
      <p:sp>
        <p:nvSpPr>
          <p:cNvPr id="10" name="Text 7"/>
          <p:cNvSpPr txBox="1"/>
          <p:nvPr/>
        </p:nvSpPr>
        <p:spPr>
          <a:xfrm>
            <a:off x="27432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2.0</a:t>
            </a:r>
            <a:endParaRPr lang="en-US" sz="1700" dirty="0"/>
          </a:p>
        </p:txBody>
      </p:sp>
      <p:sp>
        <p:nvSpPr>
          <p:cNvPr id="11" name="Shape 8"/>
          <p:cNvSpPr/>
          <p:nvPr/>
        </p:nvSpPr>
        <p:spPr>
          <a:xfrm>
            <a:off x="3392424" y="2103120"/>
            <a:ext cx="1490472" cy="914"/>
          </a:xfrm>
          <a:prstGeom prst="line">
            <a:avLst/>
          </a:prstGeom>
          <a:noFill/>
          <a:ln w="22225">
            <a:solidFill>
              <a:srgbClr val="0E7C7B"/>
            </a:solidFill>
            <a:prstDash val="solid"/>
            <a:tailEnd type="triangle"/>
          </a:ln>
        </p:spPr>
      </p:sp>
      <p:sp>
        <p:nvSpPr>
          <p:cNvPr id="12" name="Text 9"/>
          <p:cNvSpPr txBox="1"/>
          <p:nvPr/>
        </p:nvSpPr>
        <p:spPr>
          <a:xfrm>
            <a:off x="358902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13" name="Shape 10"/>
          <p:cNvSpPr/>
          <p:nvPr/>
        </p:nvSpPr>
        <p:spPr>
          <a:xfrm>
            <a:off x="2761488" y="1801368"/>
            <a:ext cx="603504" cy="603504"/>
          </a:xfrm>
          <a:prstGeom prst="ellipse">
            <a:avLst/>
          </a:prstGeom>
          <a:solidFill>
            <a:srgbClr val="FFFFFF"/>
          </a:solidFill>
          <a:ln w="19050">
            <a:solidFill>
              <a:srgbClr val="8A94A3"/>
            </a:solidFill>
            <a:prstDash val="solid"/>
          </a:ln>
        </p:spPr>
      </p:sp>
      <p:sp>
        <p:nvSpPr>
          <p:cNvPr id="14" name="Text 11"/>
          <p:cNvSpPr txBox="1"/>
          <p:nvPr/>
        </p:nvSpPr>
        <p:spPr>
          <a:xfrm>
            <a:off x="276148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15" name="Text 12"/>
          <p:cNvSpPr txBox="1"/>
          <p:nvPr/>
        </p:nvSpPr>
        <p:spPr>
          <a:xfrm>
            <a:off x="242316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16" name="Shape 13"/>
          <p:cNvSpPr/>
          <p:nvPr/>
        </p:nvSpPr>
        <p:spPr>
          <a:xfrm>
            <a:off x="5541264" y="2103120"/>
            <a:ext cx="1490472" cy="914"/>
          </a:xfrm>
          <a:prstGeom prst="line">
            <a:avLst/>
          </a:prstGeom>
          <a:noFill/>
          <a:ln w="22225">
            <a:solidFill>
              <a:srgbClr val="0E7C7B"/>
            </a:solidFill>
            <a:prstDash val="solid"/>
            <a:tailEnd type="triangle"/>
          </a:ln>
        </p:spPr>
      </p:sp>
      <p:sp>
        <p:nvSpPr>
          <p:cNvPr id="17" name="Text 14"/>
          <p:cNvSpPr txBox="1"/>
          <p:nvPr/>
        </p:nvSpPr>
        <p:spPr>
          <a:xfrm>
            <a:off x="573786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endParaRPr lang="en-US" sz="1300" dirty="0"/>
          </a:p>
        </p:txBody>
      </p:sp>
      <p:sp>
        <p:nvSpPr>
          <p:cNvPr id="18" name="Shape 15"/>
          <p:cNvSpPr/>
          <p:nvPr/>
        </p:nvSpPr>
        <p:spPr>
          <a:xfrm>
            <a:off x="4910328" y="1801368"/>
            <a:ext cx="603504" cy="603504"/>
          </a:xfrm>
          <a:prstGeom prst="ellipse">
            <a:avLst/>
          </a:prstGeom>
          <a:solidFill>
            <a:srgbClr val="FFFFFF"/>
          </a:solidFill>
          <a:ln w="19050">
            <a:solidFill>
              <a:srgbClr val="8A94A3"/>
            </a:solidFill>
            <a:prstDash val="solid"/>
          </a:ln>
        </p:spPr>
      </p:sp>
      <p:sp>
        <p:nvSpPr>
          <p:cNvPr id="19" name="Text 16"/>
          <p:cNvSpPr txBox="1"/>
          <p:nvPr/>
        </p:nvSpPr>
        <p:spPr>
          <a:xfrm>
            <a:off x="491032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20" name="Text 17"/>
          <p:cNvSpPr txBox="1"/>
          <p:nvPr/>
        </p:nvSpPr>
        <p:spPr>
          <a:xfrm>
            <a:off x="457200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21" name="Shape 18"/>
          <p:cNvSpPr/>
          <p:nvPr/>
        </p:nvSpPr>
        <p:spPr>
          <a:xfrm>
            <a:off x="7690104" y="2103120"/>
            <a:ext cx="1490472" cy="914"/>
          </a:xfrm>
          <a:prstGeom prst="line">
            <a:avLst/>
          </a:prstGeom>
          <a:noFill/>
          <a:ln w="22225">
            <a:solidFill>
              <a:srgbClr val="0E7C7B"/>
            </a:solidFill>
            <a:prstDash val="solid"/>
            <a:tailEnd type="triangle"/>
          </a:ln>
        </p:spPr>
      </p:sp>
      <p:sp>
        <p:nvSpPr>
          <p:cNvPr id="22" name="Text 19"/>
          <p:cNvSpPr txBox="1"/>
          <p:nvPr/>
        </p:nvSpPr>
        <p:spPr>
          <a:xfrm>
            <a:off x="78867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23" name="Shape 20"/>
          <p:cNvSpPr/>
          <p:nvPr/>
        </p:nvSpPr>
        <p:spPr>
          <a:xfrm>
            <a:off x="7059168" y="1801368"/>
            <a:ext cx="603504" cy="603504"/>
          </a:xfrm>
          <a:prstGeom prst="ellipse">
            <a:avLst/>
          </a:prstGeom>
          <a:solidFill>
            <a:srgbClr val="FFFFFF"/>
          </a:solidFill>
          <a:ln w="19050">
            <a:solidFill>
              <a:srgbClr val="8A94A3"/>
            </a:solidFill>
            <a:prstDash val="solid"/>
          </a:ln>
        </p:spPr>
      </p:sp>
      <p:sp>
        <p:nvSpPr>
          <p:cNvPr id="24" name="Text 21"/>
          <p:cNvSpPr txBox="1"/>
          <p:nvPr/>
        </p:nvSpPr>
        <p:spPr>
          <a:xfrm>
            <a:off x="70591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25" name="Text 22"/>
          <p:cNvSpPr txBox="1"/>
          <p:nvPr/>
        </p:nvSpPr>
        <p:spPr>
          <a:xfrm>
            <a:off x="67208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26" name="Shape 23"/>
          <p:cNvSpPr/>
          <p:nvPr/>
        </p:nvSpPr>
        <p:spPr>
          <a:xfrm>
            <a:off x="9838944" y="2103120"/>
            <a:ext cx="1078992" cy="914"/>
          </a:xfrm>
          <a:prstGeom prst="line">
            <a:avLst/>
          </a:prstGeom>
          <a:noFill/>
          <a:ln w="22225">
            <a:solidFill>
              <a:srgbClr val="0E7C7B"/>
            </a:solidFill>
            <a:prstDash val="solid"/>
            <a:tailEnd type="triangle"/>
          </a:ln>
        </p:spPr>
      </p:sp>
      <p:sp>
        <p:nvSpPr>
          <p:cNvPr id="27" name="Text 24"/>
          <p:cNvSpPr txBox="1"/>
          <p:nvPr/>
        </p:nvSpPr>
        <p:spPr>
          <a:xfrm>
            <a:off x="98298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BCE</a:t>
            </a:r>
            <a:endParaRPr lang="en-US" sz="1300" dirty="0"/>
          </a:p>
        </p:txBody>
      </p:sp>
      <p:sp>
        <p:nvSpPr>
          <p:cNvPr id="28" name="Shape 25"/>
          <p:cNvSpPr/>
          <p:nvPr/>
        </p:nvSpPr>
        <p:spPr>
          <a:xfrm>
            <a:off x="9208008" y="1801368"/>
            <a:ext cx="603504" cy="603504"/>
          </a:xfrm>
          <a:prstGeom prst="ellipse">
            <a:avLst/>
          </a:prstGeom>
          <a:solidFill>
            <a:srgbClr val="FFFFFF"/>
          </a:solidFill>
          <a:ln w="19050">
            <a:solidFill>
              <a:srgbClr val="8A94A3"/>
            </a:solidFill>
            <a:prstDash val="solid"/>
          </a:ln>
        </p:spPr>
      </p:sp>
      <p:sp>
        <p:nvSpPr>
          <p:cNvPr id="29" name="Text 26"/>
          <p:cNvSpPr txBox="1"/>
          <p:nvPr/>
        </p:nvSpPr>
        <p:spPr>
          <a:xfrm>
            <a:off x="920800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0" name="Text 27"/>
          <p:cNvSpPr txBox="1"/>
          <p:nvPr/>
        </p:nvSpPr>
        <p:spPr>
          <a:xfrm>
            <a:off x="886968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31" name="Shape 28"/>
          <p:cNvSpPr/>
          <p:nvPr/>
        </p:nvSpPr>
        <p:spPr>
          <a:xfrm>
            <a:off x="10945368" y="1801368"/>
            <a:ext cx="603504" cy="603504"/>
          </a:xfrm>
          <a:prstGeom prst="ellipse">
            <a:avLst/>
          </a:prstGeom>
          <a:solidFill>
            <a:srgbClr val="16202E"/>
          </a:solidFill>
          <a:ln/>
        </p:spPr>
      </p:sp>
      <p:sp>
        <p:nvSpPr>
          <p:cNvPr id="32" name="Text 29"/>
          <p:cNvSpPr txBox="1"/>
          <p:nvPr/>
        </p:nvSpPr>
        <p:spPr>
          <a:xfrm>
            <a:off x="109453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FFFFFF"/>
                </a:solidFill>
                <a:latin typeface="Cambria" pitchFamily="34" charset="0"/>
                <a:ea typeface="Cambria" pitchFamily="34" charset="-122"/>
                <a:cs typeface="Cambria" pitchFamily="34" charset="-120"/>
              </a:rPr>
              <a:t>L</a:t>
            </a:r>
            <a:endParaRPr lang="en-US" sz="1700" dirty="0"/>
          </a:p>
        </p:txBody>
      </p:sp>
      <p:sp>
        <p:nvSpPr>
          <p:cNvPr id="33" name="Text 30"/>
          <p:cNvSpPr txBox="1"/>
          <p:nvPr/>
        </p:nvSpPr>
        <p:spPr>
          <a:xfrm>
            <a:off x="106070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D9611A"/>
                </a:solidFill>
                <a:latin typeface="Calibri" pitchFamily="34" charset="0"/>
                <a:ea typeface="Calibri" pitchFamily="34" charset="-122"/>
                <a:cs typeface="Calibri" pitchFamily="34" charset="-120"/>
              </a:rPr>
              <a:t>?</a:t>
            </a:r>
            <a:endParaRPr lang="en-US" sz="1700" dirty="0"/>
          </a:p>
        </p:txBody>
      </p:sp>
      <p:sp>
        <p:nvSpPr>
          <p:cNvPr id="34" name="Shape 31"/>
          <p:cNvSpPr/>
          <p:nvPr/>
        </p:nvSpPr>
        <p:spPr>
          <a:xfrm>
            <a:off x="548640" y="2971800"/>
            <a:ext cx="6035040" cy="3154680"/>
          </a:xfrm>
          <a:prstGeom prst="roundRect">
            <a:avLst>
              <a:gd name="adj" fmla="val 2319"/>
            </a:avLst>
          </a:prstGeom>
          <a:solidFill>
            <a:srgbClr val="E3F2F1"/>
          </a:solidFill>
          <a:ln/>
        </p:spPr>
      </p:sp>
      <p:sp>
        <p:nvSpPr>
          <p:cNvPr id="35" name="Text 32"/>
          <p:cNvSpPr txBox="1"/>
          <p:nvPr/>
        </p:nvSpPr>
        <p:spPr>
          <a:xfrm>
            <a:off x="777240" y="3090672"/>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YOUR TURN · 3 MINUTES · PAIRS</a:t>
            </a:r>
            <a:endParaRPr lang="en-US" sz="1100" dirty="0"/>
          </a:p>
        </p:txBody>
      </p:sp>
      <p:sp>
        <p:nvSpPr>
          <p:cNvPr id="36" name="Text 33"/>
          <p:cNvSpPr txBox="1"/>
          <p:nvPr/>
        </p:nvSpPr>
        <p:spPr>
          <a:xfrm>
            <a:off x="822960" y="3474720"/>
            <a:ext cx="5577840" cy="2560320"/>
          </a:xfrm>
          <a:prstGeom prst="rect">
            <a:avLst/>
          </a:prstGeom>
          <a:noFill/>
          <a:ln/>
        </p:spPr>
        <p:txBody>
          <a:bodyPr wrap="square" lIns="0" tIns="0" rIns="0" bIns="0" rtlCol="0" anchor="t"/>
          <a:lstStyle/>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w</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x + b</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endParaRPr lang="en-US" sz="1800" dirty="0"/>
          </a:p>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σ(z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1 / (1 + exp(−z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t>
            </a:r>
            <a:pPr algn="l" indent="0" marL="0">
              <a:lnSpc>
                <a:spcPct val="120000"/>
              </a:lnSpc>
              <a:spcAft>
                <a:spcPts val="600"/>
              </a:spcAft>
              <a:buNone/>
            </a:pPr>
            <a:endParaRPr lang="en-US" sz="1800" dirty="0"/>
          </a:p>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w</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1</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b</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endParaRPr lang="en-US" sz="1800" dirty="0"/>
          </a:p>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σ(z</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t>
            </a:r>
            <a:pPr algn="l" indent="0" marL="0">
              <a:lnSpc>
                <a:spcPct val="120000"/>
              </a:lnSpc>
              <a:spcAft>
                <a:spcPts val="600"/>
              </a:spcAft>
              <a:buNone/>
            </a:pPr>
            <a:endParaRPr lang="en-US" sz="1800" dirty="0"/>
          </a:p>
          <a:p>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L = −[y ln 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 + (1 − y) ln(1 − a</a:t>
            </a:r>
            <a:pPr algn="l" indent="0" marL="0">
              <a:lnSpc>
                <a:spcPct val="120000"/>
              </a:lnSpc>
              <a:spcAft>
                <a:spcPts val="600"/>
              </a:spcAft>
              <a:buNone/>
            </a:pPr>
            <a:r>
              <a:rPr lang="en-US" sz="1800" baseline="-40000" dirty="0">
                <a:solidFill>
                  <a:srgbClr val="16202E"/>
                </a:solidFill>
                <a:latin typeface="Calibri" pitchFamily="34" charset="0"/>
                <a:ea typeface="Calibri" pitchFamily="34" charset="-122"/>
                <a:cs typeface="Calibri" pitchFamily="34" charset="-120"/>
              </a:rPr>
              <a:t>2</a:t>
            </a:r>
            <a:pPr algn="l" indent="0" marL="0">
              <a:lnSpc>
                <a:spcPct val="120000"/>
              </a:lnSpc>
              <a:spcAft>
                <a:spcPts val="600"/>
              </a:spcAft>
              <a:buNone/>
            </a:pPr>
            <a:r>
              <a:rPr lang="en-US" sz="1800" dirty="0">
                <a:solidFill>
                  <a:srgbClr val="16202E"/>
                </a:solidFill>
                <a:latin typeface="Calibri" pitchFamily="34" charset="0"/>
                <a:ea typeface="Calibri" pitchFamily="34" charset="-122"/>
                <a:cs typeface="Calibri" pitchFamily="34" charset="-120"/>
              </a:rPr>
              <a:t>)]</a:t>
            </a:r>
            <a:endParaRPr lang="en-US" sz="1800" dirty="0"/>
          </a:p>
        </p:txBody>
      </p:sp>
      <p:sp>
        <p:nvSpPr>
          <p:cNvPr id="37" name="Shape 34"/>
          <p:cNvSpPr/>
          <p:nvPr/>
        </p:nvSpPr>
        <p:spPr>
          <a:xfrm>
            <a:off x="6812280" y="2971800"/>
            <a:ext cx="4828032" cy="1691640"/>
          </a:xfrm>
          <a:prstGeom prst="roundRect">
            <a:avLst>
              <a:gd name="adj" fmla="val 4324"/>
            </a:avLst>
          </a:prstGeom>
          <a:solidFill>
            <a:srgbClr val="F3F5F8"/>
          </a:solidFill>
          <a:ln/>
        </p:spPr>
      </p:sp>
      <p:sp>
        <p:nvSpPr>
          <p:cNvPr id="38" name="Text 35"/>
          <p:cNvSpPr txBox="1"/>
          <p:nvPr/>
        </p:nvSpPr>
        <p:spPr>
          <a:xfrm>
            <a:off x="7040880" y="3090672"/>
            <a:ext cx="438912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SETUP</a:t>
            </a:r>
            <a:endParaRPr lang="en-US" sz="1100" dirty="0"/>
          </a:p>
        </p:txBody>
      </p:sp>
      <p:sp>
        <p:nvSpPr>
          <p:cNvPr id="39" name="Text 36"/>
          <p:cNvSpPr txBox="1"/>
          <p:nvPr/>
        </p:nvSpPr>
        <p:spPr>
          <a:xfrm>
            <a:off x="7040880" y="3429000"/>
            <a:ext cx="4480560" cy="1097280"/>
          </a:xfrm>
          <a:prstGeom prst="rect">
            <a:avLst/>
          </a:prstGeom>
          <a:noFill/>
          <a:ln/>
        </p:spPr>
        <p:txBody>
          <a:bodyPr wrap="square" lIns="0" tIns="0" rIns="0" bIns="0" rtlCol="0" anchor="t"/>
          <a:lstStyle/>
          <a:p>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w</a:t>
            </a:r>
            <a:pPr algn="l" indent="0" marL="0">
              <a:lnSpc>
                <a:spcPct val="100000"/>
              </a:lnSpc>
              <a:spcAft>
                <a:spcPts val="600"/>
              </a:spcAft>
              <a:buNone/>
            </a:pPr>
            <a:r>
              <a:rPr lang="en-US" sz="1650" baseline="-40000" dirty="0">
                <a:solidFill>
                  <a:srgbClr val="16202E"/>
                </a:solidFill>
                <a:latin typeface="Calibri" pitchFamily="34" charset="0"/>
                <a:ea typeface="Calibri" pitchFamily="34" charset="-122"/>
                <a:cs typeface="Calibri" pitchFamily="34" charset="-120"/>
              </a:rPr>
              <a:t>1</a:t>
            </a:r>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 = 0.5,  b</a:t>
            </a:r>
            <a:pPr algn="l" indent="0" marL="0">
              <a:lnSpc>
                <a:spcPct val="100000"/>
              </a:lnSpc>
              <a:spcAft>
                <a:spcPts val="600"/>
              </a:spcAft>
              <a:buNone/>
            </a:pPr>
            <a:r>
              <a:rPr lang="en-US" sz="1650" baseline="-40000" dirty="0">
                <a:solidFill>
                  <a:srgbClr val="16202E"/>
                </a:solidFill>
                <a:latin typeface="Calibri" pitchFamily="34" charset="0"/>
                <a:ea typeface="Calibri" pitchFamily="34" charset="-122"/>
                <a:cs typeface="Calibri" pitchFamily="34" charset="-120"/>
              </a:rPr>
              <a:t>1</a:t>
            </a:r>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 = 0.1,  w</a:t>
            </a:r>
            <a:pPr algn="l" indent="0" marL="0">
              <a:lnSpc>
                <a:spcPct val="100000"/>
              </a:lnSpc>
              <a:spcAft>
                <a:spcPts val="600"/>
              </a:spcAft>
              <a:buNone/>
            </a:pPr>
            <a:r>
              <a:rPr lang="en-US" sz="1650" baseline="-40000" dirty="0">
                <a:solidFill>
                  <a:srgbClr val="16202E"/>
                </a:solidFill>
                <a:latin typeface="Calibri" pitchFamily="34" charset="0"/>
                <a:ea typeface="Calibri" pitchFamily="34" charset="-122"/>
                <a:cs typeface="Calibri" pitchFamily="34" charset="-120"/>
              </a:rPr>
              <a:t>2</a:t>
            </a:r>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 = 0.8,  b</a:t>
            </a:r>
            <a:pPr algn="l" indent="0" marL="0">
              <a:lnSpc>
                <a:spcPct val="100000"/>
              </a:lnSpc>
              <a:spcAft>
                <a:spcPts val="600"/>
              </a:spcAft>
              <a:buNone/>
            </a:pPr>
            <a:r>
              <a:rPr lang="en-US" sz="1650" baseline="-40000" dirty="0">
                <a:solidFill>
                  <a:srgbClr val="16202E"/>
                </a:solidFill>
                <a:latin typeface="Calibri" pitchFamily="34" charset="0"/>
                <a:ea typeface="Calibri" pitchFamily="34" charset="-122"/>
                <a:cs typeface="Calibri" pitchFamily="34" charset="-120"/>
              </a:rPr>
              <a:t>2</a:t>
            </a:r>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 = −0.3</a:t>
            </a:r>
            <a:pPr algn="l" indent="0" marL="0">
              <a:lnSpc>
                <a:spcPct val="100000"/>
              </a:lnSpc>
              <a:spcAft>
                <a:spcPts val="600"/>
              </a:spcAft>
              <a:buNone/>
            </a:pPr>
            <a:endParaRPr lang="en-US" sz="1650" dirty="0"/>
          </a:p>
          <a:p>
            <a:pPr algn="l" indent="0" marL="0">
              <a:lnSpc>
                <a:spcPct val="100000"/>
              </a:lnSpc>
              <a:spcAft>
                <a:spcPts val="600"/>
              </a:spcAft>
              <a:buNone/>
            </a:pPr>
            <a:r>
              <a:rPr lang="en-US" sz="1650" dirty="0">
                <a:solidFill>
                  <a:srgbClr val="16202E"/>
                </a:solidFill>
                <a:latin typeface="Calibri" pitchFamily="34" charset="0"/>
                <a:ea typeface="Calibri" pitchFamily="34" charset="-122"/>
                <a:cs typeface="Calibri" pitchFamily="34" charset="-120"/>
              </a:rPr>
              <a:t>x = 2.0,  y = 1,  loss = binary cross-entropy</a:t>
            </a:r>
            <a:endParaRPr lang="en-US" sz="1650" dirty="0"/>
          </a:p>
        </p:txBody>
      </p:sp>
      <p:sp>
        <p:nvSpPr>
          <p:cNvPr id="40" name="Shape 37"/>
          <p:cNvSpPr/>
          <p:nvPr/>
        </p:nvSpPr>
        <p:spPr>
          <a:xfrm>
            <a:off x="6812280" y="4846320"/>
            <a:ext cx="4828032" cy="1280160"/>
          </a:xfrm>
          <a:prstGeom prst="roundRect">
            <a:avLst>
              <a:gd name="adj" fmla="val 5714"/>
            </a:avLst>
          </a:prstGeom>
          <a:solidFill>
            <a:srgbClr val="16202E"/>
          </a:solidFill>
          <a:ln/>
        </p:spPr>
      </p:sp>
      <p:sp>
        <p:nvSpPr>
          <p:cNvPr id="41" name="Text 38"/>
          <p:cNvSpPr txBox="1"/>
          <p:nvPr/>
        </p:nvSpPr>
        <p:spPr>
          <a:xfrm>
            <a:off x="7040880" y="4846320"/>
            <a:ext cx="4434840" cy="1280160"/>
          </a:xfrm>
          <a:prstGeom prst="rect">
            <a:avLst/>
          </a:prstGeom>
          <a:noFill/>
          <a:ln/>
        </p:spPr>
        <p:txBody>
          <a:bodyPr wrap="square" lIns="0" tIns="0" rIns="0" bIns="0" rtlCol="0" anchor="ctr"/>
          <a:lstStyle/>
          <a:p>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Four decimals.</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Hints: e</a:t>
            </a:r>
            <a:pPr algn="l" indent="0" marL="0">
              <a:lnSpc>
                <a:spcPct val="100000"/>
              </a:lnSpc>
              <a:buNone/>
            </a:pPr>
            <a:r>
              <a:rPr lang="en-US" sz="1600" baseline="30000" dirty="0">
                <a:solidFill>
                  <a:srgbClr val="FFFFFF"/>
                </a:solidFill>
                <a:latin typeface="Calibri" pitchFamily="34" charset="0"/>
                <a:ea typeface="Calibri" pitchFamily="34" charset="-122"/>
                <a:cs typeface="Calibri" pitchFamily="34" charset="-120"/>
              </a:rPr>
              <a:t>−1.1</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0.3329,  e</a:t>
            </a:r>
            <a:pPr algn="l" indent="0" marL="0">
              <a:lnSpc>
                <a:spcPct val="100000"/>
              </a:lnSpc>
              <a:buNone/>
            </a:pPr>
            <a:r>
              <a:rPr lang="en-US" sz="1600" baseline="30000" dirty="0">
                <a:solidFill>
                  <a:srgbClr val="FFFFFF"/>
                </a:solidFill>
                <a:latin typeface="Calibri" pitchFamily="34" charset="0"/>
                <a:ea typeface="Calibri" pitchFamily="34" charset="-122"/>
                <a:cs typeface="Calibri" pitchFamily="34" charset="-120"/>
              </a:rPr>
              <a:t>−0.3002</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0.7407.  With y = 1, L = −ln a</a:t>
            </a:r>
            <a:pPr algn="l" indent="0" marL="0">
              <a:lnSpc>
                <a:spcPct val="100000"/>
              </a:lnSpc>
              <a:buNone/>
            </a:pPr>
            <a:r>
              <a:rPr lang="en-US" sz="1600" baseline="-40000" dirty="0">
                <a:solidFill>
                  <a:srgbClr val="FFFFFF"/>
                </a:solidFill>
                <a:latin typeface="Calibri" pitchFamily="34" charset="0"/>
                <a:ea typeface="Calibri" pitchFamily="34" charset="-122"/>
                <a:cs typeface="Calibri" pitchFamily="34" charset="-120"/>
              </a:rPr>
              <a:t>2</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WORKED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Forward pass: check your numbers, and keep them</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go backward, one local derivative at a time</a:t>
            </a:r>
            <a:endParaRPr lang="en-US" sz="1100" dirty="0"/>
          </a:p>
        </p:txBody>
      </p:sp>
      <p:sp>
        <p:nvSpPr>
          <p:cNvPr id="6" name="Shape 3"/>
          <p:cNvSpPr/>
          <p:nvPr/>
        </p:nvSpPr>
        <p:spPr>
          <a:xfrm>
            <a:off x="1243584" y="2103120"/>
            <a:ext cx="1490472" cy="914"/>
          </a:xfrm>
          <a:prstGeom prst="line">
            <a:avLst/>
          </a:prstGeom>
          <a:noFill/>
          <a:ln w="22225">
            <a:solidFill>
              <a:srgbClr val="0E7C7B"/>
            </a:solidFill>
            <a:prstDash val="solid"/>
            <a:tailEnd type="triangle"/>
          </a:ln>
        </p:spPr>
      </p:sp>
      <p:sp>
        <p:nvSpPr>
          <p:cNvPr id="7" name="Text 4"/>
          <p:cNvSpPr txBox="1"/>
          <p:nvPr/>
        </p:nvSpPr>
        <p:spPr>
          <a:xfrm>
            <a:off x="144018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endParaRPr lang="en-US" sz="1300" dirty="0"/>
          </a:p>
        </p:txBody>
      </p:sp>
      <p:sp>
        <p:nvSpPr>
          <p:cNvPr id="8" name="Shape 5"/>
          <p:cNvSpPr/>
          <p:nvPr/>
        </p:nvSpPr>
        <p:spPr>
          <a:xfrm>
            <a:off x="612648" y="1801368"/>
            <a:ext cx="603504" cy="603504"/>
          </a:xfrm>
          <a:prstGeom prst="ellipse">
            <a:avLst/>
          </a:prstGeom>
          <a:solidFill>
            <a:srgbClr val="FFFFFF"/>
          </a:solidFill>
          <a:ln w="19050">
            <a:solidFill>
              <a:srgbClr val="8A94A3"/>
            </a:solidFill>
            <a:prstDash val="solid"/>
          </a:ln>
        </p:spPr>
      </p:sp>
      <p:sp>
        <p:nvSpPr>
          <p:cNvPr id="9" name="Text 6"/>
          <p:cNvSpPr txBox="1"/>
          <p:nvPr/>
        </p:nvSpPr>
        <p:spPr>
          <a:xfrm>
            <a:off x="61264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x</a:t>
            </a:r>
            <a:endParaRPr lang="en-US" sz="1700" dirty="0"/>
          </a:p>
        </p:txBody>
      </p:sp>
      <p:sp>
        <p:nvSpPr>
          <p:cNvPr id="10" name="Text 7"/>
          <p:cNvSpPr txBox="1"/>
          <p:nvPr/>
        </p:nvSpPr>
        <p:spPr>
          <a:xfrm>
            <a:off x="27432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2.0</a:t>
            </a:r>
            <a:endParaRPr lang="en-US" sz="1700" dirty="0"/>
          </a:p>
        </p:txBody>
      </p:sp>
      <p:sp>
        <p:nvSpPr>
          <p:cNvPr id="11" name="Shape 8"/>
          <p:cNvSpPr/>
          <p:nvPr/>
        </p:nvSpPr>
        <p:spPr>
          <a:xfrm>
            <a:off x="3392424" y="2103120"/>
            <a:ext cx="1490472" cy="914"/>
          </a:xfrm>
          <a:prstGeom prst="line">
            <a:avLst/>
          </a:prstGeom>
          <a:noFill/>
          <a:ln w="22225">
            <a:solidFill>
              <a:srgbClr val="0E7C7B"/>
            </a:solidFill>
            <a:prstDash val="solid"/>
            <a:tailEnd type="triangle"/>
          </a:ln>
        </p:spPr>
      </p:sp>
      <p:sp>
        <p:nvSpPr>
          <p:cNvPr id="12" name="Text 9"/>
          <p:cNvSpPr txBox="1"/>
          <p:nvPr/>
        </p:nvSpPr>
        <p:spPr>
          <a:xfrm>
            <a:off x="358902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13" name="Shape 10"/>
          <p:cNvSpPr/>
          <p:nvPr/>
        </p:nvSpPr>
        <p:spPr>
          <a:xfrm>
            <a:off x="2761488" y="1801368"/>
            <a:ext cx="603504" cy="603504"/>
          </a:xfrm>
          <a:prstGeom prst="ellipse">
            <a:avLst/>
          </a:prstGeom>
          <a:solidFill>
            <a:srgbClr val="FFFFFF"/>
          </a:solidFill>
          <a:ln w="19050">
            <a:solidFill>
              <a:srgbClr val="8A94A3"/>
            </a:solidFill>
            <a:prstDash val="solid"/>
          </a:ln>
        </p:spPr>
      </p:sp>
      <p:sp>
        <p:nvSpPr>
          <p:cNvPr id="14" name="Text 11"/>
          <p:cNvSpPr txBox="1"/>
          <p:nvPr/>
        </p:nvSpPr>
        <p:spPr>
          <a:xfrm>
            <a:off x="276148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15" name="Text 12"/>
          <p:cNvSpPr txBox="1"/>
          <p:nvPr/>
        </p:nvSpPr>
        <p:spPr>
          <a:xfrm>
            <a:off x="242316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1.1</a:t>
            </a:r>
            <a:endParaRPr lang="en-US" sz="1700" dirty="0"/>
          </a:p>
        </p:txBody>
      </p:sp>
      <p:sp>
        <p:nvSpPr>
          <p:cNvPr id="16" name="Shape 13"/>
          <p:cNvSpPr/>
          <p:nvPr/>
        </p:nvSpPr>
        <p:spPr>
          <a:xfrm>
            <a:off x="5541264" y="2103120"/>
            <a:ext cx="1490472" cy="914"/>
          </a:xfrm>
          <a:prstGeom prst="line">
            <a:avLst/>
          </a:prstGeom>
          <a:noFill/>
          <a:ln w="22225">
            <a:solidFill>
              <a:srgbClr val="0E7C7B"/>
            </a:solidFill>
            <a:prstDash val="solid"/>
            <a:tailEnd type="triangle"/>
          </a:ln>
        </p:spPr>
      </p:sp>
      <p:sp>
        <p:nvSpPr>
          <p:cNvPr id="17" name="Text 14"/>
          <p:cNvSpPr txBox="1"/>
          <p:nvPr/>
        </p:nvSpPr>
        <p:spPr>
          <a:xfrm>
            <a:off x="573786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endParaRPr lang="en-US" sz="1300" dirty="0"/>
          </a:p>
        </p:txBody>
      </p:sp>
      <p:sp>
        <p:nvSpPr>
          <p:cNvPr id="18" name="Shape 15"/>
          <p:cNvSpPr/>
          <p:nvPr/>
        </p:nvSpPr>
        <p:spPr>
          <a:xfrm>
            <a:off x="4910328" y="1801368"/>
            <a:ext cx="603504" cy="603504"/>
          </a:xfrm>
          <a:prstGeom prst="ellipse">
            <a:avLst/>
          </a:prstGeom>
          <a:solidFill>
            <a:srgbClr val="FFFFFF"/>
          </a:solidFill>
          <a:ln w="19050">
            <a:solidFill>
              <a:srgbClr val="8A94A3"/>
            </a:solidFill>
            <a:prstDash val="solid"/>
          </a:ln>
        </p:spPr>
      </p:sp>
      <p:sp>
        <p:nvSpPr>
          <p:cNvPr id="19" name="Text 16"/>
          <p:cNvSpPr txBox="1"/>
          <p:nvPr/>
        </p:nvSpPr>
        <p:spPr>
          <a:xfrm>
            <a:off x="491032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20" name="Text 17"/>
          <p:cNvSpPr txBox="1"/>
          <p:nvPr/>
        </p:nvSpPr>
        <p:spPr>
          <a:xfrm>
            <a:off x="457200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0.7503</a:t>
            </a:r>
            <a:endParaRPr lang="en-US" sz="1700" dirty="0"/>
          </a:p>
        </p:txBody>
      </p:sp>
      <p:sp>
        <p:nvSpPr>
          <p:cNvPr id="21" name="Shape 18"/>
          <p:cNvSpPr/>
          <p:nvPr/>
        </p:nvSpPr>
        <p:spPr>
          <a:xfrm>
            <a:off x="7690104" y="2103120"/>
            <a:ext cx="1490472" cy="914"/>
          </a:xfrm>
          <a:prstGeom prst="line">
            <a:avLst/>
          </a:prstGeom>
          <a:noFill/>
          <a:ln w="22225">
            <a:solidFill>
              <a:srgbClr val="0E7C7B"/>
            </a:solidFill>
            <a:prstDash val="solid"/>
            <a:tailEnd type="triangle"/>
          </a:ln>
        </p:spPr>
      </p:sp>
      <p:sp>
        <p:nvSpPr>
          <p:cNvPr id="22" name="Text 19"/>
          <p:cNvSpPr txBox="1"/>
          <p:nvPr/>
        </p:nvSpPr>
        <p:spPr>
          <a:xfrm>
            <a:off x="78867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23" name="Shape 20"/>
          <p:cNvSpPr/>
          <p:nvPr/>
        </p:nvSpPr>
        <p:spPr>
          <a:xfrm>
            <a:off x="7059168" y="1801368"/>
            <a:ext cx="603504" cy="603504"/>
          </a:xfrm>
          <a:prstGeom prst="ellipse">
            <a:avLst/>
          </a:prstGeom>
          <a:solidFill>
            <a:srgbClr val="FFFFFF"/>
          </a:solidFill>
          <a:ln w="19050">
            <a:solidFill>
              <a:srgbClr val="8A94A3"/>
            </a:solidFill>
            <a:prstDash val="solid"/>
          </a:ln>
        </p:spPr>
      </p:sp>
      <p:sp>
        <p:nvSpPr>
          <p:cNvPr id="24" name="Text 21"/>
          <p:cNvSpPr txBox="1"/>
          <p:nvPr/>
        </p:nvSpPr>
        <p:spPr>
          <a:xfrm>
            <a:off x="70591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25" name="Text 22"/>
          <p:cNvSpPr txBox="1"/>
          <p:nvPr/>
        </p:nvSpPr>
        <p:spPr>
          <a:xfrm>
            <a:off x="67208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0.3002</a:t>
            </a:r>
            <a:endParaRPr lang="en-US" sz="1700" dirty="0"/>
          </a:p>
        </p:txBody>
      </p:sp>
      <p:sp>
        <p:nvSpPr>
          <p:cNvPr id="26" name="Shape 23"/>
          <p:cNvSpPr/>
          <p:nvPr/>
        </p:nvSpPr>
        <p:spPr>
          <a:xfrm>
            <a:off x="9838944" y="2103120"/>
            <a:ext cx="1078992" cy="914"/>
          </a:xfrm>
          <a:prstGeom prst="line">
            <a:avLst/>
          </a:prstGeom>
          <a:noFill/>
          <a:ln w="22225">
            <a:solidFill>
              <a:srgbClr val="0E7C7B"/>
            </a:solidFill>
            <a:prstDash val="solid"/>
            <a:tailEnd type="triangle"/>
          </a:ln>
        </p:spPr>
      </p:sp>
      <p:sp>
        <p:nvSpPr>
          <p:cNvPr id="27" name="Text 24"/>
          <p:cNvSpPr txBox="1"/>
          <p:nvPr/>
        </p:nvSpPr>
        <p:spPr>
          <a:xfrm>
            <a:off x="98298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BCE</a:t>
            </a:r>
            <a:endParaRPr lang="en-US" sz="1300" dirty="0"/>
          </a:p>
        </p:txBody>
      </p:sp>
      <p:sp>
        <p:nvSpPr>
          <p:cNvPr id="28" name="Shape 25"/>
          <p:cNvSpPr/>
          <p:nvPr/>
        </p:nvSpPr>
        <p:spPr>
          <a:xfrm>
            <a:off x="9208008" y="1801368"/>
            <a:ext cx="603504" cy="603504"/>
          </a:xfrm>
          <a:prstGeom prst="ellipse">
            <a:avLst/>
          </a:prstGeom>
          <a:solidFill>
            <a:srgbClr val="FFFFFF"/>
          </a:solidFill>
          <a:ln w="19050">
            <a:solidFill>
              <a:srgbClr val="8A94A3"/>
            </a:solidFill>
            <a:prstDash val="solid"/>
          </a:ln>
        </p:spPr>
      </p:sp>
      <p:sp>
        <p:nvSpPr>
          <p:cNvPr id="29" name="Text 26"/>
          <p:cNvSpPr txBox="1"/>
          <p:nvPr/>
        </p:nvSpPr>
        <p:spPr>
          <a:xfrm>
            <a:off x="920800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0" name="Text 27"/>
          <p:cNvSpPr txBox="1"/>
          <p:nvPr/>
        </p:nvSpPr>
        <p:spPr>
          <a:xfrm>
            <a:off x="886968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0.5745</a:t>
            </a:r>
            <a:endParaRPr lang="en-US" sz="1700" dirty="0"/>
          </a:p>
        </p:txBody>
      </p:sp>
      <p:sp>
        <p:nvSpPr>
          <p:cNvPr id="31" name="Shape 28"/>
          <p:cNvSpPr/>
          <p:nvPr/>
        </p:nvSpPr>
        <p:spPr>
          <a:xfrm>
            <a:off x="10945368" y="1801368"/>
            <a:ext cx="603504" cy="603504"/>
          </a:xfrm>
          <a:prstGeom prst="ellipse">
            <a:avLst/>
          </a:prstGeom>
          <a:solidFill>
            <a:srgbClr val="16202E"/>
          </a:solidFill>
          <a:ln/>
        </p:spPr>
      </p:sp>
      <p:sp>
        <p:nvSpPr>
          <p:cNvPr id="32" name="Text 29"/>
          <p:cNvSpPr txBox="1"/>
          <p:nvPr/>
        </p:nvSpPr>
        <p:spPr>
          <a:xfrm>
            <a:off x="109453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FFFFFF"/>
                </a:solidFill>
                <a:latin typeface="Cambria" pitchFamily="34" charset="0"/>
                <a:ea typeface="Cambria" pitchFamily="34" charset="-122"/>
                <a:cs typeface="Cambria" pitchFamily="34" charset="-120"/>
              </a:rPr>
              <a:t>L</a:t>
            </a:r>
            <a:endParaRPr lang="en-US" sz="1700" dirty="0"/>
          </a:p>
        </p:txBody>
      </p:sp>
      <p:sp>
        <p:nvSpPr>
          <p:cNvPr id="33" name="Text 30"/>
          <p:cNvSpPr txBox="1"/>
          <p:nvPr/>
        </p:nvSpPr>
        <p:spPr>
          <a:xfrm>
            <a:off x="106070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0.5543</a:t>
            </a:r>
            <a:endParaRPr lang="en-US" sz="1700" dirty="0"/>
          </a:p>
        </p:txBody>
      </p:sp>
      <p:sp>
        <p:nvSpPr>
          <p:cNvPr id="34" name="Shape 31"/>
          <p:cNvSpPr/>
          <p:nvPr/>
        </p:nvSpPr>
        <p:spPr>
          <a:xfrm>
            <a:off x="548640" y="2971800"/>
            <a:ext cx="6766560" cy="3154680"/>
          </a:xfrm>
          <a:prstGeom prst="roundRect">
            <a:avLst>
              <a:gd name="adj" fmla="val 2319"/>
            </a:avLst>
          </a:prstGeom>
          <a:solidFill>
            <a:srgbClr val="E3F2F1"/>
          </a:solidFill>
          <a:ln/>
        </p:spPr>
      </p:sp>
      <p:sp>
        <p:nvSpPr>
          <p:cNvPr id="35" name="Text 32"/>
          <p:cNvSpPr txBox="1"/>
          <p:nvPr/>
        </p:nvSpPr>
        <p:spPr>
          <a:xfrm>
            <a:off x="777240" y="3090672"/>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FORWARD PASS</a:t>
            </a:r>
            <a:endParaRPr lang="en-US" sz="1100" dirty="0"/>
          </a:p>
        </p:txBody>
      </p:sp>
      <p:pic>
        <p:nvPicPr>
          <p:cNvPr id="36" name="Image 0" descr="equation we_forward">    </p:cNvPr>
          <p:cNvPicPr>
            <a:picLocks noChangeAspect="1"/>
          </p:cNvPicPr>
          <p:nvPr/>
        </p:nvPicPr>
        <p:blipFill>
          <a:blip r:embed="rId1"/>
          <a:stretch>
            <a:fillRect/>
          </a:stretch>
        </p:blipFill>
        <p:spPr>
          <a:xfrm>
            <a:off x="822960" y="3474720"/>
            <a:ext cx="4864901" cy="1870972"/>
          </a:xfrm>
          <a:prstGeom prst="rect">
            <a:avLst/>
          </a:prstGeom>
        </p:spPr>
      </p:pic>
      <p:sp>
        <p:nvSpPr>
          <p:cNvPr id="37" name="Shape 33"/>
          <p:cNvSpPr/>
          <p:nvPr/>
        </p:nvSpPr>
        <p:spPr>
          <a:xfrm>
            <a:off x="7543800" y="2971800"/>
            <a:ext cx="4096512" cy="3154680"/>
          </a:xfrm>
          <a:prstGeom prst="roundRect">
            <a:avLst>
              <a:gd name="adj" fmla="val 2319"/>
            </a:avLst>
          </a:prstGeom>
          <a:solidFill>
            <a:srgbClr val="16202E"/>
          </a:solidFill>
          <a:ln/>
        </p:spPr>
      </p:sp>
      <p:sp>
        <p:nvSpPr>
          <p:cNvPr id="38" name="Text 34"/>
          <p:cNvSpPr txBox="1"/>
          <p:nvPr/>
        </p:nvSpPr>
        <p:spPr>
          <a:xfrm>
            <a:off x="7772400" y="2971800"/>
            <a:ext cx="3657600" cy="3154680"/>
          </a:xfrm>
          <a:prstGeom prst="rect">
            <a:avLst/>
          </a:prstGeom>
          <a:noFill/>
          <a:ln/>
        </p:spPr>
        <p:txBody>
          <a:bodyPr wrap="square" lIns="0" tIns="0" rIns="0" bIns="0" rtlCol="0" anchor="ctr"/>
          <a:lstStyle/>
          <a:p>
            <a:pPr algn="l" indent="0" marL="0">
              <a:lnSpc>
                <a:spcPct val="100000"/>
              </a:lnSpc>
              <a:buNone/>
            </a:pPr>
            <a:r>
              <a:rPr lang="en-US" sz="1700" dirty="0">
                <a:solidFill>
                  <a:srgbClr val="FFFFFF"/>
                </a:solidFill>
                <a:latin typeface="Calibri" pitchFamily="34" charset="0"/>
                <a:ea typeface="Calibri" pitchFamily="34" charset="-122"/>
                <a:cs typeface="Calibri" pitchFamily="34" charset="-120"/>
              </a:rPr>
              <a:t>Keep these values.</a:t>
            </a:r>
            <a:pPr algn="l" indent="0" marL="0">
              <a:lnSpc>
                <a:spcPct val="100000"/>
              </a:lnSpc>
              <a:buNone/>
            </a:pPr>
            <a:endParaRPr lang="en-US" sz="1700" dirty="0"/>
          </a:p>
          <a:p>
            <a:pPr algn="l" indent="0" marL="0">
              <a:lnSpc>
                <a:spcPct val="100000"/>
              </a:lnSpc>
              <a:buNone/>
            </a:pPr>
            <a:endParaRPr lang="en-US" sz="1700" dirty="0"/>
          </a:p>
          <a:p>
            <a:pPr algn="l" indent="0" marL="0">
              <a:lnSpc>
                <a:spcPct val="100000"/>
              </a:lnSpc>
              <a:buNone/>
            </a:pPr>
            <a:r>
              <a:rPr lang="en-US" sz="1700" dirty="0">
                <a:solidFill>
                  <a:srgbClr val="FFFFFF"/>
                </a:solidFill>
                <a:latin typeface="Calibri" pitchFamily="34" charset="0"/>
                <a:ea typeface="Calibri" pitchFamily="34" charset="-122"/>
                <a:cs typeface="Calibri" pitchFamily="34" charset="-120"/>
              </a:rPr>
              <a:t>The backward pass reuses </a:t>
            </a:r>
            <a:pPr algn="l" indent="0" marL="0">
              <a:lnSpc>
                <a:spcPct val="100000"/>
              </a:lnSpc>
              <a:buNone/>
            </a:pPr>
            <a:r>
              <a:rPr lang="en-US" sz="1700" b="1" dirty="0">
                <a:solidFill>
                  <a:srgbClr val="FFFFFF"/>
                </a:solidFill>
                <a:latin typeface="Calibri" pitchFamily="34" charset="0"/>
                <a:ea typeface="Calibri" pitchFamily="34" charset="-122"/>
                <a:cs typeface="Calibri" pitchFamily="34" charset="-120"/>
              </a:rPr>
              <a:t>every one of them</a:t>
            </a:r>
            <a:pPr algn="l" indent="0" marL="0">
              <a:lnSpc>
                <a:spcPct val="100000"/>
              </a:lnSpc>
              <a:buNone/>
            </a:pPr>
            <a:r>
              <a:rPr lang="en-US" sz="1700" dirty="0">
                <a:solidFill>
                  <a:srgbClr val="FFFFFF"/>
                </a:solidFill>
                <a:latin typeface="Calibri" pitchFamily="34" charset="0"/>
                <a:ea typeface="Calibri" pitchFamily="34" charset="-122"/>
                <a:cs typeface="Calibri" pitchFamily="34" charset="-120"/>
              </a:rPr>
              <a:t>: that is why training needs memory for activations, and inference does not.</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WORKED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Backward: the error signal δ flows from the loss to the first layer</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turn error signals into gradients</a:t>
            </a:r>
            <a:endParaRPr lang="en-US" sz="1100" dirty="0"/>
          </a:p>
        </p:txBody>
      </p:sp>
      <p:sp>
        <p:nvSpPr>
          <p:cNvPr id="6" name="Shape 3"/>
          <p:cNvSpPr/>
          <p:nvPr/>
        </p:nvSpPr>
        <p:spPr>
          <a:xfrm>
            <a:off x="1243584" y="2103120"/>
            <a:ext cx="1490472" cy="914"/>
          </a:xfrm>
          <a:prstGeom prst="line">
            <a:avLst/>
          </a:prstGeom>
          <a:noFill/>
          <a:ln w="22225">
            <a:solidFill>
              <a:srgbClr val="0E7C7B"/>
            </a:solidFill>
            <a:prstDash val="solid"/>
            <a:tailEnd type="triangle"/>
          </a:ln>
        </p:spPr>
      </p:sp>
      <p:sp>
        <p:nvSpPr>
          <p:cNvPr id="7" name="Text 4"/>
          <p:cNvSpPr txBox="1"/>
          <p:nvPr/>
        </p:nvSpPr>
        <p:spPr>
          <a:xfrm>
            <a:off x="144018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endParaRPr lang="en-US" sz="1300" dirty="0"/>
          </a:p>
        </p:txBody>
      </p:sp>
      <p:sp>
        <p:nvSpPr>
          <p:cNvPr id="8" name="Shape 5"/>
          <p:cNvSpPr/>
          <p:nvPr/>
        </p:nvSpPr>
        <p:spPr>
          <a:xfrm flipH="1">
            <a:off x="1243584" y="2258568"/>
            <a:ext cx="1490472" cy="914"/>
          </a:xfrm>
          <a:prstGeom prst="line">
            <a:avLst/>
          </a:prstGeom>
          <a:noFill/>
          <a:ln w="19050">
            <a:solidFill>
              <a:srgbClr val="D9611A"/>
            </a:solidFill>
            <a:prstDash val="solid"/>
            <a:tailEnd type="triangle"/>
          </a:ln>
        </p:spPr>
      </p:sp>
      <p:sp>
        <p:nvSpPr>
          <p:cNvPr id="9" name="Shape 6"/>
          <p:cNvSpPr/>
          <p:nvPr/>
        </p:nvSpPr>
        <p:spPr>
          <a:xfrm>
            <a:off x="612648" y="1801368"/>
            <a:ext cx="603504" cy="603504"/>
          </a:xfrm>
          <a:prstGeom prst="ellipse">
            <a:avLst/>
          </a:prstGeom>
          <a:solidFill>
            <a:srgbClr val="FFFFFF"/>
          </a:solidFill>
          <a:ln w="19050">
            <a:solidFill>
              <a:srgbClr val="8A94A3"/>
            </a:solidFill>
            <a:prstDash val="solid"/>
          </a:ln>
        </p:spPr>
      </p:sp>
      <p:sp>
        <p:nvSpPr>
          <p:cNvPr id="10" name="Text 7"/>
          <p:cNvSpPr txBox="1"/>
          <p:nvPr/>
        </p:nvSpPr>
        <p:spPr>
          <a:xfrm>
            <a:off x="61264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x</a:t>
            </a:r>
            <a:endParaRPr lang="en-US" sz="1700" dirty="0"/>
          </a:p>
        </p:txBody>
      </p:sp>
      <p:sp>
        <p:nvSpPr>
          <p:cNvPr id="11" name="Text 8"/>
          <p:cNvSpPr txBox="1"/>
          <p:nvPr/>
        </p:nvSpPr>
        <p:spPr>
          <a:xfrm>
            <a:off x="27432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2.0</a:t>
            </a:r>
            <a:endParaRPr lang="en-US" sz="1700" dirty="0"/>
          </a:p>
        </p:txBody>
      </p:sp>
      <p:sp>
        <p:nvSpPr>
          <p:cNvPr id="12" name="Shape 9"/>
          <p:cNvSpPr/>
          <p:nvPr/>
        </p:nvSpPr>
        <p:spPr>
          <a:xfrm>
            <a:off x="3392424" y="2103120"/>
            <a:ext cx="1490472" cy="914"/>
          </a:xfrm>
          <a:prstGeom prst="line">
            <a:avLst/>
          </a:prstGeom>
          <a:noFill/>
          <a:ln w="22225">
            <a:solidFill>
              <a:srgbClr val="0E7C7B"/>
            </a:solidFill>
            <a:prstDash val="solid"/>
            <a:tailEnd type="triangle"/>
          </a:ln>
        </p:spPr>
      </p:sp>
      <p:sp>
        <p:nvSpPr>
          <p:cNvPr id="13" name="Text 10"/>
          <p:cNvSpPr txBox="1"/>
          <p:nvPr/>
        </p:nvSpPr>
        <p:spPr>
          <a:xfrm>
            <a:off x="358902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14" name="Shape 11"/>
          <p:cNvSpPr/>
          <p:nvPr/>
        </p:nvSpPr>
        <p:spPr>
          <a:xfrm flipH="1">
            <a:off x="3392424" y="2258568"/>
            <a:ext cx="1490472" cy="914"/>
          </a:xfrm>
          <a:prstGeom prst="line">
            <a:avLst/>
          </a:prstGeom>
          <a:noFill/>
          <a:ln w="19050">
            <a:solidFill>
              <a:srgbClr val="D9611A"/>
            </a:solidFill>
            <a:prstDash val="solid"/>
            <a:tailEnd type="triangle"/>
          </a:ln>
        </p:spPr>
      </p:sp>
      <p:sp>
        <p:nvSpPr>
          <p:cNvPr id="15" name="Shape 12"/>
          <p:cNvSpPr/>
          <p:nvPr/>
        </p:nvSpPr>
        <p:spPr>
          <a:xfrm>
            <a:off x="2761488" y="1801368"/>
            <a:ext cx="603504" cy="603504"/>
          </a:xfrm>
          <a:prstGeom prst="ellipse">
            <a:avLst/>
          </a:prstGeom>
          <a:solidFill>
            <a:srgbClr val="FFFFFF"/>
          </a:solidFill>
          <a:ln w="19050">
            <a:solidFill>
              <a:srgbClr val="8A94A3"/>
            </a:solidFill>
            <a:prstDash val="solid"/>
          </a:ln>
        </p:spPr>
      </p:sp>
      <p:sp>
        <p:nvSpPr>
          <p:cNvPr id="16" name="Text 13"/>
          <p:cNvSpPr txBox="1"/>
          <p:nvPr/>
        </p:nvSpPr>
        <p:spPr>
          <a:xfrm>
            <a:off x="276148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17" name="Text 14"/>
          <p:cNvSpPr txBox="1"/>
          <p:nvPr/>
        </p:nvSpPr>
        <p:spPr>
          <a:xfrm>
            <a:off x="242316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1.1</a:t>
            </a:r>
            <a:endParaRPr lang="en-US" sz="1700" dirty="0"/>
          </a:p>
        </p:txBody>
      </p:sp>
      <p:sp>
        <p:nvSpPr>
          <p:cNvPr id="18" name="Text 15"/>
          <p:cNvSpPr txBox="1"/>
          <p:nvPr/>
        </p:nvSpPr>
        <p:spPr>
          <a:xfrm>
            <a:off x="214884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500" b="1" baseline="-40000" dirty="0">
                <a:solidFill>
                  <a:srgbClr val="D9611A"/>
                </a:solidFill>
                <a:latin typeface="Calibri" pitchFamily="34" charset="0"/>
                <a:ea typeface="Calibri" pitchFamily="34" charset="-122"/>
                <a:cs typeface="Calibri" pitchFamily="34" charset="-120"/>
              </a:rPr>
              <a:t>1</a:t>
            </a:r>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 = −0.0638</a:t>
            </a:r>
            <a:endParaRPr lang="en-US" sz="1500" dirty="0"/>
          </a:p>
        </p:txBody>
      </p:sp>
      <p:sp>
        <p:nvSpPr>
          <p:cNvPr id="19" name="Shape 16"/>
          <p:cNvSpPr/>
          <p:nvPr/>
        </p:nvSpPr>
        <p:spPr>
          <a:xfrm>
            <a:off x="5541264" y="2103120"/>
            <a:ext cx="1490472" cy="914"/>
          </a:xfrm>
          <a:prstGeom prst="line">
            <a:avLst/>
          </a:prstGeom>
          <a:noFill/>
          <a:ln w="22225">
            <a:solidFill>
              <a:srgbClr val="0E7C7B"/>
            </a:solidFill>
            <a:prstDash val="solid"/>
            <a:tailEnd type="triangle"/>
          </a:ln>
        </p:spPr>
      </p:sp>
      <p:sp>
        <p:nvSpPr>
          <p:cNvPr id="20" name="Text 17"/>
          <p:cNvSpPr txBox="1"/>
          <p:nvPr/>
        </p:nvSpPr>
        <p:spPr>
          <a:xfrm>
            <a:off x="573786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endParaRPr lang="en-US" sz="1300" dirty="0"/>
          </a:p>
        </p:txBody>
      </p:sp>
      <p:sp>
        <p:nvSpPr>
          <p:cNvPr id="21" name="Shape 18"/>
          <p:cNvSpPr/>
          <p:nvPr/>
        </p:nvSpPr>
        <p:spPr>
          <a:xfrm flipH="1">
            <a:off x="5541264" y="2258568"/>
            <a:ext cx="1490472" cy="914"/>
          </a:xfrm>
          <a:prstGeom prst="line">
            <a:avLst/>
          </a:prstGeom>
          <a:noFill/>
          <a:ln w="19050">
            <a:solidFill>
              <a:srgbClr val="D9611A"/>
            </a:solidFill>
            <a:prstDash val="solid"/>
            <a:tailEnd type="triangle"/>
          </a:ln>
        </p:spPr>
      </p:sp>
      <p:sp>
        <p:nvSpPr>
          <p:cNvPr id="22" name="Shape 19"/>
          <p:cNvSpPr/>
          <p:nvPr/>
        </p:nvSpPr>
        <p:spPr>
          <a:xfrm>
            <a:off x="4910328" y="1801368"/>
            <a:ext cx="603504" cy="603504"/>
          </a:xfrm>
          <a:prstGeom prst="ellipse">
            <a:avLst/>
          </a:prstGeom>
          <a:solidFill>
            <a:srgbClr val="FFFFFF"/>
          </a:solidFill>
          <a:ln w="19050">
            <a:solidFill>
              <a:srgbClr val="8A94A3"/>
            </a:solidFill>
            <a:prstDash val="solid"/>
          </a:ln>
        </p:spPr>
      </p:sp>
      <p:sp>
        <p:nvSpPr>
          <p:cNvPr id="23" name="Text 20"/>
          <p:cNvSpPr txBox="1"/>
          <p:nvPr/>
        </p:nvSpPr>
        <p:spPr>
          <a:xfrm>
            <a:off x="491032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24" name="Text 21"/>
          <p:cNvSpPr txBox="1"/>
          <p:nvPr/>
        </p:nvSpPr>
        <p:spPr>
          <a:xfrm>
            <a:off x="457200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0.7503</a:t>
            </a:r>
            <a:endParaRPr lang="en-US" sz="1700" dirty="0"/>
          </a:p>
        </p:txBody>
      </p:sp>
      <p:sp>
        <p:nvSpPr>
          <p:cNvPr id="25" name="Text 22"/>
          <p:cNvSpPr txBox="1"/>
          <p:nvPr/>
        </p:nvSpPr>
        <p:spPr>
          <a:xfrm>
            <a:off x="429768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−0.3404</a:t>
            </a:r>
            <a:endParaRPr lang="en-US" sz="1500" dirty="0"/>
          </a:p>
        </p:txBody>
      </p:sp>
      <p:sp>
        <p:nvSpPr>
          <p:cNvPr id="26" name="Shape 23"/>
          <p:cNvSpPr/>
          <p:nvPr/>
        </p:nvSpPr>
        <p:spPr>
          <a:xfrm>
            <a:off x="7690104" y="2103120"/>
            <a:ext cx="1490472" cy="914"/>
          </a:xfrm>
          <a:prstGeom prst="line">
            <a:avLst/>
          </a:prstGeom>
          <a:noFill/>
          <a:ln w="22225">
            <a:solidFill>
              <a:srgbClr val="0E7C7B"/>
            </a:solidFill>
            <a:prstDash val="solid"/>
            <a:tailEnd type="triangle"/>
          </a:ln>
        </p:spPr>
      </p:sp>
      <p:sp>
        <p:nvSpPr>
          <p:cNvPr id="27" name="Text 24"/>
          <p:cNvSpPr txBox="1"/>
          <p:nvPr/>
        </p:nvSpPr>
        <p:spPr>
          <a:xfrm>
            <a:off x="78867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28" name="Shape 25"/>
          <p:cNvSpPr/>
          <p:nvPr/>
        </p:nvSpPr>
        <p:spPr>
          <a:xfrm flipH="1">
            <a:off x="7690104" y="2258568"/>
            <a:ext cx="1490472" cy="914"/>
          </a:xfrm>
          <a:prstGeom prst="line">
            <a:avLst/>
          </a:prstGeom>
          <a:noFill/>
          <a:ln w="19050">
            <a:solidFill>
              <a:srgbClr val="D9611A"/>
            </a:solidFill>
            <a:prstDash val="solid"/>
            <a:tailEnd type="triangle"/>
          </a:ln>
        </p:spPr>
      </p:sp>
      <p:sp>
        <p:nvSpPr>
          <p:cNvPr id="29" name="Shape 26"/>
          <p:cNvSpPr/>
          <p:nvPr/>
        </p:nvSpPr>
        <p:spPr>
          <a:xfrm>
            <a:off x="7059168" y="1801368"/>
            <a:ext cx="603504" cy="603504"/>
          </a:xfrm>
          <a:prstGeom prst="ellipse">
            <a:avLst/>
          </a:prstGeom>
          <a:solidFill>
            <a:srgbClr val="FFFFFF"/>
          </a:solidFill>
          <a:ln w="19050">
            <a:solidFill>
              <a:srgbClr val="8A94A3"/>
            </a:solidFill>
            <a:prstDash val="solid"/>
          </a:ln>
        </p:spPr>
      </p:sp>
      <p:sp>
        <p:nvSpPr>
          <p:cNvPr id="30" name="Text 27"/>
          <p:cNvSpPr txBox="1"/>
          <p:nvPr/>
        </p:nvSpPr>
        <p:spPr>
          <a:xfrm>
            <a:off x="70591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1" name="Text 28"/>
          <p:cNvSpPr txBox="1"/>
          <p:nvPr/>
        </p:nvSpPr>
        <p:spPr>
          <a:xfrm>
            <a:off x="67208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0.3002</a:t>
            </a:r>
            <a:endParaRPr lang="en-US" sz="1700" dirty="0"/>
          </a:p>
        </p:txBody>
      </p:sp>
      <p:sp>
        <p:nvSpPr>
          <p:cNvPr id="32" name="Text 29"/>
          <p:cNvSpPr txBox="1"/>
          <p:nvPr/>
        </p:nvSpPr>
        <p:spPr>
          <a:xfrm>
            <a:off x="644652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500" b="1" baseline="-40000" dirty="0">
                <a:solidFill>
                  <a:srgbClr val="D9611A"/>
                </a:solidFill>
                <a:latin typeface="Calibri" pitchFamily="34" charset="0"/>
                <a:ea typeface="Calibri" pitchFamily="34" charset="-122"/>
                <a:cs typeface="Calibri" pitchFamily="34" charset="-120"/>
              </a:rPr>
              <a:t>2</a:t>
            </a:r>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 = −0.4255</a:t>
            </a:r>
            <a:endParaRPr lang="en-US" sz="1500" dirty="0"/>
          </a:p>
        </p:txBody>
      </p:sp>
      <p:sp>
        <p:nvSpPr>
          <p:cNvPr id="33" name="Shape 30"/>
          <p:cNvSpPr/>
          <p:nvPr/>
        </p:nvSpPr>
        <p:spPr>
          <a:xfrm>
            <a:off x="9838944" y="2103120"/>
            <a:ext cx="1078992" cy="914"/>
          </a:xfrm>
          <a:prstGeom prst="line">
            <a:avLst/>
          </a:prstGeom>
          <a:noFill/>
          <a:ln w="22225">
            <a:solidFill>
              <a:srgbClr val="0E7C7B"/>
            </a:solidFill>
            <a:prstDash val="solid"/>
            <a:tailEnd type="triangle"/>
          </a:ln>
        </p:spPr>
      </p:sp>
      <p:sp>
        <p:nvSpPr>
          <p:cNvPr id="34" name="Text 31"/>
          <p:cNvSpPr txBox="1"/>
          <p:nvPr/>
        </p:nvSpPr>
        <p:spPr>
          <a:xfrm>
            <a:off x="98298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BCE</a:t>
            </a:r>
            <a:endParaRPr lang="en-US" sz="1300" dirty="0"/>
          </a:p>
        </p:txBody>
      </p:sp>
      <p:sp>
        <p:nvSpPr>
          <p:cNvPr id="35" name="Shape 32"/>
          <p:cNvSpPr/>
          <p:nvPr/>
        </p:nvSpPr>
        <p:spPr>
          <a:xfrm flipH="1">
            <a:off x="9838944" y="2258568"/>
            <a:ext cx="1078992" cy="914"/>
          </a:xfrm>
          <a:prstGeom prst="line">
            <a:avLst/>
          </a:prstGeom>
          <a:noFill/>
          <a:ln w="19050">
            <a:solidFill>
              <a:srgbClr val="D9611A"/>
            </a:solidFill>
            <a:prstDash val="solid"/>
            <a:tailEnd type="triangle"/>
          </a:ln>
        </p:spPr>
      </p:sp>
      <p:sp>
        <p:nvSpPr>
          <p:cNvPr id="36" name="Shape 33"/>
          <p:cNvSpPr/>
          <p:nvPr/>
        </p:nvSpPr>
        <p:spPr>
          <a:xfrm>
            <a:off x="9208008" y="1801368"/>
            <a:ext cx="603504" cy="603504"/>
          </a:xfrm>
          <a:prstGeom prst="ellipse">
            <a:avLst/>
          </a:prstGeom>
          <a:solidFill>
            <a:srgbClr val="FFFFFF"/>
          </a:solidFill>
          <a:ln w="19050">
            <a:solidFill>
              <a:srgbClr val="8A94A3"/>
            </a:solidFill>
            <a:prstDash val="solid"/>
          </a:ln>
        </p:spPr>
      </p:sp>
      <p:sp>
        <p:nvSpPr>
          <p:cNvPr id="37" name="Text 34"/>
          <p:cNvSpPr txBox="1"/>
          <p:nvPr/>
        </p:nvSpPr>
        <p:spPr>
          <a:xfrm>
            <a:off x="920800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8" name="Text 35"/>
          <p:cNvSpPr txBox="1"/>
          <p:nvPr/>
        </p:nvSpPr>
        <p:spPr>
          <a:xfrm>
            <a:off x="886968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0.5745</a:t>
            </a:r>
            <a:endParaRPr lang="en-US" sz="1700" dirty="0"/>
          </a:p>
        </p:txBody>
      </p:sp>
      <p:sp>
        <p:nvSpPr>
          <p:cNvPr id="39" name="Text 36"/>
          <p:cNvSpPr txBox="1"/>
          <p:nvPr/>
        </p:nvSpPr>
        <p:spPr>
          <a:xfrm>
            <a:off x="859536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−1.7407</a:t>
            </a:r>
            <a:endParaRPr lang="en-US" sz="1500" dirty="0"/>
          </a:p>
        </p:txBody>
      </p:sp>
      <p:sp>
        <p:nvSpPr>
          <p:cNvPr id="40" name="Shape 37"/>
          <p:cNvSpPr/>
          <p:nvPr/>
        </p:nvSpPr>
        <p:spPr>
          <a:xfrm>
            <a:off x="10945368" y="1801368"/>
            <a:ext cx="603504" cy="603504"/>
          </a:xfrm>
          <a:prstGeom prst="ellipse">
            <a:avLst/>
          </a:prstGeom>
          <a:solidFill>
            <a:srgbClr val="16202E"/>
          </a:solidFill>
          <a:ln/>
        </p:spPr>
      </p:sp>
      <p:sp>
        <p:nvSpPr>
          <p:cNvPr id="41" name="Text 38"/>
          <p:cNvSpPr txBox="1"/>
          <p:nvPr/>
        </p:nvSpPr>
        <p:spPr>
          <a:xfrm>
            <a:off x="109453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FFFFFF"/>
                </a:solidFill>
                <a:latin typeface="Cambria" pitchFamily="34" charset="0"/>
                <a:ea typeface="Cambria" pitchFamily="34" charset="-122"/>
                <a:cs typeface="Cambria" pitchFamily="34" charset="-120"/>
              </a:rPr>
              <a:t>L</a:t>
            </a:r>
            <a:endParaRPr lang="en-US" sz="1700" dirty="0"/>
          </a:p>
        </p:txBody>
      </p:sp>
      <p:sp>
        <p:nvSpPr>
          <p:cNvPr id="42" name="Text 39"/>
          <p:cNvSpPr txBox="1"/>
          <p:nvPr/>
        </p:nvSpPr>
        <p:spPr>
          <a:xfrm>
            <a:off x="106070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0.5543</a:t>
            </a:r>
            <a:endParaRPr lang="en-US" sz="1700" dirty="0"/>
          </a:p>
        </p:txBody>
      </p:sp>
      <p:sp>
        <p:nvSpPr>
          <p:cNvPr id="43" name="Shape 40"/>
          <p:cNvSpPr/>
          <p:nvPr/>
        </p:nvSpPr>
        <p:spPr>
          <a:xfrm>
            <a:off x="548640" y="3017520"/>
            <a:ext cx="6766560" cy="3108960"/>
          </a:xfrm>
          <a:prstGeom prst="roundRect">
            <a:avLst>
              <a:gd name="adj" fmla="val 2353"/>
            </a:avLst>
          </a:prstGeom>
          <a:solidFill>
            <a:srgbClr val="FCEDE3"/>
          </a:solidFill>
          <a:ln/>
        </p:spPr>
      </p:sp>
      <p:sp>
        <p:nvSpPr>
          <p:cNvPr id="44" name="Text 41"/>
          <p:cNvSpPr txBox="1"/>
          <p:nvPr/>
        </p:nvSpPr>
        <p:spPr>
          <a:xfrm>
            <a:off x="777240" y="3127248"/>
            <a:ext cx="64008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D9611A"/>
                </a:solidFill>
                <a:latin typeface="Calibri" pitchFamily="34" charset="0"/>
                <a:ea typeface="Calibri" pitchFamily="34" charset="-122"/>
                <a:cs typeface="Calibri" pitchFamily="34" charset="-120"/>
              </a:rPr>
              <a:t>ERROR SIGNALS, ONE LOCAL DERIVATIVE AT A TIME</a:t>
            </a:r>
            <a:endParaRPr lang="en-US" sz="1100" dirty="0"/>
          </a:p>
        </p:txBody>
      </p:sp>
      <p:pic>
        <p:nvPicPr>
          <p:cNvPr id="45" name="Image 0" descr="equation we_backward">    </p:cNvPr>
          <p:cNvPicPr>
            <a:picLocks noChangeAspect="1"/>
          </p:cNvPicPr>
          <p:nvPr/>
        </p:nvPicPr>
        <p:blipFill>
          <a:blip r:embed="rId1"/>
          <a:stretch>
            <a:fillRect/>
          </a:stretch>
        </p:blipFill>
        <p:spPr>
          <a:xfrm>
            <a:off x="822960" y="3520440"/>
            <a:ext cx="5073786" cy="1889004"/>
          </a:xfrm>
          <a:prstGeom prst="rect">
            <a:avLst/>
          </a:prstGeom>
        </p:spPr>
      </p:pic>
      <p:sp>
        <p:nvSpPr>
          <p:cNvPr id="46" name="Shape 42"/>
          <p:cNvSpPr/>
          <p:nvPr/>
        </p:nvSpPr>
        <p:spPr>
          <a:xfrm>
            <a:off x="7543800" y="3017520"/>
            <a:ext cx="4096512" cy="3108960"/>
          </a:xfrm>
          <a:prstGeom prst="roundRect">
            <a:avLst>
              <a:gd name="adj" fmla="val 2353"/>
            </a:avLst>
          </a:prstGeom>
          <a:solidFill>
            <a:srgbClr val="F3F5F8"/>
          </a:solidFill>
          <a:ln/>
        </p:spPr>
      </p:sp>
      <p:sp>
        <p:nvSpPr>
          <p:cNvPr id="47" name="Text 43"/>
          <p:cNvSpPr txBox="1"/>
          <p:nvPr/>
        </p:nvSpPr>
        <p:spPr>
          <a:xfrm>
            <a:off x="7772400" y="3063240"/>
            <a:ext cx="2743200" cy="777240"/>
          </a:xfrm>
          <a:prstGeom prst="rect">
            <a:avLst/>
          </a:prstGeom>
          <a:noFill/>
          <a:ln/>
        </p:spPr>
        <p:txBody>
          <a:bodyPr wrap="square" lIns="0" tIns="0" rIns="0" bIns="0" rtlCol="0" anchor="t"/>
          <a:lstStyle/>
          <a:p>
            <a:pPr algn="l" indent="0" marL="0">
              <a:lnSpc>
                <a:spcPct val="100000"/>
              </a:lnSpc>
              <a:buNone/>
            </a:pPr>
            <a:r>
              <a:rPr lang="en-US" sz="4400" b="1" dirty="0">
                <a:solidFill>
                  <a:srgbClr val="D9611A"/>
                </a:solidFill>
                <a:latin typeface="Cambria" pitchFamily="34" charset="0"/>
                <a:ea typeface="Cambria" pitchFamily="34" charset="-122"/>
                <a:cs typeface="Cambria" pitchFamily="34" charset="-120"/>
              </a:rPr>
              <a:t>6.7×</a:t>
            </a:r>
            <a:endParaRPr lang="en-US" sz="4400" dirty="0"/>
          </a:p>
        </p:txBody>
      </p:sp>
      <p:sp>
        <p:nvSpPr>
          <p:cNvPr id="48" name="Text 44"/>
          <p:cNvSpPr txBox="1"/>
          <p:nvPr/>
        </p:nvSpPr>
        <p:spPr>
          <a:xfrm>
            <a:off x="7772400" y="3840480"/>
            <a:ext cx="3703320" cy="82296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smaller after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one</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sigmoid layer: |δ</a:t>
            </a:r>
            <a:pPr algn="l" indent="0" marL="0">
              <a:lnSpc>
                <a:spcPct val="100000"/>
              </a:lnSpc>
              <a:buNone/>
            </a:pPr>
            <a:r>
              <a:rPr lang="en-US" sz="150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δ</a:t>
            </a:r>
            <a:pPr algn="l" indent="0" marL="0">
              <a:lnSpc>
                <a:spcPct val="100000"/>
              </a:lnSpc>
              <a:buNone/>
            </a:pPr>
            <a:r>
              <a:rPr lang="en-US" sz="150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w</a:t>
            </a:r>
            <a:pPr algn="l" indent="0" marL="0">
              <a:lnSpc>
                <a:spcPct val="100000"/>
              </a:lnSpc>
              <a:buNone/>
            </a:pPr>
            <a:r>
              <a:rPr lang="en-US" sz="150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σ′(z</a:t>
            </a:r>
            <a:pPr algn="l" indent="0" marL="0">
              <a:lnSpc>
                <a:spcPct val="100000"/>
              </a:lnSpc>
              <a:buNone/>
            </a:pPr>
            <a:r>
              <a:rPr lang="en-US" sz="150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0.8 × 0.187</a:t>
            </a:r>
            <a:endParaRPr lang="en-US" sz="1500" dirty="0"/>
          </a:p>
        </p:txBody>
      </p:sp>
      <p:pic>
        <p:nvPicPr>
          <p:cNvPr id="49" name="Image 1" descr="equation sigprime">    </p:cNvPr>
          <p:cNvPicPr>
            <a:picLocks noChangeAspect="1"/>
          </p:cNvPicPr>
          <p:nvPr/>
        </p:nvPicPr>
        <p:blipFill>
          <a:blip r:embed="rId2"/>
          <a:stretch>
            <a:fillRect/>
          </a:stretch>
        </p:blipFill>
        <p:spPr>
          <a:xfrm>
            <a:off x="7772400" y="4754880"/>
            <a:ext cx="2540020" cy="299237"/>
          </a:xfrm>
          <a:prstGeom prst="rect">
            <a:avLst/>
          </a:prstGeom>
        </p:spPr>
      </p:pic>
      <p:sp>
        <p:nvSpPr>
          <p:cNvPr id="50" name="Text 45"/>
          <p:cNvSpPr txBox="1"/>
          <p:nvPr/>
        </p:nvSpPr>
        <p:spPr>
          <a:xfrm>
            <a:off x="7772400" y="5303520"/>
            <a:ext cx="3703320" cy="777240"/>
          </a:xfrm>
          <a:prstGeom prst="rect">
            <a:avLst/>
          </a:prstGeom>
          <a:noFill/>
          <a:ln/>
        </p:spPr>
        <p:txBody>
          <a:bodyPr wrap="square" lIns="0" tIns="0" rIns="0" bIns="0" rtlCol="0" anchor="t"/>
          <a:lstStyle/>
          <a:p>
            <a:pPr algn="l" indent="0" marL="0">
              <a:lnSpc>
                <a:spcPct val="100000"/>
              </a:lnSpc>
              <a:buNone/>
            </a:pPr>
            <a:r>
              <a:rPr lang="en-US" sz="1500" dirty="0">
                <a:solidFill>
                  <a:srgbClr val="B83227"/>
                </a:solidFill>
                <a:latin typeface="Calibri" pitchFamily="34" charset="0"/>
                <a:ea typeface="Calibri" pitchFamily="34" charset="-122"/>
                <a:cs typeface="Calibri" pitchFamily="34" charset="-120"/>
              </a:rPr>
              <a:t>Many such layers → the error fades: </a:t>
            </a:r>
            <a:pPr algn="l" indent="0" marL="0">
              <a:lnSpc>
                <a:spcPct val="100000"/>
              </a:lnSpc>
              <a:buNone/>
            </a:pPr>
            <a:r>
              <a:rPr lang="en-US" sz="1500" i="1" dirty="0">
                <a:solidFill>
                  <a:srgbClr val="B83227"/>
                </a:solidFill>
                <a:latin typeface="Calibri" pitchFamily="34" charset="0"/>
                <a:ea typeface="Calibri" pitchFamily="34" charset="-122"/>
                <a:cs typeface="Calibri" pitchFamily="34" charset="-120"/>
              </a:rPr>
              <a:t>vanishing gradients</a:t>
            </a:r>
            <a:pPr algn="l" indent="0" marL="0">
              <a:lnSpc>
                <a:spcPct val="100000"/>
              </a:lnSpc>
              <a:buNone/>
            </a:pPr>
            <a:r>
              <a:rPr lang="en-US" sz="1500" dirty="0">
                <a:solidFill>
                  <a:srgbClr val="B83227"/>
                </a:solidFill>
                <a:latin typeface="Calibri" pitchFamily="34" charset="0"/>
                <a:ea typeface="Calibri" pitchFamily="34" charset="-122"/>
                <a:cs typeface="Calibri" pitchFamily="34" charset="-120"/>
              </a:rPr>
              <a:t> (Session 2).</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WORKED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Gradients: weight = error × its input; bias = the error itself</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4</a:t>
            </a:r>
            <a:endParaRPr lang="en-US" sz="1100" dirty="0"/>
          </a:p>
        </p:txBody>
      </p:sp>
      <p:sp>
        <p:nvSpPr>
          <p:cNvPr id="6" name="Shape 3"/>
          <p:cNvSpPr/>
          <p:nvPr/>
        </p:nvSpPr>
        <p:spPr>
          <a:xfrm>
            <a:off x="1243584" y="2103120"/>
            <a:ext cx="1490472" cy="914"/>
          </a:xfrm>
          <a:prstGeom prst="line">
            <a:avLst/>
          </a:prstGeom>
          <a:noFill/>
          <a:ln w="22225">
            <a:solidFill>
              <a:srgbClr val="0E7C7B"/>
            </a:solidFill>
            <a:prstDash val="solid"/>
            <a:tailEnd type="triangle"/>
          </a:ln>
        </p:spPr>
      </p:sp>
      <p:sp>
        <p:nvSpPr>
          <p:cNvPr id="7" name="Text 4"/>
          <p:cNvSpPr txBox="1"/>
          <p:nvPr/>
        </p:nvSpPr>
        <p:spPr>
          <a:xfrm>
            <a:off x="144018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a:t>
            </a:r>
            <a:endParaRPr lang="en-US" sz="1300" dirty="0"/>
          </a:p>
        </p:txBody>
      </p:sp>
      <p:sp>
        <p:nvSpPr>
          <p:cNvPr id="8" name="Shape 5"/>
          <p:cNvSpPr/>
          <p:nvPr/>
        </p:nvSpPr>
        <p:spPr>
          <a:xfrm flipH="1">
            <a:off x="1243584" y="2258568"/>
            <a:ext cx="1490472" cy="914"/>
          </a:xfrm>
          <a:prstGeom prst="line">
            <a:avLst/>
          </a:prstGeom>
          <a:noFill/>
          <a:ln w="19050">
            <a:solidFill>
              <a:srgbClr val="D9611A"/>
            </a:solidFill>
            <a:prstDash val="solid"/>
            <a:tailEnd type="triangle"/>
          </a:ln>
        </p:spPr>
      </p:sp>
      <p:sp>
        <p:nvSpPr>
          <p:cNvPr id="9" name="Shape 6"/>
          <p:cNvSpPr/>
          <p:nvPr/>
        </p:nvSpPr>
        <p:spPr>
          <a:xfrm>
            <a:off x="612648" y="1801368"/>
            <a:ext cx="603504" cy="603504"/>
          </a:xfrm>
          <a:prstGeom prst="ellipse">
            <a:avLst/>
          </a:prstGeom>
          <a:solidFill>
            <a:srgbClr val="FFFFFF"/>
          </a:solidFill>
          <a:ln w="19050">
            <a:solidFill>
              <a:srgbClr val="8A94A3"/>
            </a:solidFill>
            <a:prstDash val="solid"/>
          </a:ln>
        </p:spPr>
      </p:sp>
      <p:sp>
        <p:nvSpPr>
          <p:cNvPr id="10" name="Text 7"/>
          <p:cNvSpPr txBox="1"/>
          <p:nvPr/>
        </p:nvSpPr>
        <p:spPr>
          <a:xfrm>
            <a:off x="61264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x</a:t>
            </a:r>
            <a:endParaRPr lang="en-US" sz="1700" dirty="0"/>
          </a:p>
        </p:txBody>
      </p:sp>
      <p:sp>
        <p:nvSpPr>
          <p:cNvPr id="11" name="Text 8"/>
          <p:cNvSpPr txBox="1"/>
          <p:nvPr/>
        </p:nvSpPr>
        <p:spPr>
          <a:xfrm>
            <a:off x="27432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2.0</a:t>
            </a:r>
            <a:endParaRPr lang="en-US" sz="1700" dirty="0"/>
          </a:p>
        </p:txBody>
      </p:sp>
      <p:sp>
        <p:nvSpPr>
          <p:cNvPr id="12" name="Shape 9"/>
          <p:cNvSpPr/>
          <p:nvPr/>
        </p:nvSpPr>
        <p:spPr>
          <a:xfrm>
            <a:off x="3392424" y="2103120"/>
            <a:ext cx="1490472" cy="914"/>
          </a:xfrm>
          <a:prstGeom prst="line">
            <a:avLst/>
          </a:prstGeom>
          <a:noFill/>
          <a:ln w="22225">
            <a:solidFill>
              <a:srgbClr val="0E7C7B"/>
            </a:solidFill>
            <a:prstDash val="solid"/>
            <a:tailEnd type="triangle"/>
          </a:ln>
        </p:spPr>
      </p:sp>
      <p:sp>
        <p:nvSpPr>
          <p:cNvPr id="13" name="Text 10"/>
          <p:cNvSpPr txBox="1"/>
          <p:nvPr/>
        </p:nvSpPr>
        <p:spPr>
          <a:xfrm>
            <a:off x="358902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14" name="Shape 11"/>
          <p:cNvSpPr/>
          <p:nvPr/>
        </p:nvSpPr>
        <p:spPr>
          <a:xfrm flipH="1">
            <a:off x="3392424" y="2258568"/>
            <a:ext cx="1490472" cy="914"/>
          </a:xfrm>
          <a:prstGeom prst="line">
            <a:avLst/>
          </a:prstGeom>
          <a:noFill/>
          <a:ln w="19050">
            <a:solidFill>
              <a:srgbClr val="D9611A"/>
            </a:solidFill>
            <a:prstDash val="solid"/>
            <a:tailEnd type="triangle"/>
          </a:ln>
        </p:spPr>
      </p:sp>
      <p:sp>
        <p:nvSpPr>
          <p:cNvPr id="15" name="Shape 12"/>
          <p:cNvSpPr/>
          <p:nvPr/>
        </p:nvSpPr>
        <p:spPr>
          <a:xfrm>
            <a:off x="2761488" y="1801368"/>
            <a:ext cx="603504" cy="603504"/>
          </a:xfrm>
          <a:prstGeom prst="ellipse">
            <a:avLst/>
          </a:prstGeom>
          <a:solidFill>
            <a:srgbClr val="FFFFFF"/>
          </a:solidFill>
          <a:ln w="19050">
            <a:solidFill>
              <a:srgbClr val="8A94A3"/>
            </a:solidFill>
            <a:prstDash val="solid"/>
          </a:ln>
        </p:spPr>
      </p:sp>
      <p:sp>
        <p:nvSpPr>
          <p:cNvPr id="16" name="Text 13"/>
          <p:cNvSpPr txBox="1"/>
          <p:nvPr/>
        </p:nvSpPr>
        <p:spPr>
          <a:xfrm>
            <a:off x="276148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17" name="Text 14"/>
          <p:cNvSpPr txBox="1"/>
          <p:nvPr/>
        </p:nvSpPr>
        <p:spPr>
          <a:xfrm>
            <a:off x="242316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1.1</a:t>
            </a:r>
            <a:endParaRPr lang="en-US" sz="1700" dirty="0"/>
          </a:p>
        </p:txBody>
      </p:sp>
      <p:sp>
        <p:nvSpPr>
          <p:cNvPr id="18" name="Text 15"/>
          <p:cNvSpPr txBox="1"/>
          <p:nvPr/>
        </p:nvSpPr>
        <p:spPr>
          <a:xfrm>
            <a:off x="214884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500" b="1" baseline="-40000" dirty="0">
                <a:solidFill>
                  <a:srgbClr val="D9611A"/>
                </a:solidFill>
                <a:latin typeface="Calibri" pitchFamily="34" charset="0"/>
                <a:ea typeface="Calibri" pitchFamily="34" charset="-122"/>
                <a:cs typeface="Calibri" pitchFamily="34" charset="-120"/>
              </a:rPr>
              <a:t>1</a:t>
            </a:r>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 = −0.0638</a:t>
            </a:r>
            <a:endParaRPr lang="en-US" sz="1500" dirty="0"/>
          </a:p>
        </p:txBody>
      </p:sp>
      <p:sp>
        <p:nvSpPr>
          <p:cNvPr id="19" name="Shape 16"/>
          <p:cNvSpPr/>
          <p:nvPr/>
        </p:nvSpPr>
        <p:spPr>
          <a:xfrm>
            <a:off x="5541264" y="2103120"/>
            <a:ext cx="1490472" cy="914"/>
          </a:xfrm>
          <a:prstGeom prst="line">
            <a:avLst/>
          </a:prstGeom>
          <a:noFill/>
          <a:ln w="22225">
            <a:solidFill>
              <a:srgbClr val="0E7C7B"/>
            </a:solidFill>
            <a:prstDash val="solid"/>
            <a:tailEnd type="triangle"/>
          </a:ln>
        </p:spPr>
      </p:sp>
      <p:sp>
        <p:nvSpPr>
          <p:cNvPr id="20" name="Text 17"/>
          <p:cNvSpPr txBox="1"/>
          <p:nvPr/>
        </p:nvSpPr>
        <p:spPr>
          <a:xfrm>
            <a:off x="573786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 b</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a:t>
            </a:r>
            <a:endParaRPr lang="en-US" sz="1300" dirty="0"/>
          </a:p>
        </p:txBody>
      </p:sp>
      <p:sp>
        <p:nvSpPr>
          <p:cNvPr id="21" name="Shape 18"/>
          <p:cNvSpPr/>
          <p:nvPr/>
        </p:nvSpPr>
        <p:spPr>
          <a:xfrm flipH="1">
            <a:off x="5541264" y="2258568"/>
            <a:ext cx="1490472" cy="914"/>
          </a:xfrm>
          <a:prstGeom prst="line">
            <a:avLst/>
          </a:prstGeom>
          <a:noFill/>
          <a:ln w="19050">
            <a:solidFill>
              <a:srgbClr val="D9611A"/>
            </a:solidFill>
            <a:prstDash val="solid"/>
            <a:tailEnd type="triangle"/>
          </a:ln>
        </p:spPr>
      </p:sp>
      <p:sp>
        <p:nvSpPr>
          <p:cNvPr id="22" name="Shape 19"/>
          <p:cNvSpPr/>
          <p:nvPr/>
        </p:nvSpPr>
        <p:spPr>
          <a:xfrm>
            <a:off x="4910328" y="1801368"/>
            <a:ext cx="603504" cy="603504"/>
          </a:xfrm>
          <a:prstGeom prst="ellipse">
            <a:avLst/>
          </a:prstGeom>
          <a:solidFill>
            <a:srgbClr val="FFFFFF"/>
          </a:solidFill>
          <a:ln w="19050">
            <a:solidFill>
              <a:srgbClr val="8A94A3"/>
            </a:solidFill>
            <a:prstDash val="solid"/>
          </a:ln>
        </p:spPr>
      </p:sp>
      <p:sp>
        <p:nvSpPr>
          <p:cNvPr id="23" name="Text 20"/>
          <p:cNvSpPr txBox="1"/>
          <p:nvPr/>
        </p:nvSpPr>
        <p:spPr>
          <a:xfrm>
            <a:off x="491032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1</a:t>
            </a:r>
            <a:endParaRPr lang="en-US" sz="1700" dirty="0"/>
          </a:p>
        </p:txBody>
      </p:sp>
      <p:sp>
        <p:nvSpPr>
          <p:cNvPr id="24" name="Text 21"/>
          <p:cNvSpPr txBox="1"/>
          <p:nvPr/>
        </p:nvSpPr>
        <p:spPr>
          <a:xfrm>
            <a:off x="457200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0.7503</a:t>
            </a:r>
            <a:endParaRPr lang="en-US" sz="1700" dirty="0"/>
          </a:p>
        </p:txBody>
      </p:sp>
      <p:sp>
        <p:nvSpPr>
          <p:cNvPr id="25" name="Text 22"/>
          <p:cNvSpPr txBox="1"/>
          <p:nvPr/>
        </p:nvSpPr>
        <p:spPr>
          <a:xfrm>
            <a:off x="429768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−0.3404</a:t>
            </a:r>
            <a:endParaRPr lang="en-US" sz="1500" dirty="0"/>
          </a:p>
        </p:txBody>
      </p:sp>
      <p:sp>
        <p:nvSpPr>
          <p:cNvPr id="26" name="Shape 23"/>
          <p:cNvSpPr/>
          <p:nvPr/>
        </p:nvSpPr>
        <p:spPr>
          <a:xfrm>
            <a:off x="7690104" y="2103120"/>
            <a:ext cx="1490472" cy="914"/>
          </a:xfrm>
          <a:prstGeom prst="line">
            <a:avLst/>
          </a:prstGeom>
          <a:noFill/>
          <a:ln w="22225">
            <a:solidFill>
              <a:srgbClr val="0E7C7B"/>
            </a:solidFill>
            <a:prstDash val="solid"/>
            <a:tailEnd type="triangle"/>
          </a:ln>
        </p:spPr>
      </p:sp>
      <p:sp>
        <p:nvSpPr>
          <p:cNvPr id="27" name="Text 24"/>
          <p:cNvSpPr txBox="1"/>
          <p:nvPr/>
        </p:nvSpPr>
        <p:spPr>
          <a:xfrm>
            <a:off x="78867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σ</a:t>
            </a:r>
            <a:endParaRPr lang="en-US" sz="1300" dirty="0"/>
          </a:p>
        </p:txBody>
      </p:sp>
      <p:sp>
        <p:nvSpPr>
          <p:cNvPr id="28" name="Shape 25"/>
          <p:cNvSpPr/>
          <p:nvPr/>
        </p:nvSpPr>
        <p:spPr>
          <a:xfrm flipH="1">
            <a:off x="7690104" y="2258568"/>
            <a:ext cx="1490472" cy="914"/>
          </a:xfrm>
          <a:prstGeom prst="line">
            <a:avLst/>
          </a:prstGeom>
          <a:noFill/>
          <a:ln w="19050">
            <a:solidFill>
              <a:srgbClr val="D9611A"/>
            </a:solidFill>
            <a:prstDash val="solid"/>
            <a:tailEnd type="triangle"/>
          </a:ln>
        </p:spPr>
      </p:sp>
      <p:sp>
        <p:nvSpPr>
          <p:cNvPr id="29" name="Shape 26"/>
          <p:cNvSpPr/>
          <p:nvPr/>
        </p:nvSpPr>
        <p:spPr>
          <a:xfrm>
            <a:off x="7059168" y="1801368"/>
            <a:ext cx="603504" cy="603504"/>
          </a:xfrm>
          <a:prstGeom prst="ellipse">
            <a:avLst/>
          </a:prstGeom>
          <a:solidFill>
            <a:srgbClr val="FFFFFF"/>
          </a:solidFill>
          <a:ln w="19050">
            <a:solidFill>
              <a:srgbClr val="8A94A3"/>
            </a:solidFill>
            <a:prstDash val="solid"/>
          </a:ln>
        </p:spPr>
      </p:sp>
      <p:sp>
        <p:nvSpPr>
          <p:cNvPr id="30" name="Text 27"/>
          <p:cNvSpPr txBox="1"/>
          <p:nvPr/>
        </p:nvSpPr>
        <p:spPr>
          <a:xfrm>
            <a:off x="70591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1" name="Text 28"/>
          <p:cNvSpPr txBox="1"/>
          <p:nvPr/>
        </p:nvSpPr>
        <p:spPr>
          <a:xfrm>
            <a:off x="67208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0.3002</a:t>
            </a:r>
            <a:endParaRPr lang="en-US" sz="1700" dirty="0"/>
          </a:p>
        </p:txBody>
      </p:sp>
      <p:sp>
        <p:nvSpPr>
          <p:cNvPr id="32" name="Text 29"/>
          <p:cNvSpPr txBox="1"/>
          <p:nvPr/>
        </p:nvSpPr>
        <p:spPr>
          <a:xfrm>
            <a:off x="644652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500" b="1" baseline="-40000" dirty="0">
                <a:solidFill>
                  <a:srgbClr val="D9611A"/>
                </a:solidFill>
                <a:latin typeface="Calibri" pitchFamily="34" charset="0"/>
                <a:ea typeface="Calibri" pitchFamily="34" charset="-122"/>
                <a:cs typeface="Calibri" pitchFamily="34" charset="-120"/>
              </a:rPr>
              <a:t>2</a:t>
            </a:r>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 = −0.4255</a:t>
            </a:r>
            <a:endParaRPr lang="en-US" sz="1500" dirty="0"/>
          </a:p>
        </p:txBody>
      </p:sp>
      <p:sp>
        <p:nvSpPr>
          <p:cNvPr id="33" name="Shape 30"/>
          <p:cNvSpPr/>
          <p:nvPr/>
        </p:nvSpPr>
        <p:spPr>
          <a:xfrm>
            <a:off x="9838944" y="2103120"/>
            <a:ext cx="1078992" cy="914"/>
          </a:xfrm>
          <a:prstGeom prst="line">
            <a:avLst/>
          </a:prstGeom>
          <a:noFill/>
          <a:ln w="22225">
            <a:solidFill>
              <a:srgbClr val="0E7C7B"/>
            </a:solidFill>
            <a:prstDash val="solid"/>
            <a:tailEnd type="triangle"/>
          </a:ln>
        </p:spPr>
      </p:sp>
      <p:sp>
        <p:nvSpPr>
          <p:cNvPr id="34" name="Text 31"/>
          <p:cNvSpPr txBox="1"/>
          <p:nvPr/>
        </p:nvSpPr>
        <p:spPr>
          <a:xfrm>
            <a:off x="9829800" y="1719072"/>
            <a:ext cx="1097280" cy="27432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BCE</a:t>
            </a:r>
            <a:endParaRPr lang="en-US" sz="1300" dirty="0"/>
          </a:p>
        </p:txBody>
      </p:sp>
      <p:sp>
        <p:nvSpPr>
          <p:cNvPr id="35" name="Shape 32"/>
          <p:cNvSpPr/>
          <p:nvPr/>
        </p:nvSpPr>
        <p:spPr>
          <a:xfrm flipH="1">
            <a:off x="9838944" y="2258568"/>
            <a:ext cx="1078992" cy="914"/>
          </a:xfrm>
          <a:prstGeom prst="line">
            <a:avLst/>
          </a:prstGeom>
          <a:noFill/>
          <a:ln w="19050">
            <a:solidFill>
              <a:srgbClr val="D9611A"/>
            </a:solidFill>
            <a:prstDash val="solid"/>
            <a:tailEnd type="triangle"/>
          </a:ln>
        </p:spPr>
      </p:sp>
      <p:sp>
        <p:nvSpPr>
          <p:cNvPr id="36" name="Shape 33"/>
          <p:cNvSpPr/>
          <p:nvPr/>
        </p:nvSpPr>
        <p:spPr>
          <a:xfrm>
            <a:off x="9208008" y="1801368"/>
            <a:ext cx="603504" cy="603504"/>
          </a:xfrm>
          <a:prstGeom prst="ellipse">
            <a:avLst/>
          </a:prstGeom>
          <a:solidFill>
            <a:srgbClr val="FFFFFF"/>
          </a:solidFill>
          <a:ln w="19050">
            <a:solidFill>
              <a:srgbClr val="8A94A3"/>
            </a:solidFill>
            <a:prstDash val="solid"/>
          </a:ln>
        </p:spPr>
      </p:sp>
      <p:sp>
        <p:nvSpPr>
          <p:cNvPr id="37" name="Text 34"/>
          <p:cNvSpPr txBox="1"/>
          <p:nvPr/>
        </p:nvSpPr>
        <p:spPr>
          <a:xfrm>
            <a:off x="920800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16202E"/>
                </a:solidFill>
                <a:latin typeface="Cambria" pitchFamily="34" charset="0"/>
                <a:ea typeface="Cambria" pitchFamily="34" charset="-122"/>
                <a:cs typeface="Cambria" pitchFamily="34" charset="-120"/>
              </a:rPr>
              <a:t>a</a:t>
            </a:r>
            <a:pPr algn="ctr" indent="0" marL="0">
              <a:lnSpc>
                <a:spcPct val="100000"/>
              </a:lnSpc>
              <a:buNone/>
            </a:pPr>
            <a:r>
              <a:rPr lang="en-US" sz="1700" i="1" baseline="-40000" dirty="0">
                <a:solidFill>
                  <a:srgbClr val="16202E"/>
                </a:solidFill>
                <a:latin typeface="Cambria" pitchFamily="34" charset="0"/>
                <a:ea typeface="Cambria" pitchFamily="34" charset="-122"/>
                <a:cs typeface="Cambria" pitchFamily="34" charset="-120"/>
              </a:rPr>
              <a:t>2</a:t>
            </a:r>
            <a:endParaRPr lang="en-US" sz="1700" dirty="0"/>
          </a:p>
        </p:txBody>
      </p:sp>
      <p:sp>
        <p:nvSpPr>
          <p:cNvPr id="38" name="Text 35"/>
          <p:cNvSpPr txBox="1"/>
          <p:nvPr/>
        </p:nvSpPr>
        <p:spPr>
          <a:xfrm>
            <a:off x="886968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0.5745</a:t>
            </a:r>
            <a:endParaRPr lang="en-US" sz="1700" dirty="0"/>
          </a:p>
        </p:txBody>
      </p:sp>
      <p:sp>
        <p:nvSpPr>
          <p:cNvPr id="39" name="Text 36"/>
          <p:cNvSpPr txBox="1"/>
          <p:nvPr/>
        </p:nvSpPr>
        <p:spPr>
          <a:xfrm>
            <a:off x="8595360" y="2450592"/>
            <a:ext cx="18288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−1.7407</a:t>
            </a:r>
            <a:endParaRPr lang="en-US" sz="1500" dirty="0"/>
          </a:p>
        </p:txBody>
      </p:sp>
      <p:sp>
        <p:nvSpPr>
          <p:cNvPr id="40" name="Shape 37"/>
          <p:cNvSpPr/>
          <p:nvPr/>
        </p:nvSpPr>
        <p:spPr>
          <a:xfrm>
            <a:off x="10945368" y="1801368"/>
            <a:ext cx="603504" cy="603504"/>
          </a:xfrm>
          <a:prstGeom prst="ellipse">
            <a:avLst/>
          </a:prstGeom>
          <a:solidFill>
            <a:srgbClr val="16202E"/>
          </a:solidFill>
          <a:ln/>
        </p:spPr>
      </p:sp>
      <p:sp>
        <p:nvSpPr>
          <p:cNvPr id="41" name="Text 38"/>
          <p:cNvSpPr txBox="1"/>
          <p:nvPr/>
        </p:nvSpPr>
        <p:spPr>
          <a:xfrm>
            <a:off x="10945368" y="1920240"/>
            <a:ext cx="603504" cy="365760"/>
          </a:xfrm>
          <a:prstGeom prst="rect">
            <a:avLst/>
          </a:prstGeom>
          <a:noFill/>
          <a:ln/>
        </p:spPr>
        <p:txBody>
          <a:bodyPr wrap="square" lIns="0" tIns="0" rIns="0" bIns="0" rtlCol="0" anchor="t"/>
          <a:lstStyle/>
          <a:p>
            <a:pPr algn="ctr" indent="0" marL="0">
              <a:lnSpc>
                <a:spcPct val="100000"/>
              </a:lnSpc>
              <a:buNone/>
            </a:pPr>
            <a:r>
              <a:rPr lang="en-US" sz="1700" i="1" dirty="0">
                <a:solidFill>
                  <a:srgbClr val="FFFFFF"/>
                </a:solidFill>
                <a:latin typeface="Cambria" pitchFamily="34" charset="0"/>
                <a:ea typeface="Cambria" pitchFamily="34" charset="-122"/>
                <a:cs typeface="Cambria" pitchFamily="34" charset="-120"/>
              </a:rPr>
              <a:t>L</a:t>
            </a:r>
            <a:endParaRPr lang="en-US" sz="1700" dirty="0"/>
          </a:p>
        </p:txBody>
      </p:sp>
      <p:sp>
        <p:nvSpPr>
          <p:cNvPr id="42" name="Text 39"/>
          <p:cNvSpPr txBox="1"/>
          <p:nvPr/>
        </p:nvSpPr>
        <p:spPr>
          <a:xfrm>
            <a:off x="10607040" y="1325880"/>
            <a:ext cx="1280160" cy="347472"/>
          </a:xfrm>
          <a:prstGeom prst="rect">
            <a:avLst/>
          </a:prstGeom>
          <a:noFill/>
          <a:ln/>
        </p:spPr>
        <p:txBody>
          <a:bodyPr wrap="square" lIns="0" tIns="0" rIns="0" bIns="0" rtlCol="0" anchor="t"/>
          <a:lstStyle/>
          <a:p>
            <a:pPr algn="ctr" indent="0" marL="0">
              <a:lnSpc>
                <a:spcPct val="100000"/>
              </a:lnSpc>
              <a:buNone/>
            </a:pPr>
            <a:r>
              <a:rPr lang="en-US" sz="1700" b="1" dirty="0">
                <a:solidFill>
                  <a:srgbClr val="0E7C7B"/>
                </a:solidFill>
                <a:latin typeface="Calibri" pitchFamily="34" charset="0"/>
                <a:ea typeface="Calibri" pitchFamily="34" charset="-122"/>
                <a:cs typeface="Calibri" pitchFamily="34" charset="-120"/>
              </a:rPr>
              <a:t>0.5543</a:t>
            </a:r>
            <a:endParaRPr lang="en-US" sz="1700" dirty="0"/>
          </a:p>
        </p:txBody>
      </p:sp>
      <p:sp>
        <p:nvSpPr>
          <p:cNvPr id="43" name="Shape 40"/>
          <p:cNvSpPr/>
          <p:nvPr/>
        </p:nvSpPr>
        <p:spPr>
          <a:xfrm>
            <a:off x="548640" y="3017520"/>
            <a:ext cx="6766560" cy="1874520"/>
          </a:xfrm>
          <a:prstGeom prst="roundRect">
            <a:avLst>
              <a:gd name="adj" fmla="val 3902"/>
            </a:avLst>
          </a:prstGeom>
          <a:solidFill>
            <a:srgbClr val="E3F2F1"/>
          </a:solidFill>
          <a:ln/>
        </p:spPr>
      </p:sp>
      <p:sp>
        <p:nvSpPr>
          <p:cNvPr id="44" name="Text 41"/>
          <p:cNvSpPr txBox="1"/>
          <p:nvPr/>
        </p:nvSpPr>
        <p:spPr>
          <a:xfrm>
            <a:off x="777240" y="3127248"/>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PARAMETER GRADIENTS</a:t>
            </a:r>
            <a:endParaRPr lang="en-US" sz="1100" dirty="0"/>
          </a:p>
        </p:txBody>
      </p:sp>
      <p:pic>
        <p:nvPicPr>
          <p:cNvPr id="45" name="Image 0" descr="equation we_grads">    </p:cNvPr>
          <p:cNvPicPr>
            <a:picLocks noChangeAspect="1"/>
          </p:cNvPicPr>
          <p:nvPr/>
        </p:nvPicPr>
        <p:blipFill>
          <a:blip r:embed="rId1"/>
          <a:stretch>
            <a:fillRect/>
          </a:stretch>
        </p:blipFill>
        <p:spPr>
          <a:xfrm>
            <a:off x="822960" y="3474720"/>
            <a:ext cx="5170566" cy="1259037"/>
          </a:xfrm>
          <a:prstGeom prst="rect">
            <a:avLst/>
          </a:prstGeom>
        </p:spPr>
      </p:pic>
      <p:sp>
        <p:nvSpPr>
          <p:cNvPr id="46" name="Shape 42"/>
          <p:cNvSpPr/>
          <p:nvPr/>
        </p:nvSpPr>
        <p:spPr>
          <a:xfrm>
            <a:off x="548640" y="5074920"/>
            <a:ext cx="3291840" cy="1051560"/>
          </a:xfrm>
          <a:prstGeom prst="roundRect">
            <a:avLst>
              <a:gd name="adj" fmla="val 6957"/>
            </a:avLst>
          </a:prstGeom>
          <a:solidFill>
            <a:srgbClr val="F3F5F8"/>
          </a:solidFill>
          <a:ln/>
        </p:spPr>
      </p:sp>
      <p:sp>
        <p:nvSpPr>
          <p:cNvPr id="47" name="Text 43"/>
          <p:cNvSpPr txBox="1"/>
          <p:nvPr/>
        </p:nvSpPr>
        <p:spPr>
          <a:xfrm>
            <a:off x="777240" y="5074920"/>
            <a:ext cx="2880360" cy="1051560"/>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Weight:</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error at its output × activation at its input</a:t>
            </a:r>
            <a:endParaRPr lang="en-US" sz="1600" dirty="0"/>
          </a:p>
        </p:txBody>
      </p:sp>
      <p:sp>
        <p:nvSpPr>
          <p:cNvPr id="48" name="Shape 44"/>
          <p:cNvSpPr/>
          <p:nvPr/>
        </p:nvSpPr>
        <p:spPr>
          <a:xfrm>
            <a:off x="4023360" y="5074920"/>
            <a:ext cx="3291840" cy="1051560"/>
          </a:xfrm>
          <a:prstGeom prst="roundRect">
            <a:avLst>
              <a:gd name="adj" fmla="val 6957"/>
            </a:avLst>
          </a:prstGeom>
          <a:solidFill>
            <a:srgbClr val="F3F5F8"/>
          </a:solidFill>
          <a:ln/>
        </p:spPr>
      </p:sp>
      <p:sp>
        <p:nvSpPr>
          <p:cNvPr id="49" name="Text 45"/>
          <p:cNvSpPr txBox="1"/>
          <p:nvPr/>
        </p:nvSpPr>
        <p:spPr>
          <a:xfrm>
            <a:off x="4251960" y="5074920"/>
            <a:ext cx="2880360" cy="1051560"/>
          </a:xfrm>
          <a:prstGeom prst="rect">
            <a:avLst/>
          </a:prstGeom>
          <a:noFill/>
          <a:ln/>
        </p:spPr>
        <p:txBody>
          <a:bodyPr wrap="square" lIns="0" tIns="0" rIns="0" bIns="0" rtlCol="0" anchor="ctr"/>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Bias:</a:t>
            </a:r>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 the error itself (its “input” is 1)</a:t>
            </a:r>
            <a:endParaRPr lang="en-US" sz="1600" dirty="0"/>
          </a:p>
        </p:txBody>
      </p:sp>
      <p:sp>
        <p:nvSpPr>
          <p:cNvPr id="50" name="Shape 46"/>
          <p:cNvSpPr/>
          <p:nvPr/>
        </p:nvSpPr>
        <p:spPr>
          <a:xfrm>
            <a:off x="7543800" y="3017520"/>
            <a:ext cx="4096512" cy="3108960"/>
          </a:xfrm>
          <a:prstGeom prst="roundRect">
            <a:avLst>
              <a:gd name="adj" fmla="val 2353"/>
            </a:avLst>
          </a:prstGeom>
          <a:solidFill>
            <a:srgbClr val="16202E"/>
          </a:solidFill>
          <a:ln/>
        </p:spPr>
      </p:sp>
      <p:sp>
        <p:nvSpPr>
          <p:cNvPr id="51" name="Text 47"/>
          <p:cNvSpPr txBox="1"/>
          <p:nvPr/>
        </p:nvSpPr>
        <p:spPr>
          <a:xfrm>
            <a:off x="7772400" y="3154680"/>
            <a:ext cx="36576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FC4BE"/>
                </a:solidFill>
                <a:latin typeface="Calibri" pitchFamily="34" charset="0"/>
                <a:ea typeface="Calibri" pitchFamily="34" charset="-122"/>
                <a:cs typeface="Calibri" pitchFamily="34" charset="-120"/>
              </a:rPr>
              <a:t>ONE GRADIENT STEP, η = 0.5</a:t>
            </a:r>
            <a:endParaRPr lang="en-US" sz="1100" dirty="0"/>
          </a:p>
        </p:txBody>
      </p:sp>
      <p:sp>
        <p:nvSpPr>
          <p:cNvPr id="52" name="Text 48"/>
          <p:cNvSpPr txBox="1"/>
          <p:nvPr/>
        </p:nvSpPr>
        <p:spPr>
          <a:xfrm>
            <a:off x="7772400" y="3474720"/>
            <a:ext cx="3657600" cy="2011680"/>
          </a:xfrm>
          <a:prstGeom prst="rect">
            <a:avLst/>
          </a:prstGeom>
          <a:noFill/>
          <a:ln/>
        </p:spPr>
        <p:txBody>
          <a:bodyPr wrap="square" lIns="0" tIns="0" rIns="0" bIns="0" rtlCol="0" anchor="t"/>
          <a:lstStyle/>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θ ← θ − η · ∂L/∂θ</a:t>
            </a:r>
            <a:endParaRPr lang="en-US" sz="1600" dirty="0"/>
          </a:p>
          <a:p>
            <a:pPr algn="l" indent="0" marL="0">
              <a:lnSpc>
                <a:spcPct val="110000"/>
              </a:lnSpc>
              <a:buNone/>
            </a:pPr>
            <a:endParaRPr lang="en-US" sz="1600" dirty="0"/>
          </a:p>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w1   0.5   →  0.5638</a:t>
            </a:r>
            <a:endParaRPr lang="en-US" sz="1600" dirty="0"/>
          </a:p>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b1   0.1   →  0.1319</a:t>
            </a:r>
            <a:endParaRPr lang="en-US" sz="1600" dirty="0"/>
          </a:p>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w2   0.8   →  0.9596</a:t>
            </a:r>
            <a:endParaRPr lang="en-US" sz="1600" dirty="0"/>
          </a:p>
          <a:p>
            <a:pPr algn="l" indent="0" marL="0">
              <a:lnSpc>
                <a:spcPct val="110000"/>
              </a:lnSpc>
              <a:buNone/>
            </a:pPr>
            <a:r>
              <a:rPr lang="en-US" sz="1600" dirty="0">
                <a:solidFill>
                  <a:srgbClr val="FFFFFF"/>
                </a:solidFill>
                <a:latin typeface="Courier New" pitchFamily="34" charset="0"/>
                <a:ea typeface="Courier New" pitchFamily="34" charset="-122"/>
                <a:cs typeface="Courier New" pitchFamily="34" charset="-120"/>
              </a:rPr>
              <a:t>b2  −0.3   → −0.0872</a:t>
            </a:r>
            <a:endParaRPr lang="en-US" sz="1600" dirty="0"/>
          </a:p>
        </p:txBody>
      </p:sp>
      <p:sp>
        <p:nvSpPr>
          <p:cNvPr id="53" name="Text 49"/>
          <p:cNvSpPr txBox="1"/>
          <p:nvPr/>
        </p:nvSpPr>
        <p:spPr>
          <a:xfrm>
            <a:off x="7772400" y="5577840"/>
            <a:ext cx="3657600" cy="457200"/>
          </a:xfrm>
          <a:prstGeom prst="rect">
            <a:avLst/>
          </a:prstGeom>
          <a:noFill/>
          <a:ln/>
        </p:spPr>
        <p:txBody>
          <a:bodyPr wrap="square" lIns="0" tIns="0" rIns="0" bIns="0" rtlCol="0" anchor="t"/>
          <a:lstStyle/>
          <a:p>
            <a:pPr algn="l" indent="0" marL="0">
              <a:lnSpc>
                <a:spcPct val="100000"/>
              </a:lnSpc>
              <a:buNone/>
            </a:pPr>
            <a:r>
              <a:rPr lang="en-US" sz="1900" b="1" dirty="0">
                <a:solidFill>
                  <a:srgbClr val="5FC4BE"/>
                </a:solidFill>
                <a:latin typeface="Calibri" pitchFamily="34" charset="0"/>
                <a:ea typeface="Calibri" pitchFamily="34" charset="-122"/>
                <a:cs typeface="Calibri" pitchFamily="34" charset="-120"/>
              </a:rPr>
              <a:t>Loss  0.5543 → 0.4166 ✓</a:t>
            </a:r>
            <a:endParaRPr lang="en-US" sz="19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4</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what if a value feeds several units?</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In the worked example, set w</a:t>
            </a:r>
            <a:pPr algn="l" indent="0" marL="0">
              <a:lnSpc>
                <a:spcPct val="100000"/>
              </a:lnSpc>
              <a:buNone/>
            </a:pPr>
            <a:r>
              <a:rPr lang="en-US" sz="210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 = 0 (everything else unchanged). What is ∂L/∂w</a:t>
            </a:r>
            <a:pPr algn="l" indent="0" marL="0">
              <a:lnSpc>
                <a:spcPct val="100000"/>
              </a:lnSpc>
              <a:buNone/>
            </a:pPr>
            <a:r>
              <a:rPr lang="en-US" sz="210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a:t>
            </a:r>
            <a:endParaRPr lang="en-US" sz="2100" dirty="0"/>
          </a:p>
        </p:txBody>
      </p:sp>
      <p:sp>
        <p:nvSpPr>
          <p:cNvPr id="7" name="Shape 4"/>
          <p:cNvSpPr/>
          <p:nvPr/>
        </p:nvSpPr>
        <p:spPr>
          <a:xfrm>
            <a:off x="548640" y="2606040"/>
            <a:ext cx="5455768" cy="1024128"/>
          </a:xfrm>
          <a:prstGeom prst="roundRect">
            <a:avLst>
              <a:gd name="adj" fmla="val 7143"/>
            </a:avLst>
          </a:prstGeom>
          <a:solidFill>
            <a:srgbClr val="F3F5F8"/>
          </a:solidFill>
          <a:ln/>
        </p:spPr>
      </p:sp>
      <p:sp>
        <p:nvSpPr>
          <p:cNvPr id="8" name="Shape 5"/>
          <p:cNvSpPr/>
          <p:nvPr/>
        </p:nvSpPr>
        <p:spPr>
          <a:xfrm>
            <a:off x="822960" y="2907792"/>
            <a:ext cx="420624" cy="420624"/>
          </a:xfrm>
          <a:prstGeom prst="ellipse">
            <a:avLst/>
          </a:prstGeom>
          <a:solidFill>
            <a:srgbClr val="16202E"/>
          </a:solidFill>
          <a:ln/>
        </p:spPr>
      </p:sp>
      <p:sp>
        <p:nvSpPr>
          <p:cNvPr id="9" name="Text 6"/>
          <p:cNvSpPr txBox="1"/>
          <p:nvPr/>
        </p:nvSpPr>
        <p:spPr>
          <a:xfrm>
            <a:off x="822960"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7"/>
          <p:cNvSpPr txBox="1"/>
          <p:nvPr/>
        </p:nvSpPr>
        <p:spPr>
          <a:xfrm>
            <a:off x="1463040"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Exactly 0</a:t>
            </a:r>
            <a:endParaRPr lang="en-US" sz="1900" dirty="0"/>
          </a:p>
        </p:txBody>
      </p:sp>
      <p:sp>
        <p:nvSpPr>
          <p:cNvPr id="11" name="Shape 8"/>
          <p:cNvSpPr/>
          <p:nvPr/>
        </p:nvSpPr>
        <p:spPr>
          <a:xfrm>
            <a:off x="6187288" y="2606040"/>
            <a:ext cx="5455768" cy="1024128"/>
          </a:xfrm>
          <a:prstGeom prst="roundRect">
            <a:avLst>
              <a:gd name="adj" fmla="val 7143"/>
            </a:avLst>
          </a:prstGeom>
          <a:solidFill>
            <a:srgbClr val="F3F5F8"/>
          </a:solidFill>
          <a:ln/>
        </p:spPr>
      </p:sp>
      <p:sp>
        <p:nvSpPr>
          <p:cNvPr id="12" name="Shape 9"/>
          <p:cNvSpPr/>
          <p:nvPr/>
        </p:nvSpPr>
        <p:spPr>
          <a:xfrm>
            <a:off x="6461608" y="2907792"/>
            <a:ext cx="420624" cy="420624"/>
          </a:xfrm>
          <a:prstGeom prst="ellipse">
            <a:avLst/>
          </a:prstGeom>
          <a:solidFill>
            <a:srgbClr val="16202E"/>
          </a:solidFill>
          <a:ln/>
        </p:spPr>
      </p:sp>
      <p:sp>
        <p:nvSpPr>
          <p:cNvPr id="13" name="Text 10"/>
          <p:cNvSpPr txBox="1"/>
          <p:nvPr/>
        </p:nvSpPr>
        <p:spPr>
          <a:xfrm>
            <a:off x="6461608"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7101688"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Unchanged: −0.1276</a:t>
            </a:r>
            <a:endParaRPr lang="en-US" sz="1900" dirty="0"/>
          </a:p>
        </p:txBody>
      </p:sp>
      <p:sp>
        <p:nvSpPr>
          <p:cNvPr id="15" name="Shape 12"/>
          <p:cNvSpPr/>
          <p:nvPr/>
        </p:nvSpPr>
        <p:spPr>
          <a:xfrm>
            <a:off x="548640" y="3813048"/>
            <a:ext cx="5455768" cy="1024128"/>
          </a:xfrm>
          <a:prstGeom prst="roundRect">
            <a:avLst>
              <a:gd name="adj" fmla="val 7143"/>
            </a:avLst>
          </a:prstGeom>
          <a:solidFill>
            <a:srgbClr val="F3F5F8"/>
          </a:solidFill>
          <a:ln/>
        </p:spPr>
      </p:sp>
      <p:sp>
        <p:nvSpPr>
          <p:cNvPr id="16" name="Shape 13"/>
          <p:cNvSpPr/>
          <p:nvPr/>
        </p:nvSpPr>
        <p:spPr>
          <a:xfrm>
            <a:off x="822960" y="4114800"/>
            <a:ext cx="420624" cy="420624"/>
          </a:xfrm>
          <a:prstGeom prst="ellipse">
            <a:avLst/>
          </a:prstGeom>
          <a:solidFill>
            <a:srgbClr val="16202E"/>
          </a:solidFill>
          <a:ln/>
        </p:spPr>
      </p:sp>
      <p:sp>
        <p:nvSpPr>
          <p:cNvPr id="17" name="Text 14"/>
          <p:cNvSpPr txBox="1"/>
          <p:nvPr/>
        </p:nvSpPr>
        <p:spPr>
          <a:xfrm>
            <a:off x="822960"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5"/>
          <p:cNvSpPr txBox="1"/>
          <p:nvPr/>
        </p:nvSpPr>
        <p:spPr>
          <a:xfrm>
            <a:off x="1463040"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Larger in magnitude</a:t>
            </a:r>
            <a:endParaRPr lang="en-US" sz="1900" dirty="0"/>
          </a:p>
        </p:txBody>
      </p:sp>
      <p:sp>
        <p:nvSpPr>
          <p:cNvPr id="19" name="Shape 16"/>
          <p:cNvSpPr/>
          <p:nvPr/>
        </p:nvSpPr>
        <p:spPr>
          <a:xfrm>
            <a:off x="6187288" y="3813048"/>
            <a:ext cx="5455768" cy="1024128"/>
          </a:xfrm>
          <a:prstGeom prst="roundRect">
            <a:avLst>
              <a:gd name="adj" fmla="val 7143"/>
            </a:avLst>
          </a:prstGeom>
          <a:solidFill>
            <a:srgbClr val="F3F5F8"/>
          </a:solidFill>
          <a:ln/>
        </p:spPr>
      </p:sp>
      <p:sp>
        <p:nvSpPr>
          <p:cNvPr id="20" name="Shape 17"/>
          <p:cNvSpPr/>
          <p:nvPr/>
        </p:nvSpPr>
        <p:spPr>
          <a:xfrm>
            <a:off x="6461608" y="4114800"/>
            <a:ext cx="420624" cy="420624"/>
          </a:xfrm>
          <a:prstGeom prst="ellipse">
            <a:avLst/>
          </a:prstGeom>
          <a:solidFill>
            <a:srgbClr val="16202E"/>
          </a:solidFill>
          <a:ln/>
        </p:spPr>
      </p:sp>
      <p:sp>
        <p:nvSpPr>
          <p:cNvPr id="21" name="Text 18"/>
          <p:cNvSpPr txBox="1"/>
          <p:nvPr/>
        </p:nvSpPr>
        <p:spPr>
          <a:xfrm>
            <a:off x="6461608"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19"/>
          <p:cNvSpPr txBox="1"/>
          <p:nvPr/>
        </p:nvSpPr>
        <p:spPr>
          <a:xfrm>
            <a:off x="7101688"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Undefined</a:t>
            </a:r>
            <a:endParaRPr lang="en-US" sz="1900" dirty="0"/>
          </a:p>
        </p:txBody>
      </p:sp>
      <p:sp>
        <p:nvSpPr>
          <p:cNvPr id="23" name="Text 20"/>
          <p:cNvSpPr txBox="1"/>
          <p:nvPr/>
        </p:nvSpPr>
        <p:spPr>
          <a:xfrm>
            <a:off x="548640" y="509320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When a value feeds several units, its gradient is a sum over the paths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write that sum as a matrix product</a:t>
            </a:r>
            <a:endParaRPr lang="en-US" sz="1100" dirty="0"/>
          </a:p>
        </p:txBody>
      </p:sp>
      <p:sp>
        <p:nvSpPr>
          <p:cNvPr id="6" name="Shape 3"/>
          <p:cNvSpPr/>
          <p:nvPr/>
        </p:nvSpPr>
        <p:spPr>
          <a:xfrm flipV="1">
            <a:off x="2377440" y="2240280"/>
            <a:ext cx="2194560" cy="868680"/>
          </a:xfrm>
          <a:prstGeom prst="line">
            <a:avLst/>
          </a:prstGeom>
          <a:noFill/>
          <a:ln w="25400">
            <a:solidFill>
              <a:srgbClr val="0E7C7B"/>
            </a:solidFill>
            <a:prstDash val="solid"/>
            <a:tailEnd type="triangle"/>
          </a:ln>
        </p:spPr>
      </p:sp>
      <p:sp>
        <p:nvSpPr>
          <p:cNvPr id="7" name="Shape 4"/>
          <p:cNvSpPr/>
          <p:nvPr/>
        </p:nvSpPr>
        <p:spPr>
          <a:xfrm>
            <a:off x="2377440" y="3474720"/>
            <a:ext cx="2194560" cy="868680"/>
          </a:xfrm>
          <a:prstGeom prst="line">
            <a:avLst/>
          </a:prstGeom>
          <a:noFill/>
          <a:ln w="25400">
            <a:solidFill>
              <a:srgbClr val="0E7C7B"/>
            </a:solidFill>
            <a:prstDash val="solid"/>
            <a:tailEnd type="triangle"/>
          </a:ln>
        </p:spPr>
      </p:sp>
      <p:sp>
        <p:nvSpPr>
          <p:cNvPr id="8" name="Shape 5"/>
          <p:cNvSpPr/>
          <p:nvPr/>
        </p:nvSpPr>
        <p:spPr>
          <a:xfrm flipH="1">
            <a:off x="2304288" y="2487168"/>
            <a:ext cx="2249424" cy="804672"/>
          </a:xfrm>
          <a:prstGeom prst="line">
            <a:avLst/>
          </a:prstGeom>
          <a:noFill/>
          <a:ln w="22225">
            <a:solidFill>
              <a:srgbClr val="D9611A"/>
            </a:solidFill>
            <a:prstDash val="dash"/>
            <a:tailEnd type="triangle"/>
          </a:ln>
        </p:spPr>
      </p:sp>
      <p:sp>
        <p:nvSpPr>
          <p:cNvPr id="9" name="Shape 6"/>
          <p:cNvSpPr/>
          <p:nvPr/>
        </p:nvSpPr>
        <p:spPr>
          <a:xfrm flipH="1" flipV="1">
            <a:off x="2304288" y="3337560"/>
            <a:ext cx="2249424" cy="758952"/>
          </a:xfrm>
          <a:prstGeom prst="line">
            <a:avLst/>
          </a:prstGeom>
          <a:noFill/>
          <a:ln w="22225">
            <a:solidFill>
              <a:srgbClr val="D9611A"/>
            </a:solidFill>
            <a:prstDash val="dash"/>
            <a:tailEnd type="triangle"/>
          </a:ln>
        </p:spPr>
      </p:sp>
      <p:sp>
        <p:nvSpPr>
          <p:cNvPr id="10" name="Shape 7"/>
          <p:cNvSpPr/>
          <p:nvPr/>
        </p:nvSpPr>
        <p:spPr>
          <a:xfrm>
            <a:off x="1645920" y="2926080"/>
            <a:ext cx="731520" cy="731520"/>
          </a:xfrm>
          <a:prstGeom prst="ellipse">
            <a:avLst/>
          </a:prstGeom>
          <a:solidFill>
            <a:srgbClr val="0E7C7B"/>
          </a:solidFill>
          <a:ln/>
        </p:spPr>
      </p:sp>
      <p:sp>
        <p:nvSpPr>
          <p:cNvPr id="11" name="Text 8"/>
          <p:cNvSpPr txBox="1"/>
          <p:nvPr/>
        </p:nvSpPr>
        <p:spPr>
          <a:xfrm>
            <a:off x="1737360" y="3063240"/>
            <a:ext cx="548640" cy="457200"/>
          </a:xfrm>
          <a:prstGeom prst="rect">
            <a:avLst/>
          </a:prstGeom>
          <a:noFill/>
          <a:ln/>
        </p:spPr>
        <p:txBody>
          <a:bodyPr wrap="square" lIns="0" tIns="0" rIns="0" bIns="0" rtlCol="0" anchor="t"/>
          <a:lstStyle/>
          <a:p>
            <a:pPr algn="ctr" indent="0" marL="0">
              <a:lnSpc>
                <a:spcPct val="100000"/>
              </a:lnSpc>
              <a:buNone/>
            </a:pPr>
            <a:r>
              <a:rPr lang="en-US" sz="2200" i="1" dirty="0">
                <a:solidFill>
                  <a:srgbClr val="FFFFFF"/>
                </a:solidFill>
                <a:latin typeface="Cambria" pitchFamily="34" charset="0"/>
                <a:ea typeface="Cambria" pitchFamily="34" charset="-122"/>
                <a:cs typeface="Cambria" pitchFamily="34" charset="-120"/>
              </a:rPr>
              <a:t>a</a:t>
            </a:r>
            <a:endParaRPr lang="en-US" sz="2200" dirty="0"/>
          </a:p>
        </p:txBody>
      </p:sp>
      <p:sp>
        <p:nvSpPr>
          <p:cNvPr id="12" name="Shape 9"/>
          <p:cNvSpPr/>
          <p:nvPr/>
        </p:nvSpPr>
        <p:spPr>
          <a:xfrm>
            <a:off x="4572000" y="1737360"/>
            <a:ext cx="731520" cy="731520"/>
          </a:xfrm>
          <a:prstGeom prst="ellipse">
            <a:avLst/>
          </a:prstGeom>
          <a:solidFill>
            <a:srgbClr val="FFFFFF"/>
          </a:solidFill>
          <a:ln w="19050">
            <a:solidFill>
              <a:srgbClr val="8A94A3"/>
            </a:solidFill>
            <a:prstDash val="solid"/>
          </a:ln>
        </p:spPr>
      </p:sp>
      <p:sp>
        <p:nvSpPr>
          <p:cNvPr id="13" name="Text 10"/>
          <p:cNvSpPr txBox="1"/>
          <p:nvPr/>
        </p:nvSpPr>
        <p:spPr>
          <a:xfrm>
            <a:off x="4572000" y="1901952"/>
            <a:ext cx="73152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900" i="1" baseline="-40000" dirty="0">
                <a:solidFill>
                  <a:srgbClr val="16202E"/>
                </a:solidFill>
                <a:latin typeface="Cambria" pitchFamily="34" charset="0"/>
                <a:ea typeface="Cambria" pitchFamily="34" charset="-122"/>
                <a:cs typeface="Cambria" pitchFamily="34" charset="-120"/>
              </a:rPr>
              <a:t>A</a:t>
            </a:r>
            <a:endParaRPr lang="en-US" sz="1900" dirty="0"/>
          </a:p>
        </p:txBody>
      </p:sp>
      <p:sp>
        <p:nvSpPr>
          <p:cNvPr id="14" name="Shape 11"/>
          <p:cNvSpPr/>
          <p:nvPr/>
        </p:nvSpPr>
        <p:spPr>
          <a:xfrm>
            <a:off x="4572000" y="4114800"/>
            <a:ext cx="731520" cy="731520"/>
          </a:xfrm>
          <a:prstGeom prst="ellipse">
            <a:avLst/>
          </a:prstGeom>
          <a:solidFill>
            <a:srgbClr val="FFFFFF"/>
          </a:solidFill>
          <a:ln w="19050">
            <a:solidFill>
              <a:srgbClr val="8A94A3"/>
            </a:solidFill>
            <a:prstDash val="solid"/>
          </a:ln>
        </p:spPr>
      </p:sp>
      <p:sp>
        <p:nvSpPr>
          <p:cNvPr id="15" name="Text 12"/>
          <p:cNvSpPr txBox="1"/>
          <p:nvPr/>
        </p:nvSpPr>
        <p:spPr>
          <a:xfrm>
            <a:off x="4572000" y="4279392"/>
            <a:ext cx="731520" cy="402336"/>
          </a:xfrm>
          <a:prstGeom prst="rect">
            <a:avLst/>
          </a:prstGeom>
          <a:noFill/>
          <a:ln/>
        </p:spPr>
        <p:txBody>
          <a:bodyPr wrap="square" lIns="0" tIns="0" rIns="0" bIns="0" rtlCol="0" anchor="t"/>
          <a:lstStyle/>
          <a:p>
            <a:pPr algn="ctr" indent="0" marL="0">
              <a:lnSpc>
                <a:spcPct val="100000"/>
              </a:lnSpc>
              <a:buNone/>
            </a:pPr>
            <a:r>
              <a:rPr lang="en-US" sz="1900" i="1" dirty="0">
                <a:solidFill>
                  <a:srgbClr val="16202E"/>
                </a:solidFill>
                <a:latin typeface="Cambria" pitchFamily="34" charset="0"/>
                <a:ea typeface="Cambria" pitchFamily="34" charset="-122"/>
                <a:cs typeface="Cambria" pitchFamily="34" charset="-120"/>
              </a:rPr>
              <a:t>z</a:t>
            </a:r>
            <a:pPr algn="ctr" indent="0" marL="0">
              <a:lnSpc>
                <a:spcPct val="100000"/>
              </a:lnSpc>
              <a:buNone/>
            </a:pPr>
            <a:r>
              <a:rPr lang="en-US" sz="1900" i="1" baseline="-40000" dirty="0">
                <a:solidFill>
                  <a:srgbClr val="16202E"/>
                </a:solidFill>
                <a:latin typeface="Cambria" pitchFamily="34" charset="0"/>
                <a:ea typeface="Cambria" pitchFamily="34" charset="-122"/>
                <a:cs typeface="Cambria" pitchFamily="34" charset="-120"/>
              </a:rPr>
              <a:t>B</a:t>
            </a:r>
            <a:endParaRPr lang="en-US" sz="1900" dirty="0"/>
          </a:p>
        </p:txBody>
      </p:sp>
      <p:sp>
        <p:nvSpPr>
          <p:cNvPr id="16" name="Text 13"/>
          <p:cNvSpPr txBox="1"/>
          <p:nvPr/>
        </p:nvSpPr>
        <p:spPr>
          <a:xfrm>
            <a:off x="2743200" y="2240280"/>
            <a:ext cx="1280160" cy="320040"/>
          </a:xfrm>
          <a:prstGeom prst="rect">
            <a:avLst/>
          </a:prstGeom>
          <a:noFill/>
          <a:ln/>
        </p:spPr>
        <p:txBody>
          <a:bodyPr wrap="square" lIns="0" tIns="0" rIns="0" bIns="0" rtlCol="0" anchor="t"/>
          <a:lstStyle/>
          <a:p>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l" indent="0" marL="0">
              <a:lnSpc>
                <a:spcPct val="100000"/>
              </a:lnSpc>
              <a:buNone/>
            </a:pPr>
            <a:r>
              <a:rPr lang="en-US" sz="1600" b="1" baseline="-40000" dirty="0">
                <a:solidFill>
                  <a:srgbClr val="0E7C7B"/>
                </a:solidFill>
                <a:latin typeface="Calibri" pitchFamily="34" charset="0"/>
                <a:ea typeface="Calibri" pitchFamily="34" charset="-122"/>
                <a:cs typeface="Calibri" pitchFamily="34" charset="-120"/>
              </a:rPr>
              <a:t>A</a:t>
            </a:r>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 = 2</a:t>
            </a:r>
            <a:endParaRPr lang="en-US" sz="1600" dirty="0"/>
          </a:p>
        </p:txBody>
      </p:sp>
      <p:sp>
        <p:nvSpPr>
          <p:cNvPr id="17" name="Text 14"/>
          <p:cNvSpPr txBox="1"/>
          <p:nvPr/>
        </p:nvSpPr>
        <p:spPr>
          <a:xfrm>
            <a:off x="2651760" y="4206240"/>
            <a:ext cx="1371600" cy="320040"/>
          </a:xfrm>
          <a:prstGeom prst="rect">
            <a:avLst/>
          </a:prstGeom>
          <a:noFill/>
          <a:ln/>
        </p:spPr>
        <p:txBody>
          <a:bodyPr wrap="square" lIns="0" tIns="0" rIns="0" bIns="0" rtlCol="0" anchor="t"/>
          <a:lstStyle/>
          <a:p>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w</a:t>
            </a:r>
            <a:pPr algn="l" indent="0" marL="0">
              <a:lnSpc>
                <a:spcPct val="100000"/>
              </a:lnSpc>
              <a:buNone/>
            </a:pPr>
            <a:r>
              <a:rPr lang="en-US" sz="1600" b="1" baseline="-40000" dirty="0">
                <a:solidFill>
                  <a:srgbClr val="0E7C7B"/>
                </a:solidFill>
                <a:latin typeface="Calibri" pitchFamily="34" charset="0"/>
                <a:ea typeface="Calibri" pitchFamily="34" charset="-122"/>
                <a:cs typeface="Calibri" pitchFamily="34" charset="-120"/>
              </a:rPr>
              <a:t>B</a:t>
            </a:r>
            <a:pPr algn="l" indent="0" marL="0">
              <a:lnSpc>
                <a:spcPct val="100000"/>
              </a:lnSpc>
              <a:buNone/>
            </a:pPr>
            <a:r>
              <a:rPr lang="en-US" sz="1600" b="1" dirty="0">
                <a:solidFill>
                  <a:srgbClr val="0E7C7B"/>
                </a:solidFill>
                <a:latin typeface="Calibri" pitchFamily="34" charset="0"/>
                <a:ea typeface="Calibri" pitchFamily="34" charset="-122"/>
                <a:cs typeface="Calibri" pitchFamily="34" charset="-120"/>
              </a:rPr>
              <a:t> = −1</a:t>
            </a:r>
            <a:endParaRPr lang="en-US" sz="1600" dirty="0"/>
          </a:p>
        </p:txBody>
      </p:sp>
      <p:sp>
        <p:nvSpPr>
          <p:cNvPr id="18" name="Text 15"/>
          <p:cNvSpPr txBox="1"/>
          <p:nvPr/>
        </p:nvSpPr>
        <p:spPr>
          <a:xfrm>
            <a:off x="5440680" y="1920240"/>
            <a:ext cx="1371600" cy="365760"/>
          </a:xfrm>
          <a:prstGeom prst="rect">
            <a:avLst/>
          </a:prstGeom>
          <a:noFill/>
          <a:ln/>
        </p:spPr>
        <p:txBody>
          <a:bodyPr wrap="square" lIns="0" tIns="0" rIns="0" bIns="0" rtlCol="0" anchor="t"/>
          <a:lstStyle/>
          <a:p>
            <a:pPr algn="l" indent="0" marL="0">
              <a:lnSpc>
                <a:spcPct val="100000"/>
              </a:lnSpc>
              <a:buNone/>
            </a:pPr>
            <a:r>
              <a:rPr lang="en-US" sz="1700" b="1" dirty="0">
                <a:solidFill>
                  <a:srgbClr val="D9611A"/>
                </a:solidFill>
                <a:latin typeface="Calibri" pitchFamily="34" charset="0"/>
                <a:ea typeface="Calibri" pitchFamily="34" charset="-122"/>
                <a:cs typeface="Calibri" pitchFamily="34" charset="-120"/>
              </a:rPr>
              <a:t>δ</a:t>
            </a:r>
            <a:pPr algn="l" indent="0" marL="0">
              <a:lnSpc>
                <a:spcPct val="100000"/>
              </a:lnSpc>
              <a:buNone/>
            </a:pPr>
            <a:r>
              <a:rPr lang="en-US" sz="1700" b="1" baseline="-40000" dirty="0">
                <a:solidFill>
                  <a:srgbClr val="D9611A"/>
                </a:solidFill>
                <a:latin typeface="Calibri" pitchFamily="34" charset="0"/>
                <a:ea typeface="Calibri" pitchFamily="34" charset="-122"/>
                <a:cs typeface="Calibri" pitchFamily="34" charset="-120"/>
              </a:rPr>
              <a:t>A</a:t>
            </a:r>
            <a:pPr algn="l" indent="0" marL="0">
              <a:lnSpc>
                <a:spcPct val="100000"/>
              </a:lnSpc>
              <a:buNone/>
            </a:pPr>
            <a:r>
              <a:rPr lang="en-US" sz="1700" b="1" dirty="0">
                <a:solidFill>
                  <a:srgbClr val="D9611A"/>
                </a:solidFill>
                <a:latin typeface="Calibri" pitchFamily="34" charset="0"/>
                <a:ea typeface="Calibri" pitchFamily="34" charset="-122"/>
                <a:cs typeface="Calibri" pitchFamily="34" charset="-120"/>
              </a:rPr>
              <a:t> = 0.3</a:t>
            </a:r>
            <a:endParaRPr lang="en-US" sz="1700" dirty="0"/>
          </a:p>
        </p:txBody>
      </p:sp>
      <p:sp>
        <p:nvSpPr>
          <p:cNvPr id="19" name="Text 16"/>
          <p:cNvSpPr txBox="1"/>
          <p:nvPr/>
        </p:nvSpPr>
        <p:spPr>
          <a:xfrm>
            <a:off x="5440680" y="4297680"/>
            <a:ext cx="1371600" cy="365760"/>
          </a:xfrm>
          <a:prstGeom prst="rect">
            <a:avLst/>
          </a:prstGeom>
          <a:noFill/>
          <a:ln/>
        </p:spPr>
        <p:txBody>
          <a:bodyPr wrap="square" lIns="0" tIns="0" rIns="0" bIns="0" rtlCol="0" anchor="t"/>
          <a:lstStyle/>
          <a:p>
            <a:pPr algn="l" indent="0" marL="0">
              <a:lnSpc>
                <a:spcPct val="100000"/>
              </a:lnSpc>
              <a:buNone/>
            </a:pPr>
            <a:r>
              <a:rPr lang="en-US" sz="1700" b="1" dirty="0">
                <a:solidFill>
                  <a:srgbClr val="D9611A"/>
                </a:solidFill>
                <a:latin typeface="Calibri" pitchFamily="34" charset="0"/>
                <a:ea typeface="Calibri" pitchFamily="34" charset="-122"/>
                <a:cs typeface="Calibri" pitchFamily="34" charset="-120"/>
              </a:rPr>
              <a:t>δ</a:t>
            </a:r>
            <a:pPr algn="l" indent="0" marL="0">
              <a:lnSpc>
                <a:spcPct val="100000"/>
              </a:lnSpc>
              <a:buNone/>
            </a:pPr>
            <a:r>
              <a:rPr lang="en-US" sz="1700" b="1" baseline="-40000" dirty="0">
                <a:solidFill>
                  <a:srgbClr val="D9611A"/>
                </a:solidFill>
                <a:latin typeface="Calibri" pitchFamily="34" charset="0"/>
                <a:ea typeface="Calibri" pitchFamily="34" charset="-122"/>
                <a:cs typeface="Calibri" pitchFamily="34" charset="-120"/>
              </a:rPr>
              <a:t>B</a:t>
            </a:r>
            <a:pPr algn="l" indent="0" marL="0">
              <a:lnSpc>
                <a:spcPct val="100000"/>
              </a:lnSpc>
              <a:buNone/>
            </a:pPr>
            <a:r>
              <a:rPr lang="en-US" sz="1700" b="1" dirty="0">
                <a:solidFill>
                  <a:srgbClr val="D9611A"/>
                </a:solidFill>
                <a:latin typeface="Calibri" pitchFamily="34" charset="0"/>
                <a:ea typeface="Calibri" pitchFamily="34" charset="-122"/>
                <a:cs typeface="Calibri" pitchFamily="34" charset="-120"/>
              </a:rPr>
              <a:t> = 0.5</a:t>
            </a:r>
            <a:endParaRPr lang="en-US" sz="1700" dirty="0"/>
          </a:p>
        </p:txBody>
      </p:sp>
      <p:sp>
        <p:nvSpPr>
          <p:cNvPr id="20" name="Shape 17"/>
          <p:cNvSpPr/>
          <p:nvPr/>
        </p:nvSpPr>
        <p:spPr>
          <a:xfrm>
            <a:off x="6949440" y="1371600"/>
            <a:ext cx="4690872" cy="2880360"/>
          </a:xfrm>
          <a:prstGeom prst="roundRect">
            <a:avLst>
              <a:gd name="adj" fmla="val 2540"/>
            </a:avLst>
          </a:prstGeom>
          <a:solidFill>
            <a:srgbClr val="FCEDE3"/>
          </a:solidFill>
          <a:ln/>
        </p:spPr>
      </p:sp>
      <p:sp>
        <p:nvSpPr>
          <p:cNvPr id="21" name="Text 18"/>
          <p:cNvSpPr txBox="1"/>
          <p:nvPr/>
        </p:nvSpPr>
        <p:spPr>
          <a:xfrm>
            <a:off x="7178040" y="1481328"/>
            <a:ext cx="438912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D9611A"/>
                </a:solidFill>
                <a:latin typeface="Calibri" pitchFamily="34" charset="0"/>
                <a:ea typeface="Calibri" pitchFamily="34" charset="-122"/>
                <a:cs typeface="Calibri" pitchFamily="34" charset="-120"/>
              </a:rPr>
              <a:t>MULTIVARIABLE CHAIN RULE: ADD THE PATHS</a:t>
            </a:r>
            <a:endParaRPr lang="en-US" sz="1100" dirty="0"/>
          </a:p>
        </p:txBody>
      </p:sp>
      <p:pic>
        <p:nvPicPr>
          <p:cNvPr id="22" name="Image 0" descr="equation branch">    </p:cNvPr>
          <p:cNvPicPr>
            <a:picLocks noChangeAspect="1"/>
          </p:cNvPicPr>
          <p:nvPr/>
        </p:nvPicPr>
        <p:blipFill>
          <a:blip r:embed="rId1"/>
          <a:stretch>
            <a:fillRect/>
          </a:stretch>
        </p:blipFill>
        <p:spPr>
          <a:xfrm>
            <a:off x="7178040" y="1874520"/>
            <a:ext cx="3317489" cy="1391625"/>
          </a:xfrm>
          <a:prstGeom prst="rect">
            <a:avLst/>
          </a:prstGeom>
        </p:spPr>
      </p:pic>
      <p:sp>
        <p:nvSpPr>
          <p:cNvPr id="23" name="Shape 19"/>
          <p:cNvSpPr/>
          <p:nvPr/>
        </p:nvSpPr>
        <p:spPr>
          <a:xfrm>
            <a:off x="6949440" y="4434840"/>
            <a:ext cx="4690872" cy="1691640"/>
          </a:xfrm>
          <a:prstGeom prst="roundRect">
            <a:avLst>
              <a:gd name="adj" fmla="val 4324"/>
            </a:avLst>
          </a:prstGeom>
          <a:solidFill>
            <a:srgbClr val="16202E"/>
          </a:solidFill>
          <a:ln/>
        </p:spPr>
      </p:sp>
      <p:sp>
        <p:nvSpPr>
          <p:cNvPr id="24" name="Text 20"/>
          <p:cNvSpPr txBox="1"/>
          <p:nvPr/>
        </p:nvSpPr>
        <p:spPr>
          <a:xfrm>
            <a:off x="7178040" y="4434840"/>
            <a:ext cx="4297680" cy="1691640"/>
          </a:xfrm>
          <a:prstGeom prst="rect">
            <a:avLst/>
          </a:prstGeom>
          <a:noFill/>
          <a:ln/>
        </p:spPr>
        <p:txBody>
          <a:bodyPr wrap="square" lIns="0" tIns="0" rIns="0" bIns="0" rtlCol="0" anchor="ctr"/>
          <a:lstStyle/>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In an MLP </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every</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hidden unit feeds </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every</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unit above, so this sum runs over all units k of the next layer.</a:t>
            </a:r>
            <a:endParaRPr lang="en-US" sz="1600" dirty="0"/>
          </a:p>
        </p:txBody>
      </p:sp>
      <p:sp>
        <p:nvSpPr>
          <p:cNvPr id="25" name="Text 21"/>
          <p:cNvSpPr txBox="1"/>
          <p:nvPr/>
        </p:nvSpPr>
        <p:spPr>
          <a:xfrm>
            <a:off x="548640" y="5760720"/>
            <a:ext cx="6035040" cy="365760"/>
          </a:xfrm>
          <a:prstGeom prst="rect">
            <a:avLst/>
          </a:prstGeom>
          <a:noFill/>
          <a:ln/>
        </p:spPr>
        <p:txBody>
          <a:bodyPr wrap="square" lIns="0" tIns="0" rIns="0" bIns="0" rtlCol="0" anchor="t"/>
          <a:lstStyle/>
          <a:p>
            <a:pPr algn="l" indent="0" marL="0">
              <a:lnSpc>
                <a:spcPct val="100000"/>
              </a:lnSpc>
              <a:buNone/>
            </a:pPr>
            <a:r>
              <a:rPr lang="en-US" sz="1400" i="1" dirty="0">
                <a:solidFill>
                  <a:srgbClr val="5B6675"/>
                </a:solidFill>
                <a:latin typeface="Calibri" pitchFamily="34" charset="0"/>
                <a:ea typeface="Calibri" pitchFamily="34" charset="-122"/>
                <a:cs typeface="Calibri" pitchFamily="34" charset="-120"/>
              </a:rPr>
              <a:t>Forward: a is copied to both units.  Backward: both error signals come back and add.</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Summed over all units above, the paths become one matrix product</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the four equations of backpropagation</a:t>
            </a:r>
            <a:endParaRPr lang="en-US" sz="1100" dirty="0"/>
          </a:p>
        </p:txBody>
      </p:sp>
      <p:sp>
        <p:nvSpPr>
          <p:cNvPr id="6" name="Text 3"/>
          <p:cNvSpPr txBox="1"/>
          <p:nvPr/>
        </p:nvSpPr>
        <p:spPr>
          <a:xfrm>
            <a:off x="548640" y="1371600"/>
            <a:ext cx="56692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W  (rows: units k above · columns: units j below)</a:t>
            </a:r>
            <a:endParaRPr lang="en-US" sz="1500" dirty="0"/>
          </a:p>
        </p:txBody>
      </p:sp>
      <p:sp>
        <p:nvSpPr>
          <p:cNvPr id="7" name="Shape 4"/>
          <p:cNvSpPr/>
          <p:nvPr/>
        </p:nvSpPr>
        <p:spPr>
          <a:xfrm>
            <a:off x="1188720" y="1965960"/>
            <a:ext cx="566928" cy="566928"/>
          </a:xfrm>
          <a:prstGeom prst="rect">
            <a:avLst/>
          </a:prstGeom>
          <a:solidFill>
            <a:srgbClr val="FFFFFF"/>
          </a:solidFill>
          <a:ln w="9525">
            <a:solidFill>
              <a:srgbClr val="D5DBE3"/>
            </a:solidFill>
            <a:prstDash val="solid"/>
          </a:ln>
        </p:spPr>
      </p:sp>
      <p:sp>
        <p:nvSpPr>
          <p:cNvPr id="8" name="Text 5"/>
          <p:cNvSpPr txBox="1"/>
          <p:nvPr/>
        </p:nvSpPr>
        <p:spPr>
          <a:xfrm>
            <a:off x="1188720" y="1965960"/>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11</a:t>
            </a:r>
            <a:endParaRPr lang="en-US" sz="1300" dirty="0"/>
          </a:p>
        </p:txBody>
      </p:sp>
      <p:sp>
        <p:nvSpPr>
          <p:cNvPr id="9" name="Shape 6"/>
          <p:cNvSpPr/>
          <p:nvPr/>
        </p:nvSpPr>
        <p:spPr>
          <a:xfrm>
            <a:off x="1755648" y="1965960"/>
            <a:ext cx="566928" cy="566928"/>
          </a:xfrm>
          <a:prstGeom prst="rect">
            <a:avLst/>
          </a:prstGeom>
          <a:solidFill>
            <a:srgbClr val="E3F2F1"/>
          </a:solidFill>
          <a:ln w="19050">
            <a:solidFill>
              <a:srgbClr val="0E7C7B"/>
            </a:solidFill>
            <a:prstDash val="solid"/>
          </a:ln>
        </p:spPr>
      </p:sp>
      <p:sp>
        <p:nvSpPr>
          <p:cNvPr id="10" name="Text 7"/>
          <p:cNvSpPr txBox="1"/>
          <p:nvPr/>
        </p:nvSpPr>
        <p:spPr>
          <a:xfrm>
            <a:off x="1755648" y="1965960"/>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0E7C7B"/>
                </a:solidFill>
                <a:latin typeface="Calibri" pitchFamily="34" charset="0"/>
                <a:ea typeface="Calibri" pitchFamily="34" charset="-122"/>
                <a:cs typeface="Calibri" pitchFamily="34" charset="-120"/>
              </a:rPr>
              <a:t>12</a:t>
            </a:r>
            <a:endParaRPr lang="en-US" sz="1300" dirty="0"/>
          </a:p>
        </p:txBody>
      </p:sp>
      <p:sp>
        <p:nvSpPr>
          <p:cNvPr id="11" name="Shape 8"/>
          <p:cNvSpPr/>
          <p:nvPr/>
        </p:nvSpPr>
        <p:spPr>
          <a:xfrm>
            <a:off x="2322576" y="1965960"/>
            <a:ext cx="566928" cy="566928"/>
          </a:xfrm>
          <a:prstGeom prst="rect">
            <a:avLst/>
          </a:prstGeom>
          <a:solidFill>
            <a:srgbClr val="FFFFFF"/>
          </a:solidFill>
          <a:ln w="9525">
            <a:solidFill>
              <a:srgbClr val="D5DBE3"/>
            </a:solidFill>
            <a:prstDash val="solid"/>
          </a:ln>
        </p:spPr>
      </p:sp>
      <p:sp>
        <p:nvSpPr>
          <p:cNvPr id="12" name="Text 9"/>
          <p:cNvSpPr txBox="1"/>
          <p:nvPr/>
        </p:nvSpPr>
        <p:spPr>
          <a:xfrm>
            <a:off x="2322576" y="1965960"/>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13</a:t>
            </a:r>
            <a:endParaRPr lang="en-US" sz="1300" dirty="0"/>
          </a:p>
        </p:txBody>
      </p:sp>
      <p:sp>
        <p:nvSpPr>
          <p:cNvPr id="13" name="Shape 10"/>
          <p:cNvSpPr/>
          <p:nvPr/>
        </p:nvSpPr>
        <p:spPr>
          <a:xfrm>
            <a:off x="2889504" y="1965960"/>
            <a:ext cx="566928" cy="566928"/>
          </a:xfrm>
          <a:prstGeom prst="rect">
            <a:avLst/>
          </a:prstGeom>
          <a:solidFill>
            <a:srgbClr val="FFFFFF"/>
          </a:solidFill>
          <a:ln w="9525">
            <a:solidFill>
              <a:srgbClr val="D5DBE3"/>
            </a:solidFill>
            <a:prstDash val="solid"/>
          </a:ln>
        </p:spPr>
      </p:sp>
      <p:sp>
        <p:nvSpPr>
          <p:cNvPr id="14" name="Text 11"/>
          <p:cNvSpPr txBox="1"/>
          <p:nvPr/>
        </p:nvSpPr>
        <p:spPr>
          <a:xfrm>
            <a:off x="2889504" y="1965960"/>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14</a:t>
            </a:r>
            <a:endParaRPr lang="en-US" sz="1300" dirty="0"/>
          </a:p>
        </p:txBody>
      </p:sp>
      <p:sp>
        <p:nvSpPr>
          <p:cNvPr id="15" name="Shape 12"/>
          <p:cNvSpPr/>
          <p:nvPr/>
        </p:nvSpPr>
        <p:spPr>
          <a:xfrm>
            <a:off x="1188720" y="2532888"/>
            <a:ext cx="566928" cy="566928"/>
          </a:xfrm>
          <a:prstGeom prst="rect">
            <a:avLst/>
          </a:prstGeom>
          <a:solidFill>
            <a:srgbClr val="FFFFFF"/>
          </a:solidFill>
          <a:ln w="9525">
            <a:solidFill>
              <a:srgbClr val="D5DBE3"/>
            </a:solidFill>
            <a:prstDash val="solid"/>
          </a:ln>
        </p:spPr>
      </p:sp>
      <p:sp>
        <p:nvSpPr>
          <p:cNvPr id="16" name="Text 13"/>
          <p:cNvSpPr txBox="1"/>
          <p:nvPr/>
        </p:nvSpPr>
        <p:spPr>
          <a:xfrm>
            <a:off x="1188720" y="2532888"/>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21</a:t>
            </a:r>
            <a:endParaRPr lang="en-US" sz="1300" dirty="0"/>
          </a:p>
        </p:txBody>
      </p:sp>
      <p:sp>
        <p:nvSpPr>
          <p:cNvPr id="17" name="Shape 14"/>
          <p:cNvSpPr/>
          <p:nvPr/>
        </p:nvSpPr>
        <p:spPr>
          <a:xfrm>
            <a:off x="1755648" y="2532888"/>
            <a:ext cx="566928" cy="566928"/>
          </a:xfrm>
          <a:prstGeom prst="rect">
            <a:avLst/>
          </a:prstGeom>
          <a:solidFill>
            <a:srgbClr val="E3F2F1"/>
          </a:solidFill>
          <a:ln w="19050">
            <a:solidFill>
              <a:srgbClr val="0E7C7B"/>
            </a:solidFill>
            <a:prstDash val="solid"/>
          </a:ln>
        </p:spPr>
      </p:sp>
      <p:sp>
        <p:nvSpPr>
          <p:cNvPr id="18" name="Text 15"/>
          <p:cNvSpPr txBox="1"/>
          <p:nvPr/>
        </p:nvSpPr>
        <p:spPr>
          <a:xfrm>
            <a:off x="1755648" y="2532888"/>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0E7C7B"/>
                </a:solidFill>
                <a:latin typeface="Calibri" pitchFamily="34" charset="0"/>
                <a:ea typeface="Calibri" pitchFamily="34" charset="-122"/>
                <a:cs typeface="Calibri" pitchFamily="34" charset="-120"/>
              </a:rPr>
              <a:t>22</a:t>
            </a:r>
            <a:endParaRPr lang="en-US" sz="1300" dirty="0"/>
          </a:p>
        </p:txBody>
      </p:sp>
      <p:sp>
        <p:nvSpPr>
          <p:cNvPr id="19" name="Shape 16"/>
          <p:cNvSpPr/>
          <p:nvPr/>
        </p:nvSpPr>
        <p:spPr>
          <a:xfrm>
            <a:off x="2322576" y="2532888"/>
            <a:ext cx="566928" cy="566928"/>
          </a:xfrm>
          <a:prstGeom prst="rect">
            <a:avLst/>
          </a:prstGeom>
          <a:solidFill>
            <a:srgbClr val="FFFFFF"/>
          </a:solidFill>
          <a:ln w="9525">
            <a:solidFill>
              <a:srgbClr val="D5DBE3"/>
            </a:solidFill>
            <a:prstDash val="solid"/>
          </a:ln>
        </p:spPr>
      </p:sp>
      <p:sp>
        <p:nvSpPr>
          <p:cNvPr id="20" name="Text 17"/>
          <p:cNvSpPr txBox="1"/>
          <p:nvPr/>
        </p:nvSpPr>
        <p:spPr>
          <a:xfrm>
            <a:off x="2322576" y="2532888"/>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23</a:t>
            </a:r>
            <a:endParaRPr lang="en-US" sz="1300" dirty="0"/>
          </a:p>
        </p:txBody>
      </p:sp>
      <p:sp>
        <p:nvSpPr>
          <p:cNvPr id="21" name="Shape 18"/>
          <p:cNvSpPr/>
          <p:nvPr/>
        </p:nvSpPr>
        <p:spPr>
          <a:xfrm>
            <a:off x="2889504" y="2532888"/>
            <a:ext cx="566928" cy="566928"/>
          </a:xfrm>
          <a:prstGeom prst="rect">
            <a:avLst/>
          </a:prstGeom>
          <a:solidFill>
            <a:srgbClr val="FFFFFF"/>
          </a:solidFill>
          <a:ln w="9525">
            <a:solidFill>
              <a:srgbClr val="D5DBE3"/>
            </a:solidFill>
            <a:prstDash val="solid"/>
          </a:ln>
        </p:spPr>
      </p:sp>
      <p:sp>
        <p:nvSpPr>
          <p:cNvPr id="22" name="Text 19"/>
          <p:cNvSpPr txBox="1"/>
          <p:nvPr/>
        </p:nvSpPr>
        <p:spPr>
          <a:xfrm>
            <a:off x="2889504" y="2532888"/>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24</a:t>
            </a:r>
            <a:endParaRPr lang="en-US" sz="1300" dirty="0"/>
          </a:p>
        </p:txBody>
      </p:sp>
      <p:sp>
        <p:nvSpPr>
          <p:cNvPr id="23" name="Shape 20"/>
          <p:cNvSpPr/>
          <p:nvPr/>
        </p:nvSpPr>
        <p:spPr>
          <a:xfrm>
            <a:off x="1188720" y="3099816"/>
            <a:ext cx="566928" cy="566928"/>
          </a:xfrm>
          <a:prstGeom prst="rect">
            <a:avLst/>
          </a:prstGeom>
          <a:solidFill>
            <a:srgbClr val="FFFFFF"/>
          </a:solidFill>
          <a:ln w="9525">
            <a:solidFill>
              <a:srgbClr val="D5DBE3"/>
            </a:solidFill>
            <a:prstDash val="solid"/>
          </a:ln>
        </p:spPr>
      </p:sp>
      <p:sp>
        <p:nvSpPr>
          <p:cNvPr id="24" name="Text 21"/>
          <p:cNvSpPr txBox="1"/>
          <p:nvPr/>
        </p:nvSpPr>
        <p:spPr>
          <a:xfrm>
            <a:off x="1188720" y="3099816"/>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31</a:t>
            </a:r>
            <a:endParaRPr lang="en-US" sz="1300" dirty="0"/>
          </a:p>
        </p:txBody>
      </p:sp>
      <p:sp>
        <p:nvSpPr>
          <p:cNvPr id="25" name="Shape 22"/>
          <p:cNvSpPr/>
          <p:nvPr/>
        </p:nvSpPr>
        <p:spPr>
          <a:xfrm>
            <a:off x="1755648" y="3099816"/>
            <a:ext cx="566928" cy="566928"/>
          </a:xfrm>
          <a:prstGeom prst="rect">
            <a:avLst/>
          </a:prstGeom>
          <a:solidFill>
            <a:srgbClr val="E3F2F1"/>
          </a:solidFill>
          <a:ln w="19050">
            <a:solidFill>
              <a:srgbClr val="0E7C7B"/>
            </a:solidFill>
            <a:prstDash val="solid"/>
          </a:ln>
        </p:spPr>
      </p:sp>
      <p:sp>
        <p:nvSpPr>
          <p:cNvPr id="26" name="Text 23"/>
          <p:cNvSpPr txBox="1"/>
          <p:nvPr/>
        </p:nvSpPr>
        <p:spPr>
          <a:xfrm>
            <a:off x="1755648" y="3099816"/>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0E7C7B"/>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0E7C7B"/>
                </a:solidFill>
                <a:latin typeface="Calibri" pitchFamily="34" charset="0"/>
                <a:ea typeface="Calibri" pitchFamily="34" charset="-122"/>
                <a:cs typeface="Calibri" pitchFamily="34" charset="-120"/>
              </a:rPr>
              <a:t>32</a:t>
            </a:r>
            <a:endParaRPr lang="en-US" sz="1300" dirty="0"/>
          </a:p>
        </p:txBody>
      </p:sp>
      <p:sp>
        <p:nvSpPr>
          <p:cNvPr id="27" name="Shape 24"/>
          <p:cNvSpPr/>
          <p:nvPr/>
        </p:nvSpPr>
        <p:spPr>
          <a:xfrm>
            <a:off x="2322576" y="3099816"/>
            <a:ext cx="566928" cy="566928"/>
          </a:xfrm>
          <a:prstGeom prst="rect">
            <a:avLst/>
          </a:prstGeom>
          <a:solidFill>
            <a:srgbClr val="FFFFFF"/>
          </a:solidFill>
          <a:ln w="9525">
            <a:solidFill>
              <a:srgbClr val="D5DBE3"/>
            </a:solidFill>
            <a:prstDash val="solid"/>
          </a:ln>
        </p:spPr>
      </p:sp>
      <p:sp>
        <p:nvSpPr>
          <p:cNvPr id="28" name="Text 25"/>
          <p:cNvSpPr txBox="1"/>
          <p:nvPr/>
        </p:nvSpPr>
        <p:spPr>
          <a:xfrm>
            <a:off x="2322576" y="3099816"/>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33</a:t>
            </a:r>
            <a:endParaRPr lang="en-US" sz="1300" dirty="0"/>
          </a:p>
        </p:txBody>
      </p:sp>
      <p:sp>
        <p:nvSpPr>
          <p:cNvPr id="29" name="Shape 26"/>
          <p:cNvSpPr/>
          <p:nvPr/>
        </p:nvSpPr>
        <p:spPr>
          <a:xfrm>
            <a:off x="2889504" y="3099816"/>
            <a:ext cx="566928" cy="566928"/>
          </a:xfrm>
          <a:prstGeom prst="rect">
            <a:avLst/>
          </a:prstGeom>
          <a:solidFill>
            <a:srgbClr val="FFFFFF"/>
          </a:solidFill>
          <a:ln w="9525">
            <a:solidFill>
              <a:srgbClr val="D5DBE3"/>
            </a:solidFill>
            <a:prstDash val="solid"/>
          </a:ln>
        </p:spPr>
      </p:sp>
      <p:sp>
        <p:nvSpPr>
          <p:cNvPr id="30" name="Text 27"/>
          <p:cNvSpPr txBox="1"/>
          <p:nvPr/>
        </p:nvSpPr>
        <p:spPr>
          <a:xfrm>
            <a:off x="2889504" y="3099816"/>
            <a:ext cx="566928" cy="566928"/>
          </a:xfrm>
          <a:prstGeom prst="rect">
            <a:avLst/>
          </a:prstGeom>
          <a:noFill/>
          <a:ln/>
        </p:spPr>
        <p:txBody>
          <a:bodyPr wrap="square" lIns="0" tIns="0" rIns="0" bIns="0" rtlCol="0" anchor="ctr"/>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W</a:t>
            </a:r>
            <a:pPr algn="ctr" indent="0" marL="0">
              <a:lnSpc>
                <a:spcPct val="100000"/>
              </a:lnSpc>
              <a:buNone/>
            </a:pPr>
            <a:r>
              <a:rPr lang="en-US" sz="1300" baseline="-40000" dirty="0">
                <a:solidFill>
                  <a:srgbClr val="5B6675"/>
                </a:solidFill>
                <a:latin typeface="Calibri" pitchFamily="34" charset="0"/>
                <a:ea typeface="Calibri" pitchFamily="34" charset="-122"/>
                <a:cs typeface="Calibri" pitchFamily="34" charset="-120"/>
              </a:rPr>
              <a:t>34</a:t>
            </a:r>
            <a:endParaRPr lang="en-US" sz="1300" dirty="0"/>
          </a:p>
        </p:txBody>
      </p:sp>
      <p:sp>
        <p:nvSpPr>
          <p:cNvPr id="31" name="Text 28"/>
          <p:cNvSpPr txBox="1"/>
          <p:nvPr/>
        </p:nvSpPr>
        <p:spPr>
          <a:xfrm>
            <a:off x="822960" y="3758184"/>
            <a:ext cx="3108960" cy="457200"/>
          </a:xfrm>
          <a:prstGeom prst="rect">
            <a:avLst/>
          </a:prstGeom>
          <a:noFill/>
          <a:ln/>
        </p:spPr>
        <p:txBody>
          <a:bodyPr wrap="square" lIns="0" tIns="0" rIns="0" bIns="0" rtlCol="0" anchor="t"/>
          <a:lstStyle/>
          <a:p>
            <a:pPr algn="ctr" indent="0" marL="0">
              <a:lnSpc>
                <a:spcPct val="100000"/>
              </a:lnSpc>
              <a:buNone/>
            </a:pPr>
            <a:r>
              <a:rPr lang="en-US" sz="1350" dirty="0">
                <a:solidFill>
                  <a:srgbClr val="0E7C7B"/>
                </a:solidFill>
                <a:latin typeface="Calibri" pitchFamily="34" charset="0"/>
                <a:ea typeface="Calibri" pitchFamily="34" charset="-122"/>
                <a:cs typeface="Calibri" pitchFamily="34" charset="-120"/>
              </a:rPr>
              <a:t>column j = 2: unit 2's outgoing weights</a:t>
            </a:r>
            <a:endParaRPr lang="en-US" sz="1350" dirty="0"/>
          </a:p>
        </p:txBody>
      </p:sp>
      <p:sp>
        <p:nvSpPr>
          <p:cNvPr id="32" name="Text 29"/>
          <p:cNvSpPr txBox="1"/>
          <p:nvPr/>
        </p:nvSpPr>
        <p:spPr>
          <a:xfrm>
            <a:off x="3867912" y="1554480"/>
            <a:ext cx="566928" cy="365760"/>
          </a:xfrm>
          <a:prstGeom prst="rect">
            <a:avLst/>
          </a:prstGeom>
          <a:noFill/>
          <a:ln/>
        </p:spPr>
        <p:txBody>
          <a:bodyPr wrap="square" lIns="0" tIns="0" rIns="0" bIns="0" rtlCol="0" anchor="t"/>
          <a:lstStyle/>
          <a:p>
            <a:pPr algn="ctr" indent="0" marL="0">
              <a:lnSpc>
                <a:spcPct val="100000"/>
              </a:lnSpc>
              <a:buNone/>
            </a:pPr>
            <a:r>
              <a:rPr lang="en-US" sz="1800" b="1" dirty="0">
                <a:solidFill>
                  <a:srgbClr val="D9611A"/>
                </a:solidFill>
                <a:latin typeface="Cambria" pitchFamily="34" charset="0"/>
                <a:ea typeface="Cambria" pitchFamily="34" charset="-122"/>
                <a:cs typeface="Cambria" pitchFamily="34" charset="-120"/>
              </a:rPr>
              <a:t>δ</a:t>
            </a:r>
            <a:endParaRPr lang="en-US" sz="1800" dirty="0"/>
          </a:p>
        </p:txBody>
      </p:sp>
      <p:sp>
        <p:nvSpPr>
          <p:cNvPr id="33" name="Shape 30"/>
          <p:cNvSpPr/>
          <p:nvPr/>
        </p:nvSpPr>
        <p:spPr>
          <a:xfrm>
            <a:off x="3867912" y="1965960"/>
            <a:ext cx="566928" cy="566928"/>
          </a:xfrm>
          <a:prstGeom prst="rect">
            <a:avLst/>
          </a:prstGeom>
          <a:solidFill>
            <a:srgbClr val="FCEDE3"/>
          </a:solidFill>
          <a:ln w="12700">
            <a:solidFill>
              <a:srgbClr val="D9611A"/>
            </a:solidFill>
            <a:prstDash val="solid"/>
          </a:ln>
        </p:spPr>
      </p:sp>
      <p:sp>
        <p:nvSpPr>
          <p:cNvPr id="34" name="Text 31"/>
          <p:cNvSpPr txBox="1"/>
          <p:nvPr/>
        </p:nvSpPr>
        <p:spPr>
          <a:xfrm>
            <a:off x="3867912" y="1965960"/>
            <a:ext cx="566928" cy="566928"/>
          </a:xfrm>
          <a:prstGeom prst="rect">
            <a:avLst/>
          </a:prstGeom>
          <a:noFill/>
          <a:ln/>
        </p:spPr>
        <p:txBody>
          <a:bodyPr wrap="square" lIns="0" tIns="0" rIns="0" bIns="0" rtlCol="0" anchor="ctr"/>
          <a:lstStyle/>
          <a:p>
            <a:pPr algn="ctr" indent="0" marL="0">
              <a:lnSpc>
                <a:spcPct val="100000"/>
              </a:lnSpc>
              <a:buNone/>
            </a:pPr>
            <a:r>
              <a:rPr lang="en-US" sz="1400"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400" baseline="-40000" dirty="0">
                <a:solidFill>
                  <a:srgbClr val="D9611A"/>
                </a:solidFill>
                <a:latin typeface="Calibri" pitchFamily="34" charset="0"/>
                <a:ea typeface="Calibri" pitchFamily="34" charset="-122"/>
                <a:cs typeface="Calibri" pitchFamily="34" charset="-120"/>
              </a:rPr>
              <a:t>1</a:t>
            </a:r>
            <a:endParaRPr lang="en-US" sz="1400" dirty="0"/>
          </a:p>
        </p:txBody>
      </p:sp>
      <p:sp>
        <p:nvSpPr>
          <p:cNvPr id="35" name="Shape 32"/>
          <p:cNvSpPr/>
          <p:nvPr/>
        </p:nvSpPr>
        <p:spPr>
          <a:xfrm>
            <a:off x="3867912" y="2532888"/>
            <a:ext cx="566928" cy="566928"/>
          </a:xfrm>
          <a:prstGeom prst="rect">
            <a:avLst/>
          </a:prstGeom>
          <a:solidFill>
            <a:srgbClr val="FCEDE3"/>
          </a:solidFill>
          <a:ln w="12700">
            <a:solidFill>
              <a:srgbClr val="D9611A"/>
            </a:solidFill>
            <a:prstDash val="solid"/>
          </a:ln>
        </p:spPr>
      </p:sp>
      <p:sp>
        <p:nvSpPr>
          <p:cNvPr id="36" name="Text 33"/>
          <p:cNvSpPr txBox="1"/>
          <p:nvPr/>
        </p:nvSpPr>
        <p:spPr>
          <a:xfrm>
            <a:off x="3867912" y="2532888"/>
            <a:ext cx="566928" cy="566928"/>
          </a:xfrm>
          <a:prstGeom prst="rect">
            <a:avLst/>
          </a:prstGeom>
          <a:noFill/>
          <a:ln/>
        </p:spPr>
        <p:txBody>
          <a:bodyPr wrap="square" lIns="0" tIns="0" rIns="0" bIns="0" rtlCol="0" anchor="ctr"/>
          <a:lstStyle/>
          <a:p>
            <a:pPr algn="ctr" indent="0" marL="0">
              <a:lnSpc>
                <a:spcPct val="100000"/>
              </a:lnSpc>
              <a:buNone/>
            </a:pPr>
            <a:r>
              <a:rPr lang="en-US" sz="1400"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400" baseline="-40000" dirty="0">
                <a:solidFill>
                  <a:srgbClr val="D9611A"/>
                </a:solidFill>
                <a:latin typeface="Calibri" pitchFamily="34" charset="0"/>
                <a:ea typeface="Calibri" pitchFamily="34" charset="-122"/>
                <a:cs typeface="Calibri" pitchFamily="34" charset="-120"/>
              </a:rPr>
              <a:t>2</a:t>
            </a:r>
            <a:endParaRPr lang="en-US" sz="1400" dirty="0"/>
          </a:p>
        </p:txBody>
      </p:sp>
      <p:sp>
        <p:nvSpPr>
          <p:cNvPr id="37" name="Shape 34"/>
          <p:cNvSpPr/>
          <p:nvPr/>
        </p:nvSpPr>
        <p:spPr>
          <a:xfrm>
            <a:off x="3867912" y="3099816"/>
            <a:ext cx="566928" cy="566928"/>
          </a:xfrm>
          <a:prstGeom prst="rect">
            <a:avLst/>
          </a:prstGeom>
          <a:solidFill>
            <a:srgbClr val="FCEDE3"/>
          </a:solidFill>
          <a:ln w="12700">
            <a:solidFill>
              <a:srgbClr val="D9611A"/>
            </a:solidFill>
            <a:prstDash val="solid"/>
          </a:ln>
        </p:spPr>
      </p:sp>
      <p:sp>
        <p:nvSpPr>
          <p:cNvPr id="38" name="Text 35"/>
          <p:cNvSpPr txBox="1"/>
          <p:nvPr/>
        </p:nvSpPr>
        <p:spPr>
          <a:xfrm>
            <a:off x="3867912" y="3099816"/>
            <a:ext cx="566928" cy="566928"/>
          </a:xfrm>
          <a:prstGeom prst="rect">
            <a:avLst/>
          </a:prstGeom>
          <a:noFill/>
          <a:ln/>
        </p:spPr>
        <p:txBody>
          <a:bodyPr wrap="square" lIns="0" tIns="0" rIns="0" bIns="0" rtlCol="0" anchor="ctr"/>
          <a:lstStyle/>
          <a:p>
            <a:pPr algn="ctr" indent="0" marL="0">
              <a:lnSpc>
                <a:spcPct val="100000"/>
              </a:lnSpc>
              <a:buNone/>
            </a:pPr>
            <a:r>
              <a:rPr lang="en-US" sz="1400" dirty="0">
                <a:solidFill>
                  <a:srgbClr val="D9611A"/>
                </a:solidFill>
                <a:latin typeface="Calibri" pitchFamily="34" charset="0"/>
                <a:ea typeface="Calibri" pitchFamily="34" charset="-122"/>
                <a:cs typeface="Calibri" pitchFamily="34" charset="-120"/>
              </a:rPr>
              <a:t>δ</a:t>
            </a:r>
            <a:pPr algn="ctr" indent="0" marL="0">
              <a:lnSpc>
                <a:spcPct val="100000"/>
              </a:lnSpc>
              <a:buNone/>
            </a:pPr>
            <a:r>
              <a:rPr lang="en-US" sz="1400" baseline="-40000" dirty="0">
                <a:solidFill>
                  <a:srgbClr val="D9611A"/>
                </a:solidFill>
                <a:latin typeface="Calibri" pitchFamily="34" charset="0"/>
                <a:ea typeface="Calibri" pitchFamily="34" charset="-122"/>
                <a:cs typeface="Calibri" pitchFamily="34" charset="-120"/>
              </a:rPr>
              <a:t>3</a:t>
            </a:r>
            <a:endParaRPr lang="en-US" sz="1400" dirty="0"/>
          </a:p>
        </p:txBody>
      </p:sp>
      <p:sp>
        <p:nvSpPr>
          <p:cNvPr id="39" name="Shape 36"/>
          <p:cNvSpPr/>
          <p:nvPr/>
        </p:nvSpPr>
        <p:spPr>
          <a:xfrm>
            <a:off x="548640" y="4343400"/>
            <a:ext cx="5669280" cy="1783080"/>
          </a:xfrm>
          <a:prstGeom prst="roundRect">
            <a:avLst>
              <a:gd name="adj" fmla="val 4103"/>
            </a:avLst>
          </a:prstGeom>
          <a:solidFill>
            <a:srgbClr val="F3F5F8"/>
          </a:solidFill>
          <a:ln/>
        </p:spPr>
      </p:sp>
      <p:pic>
        <p:nvPicPr>
          <p:cNvPr id="40" name="Image 0" descr="equation wtd_sum">    </p:cNvPr>
          <p:cNvPicPr>
            <a:picLocks noChangeAspect="1"/>
          </p:cNvPicPr>
          <p:nvPr/>
        </p:nvPicPr>
        <p:blipFill>
          <a:blip r:embed="rId1"/>
          <a:stretch>
            <a:fillRect/>
          </a:stretch>
        </p:blipFill>
        <p:spPr>
          <a:xfrm>
            <a:off x="822960" y="4526280"/>
            <a:ext cx="2022836" cy="697870"/>
          </a:xfrm>
          <a:prstGeom prst="rect">
            <a:avLst/>
          </a:prstGeom>
        </p:spPr>
      </p:pic>
      <p:sp>
        <p:nvSpPr>
          <p:cNvPr id="41" name="Text 37"/>
          <p:cNvSpPr txBox="1"/>
          <p:nvPr/>
        </p:nvSpPr>
        <p:spPr>
          <a:xfrm>
            <a:off x="2651760" y="5257800"/>
            <a:ext cx="1371600" cy="457200"/>
          </a:xfrm>
          <a:prstGeom prst="rect">
            <a:avLst/>
          </a:prstGeom>
          <a:noFill/>
          <a:ln/>
        </p:spPr>
        <p:txBody>
          <a:bodyPr wrap="square" lIns="0" tIns="0" rIns="0" bIns="0" rtlCol="0" anchor="t"/>
          <a:lstStyle/>
          <a:p>
            <a:pPr algn="ctr" indent="0" marL="0">
              <a:lnSpc>
                <a:spcPct val="100000"/>
              </a:lnSpc>
              <a:buNone/>
            </a:pPr>
            <a:r>
              <a:rPr lang="en-US" sz="1300" dirty="0">
                <a:solidFill>
                  <a:srgbClr val="5B6675"/>
                </a:solidFill>
                <a:latin typeface="Calibri" pitchFamily="34" charset="0"/>
                <a:ea typeface="Calibri" pitchFamily="34" charset="-122"/>
                <a:cs typeface="Calibri" pitchFamily="34" charset="-120"/>
              </a:rPr>
              <a:t>for all j at once</a:t>
            </a:r>
            <a:endParaRPr lang="en-US" sz="1300" dirty="0"/>
          </a:p>
        </p:txBody>
      </p:sp>
      <p:pic>
        <p:nvPicPr>
          <p:cNvPr id="42" name="Image 1" descr="equation wtd_vec">    </p:cNvPr>
          <p:cNvPicPr>
            <a:picLocks noChangeAspect="1"/>
          </p:cNvPicPr>
          <p:nvPr/>
        </p:nvPicPr>
        <p:blipFill>
          <a:blip r:embed="rId2"/>
          <a:stretch>
            <a:fillRect/>
          </a:stretch>
        </p:blipFill>
        <p:spPr>
          <a:xfrm>
            <a:off x="3657600" y="4526280"/>
            <a:ext cx="1424544" cy="617220"/>
          </a:xfrm>
          <a:prstGeom prst="rect">
            <a:avLst/>
          </a:prstGeom>
        </p:spPr>
      </p:pic>
      <p:sp>
        <p:nvSpPr>
          <p:cNvPr id="43" name="Text 38"/>
          <p:cNvSpPr txBox="1"/>
          <p:nvPr/>
        </p:nvSpPr>
        <p:spPr>
          <a:xfrm>
            <a:off x="3063240" y="4754880"/>
            <a:ext cx="548640" cy="457200"/>
          </a:xfrm>
          <a:prstGeom prst="rect">
            <a:avLst/>
          </a:prstGeom>
          <a:noFill/>
          <a:ln/>
        </p:spPr>
        <p:txBody>
          <a:bodyPr wrap="square" lIns="0" tIns="0" rIns="0" bIns="0" rtlCol="0" anchor="t"/>
          <a:lstStyle/>
          <a:p>
            <a:pPr algn="ctr" indent="0" marL="0">
              <a:lnSpc>
                <a:spcPct val="100000"/>
              </a:lnSpc>
              <a:buNone/>
            </a:pPr>
            <a:r>
              <a:rPr lang="en-US" sz="2200" dirty="0">
                <a:solidFill>
                  <a:srgbClr val="16202E"/>
                </a:solidFill>
                <a:latin typeface="Calibri" pitchFamily="34" charset="0"/>
                <a:ea typeface="Calibri" pitchFamily="34" charset="-122"/>
                <a:cs typeface="Calibri" pitchFamily="34" charset="-120"/>
              </a:rPr>
              <a:t>⟹</a:t>
            </a:r>
            <a:endParaRPr lang="en-US" sz="2200" dirty="0"/>
          </a:p>
        </p:txBody>
      </p:sp>
      <p:sp>
        <p:nvSpPr>
          <p:cNvPr id="44" name="Shape 39"/>
          <p:cNvSpPr/>
          <p:nvPr/>
        </p:nvSpPr>
        <p:spPr>
          <a:xfrm>
            <a:off x="6583680" y="1371600"/>
            <a:ext cx="5056632" cy="2331720"/>
          </a:xfrm>
          <a:prstGeom prst="roundRect">
            <a:avLst>
              <a:gd name="adj" fmla="val 3137"/>
            </a:avLst>
          </a:prstGeom>
          <a:solidFill>
            <a:srgbClr val="E3F2F1"/>
          </a:solidFill>
          <a:ln/>
        </p:spPr>
      </p:sp>
      <p:sp>
        <p:nvSpPr>
          <p:cNvPr id="45" name="Text 40"/>
          <p:cNvSpPr txBox="1"/>
          <p:nvPr/>
        </p:nvSpPr>
        <p:spPr>
          <a:xfrm>
            <a:off x="6812280" y="14813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THEN GATE BY THE ACTIVATION'S SLOPE</a:t>
            </a:r>
            <a:endParaRPr lang="en-US" sz="1100" dirty="0"/>
          </a:p>
        </p:txBody>
      </p:sp>
      <p:pic>
        <p:nvPicPr>
          <p:cNvPr id="46" name="Image 2" descr="equation bp2">    </p:cNvPr>
          <p:cNvPicPr>
            <a:picLocks noChangeAspect="1"/>
          </p:cNvPicPr>
          <p:nvPr/>
        </p:nvPicPr>
        <p:blipFill>
          <a:blip r:embed="rId3"/>
          <a:stretch>
            <a:fillRect/>
          </a:stretch>
        </p:blipFill>
        <p:spPr>
          <a:xfrm>
            <a:off x="6812280" y="1874520"/>
            <a:ext cx="3251469" cy="345735"/>
          </a:xfrm>
          <a:prstGeom prst="rect">
            <a:avLst/>
          </a:prstGeom>
        </p:spPr>
      </p:pic>
      <p:sp>
        <p:nvSpPr>
          <p:cNvPr id="47" name="Text 41"/>
          <p:cNvSpPr txBox="1"/>
          <p:nvPr/>
        </p:nvSpPr>
        <p:spPr>
          <a:xfrm>
            <a:off x="6812280" y="2514600"/>
            <a:ext cx="4663440" cy="114300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elementwise product. For ReLU, g′ is 1 for active units and 0 for inactive ones: an inactive unit passes nothing back.</a:t>
            </a:r>
            <a:endParaRPr lang="en-US" sz="1500" dirty="0"/>
          </a:p>
        </p:txBody>
      </p:sp>
      <p:sp>
        <p:nvSpPr>
          <p:cNvPr id="48" name="Shape 42"/>
          <p:cNvSpPr/>
          <p:nvPr/>
        </p:nvSpPr>
        <p:spPr>
          <a:xfrm>
            <a:off x="6583680" y="3886200"/>
            <a:ext cx="5056632" cy="2240280"/>
          </a:xfrm>
          <a:prstGeom prst="roundRect">
            <a:avLst>
              <a:gd name="adj" fmla="val 3265"/>
            </a:avLst>
          </a:prstGeom>
          <a:solidFill>
            <a:srgbClr val="16202E"/>
          </a:solidFill>
          <a:ln/>
        </p:spPr>
      </p:sp>
      <p:sp>
        <p:nvSpPr>
          <p:cNvPr id="49" name="Text 43"/>
          <p:cNvSpPr txBox="1"/>
          <p:nvPr/>
        </p:nvSpPr>
        <p:spPr>
          <a:xfrm>
            <a:off x="6812280" y="3886200"/>
            <a:ext cx="4663440" cy="2240280"/>
          </a:xfrm>
          <a:prstGeom prst="rect">
            <a:avLst/>
          </a:prstGeom>
          <a:noFill/>
          <a:ln/>
        </p:spPr>
        <p:txBody>
          <a:bodyPr wrap="square" lIns="0" tIns="0" rIns="0" bIns="0" rtlCol="0" anchor="ctr"/>
          <a:lstStyle/>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Shapes: W is n</a:t>
            </a:r>
            <a:pPr algn="l" indent="0" marL="0">
              <a:lnSpc>
                <a:spcPct val="100000"/>
              </a:lnSpc>
              <a:buNone/>
            </a:pPr>
            <a:r>
              <a:rPr lang="en-US" sz="1600" baseline="-40000" dirty="0">
                <a:solidFill>
                  <a:srgbClr val="FFFFFF"/>
                </a:solidFill>
                <a:latin typeface="Calibri" pitchFamily="34" charset="0"/>
                <a:ea typeface="Calibri" pitchFamily="34" charset="-122"/>
                <a:cs typeface="Calibri" pitchFamily="34" charset="-120"/>
              </a:rPr>
              <a:t>above</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n</a:t>
            </a:r>
            <a:pPr algn="l" indent="0" marL="0">
              <a:lnSpc>
                <a:spcPct val="100000"/>
              </a:lnSpc>
              <a:buNone/>
            </a:pPr>
            <a:r>
              <a:rPr lang="en-US" sz="1600" baseline="-40000" dirty="0">
                <a:solidFill>
                  <a:srgbClr val="FFFFFF"/>
                </a:solidFill>
                <a:latin typeface="Calibri" pitchFamily="34" charset="0"/>
                <a:ea typeface="Calibri" pitchFamily="34" charset="-122"/>
                <a:cs typeface="Calibri" pitchFamily="34" charset="-120"/>
              </a:rPr>
              <a:t>below</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δ is n</a:t>
            </a:r>
            <a:pPr algn="l" indent="0" marL="0">
              <a:lnSpc>
                <a:spcPct val="100000"/>
              </a:lnSpc>
              <a:buNone/>
            </a:pPr>
            <a:r>
              <a:rPr lang="en-US" sz="1600" baseline="-40000" dirty="0">
                <a:solidFill>
                  <a:srgbClr val="FFFFFF"/>
                </a:solidFill>
                <a:latin typeface="Calibri" pitchFamily="34" charset="0"/>
                <a:ea typeface="Calibri" pitchFamily="34" charset="-122"/>
                <a:cs typeface="Calibri" pitchFamily="34" charset="-120"/>
              </a:rPr>
              <a:t>above</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1, so </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W</a:t>
            </a:r>
            <a:pPr algn="l" indent="0" marL="0">
              <a:lnSpc>
                <a:spcPct val="100000"/>
              </a:lnSpc>
              <a:buNone/>
            </a:pPr>
            <a:r>
              <a:rPr lang="en-US" sz="1600" b="1" baseline="30000" dirty="0">
                <a:solidFill>
                  <a:srgbClr val="FFFFFF"/>
                </a:solidFill>
                <a:latin typeface="Calibri" pitchFamily="34" charset="0"/>
                <a:ea typeface="Calibri" pitchFamily="34" charset="-122"/>
                <a:cs typeface="Calibri" pitchFamily="34" charset="-120"/>
              </a:rPr>
              <a:t>T</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 δ is n</a:t>
            </a:r>
            <a:pPr algn="l" indent="0" marL="0">
              <a:lnSpc>
                <a:spcPct val="100000"/>
              </a:lnSpc>
              <a:buNone/>
            </a:pPr>
            <a:r>
              <a:rPr lang="en-US" sz="1600" b="1" baseline="-40000" dirty="0">
                <a:solidFill>
                  <a:srgbClr val="FFFFFF"/>
                </a:solidFill>
                <a:latin typeface="Calibri" pitchFamily="34" charset="0"/>
                <a:ea typeface="Calibri" pitchFamily="34" charset="-122"/>
                <a:cs typeface="Calibri" pitchFamily="34" charset="-120"/>
              </a:rPr>
              <a:t>below</a:t>
            </a:r>
            <a:pPr algn="l" indent="0" marL="0">
              <a:lnSpc>
                <a:spcPct val="100000"/>
              </a:lnSpc>
              <a:buNone/>
            </a:pPr>
            <a:r>
              <a:rPr lang="en-US" sz="1600" b="1" dirty="0">
                <a:solidFill>
                  <a:srgbClr val="FFFFFF"/>
                </a:solidFill>
                <a:latin typeface="Calibri" pitchFamily="34" charset="0"/>
                <a:ea typeface="Calibri" pitchFamily="34" charset="-122"/>
                <a:cs typeface="Calibri" pitchFamily="34" charset="-120"/>
              </a:rPr>
              <a:t> × 1</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 — one number per unit below.</a:t>
            </a:r>
            <a:pPr algn="l" indent="0" marL="0">
              <a:lnSpc>
                <a:spcPct val="100000"/>
              </a:lnSpc>
              <a:buNone/>
            </a:pPr>
            <a:endParaRPr lang="en-US" sz="1600" dirty="0"/>
          </a:p>
          <a:p>
            <a:pPr algn="l" indent="0" marL="0">
              <a:lnSpc>
                <a:spcPct val="100000"/>
              </a:lnSpc>
              <a:buNone/>
            </a:pPr>
            <a:endParaRPr lang="en-US" sz="1600" dirty="0"/>
          </a:p>
          <a:p>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Forward multiplies by W; backward multiplies by W</a:t>
            </a:r>
            <a:pPr algn="l" indent="0" marL="0">
              <a:lnSpc>
                <a:spcPct val="100000"/>
              </a:lnSpc>
              <a:buNone/>
            </a:pPr>
            <a:r>
              <a:rPr lang="en-US" sz="1600" baseline="30000" dirty="0">
                <a:solidFill>
                  <a:srgbClr val="FFFFFF"/>
                </a:solidFill>
                <a:latin typeface="Calibri" pitchFamily="34" charset="0"/>
                <a:ea typeface="Calibri" pitchFamily="34" charset="-122"/>
                <a:cs typeface="Calibri" pitchFamily="34" charset="-120"/>
              </a:rPr>
              <a:t>T</a:t>
            </a:r>
            <a:pPr algn="l" indent="0" marL="0">
              <a:lnSpc>
                <a:spcPct val="100000"/>
              </a:lnSpc>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The four equations of backpropagation</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gradients for a whole layer and a whole batch</a:t>
            </a:r>
            <a:endParaRPr lang="en-US" sz="1100" dirty="0"/>
          </a:p>
        </p:txBody>
      </p:sp>
      <p:sp>
        <p:nvSpPr>
          <p:cNvPr id="6" name="Text 3"/>
          <p:cNvSpPr txBox="1"/>
          <p:nvPr/>
        </p:nvSpPr>
        <p:spPr>
          <a:xfrm>
            <a:off x="9464040" y="1298448"/>
            <a:ext cx="2194560" cy="256032"/>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5B6675"/>
                </a:solidFill>
                <a:latin typeface="Calibri" pitchFamily="34" charset="0"/>
                <a:ea typeface="Calibri" pitchFamily="34" charset="-122"/>
                <a:cs typeface="Calibri" pitchFamily="34" charset="-120"/>
              </a:rPr>
              <a:t>IN THE WORKED EXAMPLE</a:t>
            </a:r>
            <a:endParaRPr lang="en-US" sz="1100" dirty="0"/>
          </a:p>
        </p:txBody>
      </p:sp>
      <p:sp>
        <p:nvSpPr>
          <p:cNvPr id="7" name="Shape 4"/>
          <p:cNvSpPr/>
          <p:nvPr/>
        </p:nvSpPr>
        <p:spPr>
          <a:xfrm>
            <a:off x="548640" y="1600200"/>
            <a:ext cx="11094415" cy="841248"/>
          </a:xfrm>
          <a:prstGeom prst="roundRect">
            <a:avLst>
              <a:gd name="adj" fmla="val 8696"/>
            </a:avLst>
          </a:prstGeom>
          <a:solidFill>
            <a:srgbClr val="F3F5F8"/>
          </a:solidFill>
          <a:ln/>
        </p:spPr>
      </p:sp>
      <p:sp>
        <p:nvSpPr>
          <p:cNvPr id="8" name="Shape 5"/>
          <p:cNvSpPr/>
          <p:nvPr/>
        </p:nvSpPr>
        <p:spPr>
          <a:xfrm>
            <a:off x="731520" y="1810512"/>
            <a:ext cx="731520" cy="420624"/>
          </a:xfrm>
          <a:prstGeom prst="roundRect">
            <a:avLst>
              <a:gd name="adj" fmla="val 13043"/>
            </a:avLst>
          </a:prstGeom>
          <a:solidFill>
            <a:srgbClr val="0E7C7B"/>
          </a:solidFill>
          <a:ln/>
        </p:spPr>
      </p:sp>
      <p:sp>
        <p:nvSpPr>
          <p:cNvPr id="9" name="Text 6"/>
          <p:cNvSpPr txBox="1"/>
          <p:nvPr/>
        </p:nvSpPr>
        <p:spPr>
          <a:xfrm>
            <a:off x="731520" y="1810512"/>
            <a:ext cx="731520" cy="420624"/>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BP1</a:t>
            </a:r>
            <a:endParaRPr lang="en-US" sz="1500" dirty="0"/>
          </a:p>
        </p:txBody>
      </p:sp>
      <p:pic>
        <p:nvPicPr>
          <p:cNvPr id="10" name="Image 0" descr="equation bp1">    </p:cNvPr>
          <p:cNvPicPr>
            <a:picLocks noChangeAspect="1"/>
          </p:cNvPicPr>
          <p:nvPr/>
        </p:nvPicPr>
        <p:blipFill>
          <a:blip r:embed="rId1"/>
          <a:stretch>
            <a:fillRect/>
          </a:stretch>
        </p:blipFill>
        <p:spPr>
          <a:xfrm>
            <a:off x="1691640" y="1866153"/>
            <a:ext cx="2154509" cy="309342"/>
          </a:xfrm>
          <a:prstGeom prst="rect">
            <a:avLst/>
          </a:prstGeom>
        </p:spPr>
      </p:pic>
      <p:sp>
        <p:nvSpPr>
          <p:cNvPr id="11" name="Text 7"/>
          <p:cNvSpPr txBox="1"/>
          <p:nvPr/>
        </p:nvSpPr>
        <p:spPr>
          <a:xfrm>
            <a:off x="5577840" y="1600200"/>
            <a:ext cx="3749040" cy="841248"/>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Error at the output layer</a:t>
            </a:r>
            <a:endParaRPr lang="en-US" sz="1500" dirty="0"/>
          </a:p>
        </p:txBody>
      </p:sp>
      <p:sp>
        <p:nvSpPr>
          <p:cNvPr id="12" name="Text 8"/>
          <p:cNvSpPr txBox="1"/>
          <p:nvPr/>
        </p:nvSpPr>
        <p:spPr>
          <a:xfrm>
            <a:off x="9464040" y="1600200"/>
            <a:ext cx="2103120" cy="841248"/>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a</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y</a:t>
            </a:r>
            <a:endParaRPr lang="en-US" sz="1500" dirty="0"/>
          </a:p>
        </p:txBody>
      </p:sp>
      <p:sp>
        <p:nvSpPr>
          <p:cNvPr id="13" name="Shape 9"/>
          <p:cNvSpPr/>
          <p:nvPr/>
        </p:nvSpPr>
        <p:spPr>
          <a:xfrm>
            <a:off x="548640" y="2560320"/>
            <a:ext cx="11094415" cy="841248"/>
          </a:xfrm>
          <a:prstGeom prst="roundRect">
            <a:avLst>
              <a:gd name="adj" fmla="val 8696"/>
            </a:avLst>
          </a:prstGeom>
          <a:solidFill>
            <a:srgbClr val="FFFFFF"/>
          </a:solidFill>
          <a:ln w="12700">
            <a:solidFill>
              <a:srgbClr val="D5DBE3"/>
            </a:solidFill>
            <a:prstDash val="solid"/>
          </a:ln>
        </p:spPr>
      </p:sp>
      <p:sp>
        <p:nvSpPr>
          <p:cNvPr id="14" name="Shape 10"/>
          <p:cNvSpPr/>
          <p:nvPr/>
        </p:nvSpPr>
        <p:spPr>
          <a:xfrm>
            <a:off x="731520" y="2770632"/>
            <a:ext cx="731520" cy="420624"/>
          </a:xfrm>
          <a:prstGeom prst="roundRect">
            <a:avLst>
              <a:gd name="adj" fmla="val 13043"/>
            </a:avLst>
          </a:prstGeom>
          <a:solidFill>
            <a:srgbClr val="D9611A"/>
          </a:solidFill>
          <a:ln/>
        </p:spPr>
      </p:sp>
      <p:sp>
        <p:nvSpPr>
          <p:cNvPr id="15" name="Text 11"/>
          <p:cNvSpPr txBox="1"/>
          <p:nvPr/>
        </p:nvSpPr>
        <p:spPr>
          <a:xfrm>
            <a:off x="731520" y="2770632"/>
            <a:ext cx="731520" cy="420624"/>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BP2</a:t>
            </a:r>
            <a:endParaRPr lang="en-US" sz="1500" dirty="0"/>
          </a:p>
        </p:txBody>
      </p:sp>
      <p:pic>
        <p:nvPicPr>
          <p:cNvPr id="16" name="Image 1" descr="equation bp2">    </p:cNvPr>
          <p:cNvPicPr>
            <a:picLocks noChangeAspect="1"/>
          </p:cNvPicPr>
          <p:nvPr/>
        </p:nvPicPr>
        <p:blipFill>
          <a:blip r:embed="rId2"/>
          <a:stretch>
            <a:fillRect/>
          </a:stretch>
        </p:blipFill>
        <p:spPr>
          <a:xfrm>
            <a:off x="1691640" y="2826273"/>
            <a:ext cx="2909209" cy="309342"/>
          </a:xfrm>
          <a:prstGeom prst="rect">
            <a:avLst/>
          </a:prstGeom>
        </p:spPr>
      </p:pic>
      <p:sp>
        <p:nvSpPr>
          <p:cNvPr id="17" name="Text 12"/>
          <p:cNvSpPr txBox="1"/>
          <p:nvPr/>
        </p:nvSpPr>
        <p:spPr>
          <a:xfrm>
            <a:off x="5577840" y="2560320"/>
            <a:ext cx="3749040" cy="841248"/>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Send the error back: through W</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T</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gated by g′</a:t>
            </a:r>
            <a:endParaRPr lang="en-US" sz="1500" dirty="0"/>
          </a:p>
        </p:txBody>
      </p:sp>
      <p:sp>
        <p:nvSpPr>
          <p:cNvPr id="18" name="Text 13"/>
          <p:cNvSpPr txBox="1"/>
          <p:nvPr/>
        </p:nvSpPr>
        <p:spPr>
          <a:xfrm>
            <a:off x="9464040" y="2560320"/>
            <a:ext cx="2103120" cy="841248"/>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w</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σ′(z</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a:t>
            </a:r>
            <a:endParaRPr lang="en-US" sz="1500" dirty="0"/>
          </a:p>
        </p:txBody>
      </p:sp>
      <p:sp>
        <p:nvSpPr>
          <p:cNvPr id="19" name="Shape 14"/>
          <p:cNvSpPr/>
          <p:nvPr/>
        </p:nvSpPr>
        <p:spPr>
          <a:xfrm>
            <a:off x="548640" y="3520440"/>
            <a:ext cx="11094415" cy="841248"/>
          </a:xfrm>
          <a:prstGeom prst="roundRect">
            <a:avLst>
              <a:gd name="adj" fmla="val 8696"/>
            </a:avLst>
          </a:prstGeom>
          <a:solidFill>
            <a:srgbClr val="F3F5F8"/>
          </a:solidFill>
          <a:ln/>
        </p:spPr>
      </p:sp>
      <p:sp>
        <p:nvSpPr>
          <p:cNvPr id="20" name="Shape 15"/>
          <p:cNvSpPr/>
          <p:nvPr/>
        </p:nvSpPr>
        <p:spPr>
          <a:xfrm>
            <a:off x="731520" y="3730752"/>
            <a:ext cx="731520" cy="420624"/>
          </a:xfrm>
          <a:prstGeom prst="roundRect">
            <a:avLst>
              <a:gd name="adj" fmla="val 13043"/>
            </a:avLst>
          </a:prstGeom>
          <a:solidFill>
            <a:srgbClr val="0E7C7B"/>
          </a:solidFill>
          <a:ln/>
        </p:spPr>
      </p:sp>
      <p:sp>
        <p:nvSpPr>
          <p:cNvPr id="21" name="Text 16"/>
          <p:cNvSpPr txBox="1"/>
          <p:nvPr/>
        </p:nvSpPr>
        <p:spPr>
          <a:xfrm>
            <a:off x="731520" y="3730752"/>
            <a:ext cx="731520" cy="420624"/>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BP3</a:t>
            </a:r>
            <a:endParaRPr lang="en-US" sz="1500" dirty="0"/>
          </a:p>
        </p:txBody>
      </p:sp>
      <p:pic>
        <p:nvPicPr>
          <p:cNvPr id="22" name="Image 2" descr="equation bp3">    </p:cNvPr>
          <p:cNvPicPr>
            <a:picLocks noChangeAspect="1"/>
          </p:cNvPicPr>
          <p:nvPr/>
        </p:nvPicPr>
        <p:blipFill>
          <a:blip r:embed="rId3"/>
          <a:stretch>
            <a:fillRect/>
          </a:stretch>
        </p:blipFill>
        <p:spPr>
          <a:xfrm>
            <a:off x="1691640" y="3693902"/>
            <a:ext cx="1040724" cy="494325"/>
          </a:xfrm>
          <a:prstGeom prst="rect">
            <a:avLst/>
          </a:prstGeom>
        </p:spPr>
      </p:pic>
      <p:sp>
        <p:nvSpPr>
          <p:cNvPr id="23" name="Text 17"/>
          <p:cNvSpPr txBox="1"/>
          <p:nvPr/>
        </p:nvSpPr>
        <p:spPr>
          <a:xfrm>
            <a:off x="5577840" y="3520440"/>
            <a:ext cx="3749040" cy="841248"/>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Bias gradient = the error signal</a:t>
            </a:r>
            <a:endParaRPr lang="en-US" sz="1500" dirty="0"/>
          </a:p>
        </p:txBody>
      </p:sp>
      <p:sp>
        <p:nvSpPr>
          <p:cNvPr id="24" name="Text 18"/>
          <p:cNvSpPr txBox="1"/>
          <p:nvPr/>
        </p:nvSpPr>
        <p:spPr>
          <a:xfrm>
            <a:off x="9464040" y="3520440"/>
            <a:ext cx="2103120" cy="841248"/>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∂L/∂b</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endParaRPr lang="en-US" sz="1500" dirty="0"/>
          </a:p>
        </p:txBody>
      </p:sp>
      <p:sp>
        <p:nvSpPr>
          <p:cNvPr id="25" name="Shape 19"/>
          <p:cNvSpPr/>
          <p:nvPr/>
        </p:nvSpPr>
        <p:spPr>
          <a:xfrm>
            <a:off x="548640" y="4480560"/>
            <a:ext cx="11094415" cy="841248"/>
          </a:xfrm>
          <a:prstGeom prst="roundRect">
            <a:avLst>
              <a:gd name="adj" fmla="val 8696"/>
            </a:avLst>
          </a:prstGeom>
          <a:solidFill>
            <a:srgbClr val="FFFFFF"/>
          </a:solidFill>
          <a:ln w="12700">
            <a:solidFill>
              <a:srgbClr val="D5DBE3"/>
            </a:solidFill>
            <a:prstDash val="solid"/>
          </a:ln>
        </p:spPr>
      </p:sp>
      <p:sp>
        <p:nvSpPr>
          <p:cNvPr id="26" name="Shape 20"/>
          <p:cNvSpPr/>
          <p:nvPr/>
        </p:nvSpPr>
        <p:spPr>
          <a:xfrm>
            <a:off x="731520" y="4690872"/>
            <a:ext cx="731520" cy="420624"/>
          </a:xfrm>
          <a:prstGeom prst="roundRect">
            <a:avLst>
              <a:gd name="adj" fmla="val 13043"/>
            </a:avLst>
          </a:prstGeom>
          <a:solidFill>
            <a:srgbClr val="0E7C7B"/>
          </a:solidFill>
          <a:ln/>
        </p:spPr>
      </p:sp>
      <p:sp>
        <p:nvSpPr>
          <p:cNvPr id="27" name="Text 21"/>
          <p:cNvSpPr txBox="1"/>
          <p:nvPr/>
        </p:nvSpPr>
        <p:spPr>
          <a:xfrm>
            <a:off x="731520" y="4690872"/>
            <a:ext cx="731520" cy="420624"/>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BP4</a:t>
            </a:r>
            <a:endParaRPr lang="en-US" sz="1500" dirty="0"/>
          </a:p>
        </p:txBody>
      </p:sp>
      <p:pic>
        <p:nvPicPr>
          <p:cNvPr id="28" name="Image 3" descr="equation bp4">    </p:cNvPr>
          <p:cNvPicPr>
            <a:picLocks noChangeAspect="1"/>
          </p:cNvPicPr>
          <p:nvPr/>
        </p:nvPicPr>
        <p:blipFill>
          <a:blip r:embed="rId4"/>
          <a:stretch>
            <a:fillRect/>
          </a:stretch>
        </p:blipFill>
        <p:spPr>
          <a:xfrm>
            <a:off x="1691640" y="4654022"/>
            <a:ext cx="1793093" cy="494325"/>
          </a:xfrm>
          <a:prstGeom prst="rect">
            <a:avLst/>
          </a:prstGeom>
        </p:spPr>
      </p:pic>
      <p:sp>
        <p:nvSpPr>
          <p:cNvPr id="29" name="Text 22"/>
          <p:cNvSpPr txBox="1"/>
          <p:nvPr/>
        </p:nvSpPr>
        <p:spPr>
          <a:xfrm>
            <a:off x="5577840" y="4480560"/>
            <a:ext cx="3749040" cy="841248"/>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Weight gradient = error × input activation (outer product)</a:t>
            </a:r>
            <a:endParaRPr lang="en-US" sz="1500" dirty="0"/>
          </a:p>
        </p:txBody>
      </p:sp>
      <p:sp>
        <p:nvSpPr>
          <p:cNvPr id="30" name="Text 23"/>
          <p:cNvSpPr txBox="1"/>
          <p:nvPr/>
        </p:nvSpPr>
        <p:spPr>
          <a:xfrm>
            <a:off x="9464040" y="4480560"/>
            <a:ext cx="2103120" cy="841248"/>
          </a:xfrm>
          <a:prstGeom prst="rect">
            <a:avLst/>
          </a:prstGeom>
          <a:noFill/>
          <a:ln/>
        </p:spPr>
        <p:txBody>
          <a:bodyPr wrap="square" lIns="0" tIns="0" rIns="0" bIns="0" rtlCol="0" anchor="ctr"/>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∂L/∂w</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δ</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a</a:t>
            </a:r>
            <a:pPr algn="l" indent="0" marL="0">
              <a:lnSpc>
                <a:spcPct val="100000"/>
              </a:lnSpc>
              <a:buNone/>
            </a:pPr>
            <a:r>
              <a:rPr lang="en-US" sz="1500" baseline="-40000" dirty="0">
                <a:solidFill>
                  <a:srgbClr val="5B6675"/>
                </a:solidFill>
                <a:latin typeface="Calibri" pitchFamily="34" charset="0"/>
                <a:ea typeface="Calibri" pitchFamily="34" charset="-122"/>
                <a:cs typeface="Calibri" pitchFamily="34" charset="-120"/>
              </a:rPr>
              <a:t>1</a:t>
            </a:r>
            <a:endParaRPr lang="en-US" sz="1500" dirty="0"/>
          </a:p>
        </p:txBody>
      </p:sp>
      <p:sp>
        <p:nvSpPr>
          <p:cNvPr id="31" name="Shape 24"/>
          <p:cNvSpPr/>
          <p:nvPr/>
        </p:nvSpPr>
        <p:spPr>
          <a:xfrm>
            <a:off x="548640" y="5486400"/>
            <a:ext cx="11094415" cy="685800"/>
          </a:xfrm>
          <a:prstGeom prst="roundRect">
            <a:avLst>
              <a:gd name="adj" fmla="val 10667"/>
            </a:avLst>
          </a:prstGeom>
          <a:solidFill>
            <a:srgbClr val="E3F2F1"/>
          </a:solidFill>
          <a:ln/>
        </p:spPr>
      </p:sp>
      <p:pic>
        <p:nvPicPr>
          <p:cNvPr id="32" name="Image 4" descr="equation bp_softmax">    </p:cNvPr>
          <p:cNvPicPr>
            <a:picLocks noChangeAspect="1"/>
          </p:cNvPicPr>
          <p:nvPr/>
        </p:nvPicPr>
        <p:blipFill>
          <a:blip r:embed="rId5"/>
          <a:stretch>
            <a:fillRect/>
          </a:stretch>
        </p:blipFill>
        <p:spPr>
          <a:xfrm>
            <a:off x="822960" y="5550408"/>
            <a:ext cx="2280879" cy="465247"/>
          </a:xfrm>
          <a:prstGeom prst="rect">
            <a:avLst/>
          </a:prstGeom>
        </p:spPr>
      </p:pic>
      <p:sp>
        <p:nvSpPr>
          <p:cNvPr id="33" name="Text 25"/>
          <p:cNvSpPr txBox="1"/>
          <p:nvPr/>
        </p:nvSpPr>
        <p:spPr>
          <a:xfrm>
            <a:off x="6949440" y="5486400"/>
            <a:ext cx="4572000" cy="685800"/>
          </a:xfrm>
          <a:prstGeom prst="rect">
            <a:avLst/>
          </a:prstGeom>
          <a:noFill/>
          <a:ln/>
        </p:spPr>
        <p:txBody>
          <a:bodyPr wrap="square" lIns="0" tIns="0" rIns="0" bIns="0" rtlCol="0" anchor="ctr"/>
          <a:lstStyle/>
          <a:p>
            <a:pPr algn="l" indent="0" marL="0">
              <a:lnSpc>
                <a:spcPct val="100000"/>
              </a:lnSpc>
              <a:buNone/>
            </a:pPr>
            <a:r>
              <a:rPr lang="en-US" sz="1500" i="1" dirty="0">
                <a:solidFill>
                  <a:srgbClr val="0E7C7B"/>
                </a:solidFill>
                <a:latin typeface="Calibri" pitchFamily="34" charset="0"/>
                <a:ea typeface="Calibri" pitchFamily="34" charset="-122"/>
                <a:cs typeface="Calibri" pitchFamily="34" charset="-120"/>
              </a:rPr>
              <a:t>softmax + cross-entropy: BP1 simplifies (Appendix A3)</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One rule from a single weight to a whole layer and a whole batch</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let autodiff do it — and check it</a:t>
            </a:r>
            <a:endParaRPr lang="en-US" sz="1100" dirty="0"/>
          </a:p>
        </p:txBody>
      </p:sp>
      <p:sp>
        <p:nvSpPr>
          <p:cNvPr id="6" name="Shape 3"/>
          <p:cNvSpPr/>
          <p:nvPr/>
        </p:nvSpPr>
        <p:spPr>
          <a:xfrm>
            <a:off x="548640" y="1371600"/>
            <a:ext cx="5486400" cy="3291840"/>
          </a:xfrm>
          <a:prstGeom prst="roundRect">
            <a:avLst>
              <a:gd name="adj" fmla="val 2222"/>
            </a:avLst>
          </a:prstGeom>
          <a:solidFill>
            <a:srgbClr val="F3F5F8"/>
          </a:solidFill>
          <a:ln/>
        </p:spPr>
      </p:sp>
      <p:sp>
        <p:nvSpPr>
          <p:cNvPr id="7" name="Text 4"/>
          <p:cNvSpPr txBox="1"/>
          <p:nvPr/>
        </p:nvSpPr>
        <p:spPr>
          <a:xfrm>
            <a:off x="777240" y="1481328"/>
            <a:ext cx="50292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ONE EXAMPLE: AN OUTER PRODUCT</a:t>
            </a:r>
            <a:endParaRPr lang="en-US" sz="1100" dirty="0"/>
          </a:p>
        </p:txBody>
      </p:sp>
      <p:pic>
        <p:nvPicPr>
          <p:cNvPr id="8" name="Image 0" descr="equation outer">    </p:cNvPr>
          <p:cNvPicPr>
            <a:picLocks noChangeAspect="1"/>
          </p:cNvPicPr>
          <p:nvPr/>
        </p:nvPicPr>
        <p:blipFill>
          <a:blip r:embed="rId1"/>
          <a:stretch>
            <a:fillRect/>
          </a:stretch>
        </p:blipFill>
        <p:spPr>
          <a:xfrm>
            <a:off x="822960" y="1828800"/>
            <a:ext cx="1517584" cy="651510"/>
          </a:xfrm>
          <a:prstGeom prst="rect">
            <a:avLst/>
          </a:prstGeom>
        </p:spPr>
      </p:pic>
      <p:pic>
        <p:nvPicPr>
          <p:cNvPr id="9" name="Image 1" descr="equation outer_num">    </p:cNvPr>
          <p:cNvPicPr>
            <a:picLocks noChangeAspect="1"/>
          </p:cNvPicPr>
          <p:nvPr/>
        </p:nvPicPr>
        <p:blipFill>
          <a:blip r:embed="rId2"/>
          <a:stretch>
            <a:fillRect/>
          </a:stretch>
        </p:blipFill>
        <p:spPr>
          <a:xfrm>
            <a:off x="822960" y="2788920"/>
            <a:ext cx="3834408" cy="663745"/>
          </a:xfrm>
          <a:prstGeom prst="rect">
            <a:avLst/>
          </a:prstGeom>
        </p:spPr>
      </p:pic>
      <p:sp>
        <p:nvSpPr>
          <p:cNvPr id="10" name="Text 5"/>
          <p:cNvSpPr txBox="1"/>
          <p:nvPr/>
        </p:nvSpPr>
        <p:spPr>
          <a:xfrm>
            <a:off x="822960" y="4069080"/>
            <a:ext cx="5029200" cy="3657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δ (2×1) times a</a:t>
            </a:r>
            <a:pPr algn="l" indent="0" marL="0">
              <a:lnSpc>
                <a:spcPct val="100000"/>
              </a:lnSpc>
              <a:buNone/>
            </a:pPr>
            <a:r>
              <a:rPr lang="en-US" sz="1500" baseline="30000" dirty="0">
                <a:solidFill>
                  <a:srgbClr val="5B6675"/>
                </a:solidFill>
                <a:latin typeface="Calibri" pitchFamily="34" charset="0"/>
                <a:ea typeface="Calibri" pitchFamily="34" charset="-122"/>
                <a:cs typeface="Calibri" pitchFamily="34" charset="-120"/>
              </a:rPr>
              <a:t>T</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(1×3) → 2×3: the shape of W.</a:t>
            </a:r>
            <a:endParaRPr lang="en-US" sz="1500" dirty="0"/>
          </a:p>
        </p:txBody>
      </p:sp>
      <p:sp>
        <p:nvSpPr>
          <p:cNvPr id="11" name="Shape 6"/>
          <p:cNvSpPr/>
          <p:nvPr/>
        </p:nvSpPr>
        <p:spPr>
          <a:xfrm>
            <a:off x="6217920" y="1371600"/>
            <a:ext cx="5422392" cy="3291840"/>
          </a:xfrm>
          <a:prstGeom prst="roundRect">
            <a:avLst>
              <a:gd name="adj" fmla="val 2222"/>
            </a:avLst>
          </a:prstGeom>
          <a:solidFill>
            <a:srgbClr val="E3F2F1"/>
          </a:solidFill>
          <a:ln/>
        </p:spPr>
      </p:sp>
      <p:sp>
        <p:nvSpPr>
          <p:cNvPr id="12" name="Text 7"/>
          <p:cNvSpPr txBox="1"/>
          <p:nvPr/>
        </p:nvSpPr>
        <p:spPr>
          <a:xfrm>
            <a:off x="6446520" y="1481328"/>
            <a:ext cx="50292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A MINI-BATCH OF B EXAMPLES (STORED AS ROWS)</a:t>
            </a:r>
            <a:endParaRPr lang="en-US" sz="1100" dirty="0"/>
          </a:p>
        </p:txBody>
      </p:sp>
      <p:pic>
        <p:nvPicPr>
          <p:cNvPr id="13" name="Image 2" descr="equation batchgrad">    </p:cNvPr>
          <p:cNvPicPr>
            <a:picLocks noChangeAspect="1"/>
          </p:cNvPicPr>
          <p:nvPr/>
        </p:nvPicPr>
        <p:blipFill>
          <a:blip r:embed="rId3"/>
          <a:stretch>
            <a:fillRect/>
          </a:stretch>
        </p:blipFill>
        <p:spPr>
          <a:xfrm>
            <a:off x="6446520" y="1828800"/>
            <a:ext cx="2731130" cy="802660"/>
          </a:xfrm>
          <a:prstGeom prst="rect">
            <a:avLst/>
          </a:prstGeom>
        </p:spPr>
      </p:pic>
      <p:pic>
        <p:nvPicPr>
          <p:cNvPr id="14" name="Image 3" descr="equation batchbias">    </p:cNvPr>
          <p:cNvPicPr>
            <a:picLocks noChangeAspect="1"/>
          </p:cNvPicPr>
          <p:nvPr/>
        </p:nvPicPr>
        <p:blipFill>
          <a:blip r:embed="rId4"/>
          <a:stretch>
            <a:fillRect/>
          </a:stretch>
        </p:blipFill>
        <p:spPr>
          <a:xfrm>
            <a:off x="6446520" y="3017520"/>
            <a:ext cx="1789115" cy="520111"/>
          </a:xfrm>
          <a:prstGeom prst="rect">
            <a:avLst/>
          </a:prstGeom>
        </p:spPr>
      </p:pic>
      <p:sp>
        <p:nvSpPr>
          <p:cNvPr id="15" name="Text 8"/>
          <p:cNvSpPr txBox="1"/>
          <p:nvPr/>
        </p:nvSpPr>
        <p:spPr>
          <a:xfrm>
            <a:off x="6446520" y="3886200"/>
            <a:ext cx="5029200" cy="73152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Running example, layer 1: Δ is 256×128, A is 256×784 → gradient 128×784 = shape of W</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a:t>
            </a:r>
            <a:endParaRPr lang="en-US" sz="1500" dirty="0"/>
          </a:p>
        </p:txBody>
      </p:sp>
      <p:sp>
        <p:nvSpPr>
          <p:cNvPr id="16" name="Shape 9"/>
          <p:cNvSpPr/>
          <p:nvPr/>
        </p:nvSpPr>
        <p:spPr>
          <a:xfrm>
            <a:off x="548640" y="4892040"/>
            <a:ext cx="11094415" cy="1234440"/>
          </a:xfrm>
          <a:prstGeom prst="roundRect">
            <a:avLst>
              <a:gd name="adj" fmla="val 5926"/>
            </a:avLst>
          </a:prstGeom>
          <a:solidFill>
            <a:srgbClr val="16202E"/>
          </a:solidFill>
          <a:ln/>
        </p:spPr>
      </p:sp>
      <p:sp>
        <p:nvSpPr>
          <p:cNvPr id="17" name="Text 10"/>
          <p:cNvSpPr txBox="1"/>
          <p:nvPr/>
        </p:nvSpPr>
        <p:spPr>
          <a:xfrm>
            <a:off x="822960" y="4892040"/>
            <a:ext cx="10545775" cy="1234440"/>
          </a:xfrm>
          <a:prstGeom prst="rect">
            <a:avLst/>
          </a:prstGeom>
          <a:noFill/>
          <a:ln/>
        </p:spPr>
        <p:txBody>
          <a:bodyPr wrap="square" lIns="0" tIns="0" rIns="0" bIns="0" rtlCol="0" anchor="ctr"/>
          <a:lstStyle/>
          <a:p>
            <a:pPr algn="ctr" indent="0" marL="0">
              <a:lnSpc>
                <a:spcPct val="100000"/>
              </a:lnSpc>
              <a:buNone/>
            </a:pPr>
            <a:r>
              <a:rPr lang="en-US" sz="1900" dirty="0">
                <a:solidFill>
                  <a:srgbClr val="FFFFFF"/>
                </a:solidFill>
                <a:latin typeface="Calibri" pitchFamily="34" charset="0"/>
                <a:ea typeface="Calibri" pitchFamily="34" charset="-122"/>
                <a:cs typeface="Calibri" pitchFamily="34" charset="-120"/>
              </a:rPr>
              <a:t>Memory hook:  </a:t>
            </a:r>
            <a:pPr algn="ctr" indent="0" marL="0">
              <a:lnSpc>
                <a:spcPct val="100000"/>
              </a:lnSpc>
              <a:buNone/>
            </a:pPr>
            <a:r>
              <a:rPr lang="en-US" sz="1900" b="1" dirty="0">
                <a:solidFill>
                  <a:srgbClr val="FFFFFF"/>
                </a:solidFill>
                <a:latin typeface="Calibri" pitchFamily="34" charset="0"/>
                <a:ea typeface="Calibri" pitchFamily="34" charset="-122"/>
                <a:cs typeface="Calibri" pitchFamily="34" charset="-120"/>
              </a:rPr>
              <a:t>weight gradient = (error at the layer's output) × (activation at its input)</a:t>
            </a:r>
            <a:endParaRPr lang="en-US" sz="19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BACKPROPAGATION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Autodiff runs backprop for you; a gradient check catches your mistakes</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the full training loop</a:t>
            </a:r>
            <a:endParaRPr lang="en-US" sz="1100" dirty="0"/>
          </a:p>
        </p:txBody>
      </p:sp>
      <p:sp>
        <p:nvSpPr>
          <p:cNvPr id="6" name="Shape 3"/>
          <p:cNvSpPr/>
          <p:nvPr/>
        </p:nvSpPr>
        <p:spPr>
          <a:xfrm>
            <a:off x="548640" y="1371600"/>
            <a:ext cx="5852160" cy="3108960"/>
          </a:xfrm>
          <a:prstGeom prst="roundRect">
            <a:avLst>
              <a:gd name="adj" fmla="val 2353"/>
            </a:avLst>
          </a:prstGeom>
          <a:solidFill>
            <a:srgbClr val="16202E"/>
          </a:solidFill>
          <a:ln/>
        </p:spPr>
      </p:sp>
      <p:sp>
        <p:nvSpPr>
          <p:cNvPr id="7" name="Text 4"/>
          <p:cNvSpPr txBox="1"/>
          <p:nvPr/>
        </p:nvSpPr>
        <p:spPr>
          <a:xfrm>
            <a:off x="777240" y="1463040"/>
            <a:ext cx="5486400" cy="2926080"/>
          </a:xfrm>
          <a:prstGeom prst="rect">
            <a:avLst/>
          </a:prstGeom>
          <a:noFill/>
          <a:ln/>
        </p:spPr>
        <p:txBody>
          <a:bodyPr wrap="square" lIns="0" tIns="0" rIns="0" bIns="0" rtlCol="0" anchor="ctr"/>
          <a:lstStyle/>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x, y = 2.0, 1.0</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w1, b1, w2, b2 = 0.5, 0.1, 0.8, -0.3   # tracked</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a1   = sigmoid(w1*x + b1)</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z2   = w2*a1 + b2</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loss = bce_with_logits(z2, y)   # σ inside</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backward(loss)</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grad(w1)  →  -0.1276   ✓ matches by hand</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grad(w2)  →  -0.3192   ✓</a:t>
            </a:r>
            <a:endParaRPr lang="en-US" sz="1450" dirty="0"/>
          </a:p>
        </p:txBody>
      </p:sp>
      <p:sp>
        <p:nvSpPr>
          <p:cNvPr id="8" name="Text 5"/>
          <p:cNvSpPr txBox="1"/>
          <p:nvPr/>
        </p:nvSpPr>
        <p:spPr>
          <a:xfrm>
            <a:off x="548640" y="4526280"/>
            <a:ext cx="5852160" cy="274320"/>
          </a:xfrm>
          <a:prstGeom prst="rect">
            <a:avLst/>
          </a:prstGeom>
          <a:noFill/>
          <a:ln/>
        </p:spPr>
        <p:txBody>
          <a:bodyPr wrap="square" lIns="0" tIns="0" rIns="0" bIns="0" rtlCol="0" anchor="t"/>
          <a:lstStyle/>
          <a:p>
            <a:pPr algn="l" indent="0" marL="0">
              <a:lnSpc>
                <a:spcPct val="100000"/>
              </a:lnSpc>
              <a:buNone/>
            </a:pPr>
            <a:r>
              <a:rPr lang="en-US" sz="1250" i="1" dirty="0">
                <a:solidFill>
                  <a:srgbClr val="5B6675"/>
                </a:solidFill>
                <a:latin typeface="Calibri" pitchFamily="34" charset="0"/>
                <a:ea typeface="Calibri" pitchFamily="34" charset="-122"/>
                <a:cs typeface="Calibri" pitchFamily="34" charset="-120"/>
              </a:rPr>
              <a:t>framework-neutral pseudocode</a:t>
            </a:r>
            <a:endParaRPr lang="en-US" sz="1250" dirty="0"/>
          </a:p>
        </p:txBody>
      </p:sp>
      <p:sp>
        <p:nvSpPr>
          <p:cNvPr id="9" name="Shape 6"/>
          <p:cNvSpPr/>
          <p:nvPr/>
        </p:nvSpPr>
        <p:spPr>
          <a:xfrm>
            <a:off x="6675120" y="1417320"/>
            <a:ext cx="365760" cy="365760"/>
          </a:xfrm>
          <a:prstGeom prst="ellipse">
            <a:avLst/>
          </a:prstGeom>
          <a:solidFill>
            <a:srgbClr val="0E7C7B"/>
          </a:solidFill>
          <a:ln/>
        </p:spPr>
      </p:sp>
      <p:sp>
        <p:nvSpPr>
          <p:cNvPr id="10" name="Text 7"/>
          <p:cNvSpPr txBox="1"/>
          <p:nvPr/>
        </p:nvSpPr>
        <p:spPr>
          <a:xfrm>
            <a:off x="6675120" y="141732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7178040" y="1371600"/>
            <a:ext cx="4480560" cy="329184"/>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Forward records a graph</a:t>
            </a:r>
            <a:endParaRPr lang="en-US" sz="1600" dirty="0"/>
          </a:p>
        </p:txBody>
      </p:sp>
      <p:sp>
        <p:nvSpPr>
          <p:cNvPr id="12" name="Text 9"/>
          <p:cNvSpPr txBox="1"/>
          <p:nvPr/>
        </p:nvSpPr>
        <p:spPr>
          <a:xfrm>
            <a:off x="7178040" y="1719072"/>
            <a:ext cx="4480560" cy="4114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Each operation remembers how to pass gradients back.</a:t>
            </a:r>
            <a:endParaRPr lang="en-US" sz="1450" dirty="0"/>
          </a:p>
        </p:txBody>
      </p:sp>
      <p:sp>
        <p:nvSpPr>
          <p:cNvPr id="13" name="Shape 10"/>
          <p:cNvSpPr/>
          <p:nvPr/>
        </p:nvSpPr>
        <p:spPr>
          <a:xfrm>
            <a:off x="6675120" y="2286000"/>
            <a:ext cx="365760" cy="365760"/>
          </a:xfrm>
          <a:prstGeom prst="ellipse">
            <a:avLst/>
          </a:prstGeom>
          <a:solidFill>
            <a:srgbClr val="0E7C7B"/>
          </a:solidFill>
          <a:ln/>
        </p:spPr>
      </p:sp>
      <p:sp>
        <p:nvSpPr>
          <p:cNvPr id="14" name="Text 11"/>
          <p:cNvSpPr txBox="1"/>
          <p:nvPr/>
        </p:nvSpPr>
        <p:spPr>
          <a:xfrm>
            <a:off x="6675120" y="228600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7178040" y="2240280"/>
            <a:ext cx="4480560" cy="329184"/>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Backward applies BP1–BP4</a:t>
            </a:r>
            <a:endParaRPr lang="en-US" sz="1600" dirty="0"/>
          </a:p>
        </p:txBody>
      </p:sp>
      <p:sp>
        <p:nvSpPr>
          <p:cNvPr id="16" name="Text 13"/>
          <p:cNvSpPr txBox="1"/>
          <p:nvPr/>
        </p:nvSpPr>
        <p:spPr>
          <a:xfrm>
            <a:off x="7178040" y="2587752"/>
            <a:ext cx="4480560" cy="4114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Same numbers as our hand calculation.</a:t>
            </a:r>
            <a:endParaRPr lang="en-US" sz="1450" dirty="0"/>
          </a:p>
        </p:txBody>
      </p:sp>
      <p:sp>
        <p:nvSpPr>
          <p:cNvPr id="17" name="Shape 14"/>
          <p:cNvSpPr/>
          <p:nvPr/>
        </p:nvSpPr>
        <p:spPr>
          <a:xfrm>
            <a:off x="6675120" y="3154680"/>
            <a:ext cx="365760" cy="365760"/>
          </a:xfrm>
          <a:prstGeom prst="ellipse">
            <a:avLst/>
          </a:prstGeom>
          <a:solidFill>
            <a:srgbClr val="0E7C7B"/>
          </a:solidFill>
          <a:ln/>
        </p:spPr>
      </p:sp>
      <p:sp>
        <p:nvSpPr>
          <p:cNvPr id="18" name="Text 15"/>
          <p:cNvSpPr txBox="1"/>
          <p:nvPr/>
        </p:nvSpPr>
        <p:spPr>
          <a:xfrm>
            <a:off x="6675120" y="3154680"/>
            <a:ext cx="365760" cy="36576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7178040" y="3108960"/>
            <a:ext cx="4480560" cy="329184"/>
          </a:xfrm>
          <a:prstGeom prst="rect">
            <a:avLst/>
          </a:prstGeom>
          <a:noFill/>
          <a:ln/>
        </p:spPr>
        <p:txBody>
          <a:bodyPr wrap="square" lIns="0" tIns="0" rIns="0" bIns="0" rtlCol="0" anchor="t"/>
          <a:lstStyle/>
          <a:p>
            <a:pPr algn="l" indent="0" marL="0">
              <a:lnSpc>
                <a:spcPct val="100000"/>
              </a:lnSpc>
              <a:buNone/>
            </a:pPr>
            <a:r>
              <a:rPr lang="en-US" sz="1600" b="1" dirty="0">
                <a:solidFill>
                  <a:srgbClr val="16202E"/>
                </a:solidFill>
                <a:latin typeface="Calibri" pitchFamily="34" charset="0"/>
                <a:ea typeface="Calibri" pitchFamily="34" charset="-122"/>
                <a:cs typeface="Calibri" pitchFamily="34" charset="-120"/>
              </a:rPr>
              <a:t>Gradients accumulate</a:t>
            </a:r>
            <a:endParaRPr lang="en-US" sz="1600" dirty="0"/>
          </a:p>
        </p:txBody>
      </p:sp>
      <p:sp>
        <p:nvSpPr>
          <p:cNvPr id="20" name="Text 17"/>
          <p:cNvSpPr txBox="1"/>
          <p:nvPr/>
        </p:nvSpPr>
        <p:spPr>
          <a:xfrm>
            <a:off x="7178040" y="3456432"/>
            <a:ext cx="4480560" cy="41148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Clear them before every update step.</a:t>
            </a:r>
            <a:endParaRPr lang="en-US" sz="1450" dirty="0"/>
          </a:p>
        </p:txBody>
      </p:sp>
      <p:sp>
        <p:nvSpPr>
          <p:cNvPr id="21" name="Shape 18"/>
          <p:cNvSpPr/>
          <p:nvPr/>
        </p:nvSpPr>
        <p:spPr>
          <a:xfrm>
            <a:off x="6675120" y="4069080"/>
            <a:ext cx="4965192" cy="2057400"/>
          </a:xfrm>
          <a:prstGeom prst="roundRect">
            <a:avLst>
              <a:gd name="adj" fmla="val 3556"/>
            </a:avLst>
          </a:prstGeom>
          <a:solidFill>
            <a:srgbClr val="E3F2F1"/>
          </a:solidFill>
          <a:ln/>
        </p:spPr>
      </p:sp>
      <p:sp>
        <p:nvSpPr>
          <p:cNvPr id="22" name="Text 19"/>
          <p:cNvSpPr txBox="1"/>
          <p:nvPr/>
        </p:nvSpPr>
        <p:spPr>
          <a:xfrm>
            <a:off x="6903720" y="417880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GRADIENT CHECK: CENTRED DIFFERENCES</a:t>
            </a:r>
            <a:endParaRPr lang="en-US" sz="1100" dirty="0"/>
          </a:p>
        </p:txBody>
      </p:sp>
      <p:pic>
        <p:nvPicPr>
          <p:cNvPr id="23" name="Image 0" descr="equation gradcheck">    </p:cNvPr>
          <p:cNvPicPr>
            <a:picLocks noChangeAspect="1"/>
          </p:cNvPicPr>
          <p:nvPr/>
        </p:nvPicPr>
        <p:blipFill>
          <a:blip r:embed="rId1"/>
          <a:stretch>
            <a:fillRect/>
          </a:stretch>
        </p:blipFill>
        <p:spPr>
          <a:xfrm>
            <a:off x="6903720" y="4526280"/>
            <a:ext cx="2473955" cy="502874"/>
          </a:xfrm>
          <a:prstGeom prst="rect">
            <a:avLst/>
          </a:prstGeom>
        </p:spPr>
      </p:pic>
      <p:sp>
        <p:nvSpPr>
          <p:cNvPr id="24" name="Text 20"/>
          <p:cNvSpPr txBox="1"/>
          <p:nvPr/>
        </p:nvSpPr>
        <p:spPr>
          <a:xfrm>
            <a:off x="6903720" y="5440680"/>
            <a:ext cx="4572000" cy="5486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Our NumPy MLP: max relative error 3×10</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−9</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a:t>
            </a:r>
            <a:endParaRPr lang="en-US" sz="1500" dirty="0"/>
          </a:p>
        </p:txBody>
      </p:sp>
      <p:sp>
        <p:nvSpPr>
          <p:cNvPr id="25" name="Shape 21"/>
          <p:cNvSpPr/>
          <p:nvPr/>
        </p:nvSpPr>
        <p:spPr>
          <a:xfrm>
            <a:off x="548640" y="4892040"/>
            <a:ext cx="5852160" cy="1234440"/>
          </a:xfrm>
          <a:prstGeom prst="roundRect">
            <a:avLst>
              <a:gd name="adj" fmla="val 5926"/>
            </a:avLst>
          </a:prstGeom>
          <a:solidFill>
            <a:srgbClr val="F3F5F8"/>
          </a:solidFill>
          <a:ln/>
        </p:spPr>
      </p:sp>
      <p:sp>
        <p:nvSpPr>
          <p:cNvPr id="26" name="Text 22"/>
          <p:cNvSpPr txBox="1"/>
          <p:nvPr/>
        </p:nvSpPr>
        <p:spPr>
          <a:xfrm>
            <a:off x="777240" y="4892040"/>
            <a:ext cx="5486400" cy="1234440"/>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Rule of thumb (CS231n): relative error ≲ 10</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−7</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correct, ≳ 10</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almost surely a bug. Details: Appendix A5.</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TRAINING</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The training loop: five steps per mini-batch, then validate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our model's real training curves</a:t>
            </a:r>
            <a:endParaRPr lang="en-US" sz="1100" dirty="0"/>
          </a:p>
        </p:txBody>
      </p:sp>
      <p:sp>
        <p:nvSpPr>
          <p:cNvPr id="6" name="Shape 3"/>
          <p:cNvSpPr/>
          <p:nvPr/>
        </p:nvSpPr>
        <p:spPr>
          <a:xfrm>
            <a:off x="548640" y="1371600"/>
            <a:ext cx="6675120" cy="4206240"/>
          </a:xfrm>
          <a:prstGeom prst="roundRect">
            <a:avLst>
              <a:gd name="adj" fmla="val 1739"/>
            </a:avLst>
          </a:prstGeom>
          <a:solidFill>
            <a:srgbClr val="16202E"/>
          </a:solidFill>
          <a:ln/>
        </p:spPr>
      </p:sp>
      <p:sp>
        <p:nvSpPr>
          <p:cNvPr id="7" name="Text 4"/>
          <p:cNvSpPr txBox="1"/>
          <p:nvPr/>
        </p:nvSpPr>
        <p:spPr>
          <a:xfrm>
            <a:off x="777240" y="1481328"/>
            <a:ext cx="6309360" cy="4023360"/>
          </a:xfrm>
          <a:prstGeom prst="rect">
            <a:avLst/>
          </a:prstGeom>
          <a:noFill/>
          <a:ln/>
        </p:spPr>
        <p:txBody>
          <a:bodyPr wrap="square" lIns="0" tIns="0" rIns="0" bIns="0" rtlCol="0" anchor="t"/>
          <a:lstStyle/>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for epoch in 1..20:</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shuffle the training set</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for each mini-batch (X, y) of 256:</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clear old gradients           # 1</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logits = model(X)             # 2 forward</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loss = cross_entropy(logits, y)  # 3</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backward(loss)                # 4 backprop</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update θ with Adam, η = 1e-3  # 5</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validation loss: no gradients, no updates</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keep the checkpoint with the lowest</a:t>
            </a:r>
            <a:endParaRPr lang="en-US" sz="1450" dirty="0"/>
          </a:p>
          <a:p>
            <a:pPr algn="l" indent="0" marL="0">
              <a:lnSpc>
                <a:spcPct val="112000"/>
              </a:lnSpc>
              <a:buNone/>
            </a:pPr>
            <a:r>
              <a:rPr lang="en-US" sz="1450" dirty="0">
                <a:solidFill>
                  <a:srgbClr val="FFFFFF"/>
                </a:solidFill>
                <a:latin typeface="Courier New" pitchFamily="34" charset="0"/>
                <a:ea typeface="Courier New" pitchFamily="34" charset="-122"/>
                <a:cs typeface="Courier New" pitchFamily="34" charset="-120"/>
              </a:rPr>
              <a:t>        validation loss</a:t>
            </a:r>
            <a:endParaRPr lang="en-US" sz="1450" dirty="0"/>
          </a:p>
        </p:txBody>
      </p:sp>
      <p:sp>
        <p:nvSpPr>
          <p:cNvPr id="8" name="Shape 5"/>
          <p:cNvSpPr/>
          <p:nvPr/>
        </p:nvSpPr>
        <p:spPr>
          <a:xfrm>
            <a:off x="8001000" y="1874520"/>
            <a:ext cx="2834640" cy="2834640"/>
          </a:xfrm>
          <a:prstGeom prst="ellipse">
            <a:avLst/>
          </a:prstGeom>
          <a:ln w="19050">
            <a:solidFill>
              <a:srgbClr val="D5DBE3"/>
            </a:solidFill>
            <a:prstDash val="dash"/>
          </a:ln>
        </p:spPr>
      </p:sp>
      <p:sp>
        <p:nvSpPr>
          <p:cNvPr id="9" name="Shape 6"/>
          <p:cNvSpPr/>
          <p:nvPr/>
        </p:nvSpPr>
        <p:spPr>
          <a:xfrm>
            <a:off x="8732520" y="1627632"/>
            <a:ext cx="1371600" cy="493776"/>
          </a:xfrm>
          <a:prstGeom prst="roundRect">
            <a:avLst>
              <a:gd name="adj" fmla="val 14815"/>
            </a:avLst>
          </a:prstGeom>
          <a:solidFill>
            <a:srgbClr val="E3F2F1"/>
          </a:solidFill>
          <a:ln w="12700">
            <a:solidFill>
              <a:srgbClr val="0E7C7B"/>
            </a:solidFill>
            <a:prstDash val="solid"/>
          </a:ln>
        </p:spPr>
      </p:sp>
      <p:sp>
        <p:nvSpPr>
          <p:cNvPr id="10" name="Text 7"/>
          <p:cNvSpPr txBox="1"/>
          <p:nvPr/>
        </p:nvSpPr>
        <p:spPr>
          <a:xfrm>
            <a:off x="8732520" y="1627632"/>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1 clear</a:t>
            </a:r>
            <a:endParaRPr lang="en-US" sz="1500" dirty="0"/>
          </a:p>
        </p:txBody>
      </p:sp>
      <p:sp>
        <p:nvSpPr>
          <p:cNvPr id="11" name="Shape 8"/>
          <p:cNvSpPr/>
          <p:nvPr/>
        </p:nvSpPr>
        <p:spPr>
          <a:xfrm>
            <a:off x="10080471" y="2606976"/>
            <a:ext cx="1371600" cy="493776"/>
          </a:xfrm>
          <a:prstGeom prst="roundRect">
            <a:avLst>
              <a:gd name="adj" fmla="val 14815"/>
            </a:avLst>
          </a:prstGeom>
          <a:solidFill>
            <a:srgbClr val="E3F2F1"/>
          </a:solidFill>
          <a:ln w="12700">
            <a:solidFill>
              <a:srgbClr val="0E7C7B"/>
            </a:solidFill>
            <a:prstDash val="solid"/>
          </a:ln>
        </p:spPr>
      </p:sp>
      <p:sp>
        <p:nvSpPr>
          <p:cNvPr id="12" name="Text 9"/>
          <p:cNvSpPr txBox="1"/>
          <p:nvPr/>
        </p:nvSpPr>
        <p:spPr>
          <a:xfrm>
            <a:off x="10080471" y="2606976"/>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2 forward</a:t>
            </a:r>
            <a:endParaRPr lang="en-US" sz="1500" dirty="0"/>
          </a:p>
        </p:txBody>
      </p:sp>
      <p:sp>
        <p:nvSpPr>
          <p:cNvPr id="13" name="Shape 10"/>
          <p:cNvSpPr/>
          <p:nvPr/>
        </p:nvSpPr>
        <p:spPr>
          <a:xfrm>
            <a:off x="9565600" y="4191588"/>
            <a:ext cx="1371600" cy="493776"/>
          </a:xfrm>
          <a:prstGeom prst="roundRect">
            <a:avLst>
              <a:gd name="adj" fmla="val 14815"/>
            </a:avLst>
          </a:prstGeom>
          <a:solidFill>
            <a:srgbClr val="E3F2F1"/>
          </a:solidFill>
          <a:ln w="12700">
            <a:solidFill>
              <a:srgbClr val="0E7C7B"/>
            </a:solidFill>
            <a:prstDash val="solid"/>
          </a:ln>
        </p:spPr>
      </p:sp>
      <p:sp>
        <p:nvSpPr>
          <p:cNvPr id="14" name="Text 11"/>
          <p:cNvSpPr txBox="1"/>
          <p:nvPr/>
        </p:nvSpPr>
        <p:spPr>
          <a:xfrm>
            <a:off x="9565600" y="4191588"/>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0E7C7B"/>
                </a:solidFill>
                <a:latin typeface="Calibri" pitchFamily="34" charset="0"/>
                <a:ea typeface="Calibri" pitchFamily="34" charset="-122"/>
                <a:cs typeface="Calibri" pitchFamily="34" charset="-120"/>
              </a:rPr>
              <a:t>3 loss</a:t>
            </a:r>
            <a:endParaRPr lang="en-US" sz="1500" dirty="0"/>
          </a:p>
        </p:txBody>
      </p:sp>
      <p:sp>
        <p:nvSpPr>
          <p:cNvPr id="15" name="Shape 12"/>
          <p:cNvSpPr/>
          <p:nvPr/>
        </p:nvSpPr>
        <p:spPr>
          <a:xfrm>
            <a:off x="7899440" y="4191588"/>
            <a:ext cx="1371600" cy="493776"/>
          </a:xfrm>
          <a:prstGeom prst="roundRect">
            <a:avLst>
              <a:gd name="adj" fmla="val 14815"/>
            </a:avLst>
          </a:prstGeom>
          <a:solidFill>
            <a:srgbClr val="FCEDE3"/>
          </a:solidFill>
          <a:ln w="12700">
            <a:solidFill>
              <a:srgbClr val="D9611A"/>
            </a:solidFill>
            <a:prstDash val="solid"/>
          </a:ln>
        </p:spPr>
      </p:sp>
      <p:sp>
        <p:nvSpPr>
          <p:cNvPr id="16" name="Text 13"/>
          <p:cNvSpPr txBox="1"/>
          <p:nvPr/>
        </p:nvSpPr>
        <p:spPr>
          <a:xfrm>
            <a:off x="7899440" y="4191588"/>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4 backward</a:t>
            </a:r>
            <a:endParaRPr lang="en-US" sz="1500" dirty="0"/>
          </a:p>
        </p:txBody>
      </p:sp>
      <p:sp>
        <p:nvSpPr>
          <p:cNvPr id="17" name="Shape 14"/>
          <p:cNvSpPr/>
          <p:nvPr/>
        </p:nvSpPr>
        <p:spPr>
          <a:xfrm>
            <a:off x="7384569" y="2606976"/>
            <a:ext cx="1371600" cy="493776"/>
          </a:xfrm>
          <a:prstGeom prst="roundRect">
            <a:avLst>
              <a:gd name="adj" fmla="val 14815"/>
            </a:avLst>
          </a:prstGeom>
          <a:solidFill>
            <a:srgbClr val="FCEDE3"/>
          </a:solidFill>
          <a:ln w="12700">
            <a:solidFill>
              <a:srgbClr val="D9611A"/>
            </a:solidFill>
            <a:prstDash val="solid"/>
          </a:ln>
        </p:spPr>
      </p:sp>
      <p:sp>
        <p:nvSpPr>
          <p:cNvPr id="18" name="Text 15"/>
          <p:cNvSpPr txBox="1"/>
          <p:nvPr/>
        </p:nvSpPr>
        <p:spPr>
          <a:xfrm>
            <a:off x="7384569" y="2606976"/>
            <a:ext cx="1371600" cy="493776"/>
          </a:xfrm>
          <a:prstGeom prst="rect">
            <a:avLst/>
          </a:prstGeom>
          <a:noFill/>
          <a:ln/>
        </p:spPr>
        <p:txBody>
          <a:bodyPr wrap="square" lIns="0" tIns="0" rIns="0" bIns="0" rtlCol="0" anchor="ctr"/>
          <a:lstStyle/>
          <a:p>
            <a:pPr algn="ctr" indent="0" marL="0">
              <a:lnSpc>
                <a:spcPct val="100000"/>
              </a:lnSpc>
              <a:buNone/>
            </a:pPr>
            <a:r>
              <a:rPr lang="en-US" sz="1500" b="1" dirty="0">
                <a:solidFill>
                  <a:srgbClr val="D9611A"/>
                </a:solidFill>
                <a:latin typeface="Calibri" pitchFamily="34" charset="0"/>
                <a:ea typeface="Calibri" pitchFamily="34" charset="-122"/>
                <a:cs typeface="Calibri" pitchFamily="34" charset="-120"/>
              </a:rPr>
              <a:t>5 update</a:t>
            </a:r>
            <a:endParaRPr lang="en-US" sz="1500" dirty="0"/>
          </a:p>
        </p:txBody>
      </p:sp>
      <p:sp>
        <p:nvSpPr>
          <p:cNvPr id="19" name="Text 16"/>
          <p:cNvSpPr txBox="1"/>
          <p:nvPr/>
        </p:nvSpPr>
        <p:spPr>
          <a:xfrm>
            <a:off x="8686800" y="2971800"/>
            <a:ext cx="1463040" cy="640080"/>
          </a:xfrm>
          <a:prstGeom prst="rect">
            <a:avLst/>
          </a:prstGeom>
          <a:noFill/>
          <a:ln/>
        </p:spPr>
        <p:txBody>
          <a:bodyPr wrap="square" lIns="0" tIns="0" rIns="0" bIns="0" rtlCol="0" anchor="ctr"/>
          <a:lstStyle/>
          <a:p>
            <a:pPr algn="ctr" indent="0" marL="0">
              <a:lnSpc>
                <a:spcPct val="100000"/>
              </a:lnSpc>
              <a:buNone/>
            </a:pPr>
            <a:r>
              <a:rPr lang="en-US" sz="1400" dirty="0">
                <a:solidFill>
                  <a:srgbClr val="5B6675"/>
                </a:solidFill>
                <a:latin typeface="Calibri" pitchFamily="34" charset="0"/>
                <a:ea typeface="Calibri" pitchFamily="34" charset="-122"/>
                <a:cs typeface="Calibri" pitchFamily="34" charset="-120"/>
              </a:rPr>
              <a:t>every</a:t>
            </a:r>
            <a:pPr algn="ctr" indent="0" marL="0">
              <a:lnSpc>
                <a:spcPct val="100000"/>
              </a:lnSpc>
              <a:buNone/>
            </a:pPr>
            <a:endParaRPr lang="en-US" sz="1400" dirty="0"/>
          </a:p>
          <a:p>
            <a:pPr algn="ctr" indent="0" marL="0">
              <a:lnSpc>
                <a:spcPct val="100000"/>
              </a:lnSpc>
              <a:buNone/>
            </a:pPr>
            <a:r>
              <a:rPr lang="en-US" sz="1400" dirty="0">
                <a:solidFill>
                  <a:srgbClr val="5B6675"/>
                </a:solidFill>
                <a:latin typeface="Calibri" pitchFamily="34" charset="0"/>
                <a:ea typeface="Calibri" pitchFamily="34" charset="-122"/>
                <a:cs typeface="Calibri" pitchFamily="34" charset="-120"/>
              </a:rPr>
              <a:t>mini-batch</a:t>
            </a:r>
            <a:endParaRPr lang="en-US" sz="1400" dirty="0"/>
          </a:p>
        </p:txBody>
      </p:sp>
      <p:sp>
        <p:nvSpPr>
          <p:cNvPr id="20" name="Shape 17"/>
          <p:cNvSpPr/>
          <p:nvPr/>
        </p:nvSpPr>
        <p:spPr>
          <a:xfrm>
            <a:off x="548640" y="5715000"/>
            <a:ext cx="11094415" cy="457200"/>
          </a:xfrm>
          <a:prstGeom prst="roundRect">
            <a:avLst>
              <a:gd name="adj" fmla="val 16000"/>
            </a:avLst>
          </a:prstGeom>
          <a:solidFill>
            <a:srgbClr val="E3F2F1"/>
          </a:solidFill>
          <a:ln/>
        </p:spPr>
      </p:sp>
      <p:sp>
        <p:nvSpPr>
          <p:cNvPr id="21" name="Text 18"/>
          <p:cNvSpPr txBox="1"/>
          <p:nvPr/>
        </p:nvSpPr>
        <p:spPr>
          <a:xfrm>
            <a:off x="777240" y="5715000"/>
            <a:ext cx="10637215" cy="457200"/>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Validation data never update θ: they only choose the checkpoint and the hyperparameters. The test set is used once, at the end.</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RUNNING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Training loss keeps falling; validation loss bottoms out around epoch 9</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what did the network learn?</a:t>
            </a:r>
            <a:endParaRPr lang="en-US" sz="1100" dirty="0"/>
          </a:p>
        </p:txBody>
      </p:sp>
      <p:graphicFrame>
        <p:nvGraphicFramePr>
          <p:cNvPr id="6" name="Chart 0" descr=""/>
          <p:cNvGraphicFramePr/>
          <p:nvPr/>
        </p:nvGraphicFramePr>
        <p:xfrm>
          <a:off x="548640" y="1325880"/>
          <a:ext cx="54864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153912" y="1325880"/>
          <a:ext cx="5486400" cy="3566160"/>
        </p:xfrm>
        <a:graphic xmlns:a="http://schemas.openxmlformats.org/drawingml/2006/main">
          <a:graphicData uri="http://schemas.openxmlformats.org/drawingml/2006/chart">
            <c:chart xmlns:c="http://schemas.openxmlformats.org/drawingml/2006/chart" r:id="rId2"/>
          </a:graphicData>
        </a:graphic>
      </p:graphicFrame>
      <p:sp>
        <p:nvSpPr>
          <p:cNvPr id="8" name="Shape 3"/>
          <p:cNvSpPr/>
          <p:nvPr/>
        </p:nvSpPr>
        <p:spPr>
          <a:xfrm>
            <a:off x="548640" y="5029200"/>
            <a:ext cx="11094415" cy="1097280"/>
          </a:xfrm>
          <a:prstGeom prst="roundRect">
            <a:avLst>
              <a:gd name="adj" fmla="val 6667"/>
            </a:avLst>
          </a:prstGeom>
          <a:solidFill>
            <a:srgbClr val="E3F2F1"/>
          </a:solidFill>
          <a:ln/>
        </p:spPr>
      </p:sp>
      <p:sp>
        <p:nvSpPr>
          <p:cNvPr id="9" name="Text 4"/>
          <p:cNvSpPr txBox="1"/>
          <p:nvPr/>
        </p:nvSpPr>
        <p:spPr>
          <a:xfrm>
            <a:off x="822960" y="5029200"/>
            <a:ext cx="10545775" cy="1097280"/>
          </a:xfrm>
          <a:prstGeom prst="rect">
            <a:avLst/>
          </a:prstGeom>
          <a:noFill/>
          <a:ln/>
        </p:spPr>
        <p:txBody>
          <a:bodyPr wrap="square" lIns="0" tIns="0" rIns="0" bIns="0" rtlCol="0" anchor="ctr"/>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Lowest validation loss: epoch 9</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(seeds 1–2: epochs 12 and 15). After that, validation accuracy still inches up while validation loss rises: the model grows over-confident on its mistakes.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Keep the lowest-validation-loss checkpoint — early stopping.</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RUNNING EXAMPLE</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What did it learn — and did the hidden layers pay off?</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read the curves: fit harder, or generalize better?</a:t>
            </a:r>
            <a:endParaRPr lang="en-US" sz="1100" dirty="0"/>
          </a:p>
        </p:txBody>
      </p:sp>
      <p:sp>
        <p:nvSpPr>
          <p:cNvPr id="6" name="Text 3"/>
          <p:cNvSpPr txBox="1"/>
          <p:nvPr/>
        </p:nvSpPr>
        <p:spPr>
          <a:xfrm>
            <a:off x="548640" y="1325880"/>
            <a:ext cx="56692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Linear model (softmax regression): one template per class</a:t>
            </a:r>
            <a:endParaRPr lang="en-US" sz="1500" dirty="0"/>
          </a:p>
        </p:txBody>
      </p:sp>
      <p:pic>
        <p:nvPicPr>
          <p:cNvPr id="7" name="Image 0" descr="Weights of softmax regression shown as 10 images, one per class">    </p:cNvPr>
          <p:cNvPicPr>
            <a:picLocks noChangeAspect="1"/>
          </p:cNvPicPr>
          <p:nvPr/>
        </p:nvPicPr>
        <p:blipFill>
          <a:blip r:embed="rId1"/>
          <a:stretch>
            <a:fillRect/>
          </a:stretch>
        </p:blipFill>
        <p:spPr>
          <a:xfrm>
            <a:off x="1025681" y="1664208"/>
            <a:ext cx="4166558" cy="2057400"/>
          </a:xfrm>
          <a:prstGeom prst="rect">
            <a:avLst/>
          </a:prstGeom>
        </p:spPr>
      </p:pic>
      <p:sp>
        <p:nvSpPr>
          <p:cNvPr id="8" name="Text 4"/>
          <p:cNvSpPr txBox="1"/>
          <p:nvPr/>
        </p:nvSpPr>
        <p:spPr>
          <a:xfrm>
            <a:off x="548640" y="3840480"/>
            <a:ext cx="566928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MLP first layer: 24 of its 128 learned features</a:t>
            </a:r>
            <a:endParaRPr lang="en-US" sz="1500" dirty="0"/>
          </a:p>
        </p:txBody>
      </p:sp>
      <p:pic>
        <p:nvPicPr>
          <p:cNvPr id="9" name="Image 1" descr="24 first-layer weight vectors of the MLP shown as images">    </p:cNvPr>
          <p:cNvPicPr>
            <a:picLocks noChangeAspect="1"/>
          </p:cNvPicPr>
          <p:nvPr/>
        </p:nvPicPr>
        <p:blipFill>
          <a:blip r:embed="rId2"/>
          <a:stretch>
            <a:fillRect/>
          </a:stretch>
        </p:blipFill>
        <p:spPr>
          <a:xfrm>
            <a:off x="620215" y="4178808"/>
            <a:ext cx="4977490" cy="2011680"/>
          </a:xfrm>
          <a:prstGeom prst="rect">
            <a:avLst/>
          </a:prstGeom>
        </p:spPr>
      </p:pic>
      <p:graphicFrame>
        <p:nvGraphicFramePr>
          <p:cNvPr id="10" name="Chart 0" descr=""/>
          <p:cNvGraphicFramePr/>
          <p:nvPr/>
        </p:nvGraphicFramePr>
        <p:xfrm>
          <a:off x="6217920" y="1325880"/>
          <a:ext cx="5440680" cy="3154680"/>
        </p:xfrm>
        <a:graphic xmlns:a="http://schemas.openxmlformats.org/drawingml/2006/main">
          <a:graphicData uri="http://schemas.openxmlformats.org/drawingml/2006/chart">
            <c:chart xmlns:c="http://schemas.openxmlformats.org/drawingml/2006/chart" r:id="rId3"/>
          </a:graphicData>
        </a:graphic>
      </p:graphicFrame>
      <p:sp>
        <p:nvSpPr>
          <p:cNvPr id="11" name="Text 5"/>
          <p:cNvSpPr txBox="1"/>
          <p:nvPr/>
        </p:nvSpPr>
        <p:spPr>
          <a:xfrm>
            <a:off x="6217920" y="4498848"/>
            <a:ext cx="5440680" cy="457200"/>
          </a:xfrm>
          <a:prstGeom prst="rect">
            <a:avLst/>
          </a:prstGeom>
          <a:noFill/>
          <a:ln/>
        </p:spPr>
        <p:txBody>
          <a:bodyPr wrap="square" lIns="0" tIns="0" rIns="0" bIns="0" rtlCol="0" anchor="t"/>
          <a:lstStyle/>
          <a:p>
            <a:pPr algn="l" indent="0" marL="0">
              <a:lnSpc>
                <a:spcPct val="100000"/>
              </a:lnSpc>
              <a:buNone/>
            </a:pPr>
            <a:r>
              <a:rPr lang="en-US" sz="1250" i="1" dirty="0">
                <a:solidFill>
                  <a:srgbClr val="5B6675"/>
                </a:solidFill>
                <a:latin typeface="Calibri" pitchFamily="34" charset="0"/>
                <a:ea typeface="Calibri" pitchFamily="34" charset="-122"/>
                <a:cs typeface="Calibri" pitchFamily="34" charset="-120"/>
              </a:rPr>
              <a:t>Ours: mean of 3 seeds, best-validation checkpoint. Benchmark: Xiao et al. (2017), different protocol.</a:t>
            </a:r>
            <a:endParaRPr lang="en-US" sz="1250" dirty="0"/>
          </a:p>
        </p:txBody>
      </p:sp>
      <p:sp>
        <p:nvSpPr>
          <p:cNvPr id="12" name="Shape 6"/>
          <p:cNvSpPr/>
          <p:nvPr/>
        </p:nvSpPr>
        <p:spPr>
          <a:xfrm>
            <a:off x="6217920" y="5029200"/>
            <a:ext cx="5422392" cy="1143000"/>
          </a:xfrm>
          <a:prstGeom prst="roundRect">
            <a:avLst>
              <a:gd name="adj" fmla="val 6400"/>
            </a:avLst>
          </a:prstGeom>
          <a:solidFill>
            <a:srgbClr val="16202E"/>
          </a:solidFill>
          <a:ln/>
        </p:spPr>
      </p:sp>
      <p:sp>
        <p:nvSpPr>
          <p:cNvPr id="13" name="Text 7"/>
          <p:cNvSpPr txBox="1"/>
          <p:nvPr/>
        </p:nvSpPr>
        <p:spPr>
          <a:xfrm>
            <a:off x="6446520" y="5029200"/>
            <a:ext cx="5029200" cy="1143000"/>
          </a:xfrm>
          <a:prstGeom prst="rect">
            <a:avLst/>
          </a:prstGeom>
          <a:noFill/>
          <a:ln/>
        </p:spPr>
        <p:txBody>
          <a:bodyPr wrap="square" lIns="0" tIns="0" rIns="0" bIns="0" rtlCol="0" anchor="ctr"/>
          <a:lstStyle/>
          <a:p>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Learned features: </a:t>
            </a:r>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+4 points</a:t>
            </a:r>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 over the linear model. But flattening discards the 2-D layout — convolutional networks keep it (later session).</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DIAGNOSIS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Read the curves: is the model failing to fit, or failing to generalize?</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quick check 5</a:t>
            </a:r>
            <a:endParaRPr lang="en-US" sz="1100" dirty="0"/>
          </a:p>
        </p:txBody>
      </p:sp>
      <p:graphicFrame>
        <p:nvGraphicFramePr>
          <p:cNvPr id="6" name="Chart 0" descr=""/>
          <p:cNvGraphicFramePr/>
          <p:nvPr/>
        </p:nvGraphicFramePr>
        <p:xfrm>
          <a:off x="548640" y="1325880"/>
          <a:ext cx="361188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4279392" y="1325880"/>
          <a:ext cx="3611880" cy="265176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2" descr=""/>
          <p:cNvGraphicFramePr/>
          <p:nvPr/>
        </p:nvGraphicFramePr>
        <p:xfrm>
          <a:off x="8010144" y="1325880"/>
          <a:ext cx="3611880" cy="2651760"/>
        </p:xfrm>
        <a:graphic xmlns:a="http://schemas.openxmlformats.org/drawingml/2006/main">
          <a:graphicData uri="http://schemas.openxmlformats.org/drawingml/2006/chart">
            <c:chart xmlns:c="http://schemas.openxmlformats.org/drawingml/2006/chart" r:id="rId3"/>
          </a:graphicData>
        </a:graphic>
      </p:graphicFrame>
      <p:sp>
        <p:nvSpPr>
          <p:cNvPr id="9" name="Shape 3"/>
          <p:cNvSpPr/>
          <p:nvPr/>
        </p:nvSpPr>
        <p:spPr>
          <a:xfrm>
            <a:off x="4206240" y="4142232"/>
            <a:ext cx="411480" cy="0"/>
          </a:xfrm>
          <a:prstGeom prst="line">
            <a:avLst/>
          </a:prstGeom>
          <a:noFill/>
          <a:ln w="31750">
            <a:solidFill>
              <a:srgbClr val="0E7C7B"/>
            </a:solidFill>
            <a:prstDash val="solid"/>
          </a:ln>
        </p:spPr>
      </p:sp>
      <p:sp>
        <p:nvSpPr>
          <p:cNvPr id="10" name="Text 4"/>
          <p:cNvSpPr txBox="1"/>
          <p:nvPr/>
        </p:nvSpPr>
        <p:spPr>
          <a:xfrm>
            <a:off x="4681728" y="4023360"/>
            <a:ext cx="1463040" cy="256032"/>
          </a:xfrm>
          <a:prstGeom prst="rect">
            <a:avLst/>
          </a:prstGeom>
          <a:noFill/>
          <a:ln/>
        </p:spPr>
        <p:txBody>
          <a:bodyPr wrap="square" lIns="0" tIns="0" rIns="0" bIns="0" rtlCol="0" anchor="t"/>
          <a:lstStyle/>
          <a:p>
            <a:pPr algn="l" indent="0" marL="0">
              <a:lnSpc>
                <a:spcPct val="100000"/>
              </a:lnSpc>
              <a:buNone/>
            </a:pPr>
            <a:r>
              <a:rPr lang="en-US" sz="1300" dirty="0">
                <a:solidFill>
                  <a:srgbClr val="16202E"/>
                </a:solidFill>
                <a:latin typeface="Calibri" pitchFamily="34" charset="0"/>
                <a:ea typeface="Calibri" pitchFamily="34" charset="-122"/>
                <a:cs typeface="Calibri" pitchFamily="34" charset="-120"/>
              </a:rPr>
              <a:t>training loss</a:t>
            </a:r>
            <a:endParaRPr lang="en-US" sz="1300" dirty="0"/>
          </a:p>
        </p:txBody>
      </p:sp>
      <p:sp>
        <p:nvSpPr>
          <p:cNvPr id="11" name="Shape 5"/>
          <p:cNvSpPr/>
          <p:nvPr/>
        </p:nvSpPr>
        <p:spPr>
          <a:xfrm>
            <a:off x="6217920" y="4142232"/>
            <a:ext cx="411480" cy="0"/>
          </a:xfrm>
          <a:prstGeom prst="line">
            <a:avLst/>
          </a:prstGeom>
          <a:noFill/>
          <a:ln w="31750">
            <a:solidFill>
              <a:srgbClr val="16202E"/>
            </a:solidFill>
            <a:prstDash val="solid"/>
          </a:ln>
        </p:spPr>
      </p:sp>
      <p:sp>
        <p:nvSpPr>
          <p:cNvPr id="12" name="Text 6"/>
          <p:cNvSpPr txBox="1"/>
          <p:nvPr/>
        </p:nvSpPr>
        <p:spPr>
          <a:xfrm>
            <a:off x="6693408" y="4023360"/>
            <a:ext cx="1645920" cy="256032"/>
          </a:xfrm>
          <a:prstGeom prst="rect">
            <a:avLst/>
          </a:prstGeom>
          <a:noFill/>
          <a:ln/>
        </p:spPr>
        <p:txBody>
          <a:bodyPr wrap="square" lIns="0" tIns="0" rIns="0" bIns="0" rtlCol="0" anchor="t"/>
          <a:lstStyle/>
          <a:p>
            <a:pPr algn="l" indent="0" marL="0">
              <a:lnSpc>
                <a:spcPct val="100000"/>
              </a:lnSpc>
              <a:buNone/>
            </a:pPr>
            <a:r>
              <a:rPr lang="en-US" sz="1300" dirty="0">
                <a:solidFill>
                  <a:srgbClr val="16202E"/>
                </a:solidFill>
                <a:latin typeface="Calibri" pitchFamily="34" charset="0"/>
                <a:ea typeface="Calibri" pitchFamily="34" charset="-122"/>
                <a:cs typeface="Calibri" pitchFamily="34" charset="-120"/>
              </a:rPr>
              <a:t>validation loss</a:t>
            </a:r>
            <a:endParaRPr lang="en-US" sz="1300" dirty="0"/>
          </a:p>
        </p:txBody>
      </p:sp>
      <p:sp>
        <p:nvSpPr>
          <p:cNvPr id="13" name="Shape 7"/>
          <p:cNvSpPr/>
          <p:nvPr/>
        </p:nvSpPr>
        <p:spPr>
          <a:xfrm>
            <a:off x="548640" y="4434840"/>
            <a:ext cx="3611880" cy="1691640"/>
          </a:xfrm>
          <a:prstGeom prst="roundRect">
            <a:avLst>
              <a:gd name="adj" fmla="val 4324"/>
            </a:avLst>
          </a:prstGeom>
          <a:solidFill>
            <a:srgbClr val="FBE9E7"/>
          </a:solidFill>
          <a:ln/>
        </p:spPr>
      </p:sp>
      <p:sp>
        <p:nvSpPr>
          <p:cNvPr id="14" name="Text 8"/>
          <p:cNvSpPr txBox="1"/>
          <p:nvPr/>
        </p:nvSpPr>
        <p:spPr>
          <a:xfrm>
            <a:off x="749808" y="4526280"/>
            <a:ext cx="3200400" cy="365760"/>
          </a:xfrm>
          <a:prstGeom prst="rect">
            <a:avLst/>
          </a:prstGeom>
          <a:noFill/>
          <a:ln/>
        </p:spPr>
        <p:txBody>
          <a:bodyPr wrap="square" lIns="0" tIns="0" rIns="0" bIns="0" rtlCol="0" anchor="t"/>
          <a:lstStyle/>
          <a:p>
            <a:pPr algn="l" indent="0" marL="0">
              <a:lnSpc>
                <a:spcPct val="100000"/>
              </a:lnSpc>
              <a:buNone/>
            </a:pPr>
            <a:r>
              <a:rPr lang="en-US" sz="1800" b="1" dirty="0">
                <a:solidFill>
                  <a:srgbClr val="B83227"/>
                </a:solidFill>
                <a:latin typeface="Calibri" pitchFamily="34" charset="0"/>
                <a:ea typeface="Calibri" pitchFamily="34" charset="-122"/>
                <a:cs typeface="Calibri" pitchFamily="34" charset="-120"/>
              </a:rPr>
              <a:t>Underfitting</a:t>
            </a:r>
            <a:endParaRPr lang="en-US" sz="1800" dirty="0"/>
          </a:p>
        </p:txBody>
      </p:sp>
      <p:sp>
        <p:nvSpPr>
          <p:cNvPr id="15" name="Text 9"/>
          <p:cNvSpPr txBox="1"/>
          <p:nvPr/>
        </p:nvSpPr>
        <p:spPr>
          <a:xfrm>
            <a:off x="749808" y="4919472"/>
            <a:ext cx="3246120" cy="54864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Loss:</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Both high, close together.</a:t>
            </a:r>
            <a:endParaRPr lang="en-US" sz="1450" dirty="0"/>
          </a:p>
        </p:txBody>
      </p:sp>
      <p:sp>
        <p:nvSpPr>
          <p:cNvPr id="16" name="Text 10"/>
          <p:cNvSpPr txBox="1"/>
          <p:nvPr/>
        </p:nvSpPr>
        <p:spPr>
          <a:xfrm>
            <a:off x="749808" y="5468112"/>
            <a:ext cx="3246120" cy="59436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Try:</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Bigger model, train longer, check η.</a:t>
            </a:r>
            <a:endParaRPr lang="en-US" sz="1450" dirty="0"/>
          </a:p>
        </p:txBody>
      </p:sp>
      <p:sp>
        <p:nvSpPr>
          <p:cNvPr id="17" name="Shape 11"/>
          <p:cNvSpPr/>
          <p:nvPr/>
        </p:nvSpPr>
        <p:spPr>
          <a:xfrm>
            <a:off x="4279392" y="4434840"/>
            <a:ext cx="3611880" cy="1691640"/>
          </a:xfrm>
          <a:prstGeom prst="roundRect">
            <a:avLst>
              <a:gd name="adj" fmla="val 4324"/>
            </a:avLst>
          </a:prstGeom>
          <a:solidFill>
            <a:srgbClr val="FCEDE3"/>
          </a:solidFill>
          <a:ln/>
        </p:spPr>
      </p:sp>
      <p:sp>
        <p:nvSpPr>
          <p:cNvPr id="18" name="Text 12"/>
          <p:cNvSpPr txBox="1"/>
          <p:nvPr/>
        </p:nvSpPr>
        <p:spPr>
          <a:xfrm>
            <a:off x="4480560" y="4526280"/>
            <a:ext cx="3200400" cy="365760"/>
          </a:xfrm>
          <a:prstGeom prst="rect">
            <a:avLst/>
          </a:prstGeom>
          <a:noFill/>
          <a:ln/>
        </p:spPr>
        <p:txBody>
          <a:bodyPr wrap="square" lIns="0" tIns="0" rIns="0" bIns="0" rtlCol="0" anchor="t"/>
          <a:lstStyle/>
          <a:p>
            <a:pPr algn="l" indent="0" marL="0">
              <a:lnSpc>
                <a:spcPct val="100000"/>
              </a:lnSpc>
              <a:buNone/>
            </a:pPr>
            <a:r>
              <a:rPr lang="en-US" sz="1800" b="1" dirty="0">
                <a:solidFill>
                  <a:srgbClr val="D9611A"/>
                </a:solidFill>
                <a:latin typeface="Calibri" pitchFamily="34" charset="0"/>
                <a:ea typeface="Calibri" pitchFamily="34" charset="-122"/>
                <a:cs typeface="Calibri" pitchFamily="34" charset="-120"/>
              </a:rPr>
              <a:t>Overfitting</a:t>
            </a:r>
            <a:endParaRPr lang="en-US" sz="1800" dirty="0"/>
          </a:p>
        </p:txBody>
      </p:sp>
      <p:sp>
        <p:nvSpPr>
          <p:cNvPr id="19" name="Text 13"/>
          <p:cNvSpPr txBox="1"/>
          <p:nvPr/>
        </p:nvSpPr>
        <p:spPr>
          <a:xfrm>
            <a:off x="4480560" y="4919472"/>
            <a:ext cx="3246120" cy="54864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Loss:</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Train → 0, validation turns up early.</a:t>
            </a:r>
            <a:endParaRPr lang="en-US" sz="1450" dirty="0"/>
          </a:p>
        </p:txBody>
      </p:sp>
      <p:sp>
        <p:nvSpPr>
          <p:cNvPr id="20" name="Text 14"/>
          <p:cNvSpPr txBox="1"/>
          <p:nvPr/>
        </p:nvSpPr>
        <p:spPr>
          <a:xfrm>
            <a:off x="4480560" y="5468112"/>
            <a:ext cx="3246120" cy="59436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Try:</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More data, regularization, early stopping.</a:t>
            </a:r>
            <a:endParaRPr lang="en-US" sz="1450" dirty="0"/>
          </a:p>
        </p:txBody>
      </p:sp>
      <p:sp>
        <p:nvSpPr>
          <p:cNvPr id="21" name="Shape 15"/>
          <p:cNvSpPr/>
          <p:nvPr/>
        </p:nvSpPr>
        <p:spPr>
          <a:xfrm>
            <a:off x="8010144" y="4434840"/>
            <a:ext cx="3611880" cy="1691640"/>
          </a:xfrm>
          <a:prstGeom prst="roundRect">
            <a:avLst>
              <a:gd name="adj" fmla="val 4324"/>
            </a:avLst>
          </a:prstGeom>
          <a:solidFill>
            <a:srgbClr val="E3F2F1"/>
          </a:solidFill>
          <a:ln/>
        </p:spPr>
      </p:sp>
      <p:sp>
        <p:nvSpPr>
          <p:cNvPr id="22" name="Text 16"/>
          <p:cNvSpPr txBox="1"/>
          <p:nvPr/>
        </p:nvSpPr>
        <p:spPr>
          <a:xfrm>
            <a:off x="8211312" y="4526280"/>
            <a:ext cx="3200400" cy="365760"/>
          </a:xfrm>
          <a:prstGeom prst="rect">
            <a:avLst/>
          </a:prstGeom>
          <a:noFill/>
          <a:ln/>
        </p:spPr>
        <p:txBody>
          <a:bodyPr wrap="square" lIns="0" tIns="0" rIns="0" bIns="0" rtlCol="0" anchor="t"/>
          <a:lstStyle/>
          <a:p>
            <a:pPr algn="l" indent="0" marL="0">
              <a:lnSpc>
                <a:spcPct val="100000"/>
              </a:lnSpc>
              <a:buNone/>
            </a:pPr>
            <a:r>
              <a:rPr lang="en-US" sz="1800" b="1" dirty="0">
                <a:solidFill>
                  <a:srgbClr val="0E7C7B"/>
                </a:solidFill>
                <a:latin typeface="Calibri" pitchFamily="34" charset="0"/>
                <a:ea typeface="Calibri" pitchFamily="34" charset="-122"/>
                <a:cs typeface="Calibri" pitchFamily="34" charset="-120"/>
              </a:rPr>
              <a:t>Good fit</a:t>
            </a:r>
            <a:endParaRPr lang="en-US" sz="1800" dirty="0"/>
          </a:p>
        </p:txBody>
      </p:sp>
      <p:sp>
        <p:nvSpPr>
          <p:cNvPr id="23" name="Text 17"/>
          <p:cNvSpPr txBox="1"/>
          <p:nvPr/>
        </p:nvSpPr>
        <p:spPr>
          <a:xfrm>
            <a:off x="8211312" y="4919472"/>
            <a:ext cx="3246120" cy="54864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Loss:</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Both low, small gap.</a:t>
            </a:r>
            <a:endParaRPr lang="en-US" sz="1450" dirty="0"/>
          </a:p>
        </p:txBody>
      </p:sp>
      <p:sp>
        <p:nvSpPr>
          <p:cNvPr id="24" name="Text 18"/>
          <p:cNvSpPr txBox="1"/>
          <p:nvPr/>
        </p:nvSpPr>
        <p:spPr>
          <a:xfrm>
            <a:off x="8211312" y="5468112"/>
            <a:ext cx="3246120" cy="594360"/>
          </a:xfrm>
          <a:prstGeom prst="rect">
            <a:avLst/>
          </a:prstGeom>
          <a:noFill/>
          <a:ln/>
        </p:spPr>
        <p:txBody>
          <a:bodyPr wrap="square" lIns="0" tIns="0" rIns="0" bIns="0" rtlCol="0" anchor="t"/>
          <a:lstStyle/>
          <a:p>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Try:</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Keep the best-validation checkpoint.</a:t>
            </a:r>
            <a:endParaRPr lang="en-US" sz="14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PART 3 · QUICK CHECK</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 check 5</a:t>
            </a:r>
            <a:endParaRPr lang="en-US" sz="2700" dirty="0"/>
          </a:p>
        </p:txBody>
      </p:sp>
      <p:sp>
        <p:nvSpPr>
          <p:cNvPr id="4" name="Text 2"/>
          <p:cNvSpPr txBox="1"/>
          <p:nvPr/>
        </p:nvSpPr>
        <p:spPr>
          <a:xfrm>
            <a:off x="4754880" y="6419088"/>
            <a:ext cx="6309360" cy="256032"/>
          </a:xfrm>
          <a:prstGeom prst="rect">
            <a:avLst/>
          </a:prstGeom>
          <a:noFill/>
          <a:ln/>
        </p:spPr>
        <p:txBody>
          <a:bodyPr wrap="square" lIns="0" tIns="0" rIns="0" bIns="0" rtlCol="0" anchor="t"/>
          <a:lstStyle/>
          <a:p>
            <a:pPr algn="r" indent="0" marL="0">
              <a:lnSpc>
                <a:spcPct val="100000"/>
              </a:lnSpc>
              <a:buNone/>
            </a:pPr>
            <a:r>
              <a:rPr lang="en-US" sz="1100" i="1" dirty="0">
                <a:solidFill>
                  <a:srgbClr val="5B6675"/>
                </a:solidFill>
                <a:latin typeface="Calibri" pitchFamily="34" charset="0"/>
                <a:ea typeface="Calibri" pitchFamily="34" charset="-122"/>
                <a:cs typeface="Calibri" pitchFamily="34" charset="-120"/>
              </a:rPr>
              <a:t>Next →  today in three sentences</a:t>
            </a:r>
            <a:endParaRPr lang="en-US" sz="1100" dirty="0"/>
          </a:p>
        </p:txBody>
      </p:sp>
      <p:sp>
        <p:nvSpPr>
          <p:cNvPr id="6" name="Text 3"/>
          <p:cNvSpPr txBox="1"/>
          <p:nvPr/>
        </p:nvSpPr>
        <p:spPr>
          <a:xfrm>
            <a:off x="548640" y="1371600"/>
            <a:ext cx="11094415" cy="1005840"/>
          </a:xfrm>
          <a:prstGeom prst="rect">
            <a:avLst/>
          </a:prstGeom>
          <a:noFill/>
          <a:ln/>
        </p:spPr>
        <p:txBody>
          <a:bodyPr wrap="square" lIns="0" tIns="0" rIns="0" bIns="0" rtlCol="0" anchor="t"/>
          <a:lstStyle/>
          <a:p>
            <a:pPr algn="l" indent="0" marL="0">
              <a:lnSpc>
                <a:spcPct val="100000"/>
              </a:lnSpc>
              <a:buNone/>
            </a:pPr>
            <a:r>
              <a:rPr lang="en-US" sz="2100" dirty="0">
                <a:solidFill>
                  <a:srgbClr val="16202E"/>
                </a:solidFill>
                <a:latin typeface="Calibri" pitchFamily="34" charset="0"/>
                <a:ea typeface="Calibri" pitchFamily="34" charset="-122"/>
                <a:cs typeface="Calibri" pitchFamily="34" charset="-120"/>
              </a:rPr>
              <a:t>A classmate trains a 10-class MLP. Training and validation loss sit at 2.30 from the first epoch to the last, and accuracy stays at 10%. What should they do first?</a:t>
            </a:r>
            <a:endParaRPr lang="en-US" sz="2100" dirty="0"/>
          </a:p>
        </p:txBody>
      </p:sp>
      <p:sp>
        <p:nvSpPr>
          <p:cNvPr id="7" name="Shape 4"/>
          <p:cNvSpPr/>
          <p:nvPr/>
        </p:nvSpPr>
        <p:spPr>
          <a:xfrm>
            <a:off x="548640" y="2606040"/>
            <a:ext cx="5455768" cy="1024128"/>
          </a:xfrm>
          <a:prstGeom prst="roundRect">
            <a:avLst>
              <a:gd name="adj" fmla="val 7143"/>
            </a:avLst>
          </a:prstGeom>
          <a:solidFill>
            <a:srgbClr val="F3F5F8"/>
          </a:solidFill>
          <a:ln/>
        </p:spPr>
      </p:sp>
      <p:sp>
        <p:nvSpPr>
          <p:cNvPr id="8" name="Shape 5"/>
          <p:cNvSpPr/>
          <p:nvPr/>
        </p:nvSpPr>
        <p:spPr>
          <a:xfrm>
            <a:off x="822960" y="2907792"/>
            <a:ext cx="420624" cy="420624"/>
          </a:xfrm>
          <a:prstGeom prst="ellipse">
            <a:avLst/>
          </a:prstGeom>
          <a:solidFill>
            <a:srgbClr val="16202E"/>
          </a:solidFill>
          <a:ln/>
        </p:spPr>
      </p:sp>
      <p:sp>
        <p:nvSpPr>
          <p:cNvPr id="9" name="Text 6"/>
          <p:cNvSpPr txBox="1"/>
          <p:nvPr/>
        </p:nvSpPr>
        <p:spPr>
          <a:xfrm>
            <a:off x="822960"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0" name="Text 7"/>
          <p:cNvSpPr txBox="1"/>
          <p:nvPr/>
        </p:nvSpPr>
        <p:spPr>
          <a:xfrm>
            <a:off x="1463040"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Add dropout: it is overfitting</a:t>
            </a:r>
            <a:endParaRPr lang="en-US" sz="1900" dirty="0"/>
          </a:p>
        </p:txBody>
      </p:sp>
      <p:sp>
        <p:nvSpPr>
          <p:cNvPr id="11" name="Shape 8"/>
          <p:cNvSpPr/>
          <p:nvPr/>
        </p:nvSpPr>
        <p:spPr>
          <a:xfrm>
            <a:off x="6187288" y="2606040"/>
            <a:ext cx="5455768" cy="1024128"/>
          </a:xfrm>
          <a:prstGeom prst="roundRect">
            <a:avLst>
              <a:gd name="adj" fmla="val 7143"/>
            </a:avLst>
          </a:prstGeom>
          <a:solidFill>
            <a:srgbClr val="F3F5F8"/>
          </a:solidFill>
          <a:ln/>
        </p:spPr>
      </p:sp>
      <p:sp>
        <p:nvSpPr>
          <p:cNvPr id="12" name="Shape 9"/>
          <p:cNvSpPr/>
          <p:nvPr/>
        </p:nvSpPr>
        <p:spPr>
          <a:xfrm>
            <a:off x="6461608" y="2907792"/>
            <a:ext cx="420624" cy="420624"/>
          </a:xfrm>
          <a:prstGeom prst="ellipse">
            <a:avLst/>
          </a:prstGeom>
          <a:solidFill>
            <a:srgbClr val="16202E"/>
          </a:solidFill>
          <a:ln/>
        </p:spPr>
      </p:sp>
      <p:sp>
        <p:nvSpPr>
          <p:cNvPr id="13" name="Text 10"/>
          <p:cNvSpPr txBox="1"/>
          <p:nvPr/>
        </p:nvSpPr>
        <p:spPr>
          <a:xfrm>
            <a:off x="6461608" y="2907792"/>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1"/>
          <p:cNvSpPr txBox="1"/>
          <p:nvPr/>
        </p:nvSpPr>
        <p:spPr>
          <a:xfrm>
            <a:off x="7101688" y="2697480"/>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Add more layers: it is underfitting</a:t>
            </a:r>
            <a:endParaRPr lang="en-US" sz="1900" dirty="0"/>
          </a:p>
        </p:txBody>
      </p:sp>
      <p:sp>
        <p:nvSpPr>
          <p:cNvPr id="15" name="Shape 12"/>
          <p:cNvSpPr/>
          <p:nvPr/>
        </p:nvSpPr>
        <p:spPr>
          <a:xfrm>
            <a:off x="548640" y="3813048"/>
            <a:ext cx="5455768" cy="1024128"/>
          </a:xfrm>
          <a:prstGeom prst="roundRect">
            <a:avLst>
              <a:gd name="adj" fmla="val 7143"/>
            </a:avLst>
          </a:prstGeom>
          <a:solidFill>
            <a:srgbClr val="F3F5F8"/>
          </a:solidFill>
          <a:ln/>
        </p:spPr>
      </p:sp>
      <p:sp>
        <p:nvSpPr>
          <p:cNvPr id="16" name="Shape 13"/>
          <p:cNvSpPr/>
          <p:nvPr/>
        </p:nvSpPr>
        <p:spPr>
          <a:xfrm>
            <a:off x="822960" y="4114800"/>
            <a:ext cx="420624" cy="420624"/>
          </a:xfrm>
          <a:prstGeom prst="ellipse">
            <a:avLst/>
          </a:prstGeom>
          <a:solidFill>
            <a:srgbClr val="16202E"/>
          </a:solidFill>
          <a:ln/>
        </p:spPr>
      </p:sp>
      <p:sp>
        <p:nvSpPr>
          <p:cNvPr id="17" name="Text 14"/>
          <p:cNvSpPr txBox="1"/>
          <p:nvPr/>
        </p:nvSpPr>
        <p:spPr>
          <a:xfrm>
            <a:off x="822960"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8" name="Text 15"/>
          <p:cNvSpPr txBox="1"/>
          <p:nvPr/>
        </p:nvSpPr>
        <p:spPr>
          <a:xfrm>
            <a:off x="1463040"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Look for a bug: check the model can drive the loss to ~0 on one small batch</a:t>
            </a:r>
            <a:endParaRPr lang="en-US" sz="1900" dirty="0"/>
          </a:p>
        </p:txBody>
      </p:sp>
      <p:sp>
        <p:nvSpPr>
          <p:cNvPr id="19" name="Shape 16"/>
          <p:cNvSpPr/>
          <p:nvPr/>
        </p:nvSpPr>
        <p:spPr>
          <a:xfrm>
            <a:off x="6187288" y="3813048"/>
            <a:ext cx="5455768" cy="1024128"/>
          </a:xfrm>
          <a:prstGeom prst="roundRect">
            <a:avLst>
              <a:gd name="adj" fmla="val 7143"/>
            </a:avLst>
          </a:prstGeom>
          <a:solidFill>
            <a:srgbClr val="F3F5F8"/>
          </a:solidFill>
          <a:ln/>
        </p:spPr>
      </p:sp>
      <p:sp>
        <p:nvSpPr>
          <p:cNvPr id="20" name="Shape 17"/>
          <p:cNvSpPr/>
          <p:nvPr/>
        </p:nvSpPr>
        <p:spPr>
          <a:xfrm>
            <a:off x="6461608" y="4114800"/>
            <a:ext cx="420624" cy="420624"/>
          </a:xfrm>
          <a:prstGeom prst="ellipse">
            <a:avLst/>
          </a:prstGeom>
          <a:solidFill>
            <a:srgbClr val="16202E"/>
          </a:solidFill>
          <a:ln/>
        </p:spPr>
      </p:sp>
      <p:sp>
        <p:nvSpPr>
          <p:cNvPr id="21" name="Text 18"/>
          <p:cNvSpPr txBox="1"/>
          <p:nvPr/>
        </p:nvSpPr>
        <p:spPr>
          <a:xfrm>
            <a:off x="6461608" y="411480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19"/>
          <p:cNvSpPr txBox="1"/>
          <p:nvPr/>
        </p:nvSpPr>
        <p:spPr>
          <a:xfrm>
            <a:off x="7101688" y="3904488"/>
            <a:ext cx="4358488" cy="841248"/>
          </a:xfrm>
          <a:prstGeom prst="rect">
            <a:avLst/>
          </a:prstGeom>
          <a:noFill/>
          <a:ln/>
        </p:spPr>
        <p:txBody>
          <a:bodyPr wrap="square" lIns="0" tIns="0" rIns="0" bIns="0" rtlCol="0" anchor="ctr"/>
          <a:lstStyle/>
          <a:p>
            <a:pPr algn="l" indent="0" marL="0">
              <a:lnSpc>
                <a:spcPct val="100000"/>
              </a:lnSpc>
              <a:buNone/>
            </a:pPr>
            <a:r>
              <a:rPr lang="en-US" sz="1900" dirty="0">
                <a:solidFill>
                  <a:srgbClr val="16202E"/>
                </a:solidFill>
                <a:latin typeface="Calibri" pitchFamily="34" charset="0"/>
                <a:ea typeface="Calibri" pitchFamily="34" charset="-122"/>
                <a:cs typeface="Calibri" pitchFamily="34" charset="-120"/>
              </a:rPr>
              <a:t>Train for more epochs</a:t>
            </a:r>
            <a:endParaRPr lang="en-US" sz="1900" dirty="0"/>
          </a:p>
        </p:txBody>
      </p:sp>
      <p:sp>
        <p:nvSpPr>
          <p:cNvPr id="23" name="Text 20"/>
          <p:cNvSpPr txBox="1"/>
          <p:nvPr/>
        </p:nvSpPr>
        <p:spPr>
          <a:xfrm>
            <a:off x="548640" y="5093208"/>
            <a:ext cx="11094415" cy="274320"/>
          </a:xfrm>
          <a:prstGeom prst="rect">
            <a:avLst/>
          </a:prstGeom>
          <a:noFill/>
          <a:ln/>
        </p:spPr>
        <p:txBody>
          <a:bodyPr wrap="square" lIns="0" tIns="0" rIns="0" bIns="0" rtlCol="0" anchor="t"/>
          <a:lstStyle/>
          <a:p>
            <a:pPr algn="l" indent="0" marL="0">
              <a:lnSpc>
                <a:spcPct val="100000"/>
              </a:lnSpc>
              <a:buNone/>
            </a:pPr>
            <a:r>
              <a:rPr lang="en-US" sz="1300" i="1" dirty="0">
                <a:solidFill>
                  <a:srgbClr val="5B6675"/>
                </a:solidFill>
                <a:latin typeface="Calibri" pitchFamily="34" charset="0"/>
                <a:ea typeface="Calibri" pitchFamily="34" charset="-122"/>
                <a:cs typeface="Calibri" pitchFamily="34" charset="-120"/>
              </a:rPr>
              <a:t>Vote silently (30 s)  →  convince your neighbour (60 s)  →  revote.   Answer: Appendix A1.</a:t>
            </a:r>
            <a:endParaRPr lang="en-US" sz="13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WRAP-UP</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Today in three sentences</a:t>
            </a:r>
            <a:endParaRPr lang="en-US" sz="2700" dirty="0"/>
          </a:p>
        </p:txBody>
      </p:sp>
      <p:sp>
        <p:nvSpPr>
          <p:cNvPr id="5" name="Shape 2"/>
          <p:cNvSpPr/>
          <p:nvPr/>
        </p:nvSpPr>
        <p:spPr>
          <a:xfrm>
            <a:off x="548640" y="1463040"/>
            <a:ext cx="457200" cy="457200"/>
          </a:xfrm>
          <a:prstGeom prst="ellipse">
            <a:avLst/>
          </a:prstGeom>
          <a:solidFill>
            <a:srgbClr val="0E7C7B"/>
          </a:solidFill>
          <a:ln/>
        </p:spPr>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234440" y="1371600"/>
            <a:ext cx="1828800" cy="256032"/>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1</a:t>
            </a:r>
            <a:endParaRPr lang="en-US" sz="1100" dirty="0"/>
          </a:p>
        </p:txBody>
      </p:sp>
      <p:sp>
        <p:nvSpPr>
          <p:cNvPr id="8" name="Text 5"/>
          <p:cNvSpPr txBox="1"/>
          <p:nvPr/>
        </p:nvSpPr>
        <p:spPr>
          <a:xfrm>
            <a:off x="1234440" y="1645920"/>
            <a:ext cx="6035040" cy="96012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A network stacks linear maps with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nonlinearities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in between; its hidden layers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learn a representation</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in which the problem becomes (nearly) linear.</a:t>
            </a:r>
            <a:endParaRPr lang="en-US" sz="1550" dirty="0"/>
          </a:p>
        </p:txBody>
      </p:sp>
      <p:sp>
        <p:nvSpPr>
          <p:cNvPr id="9" name="Shape 6"/>
          <p:cNvSpPr/>
          <p:nvPr/>
        </p:nvSpPr>
        <p:spPr>
          <a:xfrm>
            <a:off x="548640" y="2743200"/>
            <a:ext cx="457200" cy="457200"/>
          </a:xfrm>
          <a:prstGeom prst="ellipse">
            <a:avLst/>
          </a:prstGeom>
          <a:solidFill>
            <a:srgbClr val="0E7C7B"/>
          </a:solidFill>
          <a:ln/>
        </p:spPr>
      </p:sp>
      <p:sp>
        <p:nvSpPr>
          <p:cNvPr id="10" name="Text 7"/>
          <p:cNvSpPr txBox="1"/>
          <p:nvPr/>
        </p:nvSpPr>
        <p:spPr>
          <a:xfrm>
            <a:off x="548640" y="2743200"/>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234440" y="2651760"/>
            <a:ext cx="1828800" cy="256032"/>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2</a:t>
            </a:r>
            <a:endParaRPr lang="en-US" sz="1100" dirty="0"/>
          </a:p>
        </p:txBody>
      </p:sp>
      <p:sp>
        <p:nvSpPr>
          <p:cNvPr id="12" name="Text 9"/>
          <p:cNvSpPr txBox="1"/>
          <p:nvPr/>
        </p:nvSpPr>
        <p:spPr>
          <a:xfrm>
            <a:off x="1234440" y="2926080"/>
            <a:ext cx="6035040" cy="960120"/>
          </a:xfrm>
          <a:prstGeom prst="rect">
            <a:avLst/>
          </a:prstGeom>
          <a:noFill/>
          <a:ln/>
        </p:spPr>
        <p:txBody>
          <a:bodyPr wrap="square" lIns="0" tIns="0" rIns="0" bIns="0" rtlCol="0" anchor="t"/>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Training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minimizes an average loss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(cross-entropy = negative log-likelihood) by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gradient descent on mini-batches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the step size must respect the curvature.</a:t>
            </a:r>
            <a:endParaRPr lang="en-US" sz="1550" dirty="0"/>
          </a:p>
        </p:txBody>
      </p:sp>
      <p:sp>
        <p:nvSpPr>
          <p:cNvPr id="13" name="Shape 10"/>
          <p:cNvSpPr/>
          <p:nvPr/>
        </p:nvSpPr>
        <p:spPr>
          <a:xfrm>
            <a:off x="548640" y="4023360"/>
            <a:ext cx="457200" cy="457200"/>
          </a:xfrm>
          <a:prstGeom prst="ellipse">
            <a:avLst/>
          </a:prstGeom>
          <a:solidFill>
            <a:srgbClr val="0E7C7B"/>
          </a:solidFill>
          <a:ln/>
        </p:spPr>
      </p:sp>
      <p:sp>
        <p:nvSpPr>
          <p:cNvPr id="14" name="Text 11"/>
          <p:cNvSpPr txBox="1"/>
          <p:nvPr/>
        </p:nvSpPr>
        <p:spPr>
          <a:xfrm>
            <a:off x="548640" y="4023360"/>
            <a:ext cx="457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234440" y="3931920"/>
            <a:ext cx="1828800" cy="256032"/>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PART 3</a:t>
            </a:r>
            <a:endParaRPr lang="en-US" sz="1100" dirty="0"/>
          </a:p>
        </p:txBody>
      </p:sp>
      <p:sp>
        <p:nvSpPr>
          <p:cNvPr id="16" name="Text 13"/>
          <p:cNvSpPr txBox="1"/>
          <p:nvPr/>
        </p:nvSpPr>
        <p:spPr>
          <a:xfrm>
            <a:off x="1234440" y="4206240"/>
            <a:ext cx="6035040" cy="960120"/>
          </a:xfrm>
          <a:prstGeom prst="rect">
            <a:avLst/>
          </a:prstGeom>
          <a:noFill/>
          <a:ln/>
        </p:spPr>
        <p:txBody>
          <a:bodyPr wrap="square" lIns="0" tIns="0" rIns="0" bIns="0" rtlCol="0" anchor="t"/>
          <a:lstStyle/>
          <a:p>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Backprop</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is the chain rule run backward: δ flows back through W</a:t>
            </a:r>
            <a:pPr algn="l" indent="0" marL="0">
              <a:lnSpc>
                <a:spcPct val="100000"/>
              </a:lnSpc>
              <a:buNone/>
            </a:pPr>
            <a:r>
              <a:rPr lang="en-US" sz="1550" baseline="30000" dirty="0">
                <a:solidFill>
                  <a:srgbClr val="16202E"/>
                </a:solidFill>
                <a:latin typeface="Calibri" pitchFamily="34" charset="0"/>
                <a:ea typeface="Calibri" pitchFamily="34" charset="-122"/>
                <a:cs typeface="Calibri" pitchFamily="34" charset="-120"/>
              </a:rPr>
              <a:t>T</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and g′, and every weight gradient is error × input. </a:t>
            </a:r>
            <a:pPr algn="l" indent="0" marL="0">
              <a:lnSpc>
                <a:spcPct val="100000"/>
              </a:lnSpc>
              <a:buNone/>
            </a:pPr>
            <a:r>
              <a:rPr lang="en-US" sz="1550" b="1" dirty="0">
                <a:solidFill>
                  <a:srgbClr val="16202E"/>
                </a:solidFill>
                <a:latin typeface="Calibri" pitchFamily="34" charset="0"/>
                <a:ea typeface="Calibri" pitchFamily="34" charset="-122"/>
                <a:cs typeface="Calibri" pitchFamily="34" charset="-120"/>
              </a:rPr>
              <a:t>Curves</a:t>
            </a:r>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 tell you whether to fit harder or generalize better.</a:t>
            </a:r>
            <a:endParaRPr lang="en-US" sz="1550" dirty="0"/>
          </a:p>
        </p:txBody>
      </p:sp>
      <p:sp>
        <p:nvSpPr>
          <p:cNvPr id="17" name="Shape 14"/>
          <p:cNvSpPr/>
          <p:nvPr/>
        </p:nvSpPr>
        <p:spPr>
          <a:xfrm>
            <a:off x="7452360" y="1371600"/>
            <a:ext cx="4187952" cy="3794760"/>
          </a:xfrm>
          <a:prstGeom prst="roundRect">
            <a:avLst>
              <a:gd name="adj" fmla="val 1928"/>
            </a:avLst>
          </a:prstGeom>
          <a:solidFill>
            <a:srgbClr val="E3F2F1"/>
          </a:solidFill>
          <a:ln/>
        </p:spPr>
      </p:sp>
      <p:sp>
        <p:nvSpPr>
          <p:cNvPr id="18" name="Text 15"/>
          <p:cNvSpPr txBox="1"/>
          <p:nvPr/>
        </p:nvSpPr>
        <p:spPr>
          <a:xfrm>
            <a:off x="7680960" y="1508760"/>
            <a:ext cx="36576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BEFORE NEXT SESSION</a:t>
            </a:r>
            <a:endParaRPr lang="en-US" sz="1100" dirty="0"/>
          </a:p>
        </p:txBody>
      </p:sp>
      <p:sp>
        <p:nvSpPr>
          <p:cNvPr id="19" name="Text 16"/>
          <p:cNvSpPr txBox="1"/>
          <p:nvPr/>
        </p:nvSpPr>
        <p:spPr>
          <a:xfrm>
            <a:off x="7680960" y="1874520"/>
            <a:ext cx="3794760" cy="3200400"/>
          </a:xfrm>
          <a:prstGeom prst="rect">
            <a:avLst/>
          </a:prstGeom>
          <a:noFill/>
          <a:ln/>
        </p:spPr>
        <p:txBody>
          <a:bodyPr wrap="square" lIns="0" tIns="0" rIns="0" bIns="0" rtlCol="0" anchor="t"/>
          <a:lstStyle/>
          <a:p>
            <a:pPr marL="228600" indent="-228600">
              <a:spcAft>
                <a:spcPts val="700"/>
              </a:spcAft>
              <a:buSzPct val="100000"/>
              <a:buChar char="•"/>
            </a:pPr>
            <a:r>
              <a:rPr lang="en-US" sz="1450" dirty="0">
                <a:solidFill>
                  <a:srgbClr val="16202E"/>
                </a:solidFill>
                <a:latin typeface="Calibri" pitchFamily="34" charset="0"/>
                <a:ea typeface="Calibri" pitchFamily="34" charset="-122"/>
                <a:cs typeface="Calibri" pitchFamily="34" charset="-120"/>
              </a:rPr>
              <a:t>Redo the worked example with x = 1.0, take one step with η = 0.5: does the loss fall?</a:t>
            </a:r>
            <a:endParaRPr lang="en-US" sz="1450" dirty="0"/>
          </a:p>
          <a:p>
            <a:pPr marL="228600" indent="-228600">
              <a:spcAft>
                <a:spcPts val="700"/>
              </a:spcAft>
              <a:buSzPct val="100000"/>
              <a:buChar char="•"/>
            </a:pPr>
            <a:r>
              <a:rPr lang="en-US" sz="1450" dirty="0">
                <a:solidFill>
                  <a:srgbClr val="16202E"/>
                </a:solidFill>
                <a:latin typeface="Calibri" pitchFamily="34" charset="0"/>
                <a:ea typeface="Calibri" pitchFamily="34" charset="-122"/>
                <a:cs typeface="Calibri" pitchFamily="34" charset="-120"/>
              </a:rPr>
              <a:t>NumPy: code the forward and backward pass of a one-hidden-layer MLP; verify with centred differences</a:t>
            </a:r>
            <a:endParaRPr lang="en-US" sz="1450" dirty="0"/>
          </a:p>
          <a:p>
            <a:pPr marL="228600" indent="-228600">
              <a:spcAft>
                <a:spcPts val="700"/>
              </a:spcAft>
              <a:buSzPct val="100000"/>
              <a:buChar char="•"/>
            </a:pPr>
            <a:r>
              <a:rPr lang="en-US" sz="1450" dirty="0">
                <a:solidFill>
                  <a:srgbClr val="16202E"/>
                </a:solidFill>
                <a:latin typeface="Calibri" pitchFamily="34" charset="0"/>
                <a:ea typeface="Calibri" pitchFamily="34" charset="-122"/>
                <a:cs typeface="Calibri" pitchFamily="34" charset="-120"/>
              </a:rPr>
              <a:t>Count the parameters of 784–256–128–10; predict the first loss for 100 classes</a:t>
            </a:r>
            <a:endParaRPr lang="en-US" sz="1450" dirty="0"/>
          </a:p>
          <a:p>
            <a:pPr marL="228600" indent="-228600">
              <a:spcAft>
                <a:spcPts val="700"/>
              </a:spcAft>
              <a:buSzPct val="100000"/>
              <a:buChar char="•"/>
            </a:pPr>
            <a:r>
              <a:rPr lang="en-US" sz="1450" dirty="0">
                <a:solidFill>
                  <a:srgbClr val="16202E"/>
                </a:solidFill>
                <a:latin typeface="Calibri" pitchFamily="34" charset="0"/>
                <a:ea typeface="Calibri" pitchFamily="34" charset="-122"/>
                <a:cs typeface="Calibri" pitchFamily="34" charset="-120"/>
              </a:rPr>
              <a:t>Derive BP2 by hand for a layer of 2 units feeding 2 units</a:t>
            </a:r>
            <a:endParaRPr lang="en-US" sz="1450" dirty="0"/>
          </a:p>
        </p:txBody>
      </p:sp>
      <p:sp>
        <p:nvSpPr>
          <p:cNvPr id="20" name="Shape 17"/>
          <p:cNvSpPr/>
          <p:nvPr/>
        </p:nvSpPr>
        <p:spPr>
          <a:xfrm>
            <a:off x="548640" y="5349240"/>
            <a:ext cx="11094415" cy="822960"/>
          </a:xfrm>
          <a:prstGeom prst="roundRect">
            <a:avLst>
              <a:gd name="adj" fmla="val 8889"/>
            </a:avLst>
          </a:prstGeom>
          <a:solidFill>
            <a:srgbClr val="16202E"/>
          </a:solidFill>
          <a:ln/>
        </p:spPr>
      </p:sp>
      <p:sp>
        <p:nvSpPr>
          <p:cNvPr id="21" name="Text 18"/>
          <p:cNvSpPr txBox="1"/>
          <p:nvPr/>
        </p:nvSpPr>
        <p:spPr>
          <a:xfrm>
            <a:off x="822960" y="5349240"/>
            <a:ext cx="10545775" cy="822960"/>
          </a:xfrm>
          <a:prstGeom prst="rect">
            <a:avLst/>
          </a:prstGeom>
          <a:noFill/>
          <a:ln/>
        </p:spPr>
        <p:txBody>
          <a:bodyPr wrap="square" lIns="0" tIns="0" rIns="0" bIns="0" rtlCol="0" anchor="ctr"/>
          <a:lstStyle/>
          <a:p>
            <a:pPr algn="l" indent="0" marL="0">
              <a:lnSpc>
                <a:spcPct val="100000"/>
              </a:lnSpc>
              <a:buNone/>
            </a:pPr>
            <a:r>
              <a:rPr lang="en-US" sz="1700" b="1" dirty="0">
                <a:solidFill>
                  <a:srgbClr val="FFFFFF"/>
                </a:solidFill>
                <a:latin typeface="Calibri" pitchFamily="34" charset="0"/>
                <a:ea typeface="Calibri" pitchFamily="34" charset="-122"/>
                <a:cs typeface="Calibri" pitchFamily="34" charset="-120"/>
              </a:rPr>
              <a:t>Exit ticket (1 min):</a:t>
            </a:r>
            <a:pPr algn="l" indent="0" marL="0">
              <a:lnSpc>
                <a:spcPct val="100000"/>
              </a:lnSpc>
              <a:buNone/>
            </a:pPr>
            <a:r>
              <a:rPr lang="en-US" sz="1700" dirty="0">
                <a:solidFill>
                  <a:srgbClr val="FFFFFF"/>
                </a:solidFill>
                <a:latin typeface="Calibri" pitchFamily="34" charset="0"/>
                <a:ea typeface="Calibri" pitchFamily="34" charset="-122"/>
                <a:cs typeface="Calibri" pitchFamily="34" charset="-120"/>
              </a:rPr>
              <a:t> (1) your muddiest point today  (2) one sentence: why must g be nonlinear?</a:t>
            </a:r>
            <a:endParaRPr lang="en-US" sz="1700" dirty="0"/>
          </a:p>
        </p:txBody>
      </p:sp>
      <p:sp>
        <p:nvSpPr>
          <p:cNvPr id="22" name="Text 19"/>
          <p:cNvSpPr txBox="1"/>
          <p:nvPr/>
        </p:nvSpPr>
        <p:spPr>
          <a:xfrm>
            <a:off x="548640" y="6236208"/>
            <a:ext cx="8229600" cy="274320"/>
          </a:xfrm>
          <a:prstGeom prst="rect">
            <a:avLst/>
          </a:prstGeom>
          <a:noFill/>
          <a:ln/>
        </p:spPr>
        <p:txBody>
          <a:bodyPr wrap="square" lIns="0" tIns="0" rIns="0" bIns="0" rtlCol="0" anchor="t"/>
          <a:lstStyle/>
          <a:p>
            <a:pPr algn="l" indent="0" marL="0">
              <a:lnSpc>
                <a:spcPct val="100000"/>
              </a:lnSpc>
              <a:buNone/>
            </a:pPr>
            <a:r>
              <a:rPr lang="en-US" sz="1250" i="1" dirty="0">
                <a:solidFill>
                  <a:srgbClr val="5B6675"/>
                </a:solidFill>
                <a:latin typeface="Calibri" pitchFamily="34" charset="0"/>
                <a:ea typeface="Calibri" pitchFamily="34" charset="-122"/>
                <a:cs typeface="Calibri" pitchFamily="34" charset="-120"/>
              </a:rPr>
              <a:t>Next session: making deep networks train and generalize (initialization, residual connections, regularization) — in PyTorch.</a:t>
            </a:r>
            <a:endParaRPr lang="en-US" sz="12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6949440" cy="320040"/>
          </a:xfrm>
          <a:prstGeom prst="rect">
            <a:avLst/>
          </a:prstGeom>
          <a:noFill/>
          <a:ln/>
        </p:spPr>
        <p:txBody>
          <a:bodyPr wrap="square" lIns="0" tIns="0" rIns="0" bIns="0" rtlCol="0"/>
          <a:lstStyle/>
          <a:p>
            <a:pPr indent="0" marL="0">
              <a:buNone/>
            </a:pPr>
            <a:r>
              <a:rPr lang="en-US" sz="1300" b="1" spc="300" kern="0" dirty="0">
                <a:solidFill>
                  <a:srgbClr val="5FC4BE"/>
                </a:solidFill>
                <a:latin typeface="Calibri" pitchFamily="34" charset="0"/>
                <a:ea typeface="Calibri" pitchFamily="34" charset="-122"/>
                <a:cs typeface="Calibri" pitchFamily="34" charset="-120"/>
              </a:rPr>
              <a:t>APPENDIX</a:t>
            </a:r>
            <a:endParaRPr lang="en-US" sz="1300" dirty="0"/>
          </a:p>
        </p:txBody>
      </p:sp>
      <p:sp>
        <p:nvSpPr>
          <p:cNvPr id="3" name="Text 0"/>
          <p:cNvSpPr/>
          <p:nvPr>
            <p:ph idx="101" type="title" hasCustomPrompt="1"/>
          </p:nvPr>
        </p:nvSpPr>
        <p:spPr>
          <a:xfrm>
            <a:off x="548640" y="1828800"/>
            <a:ext cx="6949440" cy="173736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Reference material</a:t>
            </a:r>
            <a:endParaRPr lang="en-US" sz="3800" dirty="0"/>
          </a:p>
        </p:txBody>
      </p:sp>
      <p:sp>
        <p:nvSpPr>
          <p:cNvPr id="4" name="Text 2"/>
          <p:cNvSpPr txBox="1"/>
          <p:nvPr/>
        </p:nvSpPr>
        <p:spPr>
          <a:xfrm>
            <a:off x="548640" y="3566160"/>
            <a:ext cx="5029200" cy="2377440"/>
          </a:xfrm>
          <a:prstGeom prst="rect">
            <a:avLst/>
          </a:prstGeom>
          <a:noFill/>
          <a:ln/>
        </p:spPr>
        <p:txBody>
          <a:bodyPr wrap="square" lIns="0" tIns="0" rIns="0" bIns="0" rtlCol="0" anchor="t"/>
          <a:lstStyle/>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A1  Quick-check answers</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A2  Notation</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A3  Softmax + cross-entropy gradient</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A4  Universal approximation, stated honestly</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A5  Gradient checking</a:t>
            </a:r>
            <a:endParaRPr lang="en-US" sz="1700" dirty="0"/>
          </a:p>
        </p:txBody>
      </p:sp>
      <p:sp>
        <p:nvSpPr>
          <p:cNvPr id="5" name="Text 3"/>
          <p:cNvSpPr txBox="1"/>
          <p:nvPr/>
        </p:nvSpPr>
        <p:spPr>
          <a:xfrm>
            <a:off x="5943600" y="3566160"/>
            <a:ext cx="5029200" cy="2377440"/>
          </a:xfrm>
          <a:prstGeom prst="rect">
            <a:avLst/>
          </a:prstGeom>
          <a:noFill/>
          <a:ln/>
        </p:spPr>
        <p:txBody>
          <a:bodyPr wrap="square" lIns="0" tIns="0" rIns="0" bIns="0" rtlCol="0" anchor="t"/>
          <a:lstStyle/>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A6  Adam and AdamW in full</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A7  From 1943 to today</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A8  When not to use a neural network</a:t>
            </a:r>
            <a:pPr algn="l" indent="0" marL="0">
              <a:lnSpc>
                <a:spcPct val="100000"/>
              </a:lnSpc>
              <a:spcAft>
                <a:spcPts val="800"/>
              </a:spcAft>
              <a:buNone/>
            </a:pPr>
            <a:endParaRPr lang="en-US" sz="1700" dirty="0"/>
          </a:p>
          <a:p>
            <a:pPr algn="l" indent="0" marL="0">
              <a:lnSpc>
                <a:spcPct val="100000"/>
              </a:lnSpc>
              <a:spcAft>
                <a:spcPts val="800"/>
              </a:spcAft>
              <a:buNone/>
            </a:pPr>
            <a:r>
              <a:rPr lang="en-US" sz="1700" dirty="0">
                <a:solidFill>
                  <a:srgbClr val="D5DCE5"/>
                </a:solidFill>
                <a:latin typeface="Calibri" pitchFamily="34" charset="0"/>
                <a:ea typeface="Calibri" pitchFamily="34" charset="-122"/>
                <a:cs typeface="Calibri" pitchFamily="34" charset="-120"/>
              </a:rPr>
              <a:t>References</a:t>
            </a:r>
            <a:endParaRPr lang="en-US" sz="17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C8796"/>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A1 · QUICK-CHECK ANSWERS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Quick-check answers (1–3)</a:t>
            </a:r>
            <a:endParaRPr lang="en-US" sz="2700" dirty="0"/>
          </a:p>
        </p:txBody>
      </p:sp>
      <p:sp>
        <p:nvSpPr>
          <p:cNvPr id="5" name="Shape 2"/>
          <p:cNvSpPr/>
          <p:nvPr/>
        </p:nvSpPr>
        <p:spPr>
          <a:xfrm>
            <a:off x="548640" y="1417320"/>
            <a:ext cx="420624" cy="420624"/>
          </a:xfrm>
          <a:prstGeom prst="ellipse">
            <a:avLst/>
          </a:prstGeom>
          <a:solidFill>
            <a:srgbClr val="0E7C7B"/>
          </a:solidFill>
          <a:ln/>
        </p:spPr>
      </p:sp>
      <p:sp>
        <p:nvSpPr>
          <p:cNvPr id="6" name="Text 3"/>
          <p:cNvSpPr txBox="1"/>
          <p:nvPr/>
        </p:nvSpPr>
        <p:spPr>
          <a:xfrm>
            <a:off x="548640" y="14173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1188720" y="13716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C — only a hyperplane</a:t>
            </a:r>
            <a:endParaRPr lang="en-US" sz="1700" dirty="0"/>
          </a:p>
        </p:txBody>
      </p:sp>
      <p:sp>
        <p:nvSpPr>
          <p:cNvPr id="8" name="Text 5"/>
          <p:cNvSpPr txBox="1"/>
          <p:nvPr/>
        </p:nvSpPr>
        <p:spPr>
          <a:xfrm>
            <a:off x="1188720" y="1755648"/>
            <a:ext cx="10454335" cy="11430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Identity hidden layers compose into one affine map z = W′x + b′. The sigmoid is strictly increasing, so ŷ &gt; 0.5 exactly when z &gt; 0: a hyperplane, whatever the depth or widths. A nonlinearity only at the output does not bend the boundary.</a:t>
            </a:r>
            <a:endParaRPr lang="en-US" sz="1450" dirty="0"/>
          </a:p>
        </p:txBody>
      </p:sp>
      <p:sp>
        <p:nvSpPr>
          <p:cNvPr id="9" name="Shape 6"/>
          <p:cNvSpPr/>
          <p:nvPr/>
        </p:nvSpPr>
        <p:spPr>
          <a:xfrm>
            <a:off x="548640" y="3017520"/>
            <a:ext cx="420624" cy="420624"/>
          </a:xfrm>
          <a:prstGeom prst="ellipse">
            <a:avLst/>
          </a:prstGeom>
          <a:solidFill>
            <a:srgbClr val="0E7C7B"/>
          </a:solidFill>
          <a:ln/>
        </p:spPr>
      </p:sp>
      <p:sp>
        <p:nvSpPr>
          <p:cNvPr id="10" name="Text 7"/>
          <p:cNvSpPr txBox="1"/>
          <p:nvPr/>
        </p:nvSpPr>
        <p:spPr>
          <a:xfrm>
            <a:off x="548640" y="30175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1188720" y="29718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B — 203,530</a:t>
            </a:r>
            <a:endParaRPr lang="en-US" sz="1700" dirty="0"/>
          </a:p>
        </p:txBody>
      </p:sp>
      <p:sp>
        <p:nvSpPr>
          <p:cNvPr id="12" name="Text 9"/>
          <p:cNvSpPr txBox="1"/>
          <p:nvPr/>
        </p:nvSpPr>
        <p:spPr>
          <a:xfrm>
            <a:off x="1188720" y="3355848"/>
            <a:ext cx="10454335" cy="11430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Layer 1: 784·256 + 256 = 200,960. Layer 2: 256·10 + 10 = 2,570. Total 203,530. A (203,264) forgets the biases; C and D count one layer only.</a:t>
            </a:r>
            <a:endParaRPr lang="en-US" sz="1450" dirty="0"/>
          </a:p>
        </p:txBody>
      </p:sp>
      <p:sp>
        <p:nvSpPr>
          <p:cNvPr id="13" name="Shape 10"/>
          <p:cNvSpPr/>
          <p:nvPr/>
        </p:nvSpPr>
        <p:spPr>
          <a:xfrm>
            <a:off x="548640" y="4617720"/>
            <a:ext cx="420624" cy="420624"/>
          </a:xfrm>
          <a:prstGeom prst="ellipse">
            <a:avLst/>
          </a:prstGeom>
          <a:solidFill>
            <a:srgbClr val="0E7C7B"/>
          </a:solidFill>
          <a:ln/>
        </p:spPr>
      </p:sp>
      <p:sp>
        <p:nvSpPr>
          <p:cNvPr id="14" name="Text 11"/>
          <p:cNvSpPr txBox="1"/>
          <p:nvPr/>
        </p:nvSpPr>
        <p:spPr>
          <a:xfrm>
            <a:off x="548640" y="46177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188720" y="45720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B — η &lt; 2/50 = 0.04</a:t>
            </a:r>
            <a:endParaRPr lang="en-US" sz="1700" dirty="0"/>
          </a:p>
        </p:txBody>
      </p:sp>
      <p:sp>
        <p:nvSpPr>
          <p:cNvPr id="16" name="Text 13"/>
          <p:cNvSpPr txBox="1"/>
          <p:nvPr/>
        </p:nvSpPr>
        <p:spPr>
          <a:xfrm>
            <a:off x="1188720" y="4956048"/>
            <a:ext cx="10454335" cy="11430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Curvatures are 4 and 50; gradient descent converges from every start iff 0 &lt; η &lt; 2/λ</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max</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0.04. A uses the flat direction; C is safe but too strict; convexity (D) guarantees a single minimum, not that every step size reaches it.</a:t>
            </a:r>
            <a:endParaRPr lang="en-US" sz="14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A1 · QUICK-CHECK ANSWERS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Quick-check answers (4–5)</a:t>
            </a:r>
            <a:endParaRPr lang="en-US" sz="2700" dirty="0"/>
          </a:p>
        </p:txBody>
      </p:sp>
      <p:sp>
        <p:nvSpPr>
          <p:cNvPr id="5" name="Shape 2"/>
          <p:cNvSpPr/>
          <p:nvPr/>
        </p:nvSpPr>
        <p:spPr>
          <a:xfrm>
            <a:off x="548640" y="1417320"/>
            <a:ext cx="420624" cy="420624"/>
          </a:xfrm>
          <a:prstGeom prst="ellipse">
            <a:avLst/>
          </a:prstGeom>
          <a:solidFill>
            <a:srgbClr val="0E7C7B"/>
          </a:solidFill>
          <a:ln/>
        </p:spPr>
      </p:sp>
      <p:sp>
        <p:nvSpPr>
          <p:cNvPr id="6" name="Text 3"/>
          <p:cNvSpPr txBox="1"/>
          <p:nvPr/>
        </p:nvSpPr>
        <p:spPr>
          <a:xfrm>
            <a:off x="548640" y="14173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7" name="Text 4"/>
          <p:cNvSpPr txBox="1"/>
          <p:nvPr/>
        </p:nvSpPr>
        <p:spPr>
          <a:xfrm>
            <a:off x="1188720" y="13716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A — exactly 0</a:t>
            </a:r>
            <a:endParaRPr lang="en-US" sz="1700" dirty="0"/>
          </a:p>
        </p:txBody>
      </p:sp>
      <p:sp>
        <p:nvSpPr>
          <p:cNvPr id="8" name="Text 5"/>
          <p:cNvSpPr txBox="1"/>
          <p:nvPr/>
        </p:nvSpPr>
        <p:spPr>
          <a:xfrm>
            <a:off x="1188720" y="1755648"/>
            <a:ext cx="10454335" cy="19431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affects L only through a</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z</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and ∂L/∂a</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δ</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0, so δ</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0 and ∂L/∂w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δ</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x = 0. (∂L/∂w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δ</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a</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 0, so w</a:t>
            </a:r>
            <a:pPr algn="l" indent="0" marL="0">
              <a:lnSpc>
                <a:spcPct val="100000"/>
              </a:lnSpc>
              <a:buNone/>
            </a:pPr>
            <a:r>
              <a:rPr lang="en-US" sz="1450" baseline="-40000" dirty="0">
                <a:solidFill>
                  <a:srgbClr val="16202E"/>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moves away from 0 next step.) A zero factor on the only path blocks learning — the same mechanism as dead ReLUs and vanishing gradients.</a:t>
            </a:r>
            <a:endParaRPr lang="en-US" sz="1450" dirty="0"/>
          </a:p>
        </p:txBody>
      </p:sp>
      <p:sp>
        <p:nvSpPr>
          <p:cNvPr id="9" name="Shape 6"/>
          <p:cNvSpPr/>
          <p:nvPr/>
        </p:nvSpPr>
        <p:spPr>
          <a:xfrm>
            <a:off x="548640" y="3817620"/>
            <a:ext cx="420624" cy="420624"/>
          </a:xfrm>
          <a:prstGeom prst="ellipse">
            <a:avLst/>
          </a:prstGeom>
          <a:solidFill>
            <a:srgbClr val="0E7C7B"/>
          </a:solidFill>
          <a:ln/>
        </p:spPr>
      </p:sp>
      <p:sp>
        <p:nvSpPr>
          <p:cNvPr id="10" name="Text 7"/>
          <p:cNvSpPr txBox="1"/>
          <p:nvPr/>
        </p:nvSpPr>
        <p:spPr>
          <a:xfrm>
            <a:off x="548640" y="3817620"/>
            <a:ext cx="420624" cy="420624"/>
          </a:xfrm>
          <a:prstGeom prst="rect">
            <a:avLst/>
          </a:prstGeom>
          <a:noFill/>
          <a:ln/>
        </p:spPr>
        <p:txBody>
          <a:bodyPr wrap="square" lIns="0" tIns="0" rIns="0" bIns="0" rtlCol="0" anchor="ctr"/>
          <a:lstStyle/>
          <a:p>
            <a:pPr algn="ctr" indent="0" marL="0">
              <a:lnSpc>
                <a:spcPct val="100000"/>
              </a:lnSpc>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1" name="Text 8"/>
          <p:cNvSpPr txBox="1"/>
          <p:nvPr/>
        </p:nvSpPr>
        <p:spPr>
          <a:xfrm>
            <a:off x="1188720" y="3771900"/>
            <a:ext cx="10454335" cy="365760"/>
          </a:xfrm>
          <a:prstGeom prst="rect">
            <a:avLst/>
          </a:prstGeom>
          <a:noFill/>
          <a:ln/>
        </p:spPr>
        <p:txBody>
          <a:bodyPr wrap="square" lIns="0" tIns="0" rIns="0" bIns="0" rtlCol="0" anchor="t"/>
          <a:lstStyle/>
          <a:p>
            <a:pPr algn="l" indent="0" marL="0">
              <a:lnSpc>
                <a:spcPct val="100000"/>
              </a:lnSpc>
              <a:buNone/>
            </a:pPr>
            <a:r>
              <a:rPr lang="en-US" sz="1700" b="1" dirty="0">
                <a:solidFill>
                  <a:srgbClr val="0E7C7B"/>
                </a:solidFill>
                <a:latin typeface="Calibri" pitchFamily="34" charset="0"/>
                <a:ea typeface="Calibri" pitchFamily="34" charset="-122"/>
                <a:cs typeface="Calibri" pitchFamily="34" charset="-120"/>
              </a:rPr>
              <a:t>C — look for a bug first</a:t>
            </a:r>
            <a:endParaRPr lang="en-US" sz="1700" dirty="0"/>
          </a:p>
        </p:txBody>
      </p:sp>
      <p:sp>
        <p:nvSpPr>
          <p:cNvPr id="12" name="Text 9"/>
          <p:cNvSpPr txBox="1"/>
          <p:nvPr/>
        </p:nvSpPr>
        <p:spPr>
          <a:xfrm>
            <a:off x="1188720" y="4155948"/>
            <a:ext cx="10454335" cy="194310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Loss 2.30 = ln 10 and 10% accuracy mean uniform predictions: nothing has been learned. That is not ordinary underfitting — even the linear softmax model reaches a validation loss near 0.40 on this data. Check that the model can drive the loss to ~0 on one small batch; suspects: updates not applied to the model's parameters, a tiny or zero learning rate, blocked gradients, misaligned labels.</a:t>
            </a:r>
            <a:endParaRPr lang="en-US" sz="14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A2 · NOTATION</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Notation used all session</a:t>
            </a:r>
            <a:endParaRPr lang="en-US" sz="2700" dirty="0"/>
          </a:p>
        </p:txBody>
      </p:sp>
      <p:sp>
        <p:nvSpPr>
          <p:cNvPr id="5" name="Shape 2"/>
          <p:cNvSpPr/>
          <p:nvPr/>
        </p:nvSpPr>
        <p:spPr>
          <a:xfrm>
            <a:off x="548640" y="1371600"/>
            <a:ext cx="2103120" cy="438912"/>
          </a:xfrm>
          <a:prstGeom prst="rect">
            <a:avLst/>
          </a:prstGeom>
          <a:solidFill>
            <a:srgbClr val="16202E"/>
          </a:solidFill>
          <a:ln w="12700">
            <a:solidFill>
              <a:srgbClr val="FFFFFF"/>
            </a:solidFill>
            <a:prstDash val="solid"/>
          </a:ln>
        </p:spPr>
      </p:sp>
      <p:sp>
        <p:nvSpPr>
          <p:cNvPr id="6" name="Text 3"/>
          <p:cNvSpPr txBox="1"/>
          <p:nvPr/>
        </p:nvSpPr>
        <p:spPr>
          <a:xfrm>
            <a:off x="685800" y="1371600"/>
            <a:ext cx="192024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Symbol</a:t>
            </a:r>
            <a:endParaRPr lang="en-US" sz="1500" dirty="0"/>
          </a:p>
        </p:txBody>
      </p:sp>
      <p:sp>
        <p:nvSpPr>
          <p:cNvPr id="7" name="Shape 4"/>
          <p:cNvSpPr/>
          <p:nvPr/>
        </p:nvSpPr>
        <p:spPr>
          <a:xfrm>
            <a:off x="2651760" y="1371600"/>
            <a:ext cx="3429000" cy="438912"/>
          </a:xfrm>
          <a:prstGeom prst="rect">
            <a:avLst/>
          </a:prstGeom>
          <a:solidFill>
            <a:srgbClr val="16202E"/>
          </a:solidFill>
          <a:ln w="12700">
            <a:solidFill>
              <a:srgbClr val="FFFFFF"/>
            </a:solidFill>
            <a:prstDash val="solid"/>
          </a:ln>
        </p:spPr>
      </p:sp>
      <p:sp>
        <p:nvSpPr>
          <p:cNvPr id="8" name="Text 5"/>
          <p:cNvSpPr txBox="1"/>
          <p:nvPr/>
        </p:nvSpPr>
        <p:spPr>
          <a:xfrm>
            <a:off x="2788920" y="1371600"/>
            <a:ext cx="324612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p>
        </p:txBody>
      </p:sp>
      <p:sp>
        <p:nvSpPr>
          <p:cNvPr id="9" name="Shape 6"/>
          <p:cNvSpPr/>
          <p:nvPr/>
        </p:nvSpPr>
        <p:spPr>
          <a:xfrm>
            <a:off x="6080760" y="1371600"/>
            <a:ext cx="2103120" cy="438912"/>
          </a:xfrm>
          <a:prstGeom prst="rect">
            <a:avLst/>
          </a:prstGeom>
          <a:solidFill>
            <a:srgbClr val="16202E"/>
          </a:solidFill>
          <a:ln w="12700">
            <a:solidFill>
              <a:srgbClr val="FFFFFF"/>
            </a:solidFill>
            <a:prstDash val="solid"/>
          </a:ln>
        </p:spPr>
      </p:sp>
      <p:sp>
        <p:nvSpPr>
          <p:cNvPr id="10" name="Text 7"/>
          <p:cNvSpPr txBox="1"/>
          <p:nvPr/>
        </p:nvSpPr>
        <p:spPr>
          <a:xfrm>
            <a:off x="6217920" y="1371600"/>
            <a:ext cx="1920240" cy="438912"/>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Symbol</a:t>
            </a:r>
            <a:endParaRPr lang="en-US" sz="1500" dirty="0"/>
          </a:p>
        </p:txBody>
      </p:sp>
      <p:sp>
        <p:nvSpPr>
          <p:cNvPr id="11" name="Shape 8"/>
          <p:cNvSpPr/>
          <p:nvPr/>
        </p:nvSpPr>
        <p:spPr>
          <a:xfrm>
            <a:off x="8183880" y="1371600"/>
            <a:ext cx="3456432" cy="438912"/>
          </a:xfrm>
          <a:prstGeom prst="rect">
            <a:avLst/>
          </a:prstGeom>
          <a:solidFill>
            <a:srgbClr val="16202E"/>
          </a:solidFill>
          <a:ln w="12700">
            <a:solidFill>
              <a:srgbClr val="FFFFFF"/>
            </a:solidFill>
            <a:prstDash val="solid"/>
          </a:ln>
        </p:spPr>
      </p:sp>
      <p:sp>
        <p:nvSpPr>
          <p:cNvPr id="12" name="Text 9"/>
          <p:cNvSpPr txBox="1"/>
          <p:nvPr/>
        </p:nvSpPr>
        <p:spPr>
          <a:xfrm>
            <a:off x="8321040" y="1371600"/>
            <a:ext cx="3273552" cy="438912"/>
          </a:xfrm>
          <a:prstGeom prst="rect">
            <a:avLst/>
          </a:prstGeom>
          <a:noFill/>
          <a:ln/>
        </p:spPr>
        <p:txBody>
          <a:bodyPr wrap="square" lIns="0" tIns="0" rIns="0" bIns="0" rtlCol="0" anchor="ctr"/>
          <a:lstStyle/>
          <a:p>
            <a:pPr algn="l" indent="0" marL="0">
              <a:lnSpc>
                <a:spcPct val="100000"/>
              </a:lnSpc>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p>
        </p:txBody>
      </p:sp>
      <p:sp>
        <p:nvSpPr>
          <p:cNvPr id="13" name="Shape 10"/>
          <p:cNvSpPr/>
          <p:nvPr/>
        </p:nvSpPr>
        <p:spPr>
          <a:xfrm>
            <a:off x="548640" y="1810512"/>
            <a:ext cx="2103120" cy="512064"/>
          </a:xfrm>
          <a:prstGeom prst="rect">
            <a:avLst/>
          </a:prstGeom>
          <a:solidFill>
            <a:srgbClr val="F3F5F8"/>
          </a:solidFill>
          <a:ln w="6350">
            <a:solidFill>
              <a:srgbClr val="D5DBE3"/>
            </a:solidFill>
            <a:prstDash val="solid"/>
          </a:ln>
        </p:spPr>
      </p:sp>
      <p:sp>
        <p:nvSpPr>
          <p:cNvPr id="14" name="Text 11"/>
          <p:cNvSpPr txBox="1"/>
          <p:nvPr/>
        </p:nvSpPr>
        <p:spPr>
          <a:xfrm>
            <a:off x="685800" y="1810512"/>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x,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x</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 </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W</a:t>
            </a:r>
            <a:endParaRPr lang="en-US" sz="1500" dirty="0"/>
          </a:p>
        </p:txBody>
      </p:sp>
      <p:sp>
        <p:nvSpPr>
          <p:cNvPr id="15" name="Shape 12"/>
          <p:cNvSpPr/>
          <p:nvPr/>
        </p:nvSpPr>
        <p:spPr>
          <a:xfrm>
            <a:off x="2651760" y="1810512"/>
            <a:ext cx="3429000" cy="512064"/>
          </a:xfrm>
          <a:prstGeom prst="rect">
            <a:avLst/>
          </a:prstGeom>
          <a:solidFill>
            <a:srgbClr val="F3F5F8"/>
          </a:solidFill>
          <a:ln w="6350">
            <a:solidFill>
              <a:srgbClr val="D5DBE3"/>
            </a:solidFill>
            <a:prstDash val="solid"/>
          </a:ln>
        </p:spPr>
      </p:sp>
      <p:sp>
        <p:nvSpPr>
          <p:cNvPr id="16" name="Text 13"/>
          <p:cNvSpPr txBox="1"/>
          <p:nvPr/>
        </p:nvSpPr>
        <p:spPr>
          <a:xfrm>
            <a:off x="2788920" y="1810512"/>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scalar, vector, matrix</a:t>
            </a:r>
            <a:endParaRPr lang="en-US" sz="1500" dirty="0"/>
          </a:p>
        </p:txBody>
      </p:sp>
      <p:sp>
        <p:nvSpPr>
          <p:cNvPr id="17" name="Shape 14"/>
          <p:cNvSpPr/>
          <p:nvPr/>
        </p:nvSpPr>
        <p:spPr>
          <a:xfrm>
            <a:off x="6080760" y="1810512"/>
            <a:ext cx="2103120" cy="512064"/>
          </a:xfrm>
          <a:prstGeom prst="rect">
            <a:avLst/>
          </a:prstGeom>
          <a:solidFill>
            <a:srgbClr val="F3F5F8"/>
          </a:solidFill>
          <a:ln w="6350">
            <a:solidFill>
              <a:srgbClr val="D5DBE3"/>
            </a:solidFill>
            <a:prstDash val="solid"/>
          </a:ln>
        </p:spPr>
      </p:sp>
      <p:sp>
        <p:nvSpPr>
          <p:cNvPr id="18" name="Text 15"/>
          <p:cNvSpPr txBox="1"/>
          <p:nvPr/>
        </p:nvSpPr>
        <p:spPr>
          <a:xfrm>
            <a:off x="6217920" y="1810512"/>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z</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19" name="Shape 16"/>
          <p:cNvSpPr/>
          <p:nvPr/>
        </p:nvSpPr>
        <p:spPr>
          <a:xfrm>
            <a:off x="8183880" y="1810512"/>
            <a:ext cx="3456432" cy="512064"/>
          </a:xfrm>
          <a:prstGeom prst="rect">
            <a:avLst/>
          </a:prstGeom>
          <a:solidFill>
            <a:srgbClr val="F3F5F8"/>
          </a:solidFill>
          <a:ln w="6350">
            <a:solidFill>
              <a:srgbClr val="D5DBE3"/>
            </a:solidFill>
            <a:prstDash val="solid"/>
          </a:ln>
        </p:spPr>
      </p:sp>
      <p:sp>
        <p:nvSpPr>
          <p:cNvPr id="20" name="Text 17"/>
          <p:cNvSpPr txBox="1"/>
          <p:nvPr/>
        </p:nvSpPr>
        <p:spPr>
          <a:xfrm>
            <a:off x="8321040" y="1810512"/>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pre-activation of layer ℓ</a:t>
            </a:r>
            <a:endParaRPr lang="en-US" sz="1500" dirty="0"/>
          </a:p>
        </p:txBody>
      </p:sp>
      <p:sp>
        <p:nvSpPr>
          <p:cNvPr id="21" name="Shape 18"/>
          <p:cNvSpPr/>
          <p:nvPr/>
        </p:nvSpPr>
        <p:spPr>
          <a:xfrm>
            <a:off x="548640" y="2322576"/>
            <a:ext cx="2103120" cy="512064"/>
          </a:xfrm>
          <a:prstGeom prst="rect">
            <a:avLst/>
          </a:prstGeom>
          <a:solidFill>
            <a:srgbClr val="FFFFFF"/>
          </a:solidFill>
          <a:ln w="6350">
            <a:solidFill>
              <a:srgbClr val="D5DBE3"/>
            </a:solidFill>
            <a:prstDash val="solid"/>
          </a:ln>
        </p:spPr>
      </p:sp>
      <p:sp>
        <p:nvSpPr>
          <p:cNvPr id="22" name="Text 19"/>
          <p:cNvSpPr txBox="1"/>
          <p:nvPr/>
        </p:nvSpPr>
        <p:spPr>
          <a:xfrm>
            <a:off x="685800" y="2322576"/>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x</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(i)</a:t>
            </a:r>
            <a:endParaRPr lang="en-US" sz="1500" dirty="0"/>
          </a:p>
        </p:txBody>
      </p:sp>
      <p:sp>
        <p:nvSpPr>
          <p:cNvPr id="23" name="Shape 20"/>
          <p:cNvSpPr/>
          <p:nvPr/>
        </p:nvSpPr>
        <p:spPr>
          <a:xfrm>
            <a:off x="2651760" y="2322576"/>
            <a:ext cx="3429000" cy="512064"/>
          </a:xfrm>
          <a:prstGeom prst="rect">
            <a:avLst/>
          </a:prstGeom>
          <a:solidFill>
            <a:srgbClr val="FFFFFF"/>
          </a:solidFill>
          <a:ln w="6350">
            <a:solidFill>
              <a:srgbClr val="D5DBE3"/>
            </a:solidFill>
            <a:prstDash val="solid"/>
          </a:ln>
        </p:spPr>
      </p:sp>
      <p:sp>
        <p:nvSpPr>
          <p:cNvPr id="24" name="Text 21"/>
          <p:cNvSpPr txBox="1"/>
          <p:nvPr/>
        </p:nvSpPr>
        <p:spPr>
          <a:xfrm>
            <a:off x="2788920" y="2322576"/>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the i-th example</a:t>
            </a:r>
            <a:endParaRPr lang="en-US" sz="1500" dirty="0"/>
          </a:p>
        </p:txBody>
      </p:sp>
      <p:sp>
        <p:nvSpPr>
          <p:cNvPr id="25" name="Shape 22"/>
          <p:cNvSpPr/>
          <p:nvPr/>
        </p:nvSpPr>
        <p:spPr>
          <a:xfrm>
            <a:off x="6080760" y="2322576"/>
            <a:ext cx="2103120" cy="512064"/>
          </a:xfrm>
          <a:prstGeom prst="rect">
            <a:avLst/>
          </a:prstGeom>
          <a:solidFill>
            <a:srgbClr val="FFFFFF"/>
          </a:solidFill>
          <a:ln w="6350">
            <a:solidFill>
              <a:srgbClr val="D5DBE3"/>
            </a:solidFill>
            <a:prstDash val="solid"/>
          </a:ln>
        </p:spPr>
      </p:sp>
      <p:sp>
        <p:nvSpPr>
          <p:cNvPr id="26" name="Text 23"/>
          <p:cNvSpPr txBox="1"/>
          <p:nvPr/>
        </p:nvSpPr>
        <p:spPr>
          <a:xfrm>
            <a:off x="6217920" y="2322576"/>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a</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27" name="Shape 24"/>
          <p:cNvSpPr/>
          <p:nvPr/>
        </p:nvSpPr>
        <p:spPr>
          <a:xfrm>
            <a:off x="8183880" y="2322576"/>
            <a:ext cx="3456432" cy="512064"/>
          </a:xfrm>
          <a:prstGeom prst="rect">
            <a:avLst/>
          </a:prstGeom>
          <a:solidFill>
            <a:srgbClr val="FFFFFF"/>
          </a:solidFill>
          <a:ln w="6350">
            <a:solidFill>
              <a:srgbClr val="D5DBE3"/>
            </a:solidFill>
            <a:prstDash val="solid"/>
          </a:ln>
        </p:spPr>
      </p:sp>
      <p:sp>
        <p:nvSpPr>
          <p:cNvPr id="28" name="Text 25"/>
          <p:cNvSpPr txBox="1"/>
          <p:nvPr/>
        </p:nvSpPr>
        <p:spPr>
          <a:xfrm>
            <a:off x="8321040" y="2322576"/>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activation; a</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[0]</a:t>
            </a:r>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 = x</a:t>
            </a:r>
            <a:endParaRPr lang="en-US" sz="1500" dirty="0"/>
          </a:p>
        </p:txBody>
      </p:sp>
      <p:sp>
        <p:nvSpPr>
          <p:cNvPr id="29" name="Shape 26"/>
          <p:cNvSpPr/>
          <p:nvPr/>
        </p:nvSpPr>
        <p:spPr>
          <a:xfrm>
            <a:off x="548640" y="2834640"/>
            <a:ext cx="2103120" cy="512064"/>
          </a:xfrm>
          <a:prstGeom prst="rect">
            <a:avLst/>
          </a:prstGeom>
          <a:solidFill>
            <a:srgbClr val="F3F5F8"/>
          </a:solidFill>
          <a:ln w="6350">
            <a:solidFill>
              <a:srgbClr val="D5DBE3"/>
            </a:solidFill>
            <a:prstDash val="solid"/>
          </a:ln>
        </p:spPr>
      </p:sp>
      <p:sp>
        <p:nvSpPr>
          <p:cNvPr id="30" name="Text 27"/>
          <p:cNvSpPr txBox="1"/>
          <p:nvPr/>
        </p:nvSpPr>
        <p:spPr>
          <a:xfrm>
            <a:off x="685800" y="2834640"/>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W</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 b</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31" name="Shape 28"/>
          <p:cNvSpPr/>
          <p:nvPr/>
        </p:nvSpPr>
        <p:spPr>
          <a:xfrm>
            <a:off x="2651760" y="2834640"/>
            <a:ext cx="3429000" cy="512064"/>
          </a:xfrm>
          <a:prstGeom prst="rect">
            <a:avLst/>
          </a:prstGeom>
          <a:solidFill>
            <a:srgbClr val="F3F5F8"/>
          </a:solidFill>
          <a:ln w="6350">
            <a:solidFill>
              <a:srgbClr val="D5DBE3"/>
            </a:solidFill>
            <a:prstDash val="solid"/>
          </a:ln>
        </p:spPr>
      </p:sp>
      <p:sp>
        <p:nvSpPr>
          <p:cNvPr id="32" name="Text 29"/>
          <p:cNvSpPr txBox="1"/>
          <p:nvPr/>
        </p:nvSpPr>
        <p:spPr>
          <a:xfrm>
            <a:off x="2788920" y="2834640"/>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weights, bias of layer ℓ</a:t>
            </a:r>
            <a:endParaRPr lang="en-US" sz="1500" dirty="0"/>
          </a:p>
        </p:txBody>
      </p:sp>
      <p:sp>
        <p:nvSpPr>
          <p:cNvPr id="33" name="Shape 30"/>
          <p:cNvSpPr/>
          <p:nvPr/>
        </p:nvSpPr>
        <p:spPr>
          <a:xfrm>
            <a:off x="6080760" y="2834640"/>
            <a:ext cx="2103120" cy="512064"/>
          </a:xfrm>
          <a:prstGeom prst="rect">
            <a:avLst/>
          </a:prstGeom>
          <a:solidFill>
            <a:srgbClr val="F3F5F8"/>
          </a:solidFill>
          <a:ln w="6350">
            <a:solidFill>
              <a:srgbClr val="D5DBE3"/>
            </a:solidFill>
            <a:prstDash val="solid"/>
          </a:ln>
        </p:spPr>
      </p:sp>
      <p:sp>
        <p:nvSpPr>
          <p:cNvPr id="34" name="Text 31"/>
          <p:cNvSpPr txBox="1"/>
          <p:nvPr/>
        </p:nvSpPr>
        <p:spPr>
          <a:xfrm>
            <a:off x="6217920" y="2834640"/>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z</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[L]</a:t>
            </a:r>
            <a:endParaRPr lang="en-US" sz="1500" dirty="0"/>
          </a:p>
        </p:txBody>
      </p:sp>
      <p:sp>
        <p:nvSpPr>
          <p:cNvPr id="35" name="Shape 32"/>
          <p:cNvSpPr/>
          <p:nvPr/>
        </p:nvSpPr>
        <p:spPr>
          <a:xfrm>
            <a:off x="8183880" y="2834640"/>
            <a:ext cx="3456432" cy="512064"/>
          </a:xfrm>
          <a:prstGeom prst="rect">
            <a:avLst/>
          </a:prstGeom>
          <a:solidFill>
            <a:srgbClr val="F3F5F8"/>
          </a:solidFill>
          <a:ln w="6350">
            <a:solidFill>
              <a:srgbClr val="D5DBE3"/>
            </a:solidFill>
            <a:prstDash val="solid"/>
          </a:ln>
        </p:spPr>
      </p:sp>
      <p:sp>
        <p:nvSpPr>
          <p:cNvPr id="36" name="Text 33"/>
          <p:cNvSpPr txBox="1"/>
          <p:nvPr/>
        </p:nvSpPr>
        <p:spPr>
          <a:xfrm>
            <a:off x="8321040" y="2834640"/>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logits (no activation)</a:t>
            </a:r>
            <a:endParaRPr lang="en-US" sz="1500" dirty="0"/>
          </a:p>
        </p:txBody>
      </p:sp>
      <p:sp>
        <p:nvSpPr>
          <p:cNvPr id="37" name="Shape 34"/>
          <p:cNvSpPr/>
          <p:nvPr/>
        </p:nvSpPr>
        <p:spPr>
          <a:xfrm>
            <a:off x="548640" y="3346704"/>
            <a:ext cx="2103120" cy="512064"/>
          </a:xfrm>
          <a:prstGeom prst="rect">
            <a:avLst/>
          </a:prstGeom>
          <a:solidFill>
            <a:srgbClr val="FFFFFF"/>
          </a:solidFill>
          <a:ln w="6350">
            <a:solidFill>
              <a:srgbClr val="D5DBE3"/>
            </a:solidFill>
            <a:prstDash val="solid"/>
          </a:ln>
        </p:spPr>
      </p:sp>
      <p:sp>
        <p:nvSpPr>
          <p:cNvPr id="38" name="Text 35"/>
          <p:cNvSpPr txBox="1"/>
          <p:nvPr/>
        </p:nvSpPr>
        <p:spPr>
          <a:xfrm>
            <a:off x="685800" y="3346704"/>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n</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39" name="Shape 36"/>
          <p:cNvSpPr/>
          <p:nvPr/>
        </p:nvSpPr>
        <p:spPr>
          <a:xfrm>
            <a:off x="2651760" y="3346704"/>
            <a:ext cx="3429000" cy="512064"/>
          </a:xfrm>
          <a:prstGeom prst="rect">
            <a:avLst/>
          </a:prstGeom>
          <a:solidFill>
            <a:srgbClr val="FFFFFF"/>
          </a:solidFill>
          <a:ln w="6350">
            <a:solidFill>
              <a:srgbClr val="D5DBE3"/>
            </a:solidFill>
            <a:prstDash val="solid"/>
          </a:ln>
        </p:spPr>
      </p:sp>
      <p:sp>
        <p:nvSpPr>
          <p:cNvPr id="40" name="Text 37"/>
          <p:cNvSpPr txBox="1"/>
          <p:nvPr/>
        </p:nvSpPr>
        <p:spPr>
          <a:xfrm>
            <a:off x="2788920" y="3346704"/>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units in layer ℓ</a:t>
            </a:r>
            <a:endParaRPr lang="en-US" sz="1500" dirty="0"/>
          </a:p>
        </p:txBody>
      </p:sp>
      <p:sp>
        <p:nvSpPr>
          <p:cNvPr id="41" name="Shape 38"/>
          <p:cNvSpPr/>
          <p:nvPr/>
        </p:nvSpPr>
        <p:spPr>
          <a:xfrm>
            <a:off x="6080760" y="3346704"/>
            <a:ext cx="2103120" cy="512064"/>
          </a:xfrm>
          <a:prstGeom prst="rect">
            <a:avLst/>
          </a:prstGeom>
          <a:solidFill>
            <a:srgbClr val="FFFFFF"/>
          </a:solidFill>
          <a:ln w="6350">
            <a:solidFill>
              <a:srgbClr val="D5DBE3"/>
            </a:solidFill>
            <a:prstDash val="solid"/>
          </a:ln>
        </p:spPr>
      </p:sp>
      <p:sp>
        <p:nvSpPr>
          <p:cNvPr id="42" name="Text 39"/>
          <p:cNvSpPr txBox="1"/>
          <p:nvPr/>
        </p:nvSpPr>
        <p:spPr>
          <a:xfrm>
            <a:off x="6217920" y="3346704"/>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g, g′</a:t>
            </a:r>
            <a:endParaRPr lang="en-US" sz="1500" dirty="0"/>
          </a:p>
        </p:txBody>
      </p:sp>
      <p:sp>
        <p:nvSpPr>
          <p:cNvPr id="43" name="Shape 40"/>
          <p:cNvSpPr/>
          <p:nvPr/>
        </p:nvSpPr>
        <p:spPr>
          <a:xfrm>
            <a:off x="8183880" y="3346704"/>
            <a:ext cx="3456432" cy="512064"/>
          </a:xfrm>
          <a:prstGeom prst="rect">
            <a:avLst/>
          </a:prstGeom>
          <a:solidFill>
            <a:srgbClr val="FFFFFF"/>
          </a:solidFill>
          <a:ln w="6350">
            <a:solidFill>
              <a:srgbClr val="D5DBE3"/>
            </a:solidFill>
            <a:prstDash val="solid"/>
          </a:ln>
        </p:spPr>
      </p:sp>
      <p:sp>
        <p:nvSpPr>
          <p:cNvPr id="44" name="Text 41"/>
          <p:cNvSpPr txBox="1"/>
          <p:nvPr/>
        </p:nvSpPr>
        <p:spPr>
          <a:xfrm>
            <a:off x="8321040" y="3346704"/>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activation, its derivative</a:t>
            </a:r>
            <a:endParaRPr lang="en-US" sz="1500" dirty="0"/>
          </a:p>
        </p:txBody>
      </p:sp>
      <p:sp>
        <p:nvSpPr>
          <p:cNvPr id="45" name="Shape 42"/>
          <p:cNvSpPr/>
          <p:nvPr/>
        </p:nvSpPr>
        <p:spPr>
          <a:xfrm>
            <a:off x="548640" y="3858768"/>
            <a:ext cx="2103120" cy="512064"/>
          </a:xfrm>
          <a:prstGeom prst="rect">
            <a:avLst/>
          </a:prstGeom>
          <a:solidFill>
            <a:srgbClr val="F3F5F8"/>
          </a:solidFill>
          <a:ln w="6350">
            <a:solidFill>
              <a:srgbClr val="D5DBE3"/>
            </a:solidFill>
            <a:prstDash val="solid"/>
          </a:ln>
        </p:spPr>
      </p:sp>
      <p:sp>
        <p:nvSpPr>
          <p:cNvPr id="46" name="Text 43"/>
          <p:cNvSpPr txBox="1"/>
          <p:nvPr/>
        </p:nvSpPr>
        <p:spPr>
          <a:xfrm>
            <a:off x="685800" y="3858768"/>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B</a:t>
            </a:r>
            <a:endParaRPr lang="en-US" sz="1500" dirty="0"/>
          </a:p>
        </p:txBody>
      </p:sp>
      <p:sp>
        <p:nvSpPr>
          <p:cNvPr id="47" name="Shape 44"/>
          <p:cNvSpPr/>
          <p:nvPr/>
        </p:nvSpPr>
        <p:spPr>
          <a:xfrm>
            <a:off x="2651760" y="3858768"/>
            <a:ext cx="3429000" cy="512064"/>
          </a:xfrm>
          <a:prstGeom prst="rect">
            <a:avLst/>
          </a:prstGeom>
          <a:solidFill>
            <a:srgbClr val="F3F5F8"/>
          </a:solidFill>
          <a:ln w="6350">
            <a:solidFill>
              <a:srgbClr val="D5DBE3"/>
            </a:solidFill>
            <a:prstDash val="solid"/>
          </a:ln>
        </p:spPr>
      </p:sp>
      <p:sp>
        <p:nvSpPr>
          <p:cNvPr id="48" name="Text 45"/>
          <p:cNvSpPr txBox="1"/>
          <p:nvPr/>
        </p:nvSpPr>
        <p:spPr>
          <a:xfrm>
            <a:off x="2788920" y="3858768"/>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mini-batch size</a:t>
            </a:r>
            <a:endParaRPr lang="en-US" sz="1500" dirty="0"/>
          </a:p>
        </p:txBody>
      </p:sp>
      <p:sp>
        <p:nvSpPr>
          <p:cNvPr id="49" name="Shape 46"/>
          <p:cNvSpPr/>
          <p:nvPr/>
        </p:nvSpPr>
        <p:spPr>
          <a:xfrm>
            <a:off x="6080760" y="3858768"/>
            <a:ext cx="2103120" cy="512064"/>
          </a:xfrm>
          <a:prstGeom prst="rect">
            <a:avLst/>
          </a:prstGeom>
          <a:solidFill>
            <a:srgbClr val="F3F5F8"/>
          </a:solidFill>
          <a:ln w="6350">
            <a:solidFill>
              <a:srgbClr val="D5DBE3"/>
            </a:solidFill>
            <a:prstDash val="solid"/>
          </a:ln>
        </p:spPr>
      </p:sp>
      <p:sp>
        <p:nvSpPr>
          <p:cNvPr id="50" name="Text 47"/>
          <p:cNvSpPr txBox="1"/>
          <p:nvPr/>
        </p:nvSpPr>
        <p:spPr>
          <a:xfrm>
            <a:off x="6217920" y="3858768"/>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p</a:t>
            </a:r>
            <a:endParaRPr lang="en-US" sz="1500" dirty="0"/>
          </a:p>
        </p:txBody>
      </p:sp>
      <p:sp>
        <p:nvSpPr>
          <p:cNvPr id="51" name="Shape 48"/>
          <p:cNvSpPr/>
          <p:nvPr/>
        </p:nvSpPr>
        <p:spPr>
          <a:xfrm>
            <a:off x="8183880" y="3858768"/>
            <a:ext cx="3456432" cy="512064"/>
          </a:xfrm>
          <a:prstGeom prst="rect">
            <a:avLst/>
          </a:prstGeom>
          <a:solidFill>
            <a:srgbClr val="F3F5F8"/>
          </a:solidFill>
          <a:ln w="6350">
            <a:solidFill>
              <a:srgbClr val="D5DBE3"/>
            </a:solidFill>
            <a:prstDash val="solid"/>
          </a:ln>
        </p:spPr>
      </p:sp>
      <p:sp>
        <p:nvSpPr>
          <p:cNvPr id="52" name="Text 49"/>
          <p:cNvSpPr txBox="1"/>
          <p:nvPr/>
        </p:nvSpPr>
        <p:spPr>
          <a:xfrm>
            <a:off x="8321040" y="3858768"/>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softmax probabilities</a:t>
            </a:r>
            <a:endParaRPr lang="en-US" sz="1500" dirty="0"/>
          </a:p>
        </p:txBody>
      </p:sp>
      <p:sp>
        <p:nvSpPr>
          <p:cNvPr id="53" name="Shape 50"/>
          <p:cNvSpPr/>
          <p:nvPr/>
        </p:nvSpPr>
        <p:spPr>
          <a:xfrm>
            <a:off x="548640" y="4370832"/>
            <a:ext cx="2103120" cy="512064"/>
          </a:xfrm>
          <a:prstGeom prst="rect">
            <a:avLst/>
          </a:prstGeom>
          <a:solidFill>
            <a:srgbClr val="FFFFFF"/>
          </a:solidFill>
          <a:ln w="6350">
            <a:solidFill>
              <a:srgbClr val="D5DBE3"/>
            </a:solidFill>
            <a:prstDash val="solid"/>
          </a:ln>
        </p:spPr>
      </p:sp>
      <p:sp>
        <p:nvSpPr>
          <p:cNvPr id="54" name="Text 51"/>
          <p:cNvSpPr txBox="1"/>
          <p:nvPr/>
        </p:nvSpPr>
        <p:spPr>
          <a:xfrm>
            <a:off x="685800" y="4370832"/>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η</a:t>
            </a:r>
            <a:endParaRPr lang="en-US" sz="1500" dirty="0"/>
          </a:p>
        </p:txBody>
      </p:sp>
      <p:sp>
        <p:nvSpPr>
          <p:cNvPr id="55" name="Shape 52"/>
          <p:cNvSpPr/>
          <p:nvPr/>
        </p:nvSpPr>
        <p:spPr>
          <a:xfrm>
            <a:off x="2651760" y="4370832"/>
            <a:ext cx="3429000" cy="512064"/>
          </a:xfrm>
          <a:prstGeom prst="rect">
            <a:avLst/>
          </a:prstGeom>
          <a:solidFill>
            <a:srgbClr val="FFFFFF"/>
          </a:solidFill>
          <a:ln w="6350">
            <a:solidFill>
              <a:srgbClr val="D5DBE3"/>
            </a:solidFill>
            <a:prstDash val="solid"/>
          </a:ln>
        </p:spPr>
      </p:sp>
      <p:sp>
        <p:nvSpPr>
          <p:cNvPr id="56" name="Text 53"/>
          <p:cNvSpPr txBox="1"/>
          <p:nvPr/>
        </p:nvSpPr>
        <p:spPr>
          <a:xfrm>
            <a:off x="2788920" y="4370832"/>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learning rate</a:t>
            </a:r>
            <a:endParaRPr lang="en-US" sz="1500" dirty="0"/>
          </a:p>
        </p:txBody>
      </p:sp>
      <p:sp>
        <p:nvSpPr>
          <p:cNvPr id="57" name="Shape 54"/>
          <p:cNvSpPr/>
          <p:nvPr/>
        </p:nvSpPr>
        <p:spPr>
          <a:xfrm>
            <a:off x="6080760" y="4370832"/>
            <a:ext cx="2103120" cy="512064"/>
          </a:xfrm>
          <a:prstGeom prst="rect">
            <a:avLst/>
          </a:prstGeom>
          <a:solidFill>
            <a:srgbClr val="FFFFFF"/>
          </a:solidFill>
          <a:ln w="6350">
            <a:solidFill>
              <a:srgbClr val="D5DBE3"/>
            </a:solidFill>
            <a:prstDash val="solid"/>
          </a:ln>
        </p:spPr>
      </p:sp>
      <p:sp>
        <p:nvSpPr>
          <p:cNvPr id="58" name="Text 55"/>
          <p:cNvSpPr txBox="1"/>
          <p:nvPr/>
        </p:nvSpPr>
        <p:spPr>
          <a:xfrm>
            <a:off x="6217920" y="4370832"/>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δ</a:t>
            </a:r>
            <a:pPr algn="l" indent="0" marL="0">
              <a:lnSpc>
                <a:spcPct val="100000"/>
              </a:lnSpc>
              <a:buNone/>
            </a:pPr>
            <a:r>
              <a:rPr lang="en-US" sz="1500" b="1"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59" name="Shape 56"/>
          <p:cNvSpPr/>
          <p:nvPr/>
        </p:nvSpPr>
        <p:spPr>
          <a:xfrm>
            <a:off x="8183880" y="4370832"/>
            <a:ext cx="3456432" cy="512064"/>
          </a:xfrm>
          <a:prstGeom prst="rect">
            <a:avLst/>
          </a:prstGeom>
          <a:solidFill>
            <a:srgbClr val="FFFFFF"/>
          </a:solidFill>
          <a:ln w="6350">
            <a:solidFill>
              <a:srgbClr val="D5DBE3"/>
            </a:solidFill>
            <a:prstDash val="solid"/>
          </a:ln>
        </p:spPr>
      </p:sp>
      <p:sp>
        <p:nvSpPr>
          <p:cNvPr id="60" name="Text 57"/>
          <p:cNvSpPr txBox="1"/>
          <p:nvPr/>
        </p:nvSpPr>
        <p:spPr>
          <a:xfrm>
            <a:off x="8321040" y="4370832"/>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error signal ∂L/∂z</a:t>
            </a:r>
            <a:pPr algn="l" indent="0" marL="0">
              <a:lnSpc>
                <a:spcPct val="100000"/>
              </a:lnSpc>
              <a:buNone/>
            </a:pPr>
            <a:r>
              <a:rPr lang="en-US" sz="1500" baseline="30000" dirty="0">
                <a:solidFill>
                  <a:srgbClr val="16202E"/>
                </a:solidFill>
                <a:latin typeface="Calibri" pitchFamily="34" charset="0"/>
                <a:ea typeface="Calibri" pitchFamily="34" charset="-122"/>
                <a:cs typeface="Calibri" pitchFamily="34" charset="-120"/>
              </a:rPr>
              <a:t>[ℓ]</a:t>
            </a:r>
            <a:endParaRPr lang="en-US" sz="1500" dirty="0"/>
          </a:p>
        </p:txBody>
      </p:sp>
      <p:sp>
        <p:nvSpPr>
          <p:cNvPr id="61" name="Shape 58"/>
          <p:cNvSpPr/>
          <p:nvPr/>
        </p:nvSpPr>
        <p:spPr>
          <a:xfrm>
            <a:off x="548640" y="4882896"/>
            <a:ext cx="2103120" cy="512064"/>
          </a:xfrm>
          <a:prstGeom prst="rect">
            <a:avLst/>
          </a:prstGeom>
          <a:solidFill>
            <a:srgbClr val="F3F5F8"/>
          </a:solidFill>
          <a:ln w="6350">
            <a:solidFill>
              <a:srgbClr val="D5DBE3"/>
            </a:solidFill>
            <a:prstDash val="solid"/>
          </a:ln>
        </p:spPr>
      </p:sp>
      <p:sp>
        <p:nvSpPr>
          <p:cNvPr id="62" name="Text 59"/>
          <p:cNvSpPr txBox="1"/>
          <p:nvPr/>
        </p:nvSpPr>
        <p:spPr>
          <a:xfrm>
            <a:off x="685800" y="4882896"/>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L, J</a:t>
            </a:r>
            <a:endParaRPr lang="en-US" sz="1500" dirty="0"/>
          </a:p>
        </p:txBody>
      </p:sp>
      <p:sp>
        <p:nvSpPr>
          <p:cNvPr id="63" name="Shape 60"/>
          <p:cNvSpPr/>
          <p:nvPr/>
        </p:nvSpPr>
        <p:spPr>
          <a:xfrm>
            <a:off x="2651760" y="4882896"/>
            <a:ext cx="3429000" cy="512064"/>
          </a:xfrm>
          <a:prstGeom prst="rect">
            <a:avLst/>
          </a:prstGeom>
          <a:solidFill>
            <a:srgbClr val="F3F5F8"/>
          </a:solidFill>
          <a:ln w="6350">
            <a:solidFill>
              <a:srgbClr val="D5DBE3"/>
            </a:solidFill>
            <a:prstDash val="solid"/>
          </a:ln>
        </p:spPr>
      </p:sp>
      <p:sp>
        <p:nvSpPr>
          <p:cNvPr id="64" name="Text 61"/>
          <p:cNvSpPr txBox="1"/>
          <p:nvPr/>
        </p:nvSpPr>
        <p:spPr>
          <a:xfrm>
            <a:off x="2788920" y="4882896"/>
            <a:ext cx="3246120"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loss of one example; mean loss</a:t>
            </a:r>
            <a:endParaRPr lang="en-US" sz="1500" dirty="0"/>
          </a:p>
        </p:txBody>
      </p:sp>
      <p:sp>
        <p:nvSpPr>
          <p:cNvPr id="65" name="Shape 62"/>
          <p:cNvSpPr/>
          <p:nvPr/>
        </p:nvSpPr>
        <p:spPr>
          <a:xfrm>
            <a:off x="6080760" y="4882896"/>
            <a:ext cx="2103120" cy="512064"/>
          </a:xfrm>
          <a:prstGeom prst="rect">
            <a:avLst/>
          </a:prstGeom>
          <a:solidFill>
            <a:srgbClr val="F3F5F8"/>
          </a:solidFill>
          <a:ln w="6350">
            <a:solidFill>
              <a:srgbClr val="D5DBE3"/>
            </a:solidFill>
            <a:prstDash val="solid"/>
          </a:ln>
        </p:spPr>
      </p:sp>
      <p:sp>
        <p:nvSpPr>
          <p:cNvPr id="66" name="Text 63"/>
          <p:cNvSpPr txBox="1"/>
          <p:nvPr/>
        </p:nvSpPr>
        <p:spPr>
          <a:xfrm>
            <a:off x="6217920" y="4882896"/>
            <a:ext cx="1920240" cy="512064"/>
          </a:xfrm>
          <a:prstGeom prst="rect">
            <a:avLst/>
          </a:prstGeom>
          <a:noFill/>
          <a:ln/>
        </p:spPr>
        <p:txBody>
          <a:bodyPr wrap="square" lIns="0" tIns="0" rIns="0" bIns="0" rtlCol="0" anchor="ctr"/>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a:t>
            </a:r>
            <a:endParaRPr lang="en-US" sz="1500" dirty="0"/>
          </a:p>
        </p:txBody>
      </p:sp>
      <p:sp>
        <p:nvSpPr>
          <p:cNvPr id="67" name="Shape 64"/>
          <p:cNvSpPr/>
          <p:nvPr/>
        </p:nvSpPr>
        <p:spPr>
          <a:xfrm>
            <a:off x="8183880" y="4882896"/>
            <a:ext cx="3456432" cy="512064"/>
          </a:xfrm>
          <a:prstGeom prst="rect">
            <a:avLst/>
          </a:prstGeom>
          <a:solidFill>
            <a:srgbClr val="F3F5F8"/>
          </a:solidFill>
          <a:ln w="6350">
            <a:solidFill>
              <a:srgbClr val="D5DBE3"/>
            </a:solidFill>
            <a:prstDash val="solid"/>
          </a:ln>
        </p:spPr>
      </p:sp>
      <p:sp>
        <p:nvSpPr>
          <p:cNvPr id="68" name="Text 65"/>
          <p:cNvSpPr txBox="1"/>
          <p:nvPr/>
        </p:nvSpPr>
        <p:spPr>
          <a:xfrm>
            <a:off x="8321040" y="4882896"/>
            <a:ext cx="3273552" cy="512064"/>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elementwise product</a:t>
            </a:r>
            <a:endParaRPr lang="en-US" sz="1500" dirty="0"/>
          </a:p>
        </p:txBody>
      </p:sp>
      <p:sp>
        <p:nvSpPr>
          <p:cNvPr id="69" name="Text 66"/>
          <p:cNvSpPr txBox="1"/>
          <p:nvPr/>
        </p:nvSpPr>
        <p:spPr>
          <a:xfrm>
            <a:off x="548640" y="5577840"/>
            <a:ext cx="11094415" cy="45720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Derivations: one example is a column vector, z = W a + b. Code: a batch stores examples as rows, Z = A W</a:t>
            </a:r>
            <a:pPr algn="l" indent="0" marL="0">
              <a:lnSpc>
                <a:spcPct val="100000"/>
              </a:lnSpc>
              <a:buNone/>
            </a:pPr>
            <a:r>
              <a:rPr lang="en-US" sz="1500" baseline="30000" dirty="0">
                <a:solidFill>
                  <a:srgbClr val="5B6675"/>
                </a:solidFill>
                <a:latin typeface="Calibri" pitchFamily="34" charset="0"/>
                <a:ea typeface="Calibri" pitchFamily="34" charset="-122"/>
                <a:cs typeface="Calibri" pitchFamily="34" charset="-120"/>
              </a:rPr>
              <a:t>T</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 + b</a:t>
            </a:r>
            <a:pPr algn="l" indent="0" marL="0">
              <a:lnSpc>
                <a:spcPct val="100000"/>
              </a:lnSpc>
              <a:buNone/>
            </a:pPr>
            <a:r>
              <a:rPr lang="en-US" sz="1500" baseline="30000" dirty="0">
                <a:solidFill>
                  <a:srgbClr val="5B6675"/>
                </a:solidFill>
                <a:latin typeface="Calibri" pitchFamily="34" charset="0"/>
                <a:ea typeface="Calibri" pitchFamily="34" charset="-122"/>
                <a:cs typeface="Calibri" pitchFamily="34" charset="-120"/>
              </a:rPr>
              <a:t>T</a:t>
            </a:r>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A3 · SOFTMAX + CROSS-ENTROPY</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Why the output error is simply p − y</a:t>
            </a:r>
            <a:endParaRPr lang="en-US" sz="2700" dirty="0"/>
          </a:p>
        </p:txBody>
      </p:sp>
      <p:sp>
        <p:nvSpPr>
          <p:cNvPr id="5" name="Shape 2"/>
          <p:cNvSpPr/>
          <p:nvPr/>
        </p:nvSpPr>
        <p:spPr>
          <a:xfrm>
            <a:off x="548640" y="1371600"/>
            <a:ext cx="11094415" cy="3154680"/>
          </a:xfrm>
          <a:prstGeom prst="roundRect">
            <a:avLst>
              <a:gd name="adj" fmla="val 2319"/>
            </a:avLst>
          </a:prstGeom>
          <a:solidFill>
            <a:srgbClr val="F3F5F8"/>
          </a:solidFill>
          <a:ln/>
        </p:spPr>
      </p:sp>
      <p:sp>
        <p:nvSpPr>
          <p:cNvPr id="6" name="Text 3"/>
          <p:cNvSpPr txBox="1"/>
          <p:nvPr/>
        </p:nvSpPr>
        <p:spPr>
          <a:xfrm>
            <a:off x="822960" y="1481328"/>
            <a:ext cx="548640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1. Write the loss in terms of logits</a:t>
            </a:r>
            <a:endParaRPr lang="en-US" sz="1500" dirty="0"/>
          </a:p>
        </p:txBody>
      </p:sp>
      <p:pic>
        <p:nvPicPr>
          <p:cNvPr id="7" name="Image 0" descr="equation smce1">    </p:cNvPr>
          <p:cNvPicPr>
            <a:picLocks noChangeAspect="1"/>
          </p:cNvPicPr>
          <p:nvPr/>
        </p:nvPicPr>
        <p:blipFill>
          <a:blip r:embed="rId1"/>
          <a:stretch>
            <a:fillRect/>
          </a:stretch>
        </p:blipFill>
        <p:spPr>
          <a:xfrm>
            <a:off x="914400" y="1828800"/>
            <a:ext cx="3327044" cy="343129"/>
          </a:xfrm>
          <a:prstGeom prst="rect">
            <a:avLst/>
          </a:prstGeom>
        </p:spPr>
      </p:pic>
      <p:sp>
        <p:nvSpPr>
          <p:cNvPr id="8" name="Text 4"/>
          <p:cNvSpPr txBox="1"/>
          <p:nvPr/>
        </p:nvSpPr>
        <p:spPr>
          <a:xfrm>
            <a:off x="822960" y="2395728"/>
            <a:ext cx="548640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2. Differentiate with respect to each logit z</a:t>
            </a:r>
            <a:pPr algn="l" indent="0" marL="0">
              <a:lnSpc>
                <a:spcPct val="100000"/>
              </a:lnSpc>
              <a:buNone/>
            </a:pPr>
            <a:r>
              <a:rPr lang="en-US" sz="1500" b="1" baseline="-40000" dirty="0">
                <a:solidFill>
                  <a:srgbClr val="16202E"/>
                </a:solidFill>
                <a:latin typeface="Calibri" pitchFamily="34" charset="0"/>
                <a:ea typeface="Calibri" pitchFamily="34" charset="-122"/>
                <a:cs typeface="Calibri" pitchFamily="34" charset="-120"/>
              </a:rPr>
              <a:t>k</a:t>
            </a:r>
            <a:endParaRPr lang="en-US" sz="1500" dirty="0"/>
          </a:p>
        </p:txBody>
      </p:sp>
      <p:pic>
        <p:nvPicPr>
          <p:cNvPr id="9" name="Image 1" descr="equation smce2">    </p:cNvPr>
          <p:cNvPicPr>
            <a:picLocks noChangeAspect="1"/>
          </p:cNvPicPr>
          <p:nvPr/>
        </p:nvPicPr>
        <p:blipFill>
          <a:blip r:embed="rId2"/>
          <a:stretch>
            <a:fillRect/>
          </a:stretch>
        </p:blipFill>
        <p:spPr>
          <a:xfrm>
            <a:off x="914400" y="2743200"/>
            <a:ext cx="4460672" cy="661065"/>
          </a:xfrm>
          <a:prstGeom prst="rect">
            <a:avLst/>
          </a:prstGeom>
        </p:spPr>
      </p:pic>
      <p:sp>
        <p:nvSpPr>
          <p:cNvPr id="10" name="Text 5"/>
          <p:cNvSpPr txBox="1"/>
          <p:nvPr/>
        </p:nvSpPr>
        <p:spPr>
          <a:xfrm>
            <a:off x="822960" y="3520440"/>
            <a:ext cx="548640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3. As a vector</a:t>
            </a:r>
            <a:endParaRPr lang="en-US" sz="1500" dirty="0"/>
          </a:p>
        </p:txBody>
      </p:sp>
      <p:pic>
        <p:nvPicPr>
          <p:cNvPr id="11" name="Image 2" descr="equation smce3">    </p:cNvPr>
          <p:cNvPicPr>
            <a:picLocks noChangeAspect="1"/>
          </p:cNvPicPr>
          <p:nvPr/>
        </p:nvPicPr>
        <p:blipFill>
          <a:blip r:embed="rId3"/>
          <a:stretch>
            <a:fillRect/>
          </a:stretch>
        </p:blipFill>
        <p:spPr>
          <a:xfrm>
            <a:off x="914400" y="3886200"/>
            <a:ext cx="4309521" cy="284927"/>
          </a:xfrm>
          <a:prstGeom prst="rect">
            <a:avLst/>
          </a:prstGeom>
        </p:spPr>
      </p:pic>
      <p:sp>
        <p:nvSpPr>
          <p:cNvPr id="12" name="Shape 6"/>
          <p:cNvSpPr/>
          <p:nvPr/>
        </p:nvSpPr>
        <p:spPr>
          <a:xfrm>
            <a:off x="548640" y="4709160"/>
            <a:ext cx="11094415" cy="1417320"/>
          </a:xfrm>
          <a:prstGeom prst="roundRect">
            <a:avLst>
              <a:gd name="adj" fmla="val 5161"/>
            </a:avLst>
          </a:prstGeom>
          <a:solidFill>
            <a:srgbClr val="E3F2F1"/>
          </a:solidFill>
          <a:ln/>
        </p:spPr>
      </p:sp>
      <p:sp>
        <p:nvSpPr>
          <p:cNvPr id="13" name="Text 7"/>
          <p:cNvSpPr txBox="1"/>
          <p:nvPr/>
        </p:nvSpPr>
        <p:spPr>
          <a:xfrm>
            <a:off x="822960" y="4818888"/>
            <a:ext cx="73152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NUMERICALLY STABLE: THE LOG-SUM-EXP TRICK</a:t>
            </a:r>
            <a:endParaRPr lang="en-US" sz="1100" dirty="0"/>
          </a:p>
        </p:txBody>
      </p:sp>
      <p:pic>
        <p:nvPicPr>
          <p:cNvPr id="14" name="Image 3" descr="equation lse">    </p:cNvPr>
          <p:cNvPicPr>
            <a:picLocks noChangeAspect="1"/>
          </p:cNvPicPr>
          <p:nvPr/>
        </p:nvPicPr>
        <p:blipFill>
          <a:blip r:embed="rId4"/>
          <a:stretch>
            <a:fillRect/>
          </a:stretch>
        </p:blipFill>
        <p:spPr>
          <a:xfrm>
            <a:off x="914400" y="5166360"/>
            <a:ext cx="4655256" cy="327492"/>
          </a:xfrm>
          <a:prstGeom prst="rect">
            <a:avLst/>
          </a:prstGeom>
        </p:spPr>
      </p:pic>
      <p:sp>
        <p:nvSpPr>
          <p:cNvPr id="15" name="Text 8"/>
          <p:cNvSpPr txBox="1"/>
          <p:nvPr/>
        </p:nvSpPr>
        <p:spPr>
          <a:xfrm>
            <a:off x="7315200" y="5074920"/>
            <a:ext cx="4114800" cy="914400"/>
          </a:xfrm>
          <a:prstGeom prst="rect">
            <a:avLst/>
          </a:prstGeom>
          <a:noFill/>
          <a:ln/>
        </p:spPr>
        <p:txBody>
          <a:bodyPr wrap="square" lIns="0" tIns="0" rIns="0" bIns="0" rtlCol="0" anchor="ctr"/>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No overflow: every exponent is ≤ 0. This is why the loss should get the logits.</a:t>
            </a:r>
            <a:endParaRPr lang="en-US" sz="15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A4 · EXPRESSIVE POWER</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Universal approximation, stated honestly</a:t>
            </a:r>
            <a:endParaRPr lang="en-US" sz="2700" dirty="0"/>
          </a:p>
        </p:txBody>
      </p:sp>
      <p:pic>
        <p:nvPicPr>
          <p:cNvPr id="5" name="Image 0" descr="A continuous function approximated by 3, 6 and 24 ReLU units">    </p:cNvPr>
          <p:cNvPicPr>
            <a:picLocks noChangeAspect="1"/>
          </p:cNvPicPr>
          <p:nvPr/>
        </p:nvPicPr>
        <p:blipFill>
          <a:blip r:embed="rId1"/>
          <a:stretch>
            <a:fillRect/>
          </a:stretch>
        </p:blipFill>
        <p:spPr>
          <a:xfrm>
            <a:off x="2117403" y="1325880"/>
            <a:ext cx="7956890" cy="2377440"/>
          </a:xfrm>
          <a:prstGeom prst="rect">
            <a:avLst/>
          </a:prstGeom>
        </p:spPr>
      </p:pic>
      <p:sp>
        <p:nvSpPr>
          <p:cNvPr id="6" name="Shape 2"/>
          <p:cNvSpPr/>
          <p:nvPr/>
        </p:nvSpPr>
        <p:spPr>
          <a:xfrm>
            <a:off x="548640" y="3886200"/>
            <a:ext cx="5120640" cy="2240280"/>
          </a:xfrm>
          <a:prstGeom prst="roundRect">
            <a:avLst>
              <a:gd name="adj" fmla="val 3265"/>
            </a:avLst>
          </a:prstGeom>
          <a:solidFill>
            <a:srgbClr val="E3F2F1"/>
          </a:solidFill>
          <a:ln/>
        </p:spPr>
      </p:sp>
      <p:sp>
        <p:nvSpPr>
          <p:cNvPr id="7" name="Text 3"/>
          <p:cNvSpPr txBox="1"/>
          <p:nvPr/>
        </p:nvSpPr>
        <p:spPr>
          <a:xfrm>
            <a:off x="777240" y="3995928"/>
            <a:ext cx="45720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THEOREM (INFORMAL)</a:t>
            </a:r>
            <a:endParaRPr lang="en-US" sz="1100" dirty="0"/>
          </a:p>
        </p:txBody>
      </p:sp>
      <p:sp>
        <p:nvSpPr>
          <p:cNvPr id="8" name="Text 4"/>
          <p:cNvSpPr txBox="1"/>
          <p:nvPr/>
        </p:nvSpPr>
        <p:spPr>
          <a:xfrm>
            <a:off x="777240" y="4297680"/>
            <a:ext cx="4663440" cy="1005840"/>
          </a:xfrm>
          <a:prstGeom prst="rect">
            <a:avLst/>
          </a:prstGeom>
          <a:noFill/>
          <a:ln/>
        </p:spPr>
        <p:txBody>
          <a:bodyPr wrap="square" lIns="0" tIns="0" rIns="0" bIns="0" rtlCol="0" anchor="t"/>
          <a:lstStyle/>
          <a:p>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For any continuous f on a compact set K and any ε &gt; 0, a network with </a:t>
            </a:r>
            <a:pPr algn="l" indent="0" marL="0">
              <a:lnSpc>
                <a:spcPct val="100000"/>
              </a:lnSpc>
              <a:buNone/>
            </a:pPr>
            <a:r>
              <a:rPr lang="en-US" sz="1450" b="1" dirty="0">
                <a:solidFill>
                  <a:srgbClr val="16202E"/>
                </a:solidFill>
                <a:latin typeface="Calibri" pitchFamily="34" charset="0"/>
                <a:ea typeface="Calibri" pitchFamily="34" charset="-122"/>
                <a:cs typeface="Calibri" pitchFamily="34" charset="-120"/>
              </a:rPr>
              <a:t>one hidden layer</a:t>
            </a:r>
            <a:pPr algn="l" indent="0" marL="0">
              <a:lnSpc>
                <a:spcPct val="100000"/>
              </a:lnSpc>
              <a:buNone/>
            </a:pPr>
            <a:r>
              <a:rPr lang="en-US" sz="1450" dirty="0">
                <a:solidFill>
                  <a:srgbClr val="16202E"/>
                </a:solidFill>
                <a:latin typeface="Calibri" pitchFamily="34" charset="0"/>
                <a:ea typeface="Calibri" pitchFamily="34" charset="-122"/>
                <a:cs typeface="Calibri" pitchFamily="34" charset="-120"/>
              </a:rPr>
              <a:t> of enough non-polynomial units (ReLU, sigmoid, …) satisfies</a:t>
            </a:r>
            <a:endParaRPr lang="en-US" sz="1450" dirty="0"/>
          </a:p>
        </p:txBody>
      </p:sp>
      <p:pic>
        <p:nvPicPr>
          <p:cNvPr id="9" name="Image 1" descr="equation uat">    </p:cNvPr>
          <p:cNvPicPr>
            <a:picLocks noChangeAspect="1"/>
          </p:cNvPicPr>
          <p:nvPr/>
        </p:nvPicPr>
        <p:blipFill>
          <a:blip r:embed="rId2"/>
          <a:stretch>
            <a:fillRect/>
          </a:stretch>
        </p:blipFill>
        <p:spPr>
          <a:xfrm>
            <a:off x="914400" y="5394960"/>
            <a:ext cx="2571750" cy="334945"/>
          </a:xfrm>
          <a:prstGeom prst="rect">
            <a:avLst/>
          </a:prstGeom>
        </p:spPr>
      </p:pic>
      <p:sp>
        <p:nvSpPr>
          <p:cNvPr id="10" name="Shape 5"/>
          <p:cNvSpPr/>
          <p:nvPr/>
        </p:nvSpPr>
        <p:spPr>
          <a:xfrm>
            <a:off x="5852160" y="3886200"/>
            <a:ext cx="2834640" cy="1051560"/>
          </a:xfrm>
          <a:prstGeom prst="roundRect">
            <a:avLst>
              <a:gd name="adj" fmla="val 6957"/>
            </a:avLst>
          </a:prstGeom>
          <a:solidFill>
            <a:srgbClr val="F3F5F8"/>
          </a:solidFill>
          <a:ln/>
        </p:spPr>
      </p:sp>
      <p:sp>
        <p:nvSpPr>
          <p:cNvPr id="11" name="Text 6"/>
          <p:cNvSpPr txBox="1"/>
          <p:nvPr/>
        </p:nvSpPr>
        <p:spPr>
          <a:xfrm>
            <a:off x="6035040" y="3977640"/>
            <a:ext cx="256032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Not “any function”</a:t>
            </a:r>
            <a:endParaRPr lang="en-US" sz="1500" dirty="0"/>
          </a:p>
        </p:txBody>
      </p:sp>
      <p:sp>
        <p:nvSpPr>
          <p:cNvPr id="12" name="Text 7"/>
          <p:cNvSpPr txBox="1"/>
          <p:nvPr/>
        </p:nvSpPr>
        <p:spPr>
          <a:xfrm>
            <a:off x="6035040" y="4325112"/>
            <a:ext cx="2560320" cy="5486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Continuous, on a bounded region.</a:t>
            </a:r>
            <a:endParaRPr lang="en-US" sz="1350" dirty="0"/>
          </a:p>
        </p:txBody>
      </p:sp>
      <p:sp>
        <p:nvSpPr>
          <p:cNvPr id="13" name="Shape 8"/>
          <p:cNvSpPr/>
          <p:nvPr/>
        </p:nvSpPr>
        <p:spPr>
          <a:xfrm>
            <a:off x="8778240" y="3886200"/>
            <a:ext cx="2834640" cy="1051560"/>
          </a:xfrm>
          <a:prstGeom prst="roundRect">
            <a:avLst>
              <a:gd name="adj" fmla="val 6957"/>
            </a:avLst>
          </a:prstGeom>
          <a:solidFill>
            <a:srgbClr val="F3F5F8"/>
          </a:solidFill>
          <a:ln/>
        </p:spPr>
      </p:sp>
      <p:sp>
        <p:nvSpPr>
          <p:cNvPr id="14" name="Text 9"/>
          <p:cNvSpPr txBox="1"/>
          <p:nvPr/>
        </p:nvSpPr>
        <p:spPr>
          <a:xfrm>
            <a:off x="8961120" y="3977640"/>
            <a:ext cx="256032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Width can be huge</a:t>
            </a:r>
            <a:endParaRPr lang="en-US" sz="1500" dirty="0"/>
          </a:p>
        </p:txBody>
      </p:sp>
      <p:sp>
        <p:nvSpPr>
          <p:cNvPr id="15" name="Text 10"/>
          <p:cNvSpPr txBox="1"/>
          <p:nvPr/>
        </p:nvSpPr>
        <p:spPr>
          <a:xfrm>
            <a:off x="8961120" y="4325112"/>
            <a:ext cx="2560320" cy="5486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Exponential in the input dimension in the worst case.</a:t>
            </a:r>
            <a:endParaRPr lang="en-US" sz="1350" dirty="0"/>
          </a:p>
        </p:txBody>
      </p:sp>
      <p:sp>
        <p:nvSpPr>
          <p:cNvPr id="16" name="Shape 11"/>
          <p:cNvSpPr/>
          <p:nvPr/>
        </p:nvSpPr>
        <p:spPr>
          <a:xfrm>
            <a:off x="5852160" y="5029200"/>
            <a:ext cx="2834640" cy="1051560"/>
          </a:xfrm>
          <a:prstGeom prst="roundRect">
            <a:avLst>
              <a:gd name="adj" fmla="val 6957"/>
            </a:avLst>
          </a:prstGeom>
          <a:solidFill>
            <a:srgbClr val="F3F5F8"/>
          </a:solidFill>
          <a:ln/>
        </p:spPr>
      </p:sp>
      <p:sp>
        <p:nvSpPr>
          <p:cNvPr id="17" name="Text 12"/>
          <p:cNvSpPr txBox="1"/>
          <p:nvPr/>
        </p:nvSpPr>
        <p:spPr>
          <a:xfrm>
            <a:off x="6035040" y="5120640"/>
            <a:ext cx="256032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Existence ≠ findable</a:t>
            </a:r>
            <a:endParaRPr lang="en-US" sz="1500" dirty="0"/>
          </a:p>
        </p:txBody>
      </p:sp>
      <p:sp>
        <p:nvSpPr>
          <p:cNvPr id="18" name="Text 13"/>
          <p:cNvSpPr txBox="1"/>
          <p:nvPr/>
        </p:nvSpPr>
        <p:spPr>
          <a:xfrm>
            <a:off x="6035040" y="5468112"/>
            <a:ext cx="2560320" cy="5486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Gradient descent may not find it.</a:t>
            </a:r>
            <a:endParaRPr lang="en-US" sz="1350" dirty="0"/>
          </a:p>
        </p:txBody>
      </p:sp>
      <p:sp>
        <p:nvSpPr>
          <p:cNvPr id="19" name="Shape 14"/>
          <p:cNvSpPr/>
          <p:nvPr/>
        </p:nvSpPr>
        <p:spPr>
          <a:xfrm>
            <a:off x="8778240" y="5029200"/>
            <a:ext cx="2834640" cy="1051560"/>
          </a:xfrm>
          <a:prstGeom prst="roundRect">
            <a:avLst>
              <a:gd name="adj" fmla="val 6957"/>
            </a:avLst>
          </a:prstGeom>
          <a:solidFill>
            <a:srgbClr val="F3F5F8"/>
          </a:solidFill>
          <a:ln/>
        </p:spPr>
      </p:sp>
      <p:sp>
        <p:nvSpPr>
          <p:cNvPr id="20" name="Text 15"/>
          <p:cNvSpPr txBox="1"/>
          <p:nvPr/>
        </p:nvSpPr>
        <p:spPr>
          <a:xfrm>
            <a:off x="8961120" y="5120640"/>
            <a:ext cx="2560320" cy="320040"/>
          </a:xfrm>
          <a:prstGeom prst="rect">
            <a:avLst/>
          </a:prstGeom>
          <a:noFill/>
          <a:ln/>
        </p:spPr>
        <p:txBody>
          <a:bodyPr wrap="square" lIns="0" tIns="0" rIns="0" bIns="0" rtlCol="0" anchor="t"/>
          <a:lstStyle/>
          <a:p>
            <a:pPr algn="l" indent="0" marL="0">
              <a:lnSpc>
                <a:spcPct val="100000"/>
              </a:lnSpc>
              <a:buNone/>
            </a:pPr>
            <a:r>
              <a:rPr lang="en-US" sz="1500" b="1" dirty="0">
                <a:solidFill>
                  <a:srgbClr val="16202E"/>
                </a:solidFill>
                <a:latin typeface="Calibri" pitchFamily="34" charset="0"/>
                <a:ea typeface="Calibri" pitchFamily="34" charset="-122"/>
                <a:cs typeface="Calibri" pitchFamily="34" charset="-120"/>
              </a:rPr>
              <a:t>Fit ≠ generalize</a:t>
            </a:r>
            <a:endParaRPr lang="en-US" sz="1500" dirty="0"/>
          </a:p>
        </p:txBody>
      </p:sp>
      <p:sp>
        <p:nvSpPr>
          <p:cNvPr id="21" name="Text 16"/>
          <p:cNvSpPr txBox="1"/>
          <p:nvPr/>
        </p:nvSpPr>
        <p:spPr>
          <a:xfrm>
            <a:off x="8961120" y="5468112"/>
            <a:ext cx="2560320" cy="548640"/>
          </a:xfrm>
          <a:prstGeom prst="rect">
            <a:avLst/>
          </a:prstGeom>
          <a:noFill/>
          <a:ln/>
        </p:spPr>
        <p:txBody>
          <a:bodyPr wrap="square" lIns="0" tIns="0" rIns="0" bIns="0" rtlCol="0" anchor="t"/>
          <a:lstStyle/>
          <a:p>
            <a:pPr algn="l" indent="0" marL="0">
              <a:lnSpc>
                <a:spcPct val="100000"/>
              </a:lnSpc>
              <a:buNone/>
            </a:pPr>
            <a:r>
              <a:rPr lang="en-US" sz="1350" dirty="0">
                <a:solidFill>
                  <a:srgbClr val="5B6675"/>
                </a:solidFill>
                <a:latin typeface="Calibri" pitchFamily="34" charset="0"/>
                <a:ea typeface="Calibri" pitchFamily="34" charset="-122"/>
                <a:cs typeface="Calibri" pitchFamily="34" charset="-120"/>
              </a:rPr>
              <a:t>Fitting the training data is not the goal.</a:t>
            </a:r>
            <a:endParaRPr lang="en-US" sz="13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A5 · GRADIENT CHECKING</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Verify hand-written gradients with centred differences</a:t>
            </a:r>
            <a:endParaRPr lang="en-US" sz="2700" dirty="0"/>
          </a:p>
        </p:txBody>
      </p:sp>
      <p:sp>
        <p:nvSpPr>
          <p:cNvPr id="5" name="Shape 2"/>
          <p:cNvSpPr/>
          <p:nvPr/>
        </p:nvSpPr>
        <p:spPr>
          <a:xfrm>
            <a:off x="548640" y="1371600"/>
            <a:ext cx="11094415" cy="1280160"/>
          </a:xfrm>
          <a:prstGeom prst="roundRect">
            <a:avLst>
              <a:gd name="adj" fmla="val 5714"/>
            </a:avLst>
          </a:prstGeom>
          <a:solidFill>
            <a:srgbClr val="F3F5F8"/>
          </a:solidFill>
          <a:ln/>
        </p:spPr>
      </p:sp>
      <p:pic>
        <p:nvPicPr>
          <p:cNvPr id="6" name="Image 0" descr="equation gradcheck">    </p:cNvPr>
          <p:cNvPicPr>
            <a:picLocks noChangeAspect="1"/>
          </p:cNvPicPr>
          <p:nvPr/>
        </p:nvPicPr>
        <p:blipFill>
          <a:blip r:embed="rId1"/>
          <a:stretch>
            <a:fillRect/>
          </a:stretch>
        </p:blipFill>
        <p:spPr>
          <a:xfrm>
            <a:off x="914400" y="1536192"/>
            <a:ext cx="2765008" cy="562036"/>
          </a:xfrm>
          <a:prstGeom prst="rect">
            <a:avLst/>
          </a:prstGeom>
        </p:spPr>
      </p:pic>
      <p:pic>
        <p:nvPicPr>
          <p:cNvPr id="7" name="Image 1" descr="equation relerr">    </p:cNvPr>
          <p:cNvPicPr>
            <a:picLocks noChangeAspect="1"/>
          </p:cNvPicPr>
          <p:nvPr/>
        </p:nvPicPr>
        <p:blipFill>
          <a:blip r:embed="rId2"/>
          <a:stretch>
            <a:fillRect/>
          </a:stretch>
        </p:blipFill>
        <p:spPr>
          <a:xfrm>
            <a:off x="6217920" y="1572768"/>
            <a:ext cx="3002158" cy="634136"/>
          </a:xfrm>
          <a:prstGeom prst="rect">
            <a:avLst/>
          </a:prstGeom>
        </p:spPr>
      </p:pic>
      <p:sp>
        <p:nvSpPr>
          <p:cNvPr id="8" name="Shape 3"/>
          <p:cNvSpPr/>
          <p:nvPr/>
        </p:nvSpPr>
        <p:spPr>
          <a:xfrm>
            <a:off x="548640" y="2834640"/>
            <a:ext cx="3515258" cy="1371600"/>
          </a:xfrm>
          <a:prstGeom prst="roundRect">
            <a:avLst>
              <a:gd name="adj" fmla="val 5333"/>
            </a:avLst>
          </a:prstGeom>
          <a:solidFill>
            <a:srgbClr val="E3F2F1"/>
          </a:solidFill>
          <a:ln/>
        </p:spPr>
      </p:sp>
      <p:sp>
        <p:nvSpPr>
          <p:cNvPr id="9" name="Text 4"/>
          <p:cNvSpPr txBox="1"/>
          <p:nvPr/>
        </p:nvSpPr>
        <p:spPr>
          <a:xfrm>
            <a:off x="777240" y="2926080"/>
            <a:ext cx="3149498" cy="548640"/>
          </a:xfrm>
          <a:prstGeom prst="rect">
            <a:avLst/>
          </a:prstGeom>
          <a:noFill/>
          <a:ln/>
        </p:spPr>
        <p:txBody>
          <a:bodyPr wrap="square" lIns="0" tIns="0" rIns="0" bIns="0" rtlCol="0" anchor="t"/>
          <a:lstStyle/>
          <a:p>
            <a:pPr algn="l" indent="0" marL="0">
              <a:lnSpc>
                <a:spcPct val="100000"/>
              </a:lnSpc>
              <a:buNone/>
            </a:pPr>
            <a:r>
              <a:rPr lang="en-US" sz="2600" b="1" dirty="0">
                <a:solidFill>
                  <a:srgbClr val="0E7C7B"/>
                </a:solidFill>
                <a:latin typeface="Cambria" pitchFamily="34" charset="0"/>
                <a:ea typeface="Cambria" pitchFamily="34" charset="-122"/>
                <a:cs typeface="Cambria" pitchFamily="34" charset="-120"/>
              </a:rPr>
              <a:t>≲ 10</a:t>
            </a:r>
            <a:pPr algn="l" indent="0" marL="0">
              <a:lnSpc>
                <a:spcPct val="100000"/>
              </a:lnSpc>
              <a:buNone/>
            </a:pPr>
            <a:r>
              <a:rPr lang="en-US" sz="2600" b="1" baseline="30000" dirty="0">
                <a:solidFill>
                  <a:srgbClr val="0E7C7B"/>
                </a:solidFill>
                <a:latin typeface="Cambria" pitchFamily="34" charset="0"/>
                <a:ea typeface="Cambria" pitchFamily="34" charset="-122"/>
                <a:cs typeface="Cambria" pitchFamily="34" charset="-120"/>
              </a:rPr>
              <a:t>−7</a:t>
            </a:r>
            <a:endParaRPr lang="en-US" sz="2600" dirty="0"/>
          </a:p>
        </p:txBody>
      </p:sp>
      <p:sp>
        <p:nvSpPr>
          <p:cNvPr id="10" name="Text 5"/>
          <p:cNvSpPr txBox="1"/>
          <p:nvPr/>
        </p:nvSpPr>
        <p:spPr>
          <a:xfrm>
            <a:off x="777240" y="3520440"/>
            <a:ext cx="3149498" cy="5486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correct</a:t>
            </a:r>
            <a:endParaRPr lang="en-US" sz="1500" dirty="0"/>
          </a:p>
        </p:txBody>
      </p:sp>
      <p:sp>
        <p:nvSpPr>
          <p:cNvPr id="11" name="Shape 6"/>
          <p:cNvSpPr/>
          <p:nvPr/>
        </p:nvSpPr>
        <p:spPr>
          <a:xfrm>
            <a:off x="4277228" y="2834640"/>
            <a:ext cx="3515258" cy="1371600"/>
          </a:xfrm>
          <a:prstGeom prst="roundRect">
            <a:avLst>
              <a:gd name="adj" fmla="val 5333"/>
            </a:avLst>
          </a:prstGeom>
          <a:solidFill>
            <a:srgbClr val="FFF4D6"/>
          </a:solidFill>
          <a:ln/>
        </p:spPr>
      </p:sp>
      <p:sp>
        <p:nvSpPr>
          <p:cNvPr id="12" name="Text 7"/>
          <p:cNvSpPr txBox="1"/>
          <p:nvPr/>
        </p:nvSpPr>
        <p:spPr>
          <a:xfrm>
            <a:off x="4505828" y="2926080"/>
            <a:ext cx="3149498" cy="548640"/>
          </a:xfrm>
          <a:prstGeom prst="rect">
            <a:avLst/>
          </a:prstGeom>
          <a:noFill/>
          <a:ln/>
        </p:spPr>
        <p:txBody>
          <a:bodyPr wrap="square" lIns="0" tIns="0" rIns="0" bIns="0" rtlCol="0" anchor="t"/>
          <a:lstStyle/>
          <a:p>
            <a:pPr algn="l" indent="0" marL="0">
              <a:lnSpc>
                <a:spcPct val="100000"/>
              </a:lnSpc>
              <a:buNone/>
            </a:pPr>
            <a:r>
              <a:rPr lang="en-US" sz="2600" b="1" dirty="0">
                <a:solidFill>
                  <a:srgbClr val="8A6100"/>
                </a:solidFill>
                <a:latin typeface="Cambria" pitchFamily="34" charset="0"/>
                <a:ea typeface="Cambria" pitchFamily="34" charset="-122"/>
                <a:cs typeface="Cambria" pitchFamily="34" charset="-120"/>
              </a:rPr>
              <a:t>10</a:t>
            </a:r>
            <a:pPr algn="l" indent="0" marL="0">
              <a:lnSpc>
                <a:spcPct val="100000"/>
              </a:lnSpc>
              <a:buNone/>
            </a:pPr>
            <a:r>
              <a:rPr lang="en-US" sz="2600" b="1" baseline="30000" dirty="0">
                <a:solidFill>
                  <a:srgbClr val="8A6100"/>
                </a:solidFill>
                <a:latin typeface="Cambria" pitchFamily="34" charset="0"/>
                <a:ea typeface="Cambria" pitchFamily="34" charset="-122"/>
                <a:cs typeface="Cambria" pitchFamily="34" charset="-120"/>
              </a:rPr>
              <a:t>−7</a:t>
            </a:r>
            <a:pPr algn="l" indent="0" marL="0">
              <a:lnSpc>
                <a:spcPct val="100000"/>
              </a:lnSpc>
              <a:buNone/>
            </a:pPr>
            <a:r>
              <a:rPr lang="en-US" sz="2600" b="1" dirty="0">
                <a:solidFill>
                  <a:srgbClr val="8A6100"/>
                </a:solidFill>
                <a:latin typeface="Cambria" pitchFamily="34" charset="0"/>
                <a:ea typeface="Cambria" pitchFamily="34" charset="-122"/>
                <a:cs typeface="Cambria" pitchFamily="34" charset="-120"/>
              </a:rPr>
              <a:t> – 10</a:t>
            </a:r>
            <a:pPr algn="l" indent="0" marL="0">
              <a:lnSpc>
                <a:spcPct val="100000"/>
              </a:lnSpc>
              <a:buNone/>
            </a:pPr>
            <a:r>
              <a:rPr lang="en-US" sz="2600" b="1" baseline="30000" dirty="0">
                <a:solidFill>
                  <a:srgbClr val="8A6100"/>
                </a:solidFill>
                <a:latin typeface="Cambria" pitchFamily="34" charset="0"/>
                <a:ea typeface="Cambria" pitchFamily="34" charset="-122"/>
                <a:cs typeface="Cambria" pitchFamily="34" charset="-120"/>
              </a:rPr>
              <a:t>−4</a:t>
            </a:r>
            <a:endParaRPr lang="en-US" sz="2600" dirty="0"/>
          </a:p>
        </p:txBody>
      </p:sp>
      <p:sp>
        <p:nvSpPr>
          <p:cNvPr id="13" name="Text 8"/>
          <p:cNvSpPr txBox="1"/>
          <p:nvPr/>
        </p:nvSpPr>
        <p:spPr>
          <a:xfrm>
            <a:off x="4505828" y="3520440"/>
            <a:ext cx="3149498" cy="5486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look closer (fine with ReLU kinks)</a:t>
            </a:r>
            <a:endParaRPr lang="en-US" sz="1500" dirty="0"/>
          </a:p>
        </p:txBody>
      </p:sp>
      <p:sp>
        <p:nvSpPr>
          <p:cNvPr id="14" name="Shape 9"/>
          <p:cNvSpPr/>
          <p:nvPr/>
        </p:nvSpPr>
        <p:spPr>
          <a:xfrm>
            <a:off x="8005816" y="2834640"/>
            <a:ext cx="3515258" cy="1371600"/>
          </a:xfrm>
          <a:prstGeom prst="roundRect">
            <a:avLst>
              <a:gd name="adj" fmla="val 5333"/>
            </a:avLst>
          </a:prstGeom>
          <a:solidFill>
            <a:srgbClr val="FBE9E7"/>
          </a:solidFill>
          <a:ln/>
        </p:spPr>
      </p:sp>
      <p:sp>
        <p:nvSpPr>
          <p:cNvPr id="15" name="Text 10"/>
          <p:cNvSpPr txBox="1"/>
          <p:nvPr/>
        </p:nvSpPr>
        <p:spPr>
          <a:xfrm>
            <a:off x="8234416" y="2926080"/>
            <a:ext cx="3149498" cy="548640"/>
          </a:xfrm>
          <a:prstGeom prst="rect">
            <a:avLst/>
          </a:prstGeom>
          <a:noFill/>
          <a:ln/>
        </p:spPr>
        <p:txBody>
          <a:bodyPr wrap="square" lIns="0" tIns="0" rIns="0" bIns="0" rtlCol="0" anchor="t"/>
          <a:lstStyle/>
          <a:p>
            <a:pPr algn="l" indent="0" marL="0">
              <a:lnSpc>
                <a:spcPct val="100000"/>
              </a:lnSpc>
              <a:buNone/>
            </a:pPr>
            <a:r>
              <a:rPr lang="en-US" sz="2600" b="1" dirty="0">
                <a:solidFill>
                  <a:srgbClr val="B83227"/>
                </a:solidFill>
                <a:latin typeface="Cambria" pitchFamily="34" charset="0"/>
                <a:ea typeface="Cambria" pitchFamily="34" charset="-122"/>
                <a:cs typeface="Cambria" pitchFamily="34" charset="-120"/>
              </a:rPr>
              <a:t>≳ 10</a:t>
            </a:r>
            <a:pPr algn="l" indent="0" marL="0">
              <a:lnSpc>
                <a:spcPct val="100000"/>
              </a:lnSpc>
              <a:buNone/>
            </a:pPr>
            <a:r>
              <a:rPr lang="en-US" sz="2600" b="1" baseline="30000" dirty="0">
                <a:solidFill>
                  <a:srgbClr val="B83227"/>
                </a:solidFill>
                <a:latin typeface="Cambria" pitchFamily="34" charset="0"/>
                <a:ea typeface="Cambria" pitchFamily="34" charset="-122"/>
                <a:cs typeface="Cambria" pitchFamily="34" charset="-120"/>
              </a:rPr>
              <a:t>−2</a:t>
            </a:r>
            <a:endParaRPr lang="en-US" sz="2600" dirty="0"/>
          </a:p>
        </p:txBody>
      </p:sp>
      <p:sp>
        <p:nvSpPr>
          <p:cNvPr id="16" name="Text 11"/>
          <p:cNvSpPr txBox="1"/>
          <p:nvPr/>
        </p:nvSpPr>
        <p:spPr>
          <a:xfrm>
            <a:off x="8234416" y="3520440"/>
            <a:ext cx="3149498" cy="548640"/>
          </a:xfrm>
          <a:prstGeom prst="rect">
            <a:avLst/>
          </a:prstGeom>
          <a:noFill/>
          <a:ln/>
        </p:spPr>
        <p:txBody>
          <a:bodyPr wrap="square" lIns="0" tIns="0" rIns="0" bIns="0" rtlCol="0" anchor="t"/>
          <a:lstStyle/>
          <a:p>
            <a:pPr algn="l" indent="0" marL="0">
              <a:lnSpc>
                <a:spcPct val="100000"/>
              </a:lnSpc>
              <a:buNone/>
            </a:pPr>
            <a:r>
              <a:rPr lang="en-US" sz="1500" dirty="0">
                <a:solidFill>
                  <a:srgbClr val="16202E"/>
                </a:solidFill>
                <a:latin typeface="Calibri" pitchFamily="34" charset="0"/>
                <a:ea typeface="Calibri" pitchFamily="34" charset="-122"/>
                <a:cs typeface="Calibri" pitchFamily="34" charset="-120"/>
              </a:rPr>
              <a:t>almost surely a bug</a:t>
            </a:r>
            <a:endParaRPr lang="en-US" sz="1500" dirty="0"/>
          </a:p>
        </p:txBody>
      </p:sp>
      <p:sp>
        <p:nvSpPr>
          <p:cNvPr id="17" name="Text 12"/>
          <p:cNvSpPr txBox="1"/>
          <p:nvPr/>
        </p:nvSpPr>
        <p:spPr>
          <a:xfrm>
            <a:off x="548640" y="4434840"/>
            <a:ext cx="11094415" cy="1737360"/>
          </a:xfrm>
          <a:prstGeom prst="rect">
            <a:avLst/>
          </a:prstGeom>
          <a:noFill/>
          <a:ln/>
        </p:spPr>
        <p:txBody>
          <a:bodyPr wrap="square" lIns="0" tIns="0" rIns="0" bIns="0" rtlCol="0" anchor="t"/>
          <a:lstStyle/>
          <a:p>
            <a:pPr marL="228600" indent="-228600">
              <a:spcAft>
                <a:spcPts val="600"/>
              </a:spcAft>
              <a:buSzPct val="100000"/>
              <a:buChar char="•"/>
            </a:pPr>
            <a:r>
              <a:rPr lang="en-US" sz="1550" dirty="0">
                <a:solidFill>
                  <a:srgbClr val="16202E"/>
                </a:solidFill>
                <a:latin typeface="Calibri" pitchFamily="34" charset="0"/>
                <a:ea typeface="Calibri" pitchFamily="34" charset="-122"/>
                <a:cs typeface="Calibri" pitchFamily="34" charset="-120"/>
              </a:rPr>
              <a:t>Use float64, with ε around 1e-5</a:t>
            </a:r>
            <a:endParaRPr lang="en-US" sz="1550" dirty="0"/>
          </a:p>
          <a:p>
            <a:pPr marL="228600" indent="-228600">
              <a:spcAft>
                <a:spcPts val="600"/>
              </a:spcAft>
              <a:buSzPct val="100000"/>
              <a:buChar char="•"/>
            </a:pPr>
            <a:r>
              <a:rPr lang="en-US" sz="1550" dirty="0">
                <a:solidFill>
                  <a:srgbClr val="16202E"/>
                </a:solidFill>
                <a:latin typeface="Calibri" pitchFamily="34" charset="0"/>
                <a:ea typeface="Calibri" pitchFamily="34" charset="-122"/>
                <a:cs typeface="Calibri" pitchFamily="34" charset="-120"/>
              </a:rPr>
              <a:t>Turn off randomness (dropout) so the loss is deterministic</a:t>
            </a:r>
            <a:endParaRPr lang="en-US" sz="1550" dirty="0"/>
          </a:p>
          <a:p>
            <a:pPr marL="228600" indent="-228600">
              <a:spcAft>
                <a:spcPts val="600"/>
              </a:spcAft>
              <a:buSzPct val="100000"/>
              <a:buChar char="•"/>
            </a:pPr>
            <a:r>
              <a:rPr lang="en-US" sz="1550" dirty="0">
                <a:solidFill>
                  <a:srgbClr val="16202E"/>
                </a:solidFill>
                <a:latin typeface="Calibri" pitchFamily="34" charset="0"/>
                <a:ea typeface="Calibri" pitchFamily="34" charset="-122"/>
                <a:cs typeface="Calibri" pitchFamily="34" charset="-120"/>
              </a:rPr>
              <a:t>Check a random subset of parameters: each check costs two forward passes</a:t>
            </a:r>
            <a:endParaRPr lang="en-US" sz="1550" dirty="0"/>
          </a:p>
          <a:p>
            <a:pPr marL="228600" indent="-228600">
              <a:spcAft>
                <a:spcPts val="600"/>
              </a:spcAft>
              <a:buSzPct val="100000"/>
              <a:buChar char="•"/>
            </a:pPr>
            <a:r>
              <a:rPr lang="en-US" sz="1550" dirty="0">
                <a:solidFill>
                  <a:srgbClr val="16202E"/>
                </a:solidFill>
                <a:latin typeface="Calibri" pitchFamily="34" charset="0"/>
                <a:ea typeface="Calibri" pitchFamily="34" charset="-122"/>
                <a:cs typeface="Calibri" pitchFamily="34" charset="-120"/>
              </a:rPr>
              <a:t>Avoid kinks: with ReLU, a nudge can cross z = 0 and spoil one check</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A6 · OPTIMIZERS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Adam in full, and AdamW</a:t>
            </a:r>
            <a:endParaRPr lang="en-US" sz="2700" dirty="0"/>
          </a:p>
        </p:txBody>
      </p:sp>
      <p:sp>
        <p:nvSpPr>
          <p:cNvPr id="5" name="Shape 2"/>
          <p:cNvSpPr/>
          <p:nvPr/>
        </p:nvSpPr>
        <p:spPr>
          <a:xfrm>
            <a:off x="548640" y="1371600"/>
            <a:ext cx="6400800" cy="3017520"/>
          </a:xfrm>
          <a:prstGeom prst="roundRect">
            <a:avLst>
              <a:gd name="adj" fmla="val 2424"/>
            </a:avLst>
          </a:prstGeom>
          <a:solidFill>
            <a:srgbClr val="F3F5F8"/>
          </a:solidFill>
          <a:ln/>
        </p:spPr>
      </p:sp>
      <p:sp>
        <p:nvSpPr>
          <p:cNvPr id="6" name="Text 3"/>
          <p:cNvSpPr txBox="1"/>
          <p:nvPr/>
        </p:nvSpPr>
        <p:spPr>
          <a:xfrm>
            <a:off x="777240" y="1481328"/>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ADAM (KINGMA &amp; BA, 2015)</a:t>
            </a:r>
            <a:endParaRPr lang="en-US" sz="1100" dirty="0"/>
          </a:p>
        </p:txBody>
      </p:sp>
      <p:pic>
        <p:nvPicPr>
          <p:cNvPr id="7" name="Image 0" descr="equation adam_full">    </p:cNvPr>
          <p:cNvPicPr>
            <a:picLocks noChangeAspect="1"/>
          </p:cNvPicPr>
          <p:nvPr/>
        </p:nvPicPr>
        <p:blipFill>
          <a:blip r:embed="rId1"/>
          <a:stretch>
            <a:fillRect/>
          </a:stretch>
        </p:blipFill>
        <p:spPr>
          <a:xfrm>
            <a:off x="822960" y="1828800"/>
            <a:ext cx="3934252" cy="1442009"/>
          </a:xfrm>
          <a:prstGeom prst="rect">
            <a:avLst/>
          </a:prstGeom>
        </p:spPr>
      </p:pic>
      <p:sp>
        <p:nvSpPr>
          <p:cNvPr id="8" name="Text 4"/>
          <p:cNvSpPr txBox="1"/>
          <p:nvPr/>
        </p:nvSpPr>
        <p:spPr>
          <a:xfrm>
            <a:off x="777240" y="3749040"/>
            <a:ext cx="6035040" cy="594360"/>
          </a:xfrm>
          <a:prstGeom prst="rect">
            <a:avLst/>
          </a:prstGeom>
          <a:noFill/>
          <a:ln/>
        </p:spPr>
        <p:txBody>
          <a:bodyPr wrap="square" lIns="0" tIns="0" rIns="0" bIns="0" rtlCol="0" anchor="t"/>
          <a:lstStyle/>
          <a:p>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Defaults: β</a:t>
            </a:r>
            <a:pPr algn="l" indent="0" marL="0">
              <a:lnSpc>
                <a:spcPct val="100000"/>
              </a:lnSpc>
              <a:buNone/>
            </a:pPr>
            <a:r>
              <a:rPr lang="en-US" sz="1450" baseline="-40000" dirty="0">
                <a:solidFill>
                  <a:srgbClr val="5B6675"/>
                </a:solidFill>
                <a:latin typeface="Calibri" pitchFamily="34" charset="0"/>
                <a:ea typeface="Calibri" pitchFamily="34" charset="-122"/>
                <a:cs typeface="Calibri" pitchFamily="34" charset="-120"/>
              </a:rPr>
              <a:t>1</a:t>
            </a:r>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 = 0.9, β</a:t>
            </a:r>
            <a:pPr algn="l" indent="0" marL="0">
              <a:lnSpc>
                <a:spcPct val="100000"/>
              </a:lnSpc>
              <a:buNone/>
            </a:pPr>
            <a:r>
              <a:rPr lang="en-US" sz="1450" baseline="-40000" dirty="0">
                <a:solidFill>
                  <a:srgbClr val="5B6675"/>
                </a:solidFill>
                <a:latin typeface="Calibri" pitchFamily="34" charset="0"/>
                <a:ea typeface="Calibri" pitchFamily="34" charset="-122"/>
                <a:cs typeface="Calibri" pitchFamily="34" charset="-120"/>
              </a:rPr>
              <a:t>2</a:t>
            </a:r>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 = 0.999, ε = 10</a:t>
            </a:r>
            <a:pPr algn="l" indent="0" marL="0">
              <a:lnSpc>
                <a:spcPct val="100000"/>
              </a:lnSpc>
              <a:buNone/>
            </a:pPr>
            <a:r>
              <a:rPr lang="en-US" sz="1450" baseline="30000" dirty="0">
                <a:solidFill>
                  <a:srgbClr val="5B6675"/>
                </a:solidFill>
                <a:latin typeface="Calibri" pitchFamily="34" charset="0"/>
                <a:ea typeface="Calibri" pitchFamily="34" charset="-122"/>
                <a:cs typeface="Calibri" pitchFamily="34" charset="-120"/>
              </a:rPr>
              <a:t>−8</a:t>
            </a:r>
            <a:pPr algn="l" indent="0" marL="0">
              <a:lnSpc>
                <a:spcPct val="100000"/>
              </a:lnSpc>
              <a:buNone/>
            </a:pPr>
            <a:r>
              <a:rPr lang="en-US" sz="1450" dirty="0">
                <a:solidFill>
                  <a:srgbClr val="5B6675"/>
                </a:solidFill>
                <a:latin typeface="Calibri" pitchFamily="34" charset="0"/>
                <a:ea typeface="Calibri" pitchFamily="34" charset="-122"/>
                <a:cs typeface="Calibri" pitchFamily="34" charset="-120"/>
              </a:rPr>
              <a:t>. Bias correction fixes the zero initialization of m and v.</a:t>
            </a:r>
            <a:endParaRPr lang="en-US" sz="1450" dirty="0"/>
          </a:p>
        </p:txBody>
      </p:sp>
      <p:sp>
        <p:nvSpPr>
          <p:cNvPr id="9" name="Shape 5"/>
          <p:cNvSpPr/>
          <p:nvPr/>
        </p:nvSpPr>
        <p:spPr>
          <a:xfrm>
            <a:off x="548640" y="4572000"/>
            <a:ext cx="6400800" cy="1554480"/>
          </a:xfrm>
          <a:prstGeom prst="roundRect">
            <a:avLst>
              <a:gd name="adj" fmla="val 4706"/>
            </a:avLst>
          </a:prstGeom>
          <a:solidFill>
            <a:srgbClr val="E3F2F1"/>
          </a:solidFill>
          <a:ln/>
        </p:spPr>
      </p:sp>
      <p:sp>
        <p:nvSpPr>
          <p:cNvPr id="10" name="Text 6"/>
          <p:cNvSpPr txBox="1"/>
          <p:nvPr/>
        </p:nvSpPr>
        <p:spPr>
          <a:xfrm>
            <a:off x="777240" y="4681728"/>
            <a:ext cx="5486400" cy="237744"/>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E7C7B"/>
                </a:solidFill>
                <a:latin typeface="Calibri" pitchFamily="34" charset="0"/>
                <a:ea typeface="Calibri" pitchFamily="34" charset="-122"/>
                <a:cs typeface="Calibri" pitchFamily="34" charset="-120"/>
              </a:rPr>
              <a:t>ADAMW: DECAY THE WEIGHTS DIRECTLY</a:t>
            </a:r>
            <a:endParaRPr lang="en-US" sz="1100" dirty="0"/>
          </a:p>
        </p:txBody>
      </p:sp>
      <p:pic>
        <p:nvPicPr>
          <p:cNvPr id="11" name="Image 1" descr="equation adamw">    </p:cNvPr>
          <p:cNvPicPr>
            <a:picLocks noChangeAspect="1"/>
          </p:cNvPicPr>
          <p:nvPr/>
        </p:nvPicPr>
        <p:blipFill>
          <a:blip r:embed="rId2"/>
          <a:stretch>
            <a:fillRect/>
          </a:stretch>
        </p:blipFill>
        <p:spPr>
          <a:xfrm>
            <a:off x="822960" y="5074920"/>
            <a:ext cx="3681009" cy="439141"/>
          </a:xfrm>
          <a:prstGeom prst="rect">
            <a:avLst/>
          </a:prstGeom>
        </p:spPr>
      </p:pic>
      <p:sp>
        <p:nvSpPr>
          <p:cNvPr id="12" name="Shape 7"/>
          <p:cNvSpPr/>
          <p:nvPr/>
        </p:nvSpPr>
        <p:spPr>
          <a:xfrm>
            <a:off x="7132320" y="1371600"/>
            <a:ext cx="4507992" cy="4754880"/>
          </a:xfrm>
          <a:prstGeom prst="roundRect">
            <a:avLst>
              <a:gd name="adj" fmla="val 1623"/>
            </a:avLst>
          </a:prstGeom>
          <a:solidFill>
            <a:srgbClr val="16202E"/>
          </a:solidFill>
          <a:ln/>
        </p:spPr>
      </p:sp>
      <p:sp>
        <p:nvSpPr>
          <p:cNvPr id="13" name="Text 8"/>
          <p:cNvSpPr txBox="1"/>
          <p:nvPr/>
        </p:nvSpPr>
        <p:spPr>
          <a:xfrm>
            <a:off x="7406640" y="1554480"/>
            <a:ext cx="4023360" cy="4389120"/>
          </a:xfrm>
          <a:prstGeom prst="rect">
            <a:avLst/>
          </a:prstGeom>
          <a:noFill/>
          <a:ln/>
        </p:spPr>
        <p:txBody>
          <a:bodyPr wrap="square" lIns="0" tIns="0" rIns="0" bIns="0" rtlCol="0" anchor="t"/>
          <a:lstStyle/>
          <a:p>
            <a:pPr algn="l" indent="0" marL="0">
              <a:lnSpc>
                <a:spcPct val="100000"/>
              </a:lnSpc>
              <a:buNone/>
            </a:pPr>
            <a:r>
              <a:rPr lang="en-US" sz="1550" b="1" dirty="0">
                <a:solidFill>
                  <a:srgbClr val="D5DCE5"/>
                </a:solidFill>
                <a:latin typeface="Calibri" pitchFamily="34" charset="0"/>
                <a:ea typeface="Calibri" pitchFamily="34" charset="-122"/>
                <a:cs typeface="Calibri" pitchFamily="34" charset="-120"/>
              </a:rPr>
              <a:t>m</a:t>
            </a:r>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 running mean of gradients (momentum).</a:t>
            </a:r>
            <a:pPr algn="l" indent="0" marL="0">
              <a:lnSpc>
                <a:spcPct val="100000"/>
              </a:lnSpc>
              <a:buNone/>
            </a:pPr>
            <a:endParaRPr lang="en-US" sz="1550" dirty="0"/>
          </a:p>
          <a:p>
            <a:pPr algn="l" indent="0" marL="0">
              <a:lnSpc>
                <a:spcPct val="100000"/>
              </a:lnSpc>
              <a:buNone/>
            </a:pPr>
            <a:endParaRPr lang="en-US" sz="1550" dirty="0"/>
          </a:p>
          <a:p>
            <a:pPr algn="l" indent="0" marL="0">
              <a:lnSpc>
                <a:spcPct val="100000"/>
              </a:lnSpc>
              <a:buNone/>
            </a:pPr>
            <a:r>
              <a:rPr lang="en-US" sz="1550" b="1" dirty="0">
                <a:solidFill>
                  <a:srgbClr val="D5DCE5"/>
                </a:solidFill>
                <a:latin typeface="Calibri" pitchFamily="34" charset="0"/>
                <a:ea typeface="Calibri" pitchFamily="34" charset="-122"/>
                <a:cs typeface="Calibri" pitchFamily="34" charset="-120"/>
              </a:rPr>
              <a:t>v</a:t>
            </a:r>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 running mean of squared gradients — a per-parameter scale, so steps are roughly η in size regardless of the gradient's magnitude.</a:t>
            </a:r>
            <a:pPr algn="l" indent="0" marL="0">
              <a:lnSpc>
                <a:spcPct val="100000"/>
              </a:lnSpc>
              <a:buNone/>
            </a:pPr>
            <a:endParaRPr lang="en-US" sz="1550" dirty="0"/>
          </a:p>
          <a:p>
            <a:pPr algn="l" indent="0" marL="0">
              <a:lnSpc>
                <a:spcPct val="100000"/>
              </a:lnSpc>
              <a:buNone/>
            </a:pPr>
            <a:endParaRPr lang="en-US" sz="1550" dirty="0"/>
          </a:p>
          <a:p>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Adding an L2 penalty to Adam's loss is </a:t>
            </a:r>
            <a:pPr algn="l" indent="0" marL="0">
              <a:lnSpc>
                <a:spcPct val="100000"/>
              </a:lnSpc>
              <a:buNone/>
            </a:pPr>
            <a:r>
              <a:rPr lang="en-US" sz="1550" b="1" dirty="0">
                <a:solidFill>
                  <a:srgbClr val="D5DCE5"/>
                </a:solidFill>
                <a:latin typeface="Calibri" pitchFamily="34" charset="0"/>
                <a:ea typeface="Calibri" pitchFamily="34" charset="-122"/>
                <a:cs typeface="Calibri" pitchFamily="34" charset="-120"/>
              </a:rPr>
              <a:t>not</a:t>
            </a:r>
            <a:pPr algn="l" indent="0" marL="0">
              <a:lnSpc>
                <a:spcPct val="100000"/>
              </a:lnSpc>
              <a:buNone/>
            </a:pPr>
            <a:r>
              <a:rPr lang="en-US" sz="1550" dirty="0">
                <a:solidFill>
                  <a:srgbClr val="D5DCE5"/>
                </a:solidFill>
                <a:latin typeface="Calibri" pitchFamily="34" charset="0"/>
                <a:ea typeface="Calibri" pitchFamily="34" charset="-122"/>
                <a:cs typeface="Calibri" pitchFamily="34" charset="-120"/>
              </a:rPr>
              <a:t> the same as AdamW's decoupled decay (Loshchilov &amp; Hutter, 2019). Session 2.</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A7 · HISTORY</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From 1943 to today: backprop was not the bottleneck</a:t>
            </a:r>
            <a:endParaRPr lang="en-US" sz="2700" dirty="0"/>
          </a:p>
        </p:txBody>
      </p:sp>
      <p:sp>
        <p:nvSpPr>
          <p:cNvPr id="5" name="Shape 2"/>
          <p:cNvSpPr/>
          <p:nvPr/>
        </p:nvSpPr>
        <p:spPr>
          <a:xfrm>
            <a:off x="822960" y="3246120"/>
            <a:ext cx="10545775" cy="0"/>
          </a:xfrm>
          <a:prstGeom prst="line">
            <a:avLst/>
          </a:prstGeom>
          <a:noFill/>
          <a:ln w="25400">
            <a:solidFill>
              <a:srgbClr val="8A94A3"/>
            </a:solidFill>
            <a:prstDash val="solid"/>
          </a:ln>
        </p:spPr>
      </p:sp>
      <p:sp>
        <p:nvSpPr>
          <p:cNvPr id="6" name="Shape 3"/>
          <p:cNvSpPr/>
          <p:nvPr/>
        </p:nvSpPr>
        <p:spPr>
          <a:xfrm>
            <a:off x="704088" y="3127248"/>
            <a:ext cx="237744" cy="237744"/>
          </a:xfrm>
          <a:prstGeom prst="ellipse">
            <a:avLst/>
          </a:prstGeom>
          <a:solidFill>
            <a:srgbClr val="0E7C7B"/>
          </a:solidFill>
          <a:ln/>
        </p:spPr>
      </p:sp>
      <p:sp>
        <p:nvSpPr>
          <p:cNvPr id="7" name="Text 4"/>
          <p:cNvSpPr txBox="1"/>
          <p:nvPr/>
        </p:nvSpPr>
        <p:spPr>
          <a:xfrm>
            <a:off x="182880"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1943</a:t>
            </a:r>
            <a:endParaRPr lang="en-US" sz="1800" dirty="0"/>
          </a:p>
        </p:txBody>
      </p:sp>
      <p:sp>
        <p:nvSpPr>
          <p:cNvPr id="8" name="Text 5"/>
          <p:cNvSpPr txBox="1"/>
          <p:nvPr/>
        </p:nvSpPr>
        <p:spPr>
          <a:xfrm>
            <a:off x="137160"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McCulloch &amp; Pitts</a:t>
            </a:r>
            <a:endParaRPr lang="en-US" sz="1300" dirty="0"/>
          </a:p>
        </p:txBody>
      </p:sp>
      <p:sp>
        <p:nvSpPr>
          <p:cNvPr id="9" name="Text 6"/>
          <p:cNvSpPr txBox="1"/>
          <p:nvPr/>
        </p:nvSpPr>
        <p:spPr>
          <a:xfrm>
            <a:off x="137160"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threshold neuron</a:t>
            </a:r>
            <a:endParaRPr lang="en-US" sz="1250" dirty="0"/>
          </a:p>
        </p:txBody>
      </p:sp>
      <p:sp>
        <p:nvSpPr>
          <p:cNvPr id="10" name="Shape 7"/>
          <p:cNvSpPr/>
          <p:nvPr/>
        </p:nvSpPr>
        <p:spPr>
          <a:xfrm>
            <a:off x="1875841" y="3127248"/>
            <a:ext cx="237744" cy="237744"/>
          </a:xfrm>
          <a:prstGeom prst="ellipse">
            <a:avLst/>
          </a:prstGeom>
          <a:solidFill>
            <a:srgbClr val="0E7C7B"/>
          </a:solidFill>
          <a:ln/>
        </p:spPr>
      </p:sp>
      <p:sp>
        <p:nvSpPr>
          <p:cNvPr id="11" name="Text 8"/>
          <p:cNvSpPr txBox="1"/>
          <p:nvPr/>
        </p:nvSpPr>
        <p:spPr>
          <a:xfrm>
            <a:off x="1354633"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1958</a:t>
            </a:r>
            <a:endParaRPr lang="en-US" sz="1800" dirty="0"/>
          </a:p>
        </p:txBody>
      </p:sp>
      <p:sp>
        <p:nvSpPr>
          <p:cNvPr id="12" name="Text 9"/>
          <p:cNvSpPr txBox="1"/>
          <p:nvPr/>
        </p:nvSpPr>
        <p:spPr>
          <a:xfrm>
            <a:off x="1308913"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Rosenblatt</a:t>
            </a:r>
            <a:endParaRPr lang="en-US" sz="1300" dirty="0"/>
          </a:p>
        </p:txBody>
      </p:sp>
      <p:sp>
        <p:nvSpPr>
          <p:cNvPr id="13" name="Text 10"/>
          <p:cNvSpPr txBox="1"/>
          <p:nvPr/>
        </p:nvSpPr>
        <p:spPr>
          <a:xfrm>
            <a:off x="1308913"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perceptron</a:t>
            </a:r>
            <a:endParaRPr lang="en-US" sz="1250" dirty="0"/>
          </a:p>
        </p:txBody>
      </p:sp>
      <p:sp>
        <p:nvSpPr>
          <p:cNvPr id="14" name="Shape 11"/>
          <p:cNvSpPr/>
          <p:nvPr/>
        </p:nvSpPr>
        <p:spPr>
          <a:xfrm>
            <a:off x="3047594" y="3127248"/>
            <a:ext cx="237744" cy="237744"/>
          </a:xfrm>
          <a:prstGeom prst="ellipse">
            <a:avLst/>
          </a:prstGeom>
          <a:solidFill>
            <a:srgbClr val="0E7C7B"/>
          </a:solidFill>
          <a:ln/>
        </p:spPr>
      </p:sp>
      <p:sp>
        <p:nvSpPr>
          <p:cNvPr id="15" name="Text 12"/>
          <p:cNvSpPr txBox="1"/>
          <p:nvPr/>
        </p:nvSpPr>
        <p:spPr>
          <a:xfrm>
            <a:off x="2526386"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1969</a:t>
            </a:r>
            <a:endParaRPr lang="en-US" sz="1800" dirty="0"/>
          </a:p>
        </p:txBody>
      </p:sp>
      <p:sp>
        <p:nvSpPr>
          <p:cNvPr id="16" name="Text 13"/>
          <p:cNvSpPr txBox="1"/>
          <p:nvPr/>
        </p:nvSpPr>
        <p:spPr>
          <a:xfrm>
            <a:off x="2480666"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Minsky &amp; Papert</a:t>
            </a:r>
            <a:endParaRPr lang="en-US" sz="1300" dirty="0"/>
          </a:p>
        </p:txBody>
      </p:sp>
      <p:sp>
        <p:nvSpPr>
          <p:cNvPr id="17" name="Text 14"/>
          <p:cNvSpPr txBox="1"/>
          <p:nvPr/>
        </p:nvSpPr>
        <p:spPr>
          <a:xfrm>
            <a:off x="2480666"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limits of one layer (XOR)</a:t>
            </a:r>
            <a:endParaRPr lang="en-US" sz="1250" dirty="0"/>
          </a:p>
        </p:txBody>
      </p:sp>
      <p:sp>
        <p:nvSpPr>
          <p:cNvPr id="18" name="Shape 15"/>
          <p:cNvSpPr/>
          <p:nvPr/>
        </p:nvSpPr>
        <p:spPr>
          <a:xfrm>
            <a:off x="4219346" y="3127248"/>
            <a:ext cx="237744" cy="237744"/>
          </a:xfrm>
          <a:prstGeom prst="ellipse">
            <a:avLst/>
          </a:prstGeom>
          <a:solidFill>
            <a:srgbClr val="0E7C7B"/>
          </a:solidFill>
          <a:ln/>
        </p:spPr>
      </p:sp>
      <p:sp>
        <p:nvSpPr>
          <p:cNvPr id="19" name="Text 16"/>
          <p:cNvSpPr txBox="1"/>
          <p:nvPr/>
        </p:nvSpPr>
        <p:spPr>
          <a:xfrm>
            <a:off x="3698138"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1970</a:t>
            </a:r>
            <a:endParaRPr lang="en-US" sz="1800" dirty="0"/>
          </a:p>
        </p:txBody>
      </p:sp>
      <p:sp>
        <p:nvSpPr>
          <p:cNvPr id="20" name="Text 17"/>
          <p:cNvSpPr txBox="1"/>
          <p:nvPr/>
        </p:nvSpPr>
        <p:spPr>
          <a:xfrm>
            <a:off x="3652418"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Linnainmaa</a:t>
            </a:r>
            <a:endParaRPr lang="en-US" sz="1300" dirty="0"/>
          </a:p>
        </p:txBody>
      </p:sp>
      <p:sp>
        <p:nvSpPr>
          <p:cNvPr id="21" name="Text 18"/>
          <p:cNvSpPr txBox="1"/>
          <p:nvPr/>
        </p:nvSpPr>
        <p:spPr>
          <a:xfrm>
            <a:off x="3652418"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reverse-mode autodiff</a:t>
            </a:r>
            <a:endParaRPr lang="en-US" sz="1250" dirty="0"/>
          </a:p>
        </p:txBody>
      </p:sp>
      <p:sp>
        <p:nvSpPr>
          <p:cNvPr id="22" name="Shape 19"/>
          <p:cNvSpPr/>
          <p:nvPr/>
        </p:nvSpPr>
        <p:spPr>
          <a:xfrm>
            <a:off x="5391099" y="3127248"/>
            <a:ext cx="237744" cy="237744"/>
          </a:xfrm>
          <a:prstGeom prst="ellipse">
            <a:avLst/>
          </a:prstGeom>
          <a:solidFill>
            <a:srgbClr val="D9611A"/>
          </a:solidFill>
          <a:ln/>
        </p:spPr>
      </p:sp>
      <p:sp>
        <p:nvSpPr>
          <p:cNvPr id="23" name="Text 20"/>
          <p:cNvSpPr txBox="1"/>
          <p:nvPr/>
        </p:nvSpPr>
        <p:spPr>
          <a:xfrm>
            <a:off x="4869891"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1986</a:t>
            </a:r>
            <a:endParaRPr lang="en-US" sz="1800" dirty="0"/>
          </a:p>
        </p:txBody>
      </p:sp>
      <p:sp>
        <p:nvSpPr>
          <p:cNvPr id="24" name="Text 21"/>
          <p:cNvSpPr txBox="1"/>
          <p:nvPr/>
        </p:nvSpPr>
        <p:spPr>
          <a:xfrm>
            <a:off x="4824171"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Rumelhart, Hinton &amp; Williams</a:t>
            </a:r>
            <a:endParaRPr lang="en-US" sz="1300" dirty="0"/>
          </a:p>
        </p:txBody>
      </p:sp>
      <p:sp>
        <p:nvSpPr>
          <p:cNvPr id="25" name="Text 22"/>
          <p:cNvSpPr txBox="1"/>
          <p:nvPr/>
        </p:nvSpPr>
        <p:spPr>
          <a:xfrm>
            <a:off x="4824171"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backprop popularized</a:t>
            </a:r>
            <a:endParaRPr lang="en-US" sz="1250" dirty="0"/>
          </a:p>
        </p:txBody>
      </p:sp>
      <p:sp>
        <p:nvSpPr>
          <p:cNvPr id="26" name="Shape 23"/>
          <p:cNvSpPr/>
          <p:nvPr/>
        </p:nvSpPr>
        <p:spPr>
          <a:xfrm>
            <a:off x="6562852" y="3127248"/>
            <a:ext cx="237744" cy="237744"/>
          </a:xfrm>
          <a:prstGeom prst="ellipse">
            <a:avLst/>
          </a:prstGeom>
          <a:solidFill>
            <a:srgbClr val="0E7C7B"/>
          </a:solidFill>
          <a:ln/>
        </p:spPr>
      </p:sp>
      <p:sp>
        <p:nvSpPr>
          <p:cNvPr id="27" name="Text 24"/>
          <p:cNvSpPr txBox="1"/>
          <p:nvPr/>
        </p:nvSpPr>
        <p:spPr>
          <a:xfrm>
            <a:off x="6041644"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1998</a:t>
            </a:r>
            <a:endParaRPr lang="en-US" sz="1800" dirty="0"/>
          </a:p>
        </p:txBody>
      </p:sp>
      <p:sp>
        <p:nvSpPr>
          <p:cNvPr id="28" name="Text 25"/>
          <p:cNvSpPr txBox="1"/>
          <p:nvPr/>
        </p:nvSpPr>
        <p:spPr>
          <a:xfrm>
            <a:off x="5995924"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LeCun et al.</a:t>
            </a:r>
            <a:endParaRPr lang="en-US" sz="1300" dirty="0"/>
          </a:p>
        </p:txBody>
      </p:sp>
      <p:sp>
        <p:nvSpPr>
          <p:cNvPr id="29" name="Text 26"/>
          <p:cNvSpPr txBox="1"/>
          <p:nvPr/>
        </p:nvSpPr>
        <p:spPr>
          <a:xfrm>
            <a:off x="5995924"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LeNet-5</a:t>
            </a:r>
            <a:endParaRPr lang="en-US" sz="1250" dirty="0"/>
          </a:p>
        </p:txBody>
      </p:sp>
      <p:sp>
        <p:nvSpPr>
          <p:cNvPr id="30" name="Shape 27"/>
          <p:cNvSpPr/>
          <p:nvPr/>
        </p:nvSpPr>
        <p:spPr>
          <a:xfrm>
            <a:off x="7734605" y="3127248"/>
            <a:ext cx="237744" cy="237744"/>
          </a:xfrm>
          <a:prstGeom prst="ellipse">
            <a:avLst/>
          </a:prstGeom>
          <a:solidFill>
            <a:srgbClr val="D9611A"/>
          </a:solidFill>
          <a:ln/>
        </p:spPr>
      </p:sp>
      <p:sp>
        <p:nvSpPr>
          <p:cNvPr id="31" name="Text 28"/>
          <p:cNvSpPr txBox="1"/>
          <p:nvPr/>
        </p:nvSpPr>
        <p:spPr>
          <a:xfrm>
            <a:off x="7213397"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2012</a:t>
            </a:r>
            <a:endParaRPr lang="en-US" sz="1800" dirty="0"/>
          </a:p>
        </p:txBody>
      </p:sp>
      <p:sp>
        <p:nvSpPr>
          <p:cNvPr id="32" name="Text 29"/>
          <p:cNvSpPr txBox="1"/>
          <p:nvPr/>
        </p:nvSpPr>
        <p:spPr>
          <a:xfrm>
            <a:off x="7167677"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Krizhevsky et al.</a:t>
            </a:r>
            <a:endParaRPr lang="en-US" sz="1300" dirty="0"/>
          </a:p>
        </p:txBody>
      </p:sp>
      <p:sp>
        <p:nvSpPr>
          <p:cNvPr id="33" name="Text 30"/>
          <p:cNvSpPr txBox="1"/>
          <p:nvPr/>
        </p:nvSpPr>
        <p:spPr>
          <a:xfrm>
            <a:off x="7167677"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AlexNet: GPUs + ReLU</a:t>
            </a:r>
            <a:endParaRPr lang="en-US" sz="1250" dirty="0"/>
          </a:p>
        </p:txBody>
      </p:sp>
      <p:sp>
        <p:nvSpPr>
          <p:cNvPr id="34" name="Shape 31"/>
          <p:cNvSpPr/>
          <p:nvPr/>
        </p:nvSpPr>
        <p:spPr>
          <a:xfrm>
            <a:off x="8906358" y="3127248"/>
            <a:ext cx="237744" cy="237744"/>
          </a:xfrm>
          <a:prstGeom prst="ellipse">
            <a:avLst/>
          </a:prstGeom>
          <a:solidFill>
            <a:srgbClr val="0E7C7B"/>
          </a:solidFill>
          <a:ln/>
        </p:spPr>
      </p:sp>
      <p:sp>
        <p:nvSpPr>
          <p:cNvPr id="35" name="Text 32"/>
          <p:cNvSpPr txBox="1"/>
          <p:nvPr/>
        </p:nvSpPr>
        <p:spPr>
          <a:xfrm>
            <a:off x="8385150"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2015</a:t>
            </a:r>
            <a:endParaRPr lang="en-US" sz="1800" dirty="0"/>
          </a:p>
        </p:txBody>
      </p:sp>
      <p:sp>
        <p:nvSpPr>
          <p:cNvPr id="36" name="Text 33"/>
          <p:cNvSpPr txBox="1"/>
          <p:nvPr/>
        </p:nvSpPr>
        <p:spPr>
          <a:xfrm>
            <a:off x="8339430"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He et al.</a:t>
            </a:r>
            <a:endParaRPr lang="en-US" sz="1300" dirty="0"/>
          </a:p>
        </p:txBody>
      </p:sp>
      <p:sp>
        <p:nvSpPr>
          <p:cNvPr id="37" name="Text 34"/>
          <p:cNvSpPr txBox="1"/>
          <p:nvPr/>
        </p:nvSpPr>
        <p:spPr>
          <a:xfrm>
            <a:off x="8339430"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ResNet</a:t>
            </a:r>
            <a:endParaRPr lang="en-US" sz="1250" dirty="0"/>
          </a:p>
        </p:txBody>
      </p:sp>
      <p:sp>
        <p:nvSpPr>
          <p:cNvPr id="38" name="Shape 35"/>
          <p:cNvSpPr/>
          <p:nvPr/>
        </p:nvSpPr>
        <p:spPr>
          <a:xfrm>
            <a:off x="10078110" y="3127248"/>
            <a:ext cx="237744" cy="237744"/>
          </a:xfrm>
          <a:prstGeom prst="ellipse">
            <a:avLst/>
          </a:prstGeom>
          <a:solidFill>
            <a:srgbClr val="0E7C7B"/>
          </a:solidFill>
          <a:ln/>
        </p:spPr>
      </p:sp>
      <p:sp>
        <p:nvSpPr>
          <p:cNvPr id="39" name="Text 36"/>
          <p:cNvSpPr txBox="1"/>
          <p:nvPr/>
        </p:nvSpPr>
        <p:spPr>
          <a:xfrm>
            <a:off x="9556902" y="150876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2017</a:t>
            </a:r>
            <a:endParaRPr lang="en-US" sz="1800" dirty="0"/>
          </a:p>
        </p:txBody>
      </p:sp>
      <p:sp>
        <p:nvSpPr>
          <p:cNvPr id="40" name="Text 37"/>
          <p:cNvSpPr txBox="1"/>
          <p:nvPr/>
        </p:nvSpPr>
        <p:spPr>
          <a:xfrm>
            <a:off x="9511182" y="187452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Vaswani et al.</a:t>
            </a:r>
            <a:endParaRPr lang="en-US" sz="1300" dirty="0"/>
          </a:p>
        </p:txBody>
      </p:sp>
      <p:sp>
        <p:nvSpPr>
          <p:cNvPr id="41" name="Text 38"/>
          <p:cNvSpPr txBox="1"/>
          <p:nvPr/>
        </p:nvSpPr>
        <p:spPr>
          <a:xfrm>
            <a:off x="9511182" y="237744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Transformer</a:t>
            </a:r>
            <a:endParaRPr lang="en-US" sz="1250" dirty="0"/>
          </a:p>
        </p:txBody>
      </p:sp>
      <p:sp>
        <p:nvSpPr>
          <p:cNvPr id="42" name="Shape 39"/>
          <p:cNvSpPr/>
          <p:nvPr/>
        </p:nvSpPr>
        <p:spPr>
          <a:xfrm>
            <a:off x="11249863" y="3127248"/>
            <a:ext cx="237744" cy="237744"/>
          </a:xfrm>
          <a:prstGeom prst="ellipse">
            <a:avLst/>
          </a:prstGeom>
          <a:solidFill>
            <a:srgbClr val="0E7C7B"/>
          </a:solidFill>
          <a:ln/>
        </p:spPr>
      </p:sp>
      <p:sp>
        <p:nvSpPr>
          <p:cNvPr id="43" name="Text 40"/>
          <p:cNvSpPr txBox="1"/>
          <p:nvPr/>
        </p:nvSpPr>
        <p:spPr>
          <a:xfrm>
            <a:off x="10728655" y="3657600"/>
            <a:ext cx="1280160" cy="365760"/>
          </a:xfrm>
          <a:prstGeom prst="rect">
            <a:avLst/>
          </a:prstGeom>
          <a:noFill/>
          <a:ln/>
        </p:spPr>
        <p:txBody>
          <a:bodyPr wrap="square" lIns="0" tIns="0" rIns="0" bIns="0" rtlCol="0" anchor="t"/>
          <a:lstStyle/>
          <a:p>
            <a:pPr algn="ctr" indent="0" marL="0">
              <a:lnSpc>
                <a:spcPct val="100000"/>
              </a:lnSpc>
              <a:buNone/>
            </a:pPr>
            <a:r>
              <a:rPr lang="en-US" sz="1800" b="1" dirty="0">
                <a:solidFill>
                  <a:srgbClr val="0E7C7B"/>
                </a:solidFill>
                <a:latin typeface="Cambria" pitchFamily="34" charset="0"/>
                <a:ea typeface="Cambria" pitchFamily="34" charset="-122"/>
                <a:cs typeface="Cambria" pitchFamily="34" charset="-120"/>
              </a:rPr>
              <a:t>2024</a:t>
            </a:r>
            <a:endParaRPr lang="en-US" sz="1800" dirty="0"/>
          </a:p>
        </p:txBody>
      </p:sp>
      <p:sp>
        <p:nvSpPr>
          <p:cNvPr id="44" name="Text 41"/>
          <p:cNvSpPr txBox="1"/>
          <p:nvPr/>
        </p:nvSpPr>
        <p:spPr>
          <a:xfrm>
            <a:off x="10682935" y="4023360"/>
            <a:ext cx="13716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16202E"/>
                </a:solidFill>
                <a:latin typeface="Calibri" pitchFamily="34" charset="0"/>
                <a:ea typeface="Calibri" pitchFamily="34" charset="-122"/>
                <a:cs typeface="Calibri" pitchFamily="34" charset="-120"/>
              </a:rPr>
              <a:t>Nobel Prizes</a:t>
            </a:r>
            <a:endParaRPr lang="en-US" sz="1300" dirty="0"/>
          </a:p>
        </p:txBody>
      </p:sp>
      <p:sp>
        <p:nvSpPr>
          <p:cNvPr id="45" name="Text 42"/>
          <p:cNvSpPr txBox="1"/>
          <p:nvPr/>
        </p:nvSpPr>
        <p:spPr>
          <a:xfrm>
            <a:off x="10682935" y="4526280"/>
            <a:ext cx="1371600" cy="548640"/>
          </a:xfrm>
          <a:prstGeom prst="rect">
            <a:avLst/>
          </a:prstGeom>
          <a:noFill/>
          <a:ln/>
        </p:spPr>
        <p:txBody>
          <a:bodyPr wrap="square" lIns="0" tIns="0" rIns="0" bIns="0" rtlCol="0" anchor="t"/>
          <a:lstStyle/>
          <a:p>
            <a:pPr algn="ctr" indent="0" marL="0">
              <a:lnSpc>
                <a:spcPct val="100000"/>
              </a:lnSpc>
              <a:buNone/>
            </a:pPr>
            <a:r>
              <a:rPr lang="en-US" sz="1250" dirty="0">
                <a:solidFill>
                  <a:srgbClr val="5B6675"/>
                </a:solidFill>
                <a:latin typeface="Calibri" pitchFamily="34" charset="0"/>
                <a:ea typeface="Calibri" pitchFamily="34" charset="-122"/>
                <a:cs typeface="Calibri" pitchFamily="34" charset="-120"/>
              </a:rPr>
              <a:t>Physics and Chemistry</a:t>
            </a:r>
            <a:endParaRPr lang="en-US" sz="1250" dirty="0"/>
          </a:p>
        </p:txBody>
      </p:sp>
      <p:sp>
        <p:nvSpPr>
          <p:cNvPr id="46" name="Shape 43"/>
          <p:cNvSpPr/>
          <p:nvPr/>
        </p:nvSpPr>
        <p:spPr>
          <a:xfrm>
            <a:off x="548640" y="5349240"/>
            <a:ext cx="11094415" cy="777240"/>
          </a:xfrm>
          <a:prstGeom prst="roundRect">
            <a:avLst>
              <a:gd name="adj" fmla="val 9412"/>
            </a:avLst>
          </a:prstGeom>
          <a:solidFill>
            <a:srgbClr val="E3F2F1"/>
          </a:solidFill>
          <a:ln/>
        </p:spPr>
      </p:sp>
      <p:sp>
        <p:nvSpPr>
          <p:cNvPr id="47" name="Text 44"/>
          <p:cNvSpPr txBox="1"/>
          <p:nvPr/>
        </p:nvSpPr>
        <p:spPr>
          <a:xfrm>
            <a:off x="822960" y="5349240"/>
            <a:ext cx="10545775" cy="777240"/>
          </a:xfrm>
          <a:prstGeom prst="rect">
            <a:avLst/>
          </a:prstGeom>
          <a:noFill/>
          <a:ln/>
        </p:spPr>
        <p:txBody>
          <a:bodyPr wrap="square" lIns="0" tIns="0" rIns="0" bIns="0" rtlCol="0" anchor="ctr"/>
          <a:lstStyle/>
          <a:p>
            <a:pPr algn="l" indent="0" marL="0">
              <a:lnSpc>
                <a:spcPct val="100000"/>
              </a:lnSpc>
              <a:buNone/>
            </a:pPr>
            <a:r>
              <a:rPr lang="en-US" sz="1550" dirty="0">
                <a:solidFill>
                  <a:srgbClr val="16202E"/>
                </a:solidFill>
                <a:latin typeface="Calibri" pitchFamily="34" charset="0"/>
                <a:ea typeface="Calibri" pitchFamily="34" charset="-122"/>
                <a:cs typeface="Calibri" pitchFamily="34" charset="-120"/>
              </a:rPr>
              <a:t>Backprop was popularized in 1986; deep learning took off around 2012, once data (ImageNet), GPUs and training techniques caught up.</a:t>
            </a:r>
            <a:endParaRPr lang="en-US" sz="15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A8 · JUDGMENT</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When not to reach for a neural network</a:t>
            </a:r>
            <a:endParaRPr lang="en-US" sz="2700" dirty="0"/>
          </a:p>
        </p:txBody>
      </p:sp>
      <p:sp>
        <p:nvSpPr>
          <p:cNvPr id="5" name="Shape 2"/>
          <p:cNvSpPr/>
          <p:nvPr/>
        </p:nvSpPr>
        <p:spPr>
          <a:xfrm>
            <a:off x="548640" y="1371600"/>
            <a:ext cx="5455768" cy="1691640"/>
          </a:xfrm>
          <a:prstGeom prst="roundRect">
            <a:avLst>
              <a:gd name="adj" fmla="val 4324"/>
            </a:avLst>
          </a:prstGeom>
          <a:solidFill>
            <a:srgbClr val="F3F5F8"/>
          </a:solidFill>
          <a:ln/>
        </p:spPr>
      </p:sp>
      <p:sp>
        <p:nvSpPr>
          <p:cNvPr id="6" name="Text 3"/>
          <p:cNvSpPr txBox="1"/>
          <p:nvPr/>
        </p:nvSpPr>
        <p:spPr>
          <a:xfrm>
            <a:off x="822960" y="1508760"/>
            <a:ext cx="499856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Small data</a:t>
            </a:r>
            <a:endParaRPr lang="en-US" sz="1700" dirty="0"/>
          </a:p>
        </p:txBody>
      </p:sp>
      <p:sp>
        <p:nvSpPr>
          <p:cNvPr id="7" name="Text 4"/>
          <p:cNvSpPr txBox="1"/>
          <p:nvPr/>
        </p:nvSpPr>
        <p:spPr>
          <a:xfrm>
            <a:off x="822960" y="1938528"/>
            <a:ext cx="4998568" cy="10515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A few hundred rows: regularized linear models, boosted trees or a Gaussian process are hard to beat.</a:t>
            </a:r>
            <a:endParaRPr lang="en-US" sz="1500" dirty="0"/>
          </a:p>
        </p:txBody>
      </p:sp>
      <p:sp>
        <p:nvSpPr>
          <p:cNvPr id="8" name="Shape 5"/>
          <p:cNvSpPr/>
          <p:nvPr/>
        </p:nvSpPr>
        <p:spPr>
          <a:xfrm>
            <a:off x="6187288" y="1371600"/>
            <a:ext cx="5455768" cy="1691640"/>
          </a:xfrm>
          <a:prstGeom prst="roundRect">
            <a:avLst>
              <a:gd name="adj" fmla="val 4324"/>
            </a:avLst>
          </a:prstGeom>
          <a:solidFill>
            <a:srgbClr val="F3F5F8"/>
          </a:solidFill>
          <a:ln/>
        </p:spPr>
      </p:sp>
      <p:sp>
        <p:nvSpPr>
          <p:cNvPr id="9" name="Text 6"/>
          <p:cNvSpPr txBox="1"/>
          <p:nvPr/>
        </p:nvSpPr>
        <p:spPr>
          <a:xfrm>
            <a:off x="6461608" y="1508760"/>
            <a:ext cx="499856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Tabular data</a:t>
            </a:r>
            <a:endParaRPr lang="en-US" sz="1700" dirty="0"/>
          </a:p>
        </p:txBody>
      </p:sp>
      <p:sp>
        <p:nvSpPr>
          <p:cNvPr id="10" name="Text 7"/>
          <p:cNvSpPr txBox="1"/>
          <p:nvPr/>
        </p:nvSpPr>
        <p:spPr>
          <a:xfrm>
            <a:off x="6461608" y="1938528"/>
            <a:ext cx="4998568" cy="10515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Gradient-boosted trees remain strong (Grinsztajn et al., 2022). Pretrained tabular models such as TabPFN are now competitive on many datasets.</a:t>
            </a:r>
            <a:endParaRPr lang="en-US" sz="1500" dirty="0"/>
          </a:p>
        </p:txBody>
      </p:sp>
      <p:sp>
        <p:nvSpPr>
          <p:cNvPr id="11" name="Shape 8"/>
          <p:cNvSpPr/>
          <p:nvPr/>
        </p:nvSpPr>
        <p:spPr>
          <a:xfrm>
            <a:off x="548640" y="3246120"/>
            <a:ext cx="5455768" cy="1691640"/>
          </a:xfrm>
          <a:prstGeom prst="roundRect">
            <a:avLst>
              <a:gd name="adj" fmla="val 4324"/>
            </a:avLst>
          </a:prstGeom>
          <a:solidFill>
            <a:srgbClr val="F3F5F8"/>
          </a:solidFill>
          <a:ln/>
        </p:spPr>
      </p:sp>
      <p:sp>
        <p:nvSpPr>
          <p:cNvPr id="12" name="Text 9"/>
          <p:cNvSpPr txBox="1"/>
          <p:nvPr/>
        </p:nvSpPr>
        <p:spPr>
          <a:xfrm>
            <a:off x="822960" y="3383280"/>
            <a:ext cx="499856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Every decision must be explained</a:t>
            </a:r>
            <a:endParaRPr lang="en-US" sz="1700" dirty="0"/>
          </a:p>
        </p:txBody>
      </p:sp>
      <p:sp>
        <p:nvSpPr>
          <p:cNvPr id="13" name="Text 10"/>
          <p:cNvSpPr txBox="1"/>
          <p:nvPr/>
        </p:nvSpPr>
        <p:spPr>
          <a:xfrm>
            <a:off x="822960" y="3813048"/>
            <a:ext cx="4998568" cy="10515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A logistic regression or a small tree is easier to audit and defend.</a:t>
            </a:r>
            <a:endParaRPr lang="en-US" sz="1500" dirty="0"/>
          </a:p>
        </p:txBody>
      </p:sp>
      <p:sp>
        <p:nvSpPr>
          <p:cNvPr id="14" name="Shape 11"/>
          <p:cNvSpPr/>
          <p:nvPr/>
        </p:nvSpPr>
        <p:spPr>
          <a:xfrm>
            <a:off x="6187288" y="3246120"/>
            <a:ext cx="5455768" cy="1691640"/>
          </a:xfrm>
          <a:prstGeom prst="roundRect">
            <a:avLst>
              <a:gd name="adj" fmla="val 4324"/>
            </a:avLst>
          </a:prstGeom>
          <a:solidFill>
            <a:srgbClr val="F3F5F8"/>
          </a:solidFill>
          <a:ln/>
        </p:spPr>
      </p:sp>
      <p:sp>
        <p:nvSpPr>
          <p:cNvPr id="15" name="Text 12"/>
          <p:cNvSpPr txBox="1"/>
          <p:nvPr/>
        </p:nvSpPr>
        <p:spPr>
          <a:xfrm>
            <a:off x="6461608" y="3383280"/>
            <a:ext cx="4998568" cy="365760"/>
          </a:xfrm>
          <a:prstGeom prst="rect">
            <a:avLst/>
          </a:prstGeom>
          <a:noFill/>
          <a:ln/>
        </p:spPr>
        <p:txBody>
          <a:bodyPr wrap="square" lIns="0" tIns="0" rIns="0" bIns="0" rtlCol="0" anchor="t"/>
          <a:lstStyle/>
          <a:p>
            <a:pPr algn="l" indent="0" marL="0">
              <a:lnSpc>
                <a:spcPct val="100000"/>
              </a:lnSpc>
              <a:buNone/>
            </a:pPr>
            <a:r>
              <a:rPr lang="en-US" sz="1700" b="1" dirty="0">
                <a:solidFill>
                  <a:srgbClr val="16202E"/>
                </a:solidFill>
                <a:latin typeface="Calibri" pitchFamily="34" charset="0"/>
                <a:ea typeface="Calibri" pitchFamily="34" charset="-122"/>
                <a:cs typeface="Calibri" pitchFamily="34" charset="-120"/>
              </a:rPr>
              <a:t>No baseline yet</a:t>
            </a:r>
            <a:endParaRPr lang="en-US" sz="1700" dirty="0"/>
          </a:p>
        </p:txBody>
      </p:sp>
      <p:sp>
        <p:nvSpPr>
          <p:cNvPr id="16" name="Text 13"/>
          <p:cNvSpPr txBox="1"/>
          <p:nvPr/>
        </p:nvSpPr>
        <p:spPr>
          <a:xfrm>
            <a:off x="6461608" y="3813048"/>
            <a:ext cx="4998568" cy="1051560"/>
          </a:xfrm>
          <a:prstGeom prst="rect">
            <a:avLst/>
          </a:prstGeom>
          <a:noFill/>
          <a:ln/>
        </p:spPr>
        <p:txBody>
          <a:bodyPr wrap="square" lIns="0" tIns="0" rIns="0" bIns="0" rtlCol="0" anchor="t"/>
          <a:lstStyle/>
          <a:p>
            <a:pPr algn="l" indent="0" marL="0">
              <a:lnSpc>
                <a:spcPct val="100000"/>
              </a:lnSpc>
              <a:buNone/>
            </a:pPr>
            <a:r>
              <a:rPr lang="en-US" sz="1500" dirty="0">
                <a:solidFill>
                  <a:srgbClr val="5B6675"/>
                </a:solidFill>
                <a:latin typeface="Calibri" pitchFamily="34" charset="0"/>
                <a:ea typeface="Calibri" pitchFamily="34" charset="-122"/>
                <a:cs typeface="Calibri" pitchFamily="34" charset="-120"/>
              </a:rPr>
              <a:t>Fit the simple model first: it tells you what score is easy. Our linear baseline: 84.5%.</a:t>
            </a:r>
            <a:endParaRPr lang="en-US" sz="1500" dirty="0"/>
          </a:p>
        </p:txBody>
      </p:sp>
      <p:sp>
        <p:nvSpPr>
          <p:cNvPr id="17" name="Shape 14"/>
          <p:cNvSpPr/>
          <p:nvPr/>
        </p:nvSpPr>
        <p:spPr>
          <a:xfrm>
            <a:off x="548640" y="5257800"/>
            <a:ext cx="11094415" cy="868680"/>
          </a:xfrm>
          <a:prstGeom prst="roundRect">
            <a:avLst>
              <a:gd name="adj" fmla="val 8421"/>
            </a:avLst>
          </a:prstGeom>
          <a:solidFill>
            <a:srgbClr val="E3F2F1"/>
          </a:solidFill>
          <a:ln/>
        </p:spPr>
      </p:sp>
      <p:sp>
        <p:nvSpPr>
          <p:cNvPr id="18" name="Text 15"/>
          <p:cNvSpPr txBox="1"/>
          <p:nvPr/>
        </p:nvSpPr>
        <p:spPr>
          <a:xfrm>
            <a:off x="822960" y="5257800"/>
            <a:ext cx="10545775" cy="868680"/>
          </a:xfrm>
          <a:prstGeom prst="rect">
            <a:avLst/>
          </a:prstGeom>
          <a:noFill/>
          <a:ln/>
        </p:spPr>
        <p:txBody>
          <a:bodyPr wrap="square" lIns="0" tIns="0" rIns="0" bIns="0" rtlCol="0" anchor="ctr"/>
          <a:lstStyle/>
          <a:p>
            <a:pPr algn="l" indent="0" marL="0">
              <a:lnSpc>
                <a:spcPct val="100000"/>
              </a:lnSpc>
              <a:buNone/>
            </a:pPr>
            <a:r>
              <a:rPr lang="en-US" sz="1600" dirty="0">
                <a:solidFill>
                  <a:srgbClr val="16202E"/>
                </a:solidFill>
                <a:latin typeface="Calibri" pitchFamily="34" charset="0"/>
                <a:ea typeface="Calibri" pitchFamily="34" charset="-122"/>
                <a:cs typeface="Calibri" pitchFamily="34" charset="-120"/>
              </a:rPr>
              <a:t>Networks shine on abundant data whose structure is hard to describe by hand: images, audio, text, molecules.</a:t>
            </a:r>
            <a:endParaRPr lang="en-US" sz="16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56032"/>
          </a:xfrm>
          <a:prstGeom prst="rect">
            <a:avLst/>
          </a:prstGeom>
          <a:noFill/>
          <a:ln/>
        </p:spPr>
        <p:txBody>
          <a:bodyPr wrap="square" lIns="0" tIns="0" rIns="0" bIns="0" rtlCol="0"/>
          <a:lstStyle/>
          <a:p>
            <a:pPr indent="0" marL="0">
              <a:buNone/>
            </a:pPr>
            <a:r>
              <a:rPr lang="en-US" sz="1100" b="1" spc="200" kern="0" dirty="0">
                <a:solidFill>
                  <a:srgbClr val="0E7C7B"/>
                </a:solidFill>
                <a:latin typeface="Calibri" pitchFamily="34" charset="0"/>
                <a:ea typeface="Calibri" pitchFamily="34" charset="-122"/>
                <a:cs typeface="Calibri" pitchFamily="34" charset="-120"/>
              </a:rPr>
              <a:t>REFERENCES</a:t>
            </a:r>
            <a:endParaRPr lang="en-US" sz="1100" dirty="0"/>
          </a:p>
        </p:txBody>
      </p:sp>
      <p:sp>
        <p:nvSpPr>
          <p:cNvPr id="3" name="Text 1"/>
          <p:cNvSpPr/>
          <p:nvPr>
            <p:ph idx="102" type="title" hasCustomPrompt="1"/>
          </p:nvPr>
        </p:nvSpPr>
        <p:spPr>
          <a:xfrm>
            <a:off x="548640" y="548640"/>
            <a:ext cx="11094415" cy="658368"/>
          </a:xfrm>
          <a:prstGeom prst="rect">
            <a:avLst/>
          </a:prstGeom>
          <a:noFill/>
          <a:ln/>
        </p:spPr>
        <p:txBody>
          <a:bodyPr wrap="square" lIns="0" tIns="0" rIns="0" bIns="0" rtlCol="0" anchor="ctr"/>
          <a:lstStyle/>
          <a:p>
            <a:pPr algn="l" indent="0" marL="0">
              <a:buNone/>
            </a:pPr>
            <a:r>
              <a:rPr lang="en-US" sz="2700" b="1" dirty="0">
                <a:solidFill>
                  <a:srgbClr val="16202E"/>
                </a:solidFill>
                <a:latin typeface="Cambria" pitchFamily="34" charset="0"/>
                <a:ea typeface="Cambria" pitchFamily="34" charset="-122"/>
                <a:cs typeface="Cambria" pitchFamily="34" charset="-120"/>
              </a:rPr>
              <a:t>References and further reading</a:t>
            </a:r>
            <a:endParaRPr lang="en-US" sz="2700" dirty="0"/>
          </a:p>
        </p:txBody>
      </p:sp>
      <p:sp>
        <p:nvSpPr>
          <p:cNvPr id="5" name="Text 2"/>
          <p:cNvSpPr txBox="1"/>
          <p:nvPr/>
        </p:nvSpPr>
        <p:spPr>
          <a:xfrm>
            <a:off x="548640" y="1371600"/>
            <a:ext cx="5394960" cy="4846320"/>
          </a:xfrm>
          <a:prstGeom prst="rect">
            <a:avLst/>
          </a:prstGeom>
          <a:noFill/>
          <a:ln/>
        </p:spPr>
        <p:txBody>
          <a:bodyPr wrap="square" lIns="0" tIns="0" rIns="0" bIns="0" rtlCol="0" anchor="t"/>
          <a:lstStyle/>
          <a:p>
            <a:pPr algn="l" indent="0" marL="0">
              <a:lnSpc>
                <a:spcPct val="100000"/>
              </a:lnSpc>
              <a:spcAft>
                <a:spcPts val="300"/>
              </a:spcAft>
              <a:buNone/>
            </a:pPr>
            <a:r>
              <a:rPr lang="en-US" sz="1350" b="1" dirty="0">
                <a:solidFill>
                  <a:srgbClr val="16202E"/>
                </a:solidFill>
                <a:latin typeface="Calibri" pitchFamily="34" charset="0"/>
                <a:ea typeface="Calibri" pitchFamily="34" charset="-122"/>
                <a:cs typeface="Calibri" pitchFamily="34" charset="-120"/>
              </a:rPr>
              <a:t>Textbooks and courses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Goodfellow, Bengio &amp; Courville (2016). Deep Learning. MIT Press.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Prince (2023). Understanding Deep Learning. MIT Press.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Zhang, Lipton, Li &amp; Smola (2023). Dive into Deep Learning. Cambridge UP.</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Nielsen (2015). Neural Networks and Deep Learning (BP1–BP4).</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Stanford CS231n notes (gradient checking). Karpathy (2019). A recipe for training neural networks.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Mazur (1997). Peer Instruction. Prentice Hall.</a:t>
            </a:r>
            <a:pPr algn="l" indent="0" marL="0">
              <a:lnSpc>
                <a:spcPct val="100000"/>
              </a:lnSpc>
              <a:spcAft>
                <a:spcPts val="300"/>
              </a:spcAft>
              <a:buNone/>
            </a:pPr>
            <a:endParaRPr lang="en-US" sz="1350" dirty="0"/>
          </a:p>
          <a:p>
            <a:pPr algn="l" indent="0" marL="0">
              <a:lnSpc>
                <a:spcPct val="100000"/>
              </a:lnSpc>
              <a:spcAft>
                <a:spcPts val="300"/>
              </a:spcAft>
              <a:buNone/>
            </a:pPr>
            <a:endParaRPr lang="en-US" sz="1350" dirty="0"/>
          </a:p>
          <a:p>
            <a:pPr algn="l" indent="0" marL="0">
              <a:lnSpc>
                <a:spcPct val="100000"/>
              </a:lnSpc>
              <a:spcAft>
                <a:spcPts val="300"/>
              </a:spcAft>
              <a:buNone/>
            </a:pPr>
            <a:r>
              <a:rPr lang="en-US" sz="1350" b="1" dirty="0">
                <a:solidFill>
                  <a:srgbClr val="16202E"/>
                </a:solidFill>
                <a:latin typeface="Calibri" pitchFamily="34" charset="0"/>
                <a:ea typeface="Calibri" pitchFamily="34" charset="-122"/>
                <a:cs typeface="Calibri" pitchFamily="34" charset="-120"/>
              </a:rPr>
              <a:t>Data</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Xiao, Rasul &amp; Vollgraf (2017). Fashion-MNIST. arXiv:1708.07747.</a:t>
            </a:r>
            <a:endParaRPr lang="en-US" sz="1350" dirty="0"/>
          </a:p>
        </p:txBody>
      </p:sp>
      <p:sp>
        <p:nvSpPr>
          <p:cNvPr id="6" name="Text 3"/>
          <p:cNvSpPr txBox="1"/>
          <p:nvPr/>
        </p:nvSpPr>
        <p:spPr>
          <a:xfrm>
            <a:off x="6172200" y="1371600"/>
            <a:ext cx="5468112" cy="4846320"/>
          </a:xfrm>
          <a:prstGeom prst="rect">
            <a:avLst/>
          </a:prstGeom>
          <a:noFill/>
          <a:ln/>
        </p:spPr>
        <p:txBody>
          <a:bodyPr wrap="square" lIns="0" tIns="0" rIns="0" bIns="0" rtlCol="0" anchor="t"/>
          <a:lstStyle/>
          <a:p>
            <a:pPr algn="l" indent="0" marL="0">
              <a:lnSpc>
                <a:spcPct val="100000"/>
              </a:lnSpc>
              <a:spcAft>
                <a:spcPts val="300"/>
              </a:spcAft>
              <a:buNone/>
            </a:pPr>
            <a:r>
              <a:rPr lang="en-US" sz="1350" b="1" dirty="0">
                <a:solidFill>
                  <a:srgbClr val="16202E"/>
                </a:solidFill>
                <a:latin typeface="Calibri" pitchFamily="34" charset="0"/>
                <a:ea typeface="Calibri" pitchFamily="34" charset="-122"/>
                <a:cs typeface="Calibri" pitchFamily="34" charset="-120"/>
              </a:rPr>
              <a:t>Neurons, expressivity, history</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McCulloch &amp; Pitts (1943); Rosenblatt (1958); Minsky &amp; Papert (1969).</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Cybenko (1989); Hornik (1991); Leshno, Lin, Pinkus &amp; Schocken (1993).</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Glorot, Bordes &amp; Bengio (2011). Deep sparse rectifier networks. AISTATS.</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Linnainmaa (1970); Werbos (1974); Rumelhart, Hinton &amp; Williams (1986). Nature 323.</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Krizhevsky, Sutskever &amp; Hinton (2012). NeurIPS. He et al. (2016). CVPR.</a:t>
            </a:r>
            <a:pPr algn="l" indent="0" marL="0">
              <a:lnSpc>
                <a:spcPct val="100000"/>
              </a:lnSpc>
              <a:spcAft>
                <a:spcPts val="300"/>
              </a:spcAft>
              <a:buNone/>
            </a:pPr>
            <a:endParaRPr lang="en-US" sz="1350" dirty="0"/>
          </a:p>
          <a:p>
            <a:pPr algn="l" indent="0" marL="0">
              <a:lnSpc>
                <a:spcPct val="100000"/>
              </a:lnSpc>
              <a:spcAft>
                <a:spcPts val="300"/>
              </a:spcAft>
              <a:buNone/>
            </a:pPr>
            <a:endParaRPr lang="en-US" sz="1350" dirty="0"/>
          </a:p>
          <a:p>
            <a:pPr algn="l" indent="0" marL="0">
              <a:lnSpc>
                <a:spcPct val="100000"/>
              </a:lnSpc>
              <a:spcAft>
                <a:spcPts val="300"/>
              </a:spcAft>
              <a:buNone/>
            </a:pPr>
            <a:r>
              <a:rPr lang="en-US" sz="1350" b="1" dirty="0">
                <a:solidFill>
                  <a:srgbClr val="16202E"/>
                </a:solidFill>
                <a:latin typeface="Calibri" pitchFamily="34" charset="0"/>
                <a:ea typeface="Calibri" pitchFamily="34" charset="-122"/>
                <a:cs typeface="Calibri" pitchFamily="34" charset="-120"/>
              </a:rPr>
              <a:t>Optimization and judgment</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Kingma &amp; Ba (2015). Adam. ICLR. Loshchilov &amp; Hutter (2019). AdamW. ICLR.</a:t>
            </a:r>
            <a:pPr algn="l" indent="0" marL="0">
              <a:lnSpc>
                <a:spcPct val="100000"/>
              </a:lnSpc>
              <a:spcAft>
                <a:spcPts val="300"/>
              </a:spcAft>
              <a:buNone/>
            </a:pPr>
            <a:endParaRPr lang="en-US" sz="1350" dirty="0"/>
          </a:p>
          <a:p>
            <a:pPr algn="l" indent="0" marL="0">
              <a:lnSpc>
                <a:spcPct val="100000"/>
              </a:lnSpc>
              <a:spcAft>
                <a:spcPts val="300"/>
              </a:spcAft>
              <a:buNone/>
            </a:pPr>
            <a:r>
              <a:rPr lang="en-US" sz="1350" dirty="0">
                <a:solidFill>
                  <a:srgbClr val="16202E"/>
                </a:solidFill>
                <a:latin typeface="Calibri" pitchFamily="34" charset="0"/>
                <a:ea typeface="Calibri" pitchFamily="34" charset="-122"/>
                <a:cs typeface="Calibri" pitchFamily="34" charset="-120"/>
              </a:rPr>
              <a:t>Grinsztajn, Oyallon &amp; Varoquaux (2022). NeurIPS. Hollmann et al. (2025). Nature 637.</a:t>
            </a:r>
            <a:endParaRPr lang="en-US" sz="135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theme/theme1.xml><?xml version="1.0" encoding="utf-8"?>
<a:theme xmlns:a="http://schemas.openxmlformats.org/drawingml/2006/main" name="DNN Session 1">
  <a:themeElements>
    <a:clrScheme name="DNN Session 1">
      <a:dk1>
        <a:srgbClr val="16202E"/>
      </a:dk1>
      <a:lt1>
        <a:srgbClr val="FFFFFF"/>
      </a:lt1>
      <a:dk2>
        <a:srgbClr val="1E2A3B"/>
      </a:dk2>
      <a:lt2>
        <a:srgbClr val="F3F5F8"/>
      </a:lt2>
      <a:accent1>
        <a:srgbClr val="0E7C7B"/>
      </a:accent1>
      <a:accent2>
        <a:srgbClr val="D9611A"/>
      </a:accent2>
      <a:accent3>
        <a:srgbClr val="5B4FCF"/>
      </a:accent3>
      <a:accent4>
        <a:srgbClr val="B83227"/>
      </a:accent4>
      <a:accent5>
        <a:srgbClr val="8A94A3"/>
      </a:accent5>
      <a:accent6>
        <a:srgbClr val="2F6F9F"/>
      </a:accent6>
      <a:hlink>
        <a:srgbClr val="0E7C7B"/>
      </a:hlink>
      <a:folHlink>
        <a:srgbClr val="5B4FCF"/>
      </a:folHlink>
    </a:clrScheme>
    <a:fontScheme name="DNN Session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2026-10-25T13:47:26Z</dcterms:created>
  <dcterms:modified xsi:type="dcterms:W3CDTF">2026-10-25T13:47:26Z</dcterms:modified>
</cp:coreProperties>
</file>