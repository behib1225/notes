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4.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5.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charts/chart8.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9.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charts/chart10.xml" ContentType="application/vnd.openxmlformats-officedocument.drawingml.chart+xml"/>
  <Override PartName="/ppt/charts/chart11.xml" ContentType="application/vnd.openxmlformats-officedocument.drawingml.chart+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charts/chart12.xml" ContentType="application/vnd.openxmlformats-officedocument.drawingml.chart+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charts/chart13.xml" ContentType="application/vnd.openxmlformats-officedocument.drawingml.chart+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charts/chart14.xml" ContentType="application/vnd.openxmlformats-officedocument.drawingml.chart+xml"/>
  <Override PartName="/ppt/charts/chart15.xml" ContentType="application/vnd.openxmlformats-officedocument.drawingml.chart+xml"/>
  <Override PartName="/ppt/slideMasters/slideMaster52.xml" ContentType="application/vnd.openxmlformats-officedocument.presentationml.slideMaster+xml"/>
  <Override PartName="/ppt/slides/slide52.xml" ContentType="application/vnd.openxmlformats-officedocument.presentationml.slide+xml"/>
  <Override PartName="/ppt/charts/chart16.xml" ContentType="application/vnd.openxmlformats-officedocument.drawingml.chart+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charts/chart17.xml" ContentType="application/vnd.openxmlformats-officedocument.drawingml.chart+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notesMasterIdLst>
    <p:notesMasterId r:id="rId7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8d3382c-ddd2-9ac2-3fa3-dbe7f2e9369f}">
          <p14:sldIdLst>
            <p14:sldId id="256"/>
            <p14:sldId id="257"/>
            <p14:sldId id="258"/>
          </p14:sldIdLst>
        </p14:section>
        <p14:section name="Part 1 · Foundations" id="{38d216f5-a890-aa53-cbf9-0c51d84a2125}">
          <p14:sldIdLst>
            <p14:sldId id="259"/>
            <p14:sldId id="260"/>
            <p14:sldId id="261"/>
            <p14:sldId id="262"/>
            <p14:sldId id="263"/>
            <p14:sldId id="264"/>
            <p14:sldId id="265"/>
            <p14:sldId id="266"/>
            <p14:sldId id="267"/>
            <p14:sldId id="268"/>
            <p14:sldId id="269"/>
            <p14:sldId id="270"/>
            <p14:sldId id="271"/>
            <p14:sldId id="272"/>
            <p14:sldId id="273"/>
            <p14:sldId id="274"/>
            <p14:sldId id="275"/>
            <p14:sldId id="276"/>
          </p14:sldIdLst>
        </p14:section>
        <p14:section name="Part 2 · Learning" id="{2386b4d6-e5dc-6678-f43a-757e59c289bc}">
          <p14:sldIdLst>
            <p14:sldId id="277"/>
            <p14:sldId id="278"/>
            <p14:sldId id="279"/>
            <p14:sldId id="280"/>
            <p14:sldId id="281"/>
            <p14:sldId id="282"/>
            <p14:sldId id="283"/>
            <p14:sldId id="284"/>
            <p14:sldId id="285"/>
            <p14:sldId id="286"/>
            <p14:sldId id="287"/>
            <p14:sldId id="288"/>
            <p14:sldId id="289"/>
            <p14:sldId id="290"/>
            <p14:sldId id="291"/>
            <p14:sldId id="292"/>
            <p14:sldId id="293"/>
            <p14:sldId id="294"/>
          </p14:sldIdLst>
        </p14:section>
        <p14:section name="Break" id="{2e033c54-974f-97f5-3583-c703b213daff}">
          <p14:sldIdLst>
            <p14:sldId id="295"/>
          </p14:sldIdLst>
        </p14:section>
        <p14:section name="Part 3 · Train &amp; generalize" id="{b15ba2d3-d00d-0185-25f4-e08cebd03e56}">
          <p14:sldIdLst>
            <p14:sldId id="296"/>
            <p14:sldId id="297"/>
            <p14:sldId id="298"/>
            <p14:sldId id="299"/>
            <p14:sldId id="300"/>
            <p14:sldId id="301"/>
            <p14:sldId id="302"/>
            <p14:sldId id="303"/>
            <p14:sldId id="304"/>
            <p14:sldId id="305"/>
            <p14:sldId id="306"/>
            <p14:sldId id="307"/>
            <p14:sldId id="308"/>
            <p14:sldId id="309"/>
            <p14:sldId id="310"/>
            <p14:sldId id="311"/>
            <p14:sldId id="312"/>
          </p14:sldIdLst>
        </p14:section>
        <p14:section name="Wrap-up" id="{cf350e3e-c114-be34-a98f-fdf6330e26f7}">
          <p14:sldIdLst>
            <p14:sldId id="313"/>
          </p14:sldIdLst>
        </p14:section>
        <p14:section name="Appendix" id="{4b396058-6324-5b93-1d70-5ad9a0249172}">
          <p14:sldIdLst>
            <p14:sldId id="314"/>
            <p14:sldId id="315"/>
            <p14:sldId id="316"/>
            <p14:sldId id="317"/>
            <p14:sldId id="318"/>
            <p14:sldId id="319"/>
            <p14:sldId id="320"/>
            <p14:sldId id="321"/>
            <p14:sldId id="322"/>
            <p14:sldId id="323"/>
            <p14:sldId id="324"/>
            <p14:sldId id="325"/>
            <p14:sldId id="32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σ(z)</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Sheet1!$B$2:$B$50</c:f>
              <c:numCache>
                <c:formatCode>General</c:formatCode>
                <c:ptCount val="49"/>
                <c:pt idx="0">
                  <c:v>0.0025</c:v>
                </c:pt>
                <c:pt idx="1">
                  <c:v>0.0032</c:v>
                </c:pt>
                <c:pt idx="2">
                  <c:v>0.0041</c:v>
                </c:pt>
                <c:pt idx="3">
                  <c:v>0.0052</c:v>
                </c:pt>
                <c:pt idx="4">
                  <c:v>0.0067</c:v>
                </c:pt>
                <c:pt idx="5">
                  <c:v>0.0086</c:v>
                </c:pt>
                <c:pt idx="6">
                  <c:v>0.011</c:v>
                </c:pt>
                <c:pt idx="7">
                  <c:v>0.0141</c:v>
                </c:pt>
                <c:pt idx="8">
                  <c:v>0.018</c:v>
                </c:pt>
                <c:pt idx="9">
                  <c:v>0.023</c:v>
                </c:pt>
                <c:pt idx="10">
                  <c:v>0.0293</c:v>
                </c:pt>
                <c:pt idx="11">
                  <c:v>0.0373</c:v>
                </c:pt>
                <c:pt idx="12">
                  <c:v>0.0474</c:v>
                </c:pt>
                <c:pt idx="13">
                  <c:v>0.0601</c:v>
                </c:pt>
                <c:pt idx="14">
                  <c:v>0.0759</c:v>
                </c:pt>
                <c:pt idx="15">
                  <c:v>0.0953</c:v>
                </c:pt>
                <c:pt idx="16">
                  <c:v>0.1192</c:v>
                </c:pt>
                <c:pt idx="17">
                  <c:v>0.148</c:v>
                </c:pt>
                <c:pt idx="18">
                  <c:v>0.1824</c:v>
                </c:pt>
                <c:pt idx="19">
                  <c:v>0.2227</c:v>
                </c:pt>
                <c:pt idx="20">
                  <c:v>0.2689</c:v>
                </c:pt>
                <c:pt idx="21">
                  <c:v>0.3208</c:v>
                </c:pt>
                <c:pt idx="22">
                  <c:v>0.3775</c:v>
                </c:pt>
                <c:pt idx="23">
                  <c:v>0.4378</c:v>
                </c:pt>
                <c:pt idx="24">
                  <c:v>0.5</c:v>
                </c:pt>
                <c:pt idx="25">
                  <c:v>0.5622</c:v>
                </c:pt>
                <c:pt idx="26">
                  <c:v>0.6225</c:v>
                </c:pt>
                <c:pt idx="27">
                  <c:v>0.6792</c:v>
                </c:pt>
                <c:pt idx="28">
                  <c:v>0.7311</c:v>
                </c:pt>
                <c:pt idx="29">
                  <c:v>0.7773</c:v>
                </c:pt>
                <c:pt idx="30">
                  <c:v>0.8176</c:v>
                </c:pt>
                <c:pt idx="31">
                  <c:v>0.852</c:v>
                </c:pt>
                <c:pt idx="32">
                  <c:v>0.8808</c:v>
                </c:pt>
                <c:pt idx="33">
                  <c:v>0.9047</c:v>
                </c:pt>
                <c:pt idx="34">
                  <c:v>0.9241</c:v>
                </c:pt>
                <c:pt idx="35">
                  <c:v>0.9399</c:v>
                </c:pt>
                <c:pt idx="36">
                  <c:v>0.9526</c:v>
                </c:pt>
                <c:pt idx="37">
                  <c:v>0.9627</c:v>
                </c:pt>
                <c:pt idx="38">
                  <c:v>0.9707</c:v>
                </c:pt>
                <c:pt idx="39">
                  <c:v>0.977</c:v>
                </c:pt>
                <c:pt idx="40">
                  <c:v>0.982</c:v>
                </c:pt>
                <c:pt idx="41">
                  <c:v>0.9859</c:v>
                </c:pt>
                <c:pt idx="42">
                  <c:v>0.989</c:v>
                </c:pt>
                <c:pt idx="43">
                  <c:v>0.9914</c:v>
                </c:pt>
                <c:pt idx="44">
                  <c:v>0.9933</c:v>
                </c:pt>
                <c:pt idx="45">
                  <c:v>0.9948</c:v>
                </c:pt>
                <c:pt idx="46">
                  <c:v>0.9959</c:v>
                </c:pt>
                <c:pt idx="47">
                  <c:v>0.9968</c:v>
                </c:pt>
                <c:pt idx="48">
                  <c:v>0.9975</c:v>
                </c:pt>
              </c:numCache>
            </c:numRef>
          </c:yVal>
          <c:smooth val="0"/>
        </c:ser>
        <c:ser>
          <c:idx val="1"/>
          <c:order val="1"/>
          <c:tx>
            <c:strRef>
              <c:f>Sheet1!$C$1</c:f>
              <c:strCache>
                <c:ptCount val="1"/>
                <c:pt idx="0">
                  <c:v>σ′(z)</c:v>
                </c:pt>
              </c:strCache>
            </c:strRef>
          </c:tx>
          <c:spPr>
            <a:solidFill>
              <a:srgbClr val="C8571B"/>
            </a:solidFill>
            <a:ln w="31750" cap="flat">
              <a:solidFill>
                <a:srgbClr val="C8571B"/>
              </a:solidFill>
              <a:prstDash val="solid"/>
              <a:round/>
            </a:ln>
            <a:effectLst/>
          </c:spPr>
          <c:marker>
            <c:symbol val="none"/>
            <c:size val="6"/>
            <c:spPr>
              <a:solidFill>
                <a:srgbClr val="C8571B"/>
              </a:solidFill>
              <a:ln w="9525" cap="flat">
                <a:solidFill>
                  <a:srgbClr val="C8571B"/>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Sheet1!$C$2:$C$50</c:f>
              <c:numCache>
                <c:formatCode>General</c:formatCode>
                <c:ptCount val="49"/>
                <c:pt idx="0">
                  <c:v>0.0025</c:v>
                </c:pt>
                <c:pt idx="1">
                  <c:v>0.0032</c:v>
                </c:pt>
                <c:pt idx="2">
                  <c:v>0.0041</c:v>
                </c:pt>
                <c:pt idx="3">
                  <c:v>0.0052</c:v>
                </c:pt>
                <c:pt idx="4">
                  <c:v>0.0066</c:v>
                </c:pt>
                <c:pt idx="5">
                  <c:v>0.0085</c:v>
                </c:pt>
                <c:pt idx="6">
                  <c:v>0.0109</c:v>
                </c:pt>
                <c:pt idx="7">
                  <c:v>0.0139</c:v>
                </c:pt>
                <c:pt idx="8">
                  <c:v>0.0177</c:v>
                </c:pt>
                <c:pt idx="9">
                  <c:v>0.0224</c:v>
                </c:pt>
                <c:pt idx="10">
                  <c:v>0.0285</c:v>
                </c:pt>
                <c:pt idx="11">
                  <c:v>0.0359</c:v>
                </c:pt>
                <c:pt idx="12">
                  <c:v>0.0452</c:v>
                </c:pt>
                <c:pt idx="13">
                  <c:v>0.0565</c:v>
                </c:pt>
                <c:pt idx="14">
                  <c:v>0.0701</c:v>
                </c:pt>
                <c:pt idx="15">
                  <c:v>0.0863</c:v>
                </c:pt>
                <c:pt idx="16">
                  <c:v>0.105</c:v>
                </c:pt>
                <c:pt idx="17">
                  <c:v>0.1261</c:v>
                </c:pt>
                <c:pt idx="18">
                  <c:v>0.1491</c:v>
                </c:pt>
                <c:pt idx="19">
                  <c:v>0.1731</c:v>
                </c:pt>
                <c:pt idx="20">
                  <c:v>0.1966</c:v>
                </c:pt>
                <c:pt idx="21">
                  <c:v>0.2179</c:v>
                </c:pt>
                <c:pt idx="22">
                  <c:v>0.235</c:v>
                </c:pt>
                <c:pt idx="23">
                  <c:v>0.2461</c:v>
                </c:pt>
                <c:pt idx="24">
                  <c:v>0.25</c:v>
                </c:pt>
                <c:pt idx="25">
                  <c:v>0.2461</c:v>
                </c:pt>
                <c:pt idx="26">
                  <c:v>0.235</c:v>
                </c:pt>
                <c:pt idx="27">
                  <c:v>0.2179</c:v>
                </c:pt>
                <c:pt idx="28">
                  <c:v>0.1966</c:v>
                </c:pt>
                <c:pt idx="29">
                  <c:v>0.1731</c:v>
                </c:pt>
                <c:pt idx="30">
                  <c:v>0.1491</c:v>
                </c:pt>
                <c:pt idx="31">
                  <c:v>0.1261</c:v>
                </c:pt>
                <c:pt idx="32">
                  <c:v>0.105</c:v>
                </c:pt>
                <c:pt idx="33">
                  <c:v>0.0863</c:v>
                </c:pt>
                <c:pt idx="34">
                  <c:v>0.0701</c:v>
                </c:pt>
                <c:pt idx="35">
                  <c:v>0.0565</c:v>
                </c:pt>
                <c:pt idx="36">
                  <c:v>0.0452</c:v>
                </c:pt>
                <c:pt idx="37">
                  <c:v>0.0359</c:v>
                </c:pt>
                <c:pt idx="38">
                  <c:v>0.0285</c:v>
                </c:pt>
                <c:pt idx="39">
                  <c:v>0.0224</c:v>
                </c:pt>
                <c:pt idx="40">
                  <c:v>0.0177</c:v>
                </c:pt>
                <c:pt idx="41">
                  <c:v>0.0139</c:v>
                </c:pt>
                <c:pt idx="42">
                  <c:v>0.0109</c:v>
                </c:pt>
                <c:pt idx="43">
                  <c:v>0.0085</c:v>
                </c:pt>
                <c:pt idx="44">
                  <c:v>0.0066</c:v>
                </c:pt>
                <c:pt idx="45">
                  <c:v>0.0052</c:v>
                </c:pt>
                <c:pt idx="46">
                  <c:v>0.0041</c:v>
                </c:pt>
                <c:pt idx="47">
                  <c:v>0.0032</c:v>
                </c:pt>
                <c:pt idx="48">
                  <c:v>0.0025</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
          <c:min val="-6"/>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z</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2"/>
      </c:valAx>
      <c:valAx>
        <c:axId val="2094734552"/>
        <c:scaling>
          <c:orientation val="minMax"/>
          <c:max val="1"/>
          <c:min val="0"/>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0.25"/>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Activation g(z)</a:t>
            </a:r>
          </a:p>
        </c:rich>
      </c:tx>
      <c:layout/>
      <c:overlay val="0"/>
    </c:title>
    <c:autoTitleDeleted val="0"/>
    <c:plotArea>
      <c:layout/>
      <c:scatterChart>
        <c:scatterStyle val="lineMarker"/>
        <c:varyColors val="0"/>
        <c:ser>
          <c:idx val="0"/>
          <c:order val="0"/>
          <c:tx>
            <c:strRef>
              <c:f>Sheet1!$B$1</c:f>
              <c:strCache>
                <c:ptCount val="1"/>
                <c:pt idx="0">
                  <c:v>sigmoid</c:v>
                </c:pt>
              </c:strCache>
            </c:strRef>
          </c:tx>
          <c:spPr>
            <a:solidFill>
              <a:srgbClr val="8A94A3"/>
            </a:solidFill>
            <a:ln w="31750" cap="flat">
              <a:solidFill>
                <a:srgbClr val="8A94A3"/>
              </a:solidFill>
              <a:prstDash val="solid"/>
              <a:round/>
            </a:ln>
            <a:effectLst/>
          </c:spPr>
          <c:marker>
            <c:symbol val="none"/>
            <c:size val="6"/>
            <c:spPr>
              <a:solidFill>
                <a:srgbClr val="8A94A3"/>
              </a:solidFill>
              <a:ln w="9525" cap="flat">
                <a:solidFill>
                  <a:srgbClr val="8A94A3"/>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Sheet1!$B$2:$B$50</c:f>
              <c:numCache>
                <c:formatCode>General</c:formatCode>
                <c:ptCount val="49"/>
                <c:pt idx="0">
                  <c:v>0.0025</c:v>
                </c:pt>
                <c:pt idx="1">
                  <c:v>0.0032</c:v>
                </c:pt>
                <c:pt idx="2">
                  <c:v>0.0041</c:v>
                </c:pt>
                <c:pt idx="3">
                  <c:v>0.0052</c:v>
                </c:pt>
                <c:pt idx="4">
                  <c:v>0.0067</c:v>
                </c:pt>
                <c:pt idx="5">
                  <c:v>0.0086</c:v>
                </c:pt>
                <c:pt idx="6">
                  <c:v>0.011</c:v>
                </c:pt>
                <c:pt idx="7">
                  <c:v>0.0141</c:v>
                </c:pt>
                <c:pt idx="8">
                  <c:v>0.018</c:v>
                </c:pt>
                <c:pt idx="9">
                  <c:v>0.023</c:v>
                </c:pt>
                <c:pt idx="10">
                  <c:v>0.0293</c:v>
                </c:pt>
                <c:pt idx="11">
                  <c:v>0.0373</c:v>
                </c:pt>
                <c:pt idx="12">
                  <c:v>0.0474</c:v>
                </c:pt>
                <c:pt idx="13">
                  <c:v>0.0601</c:v>
                </c:pt>
                <c:pt idx="14">
                  <c:v>0.0759</c:v>
                </c:pt>
                <c:pt idx="15">
                  <c:v>0.0953</c:v>
                </c:pt>
                <c:pt idx="16">
                  <c:v>0.1192</c:v>
                </c:pt>
                <c:pt idx="17">
                  <c:v>0.148</c:v>
                </c:pt>
                <c:pt idx="18">
                  <c:v>0.1824</c:v>
                </c:pt>
                <c:pt idx="19">
                  <c:v>0.2227</c:v>
                </c:pt>
                <c:pt idx="20">
                  <c:v>0.2689</c:v>
                </c:pt>
                <c:pt idx="21">
                  <c:v>0.3208</c:v>
                </c:pt>
                <c:pt idx="22">
                  <c:v>0.3775</c:v>
                </c:pt>
                <c:pt idx="23">
                  <c:v>0.4378</c:v>
                </c:pt>
                <c:pt idx="24">
                  <c:v>0.5</c:v>
                </c:pt>
                <c:pt idx="25">
                  <c:v>0.5622</c:v>
                </c:pt>
                <c:pt idx="26">
                  <c:v>0.6225</c:v>
                </c:pt>
                <c:pt idx="27">
                  <c:v>0.6792</c:v>
                </c:pt>
                <c:pt idx="28">
                  <c:v>0.7311</c:v>
                </c:pt>
                <c:pt idx="29">
                  <c:v>0.7773</c:v>
                </c:pt>
                <c:pt idx="30">
                  <c:v>0.8176</c:v>
                </c:pt>
                <c:pt idx="31">
                  <c:v>0.852</c:v>
                </c:pt>
                <c:pt idx="32">
                  <c:v>0.8808</c:v>
                </c:pt>
                <c:pt idx="33">
                  <c:v>0.9047</c:v>
                </c:pt>
                <c:pt idx="34">
                  <c:v>0.9241</c:v>
                </c:pt>
                <c:pt idx="35">
                  <c:v>0.9399</c:v>
                </c:pt>
                <c:pt idx="36">
                  <c:v>0.9526</c:v>
                </c:pt>
                <c:pt idx="37">
                  <c:v>0.9627</c:v>
                </c:pt>
                <c:pt idx="38">
                  <c:v>0.9707</c:v>
                </c:pt>
                <c:pt idx="39">
                  <c:v>0.977</c:v>
                </c:pt>
                <c:pt idx="40">
                  <c:v>0.982</c:v>
                </c:pt>
                <c:pt idx="41">
                  <c:v>0.9859</c:v>
                </c:pt>
                <c:pt idx="42">
                  <c:v>0.989</c:v>
                </c:pt>
                <c:pt idx="43">
                  <c:v>0.9914</c:v>
                </c:pt>
                <c:pt idx="44">
                  <c:v>0.9933</c:v>
                </c:pt>
                <c:pt idx="45">
                  <c:v>0.9948</c:v>
                </c:pt>
                <c:pt idx="46">
                  <c:v>0.9959</c:v>
                </c:pt>
                <c:pt idx="47">
                  <c:v>0.9968</c:v>
                </c:pt>
                <c:pt idx="48">
                  <c:v>0.9975</c:v>
                </c:pt>
              </c:numCache>
            </c:numRef>
          </c:yVal>
          <c:smooth val="0"/>
        </c:ser>
        <c:ser>
          <c:idx val="1"/>
          <c:order val="1"/>
          <c:tx>
            <c:strRef>
              <c:f>Sheet1!$C$1</c:f>
              <c:strCache>
                <c:ptCount val="1"/>
                <c:pt idx="0">
                  <c:v>tanh</c:v>
                </c:pt>
              </c:strCache>
            </c:strRef>
          </c:tx>
          <c:spPr>
            <a:solidFill>
              <a:srgbClr val="4C5BD4"/>
            </a:solidFill>
            <a:ln w="31750" cap="flat">
              <a:solidFill>
                <a:srgbClr val="4C5BD4"/>
              </a:solidFill>
              <a:prstDash val="solid"/>
              <a:round/>
            </a:ln>
            <a:effectLst/>
          </c:spPr>
          <c:marker>
            <c:symbol val="none"/>
            <c:size val="6"/>
            <c:spPr>
              <a:solidFill>
                <a:srgbClr val="4C5BD4"/>
              </a:solidFill>
              <a:ln w="9525" cap="flat">
                <a:solidFill>
                  <a:srgbClr val="4C5BD4"/>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Sheet1!$C$2:$C$50</c:f>
              <c:numCache>
                <c:formatCode>General</c:formatCode>
                <c:ptCount val="49"/>
                <c:pt idx="0">
                  <c:v>-1</c:v>
                </c:pt>
                <c:pt idx="1">
                  <c:v>-1</c:v>
                </c:pt>
                <c:pt idx="2">
                  <c:v>-1</c:v>
                </c:pt>
                <c:pt idx="3">
                  <c:v>-0.9999</c:v>
                </c:pt>
                <c:pt idx="4">
                  <c:v>-0.9999</c:v>
                </c:pt>
                <c:pt idx="5">
                  <c:v>-0.9999</c:v>
                </c:pt>
                <c:pt idx="6">
                  <c:v>-0.9998</c:v>
                </c:pt>
                <c:pt idx="7">
                  <c:v>-0.9996</c:v>
                </c:pt>
                <c:pt idx="8">
                  <c:v>-0.9993</c:v>
                </c:pt>
                <c:pt idx="9">
                  <c:v>-0.9989</c:v>
                </c:pt>
                <c:pt idx="10">
                  <c:v>-0.9982</c:v>
                </c:pt>
                <c:pt idx="11">
                  <c:v>-0.997</c:v>
                </c:pt>
                <c:pt idx="12">
                  <c:v>-0.9951</c:v>
                </c:pt>
                <c:pt idx="13">
                  <c:v>-0.9919</c:v>
                </c:pt>
                <c:pt idx="14">
                  <c:v>-0.9866</c:v>
                </c:pt>
                <c:pt idx="15">
                  <c:v>-0.978</c:v>
                </c:pt>
                <c:pt idx="16">
                  <c:v>-0.964</c:v>
                </c:pt>
                <c:pt idx="17">
                  <c:v>-0.9414</c:v>
                </c:pt>
                <c:pt idx="18">
                  <c:v>-0.9051</c:v>
                </c:pt>
                <c:pt idx="19">
                  <c:v>-0.8483</c:v>
                </c:pt>
                <c:pt idx="20">
                  <c:v>-0.7616</c:v>
                </c:pt>
                <c:pt idx="21">
                  <c:v>-0.6351</c:v>
                </c:pt>
                <c:pt idx="22">
                  <c:v>-0.4621</c:v>
                </c:pt>
                <c:pt idx="23">
                  <c:v>-0.2449</c:v>
                </c:pt>
                <c:pt idx="24">
                  <c:v>0</c:v>
                </c:pt>
                <c:pt idx="25">
                  <c:v>0.2449</c:v>
                </c:pt>
                <c:pt idx="26">
                  <c:v>0.4621</c:v>
                </c:pt>
                <c:pt idx="27">
                  <c:v>0.6351</c:v>
                </c:pt>
                <c:pt idx="28">
                  <c:v>0.7616</c:v>
                </c:pt>
                <c:pt idx="29">
                  <c:v>0.8483</c:v>
                </c:pt>
                <c:pt idx="30">
                  <c:v>0.9051</c:v>
                </c:pt>
                <c:pt idx="31">
                  <c:v>0.9414</c:v>
                </c:pt>
                <c:pt idx="32">
                  <c:v>0.964</c:v>
                </c:pt>
                <c:pt idx="33">
                  <c:v>0.978</c:v>
                </c:pt>
                <c:pt idx="34">
                  <c:v>0.9866</c:v>
                </c:pt>
                <c:pt idx="35">
                  <c:v>0.9919</c:v>
                </c:pt>
                <c:pt idx="36">
                  <c:v>0.9951</c:v>
                </c:pt>
                <c:pt idx="37">
                  <c:v>0.997</c:v>
                </c:pt>
                <c:pt idx="38">
                  <c:v>0.9982</c:v>
                </c:pt>
                <c:pt idx="39">
                  <c:v>0.9989</c:v>
                </c:pt>
                <c:pt idx="40">
                  <c:v>0.9993</c:v>
                </c:pt>
                <c:pt idx="41">
                  <c:v>0.9996</c:v>
                </c:pt>
                <c:pt idx="42">
                  <c:v>0.9998</c:v>
                </c:pt>
                <c:pt idx="43">
                  <c:v>0.9999</c:v>
                </c:pt>
                <c:pt idx="44">
                  <c:v>0.9999</c:v>
                </c:pt>
                <c:pt idx="45">
                  <c:v>0.9999</c:v>
                </c:pt>
                <c:pt idx="46">
                  <c:v>1</c:v>
                </c:pt>
                <c:pt idx="47">
                  <c:v>1</c:v>
                </c:pt>
                <c:pt idx="48">
                  <c:v>1</c:v>
                </c:pt>
              </c:numCache>
            </c:numRef>
          </c:yVal>
          <c:smooth val="0"/>
        </c:ser>
        <c:ser>
          <c:idx val="2"/>
          <c:order val="2"/>
          <c:tx>
            <c:strRef>
              <c:f>Sheet1!$D$1</c:f>
              <c:strCache>
                <c:ptCount val="1"/>
                <c:pt idx="0">
                  <c:v>ReLU</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Sheet1!$D$2:$D$50</c:f>
              <c:numCache>
                <c:formatCode>General</c:formatCode>
                <c:ptCount val="49"/>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
          <c:min val="-6"/>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z</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2"/>
      </c:valAx>
      <c:valAx>
        <c:axId val="2094734552"/>
        <c:scaling>
          <c:orientation val="minMax"/>
          <c:max val="2"/>
          <c:min val="-1"/>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1"/>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Derivative g′(z): what backprop multiplies</a:t>
            </a:r>
          </a:p>
        </c:rich>
      </c:tx>
      <c:layout/>
      <c:overlay val="0"/>
    </c:title>
    <c:autoTitleDeleted val="0"/>
    <c:plotArea>
      <c:layout/>
      <c:scatterChart>
        <c:scatterStyle val="lineMarker"/>
        <c:varyColors val="0"/>
        <c:ser>
          <c:idx val="0"/>
          <c:order val="0"/>
          <c:tx>
            <c:strRef>
              <c:f>Sheet1!$B$1</c:f>
              <c:strCache>
                <c:ptCount val="1"/>
                <c:pt idx="0">
                  <c:v>sigmoid′</c:v>
                </c:pt>
              </c:strCache>
            </c:strRef>
          </c:tx>
          <c:spPr>
            <a:solidFill>
              <a:srgbClr val="8A94A3"/>
            </a:solidFill>
            <a:ln w="31750" cap="flat">
              <a:solidFill>
                <a:srgbClr val="8A94A3"/>
              </a:solidFill>
              <a:prstDash val="solid"/>
              <a:round/>
            </a:ln>
            <a:effectLst/>
          </c:spPr>
          <c:marker>
            <c:symbol val="none"/>
            <c:size val="6"/>
            <c:spPr>
              <a:solidFill>
                <a:srgbClr val="8A94A3"/>
              </a:solidFill>
              <a:ln w="9525" cap="flat">
                <a:solidFill>
                  <a:srgbClr val="8A94A3"/>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Sheet1!$B$2:$B$50</c:f>
              <c:numCache>
                <c:formatCode>General</c:formatCode>
                <c:ptCount val="49"/>
                <c:pt idx="0">
                  <c:v>0.0025</c:v>
                </c:pt>
                <c:pt idx="1">
                  <c:v>0.0032</c:v>
                </c:pt>
                <c:pt idx="2">
                  <c:v>0.0041</c:v>
                </c:pt>
                <c:pt idx="3">
                  <c:v>0.0052</c:v>
                </c:pt>
                <c:pt idx="4">
                  <c:v>0.0066</c:v>
                </c:pt>
                <c:pt idx="5">
                  <c:v>0.0085</c:v>
                </c:pt>
                <c:pt idx="6">
                  <c:v>0.0109</c:v>
                </c:pt>
                <c:pt idx="7">
                  <c:v>0.0139</c:v>
                </c:pt>
                <c:pt idx="8">
                  <c:v>0.0177</c:v>
                </c:pt>
                <c:pt idx="9">
                  <c:v>0.0224</c:v>
                </c:pt>
                <c:pt idx="10">
                  <c:v>0.0285</c:v>
                </c:pt>
                <c:pt idx="11">
                  <c:v>0.0359</c:v>
                </c:pt>
                <c:pt idx="12">
                  <c:v>0.0452</c:v>
                </c:pt>
                <c:pt idx="13">
                  <c:v>0.0565</c:v>
                </c:pt>
                <c:pt idx="14">
                  <c:v>0.0701</c:v>
                </c:pt>
                <c:pt idx="15">
                  <c:v>0.0863</c:v>
                </c:pt>
                <c:pt idx="16">
                  <c:v>0.105</c:v>
                </c:pt>
                <c:pt idx="17">
                  <c:v>0.1261</c:v>
                </c:pt>
                <c:pt idx="18">
                  <c:v>0.1491</c:v>
                </c:pt>
                <c:pt idx="19">
                  <c:v>0.1731</c:v>
                </c:pt>
                <c:pt idx="20">
                  <c:v>0.1966</c:v>
                </c:pt>
                <c:pt idx="21">
                  <c:v>0.2179</c:v>
                </c:pt>
                <c:pt idx="22">
                  <c:v>0.235</c:v>
                </c:pt>
                <c:pt idx="23">
                  <c:v>0.2461</c:v>
                </c:pt>
                <c:pt idx="24">
                  <c:v>0.25</c:v>
                </c:pt>
                <c:pt idx="25">
                  <c:v>0.2461</c:v>
                </c:pt>
                <c:pt idx="26">
                  <c:v>0.235</c:v>
                </c:pt>
                <c:pt idx="27">
                  <c:v>0.2179</c:v>
                </c:pt>
                <c:pt idx="28">
                  <c:v>0.1966</c:v>
                </c:pt>
                <c:pt idx="29">
                  <c:v>0.1731</c:v>
                </c:pt>
                <c:pt idx="30">
                  <c:v>0.1491</c:v>
                </c:pt>
                <c:pt idx="31">
                  <c:v>0.1261</c:v>
                </c:pt>
                <c:pt idx="32">
                  <c:v>0.105</c:v>
                </c:pt>
                <c:pt idx="33">
                  <c:v>0.0863</c:v>
                </c:pt>
                <c:pt idx="34">
                  <c:v>0.0701</c:v>
                </c:pt>
                <c:pt idx="35">
                  <c:v>0.0565</c:v>
                </c:pt>
                <c:pt idx="36">
                  <c:v>0.0452</c:v>
                </c:pt>
                <c:pt idx="37">
                  <c:v>0.0359</c:v>
                </c:pt>
                <c:pt idx="38">
                  <c:v>0.0285</c:v>
                </c:pt>
                <c:pt idx="39">
                  <c:v>0.0224</c:v>
                </c:pt>
                <c:pt idx="40">
                  <c:v>0.0177</c:v>
                </c:pt>
                <c:pt idx="41">
                  <c:v>0.0139</c:v>
                </c:pt>
                <c:pt idx="42">
                  <c:v>0.0109</c:v>
                </c:pt>
                <c:pt idx="43">
                  <c:v>0.0085</c:v>
                </c:pt>
                <c:pt idx="44">
                  <c:v>0.0066</c:v>
                </c:pt>
                <c:pt idx="45">
                  <c:v>0.0052</c:v>
                </c:pt>
                <c:pt idx="46">
                  <c:v>0.0041</c:v>
                </c:pt>
                <c:pt idx="47">
                  <c:v>0.0032</c:v>
                </c:pt>
                <c:pt idx="48">
                  <c:v>0.0025</c:v>
                </c:pt>
              </c:numCache>
            </c:numRef>
          </c:yVal>
          <c:smooth val="0"/>
        </c:ser>
        <c:ser>
          <c:idx val="1"/>
          <c:order val="1"/>
          <c:tx>
            <c:strRef>
              <c:f>Sheet1!$C$1</c:f>
              <c:strCache>
                <c:ptCount val="1"/>
                <c:pt idx="0">
                  <c:v>tanh′</c:v>
                </c:pt>
              </c:strCache>
            </c:strRef>
          </c:tx>
          <c:spPr>
            <a:solidFill>
              <a:srgbClr val="4C5BD4"/>
            </a:solidFill>
            <a:ln w="31750" cap="flat">
              <a:solidFill>
                <a:srgbClr val="4C5BD4"/>
              </a:solidFill>
              <a:prstDash val="solid"/>
              <a:round/>
            </a:ln>
            <a:effectLst/>
          </c:spPr>
          <c:marker>
            <c:symbol val="none"/>
            <c:size val="6"/>
            <c:spPr>
              <a:solidFill>
                <a:srgbClr val="4C5BD4"/>
              </a:solidFill>
              <a:ln w="9525" cap="flat">
                <a:solidFill>
                  <a:srgbClr val="4C5BD4"/>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Sheet1!$C$2:$C$50</c:f>
              <c:numCache>
                <c:formatCode>General</c:formatCode>
                <c:ptCount val="49"/>
                <c:pt idx="0">
                  <c:v>0</c:v>
                </c:pt>
                <c:pt idx="1">
                  <c:v>0</c:v>
                </c:pt>
                <c:pt idx="2">
                  <c:v>0.0001</c:v>
                </c:pt>
                <c:pt idx="3">
                  <c:v>0.0001</c:v>
                </c:pt>
                <c:pt idx="4">
                  <c:v>0.0002</c:v>
                </c:pt>
                <c:pt idx="5">
                  <c:v>0.0003</c:v>
                </c:pt>
                <c:pt idx="6">
                  <c:v>0.0005</c:v>
                </c:pt>
                <c:pt idx="7">
                  <c:v>0.0008</c:v>
                </c:pt>
                <c:pt idx="8">
                  <c:v>0.0013</c:v>
                </c:pt>
                <c:pt idx="9">
                  <c:v>0.0022</c:v>
                </c:pt>
                <c:pt idx="10">
                  <c:v>0.0036</c:v>
                </c:pt>
                <c:pt idx="11">
                  <c:v>0.006</c:v>
                </c:pt>
                <c:pt idx="12">
                  <c:v>0.0099</c:v>
                </c:pt>
                <c:pt idx="13">
                  <c:v>0.0162</c:v>
                </c:pt>
                <c:pt idx="14">
                  <c:v>0.0266</c:v>
                </c:pt>
                <c:pt idx="15">
                  <c:v>0.0435</c:v>
                </c:pt>
                <c:pt idx="16">
                  <c:v>0.0707</c:v>
                </c:pt>
                <c:pt idx="17">
                  <c:v>0.1138</c:v>
                </c:pt>
                <c:pt idx="18">
                  <c:v>0.1807</c:v>
                </c:pt>
                <c:pt idx="19">
                  <c:v>0.2804</c:v>
                </c:pt>
                <c:pt idx="20">
                  <c:v>0.42</c:v>
                </c:pt>
                <c:pt idx="21">
                  <c:v>0.5966</c:v>
                </c:pt>
                <c:pt idx="22">
                  <c:v>0.7864</c:v>
                </c:pt>
                <c:pt idx="23">
                  <c:v>0.94</c:v>
                </c:pt>
                <c:pt idx="24">
                  <c:v>1</c:v>
                </c:pt>
                <c:pt idx="25">
                  <c:v>0.94</c:v>
                </c:pt>
                <c:pt idx="26">
                  <c:v>0.7864</c:v>
                </c:pt>
                <c:pt idx="27">
                  <c:v>0.5966</c:v>
                </c:pt>
                <c:pt idx="28">
                  <c:v>0.42</c:v>
                </c:pt>
                <c:pt idx="29">
                  <c:v>0.2804</c:v>
                </c:pt>
                <c:pt idx="30">
                  <c:v>0.1807</c:v>
                </c:pt>
                <c:pt idx="31">
                  <c:v>0.1138</c:v>
                </c:pt>
                <c:pt idx="32">
                  <c:v>0.0707</c:v>
                </c:pt>
                <c:pt idx="33">
                  <c:v>0.0435</c:v>
                </c:pt>
                <c:pt idx="34">
                  <c:v>0.0266</c:v>
                </c:pt>
                <c:pt idx="35">
                  <c:v>0.0162</c:v>
                </c:pt>
                <c:pt idx="36">
                  <c:v>0.0099</c:v>
                </c:pt>
                <c:pt idx="37">
                  <c:v>0.006</c:v>
                </c:pt>
                <c:pt idx="38">
                  <c:v>0.0036</c:v>
                </c:pt>
                <c:pt idx="39">
                  <c:v>0.0022</c:v>
                </c:pt>
                <c:pt idx="40">
                  <c:v>0.0013</c:v>
                </c:pt>
                <c:pt idx="41">
                  <c:v>0.0008</c:v>
                </c:pt>
                <c:pt idx="42">
                  <c:v>0.0005</c:v>
                </c:pt>
                <c:pt idx="43">
                  <c:v>0.0003</c:v>
                </c:pt>
                <c:pt idx="44">
                  <c:v>0.0002</c:v>
                </c:pt>
                <c:pt idx="45">
                  <c:v>0.0001</c:v>
                </c:pt>
                <c:pt idx="46">
                  <c:v>0.0001</c:v>
                </c:pt>
                <c:pt idx="47">
                  <c:v>0</c:v>
                </c:pt>
                <c:pt idx="48">
                  <c:v>0</c:v>
                </c:pt>
              </c:numCache>
            </c:numRef>
          </c:yVal>
          <c:smooth val="0"/>
        </c:ser>
        <c:ser>
          <c:idx val="2"/>
          <c:order val="2"/>
          <c:tx>
            <c:strRef>
              <c:f>Sheet1!$D$1</c:f>
              <c:strCache>
                <c:ptCount val="1"/>
                <c:pt idx="0">
                  <c:v>ReLU′</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Sheet1!$D$2:$D$50</c:f>
              <c:numCache>
                <c:formatCode>General</c:formatCode>
                <c:ptCount val="49"/>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
          <c:min val="-6"/>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z</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2"/>
      </c:valAx>
      <c:valAx>
        <c:axId val="2094734552"/>
        <c:scaling>
          <c:orientation val="minMax"/>
          <c:max val="1.2"/>
          <c:min val="0"/>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0.4"/>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Modern variants</a:t>
            </a:r>
          </a:p>
        </c:rich>
      </c:tx>
      <c:layout/>
      <c:overlay val="0"/>
    </c:title>
    <c:autoTitleDeleted val="0"/>
    <c:plotArea>
      <c:layout/>
      <c:scatterChart>
        <c:scatterStyle val="lineMarker"/>
        <c:varyColors val="0"/>
        <c:ser>
          <c:idx val="0"/>
          <c:order val="0"/>
          <c:tx>
            <c:strRef>
              <c:f>Sheet1!$B$1</c:f>
              <c:strCache>
                <c:ptCount val="1"/>
                <c:pt idx="0">
                  <c:v>ReLU</c:v>
                </c:pt>
              </c:strCache>
            </c:strRef>
          </c:tx>
          <c:spPr>
            <a:solidFill>
              <a:srgbClr val="8A94A3"/>
            </a:solidFill>
            <a:ln w="31750" cap="flat">
              <a:solidFill>
                <a:srgbClr val="8A94A3"/>
              </a:solidFill>
              <a:prstDash val="solid"/>
              <a:round/>
            </a:ln>
            <a:effectLst/>
          </c:spPr>
          <c:marker>
            <c:symbol val="none"/>
            <c:size val="6"/>
            <c:spPr>
              <a:solidFill>
                <a:srgbClr val="8A94A3"/>
              </a:solidFill>
              <a:ln w="9525" cap="flat">
                <a:solidFill>
                  <a:srgbClr val="8A94A3"/>
                </a:solidFill>
                <a:prstDash val="solid"/>
                <a:round/>
              </a:ln>
              <a:effectLst/>
            </c:spPr>
          </c:marker>
          <c:xVal>
            <c:numRef>
              <c:f>Sheet1!$A$2:$A$72</c:f>
              <c:numCache>
                <c:formatCode>General</c:formatCode>
                <c:ptCount val="7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-2.3</c:v>
                </c:pt>
                <c:pt idx="18">
                  <c:v>-2.2</c:v>
                </c:pt>
                <c:pt idx="19">
                  <c:v>-2.1</c:v>
                </c:pt>
                <c:pt idx="20">
                  <c:v>-2</c:v>
                </c:pt>
                <c:pt idx="21">
                  <c:v>-1.9</c:v>
                </c:pt>
                <c:pt idx="22">
                  <c:v>-1.8</c:v>
                </c:pt>
                <c:pt idx="23">
                  <c:v>-1.7</c:v>
                </c:pt>
                <c:pt idx="24">
                  <c:v>-1.6</c:v>
                </c:pt>
                <c:pt idx="25">
                  <c:v>-1.5</c:v>
                </c:pt>
                <c:pt idx="26">
                  <c:v>-1.4</c:v>
                </c:pt>
                <c:pt idx="27">
                  <c:v>-1.3</c:v>
                </c:pt>
                <c:pt idx="28">
                  <c:v>-1.2</c:v>
                </c:pt>
                <c:pt idx="29">
                  <c:v>-1.1</c:v>
                </c:pt>
                <c:pt idx="30">
                  <c:v>-1</c:v>
                </c:pt>
                <c:pt idx="31">
                  <c:v>-0.9</c:v>
                </c:pt>
                <c:pt idx="32">
                  <c:v>-0.8</c:v>
                </c:pt>
                <c:pt idx="33">
                  <c:v>-0.7</c:v>
                </c:pt>
                <c:pt idx="34">
                  <c:v>-0.6</c:v>
                </c:pt>
                <c:pt idx="35">
                  <c:v>-0.5</c:v>
                </c:pt>
                <c:pt idx="36">
                  <c:v>-0.4</c:v>
                </c:pt>
                <c:pt idx="37">
                  <c:v>-0.3</c:v>
                </c:pt>
                <c:pt idx="38">
                  <c:v>-0.2</c:v>
                </c:pt>
                <c:pt idx="39">
                  <c:v>-0.1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xVal>
          <c:yVal>
            <c:numRef>
              <c:f>Sheet1!$B$2:$B$72</c:f>
              <c:numCache>
                <c:formatCode>General</c:formatCode>
                <c:ptCount val="7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yVal>
          <c:smooth val="0"/>
        </c:ser>
        <c:ser>
          <c:idx val="1"/>
          <c:order val="1"/>
          <c:tx>
            <c:strRef>
              <c:f>Sheet1!$C$1</c:f>
              <c:strCache>
                <c:ptCount val="1"/>
                <c:pt idx="0">
                  <c:v>Leaky ReLU (α = 0.1)</c:v>
                </c:pt>
              </c:strCache>
            </c:strRef>
          </c:tx>
          <c:spPr>
            <a:solidFill>
              <a:srgbClr val="C8571B"/>
            </a:solidFill>
            <a:ln w="31750" cap="flat">
              <a:solidFill>
                <a:srgbClr val="C8571B"/>
              </a:solidFill>
              <a:prstDash val="solid"/>
              <a:round/>
            </a:ln>
            <a:effectLst/>
          </c:spPr>
          <c:marker>
            <c:symbol val="none"/>
            <c:size val="6"/>
            <c:spPr>
              <a:solidFill>
                <a:srgbClr val="C8571B"/>
              </a:solidFill>
              <a:ln w="9525" cap="flat">
                <a:solidFill>
                  <a:srgbClr val="C8571B"/>
                </a:solidFill>
                <a:prstDash val="solid"/>
                <a:round/>
              </a:ln>
              <a:effectLst/>
            </c:spPr>
          </c:marker>
          <c:xVal>
            <c:numRef>
              <c:f>Sheet1!$A$2:$A$72</c:f>
              <c:numCache>
                <c:formatCode>General</c:formatCode>
                <c:ptCount val="7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-2.3</c:v>
                </c:pt>
                <c:pt idx="18">
                  <c:v>-2.2</c:v>
                </c:pt>
                <c:pt idx="19">
                  <c:v>-2.1</c:v>
                </c:pt>
                <c:pt idx="20">
                  <c:v>-2</c:v>
                </c:pt>
                <c:pt idx="21">
                  <c:v>-1.9</c:v>
                </c:pt>
                <c:pt idx="22">
                  <c:v>-1.8</c:v>
                </c:pt>
                <c:pt idx="23">
                  <c:v>-1.7</c:v>
                </c:pt>
                <c:pt idx="24">
                  <c:v>-1.6</c:v>
                </c:pt>
                <c:pt idx="25">
                  <c:v>-1.5</c:v>
                </c:pt>
                <c:pt idx="26">
                  <c:v>-1.4</c:v>
                </c:pt>
                <c:pt idx="27">
                  <c:v>-1.3</c:v>
                </c:pt>
                <c:pt idx="28">
                  <c:v>-1.2</c:v>
                </c:pt>
                <c:pt idx="29">
                  <c:v>-1.1</c:v>
                </c:pt>
                <c:pt idx="30">
                  <c:v>-1</c:v>
                </c:pt>
                <c:pt idx="31">
                  <c:v>-0.9</c:v>
                </c:pt>
                <c:pt idx="32">
                  <c:v>-0.8</c:v>
                </c:pt>
                <c:pt idx="33">
                  <c:v>-0.7</c:v>
                </c:pt>
                <c:pt idx="34">
                  <c:v>-0.6</c:v>
                </c:pt>
                <c:pt idx="35">
                  <c:v>-0.5</c:v>
                </c:pt>
                <c:pt idx="36">
                  <c:v>-0.4</c:v>
                </c:pt>
                <c:pt idx="37">
                  <c:v>-0.3</c:v>
                </c:pt>
                <c:pt idx="38">
                  <c:v>-0.2</c:v>
                </c:pt>
                <c:pt idx="39">
                  <c:v>-0.1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xVal>
          <c:yVal>
            <c:numRef>
              <c:f>Sheet1!$C$2:$C$72</c:f>
              <c:numCache>
                <c:formatCode>General</c:formatCode>
                <c:ptCount val="71"/>
                <c:pt idx="0">
                  <c:v>-0.4</c:v>
                </c:pt>
                <c:pt idx="1">
                  <c:v>-0.39</c:v>
                </c:pt>
                <c:pt idx="2">
                  <c:v>-0.38</c:v>
                </c:pt>
                <c:pt idx="3">
                  <c:v>-0.37</c:v>
                </c:pt>
                <c:pt idx="4">
                  <c:v>-0.36</c:v>
                </c:pt>
                <c:pt idx="5">
                  <c:v>-0.35</c:v>
                </c:pt>
                <c:pt idx="6">
                  <c:v>-0.34</c:v>
                </c:pt>
                <c:pt idx="7">
                  <c:v>-0.33</c:v>
                </c:pt>
                <c:pt idx="8">
                  <c:v>-0.32</c:v>
                </c:pt>
                <c:pt idx="9">
                  <c:v>-0.31</c:v>
                </c:pt>
                <c:pt idx="10">
                  <c:v>-0.3</c:v>
                </c:pt>
                <c:pt idx="11">
                  <c:v>-0.29</c:v>
                </c:pt>
                <c:pt idx="12">
                  <c:v>-0.28</c:v>
                </c:pt>
                <c:pt idx="13">
                  <c:v>-0.27</c:v>
                </c:pt>
                <c:pt idx="14">
                  <c:v>-0.26</c:v>
                </c:pt>
                <c:pt idx="15">
                  <c:v>-0.25</c:v>
                </c:pt>
                <c:pt idx="16">
                  <c:v>-0.24</c:v>
                </c:pt>
                <c:pt idx="17">
                  <c:v>-0.23</c:v>
                </c:pt>
                <c:pt idx="18">
                  <c:v>-0.22</c:v>
                </c:pt>
                <c:pt idx="19">
                  <c:v>-0.21</c:v>
                </c:pt>
                <c:pt idx="20">
                  <c:v>-0.2</c:v>
                </c:pt>
                <c:pt idx="21">
                  <c:v>-0.19</c:v>
                </c:pt>
                <c:pt idx="22">
                  <c:v>-0.18</c:v>
                </c:pt>
                <c:pt idx="23">
                  <c:v>-0.17</c:v>
                </c:pt>
                <c:pt idx="24">
                  <c:v>-0.16</c:v>
                </c:pt>
                <c:pt idx="25">
                  <c:v>-0.15</c:v>
                </c:pt>
                <c:pt idx="26">
                  <c:v>-0.14</c:v>
                </c:pt>
                <c:pt idx="27">
                  <c:v>-0.13</c:v>
                </c:pt>
                <c:pt idx="28">
                  <c:v>-0.12</c:v>
                </c:pt>
                <c:pt idx="29">
                  <c:v>-0.11</c:v>
                </c:pt>
                <c:pt idx="30">
                  <c:v>-0.1</c:v>
                </c:pt>
                <c:pt idx="31">
                  <c:v>-0.09</c:v>
                </c:pt>
                <c:pt idx="32">
                  <c:v>-0.08</c:v>
                </c:pt>
                <c:pt idx="33">
                  <c:v>-0.07</c:v>
                </c:pt>
                <c:pt idx="34">
                  <c:v>-0.06</c:v>
                </c:pt>
                <c:pt idx="35">
                  <c:v>-0.05</c:v>
                </c:pt>
                <c:pt idx="36">
                  <c:v>-0.04</c:v>
                </c:pt>
                <c:pt idx="37">
                  <c:v>-0.03</c:v>
                </c:pt>
                <c:pt idx="38">
                  <c:v>-0.02</c:v>
                </c:pt>
                <c:pt idx="39">
                  <c:v>-0.01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yVal>
          <c:smooth val="0"/>
        </c:ser>
        <c:ser>
          <c:idx val="2"/>
          <c:order val="2"/>
          <c:tx>
            <c:strRef>
              <c:f>Sheet1!$D$1</c:f>
              <c:strCache>
                <c:ptCount val="1"/>
                <c:pt idx="0">
                  <c:v>GELU</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Sheet1!$A$2:$A$72</c:f>
              <c:numCache>
                <c:formatCode>General</c:formatCode>
                <c:ptCount val="7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-2.3</c:v>
                </c:pt>
                <c:pt idx="18">
                  <c:v>-2.2</c:v>
                </c:pt>
                <c:pt idx="19">
                  <c:v>-2.1</c:v>
                </c:pt>
                <c:pt idx="20">
                  <c:v>-2</c:v>
                </c:pt>
                <c:pt idx="21">
                  <c:v>-1.9</c:v>
                </c:pt>
                <c:pt idx="22">
                  <c:v>-1.8</c:v>
                </c:pt>
                <c:pt idx="23">
                  <c:v>-1.7</c:v>
                </c:pt>
                <c:pt idx="24">
                  <c:v>-1.6</c:v>
                </c:pt>
                <c:pt idx="25">
                  <c:v>-1.5</c:v>
                </c:pt>
                <c:pt idx="26">
                  <c:v>-1.4</c:v>
                </c:pt>
                <c:pt idx="27">
                  <c:v>-1.3</c:v>
                </c:pt>
                <c:pt idx="28">
                  <c:v>-1.2</c:v>
                </c:pt>
                <c:pt idx="29">
                  <c:v>-1.1</c:v>
                </c:pt>
                <c:pt idx="30">
                  <c:v>-1</c:v>
                </c:pt>
                <c:pt idx="31">
                  <c:v>-0.9</c:v>
                </c:pt>
                <c:pt idx="32">
                  <c:v>-0.8</c:v>
                </c:pt>
                <c:pt idx="33">
                  <c:v>-0.7</c:v>
                </c:pt>
                <c:pt idx="34">
                  <c:v>-0.6</c:v>
                </c:pt>
                <c:pt idx="35">
                  <c:v>-0.5</c:v>
                </c:pt>
                <c:pt idx="36">
                  <c:v>-0.4</c:v>
                </c:pt>
                <c:pt idx="37">
                  <c:v>-0.3</c:v>
                </c:pt>
                <c:pt idx="38">
                  <c:v>-0.2</c:v>
                </c:pt>
                <c:pt idx="39">
                  <c:v>-0.1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xVal>
          <c:yVal>
            <c:numRef>
              <c:f>Sheet1!$D$2:$D$72</c:f>
              <c:numCache>
                <c:formatCode>General</c:formatCode>
                <c:ptCount val="71"/>
                <c:pt idx="0">
                  <c:v>-0.0001</c:v>
                </c:pt>
                <c:pt idx="1">
                  <c:v>-0.0002</c:v>
                </c:pt>
                <c:pt idx="2">
                  <c:v>-0.0003</c:v>
                </c:pt>
                <c:pt idx="3">
                  <c:v>-0.0004</c:v>
                </c:pt>
                <c:pt idx="4">
                  <c:v>-0.0006</c:v>
                </c:pt>
                <c:pt idx="5">
                  <c:v>-0.0008</c:v>
                </c:pt>
                <c:pt idx="6">
                  <c:v>-0.0011</c:v>
                </c:pt>
                <c:pt idx="7">
                  <c:v>-0.0016</c:v>
                </c:pt>
                <c:pt idx="8">
                  <c:v>-0.0022</c:v>
                </c:pt>
                <c:pt idx="9">
                  <c:v>-0.003</c:v>
                </c:pt>
                <c:pt idx="10">
                  <c:v>-0.004</c:v>
                </c:pt>
                <c:pt idx="11">
                  <c:v>-0.0054</c:v>
                </c:pt>
                <c:pt idx="12">
                  <c:v>-0.0072</c:v>
                </c:pt>
                <c:pt idx="13">
                  <c:v>-0.0094</c:v>
                </c:pt>
                <c:pt idx="14">
                  <c:v>-0.0121</c:v>
                </c:pt>
                <c:pt idx="15">
                  <c:v>-0.0155</c:v>
                </c:pt>
                <c:pt idx="16">
                  <c:v>-0.0197</c:v>
                </c:pt>
                <c:pt idx="17">
                  <c:v>-0.0247</c:v>
                </c:pt>
                <c:pt idx="18">
                  <c:v>-0.0306</c:v>
                </c:pt>
                <c:pt idx="19">
                  <c:v>-0.0375</c:v>
                </c:pt>
                <c:pt idx="20">
                  <c:v>-0.0455</c:v>
                </c:pt>
                <c:pt idx="21">
                  <c:v>-0.0546</c:v>
                </c:pt>
                <c:pt idx="22">
                  <c:v>-0.0647</c:v>
                </c:pt>
                <c:pt idx="23">
                  <c:v>-0.0758</c:v>
                </c:pt>
                <c:pt idx="24">
                  <c:v>-0.0877</c:v>
                </c:pt>
                <c:pt idx="25">
                  <c:v>-0.1002</c:v>
                </c:pt>
                <c:pt idx="26">
                  <c:v>-0.1131</c:v>
                </c:pt>
                <c:pt idx="27">
                  <c:v>-0.1258</c:v>
                </c:pt>
                <c:pt idx="28">
                  <c:v>-0.1381</c:v>
                </c:pt>
                <c:pt idx="29">
                  <c:v>-0.1492</c:v>
                </c:pt>
                <c:pt idx="30">
                  <c:v>-0.1587</c:v>
                </c:pt>
                <c:pt idx="31">
                  <c:v>-0.1657</c:v>
                </c:pt>
                <c:pt idx="32">
                  <c:v>-0.1695</c:v>
                </c:pt>
                <c:pt idx="33">
                  <c:v>-0.1694</c:v>
                </c:pt>
                <c:pt idx="34">
                  <c:v>-0.1646</c:v>
                </c:pt>
                <c:pt idx="35">
                  <c:v>-0.1543</c:v>
                </c:pt>
                <c:pt idx="36">
                  <c:v>-0.1378</c:v>
                </c:pt>
                <c:pt idx="37">
                  <c:v>-0.1146</c:v>
                </c:pt>
                <c:pt idx="38">
                  <c:v>-0.0841</c:v>
                </c:pt>
                <c:pt idx="39">
                  <c:v>-0.046</c:v>
                </c:pt>
                <c:pt idx="40">
                  <c:v>0</c:v>
                </c:pt>
                <c:pt idx="41">
                  <c:v>0.054</c:v>
                </c:pt>
                <c:pt idx="42">
                  <c:v>0.1159</c:v>
                </c:pt>
                <c:pt idx="43">
                  <c:v>0.1854</c:v>
                </c:pt>
                <c:pt idx="44">
                  <c:v>0.2622</c:v>
                </c:pt>
                <c:pt idx="45">
                  <c:v>0.3457</c:v>
                </c:pt>
                <c:pt idx="46">
                  <c:v>0.4354</c:v>
                </c:pt>
                <c:pt idx="47">
                  <c:v>0.5306</c:v>
                </c:pt>
                <c:pt idx="48">
                  <c:v>0.6305</c:v>
                </c:pt>
                <c:pt idx="49">
                  <c:v>0.7343</c:v>
                </c:pt>
                <c:pt idx="50">
                  <c:v>0.8413</c:v>
                </c:pt>
                <c:pt idx="51">
                  <c:v>0.9508</c:v>
                </c:pt>
                <c:pt idx="52">
                  <c:v>1.0619</c:v>
                </c:pt>
                <c:pt idx="53">
                  <c:v>1.1742</c:v>
                </c:pt>
                <c:pt idx="54">
                  <c:v>1.2869</c:v>
                </c:pt>
                <c:pt idx="55">
                  <c:v>1.3998</c:v>
                </c:pt>
                <c:pt idx="56">
                  <c:v>1.5123</c:v>
                </c:pt>
                <c:pt idx="57">
                  <c:v>1.6242</c:v>
                </c:pt>
                <c:pt idx="58">
                  <c:v>1.7353</c:v>
                </c:pt>
                <c:pt idx="59">
                  <c:v>1.8454</c:v>
                </c:pt>
                <c:pt idx="60">
                  <c:v>1.9545</c:v>
                </c:pt>
                <c:pt idx="61">
                  <c:v>2.0625</c:v>
                </c:pt>
                <c:pt idx="62">
                  <c:v>2.1694</c:v>
                </c:pt>
                <c:pt idx="63">
                  <c:v>2.2753</c:v>
                </c:pt>
                <c:pt idx="64">
                  <c:v>2.3803</c:v>
                </c:pt>
                <c:pt idx="65">
                  <c:v>2.4845</c:v>
                </c:pt>
                <c:pt idx="66">
                  <c:v>2.5879</c:v>
                </c:pt>
                <c:pt idx="67">
                  <c:v>2.6906</c:v>
                </c:pt>
                <c:pt idx="68">
                  <c:v>2.7928</c:v>
                </c:pt>
                <c:pt idx="69">
                  <c:v>2.8946</c:v>
                </c:pt>
                <c:pt idx="70">
                  <c:v>2.996</c:v>
                </c:pt>
              </c:numCache>
            </c:numRef>
          </c:yVal>
          <c:smooth val="0"/>
        </c:ser>
        <c:ser>
          <c:idx val="3"/>
          <c:order val="3"/>
          <c:tx>
            <c:strRef>
              <c:f>Sheet1!$E$1</c:f>
              <c:strCache>
                <c:ptCount val="1"/>
                <c:pt idx="0">
                  <c:v>SiLU</c:v>
                </c:pt>
              </c:strCache>
            </c:strRef>
          </c:tx>
          <c:spPr>
            <a:solidFill>
              <a:srgbClr val="4C5BD4"/>
            </a:solidFill>
            <a:ln w="31750" cap="flat">
              <a:solidFill>
                <a:srgbClr val="4C5BD4"/>
              </a:solidFill>
              <a:prstDash val="solid"/>
              <a:round/>
            </a:ln>
            <a:effectLst/>
          </c:spPr>
          <c:marker>
            <c:symbol val="none"/>
            <c:size val="6"/>
            <c:spPr>
              <a:solidFill>
                <a:srgbClr val="4C5BD4"/>
              </a:solidFill>
              <a:ln w="9525" cap="flat">
                <a:solidFill>
                  <a:srgbClr val="4C5BD4"/>
                </a:solidFill>
                <a:prstDash val="solid"/>
                <a:round/>
              </a:ln>
              <a:effectLst/>
            </c:spPr>
          </c:marker>
          <c:xVal>
            <c:numRef>
              <c:f>Sheet1!$A$2:$A$72</c:f>
              <c:numCache>
                <c:formatCode>General</c:formatCode>
                <c:ptCount val="7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-2.3</c:v>
                </c:pt>
                <c:pt idx="18">
                  <c:v>-2.2</c:v>
                </c:pt>
                <c:pt idx="19">
                  <c:v>-2.1</c:v>
                </c:pt>
                <c:pt idx="20">
                  <c:v>-2</c:v>
                </c:pt>
                <c:pt idx="21">
                  <c:v>-1.9</c:v>
                </c:pt>
                <c:pt idx="22">
                  <c:v>-1.8</c:v>
                </c:pt>
                <c:pt idx="23">
                  <c:v>-1.7</c:v>
                </c:pt>
                <c:pt idx="24">
                  <c:v>-1.6</c:v>
                </c:pt>
                <c:pt idx="25">
                  <c:v>-1.5</c:v>
                </c:pt>
                <c:pt idx="26">
                  <c:v>-1.4</c:v>
                </c:pt>
                <c:pt idx="27">
                  <c:v>-1.3</c:v>
                </c:pt>
                <c:pt idx="28">
                  <c:v>-1.2</c:v>
                </c:pt>
                <c:pt idx="29">
                  <c:v>-1.1</c:v>
                </c:pt>
                <c:pt idx="30">
                  <c:v>-1</c:v>
                </c:pt>
                <c:pt idx="31">
                  <c:v>-0.9</c:v>
                </c:pt>
                <c:pt idx="32">
                  <c:v>-0.8</c:v>
                </c:pt>
                <c:pt idx="33">
                  <c:v>-0.7</c:v>
                </c:pt>
                <c:pt idx="34">
                  <c:v>-0.6</c:v>
                </c:pt>
                <c:pt idx="35">
                  <c:v>-0.5</c:v>
                </c:pt>
                <c:pt idx="36">
                  <c:v>-0.4</c:v>
                </c:pt>
                <c:pt idx="37">
                  <c:v>-0.3</c:v>
                </c:pt>
                <c:pt idx="38">
                  <c:v>-0.2</c:v>
                </c:pt>
                <c:pt idx="39">
                  <c:v>-0.1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xVal>
          <c:yVal>
            <c:numRef>
              <c:f>Sheet1!$E$2:$E$72</c:f>
              <c:numCache>
                <c:formatCode>General</c:formatCode>
                <c:ptCount val="71"/>
                <c:pt idx="0">
                  <c:v>-0.0719</c:v>
                </c:pt>
                <c:pt idx="1">
                  <c:v>-0.0774</c:v>
                </c:pt>
                <c:pt idx="2">
                  <c:v>-0.0831</c:v>
                </c:pt>
                <c:pt idx="3">
                  <c:v>-0.0893</c:v>
                </c:pt>
                <c:pt idx="4">
                  <c:v>-0.0957</c:v>
                </c:pt>
                <c:pt idx="5">
                  <c:v>-0.1026</c:v>
                </c:pt>
                <c:pt idx="6">
                  <c:v>-0.1098</c:v>
                </c:pt>
                <c:pt idx="7">
                  <c:v>-0.1174</c:v>
                </c:pt>
                <c:pt idx="8">
                  <c:v>-0.1253</c:v>
                </c:pt>
                <c:pt idx="9">
                  <c:v>-0.1336</c:v>
                </c:pt>
                <c:pt idx="10">
                  <c:v>-0.1423</c:v>
                </c:pt>
                <c:pt idx="11">
                  <c:v>-0.1512</c:v>
                </c:pt>
                <c:pt idx="12">
                  <c:v>-0.1605</c:v>
                </c:pt>
                <c:pt idx="13">
                  <c:v>-0.17</c:v>
                </c:pt>
                <c:pt idx="14">
                  <c:v>-0.1798</c:v>
                </c:pt>
                <c:pt idx="15">
                  <c:v>-0.1896</c:v>
                </c:pt>
                <c:pt idx="16">
                  <c:v>-0.1996</c:v>
                </c:pt>
                <c:pt idx="17">
                  <c:v>-0.2096</c:v>
                </c:pt>
                <c:pt idx="18">
                  <c:v>-0.2195</c:v>
                </c:pt>
                <c:pt idx="19">
                  <c:v>-0.2291</c:v>
                </c:pt>
                <c:pt idx="20">
                  <c:v>-0.2384</c:v>
                </c:pt>
                <c:pt idx="21">
                  <c:v>-0.2472</c:v>
                </c:pt>
                <c:pt idx="22">
                  <c:v>-0.2553</c:v>
                </c:pt>
                <c:pt idx="23">
                  <c:v>-0.2626</c:v>
                </c:pt>
                <c:pt idx="24">
                  <c:v>-0.2688</c:v>
                </c:pt>
                <c:pt idx="25">
                  <c:v>-0.2736</c:v>
                </c:pt>
                <c:pt idx="26">
                  <c:v>-0.2769</c:v>
                </c:pt>
                <c:pt idx="27">
                  <c:v>-0.2784</c:v>
                </c:pt>
                <c:pt idx="28">
                  <c:v>-0.2778</c:v>
                </c:pt>
                <c:pt idx="29">
                  <c:v>-0.2747</c:v>
                </c:pt>
                <c:pt idx="30">
                  <c:v>-0.2689</c:v>
                </c:pt>
                <c:pt idx="31">
                  <c:v>-0.2601</c:v>
                </c:pt>
                <c:pt idx="32">
                  <c:v>-0.248</c:v>
                </c:pt>
                <c:pt idx="33">
                  <c:v>-0.2323</c:v>
                </c:pt>
                <c:pt idx="34">
                  <c:v>-0.2126</c:v>
                </c:pt>
                <c:pt idx="35">
                  <c:v>-0.1888</c:v>
                </c:pt>
                <c:pt idx="36">
                  <c:v>-0.1605</c:v>
                </c:pt>
                <c:pt idx="37">
                  <c:v>-0.1277</c:v>
                </c:pt>
                <c:pt idx="38">
                  <c:v>-0.09</c:v>
                </c:pt>
                <c:pt idx="39">
                  <c:v>-0.0475</c:v>
                </c:pt>
                <c:pt idx="40">
                  <c:v>0</c:v>
                </c:pt>
                <c:pt idx="41">
                  <c:v>0.0525</c:v>
                </c:pt>
                <c:pt idx="42">
                  <c:v>0.11</c:v>
                </c:pt>
                <c:pt idx="43">
                  <c:v>0.1723</c:v>
                </c:pt>
                <c:pt idx="44">
                  <c:v>0.2395</c:v>
                </c:pt>
                <c:pt idx="45">
                  <c:v>0.3112</c:v>
                </c:pt>
                <c:pt idx="46">
                  <c:v>0.3874</c:v>
                </c:pt>
                <c:pt idx="47">
                  <c:v>0.4677</c:v>
                </c:pt>
                <c:pt idx="48">
                  <c:v>0.552</c:v>
                </c:pt>
                <c:pt idx="49">
                  <c:v>0.6399</c:v>
                </c:pt>
                <c:pt idx="50">
                  <c:v>0.7311</c:v>
                </c:pt>
                <c:pt idx="51">
                  <c:v>0.8253</c:v>
                </c:pt>
                <c:pt idx="52">
                  <c:v>0.9222</c:v>
                </c:pt>
                <c:pt idx="53">
                  <c:v>1.0216</c:v>
                </c:pt>
                <c:pt idx="54">
                  <c:v>1.1231</c:v>
                </c:pt>
                <c:pt idx="55">
                  <c:v>1.2264</c:v>
                </c:pt>
                <c:pt idx="56">
                  <c:v>1.3312</c:v>
                </c:pt>
                <c:pt idx="57">
                  <c:v>1.4374</c:v>
                </c:pt>
                <c:pt idx="58">
                  <c:v>1.5447</c:v>
                </c:pt>
                <c:pt idx="59">
                  <c:v>1.6528</c:v>
                </c:pt>
                <c:pt idx="60">
                  <c:v>1.7616</c:v>
                </c:pt>
                <c:pt idx="61">
                  <c:v>1.8709</c:v>
                </c:pt>
                <c:pt idx="62">
                  <c:v>1.9805</c:v>
                </c:pt>
                <c:pt idx="63">
                  <c:v>2.0904</c:v>
                </c:pt>
                <c:pt idx="64">
                  <c:v>2.2004</c:v>
                </c:pt>
                <c:pt idx="65">
                  <c:v>2.3104</c:v>
                </c:pt>
                <c:pt idx="66">
                  <c:v>2.4202</c:v>
                </c:pt>
                <c:pt idx="67">
                  <c:v>2.53</c:v>
                </c:pt>
                <c:pt idx="68">
                  <c:v>2.6395</c:v>
                </c:pt>
                <c:pt idx="69">
                  <c:v>2.7488</c:v>
                </c:pt>
                <c:pt idx="70">
                  <c:v>2.8577</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
          <c:min val="-4"/>
        </c:scaling>
        <c:delete val="0"/>
        <c:axPos val="b"/>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1"/>
      </c:valAx>
      <c:valAx>
        <c:axId val="2094734552"/>
        <c:scaling>
          <c:orientation val="minMax"/>
          <c:max val="3"/>
          <c:min val="-0.5"/>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1"/>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Parameters per layer</a:t>
            </a:r>
          </a:p>
        </c:rich>
      </c:tx>
      <c:layout/>
      <c:overlay val="0"/>
    </c:title>
    <c:autoTitleDeleted val="0"/>
    <c:plotArea>
      <c:layout/>
      <c:barChart>
        <c:barDir val="bar"/>
        <c:grouping val="clustered"/>
        <c:varyColors val="0"/>
        <c:ser>
          <c:idx val="0"/>
          <c:order val="0"/>
          <c:tx>
            <c:strRef>
              <c:f>Sheet1!$B$1</c:f>
              <c:strCache>
                <c:ptCount val="1"/>
                <c:pt idx="0">
                  <c:v>v</c:v>
                </c:pt>
              </c:strCache>
            </c:strRef>
          </c:tx>
          <c:spPr>
            <a:solidFill>
              <a:srgbClr val="0F7C82"/>
            </a:solidFill>
            <a:effectLst/>
          </c:spPr>
          <c:invertIfNegative val="0"/>
          <c:dLbls>
            <c:numFmt formatCode="#,##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Layer 1</c:v>
                  </c:pt>
                  <c:pt idx="1">
                    <c:v>Layer 2</c:v>
                  </c:pt>
                  <c:pt idx="2">
                    <c:v>Layer 3</c:v>
                  </c:pt>
                </c:lvl>
              </c:multiLvlStrCache>
            </c:multiLvlStrRef>
          </c:cat>
          <c:val>
            <c:numRef>
              <c:f>Sheet1!$B$2:$B$4</c:f>
              <c:numCache>
                <c:formatCode>General</c:formatCode>
                <c:ptCount val="3"/>
                <c:pt idx="0">
                  <c:v>100480</c:v>
                </c:pt>
                <c:pt idx="1">
                  <c:v>8256</c:v>
                </c:pt>
                <c:pt idx="2">
                  <c:v>650</c:v>
                </c:pt>
              </c:numCache>
            </c:numRef>
          </c:val>
        </c:ser>
        <c:dLbls>
          <c:numFmt formatCode="#,##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Logits z</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8A94A3"/>
            </a:solidFill>
            <a:effectLst/>
          </c:spPr>
          <c:invertIfNegative val="0"/>
          <c:dLbls>
            <c:numFmt formatCode="0.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z₁</c:v>
                  </c:pt>
                  <c:pt idx="1">
                    <c:v>z₂</c:v>
                  </c:pt>
                  <c:pt idx="2">
                    <c:v>z₃</c:v>
                  </c:pt>
                </c:lvl>
              </c:multiLvlStrCache>
            </c:multiLvlStrRef>
          </c:cat>
          <c:val>
            <c:numRef>
              <c:f>Sheet1!$B$2:$B$4</c:f>
              <c:numCache>
                <c:formatCode>General</c:formatCode>
                <c:ptCount val="3"/>
                <c:pt idx="0">
                  <c:v>2</c:v>
                </c:pt>
                <c:pt idx="1">
                  <c:v>1</c:v>
                </c:pt>
                <c:pt idx="2">
                  <c:v>0.1</c:v>
                </c:pt>
              </c:numCache>
            </c:numRef>
          </c:val>
        </c:ser>
        <c:dLbls>
          <c:numFmt formatCode="0.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orientation val="minMax"/>
          <c:max val="2.5"/>
          <c:min val="0"/>
        </c:scaling>
        <c:delete val="1"/>
        <c:axPos val="l"/>
        <c:numFmt formatCode="General"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Probabilities (sum 1)</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0F7C82"/>
            </a:solidFill>
            <a:effectLst/>
          </c:spPr>
          <c:invertIfNegative val="0"/>
          <c:dLbls>
            <c:numFmt formatCode="0.0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ŷ₁</c:v>
                  </c:pt>
                  <c:pt idx="1">
                    <c:v>ŷ₂</c:v>
                  </c:pt>
                  <c:pt idx="2">
                    <c:v>ŷ₃</c:v>
                  </c:pt>
                </c:lvl>
              </c:multiLvlStrCache>
            </c:multiLvlStrRef>
          </c:cat>
          <c:val>
            <c:numRef>
              <c:f>Sheet1!$B$2:$B$4</c:f>
              <c:numCache>
                <c:formatCode>General</c:formatCode>
                <c:ptCount val="3"/>
                <c:pt idx="0">
                  <c:v>0.659</c:v>
                </c:pt>
                <c:pt idx="1">
                  <c:v>0.242</c:v>
                </c:pt>
                <c:pt idx="2">
                  <c:v>0.099</c:v>
                </c:pt>
              </c:numCache>
            </c:numRef>
          </c:val>
        </c:ser>
        <c:dLbls>
          <c:numFmt formatCode="0.0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orientation val="minMax"/>
          <c:max val="0.85"/>
          <c:min val="0"/>
        </c:scaling>
        <c:delete val="1"/>
        <c:axPos val="l"/>
        <c:numFmt formatCode="General"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|∂L/∂z| for a true label y = 1</a:t>
            </a:r>
          </a:p>
        </c:rich>
      </c:tx>
      <c:layout/>
      <c:overlay val="0"/>
    </c:title>
    <c:autoTitleDeleted val="0"/>
    <c:plotArea>
      <c:layout/>
      <c:scatterChart>
        <c:scatterStyle val="lineMarker"/>
        <c:varyColors val="0"/>
        <c:ser>
          <c:idx val="0"/>
          <c:order val="0"/>
          <c:tx>
            <c:strRef>
              <c:f>Sheet1!$B$1</c:f>
              <c:strCache>
                <c:ptCount val="1"/>
                <c:pt idx="0">
                  <c:v>cross-entropy</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Sheet1!$A$2:$A$62</c:f>
              <c:numCache>
                <c:formatCode>General</c:formatCode>
                <c:ptCount val="61"/>
                <c:pt idx="0">
                  <c:v>-8</c:v>
                </c:pt>
                <c:pt idx="1">
                  <c:v>-7.8</c:v>
                </c:pt>
                <c:pt idx="2">
                  <c:v>-7.6</c:v>
                </c:pt>
                <c:pt idx="3">
                  <c:v>-7.4</c:v>
                </c:pt>
                <c:pt idx="4">
                  <c:v>-7.2</c:v>
                </c:pt>
                <c:pt idx="5">
                  <c:v>-7</c:v>
                </c:pt>
                <c:pt idx="6">
                  <c:v>-6.8</c:v>
                </c:pt>
                <c:pt idx="7">
                  <c:v>-6.6</c:v>
                </c:pt>
                <c:pt idx="8">
                  <c:v>-6.4</c:v>
                </c:pt>
                <c:pt idx="9">
                  <c:v>-6.2</c:v>
                </c:pt>
                <c:pt idx="10">
                  <c:v>-6</c:v>
                </c:pt>
                <c:pt idx="11">
                  <c:v>-5.8</c:v>
                </c:pt>
                <c:pt idx="12">
                  <c:v>-5.6</c:v>
                </c:pt>
                <c:pt idx="13">
                  <c:v>-5.4</c:v>
                </c:pt>
                <c:pt idx="14">
                  <c:v>-5.2</c:v>
                </c:pt>
                <c:pt idx="15">
                  <c:v>-5</c:v>
                </c:pt>
                <c:pt idx="16">
                  <c:v>-4.8</c:v>
                </c:pt>
                <c:pt idx="17">
                  <c:v>-4.6</c:v>
                </c:pt>
                <c:pt idx="18">
                  <c:v>-4.4</c:v>
                </c:pt>
                <c:pt idx="19">
                  <c:v>-4.2</c:v>
                </c:pt>
                <c:pt idx="20">
                  <c:v>-4</c:v>
                </c:pt>
                <c:pt idx="21">
                  <c:v>-3.8</c:v>
                </c:pt>
                <c:pt idx="22">
                  <c:v>-3.6</c:v>
                </c:pt>
                <c:pt idx="23">
                  <c:v>-3.4</c:v>
                </c:pt>
                <c:pt idx="24">
                  <c:v>-3.2</c:v>
                </c:pt>
                <c:pt idx="25">
                  <c:v>-3</c:v>
                </c:pt>
                <c:pt idx="26">
                  <c:v>-2.8</c:v>
                </c:pt>
                <c:pt idx="27">
                  <c:v>-2.6</c:v>
                </c:pt>
                <c:pt idx="28">
                  <c:v>-2.4</c:v>
                </c:pt>
                <c:pt idx="29">
                  <c:v>-2.2</c:v>
                </c:pt>
                <c:pt idx="30">
                  <c:v>-2</c:v>
                </c:pt>
                <c:pt idx="31">
                  <c:v>-1.8</c:v>
                </c:pt>
                <c:pt idx="32">
                  <c:v>-1.6</c:v>
                </c:pt>
                <c:pt idx="33">
                  <c:v>-1.4</c:v>
                </c:pt>
                <c:pt idx="34">
                  <c:v>-1.2</c:v>
                </c:pt>
                <c:pt idx="35">
                  <c:v>-1</c:v>
                </c:pt>
                <c:pt idx="36">
                  <c:v>-0.8</c:v>
                </c:pt>
                <c:pt idx="37">
                  <c:v>-0.6</c:v>
                </c:pt>
                <c:pt idx="38">
                  <c:v>-0.4</c:v>
                </c:pt>
                <c:pt idx="39">
                  <c:v>-0.2</c:v>
                </c:pt>
                <c:pt idx="40">
                  <c:v>0</c:v>
                </c:pt>
                <c:pt idx="41">
                  <c:v>0.2</c:v>
                </c:pt>
                <c:pt idx="42">
                  <c:v>0.4</c:v>
                </c:pt>
                <c:pt idx="43">
                  <c:v>0.6</c:v>
                </c:pt>
                <c:pt idx="44">
                  <c:v>0.8</c:v>
                </c:pt>
                <c:pt idx="45">
                  <c:v>1</c:v>
                </c:pt>
                <c:pt idx="46">
                  <c:v>1.2</c:v>
                </c:pt>
                <c:pt idx="47">
                  <c:v>1.4</c:v>
                </c:pt>
                <c:pt idx="48">
                  <c:v>1.6</c:v>
                </c:pt>
                <c:pt idx="49">
                  <c:v>1.8</c:v>
                </c:pt>
                <c:pt idx="50">
                  <c:v>2</c:v>
                </c:pt>
                <c:pt idx="51">
                  <c:v>2.2</c:v>
                </c:pt>
                <c:pt idx="52">
                  <c:v>2.4</c:v>
                </c:pt>
                <c:pt idx="53">
                  <c:v>2.6</c:v>
                </c:pt>
                <c:pt idx="54">
                  <c:v>2.8</c:v>
                </c:pt>
                <c:pt idx="55">
                  <c:v>3</c:v>
                </c:pt>
                <c:pt idx="56">
                  <c:v>3.2</c:v>
                </c:pt>
                <c:pt idx="57">
                  <c:v>3.4</c:v>
                </c:pt>
                <c:pt idx="58">
                  <c:v>3.6</c:v>
                </c:pt>
                <c:pt idx="59">
                  <c:v>3.8</c:v>
                </c:pt>
                <c:pt idx="60">
                  <c:v>4</c:v>
                </c:pt>
              </c:numCache>
            </c:numRef>
          </c:xVal>
          <c:yVal>
            <c:numRef>
              <c:f>Sheet1!$B$2:$B$62</c:f>
              <c:numCache>
                <c:formatCode>General</c:formatCode>
                <c:ptCount val="61"/>
                <c:pt idx="0">
                  <c:v>0.99966</c:v>
                </c:pt>
                <c:pt idx="1">
                  <c:v>0.99959</c:v>
                </c:pt>
                <c:pt idx="2">
                  <c:v>0.9995</c:v>
                </c:pt>
                <c:pt idx="3">
                  <c:v>0.99939</c:v>
                </c:pt>
                <c:pt idx="4">
                  <c:v>0.99925</c:v>
                </c:pt>
                <c:pt idx="5">
                  <c:v>0.99909</c:v>
                </c:pt>
                <c:pt idx="6">
                  <c:v>0.99889</c:v>
                </c:pt>
                <c:pt idx="7">
                  <c:v>0.99864</c:v>
                </c:pt>
                <c:pt idx="8">
                  <c:v>0.99834</c:v>
                </c:pt>
                <c:pt idx="9">
                  <c:v>0.99797</c:v>
                </c:pt>
                <c:pt idx="10">
                  <c:v>0.99753</c:v>
                </c:pt>
                <c:pt idx="11">
                  <c:v>0.99698</c:v>
                </c:pt>
                <c:pt idx="12">
                  <c:v>0.99632</c:v>
                </c:pt>
                <c:pt idx="13">
                  <c:v>0.9955</c:v>
                </c:pt>
                <c:pt idx="14">
                  <c:v>0.99451</c:v>
                </c:pt>
                <c:pt idx="15">
                  <c:v>0.99331</c:v>
                </c:pt>
                <c:pt idx="16">
                  <c:v>0.99184</c:v>
                </c:pt>
                <c:pt idx="17">
                  <c:v>0.99005</c:v>
                </c:pt>
                <c:pt idx="18">
                  <c:v>0.98787</c:v>
                </c:pt>
                <c:pt idx="19">
                  <c:v>0.98523</c:v>
                </c:pt>
                <c:pt idx="20">
                  <c:v>0.98201</c:v>
                </c:pt>
                <c:pt idx="21">
                  <c:v>0.97812</c:v>
                </c:pt>
                <c:pt idx="22">
                  <c:v>0.9734</c:v>
                </c:pt>
                <c:pt idx="23">
                  <c:v>0.9677</c:v>
                </c:pt>
                <c:pt idx="24">
                  <c:v>0.96083</c:v>
                </c:pt>
                <c:pt idx="25">
                  <c:v>0.95257</c:v>
                </c:pt>
                <c:pt idx="26">
                  <c:v>0.94268</c:v>
                </c:pt>
                <c:pt idx="27">
                  <c:v>0.93086</c:v>
                </c:pt>
                <c:pt idx="28">
                  <c:v>0.91683</c:v>
                </c:pt>
                <c:pt idx="29">
                  <c:v>0.90025</c:v>
                </c:pt>
                <c:pt idx="30">
                  <c:v>0.8808</c:v>
                </c:pt>
                <c:pt idx="31">
                  <c:v>0.85815</c:v>
                </c:pt>
                <c:pt idx="32">
                  <c:v>0.83202</c:v>
                </c:pt>
                <c:pt idx="33">
                  <c:v>0.80218</c:v>
                </c:pt>
                <c:pt idx="34">
                  <c:v>0.76852</c:v>
                </c:pt>
                <c:pt idx="35">
                  <c:v>0.73106</c:v>
                </c:pt>
                <c:pt idx="36">
                  <c:v>0.68997</c:v>
                </c:pt>
                <c:pt idx="37">
                  <c:v>0.64566</c:v>
                </c:pt>
                <c:pt idx="38">
                  <c:v>0.59869</c:v>
                </c:pt>
                <c:pt idx="39">
                  <c:v>0.54983</c:v>
                </c:pt>
                <c:pt idx="40">
                  <c:v>0.5</c:v>
                </c:pt>
                <c:pt idx="41">
                  <c:v>0.45017</c:v>
                </c:pt>
                <c:pt idx="42">
                  <c:v>0.40131</c:v>
                </c:pt>
                <c:pt idx="43">
                  <c:v>0.35434</c:v>
                </c:pt>
                <c:pt idx="44">
                  <c:v>0.31003</c:v>
                </c:pt>
                <c:pt idx="45">
                  <c:v>0.26894</c:v>
                </c:pt>
                <c:pt idx="46">
                  <c:v>0.23148</c:v>
                </c:pt>
                <c:pt idx="47">
                  <c:v>0.19782</c:v>
                </c:pt>
                <c:pt idx="48">
                  <c:v>0.16798</c:v>
                </c:pt>
                <c:pt idx="49">
                  <c:v>0.14185</c:v>
                </c:pt>
                <c:pt idx="50">
                  <c:v>0.1192</c:v>
                </c:pt>
                <c:pt idx="51">
                  <c:v>0.09975</c:v>
                </c:pt>
                <c:pt idx="52">
                  <c:v>0.08317</c:v>
                </c:pt>
                <c:pt idx="53">
                  <c:v>0.06914</c:v>
                </c:pt>
                <c:pt idx="54">
                  <c:v>0.05732</c:v>
                </c:pt>
                <c:pt idx="55">
                  <c:v>0.04743</c:v>
                </c:pt>
                <c:pt idx="56">
                  <c:v>0.03917</c:v>
                </c:pt>
                <c:pt idx="57">
                  <c:v>0.0323</c:v>
                </c:pt>
                <c:pt idx="58">
                  <c:v>0.0266</c:v>
                </c:pt>
                <c:pt idx="59">
                  <c:v>0.02188</c:v>
                </c:pt>
                <c:pt idx="60">
                  <c:v>0.01799</c:v>
                </c:pt>
              </c:numCache>
            </c:numRef>
          </c:yVal>
          <c:smooth val="0"/>
        </c:ser>
        <c:ser>
          <c:idx val="1"/>
          <c:order val="1"/>
          <c:tx>
            <c:strRef>
              <c:f>Sheet1!$C$1</c:f>
              <c:strCache>
                <c:ptCount val="1"/>
                <c:pt idx="0">
                  <c:v>MSE on a sigmoid</c:v>
                </c:pt>
              </c:strCache>
            </c:strRef>
          </c:tx>
          <c:spPr>
            <a:solidFill>
              <a:srgbClr val="C8571B"/>
            </a:solidFill>
            <a:ln w="31750" cap="flat">
              <a:solidFill>
                <a:srgbClr val="C8571B"/>
              </a:solidFill>
              <a:prstDash val="solid"/>
              <a:round/>
            </a:ln>
            <a:effectLst/>
          </c:spPr>
          <c:marker>
            <c:symbol val="none"/>
            <c:size val="6"/>
            <c:spPr>
              <a:solidFill>
                <a:srgbClr val="C8571B"/>
              </a:solidFill>
              <a:ln w="9525" cap="flat">
                <a:solidFill>
                  <a:srgbClr val="C8571B"/>
                </a:solidFill>
                <a:prstDash val="solid"/>
                <a:round/>
              </a:ln>
              <a:effectLst/>
            </c:spPr>
          </c:marker>
          <c:xVal>
            <c:numRef>
              <c:f>Sheet1!$A$2:$A$62</c:f>
              <c:numCache>
                <c:formatCode>General</c:formatCode>
                <c:ptCount val="61"/>
                <c:pt idx="0">
                  <c:v>-8</c:v>
                </c:pt>
                <c:pt idx="1">
                  <c:v>-7.8</c:v>
                </c:pt>
                <c:pt idx="2">
                  <c:v>-7.6</c:v>
                </c:pt>
                <c:pt idx="3">
                  <c:v>-7.4</c:v>
                </c:pt>
                <c:pt idx="4">
                  <c:v>-7.2</c:v>
                </c:pt>
                <c:pt idx="5">
                  <c:v>-7</c:v>
                </c:pt>
                <c:pt idx="6">
                  <c:v>-6.8</c:v>
                </c:pt>
                <c:pt idx="7">
                  <c:v>-6.6</c:v>
                </c:pt>
                <c:pt idx="8">
                  <c:v>-6.4</c:v>
                </c:pt>
                <c:pt idx="9">
                  <c:v>-6.2</c:v>
                </c:pt>
                <c:pt idx="10">
                  <c:v>-6</c:v>
                </c:pt>
                <c:pt idx="11">
                  <c:v>-5.8</c:v>
                </c:pt>
                <c:pt idx="12">
                  <c:v>-5.6</c:v>
                </c:pt>
                <c:pt idx="13">
                  <c:v>-5.4</c:v>
                </c:pt>
                <c:pt idx="14">
                  <c:v>-5.2</c:v>
                </c:pt>
                <c:pt idx="15">
                  <c:v>-5</c:v>
                </c:pt>
                <c:pt idx="16">
                  <c:v>-4.8</c:v>
                </c:pt>
                <c:pt idx="17">
                  <c:v>-4.6</c:v>
                </c:pt>
                <c:pt idx="18">
                  <c:v>-4.4</c:v>
                </c:pt>
                <c:pt idx="19">
                  <c:v>-4.2</c:v>
                </c:pt>
                <c:pt idx="20">
                  <c:v>-4</c:v>
                </c:pt>
                <c:pt idx="21">
                  <c:v>-3.8</c:v>
                </c:pt>
                <c:pt idx="22">
                  <c:v>-3.6</c:v>
                </c:pt>
                <c:pt idx="23">
                  <c:v>-3.4</c:v>
                </c:pt>
                <c:pt idx="24">
                  <c:v>-3.2</c:v>
                </c:pt>
                <c:pt idx="25">
                  <c:v>-3</c:v>
                </c:pt>
                <c:pt idx="26">
                  <c:v>-2.8</c:v>
                </c:pt>
                <c:pt idx="27">
                  <c:v>-2.6</c:v>
                </c:pt>
                <c:pt idx="28">
                  <c:v>-2.4</c:v>
                </c:pt>
                <c:pt idx="29">
                  <c:v>-2.2</c:v>
                </c:pt>
                <c:pt idx="30">
                  <c:v>-2</c:v>
                </c:pt>
                <c:pt idx="31">
                  <c:v>-1.8</c:v>
                </c:pt>
                <c:pt idx="32">
                  <c:v>-1.6</c:v>
                </c:pt>
                <c:pt idx="33">
                  <c:v>-1.4</c:v>
                </c:pt>
                <c:pt idx="34">
                  <c:v>-1.2</c:v>
                </c:pt>
                <c:pt idx="35">
                  <c:v>-1</c:v>
                </c:pt>
                <c:pt idx="36">
                  <c:v>-0.8</c:v>
                </c:pt>
                <c:pt idx="37">
                  <c:v>-0.6</c:v>
                </c:pt>
                <c:pt idx="38">
                  <c:v>-0.4</c:v>
                </c:pt>
                <c:pt idx="39">
                  <c:v>-0.2</c:v>
                </c:pt>
                <c:pt idx="40">
                  <c:v>0</c:v>
                </c:pt>
                <c:pt idx="41">
                  <c:v>0.2</c:v>
                </c:pt>
                <c:pt idx="42">
                  <c:v>0.4</c:v>
                </c:pt>
                <c:pt idx="43">
                  <c:v>0.6</c:v>
                </c:pt>
                <c:pt idx="44">
                  <c:v>0.8</c:v>
                </c:pt>
                <c:pt idx="45">
                  <c:v>1</c:v>
                </c:pt>
                <c:pt idx="46">
                  <c:v>1.2</c:v>
                </c:pt>
                <c:pt idx="47">
                  <c:v>1.4</c:v>
                </c:pt>
                <c:pt idx="48">
                  <c:v>1.6</c:v>
                </c:pt>
                <c:pt idx="49">
                  <c:v>1.8</c:v>
                </c:pt>
                <c:pt idx="50">
                  <c:v>2</c:v>
                </c:pt>
                <c:pt idx="51">
                  <c:v>2.2</c:v>
                </c:pt>
                <c:pt idx="52">
                  <c:v>2.4</c:v>
                </c:pt>
                <c:pt idx="53">
                  <c:v>2.6</c:v>
                </c:pt>
                <c:pt idx="54">
                  <c:v>2.8</c:v>
                </c:pt>
                <c:pt idx="55">
                  <c:v>3</c:v>
                </c:pt>
                <c:pt idx="56">
                  <c:v>3.2</c:v>
                </c:pt>
                <c:pt idx="57">
                  <c:v>3.4</c:v>
                </c:pt>
                <c:pt idx="58">
                  <c:v>3.6</c:v>
                </c:pt>
                <c:pt idx="59">
                  <c:v>3.8</c:v>
                </c:pt>
                <c:pt idx="60">
                  <c:v>4</c:v>
                </c:pt>
              </c:numCache>
            </c:numRef>
          </c:xVal>
          <c:yVal>
            <c:numRef>
              <c:f>Sheet1!$C$2:$C$62</c:f>
              <c:numCache>
                <c:formatCode>General</c:formatCode>
                <c:ptCount val="61"/>
                <c:pt idx="0">
                  <c:v>0.00034</c:v>
                </c:pt>
                <c:pt idx="1">
                  <c:v>0.00041</c:v>
                </c:pt>
                <c:pt idx="2">
                  <c:v>0.0005</c:v>
                </c:pt>
                <c:pt idx="3">
                  <c:v>0.00061</c:v>
                </c:pt>
                <c:pt idx="4">
                  <c:v>0.00074</c:v>
                </c:pt>
                <c:pt idx="5">
                  <c:v>0.00091</c:v>
                </c:pt>
                <c:pt idx="6">
                  <c:v>0.00111</c:v>
                </c:pt>
                <c:pt idx="7">
                  <c:v>0.00135</c:v>
                </c:pt>
                <c:pt idx="8">
                  <c:v>0.00165</c:v>
                </c:pt>
                <c:pt idx="9">
                  <c:v>0.00202</c:v>
                </c:pt>
                <c:pt idx="10">
                  <c:v>0.00246</c:v>
                </c:pt>
                <c:pt idx="11">
                  <c:v>0.003</c:v>
                </c:pt>
                <c:pt idx="12">
                  <c:v>0.00366</c:v>
                </c:pt>
                <c:pt idx="13">
                  <c:v>0.00446</c:v>
                </c:pt>
                <c:pt idx="14">
                  <c:v>0.00543</c:v>
                </c:pt>
                <c:pt idx="15">
                  <c:v>0.0066</c:v>
                </c:pt>
                <c:pt idx="16">
                  <c:v>0.00803</c:v>
                </c:pt>
                <c:pt idx="17">
                  <c:v>0.00975</c:v>
                </c:pt>
                <c:pt idx="18">
                  <c:v>0.01184</c:v>
                </c:pt>
                <c:pt idx="19">
                  <c:v>0.01434</c:v>
                </c:pt>
                <c:pt idx="20">
                  <c:v>0.01735</c:v>
                </c:pt>
                <c:pt idx="21">
                  <c:v>0.02093</c:v>
                </c:pt>
                <c:pt idx="22">
                  <c:v>0.0252</c:v>
                </c:pt>
                <c:pt idx="23">
                  <c:v>0.03024</c:v>
                </c:pt>
                <c:pt idx="24">
                  <c:v>0.03616</c:v>
                </c:pt>
                <c:pt idx="25">
                  <c:v>0.04303</c:v>
                </c:pt>
                <c:pt idx="26">
                  <c:v>0.05094</c:v>
                </c:pt>
                <c:pt idx="27">
                  <c:v>0.05991</c:v>
                </c:pt>
                <c:pt idx="28">
                  <c:v>0.06991</c:v>
                </c:pt>
                <c:pt idx="29">
                  <c:v>0.08084</c:v>
                </c:pt>
                <c:pt idx="30">
                  <c:v>0.09248</c:v>
                </c:pt>
                <c:pt idx="31">
                  <c:v>0.10446</c:v>
                </c:pt>
                <c:pt idx="32">
                  <c:v>0.11629</c:v>
                </c:pt>
                <c:pt idx="33">
                  <c:v>0.12729</c:v>
                </c:pt>
                <c:pt idx="34">
                  <c:v>0.13672</c:v>
                </c:pt>
                <c:pt idx="35">
                  <c:v>0.14373</c:v>
                </c:pt>
                <c:pt idx="36">
                  <c:v>0.14759</c:v>
                </c:pt>
                <c:pt idx="37">
                  <c:v>0.14772</c:v>
                </c:pt>
                <c:pt idx="38">
                  <c:v>0.14384</c:v>
                </c:pt>
                <c:pt idx="39">
                  <c:v>0.13609</c:v>
                </c:pt>
                <c:pt idx="40">
                  <c:v>0.125</c:v>
                </c:pt>
                <c:pt idx="41">
                  <c:v>0.11142</c:v>
                </c:pt>
                <c:pt idx="42">
                  <c:v>0.09642</c:v>
                </c:pt>
                <c:pt idx="43">
                  <c:v>0.08107</c:v>
                </c:pt>
                <c:pt idx="44">
                  <c:v>0.06632</c:v>
                </c:pt>
                <c:pt idx="45">
                  <c:v>0.05288</c:v>
                </c:pt>
                <c:pt idx="46">
                  <c:v>0.04118</c:v>
                </c:pt>
                <c:pt idx="47">
                  <c:v>0.03139</c:v>
                </c:pt>
                <c:pt idx="48">
                  <c:v>0.02348</c:v>
                </c:pt>
                <c:pt idx="49">
                  <c:v>0.01727</c:v>
                </c:pt>
                <c:pt idx="50">
                  <c:v>0.01252</c:v>
                </c:pt>
                <c:pt idx="51">
                  <c:v>0.00896</c:v>
                </c:pt>
                <c:pt idx="52">
                  <c:v>0.00634</c:v>
                </c:pt>
                <c:pt idx="53">
                  <c:v>0.00445</c:v>
                </c:pt>
                <c:pt idx="54">
                  <c:v>0.0031</c:v>
                </c:pt>
                <c:pt idx="55">
                  <c:v>0.00214</c:v>
                </c:pt>
                <c:pt idx="56">
                  <c:v>0.00147</c:v>
                </c:pt>
                <c:pt idx="57">
                  <c:v>0.00101</c:v>
                </c:pt>
                <c:pt idx="58">
                  <c:v>0.00069</c:v>
                </c:pt>
                <c:pt idx="59">
                  <c:v>0.00047</c:v>
                </c:pt>
                <c:pt idx="60">
                  <c:v>0.00032</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4"/>
          <c:min val="-8"/>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logit z   (left = confidently wrong)</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2"/>
      </c:valAx>
      <c:valAx>
        <c:axId val="2094734552"/>
        <c:scaling>
          <c:orientation val="minMax"/>
          <c:max val="1.05"/>
          <c:min val="0"/>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0.25"/>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Running example: training loss per epoch (real runs)</a:t>
            </a:r>
          </a:p>
        </c:rich>
      </c:tx>
      <c:layout/>
      <c:overlay val="0"/>
    </c:title>
    <c:autoTitleDeleted val="0"/>
    <c:plotArea>
      <c:layout/>
      <c:lineChart>
        <c:varyColors val="0"/>
        <c:ser>
          <c:idx val="0"/>
          <c:order val="0"/>
          <c:tx>
            <c:strRef>
              <c:f>Sheet1!$B$1</c:f>
              <c:strCache>
                <c:ptCount val="1"/>
                <c:pt idx="0">
                  <c:v>correct: raw logits</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Sheet1!$B$2:$B$21</c:f>
              <c:numCache>
                <c:formatCode>General</c:formatCode>
                <c:ptCount val="20"/>
                <c:pt idx="0">
                  <c:v>0.49384865164756775</c:v>
                </c:pt>
                <c:pt idx="1">
                  <c:v>0.3596368730068207</c:v>
                </c:pt>
                <c:pt idx="2">
                  <c:v>0.3218068778514862</c:v>
                </c:pt>
                <c:pt idx="3">
                  <c:v>0.2974529266357422</c:v>
                </c:pt>
                <c:pt idx="4">
                  <c:v>0.27843278646469116</c:v>
                </c:pt>
                <c:pt idx="5">
                  <c:v>0.26268959045410156</c:v>
                </c:pt>
                <c:pt idx="6">
                  <c:v>0.2537035048007965</c:v>
                </c:pt>
                <c:pt idx="7">
                  <c:v>0.23646055161952972</c:v>
                </c:pt>
                <c:pt idx="8">
                  <c:v>0.22542323172092438</c:v>
                </c:pt>
                <c:pt idx="9">
                  <c:v>0.2185504138469696</c:v>
                </c:pt>
                <c:pt idx="10">
                  <c:v>0.2067716419696808</c:v>
                </c:pt>
                <c:pt idx="11">
                  <c:v>0.20049884915351868</c:v>
                </c:pt>
                <c:pt idx="12">
                  <c:v>0.18998590111732483</c:v>
                </c:pt>
                <c:pt idx="13">
                  <c:v>0.1803838610649109</c:v>
                </c:pt>
                <c:pt idx="14">
                  <c:v>0.17680205404758453</c:v>
                </c:pt>
                <c:pt idx="15">
                  <c:v>0.1736481487751007</c:v>
                </c:pt>
                <c:pt idx="16">
                  <c:v>0.1611250340938568</c:v>
                </c:pt>
                <c:pt idx="17">
                  <c:v>0.15755993127822876</c:v>
                </c:pt>
                <c:pt idx="18">
                  <c:v>0.15469546616077423</c:v>
                </c:pt>
                <c:pt idx="19">
                  <c:v>0.14380960166454315</c:v>
                </c:pt>
              </c:numCache>
            </c:numRef>
          </c:val>
          <c:smooth val="0"/>
        </c:ser>
        <c:ser>
          <c:idx val="1"/>
          <c:order val="1"/>
          <c:tx>
            <c:strRef>
              <c:f>Sheet1!$C$1</c:f>
              <c:strCache>
                <c:ptCount val="1"/>
                <c:pt idx="0">
                  <c:v>bug: softmax → CrossEntropyLoss</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571B"/>
              </a:solidFill>
              <a:ln w="9525" cap="flat">
                <a:solidFill>
                  <a:srgbClr val="C8571B"/>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Sheet1!$C$2:$C$21</c:f>
              <c:numCache>
                <c:formatCode>General</c:formatCode>
                <c:ptCount val="20"/>
                <c:pt idx="0">
                  <c:v>1.7766616344451904</c:v>
                </c:pt>
                <c:pt idx="1">
                  <c:v>1.6196067333221436</c:v>
                </c:pt>
                <c:pt idx="2">
                  <c:v>1.6039454936981201</c:v>
                </c:pt>
                <c:pt idx="3">
                  <c:v>1.5978792905807495</c:v>
                </c:pt>
                <c:pt idx="4">
                  <c:v>1.589339256286621</c:v>
                </c:pt>
                <c:pt idx="5">
                  <c:v>1.5864088535308838</c:v>
                </c:pt>
                <c:pt idx="6">
                  <c:v>1.5816313028335571</c:v>
                </c:pt>
                <c:pt idx="7">
                  <c:v>1.578860878944397</c:v>
                </c:pt>
                <c:pt idx="8">
                  <c:v>1.5754261016845703</c:v>
                </c:pt>
                <c:pt idx="9">
                  <c:v>1.5726630687713623</c:v>
                </c:pt>
                <c:pt idx="10">
                  <c:v>1.5712932348251343</c:v>
                </c:pt>
                <c:pt idx="11">
                  <c:v>1.5685253143310547</c:v>
                </c:pt>
                <c:pt idx="12">
                  <c:v>1.5670136213302612</c:v>
                </c:pt>
                <c:pt idx="13">
                  <c:v>1.5619750022888184</c:v>
                </c:pt>
                <c:pt idx="14">
                  <c:v>1.564183235168457</c:v>
                </c:pt>
                <c:pt idx="15">
                  <c:v>1.5628798007965088</c:v>
                </c:pt>
                <c:pt idx="16">
                  <c:v>1.5621469020843506</c:v>
                </c:pt>
                <c:pt idx="17">
                  <c:v>1.5590671300888062</c:v>
                </c:pt>
                <c:pt idx="18">
                  <c:v>1.5594263076782227</c:v>
                </c:pt>
                <c:pt idx="19">
                  <c:v>1.5582759380340576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epoch</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2"/>
      </c:catAx>
      <c:valAx>
        <c:axId val="2094734552"/>
        <c:scaling>
          <c:orientation val="minMax"/>
          <c:max val="2"/>
          <c:min val="0"/>
        </c:scaling>
        <c:delete val="0"/>
        <c:axPos val="l"/>
        <c:majorGridlines>
          <c:spPr>
            <a:ln w="9525" cap="flat">
              <a:solidFill>
                <a:srgbClr val="E3E7EC"/>
              </a:solidFill>
              <a:prstDash val="solid"/>
              <a:round/>
            </a:ln>
          </c:spPr>
        </c:majorGridlines>
        <c:numFmt formatCode="0.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majorUnit val="0.5"/>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Cross-entropy loss</a:t>
            </a:r>
          </a:p>
        </c:rich>
      </c:tx>
      <c:layout/>
      <c:overlay val="0"/>
    </c:title>
    <c:autoTitleDeleted val="0"/>
    <c:plotArea>
      <c:layout/>
      <c:lineChart>
        <c:varyColors val="0"/>
        <c:ser>
          <c:idx val="0"/>
          <c:order val="0"/>
          <c:tx>
            <c:strRef>
              <c:f>Sheet1!$B$1</c:f>
              <c:strCache>
                <c:ptCount val="1"/>
                <c:pt idx="0">
                  <c:v>training loss</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Sheet1!$B$2:$B$21</c:f>
              <c:numCache>
                <c:formatCode>General</c:formatCode>
                <c:ptCount val="20"/>
                <c:pt idx="0">
                  <c:v>0.49384865164756775</c:v>
                </c:pt>
                <c:pt idx="1">
                  <c:v>0.3596368730068207</c:v>
                </c:pt>
                <c:pt idx="2">
                  <c:v>0.3218068778514862</c:v>
                </c:pt>
                <c:pt idx="3">
                  <c:v>0.2974529266357422</c:v>
                </c:pt>
                <c:pt idx="4">
                  <c:v>0.27843278646469116</c:v>
                </c:pt>
                <c:pt idx="5">
                  <c:v>0.26268959045410156</c:v>
                </c:pt>
                <c:pt idx="6">
                  <c:v>0.2537035048007965</c:v>
                </c:pt>
                <c:pt idx="7">
                  <c:v>0.23646055161952972</c:v>
                </c:pt>
                <c:pt idx="8">
                  <c:v>0.22542323172092438</c:v>
                </c:pt>
                <c:pt idx="9">
                  <c:v>0.2185504138469696</c:v>
                </c:pt>
                <c:pt idx="10">
                  <c:v>0.2067716419696808</c:v>
                </c:pt>
                <c:pt idx="11">
                  <c:v>0.20049884915351868</c:v>
                </c:pt>
                <c:pt idx="12">
                  <c:v>0.18998590111732483</c:v>
                </c:pt>
                <c:pt idx="13">
                  <c:v>0.1803838610649109</c:v>
                </c:pt>
                <c:pt idx="14">
                  <c:v>0.17680205404758453</c:v>
                </c:pt>
                <c:pt idx="15">
                  <c:v>0.1736481487751007</c:v>
                </c:pt>
                <c:pt idx="16">
                  <c:v>0.1611250340938568</c:v>
                </c:pt>
                <c:pt idx="17">
                  <c:v>0.15755993127822876</c:v>
                </c:pt>
                <c:pt idx="18">
                  <c:v>0.15469546616077423</c:v>
                </c:pt>
                <c:pt idx="19">
                  <c:v>0.14380960166454315</c:v>
                </c:pt>
              </c:numCache>
            </c:numRef>
          </c:val>
          <c:smooth val="0"/>
        </c:ser>
        <c:ser>
          <c:idx val="1"/>
          <c:order val="1"/>
          <c:tx>
            <c:strRef>
              <c:f>Sheet1!$C$1</c:f>
              <c:strCache>
                <c:ptCount val="1"/>
                <c:pt idx="0">
                  <c:v>validation loss</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571B"/>
              </a:solidFill>
              <a:ln w="9525" cap="flat">
                <a:solidFill>
                  <a:srgbClr val="C8571B"/>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Sheet1!$C$2:$C$21</c:f>
              <c:numCache>
                <c:formatCode>General</c:formatCode>
                <c:ptCount val="20"/>
                <c:pt idx="0">
                  <c:v>0.3945173919200897</c:v>
                </c:pt>
                <c:pt idx="1">
                  <c:v>0.39007094502449036</c:v>
                </c:pt>
                <c:pt idx="2">
                  <c:v>0.3649548590183258</c:v>
                </c:pt>
                <c:pt idx="3">
                  <c:v>0.3408803343772888</c:v>
                </c:pt>
                <c:pt idx="4">
                  <c:v>0.32682499289512634</c:v>
                </c:pt>
                <c:pt idx="5">
                  <c:v>0.3280250132083893</c:v>
                </c:pt>
                <c:pt idx="6">
                  <c:v>0.32904425263404846</c:v>
                </c:pt>
                <c:pt idx="7">
                  <c:v>0.33961817622184753</c:v>
                </c:pt>
                <c:pt idx="8">
                  <c:v>0.33521074056625366</c:v>
                </c:pt>
                <c:pt idx="9">
                  <c:v>0.328994482755661</c:v>
                </c:pt>
                <c:pt idx="10">
                  <c:v>0.3378852903842926</c:v>
                </c:pt>
                <c:pt idx="11">
                  <c:v>0.32682734727859497</c:v>
                </c:pt>
                <c:pt idx="12">
                  <c:v>0.33919423818588257</c:v>
                </c:pt>
                <c:pt idx="13">
                  <c:v>0.34215736389160156</c:v>
                </c:pt>
                <c:pt idx="14">
                  <c:v>0.3470277488231659</c:v>
                </c:pt>
                <c:pt idx="15">
                  <c:v>0.35406163334846497</c:v>
                </c:pt>
                <c:pt idx="16">
                  <c:v>0.3662624955177307</c:v>
                </c:pt>
                <c:pt idx="17">
                  <c:v>0.3898489773273468</c:v>
                </c:pt>
                <c:pt idx="18">
                  <c:v>0.3493269979953766</c:v>
                </c:pt>
                <c:pt idx="19">
                  <c:v>0.3692619204521179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epoch</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2"/>
      </c:catAx>
      <c:valAx>
        <c:axId val="2094734552"/>
        <c:scaling>
          <c:orientation val="minMax"/>
          <c:max val="0.6"/>
          <c:min val="0"/>
        </c:scaling>
        <c:delete val="0"/>
        <c:axPos val="l"/>
        <c:majorGridlines>
          <c:spPr>
            <a:ln w="9525" cap="flat">
              <a:solidFill>
                <a:srgbClr val="E3E7EC"/>
              </a:solidFill>
              <a:prstDash val="solid"/>
              <a:round/>
            </a:ln>
          </c:spPr>
        </c:majorGridlines>
        <c:numFmt formatCode="0.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majorUnit val="0.1"/>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Accuracy</a:t>
            </a:r>
          </a:p>
        </c:rich>
      </c:tx>
      <c:layout/>
      <c:overlay val="0"/>
    </c:title>
    <c:autoTitleDeleted val="0"/>
    <c:plotArea>
      <c:layout/>
      <c:lineChart>
        <c:varyColors val="0"/>
        <c:ser>
          <c:idx val="0"/>
          <c:order val="0"/>
          <c:tx>
            <c:strRef>
              <c:f>Sheet1!$B$1</c:f>
              <c:strCache>
                <c:ptCount val="1"/>
                <c:pt idx="0">
                  <c:v>training accuracy</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Sheet1!$B$2:$B$21</c:f>
              <c:numCache>
                <c:formatCode>General</c:formatCode>
                <c:ptCount val="20"/>
                <c:pt idx="0">
                  <c:v>0.825</c:v>
                </c:pt>
                <c:pt idx="1">
                  <c:v>0.8681272727272727</c:v>
                </c:pt>
                <c:pt idx="2">
                  <c:v>0.8810363636363636</c:v>
                </c:pt>
                <c:pt idx="3">
                  <c:v>0.8897636363636363</c:v>
                </c:pt>
                <c:pt idx="4">
                  <c:v>0.8974181818181818</c:v>
                </c:pt>
                <c:pt idx="5">
                  <c:v>0.9013636363636364</c:v>
                </c:pt>
                <c:pt idx="6">
                  <c:v>0.9040545454545454</c:v>
                </c:pt>
                <c:pt idx="7">
                  <c:v>0.9106181818181818</c:v>
                </c:pt>
                <c:pt idx="8">
                  <c:v>0.9147818181818181</c:v>
                </c:pt>
                <c:pt idx="9">
                  <c:v>0.9180909090909091</c:v>
                </c:pt>
                <c:pt idx="10">
                  <c:v>0.9224727272727272</c:v>
                </c:pt>
                <c:pt idx="11">
                  <c:v>0.9244</c:v>
                </c:pt>
                <c:pt idx="12">
                  <c:v>0.9288</c:v>
                </c:pt>
                <c:pt idx="13">
                  <c:v>0.9312909090909091</c:v>
                </c:pt>
                <c:pt idx="14">
                  <c:v>0.9331090909090909</c:v>
                </c:pt>
                <c:pt idx="15">
                  <c:v>0.9326</c:v>
                </c:pt>
                <c:pt idx="16">
                  <c:v>0.9391454545454545</c:v>
                </c:pt>
                <c:pt idx="17">
                  <c:v>0.9396727272727273</c:v>
                </c:pt>
                <c:pt idx="18">
                  <c:v>0.9413636363636364</c:v>
                </c:pt>
                <c:pt idx="19">
                  <c:v>0.9454</c:v>
                </c:pt>
              </c:numCache>
            </c:numRef>
          </c:val>
          <c:smooth val="0"/>
        </c:ser>
        <c:ser>
          <c:idx val="1"/>
          <c:order val="1"/>
          <c:tx>
            <c:strRef>
              <c:f>Sheet1!$C$1</c:f>
              <c:strCache>
                <c:ptCount val="1"/>
                <c:pt idx="0">
                  <c:v>validation accuracy</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571B"/>
              </a:solidFill>
              <a:ln w="9525" cap="flat">
                <a:solidFill>
                  <a:srgbClr val="C8571B"/>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Sheet1!$C$2:$C$21</c:f>
              <c:numCache>
                <c:formatCode>General</c:formatCode>
                <c:ptCount val="20"/>
                <c:pt idx="0">
                  <c:v>0.8622</c:v>
                </c:pt>
                <c:pt idx="1">
                  <c:v>0.857</c:v>
                </c:pt>
                <c:pt idx="2">
                  <c:v>0.8754</c:v>
                </c:pt>
                <c:pt idx="3">
                  <c:v>0.877</c:v>
                </c:pt>
                <c:pt idx="4">
                  <c:v>0.886</c:v>
                </c:pt>
                <c:pt idx="5">
                  <c:v>0.888</c:v>
                </c:pt>
                <c:pt idx="6">
                  <c:v>0.8832</c:v>
                </c:pt>
                <c:pt idx="7">
                  <c:v>0.8826</c:v>
                </c:pt>
                <c:pt idx="8">
                  <c:v>0.888</c:v>
                </c:pt>
                <c:pt idx="9">
                  <c:v>0.8872</c:v>
                </c:pt>
                <c:pt idx="10">
                  <c:v>0.8844</c:v>
                </c:pt>
                <c:pt idx="11">
                  <c:v>0.8896</c:v>
                </c:pt>
                <c:pt idx="12">
                  <c:v>0.891</c:v>
                </c:pt>
                <c:pt idx="13">
                  <c:v>0.8894</c:v>
                </c:pt>
                <c:pt idx="14">
                  <c:v>0.8918</c:v>
                </c:pt>
                <c:pt idx="15">
                  <c:v>0.8898</c:v>
                </c:pt>
                <c:pt idx="16">
                  <c:v>0.888</c:v>
                </c:pt>
                <c:pt idx="17">
                  <c:v>0.882</c:v>
                </c:pt>
                <c:pt idx="18">
                  <c:v>0.8942</c:v>
                </c:pt>
                <c:pt idx="19">
                  <c:v>0.8934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2"/>
      </c:catAx>
      <c:valAx>
        <c:axId val="2094734552"/>
        <c:scaling>
          <c:orientation val="minMax"/>
          <c:max val="1"/>
          <c:min val="0.8"/>
        </c:scaling>
        <c:delete val="0"/>
        <c:axPos val="l"/>
        <c:majorGridlines>
          <c:spPr>
            <a:ln w="9525" cap="flat">
              <a:solidFill>
                <a:srgbClr val="E3E7EC"/>
              </a:solidFill>
              <a:prstDash val="solid"/>
              <a:round/>
            </a:ln>
          </c:spPr>
        </c:majorGridlines>
        <c:numFmt formatCode="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majorUnit val="0.05"/>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Product of L equal factors (log scale)</a:t>
            </a:r>
          </a:p>
        </c:rich>
      </c:tx>
      <c:layout/>
      <c:overlay val="0"/>
    </c:title>
    <c:autoTitleDeleted val="0"/>
    <c:plotArea>
      <c:layout/>
      <c:lineChart>
        <c:varyColors val="0"/>
        <c:ser>
          <c:idx val="0"/>
          <c:order val="0"/>
          <c:tx>
            <c:strRef>
              <c:f>Sheet1!$B$1</c:f>
              <c:strCache>
                <c:ptCount val="1"/>
                <c:pt idx="0">
                  <c:v>1.5</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571B"/>
              </a:solidFill>
              <a:ln w="9525" cap="flat">
                <a:solidFill>
                  <a:srgbClr val="C8571B"/>
                </a:solidFill>
                <a:prstDash val="solid"/>
                <a:round/>
              </a:ln>
              <a:effectLst/>
            </c:spPr>
          </c:marker>
          <c:cat>
            <c:multiLvlStrRef>
              <c:f>Sheet1!$A$2:$A$32</c:f>
              <c:multiLvlStrCache>
                <c:ptCount val="3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lvl>
              </c:multiLvlStrCache>
            </c:multiLvlStrRef>
          </c:cat>
          <c:val>
            <c:numRef>
              <c:f>Sheet1!$B$2:$B$32</c:f>
              <c:numCache>
                <c:formatCode>General</c:formatCode>
                <c:ptCount val="31"/>
                <c:pt idx="0">
                  <c:v>1</c:v>
                </c:pt>
                <c:pt idx="1">
                  <c:v>1.5</c:v>
                </c:pt>
                <c:pt idx="2">
                  <c:v>2.25</c:v>
                </c:pt>
                <c:pt idx="3">
                  <c:v>3.375</c:v>
                </c:pt>
                <c:pt idx="4">
                  <c:v>5.0625</c:v>
                </c:pt>
                <c:pt idx="5">
                  <c:v>7.59375</c:v>
                </c:pt>
                <c:pt idx="6">
                  <c:v>11.390625</c:v>
                </c:pt>
                <c:pt idx="7">
                  <c:v>17.0859375</c:v>
                </c:pt>
                <c:pt idx="8">
                  <c:v>25.62890625</c:v>
                </c:pt>
                <c:pt idx="9">
                  <c:v>38.443359375</c:v>
                </c:pt>
                <c:pt idx="10">
                  <c:v>57.6650390625</c:v>
                </c:pt>
                <c:pt idx="11">
                  <c:v>86.49755859375</c:v>
                </c:pt>
                <c:pt idx="12">
                  <c:v>129.746337890625</c:v>
                </c:pt>
                <c:pt idx="13">
                  <c:v>194.6195068359375</c:v>
                </c:pt>
                <c:pt idx="14">
                  <c:v>291.92926025390625</c:v>
                </c:pt>
                <c:pt idx="15">
                  <c:v>437.8938903808594</c:v>
                </c:pt>
                <c:pt idx="16">
                  <c:v>656.8408355712891</c:v>
                </c:pt>
                <c:pt idx="17">
                  <c:v>985.2612533569336</c:v>
                </c:pt>
                <c:pt idx="18">
                  <c:v>1477.8918800354004</c:v>
                </c:pt>
                <c:pt idx="19">
                  <c:v>2216.8378200531006</c:v>
                </c:pt>
                <c:pt idx="20">
                  <c:v>3325.256730079651</c:v>
                </c:pt>
                <c:pt idx="21">
                  <c:v>4987.885095119476</c:v>
                </c:pt>
                <c:pt idx="22">
                  <c:v>7481.8276426792145</c:v>
                </c:pt>
                <c:pt idx="23">
                  <c:v>11222.741464018822</c:v>
                </c:pt>
                <c:pt idx="24">
                  <c:v>16834.112196028233</c:v>
                </c:pt>
                <c:pt idx="25">
                  <c:v>25251.16829404235</c:v>
                </c:pt>
                <c:pt idx="26">
                  <c:v>37876.75244106352</c:v>
                </c:pt>
                <c:pt idx="27">
                  <c:v>56815.128661595285</c:v>
                </c:pt>
                <c:pt idx="28">
                  <c:v>85222.69299239293</c:v>
                </c:pt>
                <c:pt idx="29">
                  <c:v>127834.03948858939</c:v>
                </c:pt>
                <c:pt idx="30">
                  <c:v>191751.0592328841</c:v>
                </c:pt>
              </c:numCache>
            </c:numRef>
          </c:val>
          <c:smooth val="0"/>
        </c:ser>
        <c:ser>
          <c:idx val="1"/>
          <c:order val="1"/>
          <c:tx>
            <c:strRef>
              <c:f>Sheet1!$C$1</c:f>
              <c:strCache>
                <c:ptCount val="1"/>
                <c:pt idx="0">
                  <c:v>1.1</c:v>
                </c:pt>
              </c:strCache>
            </c:strRef>
          </c:tx>
          <c:spPr>
            <a:solidFill>
              <a:srgbClr val="E09A6B"/>
            </a:solidFill>
            <a:ln w="31750" cap="flat">
              <a:solidFill>
                <a:srgbClr val="E09A6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09A6B"/>
              </a:solidFill>
              <a:ln w="9525" cap="flat">
                <a:solidFill>
                  <a:srgbClr val="E09A6B"/>
                </a:solidFill>
                <a:prstDash val="solid"/>
                <a:round/>
              </a:ln>
              <a:effectLst/>
            </c:spPr>
          </c:marker>
          <c:cat>
            <c:multiLvlStrRef>
              <c:f>Sheet1!$A$2:$A$32</c:f>
              <c:multiLvlStrCache>
                <c:ptCount val="3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lvl>
              </c:multiLvlStrCache>
            </c:multiLvlStrRef>
          </c:cat>
          <c:val>
            <c:numRef>
              <c:f>Sheet1!$C$2:$C$32</c:f>
              <c:numCache>
                <c:formatCode>General</c:formatCode>
                <c:ptCount val="31"/>
                <c:pt idx="0">
                  <c:v>1</c:v>
                </c:pt>
                <c:pt idx="1">
                  <c:v>1.1</c:v>
                </c:pt>
                <c:pt idx="2">
                  <c:v>1.2100000000000002</c:v>
                </c:pt>
                <c:pt idx="3">
                  <c:v>1.3310000000000004</c:v>
                </c:pt>
                <c:pt idx="4">
                  <c:v>1.4641000000000004</c:v>
                </c:pt>
                <c:pt idx="5">
                  <c:v>1.6105100000000006</c:v>
                </c:pt>
                <c:pt idx="6">
                  <c:v>1.7715610000000008</c:v>
                </c:pt>
                <c:pt idx="7">
                  <c:v>1.9487171000000012</c:v>
                </c:pt>
                <c:pt idx="8">
                  <c:v>2.1435888100000016</c:v>
                </c:pt>
                <c:pt idx="9">
                  <c:v>2.357947691000002</c:v>
                </c:pt>
                <c:pt idx="10">
                  <c:v>2.5937424601000023</c:v>
                </c:pt>
                <c:pt idx="11">
                  <c:v>2.8531167061100025</c:v>
                </c:pt>
                <c:pt idx="12">
                  <c:v>3.138428376721003</c:v>
                </c:pt>
                <c:pt idx="13">
                  <c:v>3.452271214393104</c:v>
                </c:pt>
                <c:pt idx="14">
                  <c:v>3.7974983358324144</c:v>
                </c:pt>
                <c:pt idx="15">
                  <c:v>4.177248169415656</c:v>
                </c:pt>
                <c:pt idx="16">
                  <c:v>4.594972986357222</c:v>
                </c:pt>
                <c:pt idx="17">
                  <c:v>5.054470284992945</c:v>
                </c:pt>
                <c:pt idx="18">
                  <c:v>5.55991731349224</c:v>
                </c:pt>
                <c:pt idx="19">
                  <c:v>6.115909044841464</c:v>
                </c:pt>
                <c:pt idx="20">
                  <c:v>6.727499949325611</c:v>
                </c:pt>
                <c:pt idx="21">
                  <c:v>7.400249944258173</c:v>
                </c:pt>
                <c:pt idx="22">
                  <c:v>8.14027493868399</c:v>
                </c:pt>
                <c:pt idx="23">
                  <c:v>8.95430243255239</c:v>
                </c:pt>
                <c:pt idx="24">
                  <c:v>9.84973267580763</c:v>
                </c:pt>
                <c:pt idx="25">
                  <c:v>10.834705943388395</c:v>
                </c:pt>
                <c:pt idx="26">
                  <c:v>11.918176537727234</c:v>
                </c:pt>
                <c:pt idx="27">
                  <c:v>13.10999419149996</c:v>
                </c:pt>
                <c:pt idx="28">
                  <c:v>14.420993610649957</c:v>
                </c:pt>
                <c:pt idx="29">
                  <c:v>15.863092971714952</c:v>
                </c:pt>
                <c:pt idx="30">
                  <c:v>17.44940226888645</c:v>
                </c:pt>
              </c:numCache>
            </c:numRef>
          </c:val>
          <c:smooth val="0"/>
        </c:ser>
        <c:ser>
          <c:idx val="2"/>
          <c:order val="2"/>
          <c:tx>
            <c:strRef>
              <c:f>Sheet1!$D$1</c:f>
              <c:strCache>
                <c:ptCount val="1"/>
                <c:pt idx="0">
                  <c:v>1.0</c:v>
                </c:pt>
              </c:strCache>
            </c:strRef>
          </c:tx>
          <c:spPr>
            <a:solidFill>
              <a:srgbClr val="2B3A4F"/>
            </a:solidFill>
            <a:ln w="31750" cap="flat">
              <a:solidFill>
                <a:srgbClr val="2B3A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B3A4F"/>
              </a:solidFill>
              <a:ln w="9525" cap="flat">
                <a:solidFill>
                  <a:srgbClr val="2B3A4F"/>
                </a:solidFill>
                <a:prstDash val="solid"/>
                <a:round/>
              </a:ln>
              <a:effectLst/>
            </c:spPr>
          </c:marker>
          <c:cat>
            <c:multiLvlStrRef>
              <c:f>Sheet1!$A$2:$A$32</c:f>
              <c:multiLvlStrCache>
                <c:ptCount val="3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lvl>
              </c:multiLvlStrCache>
            </c:multiLvlStrRef>
          </c:cat>
          <c:val>
            <c:numRef>
              <c:f>Sheet1!$D$2:$D$32</c:f>
              <c:numCache>
                <c:formatCode>General</c:formatCode>
                <c:ptCount val="31"/>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numCache>
            </c:numRef>
          </c:val>
          <c:smooth val="0"/>
        </c:ser>
        <c:ser>
          <c:idx val="3"/>
          <c:order val="3"/>
          <c:tx>
            <c:strRef>
              <c:f>Sheet1!$E$1</c:f>
              <c:strCache>
                <c:ptCount val="1"/>
                <c:pt idx="0">
                  <c:v>0.9</c:v>
                </c:pt>
              </c:strCache>
            </c:strRef>
          </c:tx>
          <c:spPr>
            <a:solidFill>
              <a:srgbClr val="6FB3B1"/>
            </a:solidFill>
            <a:ln w="31750" cap="flat">
              <a:solidFill>
                <a:srgbClr val="6FB3B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6FB3B1"/>
              </a:solidFill>
              <a:ln w="9525" cap="flat">
                <a:solidFill>
                  <a:srgbClr val="6FB3B1"/>
                </a:solidFill>
                <a:prstDash val="solid"/>
                <a:round/>
              </a:ln>
              <a:effectLst/>
            </c:spPr>
          </c:marker>
          <c:cat>
            <c:multiLvlStrRef>
              <c:f>Sheet1!$A$2:$A$32</c:f>
              <c:multiLvlStrCache>
                <c:ptCount val="3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lvl>
              </c:multiLvlStrCache>
            </c:multiLvlStrRef>
          </c:cat>
          <c:val>
            <c:numRef>
              <c:f>Sheet1!$E$2:$E$32</c:f>
              <c:numCache>
                <c:formatCode>General</c:formatCode>
                <c:ptCount val="31"/>
                <c:pt idx="0">
                  <c:v>1</c:v>
                </c:pt>
                <c:pt idx="1">
                  <c:v>0.9</c:v>
                </c:pt>
                <c:pt idx="2">
                  <c:v>0.81</c:v>
                </c:pt>
                <c:pt idx="3">
                  <c:v>0.7290000000000001</c:v>
                </c:pt>
                <c:pt idx="4">
                  <c:v>0.6561</c:v>
                </c:pt>
                <c:pt idx="5">
                  <c:v>0.5904900000000001</c:v>
                </c:pt>
                <c:pt idx="6">
                  <c:v>0.531441</c:v>
                </c:pt>
                <c:pt idx="7">
                  <c:v>0.4782969000000001</c:v>
                </c:pt>
                <c:pt idx="8">
                  <c:v>0.4304672100000001</c:v>
                </c:pt>
                <c:pt idx="9">
                  <c:v>0.3874204890000001</c:v>
                </c:pt>
                <c:pt idx="10">
                  <c:v>0.3486784401000001</c:v>
                </c:pt>
                <c:pt idx="11">
                  <c:v>0.31381059609000006</c:v>
                </c:pt>
                <c:pt idx="12">
                  <c:v>0.2824295364810001</c:v>
                </c:pt>
                <c:pt idx="13">
                  <c:v>0.2541865828329001</c:v>
                </c:pt>
                <c:pt idx="14">
                  <c:v>0.2287679245496101</c:v>
                </c:pt>
                <c:pt idx="15">
                  <c:v>0.20589113209464907</c:v>
                </c:pt>
                <c:pt idx="16">
                  <c:v>0.18530201888518416</c:v>
                </c:pt>
                <c:pt idx="17">
                  <c:v>0.16677181699666577</c:v>
                </c:pt>
                <c:pt idx="18">
                  <c:v>0.15009463529699918</c:v>
                </c:pt>
                <c:pt idx="19">
                  <c:v>0.13508517176729928</c:v>
                </c:pt>
                <c:pt idx="20">
                  <c:v>0.12157665459056935</c:v>
                </c:pt>
                <c:pt idx="21">
                  <c:v>0.10941898913151242</c:v>
                </c:pt>
                <c:pt idx="22">
                  <c:v>0.09847709021836118</c:v>
                </c:pt>
                <c:pt idx="23">
                  <c:v>0.08862938119652507</c:v>
                </c:pt>
                <c:pt idx="24">
                  <c:v>0.07976644307687256</c:v>
                </c:pt>
                <c:pt idx="25">
                  <c:v>0.0717897987691853</c:v>
                </c:pt>
                <c:pt idx="26">
                  <c:v>0.06461081889226677</c:v>
                </c:pt>
                <c:pt idx="27">
                  <c:v>0.058149737003040096</c:v>
                </c:pt>
                <c:pt idx="28">
                  <c:v>0.05233476330273609</c:v>
                </c:pt>
                <c:pt idx="29">
                  <c:v>0.047101286972462485</c:v>
                </c:pt>
                <c:pt idx="30">
                  <c:v>0.04239115827521624</c:v>
                </c:pt>
              </c:numCache>
            </c:numRef>
          </c:val>
          <c:smooth val="0"/>
        </c:ser>
        <c:ser>
          <c:idx val="4"/>
          <c:order val="4"/>
          <c:tx>
            <c:strRef>
              <c:f>Sheet1!$F$1</c:f>
              <c:strCache>
                <c:ptCount val="1"/>
                <c:pt idx="0">
                  <c:v>0.5</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multiLvlStrRef>
              <c:f>Sheet1!$A$2:$A$32</c:f>
              <c:multiLvlStrCache>
                <c:ptCount val="3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lvl>
              </c:multiLvlStrCache>
            </c:multiLvlStrRef>
          </c:cat>
          <c:val>
            <c:numRef>
              <c:f>Sheet1!$F$2:$F$32</c:f>
              <c:numCache>
                <c:formatCode>General</c:formatCode>
                <c:ptCount val="31"/>
                <c:pt idx="0">
                  <c:v>1</c:v>
                </c:pt>
                <c:pt idx="1">
                  <c:v>0.5</c:v>
                </c:pt>
                <c:pt idx="2">
                  <c:v>0.25</c:v>
                </c:pt>
                <c:pt idx="3">
                  <c:v>0.125</c:v>
                </c:pt>
                <c:pt idx="4">
                  <c:v>0.0625</c:v>
                </c:pt>
                <c:pt idx="5">
                  <c:v>0.03125</c:v>
                </c:pt>
                <c:pt idx="6">
                  <c:v>0.015625</c:v>
                </c:pt>
                <c:pt idx="7">
                  <c:v>0.0078125</c:v>
                </c:pt>
                <c:pt idx="8">
                  <c:v>0.00390625</c:v>
                </c:pt>
                <c:pt idx="9">
                  <c:v>0.001953125</c:v>
                </c:pt>
                <c:pt idx="10">
                  <c:v>0.0009765625</c:v>
                </c:pt>
                <c:pt idx="11">
                  <c:v>0.00048828125</c:v>
                </c:pt>
                <c:pt idx="12">
                  <c:v>0.000244140625</c:v>
                </c:pt>
                <c:pt idx="13">
                  <c:v>0.0001220703125</c:v>
                </c:pt>
                <c:pt idx="14">
                  <c:v>0.00006103515625</c:v>
                </c:pt>
                <c:pt idx="15">
                  <c:v>0.000030517578125</c:v>
                </c:pt>
                <c:pt idx="16">
                  <c:v>0.0000152587890625</c:v>
                </c:pt>
                <c:pt idx="17">
                  <c:v>0.00000762939453125</c:v>
                </c:pt>
                <c:pt idx="18">
                  <c:v>0.000003814697265625</c:v>
                </c:pt>
                <c:pt idx="19">
                  <c:v>0.0000019073486328125</c:v>
                </c:pt>
                <c:pt idx="20">
                  <c:v>9.5367431640625e-7</c:v>
                </c:pt>
                <c:pt idx="21">
                  <c:v>4.76837158203125e-7</c:v>
                </c:pt>
                <c:pt idx="22">
                  <c:v>2.384185791015625e-7</c:v>
                </c:pt>
                <c:pt idx="23">
                  <c:v>1.1920928955078125e-7</c:v>
                </c:pt>
                <c:pt idx="24">
                  <c:v>5.960464477539063e-8</c:v>
                </c:pt>
                <c:pt idx="25">
                  <c:v>2.9802322387695312e-8</c:v>
                </c:pt>
                <c:pt idx="26">
                  <c:v>1.4901161193847656e-8</c:v>
                </c:pt>
                <c:pt idx="27">
                  <c:v>7.450580596923828e-9</c:v>
                </c:pt>
                <c:pt idx="28">
                  <c:v>3.725290298461914e-9</c:v>
                </c:pt>
                <c:pt idx="29">
                  <c:v>1.862645149230957e-9</c:v>
                </c:pt>
                <c:pt idx="30">
                  <c:v>9.313225746154785e-10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layers the gradient passes through</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5"/>
      </c:catAx>
      <c:valAx>
        <c:axId val="2094734552"/>
        <c:scaling>
          <c:logBase val="10"/>
          <c:orientation val="minMax"/>
          <c:max val="1000000"/>
          <c:min val="1e-10"/>
        </c:scaling>
        <c:delete val="0"/>
        <c:axPos val="l"/>
        <c:majorGridlines>
          <c:spPr>
            <a:ln w="9525" cap="flat">
              <a:solidFill>
                <a:srgbClr val="E3E7EC"/>
              </a:solidFill>
              <a:prstDash val="solid"/>
              <a:round/>
            </a:ln>
          </c:spPr>
        </c:majorGridlines>
        <c:numFmt formatCode="0E+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Std of activations by layer (log scale)</a:t>
            </a:r>
          </a:p>
        </c:rich>
      </c:tx>
      <c:layout/>
      <c:overlay val="0"/>
    </c:title>
    <c:autoTitleDeleted val="0"/>
    <c:plotArea>
      <c:layout/>
      <c:lineChart>
        <c:varyColors val="0"/>
        <c:ser>
          <c:idx val="0"/>
          <c:order val="0"/>
          <c:tx>
            <c:strRef>
              <c:f>Sheet1!$B$1</c:f>
              <c:strCache>
                <c:ptCount val="1"/>
                <c:pt idx="0">
                  <c:v>std 1.0</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571B"/>
              </a:solidFill>
              <a:ln w="9525" cap="flat">
                <a:solidFill>
                  <a:srgbClr val="C8571B"/>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Sheet1!$B$2:$B$21</c:f>
              <c:numCache>
                <c:formatCode>General</c:formatCode>
                <c:ptCount val="20"/>
                <c:pt idx="0">
                  <c:v>9.40427286105858</c:v>
                </c:pt>
                <c:pt idx="1">
                  <c:v>102.54437299718874</c:v>
                </c:pt>
                <c:pt idx="2">
                  <c:v>1247.8594863293165</c:v>
                </c:pt>
                <c:pt idx="3">
                  <c:v>14422.290271452295</c:v>
                </c:pt>
                <c:pt idx="4">
                  <c:v>159373.59393674263</c:v>
                </c:pt>
                <c:pt idx="5">
                  <c:v>1712192.368844018</c:v>
                </c:pt>
                <c:pt idx="6">
                  <c:v>20401225.566750027</c:v>
                </c:pt>
                <c:pt idx="7">
                  <c:v>222663441.8535115</c:v>
                </c:pt>
                <c:pt idx="8">
                  <c:v>2556425050.1066766</c:v>
                </c:pt>
                <c:pt idx="9">
                  <c:v>30350157754.984734</c:v>
                </c:pt>
                <c:pt idx="10">
                  <c:v>339762504106.40845</c:v>
                </c:pt>
                <c:pt idx="11">
                  <c:v>3800348717012.4487</c:v>
                </c:pt>
                <c:pt idx="12">
                  <c:v>42672311524463.484</c:v>
                </c:pt>
                <c:pt idx="13">
                  <c:v>512077103517788.4</c:v>
                </c:pt>
                <c:pt idx="14">
                  <c:v>5878276062628286</c:v>
                </c:pt>
                <c:pt idx="15">
                  <c:v>67814373536854776</c:v>
                </c:pt>
                <c:pt idx="16">
                  <c:v>659586234103725300</c:v>
                </c:pt>
                <c:pt idx="17">
                  <c:v>7987118480755448000</c:v>
                </c:pt>
                <c:pt idx="18">
                  <c:v>94808473759728680000</c:v>
                </c:pt>
                <c:pt idx="19">
                  <c:v>1.0340502583621153e+21</c:v>
                </c:pt>
              </c:numCache>
            </c:numRef>
          </c:val>
          <c:smooth val="0"/>
        </c:ser>
        <c:ser>
          <c:idx val="1"/>
          <c:order val="1"/>
          <c:tx>
            <c:strRef>
              <c:f>Sheet1!$C$1</c:f>
              <c:strCache>
                <c:ptCount val="1"/>
                <c:pt idx="0">
                  <c:v>He</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Sheet1!$C$2:$C$21</c:f>
              <c:numCache>
                <c:formatCode>General</c:formatCode>
                <c:ptCount val="20"/>
                <c:pt idx="0">
                  <c:v>0.8312281390228922</c:v>
                </c:pt>
                <c:pt idx="1">
                  <c:v>0.8011279140405372</c:v>
                </c:pt>
                <c:pt idx="2">
                  <c:v>0.8616893601088105</c:v>
                </c:pt>
                <c:pt idx="3">
                  <c:v>0.8802667402009461</c:v>
                </c:pt>
                <c:pt idx="4">
                  <c:v>0.8597881241969452</c:v>
                </c:pt>
                <c:pt idx="5">
                  <c:v>0.8164369434566588</c:v>
                </c:pt>
                <c:pt idx="6">
                  <c:v>0.859847363398392</c:v>
                </c:pt>
                <c:pt idx="7">
                  <c:v>0.8294859597590255</c:v>
                </c:pt>
                <c:pt idx="8">
                  <c:v>0.8417598384086004</c:v>
                </c:pt>
                <c:pt idx="9">
                  <c:v>0.8833058456361979</c:v>
                </c:pt>
                <c:pt idx="10">
                  <c:v>0.8740184808505139</c:v>
                </c:pt>
                <c:pt idx="11">
                  <c:v>0.8640992557530927</c:v>
                </c:pt>
                <c:pt idx="12">
                  <c:v>0.857593273845311</c:v>
                </c:pt>
                <c:pt idx="13">
                  <c:v>0.9096316651340944</c:v>
                </c:pt>
                <c:pt idx="14">
                  <c:v>0.9229436915994036</c:v>
                </c:pt>
                <c:pt idx="15">
                  <c:v>0.9411134862643397</c:v>
                </c:pt>
                <c:pt idx="16">
                  <c:v>0.8090713843889776</c:v>
                </c:pt>
                <c:pt idx="17">
                  <c:v>0.8659651208734189</c:v>
                </c:pt>
                <c:pt idx="18">
                  <c:v>0.9085575541349412</c:v>
                </c:pt>
                <c:pt idx="19">
                  <c:v>0.8758746379495345</c:v>
                </c:pt>
              </c:numCache>
            </c:numRef>
          </c:val>
          <c:smooth val="0"/>
        </c:ser>
        <c:ser>
          <c:idx val="2"/>
          <c:order val="2"/>
          <c:tx>
            <c:strRef>
              <c:f>Sheet1!$D$1</c:f>
              <c:strCache>
                <c:ptCount val="1"/>
                <c:pt idx="0">
                  <c:v>Xavier</c:v>
                </c:pt>
              </c:strCache>
            </c:strRef>
          </c:tx>
          <c:spPr>
            <a:solidFill>
              <a:srgbClr val="4C5BD4"/>
            </a:solidFill>
            <a:ln w="31750" cap="flat">
              <a:solidFill>
                <a:srgbClr val="4C5BD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4C5BD4"/>
              </a:solidFill>
              <a:ln w="9525" cap="flat">
                <a:solidFill>
                  <a:srgbClr val="4C5BD4"/>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Sheet1!$D$2:$D$21</c:f>
              <c:numCache>
                <c:formatCode>General</c:formatCode>
                <c:ptCount val="20"/>
                <c:pt idx="0">
                  <c:v>0.5877670538161612</c:v>
                </c:pt>
                <c:pt idx="1">
                  <c:v>0.40056395702026854</c:v>
                </c:pt>
                <c:pt idx="2">
                  <c:v>0.3046531949046183</c:v>
                </c:pt>
                <c:pt idx="3">
                  <c:v>0.22006668505023644</c:v>
                </c:pt>
                <c:pt idx="4">
                  <c:v>0.1519905032508303</c:v>
                </c:pt>
                <c:pt idx="5">
                  <c:v>0.1020546179320823</c:v>
                </c:pt>
                <c:pt idx="6">
                  <c:v>0.07600048768054704</c:v>
                </c:pt>
                <c:pt idx="7">
                  <c:v>0.05184287248493906</c:v>
                </c:pt>
                <c:pt idx="8">
                  <c:v>0.03720088061682584</c:v>
                </c:pt>
                <c:pt idx="9">
                  <c:v>0.027603307676131165</c:v>
                </c:pt>
                <c:pt idx="10">
                  <c:v>0.01931326233411758</c:v>
                </c:pt>
                <c:pt idx="11">
                  <c:v>0.01350155087114206</c:v>
                </c:pt>
                <c:pt idx="12">
                  <c:v>0.009475156553687355</c:v>
                </c:pt>
                <c:pt idx="13">
                  <c:v>0.007106497383860105</c:v>
                </c:pt>
                <c:pt idx="14">
                  <c:v>0.0050985917420569</c:v>
                </c:pt>
                <c:pt idx="15">
                  <c:v>0.0036762245557200725</c:v>
                </c:pt>
                <c:pt idx="16">
                  <c:v>0.0022347650873649734</c:v>
                </c:pt>
                <c:pt idx="17">
                  <c:v>0.0016913381267058942</c:v>
                </c:pt>
                <c:pt idx="18">
                  <c:v>0.0012547797023966403</c:v>
                </c:pt>
                <c:pt idx="19">
                  <c:v>0.0008553463261225911</c:v>
                </c:pt>
              </c:numCache>
            </c:numRef>
          </c:val>
          <c:smooth val="0"/>
        </c:ser>
        <c:ser>
          <c:idx val="3"/>
          <c:order val="3"/>
          <c:tx>
            <c:strRef>
              <c:f>Sheet1!$E$1</c:f>
              <c:strCache>
                <c:ptCount val="1"/>
                <c:pt idx="0">
                  <c:v>std 0.01</c:v>
                </c:pt>
              </c:strCache>
            </c:strRef>
          </c:tx>
          <c:spPr>
            <a:solidFill>
              <a:srgbClr val="8A94A3"/>
            </a:solidFill>
            <a:ln w="31750" cap="flat">
              <a:solidFill>
                <a:srgbClr val="8A94A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A94A3"/>
              </a:solidFill>
              <a:ln w="9525" cap="flat">
                <a:solidFill>
                  <a:srgbClr val="8A94A3"/>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Sheet1!$E$2:$E$21</c:f>
              <c:numCache>
                <c:formatCode>General</c:formatCode>
                <c:ptCount val="20"/>
                <c:pt idx="0">
                  <c:v>0.09404272861058581</c:v>
                </c:pt>
                <c:pt idx="1">
                  <c:v>0.010254437299718875</c:v>
                </c:pt>
                <c:pt idx="2">
                  <c:v>0.0012478594863293167</c:v>
                </c:pt>
                <c:pt idx="3">
                  <c:v>0.00014422290271452298</c:v>
                </c:pt>
                <c:pt idx="4">
                  <c:v>0.000015937359393674265</c:v>
                </c:pt>
                <c:pt idx="5">
                  <c:v>0.0000017121923688440187</c:v>
                </c:pt>
                <c:pt idx="6">
                  <c:v>2.0401225566750028e-7</c:v>
                </c:pt>
                <c:pt idx="7">
                  <c:v>2.2266344185351157e-8</c:v>
                </c:pt>
                <c:pt idx="8">
                  <c:v>2.5564250501066766e-9</c:v>
                </c:pt>
                <c:pt idx="9">
                  <c:v>3.035015775498474e-10</c:v>
                </c:pt>
                <c:pt idx="10">
                  <c:v>3.3976250410640854e-11</c:v>
                </c:pt>
                <c:pt idx="11">
                  <c:v>3.800348717012451e-12</c:v>
                </c:pt>
                <c:pt idx="12">
                  <c:v>4.26723115244635e-13</c:v>
                </c:pt>
                <c:pt idx="13">
                  <c:v>5.1207710351778857e-14</c:v>
                </c:pt>
                <c:pt idx="14">
                  <c:v>5.8782760626282886e-15</c:v>
                </c:pt>
                <c:pt idx="15">
                  <c:v>6.781437353685481e-16</c:v>
                </c:pt>
                <c:pt idx="16">
                  <c:v>6.595862341037254e-17</c:v>
                </c:pt>
                <c:pt idx="17">
                  <c:v>7.987118480755452e-18</c:v>
                </c:pt>
                <c:pt idx="18">
                  <c:v>9.480847375972873e-19</c:v>
                </c:pt>
                <c:pt idx="19">
                  <c:v>1.0340502583621158e-19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layer</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logBase val="10"/>
          <c:orientation val="minMax"/>
          <c:max val="1e+22"/>
          <c:min val="1e-20"/>
        </c:scaling>
        <c:delete val="0"/>
        <c:axPos val="l"/>
        <c:majorGridlines>
          <c:spPr>
            <a:ln w="9525" cap="flat">
              <a:solidFill>
                <a:srgbClr val="E3E7EC"/>
              </a:solidFill>
              <a:prstDash val="solid"/>
              <a:round/>
            </a:ln>
          </c:spPr>
        </c:majorGridlines>
        <c:numFmt formatCode="0E+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Validation loss, 1,000 training images (real runs)</a:t>
            </a:r>
          </a:p>
        </c:rich>
      </c:tx>
      <c:layout/>
      <c:overlay val="0"/>
    </c:title>
    <c:autoTitleDeleted val="0"/>
    <c:plotArea>
      <c:layout/>
      <c:lineChart>
        <c:varyColors val="0"/>
        <c:ser>
          <c:idx val="0"/>
          <c:order val="0"/>
          <c:tx>
            <c:strRef>
              <c:f>Sheet1!$B$1</c:f>
              <c:strCache>
                <c:ptCount val="1"/>
                <c:pt idx="0">
                  <c:v>no regularization</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571B"/>
              </a:solidFill>
              <a:ln w="9525" cap="flat">
                <a:solidFill>
                  <a:srgbClr val="C8571B"/>
                </a:solidFill>
                <a:prstDash val="solid"/>
                <a:round/>
              </a:ln>
              <a:effectLst/>
            </c:spPr>
          </c:marker>
          <c:cat>
            <c:multiLvlStrRef>
              <c:f>Sheet1!$A$2:$A$151</c:f>
              <c:multiLvlStrCache>
                <c:ptCount val="15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lvl>
              </c:multiLvlStrCache>
            </c:multiLvlStrRef>
          </c:cat>
          <c:val>
            <c:numRef>
              <c:f>Sheet1!$B$2:$B$151</c:f>
              <c:numCache>
                <c:formatCode>General</c:formatCode>
                <c:ptCount val="150"/>
                <c:pt idx="0">
                  <c:v>0.9278270602226257</c:v>
                </c:pt>
                <c:pt idx="1">
                  <c:v>0.7279011607170105</c:v>
                </c:pt>
                <c:pt idx="2">
                  <c:v>0.6587371826171875</c:v>
                </c:pt>
                <c:pt idx="3">
                  <c:v>0.6422385573387146</c:v>
                </c:pt>
                <c:pt idx="4">
                  <c:v>0.648700475692749</c:v>
                </c:pt>
                <c:pt idx="5">
                  <c:v>0.6473913192749023</c:v>
                </c:pt>
                <c:pt idx="6">
                  <c:v>0.6781958937644958</c:v>
                </c:pt>
                <c:pt idx="7">
                  <c:v>0.6152852773666382</c:v>
                </c:pt>
                <c:pt idx="8">
                  <c:v>0.6135576367378235</c:v>
                </c:pt>
                <c:pt idx="9">
                  <c:v>0.6150900721549988</c:v>
                </c:pt>
                <c:pt idx="10">
                  <c:v>0.6683381199836731</c:v>
                </c:pt>
                <c:pt idx="11">
                  <c:v>0.6284142732620239</c:v>
                </c:pt>
                <c:pt idx="12">
                  <c:v>0.6294088959693909</c:v>
                </c:pt>
                <c:pt idx="13">
                  <c:v>0.6255825757980347</c:v>
                </c:pt>
                <c:pt idx="14">
                  <c:v>0.6201022267341614</c:v>
                </c:pt>
                <c:pt idx="15">
                  <c:v>0.6281904578208923</c:v>
                </c:pt>
                <c:pt idx="16">
                  <c:v>0.6348094940185547</c:v>
                </c:pt>
                <c:pt idx="17">
                  <c:v>0.6611412167549133</c:v>
                </c:pt>
                <c:pt idx="18">
                  <c:v>0.6678082942962646</c:v>
                </c:pt>
                <c:pt idx="19">
                  <c:v>0.6608709692955017</c:v>
                </c:pt>
                <c:pt idx="20">
                  <c:v>0.6836654543876648</c:v>
                </c:pt>
                <c:pt idx="21">
                  <c:v>0.6771009564399719</c:v>
                </c:pt>
                <c:pt idx="22">
                  <c:v>0.685481071472168</c:v>
                </c:pt>
                <c:pt idx="23">
                  <c:v>0.6986677050590515</c:v>
                </c:pt>
                <c:pt idx="24">
                  <c:v>0.7413939237594604</c:v>
                </c:pt>
                <c:pt idx="25">
                  <c:v>0.7150527238845825</c:v>
                </c:pt>
                <c:pt idx="26">
                  <c:v>0.7028921246528625</c:v>
                </c:pt>
                <c:pt idx="27">
                  <c:v>0.7173178195953369</c:v>
                </c:pt>
                <c:pt idx="28">
                  <c:v>0.7194108366966248</c:v>
                </c:pt>
                <c:pt idx="29">
                  <c:v>0.7339122295379639</c:v>
                </c:pt>
                <c:pt idx="30">
                  <c:v>0.7337723970413208</c:v>
                </c:pt>
                <c:pt idx="31">
                  <c:v>0.7494386434555054</c:v>
                </c:pt>
                <c:pt idx="32">
                  <c:v>0.7436131834983826</c:v>
                </c:pt>
                <c:pt idx="33">
                  <c:v>0.7683599591255188</c:v>
                </c:pt>
                <c:pt idx="34">
                  <c:v>0.7536815404891968</c:v>
                </c:pt>
                <c:pt idx="35">
                  <c:v>0.7670205235481262</c:v>
                </c:pt>
                <c:pt idx="36">
                  <c:v>0.7689927816390991</c:v>
                </c:pt>
                <c:pt idx="37">
                  <c:v>0.7715001702308655</c:v>
                </c:pt>
                <c:pt idx="38">
                  <c:v>0.7927150130271912</c:v>
                </c:pt>
                <c:pt idx="39">
                  <c:v>0.7872028350830078</c:v>
                </c:pt>
                <c:pt idx="40">
                  <c:v>0.7950257062911987</c:v>
                </c:pt>
                <c:pt idx="41">
                  <c:v>0.8035471439361572</c:v>
                </c:pt>
                <c:pt idx="42">
                  <c:v>0.8055464029312134</c:v>
                </c:pt>
                <c:pt idx="43">
                  <c:v>0.8184019327163696</c:v>
                </c:pt>
                <c:pt idx="44">
                  <c:v>0.8108620047569275</c:v>
                </c:pt>
                <c:pt idx="45">
                  <c:v>0.8152299523353577</c:v>
                </c:pt>
                <c:pt idx="46">
                  <c:v>0.8218305706977844</c:v>
                </c:pt>
                <c:pt idx="47">
                  <c:v>0.8301425576210022</c:v>
                </c:pt>
                <c:pt idx="48">
                  <c:v>0.8325384855270386</c:v>
                </c:pt>
                <c:pt idx="49">
                  <c:v>0.8365903496742249</c:v>
                </c:pt>
                <c:pt idx="50">
                  <c:v>0.8481284976005554</c:v>
                </c:pt>
                <c:pt idx="51">
                  <c:v>0.8502163887023926</c:v>
                </c:pt>
                <c:pt idx="52">
                  <c:v>0.8500723838806152</c:v>
                </c:pt>
                <c:pt idx="53">
                  <c:v>0.8559269309043884</c:v>
                </c:pt>
                <c:pt idx="54">
                  <c:v>0.8597683310508728</c:v>
                </c:pt>
                <c:pt idx="55">
                  <c:v>0.8648942112922668</c:v>
                </c:pt>
                <c:pt idx="56">
                  <c:v>0.8673958778381348</c:v>
                </c:pt>
                <c:pt idx="57">
                  <c:v>0.8705686330795288</c:v>
                </c:pt>
                <c:pt idx="58">
                  <c:v>0.8764688372612</c:v>
                </c:pt>
                <c:pt idx="59">
                  <c:v>0.8800053000450134</c:v>
                </c:pt>
                <c:pt idx="60">
                  <c:v>0.8821065425872803</c:v>
                </c:pt>
                <c:pt idx="61">
                  <c:v>0.8870984315872192</c:v>
                </c:pt>
                <c:pt idx="62">
                  <c:v>0.8901863098144531</c:v>
                </c:pt>
                <c:pt idx="63">
                  <c:v>0.8930152058601379</c:v>
                </c:pt>
                <c:pt idx="64">
                  <c:v>0.896981954574585</c:v>
                </c:pt>
                <c:pt idx="65">
                  <c:v>0.8991549015045166</c:v>
                </c:pt>
                <c:pt idx="66">
                  <c:v>0.9040102362632751</c:v>
                </c:pt>
                <c:pt idx="67">
                  <c:v>0.9047834277153015</c:v>
                </c:pt>
                <c:pt idx="68">
                  <c:v>0.9094571471214294</c:v>
                </c:pt>
                <c:pt idx="69">
                  <c:v>0.9121177792549133</c:v>
                </c:pt>
                <c:pt idx="70">
                  <c:v>0.9163923859596252</c:v>
                </c:pt>
                <c:pt idx="71">
                  <c:v>0.9186225533485413</c:v>
                </c:pt>
                <c:pt idx="72">
                  <c:v>0.9223909974098206</c:v>
                </c:pt>
                <c:pt idx="73">
                  <c:v>0.9245781302452087</c:v>
                </c:pt>
                <c:pt idx="74">
                  <c:v>0.9261509776115417</c:v>
                </c:pt>
                <c:pt idx="75">
                  <c:v>0.9302562475204468</c:v>
                </c:pt>
                <c:pt idx="76">
                  <c:v>0.9347604513168335</c:v>
                </c:pt>
                <c:pt idx="77">
                  <c:v>0.9349631071090698</c:v>
                </c:pt>
                <c:pt idx="78">
                  <c:v>0.939338743686676</c:v>
                </c:pt>
                <c:pt idx="79">
                  <c:v>0.9412962794303894</c:v>
                </c:pt>
                <c:pt idx="80">
                  <c:v>0.9445517659187317</c:v>
                </c:pt>
                <c:pt idx="81">
                  <c:v>0.9462689161300659</c:v>
                </c:pt>
                <c:pt idx="82">
                  <c:v>0.9504193067550659</c:v>
                </c:pt>
                <c:pt idx="83">
                  <c:v>0.9515306353569031</c:v>
                </c:pt>
                <c:pt idx="84">
                  <c:v>0.9556865096092224</c:v>
                </c:pt>
                <c:pt idx="85">
                  <c:v>0.9571796655654907</c:v>
                </c:pt>
                <c:pt idx="86">
                  <c:v>0.9596481323242188</c:v>
                </c:pt>
                <c:pt idx="87">
                  <c:v>0.964942216873169</c:v>
                </c:pt>
                <c:pt idx="88">
                  <c:v>0.9651409983634949</c:v>
                </c:pt>
                <c:pt idx="89">
                  <c:v>0.9669968485832214</c:v>
                </c:pt>
                <c:pt idx="90">
                  <c:v>0.9700552821159363</c:v>
                </c:pt>
                <c:pt idx="91">
                  <c:v>0.9737642407417297</c:v>
                </c:pt>
                <c:pt idx="92">
                  <c:v>0.9753226637840271</c:v>
                </c:pt>
                <c:pt idx="93">
                  <c:v>0.9771806597709656</c:v>
                </c:pt>
                <c:pt idx="94">
                  <c:v>0.9793534874916077</c:v>
                </c:pt>
                <c:pt idx="95">
                  <c:v>0.9821523427963257</c:v>
                </c:pt>
                <c:pt idx="96">
                  <c:v>0.9850494861602783</c:v>
                </c:pt>
                <c:pt idx="97">
                  <c:v>0.9866921901702881</c:v>
                </c:pt>
                <c:pt idx="98">
                  <c:v>0.9898761510848999</c:v>
                </c:pt>
                <c:pt idx="99">
                  <c:v>0.9902710914611816</c:v>
                </c:pt>
                <c:pt idx="100">
                  <c:v>0.99506014585495</c:v>
                </c:pt>
                <c:pt idx="101">
                  <c:v>0.9962236285209656</c:v>
                </c:pt>
                <c:pt idx="102">
                  <c:v>0.998055636882782</c:v>
                </c:pt>
                <c:pt idx="103">
                  <c:v>0.9994281530380249</c:v>
                </c:pt>
                <c:pt idx="104">
                  <c:v>1.0030322074890137</c:v>
                </c:pt>
                <c:pt idx="105">
                  <c:v>1.0070720911026</c:v>
                </c:pt>
                <c:pt idx="106">
                  <c:v>1.007651448249817</c:v>
                </c:pt>
                <c:pt idx="107">
                  <c:v>1.0082526206970215</c:v>
                </c:pt>
                <c:pt idx="108">
                  <c:v>1.0123893022537231</c:v>
                </c:pt>
                <c:pt idx="109">
                  <c:v>1.015406608581543</c:v>
                </c:pt>
                <c:pt idx="110">
                  <c:v>1.0162771940231323</c:v>
                </c:pt>
                <c:pt idx="111">
                  <c:v>1.0187616348266602</c:v>
                </c:pt>
                <c:pt idx="112">
                  <c:v>1.0205135345458984</c:v>
                </c:pt>
                <c:pt idx="113">
                  <c:v>1.023219108581543</c:v>
                </c:pt>
                <c:pt idx="114">
                  <c:v>1.0239050388336182</c:v>
                </c:pt>
                <c:pt idx="115">
                  <c:v>1.0279847383499146</c:v>
                </c:pt>
                <c:pt idx="116">
                  <c:v>1.02889084815979</c:v>
                </c:pt>
                <c:pt idx="117">
                  <c:v>1.0309056043624878</c:v>
                </c:pt>
                <c:pt idx="118">
                  <c:v>1.0333880186080933</c:v>
                </c:pt>
                <c:pt idx="119">
                  <c:v>1.0369771718978882</c:v>
                </c:pt>
                <c:pt idx="120">
                  <c:v>1.0377188920974731</c:v>
                </c:pt>
                <c:pt idx="121">
                  <c:v>1.0382007360458374</c:v>
                </c:pt>
                <c:pt idx="122">
                  <c:v>1.0417633056640625</c:v>
                </c:pt>
                <c:pt idx="123">
                  <c:v>1.0438910722732544</c:v>
                </c:pt>
                <c:pt idx="124">
                  <c:v>1.045091986656189</c:v>
                </c:pt>
                <c:pt idx="125">
                  <c:v>1.0473687648773193</c:v>
                </c:pt>
                <c:pt idx="126">
                  <c:v>1.0496909618377686</c:v>
                </c:pt>
                <c:pt idx="127">
                  <c:v>1.0504231452941895</c:v>
                </c:pt>
                <c:pt idx="128">
                  <c:v>1.054088830947876</c:v>
                </c:pt>
                <c:pt idx="129">
                  <c:v>1.0536644458770752</c:v>
                </c:pt>
                <c:pt idx="130">
                  <c:v>1.0568326711654663</c:v>
                </c:pt>
                <c:pt idx="131">
                  <c:v>1.0592561960220337</c:v>
                </c:pt>
                <c:pt idx="132">
                  <c:v>1.0604350566864014</c:v>
                </c:pt>
                <c:pt idx="133">
                  <c:v>1.0631601810455322</c:v>
                </c:pt>
                <c:pt idx="134">
                  <c:v>1.0634995698928833</c:v>
                </c:pt>
                <c:pt idx="135">
                  <c:v>1.066055417060852</c:v>
                </c:pt>
                <c:pt idx="136">
                  <c:v>1.0679099559783936</c:v>
                </c:pt>
                <c:pt idx="137">
                  <c:v>1.0697087049484253</c:v>
                </c:pt>
                <c:pt idx="138">
                  <c:v>1.0708582401275635</c:v>
                </c:pt>
                <c:pt idx="139">
                  <c:v>1.073748230934143</c:v>
                </c:pt>
                <c:pt idx="140">
                  <c:v>1.0748765468597412</c:v>
                </c:pt>
                <c:pt idx="141">
                  <c:v>1.0765430927276611</c:v>
                </c:pt>
                <c:pt idx="142">
                  <c:v>1.0785804986953735</c:v>
                </c:pt>
                <c:pt idx="143">
                  <c:v>1.0802663564682007</c:v>
                </c:pt>
                <c:pt idx="144">
                  <c:v>1.0829650163650513</c:v>
                </c:pt>
                <c:pt idx="145">
                  <c:v>1.082797646522522</c:v>
                </c:pt>
                <c:pt idx="146">
                  <c:v>1.0849664211273193</c:v>
                </c:pt>
                <c:pt idx="147">
                  <c:v>1.0872210264205933</c:v>
                </c:pt>
                <c:pt idx="148">
                  <c:v>1.0897468328475952</c:v>
                </c:pt>
                <c:pt idx="149">
                  <c:v>1.0899109840393066</c:v>
                </c:pt>
              </c:numCache>
            </c:numRef>
          </c:val>
          <c:smooth val="0"/>
        </c:ser>
        <c:ser>
          <c:idx val="1"/>
          <c:order val="1"/>
          <c:tx>
            <c:strRef>
              <c:f>Sheet1!$C$1</c:f>
              <c:strCache>
                <c:ptCount val="1"/>
                <c:pt idx="0">
                  <c:v>dropout 0.5</c:v>
                </c:pt>
              </c:strCache>
            </c:strRef>
          </c:tx>
          <c:spPr>
            <a:solidFill>
              <a:srgbClr val="E09A6B"/>
            </a:solidFill>
            <a:ln w="31750" cap="flat">
              <a:solidFill>
                <a:srgbClr val="E09A6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09A6B"/>
              </a:solidFill>
              <a:ln w="9525" cap="flat">
                <a:solidFill>
                  <a:srgbClr val="E09A6B"/>
                </a:solidFill>
                <a:prstDash val="solid"/>
                <a:round/>
              </a:ln>
              <a:effectLst/>
            </c:spPr>
          </c:marker>
          <c:cat>
            <c:multiLvlStrRef>
              <c:f>Sheet1!$A$2:$A$151</c:f>
              <c:multiLvlStrCache>
                <c:ptCount val="15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lvl>
              </c:multiLvlStrCache>
            </c:multiLvlStrRef>
          </c:cat>
          <c:val>
            <c:numRef>
              <c:f>Sheet1!$C$2:$C$151</c:f>
              <c:numCache>
                <c:formatCode>General</c:formatCode>
                <c:ptCount val="150"/>
                <c:pt idx="0">
                  <c:v>1.4514738321304321</c:v>
                </c:pt>
                <c:pt idx="1">
                  <c:v>1.2857152223587036</c:v>
                </c:pt>
                <c:pt idx="2">
                  <c:v>1.118790626525879</c:v>
                </c:pt>
                <c:pt idx="3">
                  <c:v>0.9890389442443848</c:v>
                </c:pt>
                <c:pt idx="4">
                  <c:v>0.8979441523551941</c:v>
                </c:pt>
                <c:pt idx="5">
                  <c:v>0.8172349333763123</c:v>
                </c:pt>
                <c:pt idx="6">
                  <c:v>0.7928673624992371</c:v>
                </c:pt>
                <c:pt idx="7">
                  <c:v>0.7620227336883545</c:v>
                </c:pt>
                <c:pt idx="8">
                  <c:v>0.7396718859672546</c:v>
                </c:pt>
                <c:pt idx="9">
                  <c:v>0.7366539835929871</c:v>
                </c:pt>
                <c:pt idx="10">
                  <c:v>0.7060473561286926</c:v>
                </c:pt>
                <c:pt idx="11">
                  <c:v>0.6706278920173645</c:v>
                </c:pt>
                <c:pt idx="12">
                  <c:v>0.6535131931304932</c:v>
                </c:pt>
                <c:pt idx="13">
                  <c:v>0.64415442943573</c:v>
                </c:pt>
                <c:pt idx="14">
                  <c:v>0.6493469476699829</c:v>
                </c:pt>
                <c:pt idx="15">
                  <c:v>0.6292275786399841</c:v>
                </c:pt>
                <c:pt idx="16">
                  <c:v>0.6325703859329224</c:v>
                </c:pt>
                <c:pt idx="17">
                  <c:v>0.6214430928230286</c:v>
                </c:pt>
                <c:pt idx="18">
                  <c:v>0.6139125227928162</c:v>
                </c:pt>
                <c:pt idx="19">
                  <c:v>0.5985352396965027</c:v>
                </c:pt>
                <c:pt idx="20">
                  <c:v>0.6056110858917236</c:v>
                </c:pt>
                <c:pt idx="21">
                  <c:v>0.5940744876861572</c:v>
                </c:pt>
                <c:pt idx="22">
                  <c:v>0.5915971398353577</c:v>
                </c:pt>
                <c:pt idx="23">
                  <c:v>0.5894336700439453</c:v>
                </c:pt>
                <c:pt idx="24">
                  <c:v>0.5899001359939575</c:v>
                </c:pt>
                <c:pt idx="25">
                  <c:v>0.6012652516365051</c:v>
                </c:pt>
                <c:pt idx="26">
                  <c:v>0.5957926511764526</c:v>
                </c:pt>
                <c:pt idx="27">
                  <c:v>0.5907877683639526</c:v>
                </c:pt>
                <c:pt idx="28">
                  <c:v>0.5871694087982178</c:v>
                </c:pt>
                <c:pt idx="29">
                  <c:v>0.5965296626091003</c:v>
                </c:pt>
                <c:pt idx="30">
                  <c:v>0.6023894548416138</c:v>
                </c:pt>
                <c:pt idx="31">
                  <c:v>0.6027956604957581</c:v>
                </c:pt>
                <c:pt idx="32">
                  <c:v>0.5819752216339111</c:v>
                </c:pt>
                <c:pt idx="33">
                  <c:v>0.5838575959205627</c:v>
                </c:pt>
                <c:pt idx="34">
                  <c:v>0.5890328288078308</c:v>
                </c:pt>
                <c:pt idx="35">
                  <c:v>0.5895814299583435</c:v>
                </c:pt>
                <c:pt idx="36">
                  <c:v>0.596945583820343</c:v>
                </c:pt>
                <c:pt idx="37">
                  <c:v>0.5902115106582642</c:v>
                </c:pt>
                <c:pt idx="38">
                  <c:v>0.6105127930641174</c:v>
                </c:pt>
                <c:pt idx="39">
                  <c:v>0.5929871201515198</c:v>
                </c:pt>
                <c:pt idx="40">
                  <c:v>0.5905561447143555</c:v>
                </c:pt>
                <c:pt idx="41">
                  <c:v>0.5904350876808167</c:v>
                </c:pt>
                <c:pt idx="42">
                  <c:v>0.597388744354248</c:v>
                </c:pt>
                <c:pt idx="43">
                  <c:v>0.6098317503929138</c:v>
                </c:pt>
                <c:pt idx="44">
                  <c:v>0.5938084125518799</c:v>
                </c:pt>
                <c:pt idx="45">
                  <c:v>0.5972105264663696</c:v>
                </c:pt>
                <c:pt idx="46">
                  <c:v>0.6017124652862549</c:v>
                </c:pt>
                <c:pt idx="47">
                  <c:v>0.6017354130744934</c:v>
                </c:pt>
                <c:pt idx="48">
                  <c:v>0.5957449674606323</c:v>
                </c:pt>
                <c:pt idx="49">
                  <c:v>0.6138337850570679</c:v>
                </c:pt>
                <c:pt idx="50">
                  <c:v>0.6306908130645752</c:v>
                </c:pt>
                <c:pt idx="51">
                  <c:v>0.6202599406242371</c:v>
                </c:pt>
                <c:pt idx="52">
                  <c:v>0.6185650825500488</c:v>
                </c:pt>
                <c:pt idx="53">
                  <c:v>0.6086141467094421</c:v>
                </c:pt>
                <c:pt idx="54">
                  <c:v>0.6316432356834412</c:v>
                </c:pt>
                <c:pt idx="55">
                  <c:v>0.63200443983078</c:v>
                </c:pt>
                <c:pt idx="56">
                  <c:v>0.633780300617218</c:v>
                </c:pt>
                <c:pt idx="57">
                  <c:v>0.6164389848709106</c:v>
                </c:pt>
                <c:pt idx="58">
                  <c:v>0.6510745286941528</c:v>
                </c:pt>
                <c:pt idx="59">
                  <c:v>0.6082382202148438</c:v>
                </c:pt>
                <c:pt idx="60">
                  <c:v>0.6374806761741638</c:v>
                </c:pt>
                <c:pt idx="61">
                  <c:v>0.6527646780014038</c:v>
                </c:pt>
                <c:pt idx="62">
                  <c:v>0.6281782388687134</c:v>
                </c:pt>
                <c:pt idx="63">
                  <c:v>0.6344932317733765</c:v>
                </c:pt>
                <c:pt idx="64">
                  <c:v>0.6654461622238159</c:v>
                </c:pt>
                <c:pt idx="65">
                  <c:v>0.6339889764785767</c:v>
                </c:pt>
                <c:pt idx="66">
                  <c:v>0.6506766080856323</c:v>
                </c:pt>
                <c:pt idx="67">
                  <c:v>0.6589627265930176</c:v>
                </c:pt>
                <c:pt idx="68">
                  <c:v>0.6618271470069885</c:v>
                </c:pt>
                <c:pt idx="69">
                  <c:v>0.6705243587493896</c:v>
                </c:pt>
                <c:pt idx="70">
                  <c:v>0.6623706817626953</c:v>
                </c:pt>
                <c:pt idx="71">
                  <c:v>0.6772228479385376</c:v>
                </c:pt>
                <c:pt idx="72">
                  <c:v>0.6888484358787537</c:v>
                </c:pt>
                <c:pt idx="73">
                  <c:v>0.6730904579162598</c:v>
                </c:pt>
                <c:pt idx="74">
                  <c:v>0.7024044394493103</c:v>
                </c:pt>
                <c:pt idx="75">
                  <c:v>0.7148511409759521</c:v>
                </c:pt>
                <c:pt idx="76">
                  <c:v>0.7058567404747009</c:v>
                </c:pt>
                <c:pt idx="77">
                  <c:v>0.7017102241516113</c:v>
                </c:pt>
                <c:pt idx="78">
                  <c:v>0.7077837586402893</c:v>
                </c:pt>
                <c:pt idx="79">
                  <c:v>0.6902350783348083</c:v>
                </c:pt>
                <c:pt idx="80">
                  <c:v>0.6928058862686157</c:v>
                </c:pt>
                <c:pt idx="81">
                  <c:v>0.7010421752929688</c:v>
                </c:pt>
                <c:pt idx="82">
                  <c:v>0.7527074217796326</c:v>
                </c:pt>
                <c:pt idx="83">
                  <c:v>0.7006570100784302</c:v>
                </c:pt>
                <c:pt idx="84">
                  <c:v>0.6992440223693848</c:v>
                </c:pt>
                <c:pt idx="85">
                  <c:v>0.7331192493438721</c:v>
                </c:pt>
                <c:pt idx="86">
                  <c:v>0.7522924542427063</c:v>
                </c:pt>
                <c:pt idx="87">
                  <c:v>0.7295721769332886</c:v>
                </c:pt>
                <c:pt idx="88">
                  <c:v>0.7298672795295715</c:v>
                </c:pt>
                <c:pt idx="89">
                  <c:v>0.7721901535987854</c:v>
                </c:pt>
                <c:pt idx="90">
                  <c:v>0.7306195497512817</c:v>
                </c:pt>
                <c:pt idx="91">
                  <c:v>0.7491379380226135</c:v>
                </c:pt>
                <c:pt idx="92">
                  <c:v>0.7210123538970947</c:v>
                </c:pt>
                <c:pt idx="93">
                  <c:v>0.7416210174560547</c:v>
                </c:pt>
                <c:pt idx="94">
                  <c:v>0.7417516708374023</c:v>
                </c:pt>
                <c:pt idx="95">
                  <c:v>0.7461060285568237</c:v>
                </c:pt>
                <c:pt idx="96">
                  <c:v>0.7837491631507874</c:v>
                </c:pt>
                <c:pt idx="97">
                  <c:v>0.776331901550293</c:v>
                </c:pt>
                <c:pt idx="98">
                  <c:v>0.7412341237068176</c:v>
                </c:pt>
                <c:pt idx="99">
                  <c:v>0.7964136004447937</c:v>
                </c:pt>
                <c:pt idx="100">
                  <c:v>0.7793249487876892</c:v>
                </c:pt>
                <c:pt idx="101">
                  <c:v>0.7714192271232605</c:v>
                </c:pt>
                <c:pt idx="102">
                  <c:v>0.7863542437553406</c:v>
                </c:pt>
                <c:pt idx="103">
                  <c:v>0.8425986170768738</c:v>
                </c:pt>
                <c:pt idx="104">
                  <c:v>0.8321476578712463</c:v>
                </c:pt>
                <c:pt idx="105">
                  <c:v>0.7975842952728271</c:v>
                </c:pt>
                <c:pt idx="106">
                  <c:v>0.823799192905426</c:v>
                </c:pt>
                <c:pt idx="107">
                  <c:v>0.8154453039169312</c:v>
                </c:pt>
                <c:pt idx="108">
                  <c:v>0.829311728477478</c:v>
                </c:pt>
                <c:pt idx="109">
                  <c:v>0.8136451840400696</c:v>
                </c:pt>
                <c:pt idx="110">
                  <c:v>0.7948129773139954</c:v>
                </c:pt>
                <c:pt idx="111">
                  <c:v>0.8192322254180908</c:v>
                </c:pt>
                <c:pt idx="112">
                  <c:v>0.8284841775894165</c:v>
                </c:pt>
                <c:pt idx="113">
                  <c:v>0.786939799785614</c:v>
                </c:pt>
                <c:pt idx="114">
                  <c:v>0.796579122543335</c:v>
                </c:pt>
                <c:pt idx="115">
                  <c:v>0.8255691528320312</c:v>
                </c:pt>
                <c:pt idx="116">
                  <c:v>0.845076858997345</c:v>
                </c:pt>
                <c:pt idx="117">
                  <c:v>0.9110013842582703</c:v>
                </c:pt>
                <c:pt idx="118">
                  <c:v>0.8868536949157715</c:v>
                </c:pt>
                <c:pt idx="119">
                  <c:v>0.8782833814620972</c:v>
                </c:pt>
                <c:pt idx="120">
                  <c:v>0.8698474764823914</c:v>
                </c:pt>
                <c:pt idx="121">
                  <c:v>0.8640433549880981</c:v>
                </c:pt>
                <c:pt idx="122">
                  <c:v>0.883715033531189</c:v>
                </c:pt>
                <c:pt idx="123">
                  <c:v>0.8899940252304077</c:v>
                </c:pt>
                <c:pt idx="124">
                  <c:v>0.9106314182281494</c:v>
                </c:pt>
                <c:pt idx="125">
                  <c:v>0.8829111456871033</c:v>
                </c:pt>
                <c:pt idx="126">
                  <c:v>0.866105854511261</c:v>
                </c:pt>
                <c:pt idx="127">
                  <c:v>0.9244933724403381</c:v>
                </c:pt>
                <c:pt idx="128">
                  <c:v>0.899747371673584</c:v>
                </c:pt>
                <c:pt idx="129">
                  <c:v>0.9232398271560669</c:v>
                </c:pt>
                <c:pt idx="130">
                  <c:v>0.9268327951431274</c:v>
                </c:pt>
                <c:pt idx="131">
                  <c:v>0.9285957217216492</c:v>
                </c:pt>
                <c:pt idx="132">
                  <c:v>0.9238279461860657</c:v>
                </c:pt>
                <c:pt idx="133">
                  <c:v>0.9510419964790344</c:v>
                </c:pt>
                <c:pt idx="134">
                  <c:v>0.9289838075637817</c:v>
                </c:pt>
                <c:pt idx="135">
                  <c:v>0.9183107614517212</c:v>
                </c:pt>
                <c:pt idx="136">
                  <c:v>0.9759261608123779</c:v>
                </c:pt>
                <c:pt idx="137">
                  <c:v>0.9287898540496826</c:v>
                </c:pt>
                <c:pt idx="138">
                  <c:v>0.8965587019920349</c:v>
                </c:pt>
                <c:pt idx="139">
                  <c:v>0.9116217494010925</c:v>
                </c:pt>
                <c:pt idx="140">
                  <c:v>0.9498821496963501</c:v>
                </c:pt>
                <c:pt idx="141">
                  <c:v>0.9659925699234009</c:v>
                </c:pt>
                <c:pt idx="142">
                  <c:v>0.9864488244056702</c:v>
                </c:pt>
                <c:pt idx="143">
                  <c:v>0.933707058429718</c:v>
                </c:pt>
                <c:pt idx="144">
                  <c:v>0.9377458691596985</c:v>
                </c:pt>
                <c:pt idx="145">
                  <c:v>0.9467675685882568</c:v>
                </c:pt>
                <c:pt idx="146">
                  <c:v>0.9505870938301086</c:v>
                </c:pt>
                <c:pt idx="147">
                  <c:v>0.9242490530014038</c:v>
                </c:pt>
                <c:pt idx="148">
                  <c:v>0.9075872898101807</c:v>
                </c:pt>
                <c:pt idx="149">
                  <c:v>0.9285879135131836</c:v>
                </c:pt>
              </c:numCache>
            </c:numRef>
          </c:val>
          <c:smooth val="0"/>
        </c:ser>
        <c:ser>
          <c:idx val="2"/>
          <c:order val="2"/>
          <c:tx>
            <c:strRef>
              <c:f>Sheet1!$D$1</c:f>
              <c:strCache>
                <c:ptCount val="1"/>
                <c:pt idx="0">
                  <c:v>weight decay</c:v>
                </c:pt>
              </c:strCache>
            </c:strRef>
          </c:tx>
          <c:spPr>
            <a:solidFill>
              <a:srgbClr val="4C5BD4"/>
            </a:solidFill>
            <a:ln w="31750" cap="flat">
              <a:solidFill>
                <a:srgbClr val="4C5BD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4C5BD4"/>
              </a:solidFill>
              <a:ln w="9525" cap="flat">
                <a:solidFill>
                  <a:srgbClr val="4C5BD4"/>
                </a:solidFill>
                <a:prstDash val="solid"/>
                <a:round/>
              </a:ln>
              <a:effectLst/>
            </c:spPr>
          </c:marker>
          <c:cat>
            <c:multiLvlStrRef>
              <c:f>Sheet1!$A$2:$A$151</c:f>
              <c:multiLvlStrCache>
                <c:ptCount val="15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lvl>
              </c:multiLvlStrCache>
            </c:multiLvlStrRef>
          </c:cat>
          <c:val>
            <c:numRef>
              <c:f>Sheet1!$D$2:$D$151</c:f>
              <c:numCache>
                <c:formatCode>General</c:formatCode>
                <c:ptCount val="150"/>
                <c:pt idx="0">
                  <c:v>0.9276316165924072</c:v>
                </c:pt>
                <c:pt idx="1">
                  <c:v>0.725033700466156</c:v>
                </c:pt>
                <c:pt idx="2">
                  <c:v>0.659612238407135</c:v>
                </c:pt>
                <c:pt idx="3">
                  <c:v>0.6374661326408386</c:v>
                </c:pt>
                <c:pt idx="4">
                  <c:v>0.635040283203125</c:v>
                </c:pt>
                <c:pt idx="5">
                  <c:v>0.6417458057403564</c:v>
                </c:pt>
                <c:pt idx="6">
                  <c:v>0.6538779139518738</c:v>
                </c:pt>
                <c:pt idx="7">
                  <c:v>0.6091404557228088</c:v>
                </c:pt>
                <c:pt idx="8">
                  <c:v>0.6016173362731934</c:v>
                </c:pt>
                <c:pt idx="9">
                  <c:v>0.5941072106361389</c:v>
                </c:pt>
                <c:pt idx="10">
                  <c:v>0.6306831240653992</c:v>
                </c:pt>
                <c:pt idx="11">
                  <c:v>0.5957995057106018</c:v>
                </c:pt>
                <c:pt idx="12">
                  <c:v>0.6108194589614868</c:v>
                </c:pt>
                <c:pt idx="13">
                  <c:v>0.6090916395187378</c:v>
                </c:pt>
                <c:pt idx="14">
                  <c:v>0.5934190154075623</c:v>
                </c:pt>
                <c:pt idx="15">
                  <c:v>0.5941817164421082</c:v>
                </c:pt>
                <c:pt idx="16">
                  <c:v>0.6047593951225281</c:v>
                </c:pt>
                <c:pt idx="17">
                  <c:v>0.6219232678413391</c:v>
                </c:pt>
                <c:pt idx="18">
                  <c:v>0.6241289377212524</c:v>
                </c:pt>
                <c:pt idx="19">
                  <c:v>0.613396167755127</c:v>
                </c:pt>
                <c:pt idx="20">
                  <c:v>0.6189733147621155</c:v>
                </c:pt>
                <c:pt idx="21">
                  <c:v>0.622054398059845</c:v>
                </c:pt>
                <c:pt idx="22">
                  <c:v>0.621070384979248</c:v>
                </c:pt>
                <c:pt idx="23">
                  <c:v>0.6388089060783386</c:v>
                </c:pt>
                <c:pt idx="24">
                  <c:v>0.6851019263267517</c:v>
                </c:pt>
                <c:pt idx="25">
                  <c:v>0.6625520586967468</c:v>
                </c:pt>
                <c:pt idx="26">
                  <c:v>0.6678789258003235</c:v>
                </c:pt>
                <c:pt idx="27">
                  <c:v>0.6440123915672302</c:v>
                </c:pt>
                <c:pt idx="28">
                  <c:v>0.6414028406143188</c:v>
                </c:pt>
                <c:pt idx="29">
                  <c:v>0.6510664224624634</c:v>
                </c:pt>
                <c:pt idx="30">
                  <c:v>0.6495353579521179</c:v>
                </c:pt>
                <c:pt idx="31">
                  <c:v>0.6643988490104675</c:v>
                </c:pt>
                <c:pt idx="32">
                  <c:v>0.6583728790283203</c:v>
                </c:pt>
                <c:pt idx="33">
                  <c:v>0.6693662405014038</c:v>
                </c:pt>
                <c:pt idx="34">
                  <c:v>0.6616968512535095</c:v>
                </c:pt>
                <c:pt idx="35">
                  <c:v>0.6752036809921265</c:v>
                </c:pt>
                <c:pt idx="36">
                  <c:v>0.6839441657066345</c:v>
                </c:pt>
                <c:pt idx="37">
                  <c:v>0.6762685775756836</c:v>
                </c:pt>
                <c:pt idx="38">
                  <c:v>0.6918708086013794</c:v>
                </c:pt>
                <c:pt idx="39">
                  <c:v>0.6786988973617554</c:v>
                </c:pt>
                <c:pt idx="40">
                  <c:v>0.719794511795044</c:v>
                </c:pt>
                <c:pt idx="41">
                  <c:v>0.679896891117096</c:v>
                </c:pt>
                <c:pt idx="42">
                  <c:v>0.6912580132484436</c:v>
                </c:pt>
                <c:pt idx="43">
                  <c:v>0.6948280930519104</c:v>
                </c:pt>
                <c:pt idx="44">
                  <c:v>0.6971408724784851</c:v>
                </c:pt>
                <c:pt idx="45">
                  <c:v>0.6929473876953125</c:v>
                </c:pt>
                <c:pt idx="46">
                  <c:v>0.6990048289299011</c:v>
                </c:pt>
                <c:pt idx="47">
                  <c:v>0.701134204864502</c:v>
                </c:pt>
                <c:pt idx="48">
                  <c:v>0.6975129842758179</c:v>
                </c:pt>
                <c:pt idx="49">
                  <c:v>0.7028033137321472</c:v>
                </c:pt>
                <c:pt idx="50">
                  <c:v>0.7086683511734009</c:v>
                </c:pt>
                <c:pt idx="51">
                  <c:v>0.7067070603370667</c:v>
                </c:pt>
                <c:pt idx="52">
                  <c:v>0.7121436595916748</c:v>
                </c:pt>
                <c:pt idx="53">
                  <c:v>0.7071747183799744</c:v>
                </c:pt>
                <c:pt idx="54">
                  <c:v>0.7095794677734375</c:v>
                </c:pt>
                <c:pt idx="55">
                  <c:v>0.7122114300727844</c:v>
                </c:pt>
                <c:pt idx="56">
                  <c:v>0.7117448449134827</c:v>
                </c:pt>
                <c:pt idx="57">
                  <c:v>0.7151358723640442</c:v>
                </c:pt>
                <c:pt idx="58">
                  <c:v>0.7189083099365234</c:v>
                </c:pt>
                <c:pt idx="59">
                  <c:v>0.7206078767776489</c:v>
                </c:pt>
                <c:pt idx="60">
                  <c:v>0.7209831476211548</c:v>
                </c:pt>
                <c:pt idx="61">
                  <c:v>0.7198938727378845</c:v>
                </c:pt>
                <c:pt idx="62">
                  <c:v>0.7232351899147034</c:v>
                </c:pt>
                <c:pt idx="63">
                  <c:v>0.7224148511886597</c:v>
                </c:pt>
                <c:pt idx="64">
                  <c:v>0.724357008934021</c:v>
                </c:pt>
                <c:pt idx="65">
                  <c:v>0.7261543869972229</c:v>
                </c:pt>
                <c:pt idx="66">
                  <c:v>0.7295812368392944</c:v>
                </c:pt>
                <c:pt idx="67">
                  <c:v>0.730663537979126</c:v>
                </c:pt>
                <c:pt idx="68">
                  <c:v>0.7341515421867371</c:v>
                </c:pt>
                <c:pt idx="69">
                  <c:v>0.7355996370315552</c:v>
                </c:pt>
                <c:pt idx="70">
                  <c:v>0.735945463180542</c:v>
                </c:pt>
                <c:pt idx="71">
                  <c:v>0.7373016476631165</c:v>
                </c:pt>
                <c:pt idx="72">
                  <c:v>0.7389832139015198</c:v>
                </c:pt>
                <c:pt idx="73">
                  <c:v>0.7383170127868652</c:v>
                </c:pt>
                <c:pt idx="74">
                  <c:v>0.7423888444900513</c:v>
                </c:pt>
                <c:pt idx="75">
                  <c:v>0.7425854206085205</c:v>
                </c:pt>
                <c:pt idx="76">
                  <c:v>0.7439308166503906</c:v>
                </c:pt>
                <c:pt idx="77">
                  <c:v>0.7496105432510376</c:v>
                </c:pt>
                <c:pt idx="78">
                  <c:v>0.7498247027397156</c:v>
                </c:pt>
                <c:pt idx="79">
                  <c:v>0.7461778521537781</c:v>
                </c:pt>
                <c:pt idx="80">
                  <c:v>0.7522367835044861</c:v>
                </c:pt>
                <c:pt idx="81">
                  <c:v>0.7564401626586914</c:v>
                </c:pt>
                <c:pt idx="82">
                  <c:v>0.755336344242096</c:v>
                </c:pt>
                <c:pt idx="83">
                  <c:v>0.7535396218299866</c:v>
                </c:pt>
                <c:pt idx="84">
                  <c:v>0.7668891549110413</c:v>
                </c:pt>
                <c:pt idx="85">
                  <c:v>0.7617020606994629</c:v>
                </c:pt>
                <c:pt idx="86">
                  <c:v>0.7626702785491943</c:v>
                </c:pt>
                <c:pt idx="87">
                  <c:v>0.7701681852340698</c:v>
                </c:pt>
                <c:pt idx="88">
                  <c:v>0.762229323387146</c:v>
                </c:pt>
                <c:pt idx="89">
                  <c:v>0.7727173566818237</c:v>
                </c:pt>
                <c:pt idx="90">
                  <c:v>0.7786138653755188</c:v>
                </c:pt>
                <c:pt idx="91">
                  <c:v>0.7778691649436951</c:v>
                </c:pt>
                <c:pt idx="92">
                  <c:v>0.7849739193916321</c:v>
                </c:pt>
                <c:pt idx="93">
                  <c:v>0.7800907492637634</c:v>
                </c:pt>
                <c:pt idx="94">
                  <c:v>0.7856255769729614</c:v>
                </c:pt>
                <c:pt idx="95">
                  <c:v>0.7882847189903259</c:v>
                </c:pt>
                <c:pt idx="96">
                  <c:v>0.7883784174919128</c:v>
                </c:pt>
                <c:pt idx="97">
                  <c:v>0.7914451360702515</c:v>
                </c:pt>
                <c:pt idx="98">
                  <c:v>0.7944701910018921</c:v>
                </c:pt>
                <c:pt idx="99">
                  <c:v>0.7955390810966492</c:v>
                </c:pt>
                <c:pt idx="100">
                  <c:v>0.7965280413627625</c:v>
                </c:pt>
                <c:pt idx="101">
                  <c:v>0.7958557605743408</c:v>
                </c:pt>
                <c:pt idx="102">
                  <c:v>0.800422191619873</c:v>
                </c:pt>
                <c:pt idx="103">
                  <c:v>0.8013179302215576</c:v>
                </c:pt>
                <c:pt idx="104">
                  <c:v>0.807563066482544</c:v>
                </c:pt>
                <c:pt idx="105">
                  <c:v>0.8047041296958923</c:v>
                </c:pt>
                <c:pt idx="106">
                  <c:v>0.8079719543457031</c:v>
                </c:pt>
                <c:pt idx="107">
                  <c:v>0.8086358308792114</c:v>
                </c:pt>
                <c:pt idx="108">
                  <c:v>0.8172080516815186</c:v>
                </c:pt>
                <c:pt idx="109">
                  <c:v>0.8166621327400208</c:v>
                </c:pt>
                <c:pt idx="110">
                  <c:v>0.8164126873016357</c:v>
                </c:pt>
                <c:pt idx="111">
                  <c:v>0.8118477463722229</c:v>
                </c:pt>
                <c:pt idx="112">
                  <c:v>0.8181098699569702</c:v>
                </c:pt>
                <c:pt idx="113">
                  <c:v>0.819281816482544</c:v>
                </c:pt>
                <c:pt idx="114">
                  <c:v>0.8203256130218506</c:v>
                </c:pt>
                <c:pt idx="115">
                  <c:v>0.8395463824272156</c:v>
                </c:pt>
                <c:pt idx="116">
                  <c:v>0.8240712881088257</c:v>
                </c:pt>
                <c:pt idx="117">
                  <c:v>0.8227599859237671</c:v>
                </c:pt>
                <c:pt idx="118">
                  <c:v>0.8281141519546509</c:v>
                </c:pt>
                <c:pt idx="119">
                  <c:v>0.8299466967582703</c:v>
                </c:pt>
                <c:pt idx="120">
                  <c:v>0.8311172127723694</c:v>
                </c:pt>
                <c:pt idx="121">
                  <c:v>0.8320164084434509</c:v>
                </c:pt>
                <c:pt idx="122">
                  <c:v>0.8341854214668274</c:v>
                </c:pt>
                <c:pt idx="123">
                  <c:v>0.8356367349624634</c:v>
                </c:pt>
                <c:pt idx="124">
                  <c:v>0.8447371125221252</c:v>
                </c:pt>
                <c:pt idx="125">
                  <c:v>0.8401238322257996</c:v>
                </c:pt>
                <c:pt idx="126">
                  <c:v>0.8410187363624573</c:v>
                </c:pt>
                <c:pt idx="127">
                  <c:v>0.8464100360870361</c:v>
                </c:pt>
                <c:pt idx="128">
                  <c:v>0.8468164801597595</c:v>
                </c:pt>
                <c:pt idx="129">
                  <c:v>0.8468376994132996</c:v>
                </c:pt>
                <c:pt idx="130">
                  <c:v>0.8498599529266357</c:v>
                </c:pt>
                <c:pt idx="131">
                  <c:v>0.8523029088973999</c:v>
                </c:pt>
                <c:pt idx="132">
                  <c:v>0.8508415818214417</c:v>
                </c:pt>
                <c:pt idx="133">
                  <c:v>0.8512840867042542</c:v>
                </c:pt>
                <c:pt idx="134">
                  <c:v>0.855426549911499</c:v>
                </c:pt>
                <c:pt idx="135">
                  <c:v>0.8554543256759644</c:v>
                </c:pt>
                <c:pt idx="136">
                  <c:v>0.8596572279930115</c:v>
                </c:pt>
                <c:pt idx="137">
                  <c:v>0.8609100580215454</c:v>
                </c:pt>
                <c:pt idx="138">
                  <c:v>0.8592914342880249</c:v>
                </c:pt>
                <c:pt idx="139">
                  <c:v>0.8638134002685547</c:v>
                </c:pt>
                <c:pt idx="140">
                  <c:v>0.8697025179862976</c:v>
                </c:pt>
                <c:pt idx="141">
                  <c:v>0.8666104674339294</c:v>
                </c:pt>
                <c:pt idx="142">
                  <c:v>0.8659864068031311</c:v>
                </c:pt>
                <c:pt idx="143">
                  <c:v>0.8687942624092102</c:v>
                </c:pt>
                <c:pt idx="144">
                  <c:v>0.8695271611213684</c:v>
                </c:pt>
                <c:pt idx="145">
                  <c:v>0.8743732571601868</c:v>
                </c:pt>
                <c:pt idx="146">
                  <c:v>0.8742082715034485</c:v>
                </c:pt>
                <c:pt idx="147">
                  <c:v>0.8763164281845093</c:v>
                </c:pt>
                <c:pt idx="148">
                  <c:v>0.8787122964859009</c:v>
                </c:pt>
                <c:pt idx="149">
                  <c:v>0.8835806846618652</c:v>
                </c:pt>
              </c:numCache>
            </c:numRef>
          </c:val>
          <c:smooth val="0"/>
        </c:ser>
        <c:ser>
          <c:idx val="3"/>
          <c:order val="3"/>
          <c:tx>
            <c:strRef>
              <c:f>Sheet1!$E$1</c:f>
              <c:strCache>
                <c:ptCount val="1"/>
                <c:pt idx="0">
                  <c:v>both</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multiLvlStrRef>
              <c:f>Sheet1!$A$2:$A$151</c:f>
              <c:multiLvlStrCache>
                <c:ptCount val="15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lvl>
              </c:multiLvlStrCache>
            </c:multiLvlStrRef>
          </c:cat>
          <c:val>
            <c:numRef>
              <c:f>Sheet1!$E$2:$E$151</c:f>
              <c:numCache>
                <c:formatCode>General</c:formatCode>
                <c:ptCount val="150"/>
                <c:pt idx="0">
                  <c:v>1.4550033807754517</c:v>
                </c:pt>
                <c:pt idx="1">
                  <c:v>1.2888355255126953</c:v>
                </c:pt>
                <c:pt idx="2">
                  <c:v>1.1274141073226929</c:v>
                </c:pt>
                <c:pt idx="3">
                  <c:v>0.9977841973304749</c:v>
                </c:pt>
                <c:pt idx="4">
                  <c:v>0.9016050696372986</c:v>
                </c:pt>
                <c:pt idx="5">
                  <c:v>0.832756757736206</c:v>
                </c:pt>
                <c:pt idx="6">
                  <c:v>0.789618730545044</c:v>
                </c:pt>
                <c:pt idx="7">
                  <c:v>0.7630959749221802</c:v>
                </c:pt>
                <c:pt idx="8">
                  <c:v>0.7501780390739441</c:v>
                </c:pt>
                <c:pt idx="9">
                  <c:v>0.72770094871521</c:v>
                </c:pt>
                <c:pt idx="10">
                  <c:v>0.6947773098945618</c:v>
                </c:pt>
                <c:pt idx="11">
                  <c:v>0.67641282081604</c:v>
                </c:pt>
                <c:pt idx="12">
                  <c:v>0.6577835083007812</c:v>
                </c:pt>
                <c:pt idx="13">
                  <c:v>0.6456060409545898</c:v>
                </c:pt>
                <c:pt idx="14">
                  <c:v>0.6404919624328613</c:v>
                </c:pt>
                <c:pt idx="15">
                  <c:v>0.6260840892791748</c:v>
                </c:pt>
                <c:pt idx="16">
                  <c:v>0.622015655040741</c:v>
                </c:pt>
                <c:pt idx="17">
                  <c:v>0.6264698505401611</c:v>
                </c:pt>
                <c:pt idx="18">
                  <c:v>0.611952543258667</c:v>
                </c:pt>
                <c:pt idx="19">
                  <c:v>0.5990344882011414</c:v>
                </c:pt>
                <c:pt idx="20">
                  <c:v>0.5983016490936279</c:v>
                </c:pt>
                <c:pt idx="21">
                  <c:v>0.5910691618919373</c:v>
                </c:pt>
                <c:pt idx="22">
                  <c:v>0.5941187739372253</c:v>
                </c:pt>
                <c:pt idx="23">
                  <c:v>0.5877236127853394</c:v>
                </c:pt>
                <c:pt idx="24">
                  <c:v>0.6007782220840454</c:v>
                </c:pt>
                <c:pt idx="25">
                  <c:v>0.5805984735488892</c:v>
                </c:pt>
                <c:pt idx="26">
                  <c:v>0.575005054473877</c:v>
                </c:pt>
                <c:pt idx="27">
                  <c:v>0.5755116939544678</c:v>
                </c:pt>
                <c:pt idx="28">
                  <c:v>0.5779286026954651</c:v>
                </c:pt>
                <c:pt idx="29">
                  <c:v>0.5726752877235413</c:v>
                </c:pt>
                <c:pt idx="30">
                  <c:v>0.5838403701782227</c:v>
                </c:pt>
                <c:pt idx="31">
                  <c:v>0.5711528062820435</c:v>
                </c:pt>
                <c:pt idx="32">
                  <c:v>0.5615972876548767</c:v>
                </c:pt>
                <c:pt idx="33">
                  <c:v>0.5574088096618652</c:v>
                </c:pt>
                <c:pt idx="34">
                  <c:v>0.5719018578529358</c:v>
                </c:pt>
                <c:pt idx="35">
                  <c:v>0.5683481097221375</c:v>
                </c:pt>
                <c:pt idx="36">
                  <c:v>0.5766469836235046</c:v>
                </c:pt>
                <c:pt idx="37">
                  <c:v>0.5815343856811523</c:v>
                </c:pt>
                <c:pt idx="38">
                  <c:v>0.5818168520927429</c:v>
                </c:pt>
                <c:pt idx="39">
                  <c:v>0.578569233417511</c:v>
                </c:pt>
                <c:pt idx="40">
                  <c:v>0.5747004747390747</c:v>
                </c:pt>
                <c:pt idx="41">
                  <c:v>0.576286792755127</c:v>
                </c:pt>
                <c:pt idx="42">
                  <c:v>0.567274272441864</c:v>
                </c:pt>
                <c:pt idx="43">
                  <c:v>0.5774015188217163</c:v>
                </c:pt>
                <c:pt idx="44">
                  <c:v>0.5663785338401794</c:v>
                </c:pt>
                <c:pt idx="45">
                  <c:v>0.5718709230422974</c:v>
                </c:pt>
                <c:pt idx="46">
                  <c:v>0.5813982486724854</c:v>
                </c:pt>
                <c:pt idx="47">
                  <c:v>0.585111141204834</c:v>
                </c:pt>
                <c:pt idx="48">
                  <c:v>0.5768029093742371</c:v>
                </c:pt>
                <c:pt idx="49">
                  <c:v>0.5795496106147766</c:v>
                </c:pt>
                <c:pt idx="50">
                  <c:v>0.5801723599433899</c:v>
                </c:pt>
                <c:pt idx="51">
                  <c:v>0.5758047699928284</c:v>
                </c:pt>
                <c:pt idx="52">
                  <c:v>0.5886600613594055</c:v>
                </c:pt>
                <c:pt idx="53">
                  <c:v>0.5777097940444946</c:v>
                </c:pt>
                <c:pt idx="54">
                  <c:v>0.5903202295303345</c:v>
                </c:pt>
                <c:pt idx="55">
                  <c:v>0.5900970101356506</c:v>
                </c:pt>
                <c:pt idx="56">
                  <c:v>0.5870392322540283</c:v>
                </c:pt>
                <c:pt idx="57">
                  <c:v>0.5873562693595886</c:v>
                </c:pt>
                <c:pt idx="58">
                  <c:v>0.5785843729972839</c:v>
                </c:pt>
                <c:pt idx="59">
                  <c:v>0.5838396549224854</c:v>
                </c:pt>
                <c:pt idx="60">
                  <c:v>0.6006878018379211</c:v>
                </c:pt>
                <c:pt idx="61">
                  <c:v>0.5957759618759155</c:v>
                </c:pt>
                <c:pt idx="62">
                  <c:v>0.5886936783790588</c:v>
                </c:pt>
                <c:pt idx="63">
                  <c:v>0.5874679684638977</c:v>
                </c:pt>
                <c:pt idx="64">
                  <c:v>0.6032505631446838</c:v>
                </c:pt>
                <c:pt idx="65">
                  <c:v>0.5943129062652588</c:v>
                </c:pt>
                <c:pt idx="66">
                  <c:v>0.6135042309761047</c:v>
                </c:pt>
                <c:pt idx="67">
                  <c:v>0.6130776405334473</c:v>
                </c:pt>
                <c:pt idx="68">
                  <c:v>0.6201109886169434</c:v>
                </c:pt>
                <c:pt idx="69">
                  <c:v>0.611348032951355</c:v>
                </c:pt>
                <c:pt idx="70">
                  <c:v>0.6066022515296936</c:v>
                </c:pt>
                <c:pt idx="71">
                  <c:v>0.6102252006530762</c:v>
                </c:pt>
                <c:pt idx="72">
                  <c:v>0.6162170767784119</c:v>
                </c:pt>
                <c:pt idx="73">
                  <c:v>0.6323592066764832</c:v>
                </c:pt>
                <c:pt idx="74">
                  <c:v>0.6284246444702148</c:v>
                </c:pt>
                <c:pt idx="75">
                  <c:v>0.622624397277832</c:v>
                </c:pt>
                <c:pt idx="76">
                  <c:v>0.6372376084327698</c:v>
                </c:pt>
                <c:pt idx="77">
                  <c:v>0.6065093874931335</c:v>
                </c:pt>
                <c:pt idx="78">
                  <c:v>0.6264213919639587</c:v>
                </c:pt>
                <c:pt idx="79">
                  <c:v>0.6189466714859009</c:v>
                </c:pt>
                <c:pt idx="80">
                  <c:v>0.6062715649604797</c:v>
                </c:pt>
                <c:pt idx="81">
                  <c:v>0.6163429617881775</c:v>
                </c:pt>
                <c:pt idx="82">
                  <c:v>0.6333232522010803</c:v>
                </c:pt>
                <c:pt idx="83">
                  <c:v>0.6337860822677612</c:v>
                </c:pt>
                <c:pt idx="84">
                  <c:v>0.6544796824455261</c:v>
                </c:pt>
                <c:pt idx="85">
                  <c:v>0.6632385849952698</c:v>
                </c:pt>
                <c:pt idx="86">
                  <c:v>0.6450501680374146</c:v>
                </c:pt>
                <c:pt idx="87">
                  <c:v>0.6570241451263428</c:v>
                </c:pt>
                <c:pt idx="88">
                  <c:v>0.6605652570724487</c:v>
                </c:pt>
                <c:pt idx="89">
                  <c:v>0.6971380114555359</c:v>
                </c:pt>
                <c:pt idx="90">
                  <c:v>0.6496743559837341</c:v>
                </c:pt>
                <c:pt idx="91">
                  <c:v>0.6697399616241455</c:v>
                </c:pt>
                <c:pt idx="92">
                  <c:v>0.6392769813537598</c:v>
                </c:pt>
                <c:pt idx="93">
                  <c:v>0.6633167266845703</c:v>
                </c:pt>
                <c:pt idx="94">
                  <c:v>0.6537319421768188</c:v>
                </c:pt>
                <c:pt idx="95">
                  <c:v>0.6563619375228882</c:v>
                </c:pt>
                <c:pt idx="96">
                  <c:v>0.6600579023361206</c:v>
                </c:pt>
                <c:pt idx="97">
                  <c:v>0.6519837975502014</c:v>
                </c:pt>
                <c:pt idx="98">
                  <c:v>0.6589421629905701</c:v>
                </c:pt>
                <c:pt idx="99">
                  <c:v>0.6792330741882324</c:v>
                </c:pt>
                <c:pt idx="100">
                  <c:v>0.6760498881340027</c:v>
                </c:pt>
                <c:pt idx="101">
                  <c:v>0.6776399612426758</c:v>
                </c:pt>
                <c:pt idx="102">
                  <c:v>0.6633631587028503</c:v>
                </c:pt>
                <c:pt idx="103">
                  <c:v>0.6916567087173462</c:v>
                </c:pt>
                <c:pt idx="104">
                  <c:v>0.7109947204589844</c:v>
                </c:pt>
                <c:pt idx="105">
                  <c:v>0.7015285491943359</c:v>
                </c:pt>
                <c:pt idx="106">
                  <c:v>0.6869692206382751</c:v>
                </c:pt>
                <c:pt idx="107">
                  <c:v>0.6952422261238098</c:v>
                </c:pt>
                <c:pt idx="108">
                  <c:v>0.6887159943580627</c:v>
                </c:pt>
                <c:pt idx="109">
                  <c:v>0.6937512755393982</c:v>
                </c:pt>
                <c:pt idx="110">
                  <c:v>0.6779118180274963</c:v>
                </c:pt>
                <c:pt idx="111">
                  <c:v>0.7010911107063293</c:v>
                </c:pt>
                <c:pt idx="112">
                  <c:v>0.6849704384803772</c:v>
                </c:pt>
                <c:pt idx="113">
                  <c:v>0.682350754737854</c:v>
                </c:pt>
                <c:pt idx="114">
                  <c:v>0.6937255859375</c:v>
                </c:pt>
                <c:pt idx="115">
                  <c:v>0.6927533745765686</c:v>
                </c:pt>
                <c:pt idx="116">
                  <c:v>0.7092477679252625</c:v>
                </c:pt>
                <c:pt idx="117">
                  <c:v>0.7100322246551514</c:v>
                </c:pt>
                <c:pt idx="118">
                  <c:v>0.7462835311889648</c:v>
                </c:pt>
                <c:pt idx="119">
                  <c:v>0.6869773268699646</c:v>
                </c:pt>
                <c:pt idx="120">
                  <c:v>0.6685519814491272</c:v>
                </c:pt>
                <c:pt idx="121">
                  <c:v>0.7053042054176331</c:v>
                </c:pt>
                <c:pt idx="122">
                  <c:v>0.7230585217475891</c:v>
                </c:pt>
                <c:pt idx="123">
                  <c:v>0.7453563213348389</c:v>
                </c:pt>
                <c:pt idx="124">
                  <c:v>0.7229046821594238</c:v>
                </c:pt>
                <c:pt idx="125">
                  <c:v>0.7180941700935364</c:v>
                </c:pt>
                <c:pt idx="126">
                  <c:v>0.6972865462303162</c:v>
                </c:pt>
                <c:pt idx="127">
                  <c:v>0.7190786004066467</c:v>
                </c:pt>
                <c:pt idx="128">
                  <c:v>0.7001297473907471</c:v>
                </c:pt>
                <c:pt idx="129">
                  <c:v>0.7374791502952576</c:v>
                </c:pt>
                <c:pt idx="130">
                  <c:v>0.7510002851486206</c:v>
                </c:pt>
                <c:pt idx="131">
                  <c:v>0.7331588864326477</c:v>
                </c:pt>
                <c:pt idx="132">
                  <c:v>0.7294573187828064</c:v>
                </c:pt>
                <c:pt idx="133">
                  <c:v>0.7702716588973999</c:v>
                </c:pt>
                <c:pt idx="134">
                  <c:v>0.7528396844863892</c:v>
                </c:pt>
                <c:pt idx="135">
                  <c:v>0.7248230576515198</c:v>
                </c:pt>
                <c:pt idx="136">
                  <c:v>0.7484281063079834</c:v>
                </c:pt>
                <c:pt idx="137">
                  <c:v>0.7736095786094666</c:v>
                </c:pt>
                <c:pt idx="138">
                  <c:v>0.7169532179832458</c:v>
                </c:pt>
                <c:pt idx="139">
                  <c:v>0.7276593446731567</c:v>
                </c:pt>
                <c:pt idx="140">
                  <c:v>0.7845292091369629</c:v>
                </c:pt>
                <c:pt idx="141">
                  <c:v>0.7716742157936096</c:v>
                </c:pt>
                <c:pt idx="142">
                  <c:v>0.7226309776306152</c:v>
                </c:pt>
                <c:pt idx="143">
                  <c:v>0.7227407097816467</c:v>
                </c:pt>
                <c:pt idx="144">
                  <c:v>0.7532832622528076</c:v>
                </c:pt>
                <c:pt idx="145">
                  <c:v>0.7758700251579285</c:v>
                </c:pt>
                <c:pt idx="146">
                  <c:v>0.7429088950157166</c:v>
                </c:pt>
                <c:pt idx="147">
                  <c:v>0.7296543121337891</c:v>
                </c:pt>
                <c:pt idx="148">
                  <c:v>0.742150604724884</c:v>
                </c:pt>
                <c:pt idx="149">
                  <c:v>0.7570409178733826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epoch</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25"/>
      </c:catAx>
      <c:valAx>
        <c:axId val="2094734552"/>
        <c:scaling>
          <c:orientation val="minMax"/>
          <c:max val="1.2"/>
          <c:min val="0.4"/>
        </c:scaling>
        <c:delete val="0"/>
        <c:axPos val="l"/>
        <c:majorGridlines>
          <c:spPr>
            <a:ln w="9525" cap="flat">
              <a:solidFill>
                <a:srgbClr val="E3E7EC"/>
              </a:solidFill>
              <a:prstDash val="solid"/>
              <a:round/>
            </a:ln>
          </c:spPr>
        </c:majorGridlines>
        <c:numFmt formatCode="0.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Best validation accuracy</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C8571B"/>
            </a:solidFill>
            <a:effectLst/>
          </c:spPr>
          <c:invertIfNegative val="0"/>
          <c:dLbls>
            <c:numFmt formatCode="0.0&quot;%&quot;"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dPt>
            <c:idx val="0"/>
            <c:invertIfNegative val="0"/>
            <c:bubble3D val="0"/>
            <c:spPr>
              <a:solidFill>
                <a:srgbClr val="C8571B"/>
              </a:solidFill>
              <a:effectLst/>
            </c:spPr>
          </c:dPt>
          <c:dPt>
            <c:idx val="1"/>
            <c:invertIfNegative val="0"/>
            <c:bubble3D val="0"/>
            <c:spPr>
              <a:solidFill>
                <a:srgbClr val="0F7C82"/>
              </a:solidFill>
              <a:effectLst/>
            </c:spPr>
          </c:dPt>
          <c:dPt>
            <c:idx val="2"/>
            <c:invertIfNegative val="0"/>
            <c:bubble3D val="0"/>
            <c:spPr>
              <a:solidFill>
                <a:srgbClr val="4C5BD4"/>
              </a:solidFill>
              <a:effectLst/>
            </c:spPr>
          </c:dPt>
          <c:cat>
            <c:multiLvlStrRef>
              <c:f>Sheet1!$A$2:$A$4</c:f>
              <c:multiLvlStrCache>
                <c:ptCount val="3"/>
                <c:lvl>
                  <c:pt idx="0">
                    <c:v>1k, none</c:v>
                  </c:pt>
                  <c:pt idx="1">
                    <c:v>1k, both</c:v>
                  </c:pt>
                  <c:pt idx="2">
                    <c:v>55k, none</c:v>
                  </c:pt>
                </c:lvl>
              </c:multiLvlStrCache>
            </c:multiLvlStrRef>
          </c:cat>
          <c:val>
            <c:numRef>
              <c:f>Sheet1!$B$2:$B$4</c:f>
              <c:numCache>
                <c:formatCode>General</c:formatCode>
                <c:ptCount val="3"/>
                <c:pt idx="0">
                  <c:v>80.74</c:v>
                </c:pt>
                <c:pt idx="1">
                  <c:v>81.8</c:v>
                </c:pt>
                <c:pt idx="2">
                  <c:v>89.42</c:v>
                </c:pt>
              </c:numCache>
            </c:numRef>
          </c:val>
        </c:ser>
        <c:dLbls>
          <c:numFmt formatCode="0.0&quot;%&quot;"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orientation val="minMax"/>
          <c:max val="95"/>
          <c:min val="70"/>
        </c:scaling>
        <c:delete val="1"/>
        <c:axPos val="l"/>
        <c:numFmt formatCode="General"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test error, no regularization</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8571B"/>
              </a:solidFill>
              <a:ln w="9525" cap="flat">
                <a:solidFill>
                  <a:srgbClr val="C8571B"/>
                </a:solidFill>
                <a:prstDash val="solid"/>
                <a:round/>
              </a:ln>
              <a:effectLst/>
            </c:spPr>
          </c:marker>
          <c:cat>
            <c:multiLvlStrRef>
              <c:f>Sheet1!$A$2:$A$25</c:f>
              <c:multiLvlStrCache>
                <c:ptCount val="24"/>
                <c:lvl>
                  <c:pt idx="0">
                    <c:v>6</c:v>
                  </c:pt>
                  <c:pt idx="1">
                    <c:v>7</c:v>
                  </c:pt>
                  <c:pt idx="2">
                    <c:v>10</c:v>
                  </c:pt>
                  <c:pt idx="3">
                    <c:v>12</c:v>
                  </c:pt>
                  <c:pt idx="4">
                    <c:v>16</c:v>
                  </c:pt>
                  <c:pt idx="5">
                    <c:v>21</c:v>
                  </c:pt>
                  <c:pt idx="6">
                    <c:v>27</c:v>
                  </c:pt>
                  <c:pt idx="7">
                    <c:v>36</c:v>
                  </c:pt>
                  <c:pt idx="8">
                    <c:v>46</c:v>
                  </c:pt>
                  <c:pt idx="9">
                    <c:v>60</c:v>
                  </c:pt>
                  <c:pt idx="10">
                    <c:v>78</c:v>
                  </c:pt>
                  <c:pt idx="11">
                    <c:v>101</c:v>
                  </c:pt>
                  <c:pt idx="12">
                    <c:v>132</c:v>
                  </c:pt>
                  <c:pt idx="13">
                    <c:v>171</c:v>
                  </c:pt>
                  <c:pt idx="14">
                    <c:v>223</c:v>
                  </c:pt>
                  <c:pt idx="15">
                    <c:v>290</c:v>
                  </c:pt>
                  <c:pt idx="16">
                    <c:v>376</c:v>
                  </c:pt>
                  <c:pt idx="17">
                    <c:v>489</c:v>
                  </c:pt>
                  <c:pt idx="18">
                    <c:v>636</c:v>
                  </c:pt>
                  <c:pt idx="19">
                    <c:v>827</c:v>
                  </c:pt>
                  <c:pt idx="20">
                    <c:v>1075</c:v>
                  </c:pt>
                  <c:pt idx="21">
                    <c:v>1398</c:v>
                  </c:pt>
                  <c:pt idx="22">
                    <c:v>1817</c:v>
                  </c:pt>
                  <c:pt idx="23">
                    <c:v>2362</c:v>
                  </c:pt>
                </c:lvl>
              </c:multiLvlStrCache>
            </c:multiLvlStrRef>
          </c:cat>
          <c:val>
            <c:numRef>
              <c:f>Sheet1!$B$2:$B$25</c:f>
              <c:numCache>
                <c:formatCode>General</c:formatCode>
                <c:ptCount val="24"/>
                <c:pt idx="0">
                  <c:v>0.2305800288530062</c:v>
                </c:pt>
                <c:pt idx="1">
                  <c:v>0.2065374434113063</c:v>
                </c:pt>
                <c:pt idx="2">
                  <c:v>0.17396913690041999</c:v>
                </c:pt>
                <c:pt idx="3">
                  <c:v>0.14605682418286325</c:v>
                </c:pt>
                <c:pt idx="4">
                  <c:v>0.13191634459752943</c:v>
                </c:pt>
                <c:pt idx="5">
                  <c:v>0.11321230614345079</c:v>
                </c:pt>
                <c:pt idx="6">
                  <c:v>0.12635747176652268</c:v>
                </c:pt>
                <c:pt idx="7">
                  <c:v>0.15908266938165533</c:v>
                </c:pt>
                <c:pt idx="8">
                  <c:v>0.2893966696407614</c:v>
                </c:pt>
                <c:pt idx="9">
                  <c:v>10.838154127390009</c:v>
                </c:pt>
                <c:pt idx="10">
                  <c:v>0.41038997070713423</c:v>
                </c:pt>
                <c:pt idx="11">
                  <c:v>0.2629089990384351</c:v>
                </c:pt>
                <c:pt idx="12">
                  <c:v>0.18519823874400482</c:v>
                </c:pt>
                <c:pt idx="13">
                  <c:v>0.16139547304375063</c:v>
                </c:pt>
                <c:pt idx="14">
                  <c:v>0.1503969957883769</c:v>
                </c:pt>
                <c:pt idx="15">
                  <c:v>0.143709003672564</c:v>
                </c:pt>
                <c:pt idx="16">
                  <c:v>0.139275788253624</c:v>
                </c:pt>
                <c:pt idx="17">
                  <c:v>0.14105347099107118</c:v>
                </c:pt>
                <c:pt idx="18">
                  <c:v>0.1329059662412828</c:v>
                </c:pt>
                <c:pt idx="19">
                  <c:v>0.1283933081096044</c:v>
                </c:pt>
                <c:pt idx="20">
                  <c:v>0.12971532428696453</c:v>
                </c:pt>
                <c:pt idx="21">
                  <c:v>0.12643358259175835</c:v>
                </c:pt>
                <c:pt idx="22">
                  <c:v>0.12497510741979762</c:v>
                </c:pt>
                <c:pt idx="23">
                  <c:v>0.12635398786310773</c:v>
                </c:pt>
              </c:numCache>
            </c:numRef>
          </c:val>
          <c:smooth val="0"/>
        </c:ser>
        <c:ser>
          <c:idx val="1"/>
          <c:order val="1"/>
          <c:tx>
            <c:strRef>
              <c:f>Sheet1!$C$1</c:f>
              <c:strCache>
                <c:ptCount val="1"/>
                <c:pt idx="0">
                  <c:v>test error, ridge</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F7C82"/>
              </a:solidFill>
              <a:ln w="9525" cap="flat">
                <a:solidFill>
                  <a:srgbClr val="0F7C82"/>
                </a:solidFill>
                <a:prstDash val="solid"/>
                <a:round/>
              </a:ln>
              <a:effectLst/>
            </c:spPr>
          </c:marker>
          <c:cat>
            <c:multiLvlStrRef>
              <c:f>Sheet1!$A$2:$A$25</c:f>
              <c:multiLvlStrCache>
                <c:ptCount val="24"/>
                <c:lvl>
                  <c:pt idx="0">
                    <c:v>6</c:v>
                  </c:pt>
                  <c:pt idx="1">
                    <c:v>7</c:v>
                  </c:pt>
                  <c:pt idx="2">
                    <c:v>10</c:v>
                  </c:pt>
                  <c:pt idx="3">
                    <c:v>12</c:v>
                  </c:pt>
                  <c:pt idx="4">
                    <c:v>16</c:v>
                  </c:pt>
                  <c:pt idx="5">
                    <c:v>21</c:v>
                  </c:pt>
                  <c:pt idx="6">
                    <c:v>27</c:v>
                  </c:pt>
                  <c:pt idx="7">
                    <c:v>36</c:v>
                  </c:pt>
                  <c:pt idx="8">
                    <c:v>46</c:v>
                  </c:pt>
                  <c:pt idx="9">
                    <c:v>60</c:v>
                  </c:pt>
                  <c:pt idx="10">
                    <c:v>78</c:v>
                  </c:pt>
                  <c:pt idx="11">
                    <c:v>101</c:v>
                  </c:pt>
                  <c:pt idx="12">
                    <c:v>132</c:v>
                  </c:pt>
                  <c:pt idx="13">
                    <c:v>171</c:v>
                  </c:pt>
                  <c:pt idx="14">
                    <c:v>223</c:v>
                  </c:pt>
                  <c:pt idx="15">
                    <c:v>290</c:v>
                  </c:pt>
                  <c:pt idx="16">
                    <c:v>376</c:v>
                  </c:pt>
                  <c:pt idx="17">
                    <c:v>489</c:v>
                  </c:pt>
                  <c:pt idx="18">
                    <c:v>636</c:v>
                  </c:pt>
                  <c:pt idx="19">
                    <c:v>827</c:v>
                  </c:pt>
                  <c:pt idx="20">
                    <c:v>1075</c:v>
                  </c:pt>
                  <c:pt idx="21">
                    <c:v>1398</c:v>
                  </c:pt>
                  <c:pt idx="22">
                    <c:v>1817</c:v>
                  </c:pt>
                  <c:pt idx="23">
                    <c:v>2362</c:v>
                  </c:pt>
                </c:lvl>
              </c:multiLvlStrCache>
            </c:multiLvlStrRef>
          </c:cat>
          <c:val>
            <c:numRef>
              <c:f>Sheet1!$C$2:$C$25</c:f>
              <c:numCache>
                <c:formatCode>General</c:formatCode>
                <c:ptCount val="24"/>
                <c:pt idx="0">
                  <c:v>0.22997156991224157</c:v>
                </c:pt>
                <c:pt idx="1">
                  <c:v>0.20213726699971316</c:v>
                </c:pt>
                <c:pt idx="2">
                  <c:v>0.1712263586843979</c:v>
                </c:pt>
                <c:pt idx="3">
                  <c:v>0.1406146406857241</c:v>
                </c:pt>
                <c:pt idx="4">
                  <c:v>0.11954865219473303</c:v>
                </c:pt>
                <c:pt idx="5">
                  <c:v>0.09764412048000443</c:v>
                </c:pt>
                <c:pt idx="6">
                  <c:v>0.08907793746931957</c:v>
                </c:pt>
                <c:pt idx="7">
                  <c:v>0.08851120964589285</c:v>
                </c:pt>
                <c:pt idx="8">
                  <c:v>0.08365390816784335</c:v>
                </c:pt>
                <c:pt idx="9">
                  <c:v>0.08420220971420347</c:v>
                </c:pt>
                <c:pt idx="10">
                  <c:v>0.08389753267508224</c:v>
                </c:pt>
                <c:pt idx="11">
                  <c:v>0.08426201523399462</c:v>
                </c:pt>
                <c:pt idx="12">
                  <c:v>0.08320291565972851</c:v>
                </c:pt>
                <c:pt idx="13">
                  <c:v>0.08221123527313096</c:v>
                </c:pt>
                <c:pt idx="14">
                  <c:v>0.08317502183145759</c:v>
                </c:pt>
                <c:pt idx="15">
                  <c:v>0.08232443825147372</c:v>
                </c:pt>
                <c:pt idx="16">
                  <c:v>0.08328919210115653</c:v>
                </c:pt>
                <c:pt idx="17">
                  <c:v>0.08275299456671906</c:v>
                </c:pt>
                <c:pt idx="18">
                  <c:v>0.08267732927963223</c:v>
                </c:pt>
                <c:pt idx="19">
                  <c:v>0.08341817462618359</c:v>
                </c:pt>
                <c:pt idx="20">
                  <c:v>0.0829014636386653</c:v>
                </c:pt>
                <c:pt idx="21">
                  <c:v>0.08229839473217133</c:v>
                </c:pt>
                <c:pt idx="22">
                  <c:v>0.08283833882033378</c:v>
                </c:pt>
                <c:pt idx="23">
                  <c:v>0.08251344851465245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number of features p (log spacing)</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3"/>
      </c:catAx>
      <c:valAx>
        <c:axId val="2094734552"/>
        <c:scaling>
          <c:logBase val="10"/>
          <c:orientation val="minMax"/>
          <c:max val="20"/>
          <c:min val="0.05"/>
        </c:scaling>
        <c:delete val="0"/>
        <c:axPos val="l"/>
        <c:majorGridlines>
          <c:spPr>
            <a:ln w="9525" cap="flat">
              <a:solidFill>
                <a:srgbClr val="E3E7EC"/>
              </a:solidFill>
              <a:prstDash val="solid"/>
              <a:round/>
            </a:ln>
          </c:spPr>
        </c:majorGridlines>
        <c:title>
          <c:tx>
            <c:rich>
              <a:bodyPr/>
              <a:lstStyle/>
              <a:p>
                <a:pPr>
                  <a:defRPr sz="1400" b="0" i="0" u="none" strike="noStrike">
                    <a:solidFill>
                      <a:srgbClr val="5B6675"/>
                    </a:solidFill>
                    <a:latin typeface="+mn-lt"/>
                  </a:defRPr>
                </a:pPr>
                <a:r>
                  <a:rPr sz="1400" b="0" i="0" u="none" strike="noStrike">
                    <a:solidFill>
                      <a:srgbClr val="5B6675"/>
                    </a:solidFill>
                    <a:latin typeface="+mn-lt"/>
                  </a:rPr>
                  <a:t>test MSE (log)</a:t>
                </a:r>
              </a:p>
            </c:rich>
          </c:tx>
          <c:layout/>
          <c:overlay val="0"/>
        </c:title>
        <c:numFmt formatCode="General"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Warmup + cosine (shape)</a:t>
            </a:r>
          </a:p>
        </c:rich>
      </c:tx>
      <c:layout/>
      <c:overlay val="0"/>
    </c:title>
    <c:autoTitleDeleted val="0"/>
    <c:plotArea>
      <c:layout/>
      <c:scatterChart>
        <c:scatterStyle val="lineMarker"/>
        <c:varyColors val="0"/>
        <c:ser>
          <c:idx val="0"/>
          <c:order val="0"/>
          <c:tx>
            <c:strRef>
              <c:f>Sheet1!$B$1</c:f>
              <c:strCache>
                <c:ptCount val="1"/>
                <c:pt idx="0">
                  <c:v>warmup + cosine</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Sheet1!$A$2:$A$102</c:f>
              <c:numCache>
                <c:formatCode>General</c:formatCode>
                <c:ptCount val="1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numCache>
            </c:numRef>
          </c:xVal>
          <c:yVal>
            <c:numRef>
              <c:f>Sheet1!$B$2:$B$102</c:f>
              <c:numCache>
                <c:formatCode>General</c:formatCode>
                <c:ptCount val="101"/>
                <c:pt idx="0">
                  <c:v>0</c:v>
                </c:pt>
                <c:pt idx="1">
                  <c:v>0.2</c:v>
                </c:pt>
                <c:pt idx="2">
                  <c:v>0.4</c:v>
                </c:pt>
                <c:pt idx="3">
                  <c:v>0.6</c:v>
                </c:pt>
                <c:pt idx="4">
                  <c:v>0.8</c:v>
                </c:pt>
                <c:pt idx="5">
                  <c:v>1</c:v>
                </c:pt>
                <c:pt idx="6">
                  <c:v>0.9997</c:v>
                </c:pt>
                <c:pt idx="7">
                  <c:v>0.9989</c:v>
                </c:pt>
                <c:pt idx="8">
                  <c:v>0.9975</c:v>
                </c:pt>
                <c:pt idx="9">
                  <c:v>0.9956</c:v>
                </c:pt>
                <c:pt idx="10">
                  <c:v>0.9932</c:v>
                </c:pt>
                <c:pt idx="11">
                  <c:v>0.9902</c:v>
                </c:pt>
                <c:pt idx="12">
                  <c:v>0.9867</c:v>
                </c:pt>
                <c:pt idx="13">
                  <c:v>0.9826</c:v>
                </c:pt>
                <c:pt idx="14">
                  <c:v>0.978</c:v>
                </c:pt>
                <c:pt idx="15">
                  <c:v>0.9729</c:v>
                </c:pt>
                <c:pt idx="16">
                  <c:v>0.9673</c:v>
                </c:pt>
                <c:pt idx="17">
                  <c:v>0.9611</c:v>
                </c:pt>
                <c:pt idx="18">
                  <c:v>0.9545</c:v>
                </c:pt>
                <c:pt idx="19">
                  <c:v>0.9474</c:v>
                </c:pt>
                <c:pt idx="20">
                  <c:v>0.9397</c:v>
                </c:pt>
                <c:pt idx="21">
                  <c:v>0.9316</c:v>
                </c:pt>
                <c:pt idx="22">
                  <c:v>0.923</c:v>
                </c:pt>
                <c:pt idx="23">
                  <c:v>0.914</c:v>
                </c:pt>
                <c:pt idx="24">
                  <c:v>0.9045</c:v>
                </c:pt>
                <c:pt idx="25">
                  <c:v>0.8946</c:v>
                </c:pt>
                <c:pt idx="26">
                  <c:v>0.8842</c:v>
                </c:pt>
                <c:pt idx="27">
                  <c:v>0.8734</c:v>
                </c:pt>
                <c:pt idx="28">
                  <c:v>0.8622</c:v>
                </c:pt>
                <c:pt idx="29">
                  <c:v>0.8506</c:v>
                </c:pt>
                <c:pt idx="30">
                  <c:v>0.8386</c:v>
                </c:pt>
                <c:pt idx="31">
                  <c:v>0.8263</c:v>
                </c:pt>
                <c:pt idx="32">
                  <c:v>0.8136</c:v>
                </c:pt>
                <c:pt idx="33">
                  <c:v>0.8005</c:v>
                </c:pt>
                <c:pt idx="34">
                  <c:v>0.7872</c:v>
                </c:pt>
                <c:pt idx="35">
                  <c:v>0.7735</c:v>
                </c:pt>
                <c:pt idx="36">
                  <c:v>0.7595</c:v>
                </c:pt>
                <c:pt idx="37">
                  <c:v>0.7452</c:v>
                </c:pt>
                <c:pt idx="38">
                  <c:v>0.7307</c:v>
                </c:pt>
                <c:pt idx="39">
                  <c:v>0.7159</c:v>
                </c:pt>
                <c:pt idx="40">
                  <c:v>0.7008</c:v>
                </c:pt>
                <c:pt idx="41">
                  <c:v>0.6856</c:v>
                </c:pt>
                <c:pt idx="42">
                  <c:v>0.6701</c:v>
                </c:pt>
                <c:pt idx="43">
                  <c:v>0.6545</c:v>
                </c:pt>
                <c:pt idx="44">
                  <c:v>0.6387</c:v>
                </c:pt>
                <c:pt idx="45">
                  <c:v>0.6227</c:v>
                </c:pt>
                <c:pt idx="46">
                  <c:v>0.6066</c:v>
                </c:pt>
                <c:pt idx="47">
                  <c:v>0.5904</c:v>
                </c:pt>
                <c:pt idx="48">
                  <c:v>0.5741</c:v>
                </c:pt>
                <c:pt idx="49">
                  <c:v>0.5577</c:v>
                </c:pt>
                <c:pt idx="50">
                  <c:v>0.5413</c:v>
                </c:pt>
                <c:pt idx="51">
                  <c:v>0.5248</c:v>
                </c:pt>
                <c:pt idx="52">
                  <c:v>0.5083</c:v>
                </c:pt>
                <c:pt idx="53">
                  <c:v>0.4917</c:v>
                </c:pt>
                <c:pt idx="54">
                  <c:v>0.4752</c:v>
                </c:pt>
                <c:pt idx="55">
                  <c:v>0.4587</c:v>
                </c:pt>
                <c:pt idx="56">
                  <c:v>0.4423</c:v>
                </c:pt>
                <c:pt idx="57">
                  <c:v>0.4259</c:v>
                </c:pt>
                <c:pt idx="58">
                  <c:v>0.4096</c:v>
                </c:pt>
                <c:pt idx="59">
                  <c:v>0.3934</c:v>
                </c:pt>
                <c:pt idx="60">
                  <c:v>0.3773</c:v>
                </c:pt>
                <c:pt idx="61">
                  <c:v>0.3613</c:v>
                </c:pt>
                <c:pt idx="62">
                  <c:v>0.3455</c:v>
                </c:pt>
                <c:pt idx="63">
                  <c:v>0.3299</c:v>
                </c:pt>
                <c:pt idx="64">
                  <c:v>0.3144</c:v>
                </c:pt>
                <c:pt idx="65">
                  <c:v>0.2992</c:v>
                </c:pt>
                <c:pt idx="66">
                  <c:v>0.2841</c:v>
                </c:pt>
                <c:pt idx="67">
                  <c:v>0.2693</c:v>
                </c:pt>
                <c:pt idx="68">
                  <c:v>0.2548</c:v>
                </c:pt>
                <c:pt idx="69">
                  <c:v>0.2405</c:v>
                </c:pt>
                <c:pt idx="70">
                  <c:v>0.2265</c:v>
                </c:pt>
                <c:pt idx="71">
                  <c:v>0.2128</c:v>
                </c:pt>
                <c:pt idx="72">
                  <c:v>0.1995</c:v>
                </c:pt>
                <c:pt idx="73">
                  <c:v>0.1864</c:v>
                </c:pt>
                <c:pt idx="74">
                  <c:v>0.1737</c:v>
                </c:pt>
                <c:pt idx="75">
                  <c:v>0.1614</c:v>
                </c:pt>
                <c:pt idx="76">
                  <c:v>0.1494</c:v>
                </c:pt>
                <c:pt idx="77">
                  <c:v>0.1378</c:v>
                </c:pt>
                <c:pt idx="78">
                  <c:v>0.1266</c:v>
                </c:pt>
                <c:pt idx="79">
                  <c:v>0.1158</c:v>
                </c:pt>
                <c:pt idx="80">
                  <c:v>0.1054</c:v>
                </c:pt>
                <c:pt idx="81">
                  <c:v>0.0955</c:v>
                </c:pt>
                <c:pt idx="82">
                  <c:v>0.086</c:v>
                </c:pt>
                <c:pt idx="83">
                  <c:v>0.077</c:v>
                </c:pt>
                <c:pt idx="84">
                  <c:v>0.0684</c:v>
                </c:pt>
                <c:pt idx="85">
                  <c:v>0.0603</c:v>
                </c:pt>
                <c:pt idx="86">
                  <c:v>0.0526</c:v>
                </c:pt>
                <c:pt idx="87">
                  <c:v>0.0455</c:v>
                </c:pt>
                <c:pt idx="88">
                  <c:v>0.0389</c:v>
                </c:pt>
                <c:pt idx="89">
                  <c:v>0.0327</c:v>
                </c:pt>
                <c:pt idx="90">
                  <c:v>0.0271</c:v>
                </c:pt>
                <c:pt idx="91">
                  <c:v>0.022</c:v>
                </c:pt>
                <c:pt idx="92">
                  <c:v>0.0174</c:v>
                </c:pt>
                <c:pt idx="93">
                  <c:v>0.0133</c:v>
                </c:pt>
                <c:pt idx="94">
                  <c:v>0.0098</c:v>
                </c:pt>
                <c:pt idx="95">
                  <c:v>0.0068</c:v>
                </c:pt>
                <c:pt idx="96">
                  <c:v>0.0044</c:v>
                </c:pt>
                <c:pt idx="97">
                  <c:v>0.0025</c:v>
                </c:pt>
                <c:pt idx="98">
                  <c:v>0.0011</c:v>
                </c:pt>
                <c:pt idx="99">
                  <c:v>0.0003</c:v>
                </c:pt>
                <c:pt idx="100">
                  <c:v>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00"/>
          <c:min val="0"/>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 of training</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50"/>
      </c:valAx>
      <c:valAx>
        <c:axId val="2094734552"/>
        <c:scaling>
          <c:orientation val="minMax"/>
          <c:max val="1.05"/>
          <c:min val="0"/>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0.5"/>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0:02]  One session, three parts: what a network computes, how it learns, and what makes deep networks train and generalize. Ten-minute break at 1:20.
Colour code all session: teal = forward signal and data; orange = gradients flowing backward, and warnings.
How to use this deck: about 45 teaching slides plus 7 one-minute quick checks (peer instruction) and 2 build steps. Material moved out of the lecture is in the appendix (notation, history, loss cheat-sheet, normalization variants, schedulers, gradient checking, all quick-check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[0:02 – 0:03]  Each objective is something students should be able to DO; each quick check tests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[0:03 – 0:05]  The bar is the clock. One running example ties the parts together: a 784–128–64–10 MLP on Fashion-MNIST. We build it in Part 1, train it in Part 2, and diagnose and regularize it in Part 3 — every curve shown for it is from a real run.
Quick checks (about one every 12 minutes): everyone votes A–D silently; if votes split, convince a neighbour for 60 seconds and revote (Mazur's peer instruction).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  Part 1 is about representation: what a network computes and why. Nothing is learned yet; that is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 – 0:07]  Hook. Same 300 points, two models, same gradient-descent code (figure computed for this deck). Logistic regression scores ŷ = wᵀx + b, so its boundary wᵀx + b = 0 is a straight line: 91% training accuracy, and no choice of w and b does better. A 2→32→32→1 ReLU network fits the data at 100%.
Linear models remain valuable (convex training, interpretable weights, little data needed). Today's question: how do we keep those strengths and still bend the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[0:07 – 0:10]  Ask the room to draw one line with both teal points on one side and both orange points on the other (20 s). Every attempt (dashed) catches a wrong point.
Proof: predict class 1 when w₁x₁ + w₂x₂ + b &gt; 0. Each point gives one inequality. Add the two class-1 rows and use b ≤ 0: w₁ + w₂ + b &gt; −b ≥ 0, contradicting row 4. Minsky and Papert (1969) made limitations of this kind precise for single-layer perceptrons.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 0:12]  Add one feature, the product x₁x₂. In the new 3-D space the four points ARE linearly separable (grey plane), and y = x₁ + x₂ − 2x₁x₂ exactly. The data did not change; the representation did. This is the central idea of the field.
Kernel methods (e.g. an RBF-kernel SVM) do this implicitly. The next slide asks the obvious question: who designs the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[0:12 – 0:15]  Hand-designing features breaks down at scale: you must already know the answer (which function of 224×224×3 = 150,528 pixels means "cat"?); candidate features explode (all degree-3 products of 1,000 inputs ≈ 1,000³/6 ≈ 1.7×10⁸); and features designed for one task rarely transfer.
So give the feature map its own parameters and learn them together with the linear model, by gradient descent on one loss. h is a learned representation of x; g is a nonlinear function applied elementwise.
Three consequences: features are shaped by the loss we care about; early features (edges, textures) are reusable across tasks — transfer learning; and layers compose, which is what "deep"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 0:18]  Trace it. h₁ = ReLU(x₁ + x₂) behaves like OR; h₂ = ReLU(x₁ + x₂ − 1) like AND; y = h₁ − 2h₂ = OR − 2·AND equals XOR on the four corners. Table: (0,0)→0, (0,1)→1, (1,0)→1, (1,1)→2 − 2 = 0.
The figure is the insight: the hidden layer sends (0,1) and (1,0) to the SAME hidden point (1,0) and (1,1) to (2,1). In hidden space one straight line separates the classes. The output neuron is still linear; the hidden layer changed the representation.
Gradient descent need not find this particular OR/AND decomposition — many weight settings solve XOR, e.g. ReLU(x₁ − x₂) + ReLU(x₂ − x₁) = |x₁ − x₂|.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[0:18 – 0:21]  A neuron computes a weighted sum, adds a bias, and applies a nonlinearity g. The biology analogy helps for about a minute: real neurons spike, dendrites compute nonlinearly, and brains do not run backpropagation.
Geometry: w is perpendicular to the boundary, because for two boundary points x, x′ we have wᵀ(x − x′) = 0. The bias shifts the boundary without rotating it; its distance from the origin is |b|/‖w‖. (wᵀx + b)/‖w‖ is the signed distance to the boundary, so |z| behaves like confidence. ‖w‖ also sets how SHARPLY a sigmoid neuron switches: scaling w and b by k keeps the boundary but makes the switch k times steeper — weight decay (Part 3) uses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[0:21 – 0:23]  Rosenblatt's perceptron (1958) used a hard step. Its learning rule converges on linearly separable data (Novikoff, 1962), but the step's derivative is 0 wherever it exists, so a STACK of steps gives no gradient and cannot be trained by gradient descent.
Swap the step for a sigmoid and you get logistic regression. The sigmoid is what linear log-odds imply: assume log(p/(1−p)) = z and solve for p. Its derivative σ(1 − σ) is at most 1/4, at z = 0 — remember that 1/4; it returns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[0:23 – 0:25]  Substitute each linear layer into the next: one matrix times x plus one bias. Ten linear layers equal one linear layer and still cannot do XOR. Worse, rank(W[3]W[2]W[1]) ≤ the smallest factor's rank, so a narrow middle layer can only restrict the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minutes]  Peer instruction: everyone votes A–D silently (fingers or clicker); if votes split, give 60 s to convince a neighbour, then revote.
Answer: C. Compositions of linear maps are linear, so the whole network is ŷ = W′x + b′; its boundary is a hyperplane regardless of width or depth.
Distractor B is the answer for ReLU networks (next slides) — a good misconception to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[0:27 – 0:30]  Left: the functions; right: their derivatives — what backpropagation multiplies, one factor per layer.
Sigmoid's slope never exceeds 0.25 and is below 0.007 for |z| &gt; 5. Through ten sigmoid layers the activation-derivative factors alone contribute at most 0.25¹⁰ ≈ 10⁻⁶. (The weights also enter the product and could amplify it; large weights, however, push sigmoids deeper into saturation. Part 3 treats this properly.) tanh(z) = 2σ(2z) − 1 is zero-centred with slope up to 1, but its tails still saturate.
ReLU's slope is exactly 1 whenever the unit is active, so gradients pass through undiminished; it is also cheap and sparse. Together with better initialization, GPUs and more data, it is a large part of why deep nets became trainable around 2010–2012 (Glorot et al., 2011; Krizhevsky et al., 2012). Cost: a unit whose input is negative for every example outputs 0 and receives 0 gradient forever ("dying ReLU"), typically after too large a learning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 0:32]  Leaky ReLU keeps a small negative slope (default α = 0.01; drawn at 0.1 so it is visible), standard in GAN discriminators. GELU = z·Φ(z) (Hendrycks &amp; Gimpel, 2016) is the activation of BERT, GPT-2 and Vision Transformers. SiLU/Swish = z·σ(z) is used in EfficientNet; its gated form SwiGLU (Shazeer, 2020) is in the feed-forward blocks of many large language models (e.g. PaLM, the LLaMA family). GELU and SiLU also flatten toward 0 as z → −∞: they are smooth, not saturation-free.
Classifier outputs are raw logits: BCEWithLogitsLoss and CrossEntropyLoss apply sigmoid/softmax internally and stably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[0:32 – 0:34]  A real network trained for this slide: 2 → 12 → 12 → 1 ReLU units on the two-moons data (100% training accuracy).
Each coloured patch is a region of input space where every ReLU is on or off in one fixed pattern; inside it the whole network is exactly linear. At least 183 such regions are visible in this window (counted on a grid, so tiny regions can be missed). The black decision boundary is therefore piecewise linear, yet it follows the curved moons. More units and more layers mean more pieces.
Live demo: playground.tensorflow.org — choose the XOR or spiral dataset, ReLU, and watch the boundary bend as you add hidden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[0:34 – 0:36]  A multi-layer perceptron stacks fully connected layers, each followed by a nonlinearity. Layer 0 is the input and has no parameters, so this network has L = 3 layers. Each layer computes a pre-activation z = Wa + b and an activation a = g(z). Everything else today is choosing g, measuring the error in ŷ, or differentiating that error.
Shapes: row i of W[l] holds unit i's weights, one per unit of layer l−1, so W[l] has shape (n[l], n[l−1]). When shapes confuse you, write down what one row means, then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[0:36 – 0:38]  Fashion-MNIST (Xiao, Rasul &amp; Vollgraf, 2017): 70,000 grey-scale 28×28 images of clothing in 10 classes, a drop-in replacement for MNIST that is harder to solve. We hold out 5,000 of the 60,000 training images for validation.
Read the shapes top to bottom, for a batch of 32. The batch dimension never changes: if it does, a reshape is wrong. The output is 10 raw logits per image; softmax lives inside the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[0:38 – 0:40]  Define layers in __init__ (assigned to self, so their parameters are registered) and the computation in forward. Return logits — no softmax. Call model(x), not model.forward(x): the call also runs registered hooks.
nn.Linear(in, out) stores its weight as (out, in) — the maths layout — and computes x @ W.T + b because PyTorch batches examples as rows.
Parameters: each layer has n[l]·n[l−1] weights plus n[l] biases: 100,480 + 8,256 + 650 = 109,386. Layer 1 holds 92% because the 784-pixel input is fully connected — the seed of the case for convolutional networks.
Forgetting super().__init__() is NOT a silent bug: PyTorch raises "AttributeError: cannot assign module before Module.__init__()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minutes]  Peer instruction: everyone votes A–D silently (fingers or clicker); if votes split, give 60 s to convince a neighbour, then revote.
Answer: B. PyTorch stores weights as (out_features, in_features) — one row per output unit, the maths layout — and computes x @ W.T + b.
Distractor A is the most common answer; ask a pair who chose B to explain the 'one row per unit'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[0:42 – 0:45]  Picture first: a one-hidden-layer ReLU network builds a piecewise-linear interpolation of a continuous curve, and the error shrinks as units are added (exact ReLU networks, computed for this slide).
Theorem (informal): for any continuous f on a compact set K and any ε &gt; 0, some network with ONE hidden layer, finitely many units and a non-polynomial activation is within ε of f everywhere on K (Cybenko 1989 for sigmoids; Hornik 1991; Leshno et al. 1993). A related depth result: ReLU networks of width n + 4 and unbounded depth can approximate any Lebesgue-integrable function in the L¹ sense (Lu et al., 2017).
What it settles is one question only: expressive power is not the bottleneck. When a model performs badly, look at optimization, regularization, data or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Part 1 built the forward pass. Now the network learns: choose a loss, compute gradients with backpropagation, step downhill, and read the curves of our running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 0:48]  A loss turns "prediction and target disagree" into one number. For most tasks it follows from a probabilistic assumption about the targets.
Regression: y = f(x) + Gaussian noise. The log-likelihood is a constant minus Σ(y − f(x))²/2σ², so maximizing likelihood = minimizing squared error. That also tells you when MSE is wrong: heavy-tailed noise → Huber loss; counts → Poisson loss.
Binary: a Bernoulli label with probability ŷ = σ(z); the NLL is binary cross-entropy. Multi-class: a categorical label via softmax; the NLL is cross-entropy, −log of the probability of the true class c.
The classification losses take raw logits and apply sigmoid/softmax internally. We average over the batch, J = (1/m)Σ L, so the gradient scale does not depend on batch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[0:48 – 0:50]  Softmax exponentiates and normalizes K logits: outputs are positive and sum to 1; every output depends on every logit; and softmax(z + c) = softmax(z) (shift invariance), which makes the stable implementation possible.
Cross-entropy with a one-hot target is −log of the true-class probability: 0.9 → 0.105, 0.5 → 0.693, 0.01 → 4.61.
Sanity check: if a fresh model's logits are near zero, every class gets ≈ 1/K and the first loss is ≈ ln K (2.30 for 10 classes). Standard initializations give logits of order 1, so the first loss is typically somewhat above ln K: our running example started at 2.78. A first loss of 10 or 15 means the logits are huge: check input standardization, initialization and labels. (Karpathy's recipe suggests initializing the last layer so the first loss is ≈ ln 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 0:52]  With MSE on a sigmoid output, ∂L/∂z carries a factor σ′(z) (orange). If the truth is 1 and the model confidently predicts 0.0001, the error is large but σ′ ≈ 0.0001, so learning stalls exactly when the model is most wrong (left of the chart). With cross-entropy the σ′ cancels against the derivative of the log, leaving σ(z) − y: full strength when needed. The same cancellation for softmax + cross-entropy gives ŷ − y.
Two further reasons: class labels are not "real values plus Gaussian noise" (wrong likelihood), and for a single neuron MSE∘sigmoid is non-convex in w while cross-entropy∘sigmoid is convex.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minutes]  Peer instruction: everyone votes A–D silently (fingers or clicker); if votes split, give 60 s to convince a neighbour, then revote.
Answer: B. CrossEntropyLoss already applies log-softmax. Feeding it probabilities bounds the loss between ln(K−1+e) − 1 ≈ 1.46 and ≈ 2.46 for K = 10, so it can never approach 0. Our real run plateaued at 1.56.
Ask for the vote BEFORE showing the next slide: it reveals the answer with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[0:54 – 0:57]  Reveal for the quick check. Real runs of our running example: identical model, data and optimizer; the only difference is a softmax at the end of the model. The bug raises no error; the loss simply cannot go below ln(K − 1 + e) − 1 ≈ 1.46 because CrossEntropyLoss applies log-softmax to inputs that are already in (0, 1). Final training loss 1.56 vs 0.14; validation accuracy 88.1% vs 89.3% — close enough that nobody notices, and the probabilities it outputs are badly miscalibrated.
Why fused losses: in float32, e^1000 overflows to inf. CrossEntropyLoss subtracts the maximum logit first (valid by shift invariance), so every exponent is ≤ 0 and one term equals exactly 1. Targets: int64 class indices of shape (m,), or float class probabilities of shape (m, K) (supported since PyTorch 1.10). Full target-format table: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[0:57 – 0:59]  Finite differences — nudge one parameter, rerun the forward pass — are a useful check but hopeless for training: 10⁸ parameters need 10⁸ forward passes per step, over a day per step at 1 ms each.
Backpropagation gets ALL gradients in one backward pass costing roughly 2× a forward pass; a training step costs ≈ 3× an inference step. It is the multivariable chain rule applied to the computation graph, organized so shared products are computed once: moving backward from the loss, each new gradient reuses the product already accumulated to its right (reverse-mode automatic differentiation). Backpropagation COMPUTES gradients; an optimizer such as SGD or Adam USES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[0:59 – 1:00]  Build 1 of 3 — forward. One input, one sigmoid hidden unit, one sigmoid output, squared error. Setup: w₁ = 0.5, b₁ = 0.1, w₂ = 0.8, b₂ = −0.3, x = 2, y = 1. Students compute each value before you reveal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 1:02]  Build 2 of 3 — backward, one local derivative at a time. ∂L/∂a₂ = a₂ − y; multiply by σ′(z₂) = a₂(1 − a₂) to get δ₂; send it back through w₂; multiply by σ′(z₁) to get δ₁.
δ shrank by a factor of 6.7 in ONE sigmoid layer (factor w₂·σ′(z₁) = 0.8 × 0.187): vanishing gradients in miniature.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 – 1:03]  Build 3 of 3 — parameter gradients. Pattern: weight gradient = error at the weight's output × activation at its input; bias gradient = the error itself. All values were checked numerically, and the PyTorch slide reproduces −0.0312 and −0.0780 with autograd.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 – 1:06]  The general case for a fully connected network. Define the error signal δ[l] = ∂L/∂z[l] on the PRE-activation; then the parameter gradients take one line each.
BP1: for an elementwise output activation g, each output unit's error is its loss gradient times its own slope. Softmax is NOT elementwise, so BP1 in this form does not apply to it; for softmax + cross-entropy one derives directly ∂L/∂z[L] = ŷ − y (shown on the slide as a separate line).
BP2: z[l] affects the loss through every unit of layer l+1, so the chain rule sums over them — a product with the TRANSPOSE of the next layer's weights (forward maps n[l] → n[l+1]; backward must map n[l+1] → n[l]) — gated elementwise by g′. A saturated unit blocks its error.
BP3, BP4: ∂z/∂b = 1 gives the bias gradient; the weight gradient is the outer product of the error and the input activation — exactly the pattern from the worked example. For a batch with examples as rows, dW = Δᵀ A sums the outer products over the batch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[1:06 – 1:08]  The worked example in PyTorch. requires_grad=True records operations in a graph during the forward pass; L.backward() runs reverse-mode differentiation and fills .grad for every leaf tensor. The printed values match the hand calculation.
Consequences: (1) .grad ACCUMULATES across backward calls — deliberately, so gradients from several small batches can be summed — hence optimizer.zero_grad() every step. (2) BP4 needs forward activations, so they are stored until backward: memory grows with batch size; an out-of-memory error in backward() is fixed first by a smaller batch. (3) Evaluate under torch.no_grad() or torch.inference_mode(): no graph, no stored activations. (4) Gradient checkpointing (Chen et al., 2016) recomputes activations instead of storing them, costing roughly one extra forward pass. Implementing a gradient by hand? Verify it with centred differences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minutes]  Peer instruction: everyone votes A–D silently (fingers or clicker); if votes split, give 60 s to convince a neighbour, then revote.
Answer: B. Layer 1's error arrives only through w₂: ∂L/∂a₁ = δ₂·w₂ = 0, so δ₁ = 0 and ∂L/∂w₁ = δ₁·x = 0. Vanishing gradients and dead units block learning by the same mechanism.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[1:09 – 1:11]  Why the negative gradient? A first-order Taylor expansion says the change in loss is ∇Jᵀ Δθ, most negative for a step opposite the gradient — valid only for SMALL steps.
The panels are real runs on J = ½(θ₁² + 10θ₂²): curvatures 1 and 10. On J = ½λθ² the update θ ← (1 − ηλ)θ converges only if η &lt; 2/λ. In a network λ is the largest Hessian eigenvalue, so the SHARPEST direction caps η for every direction: here 2/10 = 0.2, and η = 0.21 diverges. That mismatch is ill-conditioning, attacked by momentum and Adam in Part 3.
Learning-rate symptoms: nan within a few steps → far too large; oscillating or plateauing high → too large; steady fall then flattening → good; glacial → too small. Starting points: AdamW 3×10⁻⁴; SGD + momentum 0.9 at 0.1 for CNNs with BatchNorm at batch 256. Tune with a learning-rate range test (Smith, 2017).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 – 1:13]  Three splits: train (fit), validation (choose hyperparameters and the checkpoint), test (touch once, at the end). Standardize inputs with statistics computed on the TRAINING split only — using validation or test statistics leaks information.
Mini-batches of 32–512 examples are what everyone uses (torch.optim.SGD is mini-batch SGD). Gradient noise falls only as 1/√m: 100× the batch buys 10× less noise. Epoch = one pass over the training data; iteration = one update: 55,000 images with batch 128 → 430 iterations per epoch. Shuffle the training set every epoch (shuffle=True); evaluation loaders need no shuffling.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 – 1:14]  Every PyTorch training loop: clear old gradients, forward, loss, backward, update. Around it: model.train() before training (dropout on, BatchNorm uses batch statistics); model.eval() and torch.no_grad() for validation. Commit it to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 – 1:15]  (If short of time, assign as reading.) Each of these runs, prints a loss, and quietly gives the wrong answer. Students should check this list before asking "why doesn't my model 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 1:18]  Real run: our 784–128–64–10 MLP, Adam (η = 10⁻³), batch 128, He initialization, standardized inputs, 55,000 training images. Training loss keeps falling (0.14); validation loss bottoms out at epoch 5 (0.33) and then RISES to 0.37, while validation accuracy stays flat at about 89.3%.
Lesson 1: the model is starting to overfit — it becomes over-confident on validation examples it gets wrong, which raises the loss even though accuracy barely moves. Lesson 2: keep the checkpoint with the best validation loss (early stopping), not the last one. Lesson 3: always plot both curves. Part 3 diagnoses and treats this.
Why depth matters at all, and the theory of depth separations, is in the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 1:30]  Break. The teaser is the degradation problem that motivated residual networks (He et al., 2016). It is NOT overfitting: training loss is worse too. Part 3 answers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Answer to the break question: not overfitting — training loss is worse too. Deep plain networks are hard to OPTIMIZE. Part 3 is the toolbox that made depth work, and it ends by diagnosing our running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 1:33]  Unroll BP2 to layer 1: the gradient is a product of L − 1 factors, each a weight matrix gated by activation slopes (the product is ordered: l = 2 on the left). Products of many numbers shrink geometrically if the typical factor is below 1, blow up if above, and stay usable only near 1: 0.9³⁰ ≈ 0.04, 0.5³⁰ ≈ 10⁻⁹, 1.5³⁰ ≈ 2×10⁵.
Vanishing gradients are insidious: late layers still learn, the loss falls and plateaus too high, no error appears. Exploding gradients show up as nan within a few steps, classically in RNNs. The break question: He et al. (2016) found that deeper PLAIN networks reach higher TRAINING error than shallower ones — the degradation problem — an optimization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 – 1:37]  What initial weight scale keeps activation variance constant with depth? One unit, zero bias, weights and inputs independent, zero-mean, i.i.d.: Var(z) = n_in·Var(w)·Var(x). Keeping Var(z) = Var(x) needs Var(w) = 1/n_in (LeCun).
Xavier/Glorot (2010) balances forward (1/n_in) and backward (1/n_out): 2/(n_in + n_out); it assumes an activation roughly linear and symmetric near 0, fine for tanh. ReLU zeroes the negative half of a symmetric input, halving the mean square, so He et al. (2015) double it: 2/n_in; with it they trained a 30-layer ReLU network that stalled under Xavier.
Convolutions: n_in = k·k·C_in (Conv2d(64, 128, 3): n_in = 576, He std ≈ 0.059). PyTorch's default for Linear/Conv is Kaiming-uniform with a = √5, i.e. Var(w) = 1/(3·n_in): conservative; set He initialization explicitly for deep ReLU nets trained from scratch. Never all-zero weights: identical units get identical gradients forever (symmetry). Biases may start at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[1:37 – 1:39]  Ask students to PREDICT the four curves before revealing. Twenty ReLU layers of width 256, 1,000 standard-normal inputs, standard deviation of activations per layer (log scale), one seeded NumPy run.
He keeps the signal near its starting scale (0.83 → 0.88). Xavier ignores ReLU's halving and loses a factor √2 in standard deviation per layer — it halves about every TWO layers — reaching 8.6 × 10⁻⁴. std 0.01 vanishes to 1.0 × 10⁻¹⁹; std 1.0 explodes to 1.0 × 10²¹. Backward gradients behave the same way, since BP2 multiplies by the same matrices.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minutes]  Peer instruction: everyone votes A–D silently (fingers or clicker); if votes split, give 60 s to convince a neighbour, then revote.
Answer: B. He uses Var(w) = 2/n_in with n_in = 512 (fan-in, not fan-out): std = √(2/512) = 0.0625. A is LeCun (no ReLU correction); D wrongly uses fan-out.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 – 1:43]  The single most effective fix for depth (He et al., 2016). Let a block learn a correction F(x) and add the input back: x_{l+1} = x_l + F(x_l).
The block's Jacobian is I + ∂F/∂x: the backward product always contains a path with factor exactly 1, so gradients reach early layers even when ∂F/∂x is small. And an unhelpful block only has to push F toward 0 to become the identity, so extra blocks should not raise training error — the answer to the break question. ResNet-152 trained in 2015; residual connections are in essentially every modern deep architecture, including every Transformer block. Practical trick: initialize the last normalization γ of each block to 0 so every block starts as the identity (Goyal et al., 2017).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 – 1:46]  A ravine is steep across and gentle along. The gradient is dominated by the steep direction, so plain SGD bounces between the walls and crawls along the floor: raise η and it diverges, lower it and progress stops. This is ill-conditioning (curvature ratio 25 here).
Fair comparison: real runs, 40 steps each, on a ravine ROTATED by 30° (so it is not aligned with the coordinates, which would unfairly favour Adam's per-coordinate scaling), with each optimizer's learning rate TUNED by grid search for the lowest final loss. Final losses: SGD 2.1e-2 (η = 0.072), momentum 9.2e-3 (η = 0.038), Adam 9.3e-4 (η = 0.93). A 2-D toy only: rankings on real networks depend on the problem and on tuning.
Momentum keeps a decaying sum of gradients: oscillating components cancel, consistent ones add up; with constant gradient the velocity tends to g/(1 − β) = 10g for β = 0.9 — which is why switching to momentum 0.9 usually means cutting η about 10×. Adam rescales each coordinate by a running RMS of its own gradients.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[1:46 – 1:49]  Adam (Kingma &amp; Ba, 2015) keeps a running mean of the gradient (momentum) and of its square (RMSProp), corrects both for starting at zero (with m₀ = 0, E[m_t] = (1 − β₁ᵗ)E[g]), and steps by their ratio — roughly a signal-to-noise ratio: consistent gradients give steps near ±η, noisy ones shrink the step.
AdamW (Loshchilov &amp; Hutter, 2019): with plain SGD, an L2 penalty equals weight decay; with Adam it does not, because the λθ term is divided by √v̂ and parameters with large gradient history are barely regularized. AdamW applies decay directly to the weights. In PyTorch, Adam(weight_decay=…) is the coupled L2 version; AdamW is the decoupled one (default weight_decay = 0.01). Exclude biases and normalization parameters from decay.
SGD with momentum and a tuned schedule remains competitive for image classification; the Adam-versus-SGD generalization gap is real in some settings but small and recipe-dependent.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minutes]  Peer instruction: everyone votes A–D silently (fingers or clicker); if votes split, give 60 s to convince a neighbour, then revote.
Answer: A. With consistent gradients the velocity grows to g/(1 − β) = 10g, so η = 0.1 now behaves like 1.0. Divide η by about 10. Raising β makes it worse.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 – 1:54]  BatchNorm (Ioffe &amp; Szegedy, 2015) standardizes each feature (each channel in a CNN) over the mini-batch, then applies a learned scale γ and shift β — which can undo the normalization, so no representational power is lost.
Train vs eval: training uses the batch's mean and variance and updates running averages; eval uses the running averages, so predictions are deterministic and independent of the other examples in the batch. PyTorch's momentum = 0.1 is the weight of the NEW batch statistic. Forgetting model.eval() is the classic bug: validation accuracy then changes with validation batch size; with batch size 1, BatchNorm2d normalizes each image by its own spatial statistics (BatchNorm1d raises an error).
Why it helps: the original "internal covariate shift" explanation is now doubted (Santurkar et al., 2018 injected extra shift and training still went well). Better-supported: it smooths the loss landscape so larger learning rates are stable; the output is invariant to the scale of the preceding weights; batch noise adds mild regularization.
Variants differ only in the axes averaged: LayerNorm (per example — Transformers), RMSNorm (no mean subtraction — many recent LLMs), GroupNorm (small-batch vision). Figure in the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[1:54 – 1:57]  Real runs: the same MLP trained on only 1,000 of the 55,000 training images (Adam, batch 100, 150 epochs), evaluated on the same 5,000 validation images. Without regularization, training loss reaches ≈ 0 (it memorizes) and validation loss bottoms out at epoch 9 (0.61) then climbs to 1.09.
Dropout (p = 0.5) and decoupled weight decay (AdamW-style, λ = 0.5 — large because the dataset is tiny) each slow the rise; together they give the best validation loss (0.56) and accuracy (81.8% vs 80.7%).
The bigger lesson is in the bar chart: 55× more data lifts validation accuracy to 89.4%. More data beats every regularizer — which is why augmentation and transfer learning top the remedy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[1:57 – 2:00]  Classical statistics predicts a U-shaped test error against model size. Modern networks have far more parameters than examples and still generalize. This is a real simulation: least squares on p random ReLU features, n = 60 training points, median of 30 runs.
Unregularized (minimum-norm) fit: test error follows the U, PEAKS at the interpolation threshold p = n — the model can only just fit the noisy training data and must contort — then descends again (Belkin et al., 2019; deep networks: Nakkiran et al., 2020). With a modest ridge penalty (λ = 0.02·p) the peak disappears, and the large regularized model (≈ 0.083) beats the best small model (≈ 0.113). Note the honest detail: WITHOUT regularization the largest model here (0.126) does not beat the classical optimum.
Working explanation: among many exact fits, minimum-norm (and gradient-descent) solutions tend to be smooth — implicit regularization; explicit regularization (Nakkiran et al., 2021) can remove the 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 2:03]  Weight decay adds (λ/2)‖W‖² to the loss, so every step first shrinks W by (1 − ηλ). Smaller weights mean gentler switching (‖w‖ sets sharpness, Part 1), hence smoother functions that cannot contort around noisy points; Bayesian reading: a zero-mean Gaussian prior. Typical λ: ≈ 10⁻⁴ – 5×10⁻⁴ for SGD on CNNs; 0.01 – 0.1 with AdamW. Weights only.
Dropout (Srivastava et al., 2014): during training zero each unit with probability p, independently per example and per pass, and divide survivors by 1 − p (inverted dropout) so E[a] matches test time, when dropout is off. Explanations: units cannot co-adapt; an implicit ensemble of 2ⁿ weight-sharing sub-networks; noise injection. Typical p: 0.5 for large fully connected layers, 0.1 in many Transformer recipes (many large-scale pre-training runs use none), little or none inside conv layers with BatchNorm.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[2:03 – 2:05]  For images, augmentation is usually the highest-leverage regularizer: a shirt is still a shirt after a small crop or brightness change, while every pixel changes. Think about each transform: horizontal flips suit clothes and natural photos but not digits or text; vertical flips suit satellite and microscopy images, not street scenes; rotation confuses 6 and 9.
The code uses the torchvision.transforms.v2 API (ToImage + ToDtype replace ToTensor). Never augment validation or test data beyond deterministic resizing/cropping. Stronger methods: Mixup and CutMix (v2.MixUp, v2.CutMix; batch-level, producing float probability targets that CrossEntropyLoss accepts), RandAugment/TrivialAugment, and label smoothing (CrossEntropyLoss(label_smoothing=0.1)).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 – 2:08]  The training–validation gap tells you which problem you have. Validation loss slightly below training loss is usually normal: dropout and augmentation make training harder but are off at evaluation.
If overfitting, the priority order by impact per unit of effort: more data, augmentation, transfer learning from a pretrained model (often transformative on small datasets), then weight decay, early stopping, dropout; shrinking the model is the last resort — double descent and our ridge result suggest that instinct is often wrong. Our running example confirmed the top of this list: data gave +8 points, regularization +1.
Before any of this (Karpathy, 2019): make sure the model can overfit one small batch; if it cannot reach near-zero loss on 100 examples, there is a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minutes]  Peer instruction: everyone votes A–D silently (fingers or clicker); if votes split, give 60 s to convince a neighbour, then revote.
Answer: B. Severe overfitting on a small dataset: transfer learning plus augmentation (effectively more data) usually gives the largest gain; then weight decay with early stopping. Training longer makes overfitting worse; shrinking the model is the last resort.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[2:09 – 2:13]  Everything together: AdamW with decoupled weight decay (in practice put biases and normalization parameters in a no-decay group — appendix); a one-cycle schedule (by default it warms up over the first 30% of steps, pct_start=0.3, then anneals with a cosine) stepped every BATCH; device transfers (x.to(dev)) are omitted for space; label-smoothed cross-entropy; gradient clipping after backward and before step; evaluation in eval mode without a graph; keep the best checkpoint by validation loss. zero_grad() sets gradients to None by default since PyTorch 2.0.
Warmup matters for Transformers and large batches because early gradients and Adam's second-moment estimates are unreliable (Goyal et al., 2017). Stepping a scheduler at the wrong frequency raises no error and silently changes the schedule: print the learning rate (scheduler table in the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 – 2:30]  Each part reduces to one sentence; if students can say these and justify them, they have the foundations. Then the one-minute exit ticket: "What was the muddiest point today?" on a card. Read them before next session and open with the top two.
Practice before next session (self-checking): build the 784–128–64–10 MLP for Fashion-MNIST, verify 109,386 parameters, check the first loss is a little above ln 10 ≈ 2.30, overfit 100 images to near-zero loss, then train on the full set and plot both curves.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 moved out of the 150-minute lecture. Students use it for review; instructors can pull any slide back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with the reasoning, for review after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with the reasoning, for review after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Square brackets index layers; round brackets index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hidden layer suffices in principle (UAT), but depth can be exponentially more efficient. A tent map built from 2 ReLUs, composed k times, has 2^k linear pieces; a shallow network needs roughly one unit per piece. Telgarsky (COLT 2016): networks with Θ(k³) layers and Θ(1) nodes per layer cannot be approximated by networks with O(k) layers unless those have Ω(2^k) nodes. Montúfar et al. (2014): the number of linear regions of ReLU networks can grow exponentially with depth but only polynomially with width.
Parity is NOT a good example: n-bit parity needs only n hidden threshold units at depth 2 (shown in the 1986 PDP-volume chapter by Rumelhart, Hinton &amp; Williams); the exponential lower bounds for parity concern AND/OR circuits.
These are worst-case constructions; that real data rewards depth is an empirical, well-supported observation (compositional data; feature hierarchies visualized by Zeiler &amp; Fergus, 2014).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Reverse-mode differentiation: Linnainmaa (1970); proposed for networks by Werbos (1974); popularized by Rumelhart, Hinton &amp; Williams (1986). Deep learning took over around 2012, driven by data (ImageNet, 2009), GPUs and training engineering. 2024 Nobel Prizes: Physics to Hopfield and Hinton; Chemistry to Baker, Hassabis and Jumper.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Grinsztajn et al. (NeurIPS 2022): tree ensembles still outperformed deep models on typical medium-sized tabular benchmarks. TabPFN (Hollmann et al., Nature 2025), a pretrained tabular foundation model, outperformed tuned baselines on datasets up to 10,000 samples. Fit a strong simple baseline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Classification losses take raw logits. CrossEntropyLoss accepts int64 class indices (m,) or float class probabilities (m, K) since PyTorch 1.10 (used by label smoothing, Mixup, CutMix). Match prediction and target shapes exactly for MSELoss: (m, 1) vs (m,) broadcasts to (m, m) with only a warning.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compute (x − mean)/std, then a learned scale and shift. Teal cells share one mean and variance; height and width are always pooled. RMSNorm (Zhang &amp; Sennrich, 2019) drops the mean subtraction.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wrong step frequency raises no error and silently changes the schedule. Print optimizer.param_groups[0]["lr"] every epoch.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centred difference (error O(ε²)) and a relative error. Use float64, make the loss deterministic (dropout off), and check a random subset of parameters: each check costs two forward passes. Typical thresholds (CS231n): below 10⁻⁷ fine; up to 10⁻⁴ investigate; above 10⁻³ almost certainly a bug — but kinks such as ReLU at 0 can cause isolated larger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sources for the claims in this deck, plus textbooks and courses.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sources for the claims in this deck, plus textbooks and courses.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7202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766560" cy="201168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4023360"/>
            <a:ext cx="6400800" cy="1097280"/>
          </a:xfrm>
          <a:prstGeom prst="rect">
            <a:avLst/>
          </a:prstGeom>
          <a:noFill/>
          <a:ln/>
        </p:spPr>
        <p:txBody>
          <a:bodyPr wrap="square" rtlCol="0"/>
          <a:lstStyle>
            <a:lvl1pPr indent="0" marL="0">
              <a:buNone/>
              <a:defRPr lang="en-US" sz="1800" dirty="0">
                <a:solidFill>
                  <a:srgbClr val="C9D3DF"/>
                </a:solidFill>
                <a:latin typeface="Calibri" pitchFamily="34" charset="0"/>
                <a:ea typeface="Calibri" pitchFamily="34" charset="-122"/>
                <a:cs typeface="Calibri" pitchFamily="34" charset="-120"/>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7202E"/>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rtlCol="0"/>
          <a:lstStyle>
            <a:lvl1pPr indent="0" marL="0">
              <a:buNone/>
              <a:defRPr lang="en-US" sz="1400" b="1" spc="300" kern="0" dirty="0">
                <a:solidFill>
                  <a:srgbClr val="7FD1CF"/>
                </a:solidFill>
                <a:latin typeface="Calibri" pitchFamily="34" charset="0"/>
                <a:ea typeface="Calibri" pitchFamily="34" charset="-122"/>
                <a:cs typeface="Calibri" pitchFamily="34" charset="-120"/>
              </a:defRPr>
            </a:lvl1pPr>
          </a:lstStyle>
          <a:p>
            <a:pPr indent="0" marL="0">
              <a:buNone/>
            </a:pP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rtlCol="0"/>
          <a:lstStyle>
            <a:lvl1pPr algn="l" indent="0" marL="0">
              <a:buNone/>
              <a:defRPr lang="en-US" sz="36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rtlCol="0"/>
          <a:lstStyle>
            <a:lvl1pPr indent="0" marL="0">
              <a:buNone/>
              <a:defRPr lang="en-US" sz="1800" dirty="0">
                <a:solidFill>
                  <a:srgbClr val="C9D3DF"/>
                </a:solidFill>
                <a:latin typeface="Calibri" pitchFamily="34" charset="0"/>
                <a:ea typeface="Calibri" pitchFamily="34" charset="-122"/>
                <a:cs typeface="Calibri" pitchFamily="34" charset="-120"/>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rtlCol="0"/>
          <a:lstStyle>
            <a:lvl1pPr indent="0" marL="0">
              <a:buNone/>
              <a:defRPr lang="en-US" sz="1200" b="1" spc="200" kern="0" dirty="0">
                <a:solidFill>
                  <a:srgbClr val="0F7C82"/>
                </a:solidFill>
                <a:latin typeface="Calibri" pitchFamily="34" charset="0"/>
                <a:ea typeface="Calibri" pitchFamily="34" charset="-122"/>
                <a:cs typeface="Calibri" pitchFamily="34" charset="-120"/>
              </a:defRPr>
            </a:lvl1pPr>
          </a:lstStyle>
          <a:p>
            <a:pPr indent="0" marL="0">
              <a:buNone/>
            </a:pP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rtlCol="0"/>
          <a:lstStyle>
            <a:lvl1pPr algn="l" indent="0" marL="0">
              <a:buNone/>
              <a:defRPr lang="en-US" sz="3200" b="1" dirty="0">
                <a:solidFill>
                  <a:srgbClr val="17202E"/>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4"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100" dirty="0">
                <a:solidFill>
                  <a:srgbClr val="8A94A3"/>
                </a:solidFill>
                <a:latin typeface="Calibri" pitchFamily="34" charset="0"/>
                <a:ea typeface="Calibri" pitchFamily="34" charset="-122"/>
                <a:cs typeface="Calibri" pitchFamily="34" charset="-120"/>
              </a:rPr>
              <a:t>Deep Neural Networks  ·  Session 1</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4.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image" Target="../media/image-24-1.png"/><Relationship Id="rId4" Type="http://schemas.openxmlformats.org/officeDocument/2006/relationships/image" Target="../media/image-24-2.png"/><Relationship Id="rId5" Type="http://schemas.openxmlformats.org/officeDocument/2006/relationships/image" Target="../media/image-24-3.png"/><Relationship Id="rId6" Type="http://schemas.openxmlformats.org/officeDocument/2006/relationships/slideLayout" Target="../slideLayouts/slideLayout4.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image" Target="../media/image-25-1.png"/><Relationship Id="rId3" Type="http://schemas.openxmlformats.org/officeDocument/2006/relationships/image" Target="../media/image-25-2.png"/><Relationship Id="rId4" Type="http://schemas.openxmlformats.org/officeDocument/2006/relationships/slideLayout" Target="../slideLayouts/slideLayout4.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image" Target="../media/image-27-1.png"/><Relationship Id="rId3" Type="http://schemas.openxmlformats.org/officeDocument/2006/relationships/image" Target="../media/image-27-2.png"/><Relationship Id="rId4" Type="http://schemas.openxmlformats.org/officeDocument/2006/relationships/slideLayout" Target="../slideLayouts/slideLayout4.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slideLayout" Target="../slideLayouts/slideLayout4.xml"/><Relationship Id="rId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slideLayout" Target="../slideLayouts/slideLayout4.xml"/><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4.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chart" Target="/ppt/charts/chart11.xml"/><Relationship Id="rId3" Type="http://schemas.openxmlformats.org/officeDocument/2006/relationships/slideLayout" Target="../slideLayouts/slideLayout4.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2" Type="http://schemas.openxmlformats.org/officeDocument/2006/relationships/chart" Target="/ppt/charts/chart12.xml"/><Relationship Id="rId1" Type="http://schemas.openxmlformats.org/officeDocument/2006/relationships/image" Target="../media/image-42-1.png"/><Relationship Id="rId3" Type="http://schemas.openxmlformats.org/officeDocument/2006/relationships/slideLayout" Target="../slideLayouts/slideLayout4.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4.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4.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4.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4.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4.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4.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chart" Target="/ppt/charts/chart15.xml"/><Relationship Id="rId3" Type="http://schemas.openxmlformats.org/officeDocument/2006/relationships/slideLayout" Target="../slideLayouts/slideLayout4.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slideLayout" Target="../slideLayouts/slideLayout4.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slideLayout" Target="../slideLayouts/slideLayout4.xml"/><Relationship Id="rId5"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chart" Target="/ppt/charts/chart17.xml"/><Relationship Id="rId2" Type="http://schemas.openxmlformats.org/officeDocument/2006/relationships/slideLayout" Target="../slideLayouts/slideLayout4.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4.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4.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4.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766560" cy="2011680"/>
          </a:xfrm>
          <a:prstGeom prst="rect">
            <a:avLst/>
          </a:prstGeom>
          <a:noFill/>
          <a:ln/>
        </p:spPr>
        <p:txBody>
          <a:bodyPr wrap="square" lIns="0" tIns="0" rIns="0" bIns="0"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Deep neural networks: from one neuron to networks that train</a:t>
            </a:r>
            <a:endParaRPr lang="en-US" sz="4000" dirty="0"/>
          </a:p>
        </p:txBody>
      </p:sp>
      <p:sp>
        <p:nvSpPr>
          <p:cNvPr id="3" name="Text 0"/>
          <p:cNvSpPr/>
          <p:nvPr>
            <p:ph idx="101" type="body" hasCustomPrompt="1"/>
          </p:nvPr>
        </p:nvSpPr>
        <p:spPr>
          <a:xfrm>
            <a:off x="548640" y="4023360"/>
            <a:ext cx="6400800" cy="1097280"/>
          </a:xfrm>
          <a:prstGeom prst="rect">
            <a:avLst/>
          </a:prstGeom>
          <a:noFill/>
          <a:ln/>
        </p:spPr>
        <p:txBody>
          <a:bodyPr wrap="square" lIns="0" tIns="0" rIns="0" bIns="0" rtlCol="0" anchor="t"/>
          <a:lstStyle/>
          <a:p>
            <a:pPr indent="0" marL="0">
              <a:buNone/>
            </a:pPr>
            <a:r>
              <a:rPr lang="en-US" sz="1800" dirty="0">
                <a:solidFill>
                  <a:srgbClr val="C9D3DF"/>
                </a:solidFill>
                <a:latin typeface="Calibri" pitchFamily="34" charset="0"/>
                <a:ea typeface="Calibri" pitchFamily="34" charset="-122"/>
                <a:cs typeface="Calibri" pitchFamily="34" charset="-120"/>
              </a:rPr>
              <a:t>Foundations  ·  Learning  ·  Training and generalization</a:t>
            </a:r>
            <a:endParaRPr lang="en-US" sz="1800" dirty="0"/>
          </a:p>
        </p:txBody>
      </p:sp>
      <p:sp>
        <p:nvSpPr>
          <p:cNvPr id="4" name="Text 2"/>
          <p:cNvSpPr txBox="1"/>
          <p:nvPr/>
        </p:nvSpPr>
        <p:spPr>
          <a:xfrm>
            <a:off x="548640" y="1371600"/>
            <a:ext cx="6858000" cy="274320"/>
          </a:xfrm>
          <a:prstGeom prst="rect">
            <a:avLst/>
          </a:prstGeom>
          <a:noFill/>
          <a:ln/>
        </p:spPr>
        <p:txBody>
          <a:bodyPr wrap="square" lIns="0" tIns="0" rIns="0" bIns="0" rtlCol="0" anchor="t"/>
          <a:lstStyle/>
          <a:p>
            <a:pPr indent="0" marL="0">
              <a:buNone/>
            </a:pPr>
            <a:r>
              <a:rPr lang="en-US" sz="1400" b="1" spc="300" kern="0" dirty="0">
                <a:solidFill>
                  <a:srgbClr val="7FD1CF"/>
                </a:solidFill>
                <a:latin typeface="Calibri" pitchFamily="34" charset="0"/>
                <a:ea typeface="Calibri" pitchFamily="34" charset="-122"/>
                <a:cs typeface="Calibri" pitchFamily="34" charset="-120"/>
              </a:rPr>
              <a:t>SESSION 1  ·  150 MINUTES  ·  UNDERGRADUATE ENGINEERING</a:t>
            </a:r>
            <a:endParaRPr lang="en-US" sz="1400" dirty="0"/>
          </a:p>
        </p:txBody>
      </p:sp>
      <p:sp>
        <p:nvSpPr>
          <p:cNvPr id="5" name="Shape 3"/>
          <p:cNvSpPr/>
          <p:nvPr/>
        </p:nvSpPr>
        <p:spPr>
          <a:xfrm flipV="1">
            <a:off x="7845552" y="2002536"/>
            <a:ext cx="1170432" cy="713232"/>
          </a:xfrm>
          <a:prstGeom prst="line">
            <a:avLst/>
          </a:prstGeom>
          <a:noFill/>
          <a:ln w="11430">
            <a:solidFill>
              <a:srgbClr val="33445C"/>
            </a:solidFill>
            <a:prstDash val="solid"/>
          </a:ln>
        </p:spPr>
      </p:sp>
      <p:sp>
        <p:nvSpPr>
          <p:cNvPr id="6" name="Shape 4"/>
          <p:cNvSpPr/>
          <p:nvPr/>
        </p:nvSpPr>
        <p:spPr>
          <a:xfrm>
            <a:off x="7845552" y="2715768"/>
            <a:ext cx="1170432" cy="91"/>
          </a:xfrm>
          <a:prstGeom prst="line">
            <a:avLst/>
          </a:prstGeom>
          <a:noFill/>
          <a:ln w="11430">
            <a:solidFill>
              <a:srgbClr val="33445C"/>
            </a:solidFill>
            <a:prstDash val="solid"/>
          </a:ln>
        </p:spPr>
      </p:sp>
      <p:sp>
        <p:nvSpPr>
          <p:cNvPr id="7" name="Shape 5"/>
          <p:cNvSpPr/>
          <p:nvPr/>
        </p:nvSpPr>
        <p:spPr>
          <a:xfrm>
            <a:off x="7845552" y="2715768"/>
            <a:ext cx="1170432" cy="713232"/>
          </a:xfrm>
          <a:prstGeom prst="line">
            <a:avLst/>
          </a:prstGeom>
          <a:noFill/>
          <a:ln w="11430">
            <a:solidFill>
              <a:srgbClr val="33445C"/>
            </a:solidFill>
            <a:prstDash val="solid"/>
          </a:ln>
        </p:spPr>
      </p:sp>
      <p:sp>
        <p:nvSpPr>
          <p:cNvPr id="8" name="Shape 6"/>
          <p:cNvSpPr/>
          <p:nvPr/>
        </p:nvSpPr>
        <p:spPr>
          <a:xfrm>
            <a:off x="7845552" y="2715768"/>
            <a:ext cx="1170432" cy="1426464"/>
          </a:xfrm>
          <a:prstGeom prst="line">
            <a:avLst/>
          </a:prstGeom>
          <a:noFill/>
          <a:ln w="11430">
            <a:solidFill>
              <a:srgbClr val="33445C"/>
            </a:solidFill>
            <a:prstDash val="solid"/>
          </a:ln>
        </p:spPr>
      </p:sp>
      <p:sp>
        <p:nvSpPr>
          <p:cNvPr id="9" name="Shape 7"/>
          <p:cNvSpPr/>
          <p:nvPr/>
        </p:nvSpPr>
        <p:spPr>
          <a:xfrm>
            <a:off x="7845552" y="2715768"/>
            <a:ext cx="1170432" cy="2139696"/>
          </a:xfrm>
          <a:prstGeom prst="line">
            <a:avLst/>
          </a:prstGeom>
          <a:noFill/>
          <a:ln w="11430">
            <a:solidFill>
              <a:srgbClr val="33445C"/>
            </a:solidFill>
            <a:prstDash val="solid"/>
          </a:ln>
        </p:spPr>
      </p:sp>
      <p:sp>
        <p:nvSpPr>
          <p:cNvPr id="10" name="Shape 8"/>
          <p:cNvSpPr/>
          <p:nvPr/>
        </p:nvSpPr>
        <p:spPr>
          <a:xfrm flipV="1">
            <a:off x="7845552" y="2002536"/>
            <a:ext cx="1170432" cy="1426464"/>
          </a:xfrm>
          <a:prstGeom prst="line">
            <a:avLst/>
          </a:prstGeom>
          <a:noFill/>
          <a:ln w="11430">
            <a:solidFill>
              <a:srgbClr val="33445C"/>
            </a:solidFill>
            <a:prstDash val="solid"/>
          </a:ln>
        </p:spPr>
      </p:sp>
      <p:sp>
        <p:nvSpPr>
          <p:cNvPr id="11" name="Shape 9"/>
          <p:cNvSpPr/>
          <p:nvPr/>
        </p:nvSpPr>
        <p:spPr>
          <a:xfrm flipV="1">
            <a:off x="7845552" y="2715768"/>
            <a:ext cx="1170432" cy="713232"/>
          </a:xfrm>
          <a:prstGeom prst="line">
            <a:avLst/>
          </a:prstGeom>
          <a:noFill/>
          <a:ln w="11430">
            <a:solidFill>
              <a:srgbClr val="33445C"/>
            </a:solidFill>
            <a:prstDash val="solid"/>
          </a:ln>
        </p:spPr>
      </p:sp>
      <p:sp>
        <p:nvSpPr>
          <p:cNvPr id="12" name="Shape 10"/>
          <p:cNvSpPr/>
          <p:nvPr/>
        </p:nvSpPr>
        <p:spPr>
          <a:xfrm>
            <a:off x="7845552" y="3429000"/>
            <a:ext cx="1170432" cy="91"/>
          </a:xfrm>
          <a:prstGeom prst="line">
            <a:avLst/>
          </a:prstGeom>
          <a:noFill/>
          <a:ln w="28575">
            <a:solidFill>
              <a:srgbClr val="C8571B"/>
            </a:solidFill>
            <a:prstDash val="solid"/>
          </a:ln>
        </p:spPr>
      </p:sp>
      <p:sp>
        <p:nvSpPr>
          <p:cNvPr id="13" name="Shape 11"/>
          <p:cNvSpPr/>
          <p:nvPr/>
        </p:nvSpPr>
        <p:spPr>
          <a:xfrm>
            <a:off x="7845552" y="3429000"/>
            <a:ext cx="1170432" cy="713232"/>
          </a:xfrm>
          <a:prstGeom prst="line">
            <a:avLst/>
          </a:prstGeom>
          <a:noFill/>
          <a:ln w="11430">
            <a:solidFill>
              <a:srgbClr val="33445C"/>
            </a:solidFill>
            <a:prstDash val="solid"/>
          </a:ln>
        </p:spPr>
      </p:sp>
      <p:sp>
        <p:nvSpPr>
          <p:cNvPr id="14" name="Shape 12"/>
          <p:cNvSpPr/>
          <p:nvPr/>
        </p:nvSpPr>
        <p:spPr>
          <a:xfrm>
            <a:off x="7845552" y="3429000"/>
            <a:ext cx="1170432" cy="1426464"/>
          </a:xfrm>
          <a:prstGeom prst="line">
            <a:avLst/>
          </a:prstGeom>
          <a:noFill/>
          <a:ln w="11430">
            <a:solidFill>
              <a:srgbClr val="33445C"/>
            </a:solidFill>
            <a:prstDash val="solid"/>
          </a:ln>
        </p:spPr>
      </p:sp>
      <p:sp>
        <p:nvSpPr>
          <p:cNvPr id="15" name="Shape 13"/>
          <p:cNvSpPr/>
          <p:nvPr/>
        </p:nvSpPr>
        <p:spPr>
          <a:xfrm flipV="1">
            <a:off x="7845552" y="2002536"/>
            <a:ext cx="1170432" cy="2139696"/>
          </a:xfrm>
          <a:prstGeom prst="line">
            <a:avLst/>
          </a:prstGeom>
          <a:noFill/>
          <a:ln w="11430">
            <a:solidFill>
              <a:srgbClr val="33445C"/>
            </a:solidFill>
            <a:prstDash val="solid"/>
          </a:ln>
        </p:spPr>
      </p:sp>
      <p:sp>
        <p:nvSpPr>
          <p:cNvPr id="16" name="Shape 14"/>
          <p:cNvSpPr/>
          <p:nvPr/>
        </p:nvSpPr>
        <p:spPr>
          <a:xfrm flipV="1">
            <a:off x="7845552" y="2715768"/>
            <a:ext cx="1170432" cy="1426464"/>
          </a:xfrm>
          <a:prstGeom prst="line">
            <a:avLst/>
          </a:prstGeom>
          <a:noFill/>
          <a:ln w="11430">
            <a:solidFill>
              <a:srgbClr val="33445C"/>
            </a:solidFill>
            <a:prstDash val="solid"/>
          </a:ln>
        </p:spPr>
      </p:sp>
      <p:sp>
        <p:nvSpPr>
          <p:cNvPr id="17" name="Shape 15"/>
          <p:cNvSpPr/>
          <p:nvPr/>
        </p:nvSpPr>
        <p:spPr>
          <a:xfrm flipV="1">
            <a:off x="7845552" y="3429000"/>
            <a:ext cx="1170432" cy="713232"/>
          </a:xfrm>
          <a:prstGeom prst="line">
            <a:avLst/>
          </a:prstGeom>
          <a:noFill/>
          <a:ln w="11430">
            <a:solidFill>
              <a:srgbClr val="33445C"/>
            </a:solidFill>
            <a:prstDash val="solid"/>
          </a:ln>
        </p:spPr>
      </p:sp>
      <p:sp>
        <p:nvSpPr>
          <p:cNvPr id="18" name="Shape 16"/>
          <p:cNvSpPr/>
          <p:nvPr/>
        </p:nvSpPr>
        <p:spPr>
          <a:xfrm>
            <a:off x="7845552" y="4142232"/>
            <a:ext cx="1170432" cy="91"/>
          </a:xfrm>
          <a:prstGeom prst="line">
            <a:avLst/>
          </a:prstGeom>
          <a:noFill/>
          <a:ln w="11430">
            <a:solidFill>
              <a:srgbClr val="33445C"/>
            </a:solidFill>
            <a:prstDash val="solid"/>
          </a:ln>
        </p:spPr>
      </p:sp>
      <p:sp>
        <p:nvSpPr>
          <p:cNvPr id="19" name="Shape 17"/>
          <p:cNvSpPr/>
          <p:nvPr/>
        </p:nvSpPr>
        <p:spPr>
          <a:xfrm>
            <a:off x="7845552" y="4142232"/>
            <a:ext cx="1170432" cy="713232"/>
          </a:xfrm>
          <a:prstGeom prst="line">
            <a:avLst/>
          </a:prstGeom>
          <a:noFill/>
          <a:ln w="11430">
            <a:solidFill>
              <a:srgbClr val="33445C"/>
            </a:solidFill>
            <a:prstDash val="solid"/>
          </a:ln>
        </p:spPr>
      </p:sp>
      <p:sp>
        <p:nvSpPr>
          <p:cNvPr id="20" name="Shape 18"/>
          <p:cNvSpPr/>
          <p:nvPr/>
        </p:nvSpPr>
        <p:spPr>
          <a:xfrm>
            <a:off x="9015984" y="2002536"/>
            <a:ext cx="1170432" cy="91"/>
          </a:xfrm>
          <a:prstGeom prst="line">
            <a:avLst/>
          </a:prstGeom>
          <a:noFill/>
          <a:ln w="11430">
            <a:solidFill>
              <a:srgbClr val="33445C"/>
            </a:solidFill>
            <a:prstDash val="solid"/>
          </a:ln>
        </p:spPr>
      </p:sp>
      <p:sp>
        <p:nvSpPr>
          <p:cNvPr id="21" name="Shape 19"/>
          <p:cNvSpPr/>
          <p:nvPr/>
        </p:nvSpPr>
        <p:spPr>
          <a:xfrm>
            <a:off x="9015984" y="2002536"/>
            <a:ext cx="1170432" cy="713232"/>
          </a:xfrm>
          <a:prstGeom prst="line">
            <a:avLst/>
          </a:prstGeom>
          <a:noFill/>
          <a:ln w="11430">
            <a:solidFill>
              <a:srgbClr val="33445C"/>
            </a:solidFill>
            <a:prstDash val="solid"/>
          </a:ln>
        </p:spPr>
      </p:sp>
      <p:sp>
        <p:nvSpPr>
          <p:cNvPr id="22" name="Shape 20"/>
          <p:cNvSpPr/>
          <p:nvPr/>
        </p:nvSpPr>
        <p:spPr>
          <a:xfrm>
            <a:off x="9015984" y="2002536"/>
            <a:ext cx="1170432" cy="1426464"/>
          </a:xfrm>
          <a:prstGeom prst="line">
            <a:avLst/>
          </a:prstGeom>
          <a:noFill/>
          <a:ln w="11430">
            <a:solidFill>
              <a:srgbClr val="33445C"/>
            </a:solidFill>
            <a:prstDash val="solid"/>
          </a:ln>
        </p:spPr>
      </p:sp>
      <p:sp>
        <p:nvSpPr>
          <p:cNvPr id="23" name="Shape 21"/>
          <p:cNvSpPr/>
          <p:nvPr/>
        </p:nvSpPr>
        <p:spPr>
          <a:xfrm>
            <a:off x="9015984" y="2002536"/>
            <a:ext cx="1170432" cy="2139696"/>
          </a:xfrm>
          <a:prstGeom prst="line">
            <a:avLst/>
          </a:prstGeom>
          <a:noFill/>
          <a:ln w="11430">
            <a:solidFill>
              <a:srgbClr val="33445C"/>
            </a:solidFill>
            <a:prstDash val="solid"/>
          </a:ln>
        </p:spPr>
      </p:sp>
      <p:sp>
        <p:nvSpPr>
          <p:cNvPr id="24" name="Shape 22"/>
          <p:cNvSpPr/>
          <p:nvPr/>
        </p:nvSpPr>
        <p:spPr>
          <a:xfrm>
            <a:off x="9015984" y="2002536"/>
            <a:ext cx="1170432" cy="2852928"/>
          </a:xfrm>
          <a:prstGeom prst="line">
            <a:avLst/>
          </a:prstGeom>
          <a:noFill/>
          <a:ln w="11430">
            <a:solidFill>
              <a:srgbClr val="33445C"/>
            </a:solidFill>
            <a:prstDash val="solid"/>
          </a:ln>
        </p:spPr>
      </p:sp>
      <p:sp>
        <p:nvSpPr>
          <p:cNvPr id="25" name="Shape 23"/>
          <p:cNvSpPr/>
          <p:nvPr/>
        </p:nvSpPr>
        <p:spPr>
          <a:xfrm flipV="1">
            <a:off x="9015984" y="2002536"/>
            <a:ext cx="1170432" cy="713232"/>
          </a:xfrm>
          <a:prstGeom prst="line">
            <a:avLst/>
          </a:prstGeom>
          <a:noFill/>
          <a:ln w="11430">
            <a:solidFill>
              <a:srgbClr val="33445C"/>
            </a:solidFill>
            <a:prstDash val="solid"/>
          </a:ln>
        </p:spPr>
      </p:sp>
      <p:sp>
        <p:nvSpPr>
          <p:cNvPr id="26" name="Shape 24"/>
          <p:cNvSpPr/>
          <p:nvPr/>
        </p:nvSpPr>
        <p:spPr>
          <a:xfrm>
            <a:off x="9015984" y="2715768"/>
            <a:ext cx="1170432" cy="91"/>
          </a:xfrm>
          <a:prstGeom prst="line">
            <a:avLst/>
          </a:prstGeom>
          <a:noFill/>
          <a:ln w="11430">
            <a:solidFill>
              <a:srgbClr val="33445C"/>
            </a:solidFill>
            <a:prstDash val="solid"/>
          </a:ln>
        </p:spPr>
      </p:sp>
      <p:sp>
        <p:nvSpPr>
          <p:cNvPr id="27" name="Shape 25"/>
          <p:cNvSpPr/>
          <p:nvPr/>
        </p:nvSpPr>
        <p:spPr>
          <a:xfrm>
            <a:off x="9015984" y="2715768"/>
            <a:ext cx="1170432" cy="713232"/>
          </a:xfrm>
          <a:prstGeom prst="line">
            <a:avLst/>
          </a:prstGeom>
          <a:noFill/>
          <a:ln w="11430">
            <a:solidFill>
              <a:srgbClr val="33445C"/>
            </a:solidFill>
            <a:prstDash val="solid"/>
          </a:ln>
        </p:spPr>
      </p:sp>
      <p:sp>
        <p:nvSpPr>
          <p:cNvPr id="28" name="Shape 26"/>
          <p:cNvSpPr/>
          <p:nvPr/>
        </p:nvSpPr>
        <p:spPr>
          <a:xfrm>
            <a:off x="9015984" y="2715768"/>
            <a:ext cx="1170432" cy="1426464"/>
          </a:xfrm>
          <a:prstGeom prst="line">
            <a:avLst/>
          </a:prstGeom>
          <a:noFill/>
          <a:ln w="11430">
            <a:solidFill>
              <a:srgbClr val="33445C"/>
            </a:solidFill>
            <a:prstDash val="solid"/>
          </a:ln>
        </p:spPr>
      </p:sp>
      <p:sp>
        <p:nvSpPr>
          <p:cNvPr id="29" name="Shape 27"/>
          <p:cNvSpPr/>
          <p:nvPr/>
        </p:nvSpPr>
        <p:spPr>
          <a:xfrm>
            <a:off x="9015984" y="2715768"/>
            <a:ext cx="1170432" cy="2139696"/>
          </a:xfrm>
          <a:prstGeom prst="line">
            <a:avLst/>
          </a:prstGeom>
          <a:noFill/>
          <a:ln w="11430">
            <a:solidFill>
              <a:srgbClr val="33445C"/>
            </a:solidFill>
            <a:prstDash val="solid"/>
          </a:ln>
        </p:spPr>
      </p:sp>
      <p:sp>
        <p:nvSpPr>
          <p:cNvPr id="30" name="Shape 28"/>
          <p:cNvSpPr/>
          <p:nvPr/>
        </p:nvSpPr>
        <p:spPr>
          <a:xfrm flipV="1">
            <a:off x="9015984" y="2002536"/>
            <a:ext cx="1170432" cy="1426464"/>
          </a:xfrm>
          <a:prstGeom prst="line">
            <a:avLst/>
          </a:prstGeom>
          <a:noFill/>
          <a:ln w="11430">
            <a:solidFill>
              <a:srgbClr val="33445C"/>
            </a:solidFill>
            <a:prstDash val="solid"/>
          </a:ln>
        </p:spPr>
      </p:sp>
      <p:sp>
        <p:nvSpPr>
          <p:cNvPr id="31" name="Shape 29"/>
          <p:cNvSpPr/>
          <p:nvPr/>
        </p:nvSpPr>
        <p:spPr>
          <a:xfrm flipV="1">
            <a:off x="9015984" y="2715768"/>
            <a:ext cx="1170432" cy="713232"/>
          </a:xfrm>
          <a:prstGeom prst="line">
            <a:avLst/>
          </a:prstGeom>
          <a:noFill/>
          <a:ln w="28575">
            <a:solidFill>
              <a:srgbClr val="C8571B"/>
            </a:solidFill>
            <a:prstDash val="solid"/>
          </a:ln>
        </p:spPr>
      </p:sp>
      <p:sp>
        <p:nvSpPr>
          <p:cNvPr id="32" name="Shape 30"/>
          <p:cNvSpPr/>
          <p:nvPr/>
        </p:nvSpPr>
        <p:spPr>
          <a:xfrm>
            <a:off x="9015984" y="3429000"/>
            <a:ext cx="1170432" cy="91"/>
          </a:xfrm>
          <a:prstGeom prst="line">
            <a:avLst/>
          </a:prstGeom>
          <a:noFill/>
          <a:ln w="11430">
            <a:solidFill>
              <a:srgbClr val="33445C"/>
            </a:solidFill>
            <a:prstDash val="solid"/>
          </a:ln>
        </p:spPr>
      </p:sp>
      <p:sp>
        <p:nvSpPr>
          <p:cNvPr id="33" name="Shape 31"/>
          <p:cNvSpPr/>
          <p:nvPr/>
        </p:nvSpPr>
        <p:spPr>
          <a:xfrm>
            <a:off x="9015984" y="3429000"/>
            <a:ext cx="1170432" cy="713232"/>
          </a:xfrm>
          <a:prstGeom prst="line">
            <a:avLst/>
          </a:prstGeom>
          <a:noFill/>
          <a:ln w="11430">
            <a:solidFill>
              <a:srgbClr val="33445C"/>
            </a:solidFill>
            <a:prstDash val="solid"/>
          </a:ln>
        </p:spPr>
      </p:sp>
      <p:sp>
        <p:nvSpPr>
          <p:cNvPr id="34" name="Shape 32"/>
          <p:cNvSpPr/>
          <p:nvPr/>
        </p:nvSpPr>
        <p:spPr>
          <a:xfrm>
            <a:off x="9015984" y="3429000"/>
            <a:ext cx="1170432" cy="1426464"/>
          </a:xfrm>
          <a:prstGeom prst="line">
            <a:avLst/>
          </a:prstGeom>
          <a:noFill/>
          <a:ln w="11430">
            <a:solidFill>
              <a:srgbClr val="33445C"/>
            </a:solidFill>
            <a:prstDash val="solid"/>
          </a:ln>
        </p:spPr>
      </p:sp>
      <p:sp>
        <p:nvSpPr>
          <p:cNvPr id="35" name="Shape 33"/>
          <p:cNvSpPr/>
          <p:nvPr/>
        </p:nvSpPr>
        <p:spPr>
          <a:xfrm flipV="1">
            <a:off x="9015984" y="2002536"/>
            <a:ext cx="1170432" cy="2139696"/>
          </a:xfrm>
          <a:prstGeom prst="line">
            <a:avLst/>
          </a:prstGeom>
          <a:noFill/>
          <a:ln w="11430">
            <a:solidFill>
              <a:srgbClr val="33445C"/>
            </a:solidFill>
            <a:prstDash val="solid"/>
          </a:ln>
        </p:spPr>
      </p:sp>
      <p:sp>
        <p:nvSpPr>
          <p:cNvPr id="36" name="Shape 34"/>
          <p:cNvSpPr/>
          <p:nvPr/>
        </p:nvSpPr>
        <p:spPr>
          <a:xfrm flipV="1">
            <a:off x="9015984" y="2715768"/>
            <a:ext cx="1170432" cy="1426464"/>
          </a:xfrm>
          <a:prstGeom prst="line">
            <a:avLst/>
          </a:prstGeom>
          <a:noFill/>
          <a:ln w="11430">
            <a:solidFill>
              <a:srgbClr val="33445C"/>
            </a:solidFill>
            <a:prstDash val="solid"/>
          </a:ln>
        </p:spPr>
      </p:sp>
      <p:sp>
        <p:nvSpPr>
          <p:cNvPr id="37" name="Shape 35"/>
          <p:cNvSpPr/>
          <p:nvPr/>
        </p:nvSpPr>
        <p:spPr>
          <a:xfrm flipV="1">
            <a:off x="9015984" y="3429000"/>
            <a:ext cx="1170432" cy="713232"/>
          </a:xfrm>
          <a:prstGeom prst="line">
            <a:avLst/>
          </a:prstGeom>
          <a:noFill/>
          <a:ln w="11430">
            <a:solidFill>
              <a:srgbClr val="33445C"/>
            </a:solidFill>
            <a:prstDash val="solid"/>
          </a:ln>
        </p:spPr>
      </p:sp>
      <p:sp>
        <p:nvSpPr>
          <p:cNvPr id="38" name="Shape 36"/>
          <p:cNvSpPr/>
          <p:nvPr/>
        </p:nvSpPr>
        <p:spPr>
          <a:xfrm>
            <a:off x="9015984" y="4142232"/>
            <a:ext cx="1170432" cy="91"/>
          </a:xfrm>
          <a:prstGeom prst="line">
            <a:avLst/>
          </a:prstGeom>
          <a:noFill/>
          <a:ln w="11430">
            <a:solidFill>
              <a:srgbClr val="33445C"/>
            </a:solidFill>
            <a:prstDash val="solid"/>
          </a:ln>
        </p:spPr>
      </p:sp>
      <p:sp>
        <p:nvSpPr>
          <p:cNvPr id="39" name="Shape 37"/>
          <p:cNvSpPr/>
          <p:nvPr/>
        </p:nvSpPr>
        <p:spPr>
          <a:xfrm>
            <a:off x="9015984" y="4142232"/>
            <a:ext cx="1170432" cy="713232"/>
          </a:xfrm>
          <a:prstGeom prst="line">
            <a:avLst/>
          </a:prstGeom>
          <a:noFill/>
          <a:ln w="11430">
            <a:solidFill>
              <a:srgbClr val="33445C"/>
            </a:solidFill>
            <a:prstDash val="solid"/>
          </a:ln>
        </p:spPr>
      </p:sp>
      <p:sp>
        <p:nvSpPr>
          <p:cNvPr id="40" name="Shape 38"/>
          <p:cNvSpPr/>
          <p:nvPr/>
        </p:nvSpPr>
        <p:spPr>
          <a:xfrm flipV="1">
            <a:off x="9015984" y="2002536"/>
            <a:ext cx="1170432" cy="2852928"/>
          </a:xfrm>
          <a:prstGeom prst="line">
            <a:avLst/>
          </a:prstGeom>
          <a:noFill/>
          <a:ln w="11430">
            <a:solidFill>
              <a:srgbClr val="33445C"/>
            </a:solidFill>
            <a:prstDash val="solid"/>
          </a:ln>
        </p:spPr>
      </p:sp>
      <p:sp>
        <p:nvSpPr>
          <p:cNvPr id="41" name="Shape 39"/>
          <p:cNvSpPr/>
          <p:nvPr/>
        </p:nvSpPr>
        <p:spPr>
          <a:xfrm flipV="1">
            <a:off x="9015984" y="2715768"/>
            <a:ext cx="1170432" cy="2139696"/>
          </a:xfrm>
          <a:prstGeom prst="line">
            <a:avLst/>
          </a:prstGeom>
          <a:noFill/>
          <a:ln w="11430">
            <a:solidFill>
              <a:srgbClr val="33445C"/>
            </a:solidFill>
            <a:prstDash val="solid"/>
          </a:ln>
        </p:spPr>
      </p:sp>
      <p:sp>
        <p:nvSpPr>
          <p:cNvPr id="42" name="Shape 40"/>
          <p:cNvSpPr/>
          <p:nvPr/>
        </p:nvSpPr>
        <p:spPr>
          <a:xfrm flipV="1">
            <a:off x="9015984" y="3429000"/>
            <a:ext cx="1170432" cy="1426464"/>
          </a:xfrm>
          <a:prstGeom prst="line">
            <a:avLst/>
          </a:prstGeom>
          <a:noFill/>
          <a:ln w="11430">
            <a:solidFill>
              <a:srgbClr val="33445C"/>
            </a:solidFill>
            <a:prstDash val="solid"/>
          </a:ln>
        </p:spPr>
      </p:sp>
      <p:sp>
        <p:nvSpPr>
          <p:cNvPr id="43" name="Shape 41"/>
          <p:cNvSpPr/>
          <p:nvPr/>
        </p:nvSpPr>
        <p:spPr>
          <a:xfrm flipV="1">
            <a:off x="9015984" y="4142232"/>
            <a:ext cx="1170432" cy="713232"/>
          </a:xfrm>
          <a:prstGeom prst="line">
            <a:avLst/>
          </a:prstGeom>
          <a:noFill/>
          <a:ln w="11430">
            <a:solidFill>
              <a:srgbClr val="33445C"/>
            </a:solidFill>
            <a:prstDash val="solid"/>
          </a:ln>
        </p:spPr>
      </p:sp>
      <p:sp>
        <p:nvSpPr>
          <p:cNvPr id="44" name="Shape 42"/>
          <p:cNvSpPr/>
          <p:nvPr/>
        </p:nvSpPr>
        <p:spPr>
          <a:xfrm>
            <a:off x="9015984" y="4855464"/>
            <a:ext cx="1170432" cy="91"/>
          </a:xfrm>
          <a:prstGeom prst="line">
            <a:avLst/>
          </a:prstGeom>
          <a:noFill/>
          <a:ln w="11430">
            <a:solidFill>
              <a:srgbClr val="33445C"/>
            </a:solidFill>
            <a:prstDash val="solid"/>
          </a:ln>
        </p:spPr>
      </p:sp>
      <p:sp>
        <p:nvSpPr>
          <p:cNvPr id="45" name="Shape 43"/>
          <p:cNvSpPr/>
          <p:nvPr/>
        </p:nvSpPr>
        <p:spPr>
          <a:xfrm>
            <a:off x="10186416" y="2002536"/>
            <a:ext cx="1170432" cy="1069848"/>
          </a:xfrm>
          <a:prstGeom prst="line">
            <a:avLst/>
          </a:prstGeom>
          <a:noFill/>
          <a:ln w="11430">
            <a:solidFill>
              <a:srgbClr val="33445C"/>
            </a:solidFill>
            <a:prstDash val="solid"/>
          </a:ln>
        </p:spPr>
      </p:sp>
      <p:sp>
        <p:nvSpPr>
          <p:cNvPr id="46" name="Shape 44"/>
          <p:cNvSpPr/>
          <p:nvPr/>
        </p:nvSpPr>
        <p:spPr>
          <a:xfrm>
            <a:off x="10186416" y="2002536"/>
            <a:ext cx="1170432" cy="1783080"/>
          </a:xfrm>
          <a:prstGeom prst="line">
            <a:avLst/>
          </a:prstGeom>
          <a:noFill/>
          <a:ln w="11430">
            <a:solidFill>
              <a:srgbClr val="33445C"/>
            </a:solidFill>
            <a:prstDash val="solid"/>
          </a:ln>
        </p:spPr>
      </p:sp>
      <p:sp>
        <p:nvSpPr>
          <p:cNvPr id="47" name="Shape 45"/>
          <p:cNvSpPr/>
          <p:nvPr/>
        </p:nvSpPr>
        <p:spPr>
          <a:xfrm>
            <a:off x="10186416" y="2715768"/>
            <a:ext cx="1170432" cy="356616"/>
          </a:xfrm>
          <a:prstGeom prst="line">
            <a:avLst/>
          </a:prstGeom>
          <a:noFill/>
          <a:ln w="28575">
            <a:solidFill>
              <a:srgbClr val="C8571B"/>
            </a:solidFill>
            <a:prstDash val="solid"/>
          </a:ln>
        </p:spPr>
      </p:sp>
      <p:sp>
        <p:nvSpPr>
          <p:cNvPr id="48" name="Shape 46"/>
          <p:cNvSpPr/>
          <p:nvPr/>
        </p:nvSpPr>
        <p:spPr>
          <a:xfrm>
            <a:off x="10186416" y="2715768"/>
            <a:ext cx="1170432" cy="1069848"/>
          </a:xfrm>
          <a:prstGeom prst="line">
            <a:avLst/>
          </a:prstGeom>
          <a:noFill/>
          <a:ln w="11430">
            <a:solidFill>
              <a:srgbClr val="33445C"/>
            </a:solidFill>
            <a:prstDash val="solid"/>
          </a:ln>
        </p:spPr>
      </p:sp>
      <p:sp>
        <p:nvSpPr>
          <p:cNvPr id="49" name="Shape 47"/>
          <p:cNvSpPr/>
          <p:nvPr/>
        </p:nvSpPr>
        <p:spPr>
          <a:xfrm flipV="1">
            <a:off x="10186416" y="3072384"/>
            <a:ext cx="1170432" cy="356616"/>
          </a:xfrm>
          <a:prstGeom prst="line">
            <a:avLst/>
          </a:prstGeom>
          <a:noFill/>
          <a:ln w="11430">
            <a:solidFill>
              <a:srgbClr val="33445C"/>
            </a:solidFill>
            <a:prstDash val="solid"/>
          </a:ln>
        </p:spPr>
      </p:sp>
      <p:sp>
        <p:nvSpPr>
          <p:cNvPr id="50" name="Shape 48"/>
          <p:cNvSpPr/>
          <p:nvPr/>
        </p:nvSpPr>
        <p:spPr>
          <a:xfrm>
            <a:off x="10186416" y="3429000"/>
            <a:ext cx="1170432" cy="356616"/>
          </a:xfrm>
          <a:prstGeom prst="line">
            <a:avLst/>
          </a:prstGeom>
          <a:noFill/>
          <a:ln w="11430">
            <a:solidFill>
              <a:srgbClr val="33445C"/>
            </a:solidFill>
            <a:prstDash val="solid"/>
          </a:ln>
        </p:spPr>
      </p:sp>
      <p:sp>
        <p:nvSpPr>
          <p:cNvPr id="51" name="Shape 49"/>
          <p:cNvSpPr/>
          <p:nvPr/>
        </p:nvSpPr>
        <p:spPr>
          <a:xfrm flipV="1">
            <a:off x="10186416" y="3072384"/>
            <a:ext cx="1170432" cy="1069848"/>
          </a:xfrm>
          <a:prstGeom prst="line">
            <a:avLst/>
          </a:prstGeom>
          <a:noFill/>
          <a:ln w="11430">
            <a:solidFill>
              <a:srgbClr val="33445C"/>
            </a:solidFill>
            <a:prstDash val="solid"/>
          </a:ln>
        </p:spPr>
      </p:sp>
      <p:sp>
        <p:nvSpPr>
          <p:cNvPr id="52" name="Shape 50"/>
          <p:cNvSpPr/>
          <p:nvPr/>
        </p:nvSpPr>
        <p:spPr>
          <a:xfrm flipV="1">
            <a:off x="10186416" y="3785616"/>
            <a:ext cx="1170432" cy="356616"/>
          </a:xfrm>
          <a:prstGeom prst="line">
            <a:avLst/>
          </a:prstGeom>
          <a:noFill/>
          <a:ln w="11430">
            <a:solidFill>
              <a:srgbClr val="33445C"/>
            </a:solidFill>
            <a:prstDash val="solid"/>
          </a:ln>
        </p:spPr>
      </p:sp>
      <p:sp>
        <p:nvSpPr>
          <p:cNvPr id="53" name="Shape 51"/>
          <p:cNvSpPr/>
          <p:nvPr/>
        </p:nvSpPr>
        <p:spPr>
          <a:xfrm flipV="1">
            <a:off x="10186416" y="3072384"/>
            <a:ext cx="1170432" cy="1783080"/>
          </a:xfrm>
          <a:prstGeom prst="line">
            <a:avLst/>
          </a:prstGeom>
          <a:noFill/>
          <a:ln w="11430">
            <a:solidFill>
              <a:srgbClr val="33445C"/>
            </a:solidFill>
            <a:prstDash val="solid"/>
          </a:ln>
        </p:spPr>
      </p:sp>
      <p:sp>
        <p:nvSpPr>
          <p:cNvPr id="54" name="Shape 52"/>
          <p:cNvSpPr/>
          <p:nvPr/>
        </p:nvSpPr>
        <p:spPr>
          <a:xfrm flipV="1">
            <a:off x="10186416" y="3785616"/>
            <a:ext cx="1170432" cy="1069848"/>
          </a:xfrm>
          <a:prstGeom prst="line">
            <a:avLst/>
          </a:prstGeom>
          <a:noFill/>
          <a:ln w="11430">
            <a:solidFill>
              <a:srgbClr val="33445C"/>
            </a:solidFill>
            <a:prstDash val="solid"/>
          </a:ln>
        </p:spPr>
      </p:sp>
      <p:sp>
        <p:nvSpPr>
          <p:cNvPr id="55" name="Shape 53"/>
          <p:cNvSpPr/>
          <p:nvPr/>
        </p:nvSpPr>
        <p:spPr>
          <a:xfrm>
            <a:off x="7680960" y="2551176"/>
            <a:ext cx="329184" cy="329184"/>
          </a:xfrm>
          <a:prstGeom prst="ellipse">
            <a:avLst/>
          </a:prstGeom>
          <a:solidFill>
            <a:srgbClr val="8A94A3"/>
          </a:solidFill>
          <a:ln/>
        </p:spPr>
      </p:sp>
      <p:sp>
        <p:nvSpPr>
          <p:cNvPr id="56" name="Shape 54"/>
          <p:cNvSpPr/>
          <p:nvPr/>
        </p:nvSpPr>
        <p:spPr>
          <a:xfrm>
            <a:off x="7680960" y="3264408"/>
            <a:ext cx="329184" cy="329184"/>
          </a:xfrm>
          <a:prstGeom prst="ellipse">
            <a:avLst/>
          </a:prstGeom>
          <a:solidFill>
            <a:srgbClr val="8A94A3"/>
          </a:solidFill>
          <a:ln/>
        </p:spPr>
      </p:sp>
      <p:sp>
        <p:nvSpPr>
          <p:cNvPr id="57" name="Shape 55"/>
          <p:cNvSpPr/>
          <p:nvPr/>
        </p:nvSpPr>
        <p:spPr>
          <a:xfrm>
            <a:off x="7680960" y="3977640"/>
            <a:ext cx="329184" cy="329184"/>
          </a:xfrm>
          <a:prstGeom prst="ellipse">
            <a:avLst/>
          </a:prstGeom>
          <a:solidFill>
            <a:srgbClr val="8A94A3"/>
          </a:solidFill>
          <a:ln/>
        </p:spPr>
      </p:sp>
      <p:sp>
        <p:nvSpPr>
          <p:cNvPr id="58" name="Shape 56"/>
          <p:cNvSpPr/>
          <p:nvPr/>
        </p:nvSpPr>
        <p:spPr>
          <a:xfrm>
            <a:off x="8851392" y="1837944"/>
            <a:ext cx="329184" cy="329184"/>
          </a:xfrm>
          <a:prstGeom prst="ellipse">
            <a:avLst/>
          </a:prstGeom>
          <a:solidFill>
            <a:srgbClr val="0F7C82"/>
          </a:solidFill>
          <a:ln/>
        </p:spPr>
      </p:sp>
      <p:sp>
        <p:nvSpPr>
          <p:cNvPr id="59" name="Shape 57"/>
          <p:cNvSpPr/>
          <p:nvPr/>
        </p:nvSpPr>
        <p:spPr>
          <a:xfrm>
            <a:off x="8851392" y="2551176"/>
            <a:ext cx="329184" cy="329184"/>
          </a:xfrm>
          <a:prstGeom prst="ellipse">
            <a:avLst/>
          </a:prstGeom>
          <a:solidFill>
            <a:srgbClr val="0F7C82"/>
          </a:solidFill>
          <a:ln/>
        </p:spPr>
      </p:sp>
      <p:sp>
        <p:nvSpPr>
          <p:cNvPr id="60" name="Shape 58"/>
          <p:cNvSpPr/>
          <p:nvPr/>
        </p:nvSpPr>
        <p:spPr>
          <a:xfrm>
            <a:off x="8851392" y="3264408"/>
            <a:ext cx="329184" cy="329184"/>
          </a:xfrm>
          <a:prstGeom prst="ellipse">
            <a:avLst/>
          </a:prstGeom>
          <a:solidFill>
            <a:srgbClr val="0F7C82"/>
          </a:solidFill>
          <a:ln/>
        </p:spPr>
      </p:sp>
      <p:sp>
        <p:nvSpPr>
          <p:cNvPr id="61" name="Shape 59"/>
          <p:cNvSpPr/>
          <p:nvPr/>
        </p:nvSpPr>
        <p:spPr>
          <a:xfrm>
            <a:off x="8851392" y="3977640"/>
            <a:ext cx="329184" cy="329184"/>
          </a:xfrm>
          <a:prstGeom prst="ellipse">
            <a:avLst/>
          </a:prstGeom>
          <a:solidFill>
            <a:srgbClr val="0F7C82"/>
          </a:solidFill>
          <a:ln/>
        </p:spPr>
      </p:sp>
      <p:sp>
        <p:nvSpPr>
          <p:cNvPr id="62" name="Shape 60"/>
          <p:cNvSpPr/>
          <p:nvPr/>
        </p:nvSpPr>
        <p:spPr>
          <a:xfrm>
            <a:off x="8851392" y="4690872"/>
            <a:ext cx="329184" cy="329184"/>
          </a:xfrm>
          <a:prstGeom prst="ellipse">
            <a:avLst/>
          </a:prstGeom>
          <a:solidFill>
            <a:srgbClr val="0F7C82"/>
          </a:solidFill>
          <a:ln/>
        </p:spPr>
      </p:sp>
      <p:sp>
        <p:nvSpPr>
          <p:cNvPr id="63" name="Shape 61"/>
          <p:cNvSpPr/>
          <p:nvPr/>
        </p:nvSpPr>
        <p:spPr>
          <a:xfrm>
            <a:off x="10021824" y="1837944"/>
            <a:ext cx="329184" cy="329184"/>
          </a:xfrm>
          <a:prstGeom prst="ellipse">
            <a:avLst/>
          </a:prstGeom>
          <a:solidFill>
            <a:srgbClr val="0F7C82"/>
          </a:solidFill>
          <a:ln/>
        </p:spPr>
      </p:sp>
      <p:sp>
        <p:nvSpPr>
          <p:cNvPr id="64" name="Shape 62"/>
          <p:cNvSpPr/>
          <p:nvPr/>
        </p:nvSpPr>
        <p:spPr>
          <a:xfrm>
            <a:off x="10021824" y="2551176"/>
            <a:ext cx="329184" cy="329184"/>
          </a:xfrm>
          <a:prstGeom prst="ellipse">
            <a:avLst/>
          </a:prstGeom>
          <a:solidFill>
            <a:srgbClr val="0F7C82"/>
          </a:solidFill>
          <a:ln/>
        </p:spPr>
      </p:sp>
      <p:sp>
        <p:nvSpPr>
          <p:cNvPr id="65" name="Shape 63"/>
          <p:cNvSpPr/>
          <p:nvPr/>
        </p:nvSpPr>
        <p:spPr>
          <a:xfrm>
            <a:off x="10021824" y="3264408"/>
            <a:ext cx="329184" cy="329184"/>
          </a:xfrm>
          <a:prstGeom prst="ellipse">
            <a:avLst/>
          </a:prstGeom>
          <a:solidFill>
            <a:srgbClr val="0F7C82"/>
          </a:solidFill>
          <a:ln/>
        </p:spPr>
      </p:sp>
      <p:sp>
        <p:nvSpPr>
          <p:cNvPr id="66" name="Shape 64"/>
          <p:cNvSpPr/>
          <p:nvPr/>
        </p:nvSpPr>
        <p:spPr>
          <a:xfrm>
            <a:off x="10021824" y="3977640"/>
            <a:ext cx="329184" cy="329184"/>
          </a:xfrm>
          <a:prstGeom prst="ellipse">
            <a:avLst/>
          </a:prstGeom>
          <a:solidFill>
            <a:srgbClr val="0F7C82"/>
          </a:solidFill>
          <a:ln/>
        </p:spPr>
      </p:sp>
      <p:sp>
        <p:nvSpPr>
          <p:cNvPr id="67" name="Shape 65"/>
          <p:cNvSpPr/>
          <p:nvPr/>
        </p:nvSpPr>
        <p:spPr>
          <a:xfrm>
            <a:off x="10021824" y="4690872"/>
            <a:ext cx="329184" cy="329184"/>
          </a:xfrm>
          <a:prstGeom prst="ellipse">
            <a:avLst/>
          </a:prstGeom>
          <a:solidFill>
            <a:srgbClr val="0F7C82"/>
          </a:solidFill>
          <a:ln/>
        </p:spPr>
      </p:sp>
      <p:sp>
        <p:nvSpPr>
          <p:cNvPr id="68" name="Shape 66"/>
          <p:cNvSpPr/>
          <p:nvPr/>
        </p:nvSpPr>
        <p:spPr>
          <a:xfrm>
            <a:off x="11192256" y="2907792"/>
            <a:ext cx="329184" cy="329184"/>
          </a:xfrm>
          <a:prstGeom prst="ellipse">
            <a:avLst/>
          </a:prstGeom>
          <a:solidFill>
            <a:srgbClr val="C8571B"/>
          </a:solidFill>
          <a:ln/>
        </p:spPr>
      </p:sp>
      <p:sp>
        <p:nvSpPr>
          <p:cNvPr id="69" name="Shape 67"/>
          <p:cNvSpPr/>
          <p:nvPr/>
        </p:nvSpPr>
        <p:spPr>
          <a:xfrm>
            <a:off x="11192256" y="3621024"/>
            <a:ext cx="329184" cy="329184"/>
          </a:xfrm>
          <a:prstGeom prst="ellipse">
            <a:avLst/>
          </a:prstGeom>
          <a:solidFill>
            <a:srgbClr val="C8571B"/>
          </a:solidFill>
          <a:ln/>
        </p:spPr>
      </p:sp>
      <p:sp>
        <p:nvSpPr>
          <p:cNvPr id="70" name="Text 68"/>
          <p:cNvSpPr txBox="1"/>
          <p:nvPr/>
        </p:nvSpPr>
        <p:spPr>
          <a:xfrm>
            <a:off x="7680960" y="5806440"/>
            <a:ext cx="2011680" cy="274320"/>
          </a:xfrm>
          <a:prstGeom prst="rect">
            <a:avLst/>
          </a:prstGeom>
          <a:noFill/>
          <a:ln/>
        </p:spPr>
        <p:txBody>
          <a:bodyPr wrap="square" lIns="0" tIns="0" rIns="0" bIns="0" rtlCol="0" anchor="t"/>
          <a:lstStyle/>
          <a:p>
            <a:pPr indent="0" marL="0">
              <a:buNone/>
            </a:pPr>
            <a:r>
              <a:rPr lang="en-US" sz="1400" dirty="0">
                <a:solidFill>
                  <a:srgbClr val="7FD1CF"/>
                </a:solidFill>
                <a:latin typeface="Calibri" pitchFamily="34" charset="0"/>
                <a:ea typeface="Calibri" pitchFamily="34" charset="-122"/>
                <a:cs typeface="Calibri" pitchFamily="34" charset="-120"/>
              </a:rPr>
              <a:t>teal: forward signal</a:t>
            </a:r>
            <a:endParaRPr lang="en-US" sz="1400" dirty="0"/>
          </a:p>
        </p:txBody>
      </p:sp>
      <p:sp>
        <p:nvSpPr>
          <p:cNvPr id="71" name="Text 69"/>
          <p:cNvSpPr txBox="1"/>
          <p:nvPr/>
        </p:nvSpPr>
        <p:spPr>
          <a:xfrm>
            <a:off x="9692640" y="5806440"/>
            <a:ext cx="1828800" cy="274320"/>
          </a:xfrm>
          <a:prstGeom prst="rect">
            <a:avLst/>
          </a:prstGeom>
          <a:noFill/>
          <a:ln/>
        </p:spPr>
        <p:txBody>
          <a:bodyPr wrap="square" lIns="0" tIns="0" rIns="0" bIns="0" rtlCol="0" anchor="t"/>
          <a:lstStyle/>
          <a:p>
            <a:pPr algn="r" indent="0" marL="0">
              <a:buNone/>
            </a:pPr>
            <a:r>
              <a:rPr lang="en-US" sz="1400" dirty="0">
                <a:solidFill>
                  <a:srgbClr val="F0A47A"/>
                </a:solidFill>
                <a:latin typeface="Calibri" pitchFamily="34" charset="0"/>
                <a:ea typeface="Calibri" pitchFamily="34" charset="-122"/>
                <a:cs typeface="Calibri" pitchFamily="34" charset="-120"/>
              </a:rPr>
              <a:t>orange: gradients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OPENING</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By the end of today you can…</a:t>
            </a:r>
            <a:endParaRPr lang="en-US" sz="3200" dirty="0"/>
          </a:p>
        </p:txBody>
      </p:sp>
      <p:sp>
        <p:nvSpPr>
          <p:cNvPr id="5" name="Shape 2"/>
          <p:cNvSpPr/>
          <p:nvPr/>
        </p:nvSpPr>
        <p:spPr>
          <a:xfrm>
            <a:off x="548640" y="1417320"/>
            <a:ext cx="3529584" cy="3657600"/>
          </a:xfrm>
          <a:prstGeom prst="roundRect">
            <a:avLst>
              <a:gd name="adj" fmla="val 2073"/>
            </a:avLst>
          </a:prstGeom>
          <a:solidFill>
            <a:srgbClr val="F3F5F8"/>
          </a:solidFill>
          <a:ln/>
        </p:spPr>
      </p:sp>
      <p:sp>
        <p:nvSpPr>
          <p:cNvPr id="6" name="Text 3"/>
          <p:cNvSpPr txBox="1"/>
          <p:nvPr/>
        </p:nvSpPr>
        <p:spPr>
          <a:xfrm>
            <a:off x="777240" y="1618488"/>
            <a:ext cx="3072384" cy="411480"/>
          </a:xfrm>
          <a:prstGeom prst="rect">
            <a:avLst/>
          </a:prstGeom>
          <a:noFill/>
          <a:ln/>
        </p:spPr>
        <p:txBody>
          <a:bodyPr wrap="square" lIns="0" tIns="0" rIns="0" bIns="0" rtlCol="0" anchor="t"/>
          <a:lstStyle/>
          <a:p>
            <a:pPr indent="0" marL="0">
              <a:buNone/>
            </a:pPr>
            <a:r>
              <a:rPr lang="en-US" sz="2000" b="1" dirty="0">
                <a:solidFill>
                  <a:srgbClr val="0F7C82"/>
                </a:solidFill>
                <a:latin typeface="Calibri" pitchFamily="34" charset="0"/>
                <a:ea typeface="Calibri" pitchFamily="34" charset="-122"/>
                <a:cs typeface="Calibri" pitchFamily="34" charset="-120"/>
              </a:rPr>
              <a:t>Part 1 · Foundations</a:t>
            </a:r>
            <a:endParaRPr lang="en-US" sz="2000" dirty="0"/>
          </a:p>
        </p:txBody>
      </p:sp>
      <p:sp>
        <p:nvSpPr>
          <p:cNvPr id="7" name="Shape 4"/>
          <p:cNvSpPr/>
          <p:nvPr/>
        </p:nvSpPr>
        <p:spPr>
          <a:xfrm>
            <a:off x="777240" y="2331720"/>
            <a:ext cx="420624" cy="420624"/>
          </a:xfrm>
          <a:prstGeom prst="ellipse">
            <a:avLst/>
          </a:prstGeom>
          <a:solidFill>
            <a:srgbClr val="0F7C82"/>
          </a:solidFill>
          <a:ln/>
        </p:spPr>
      </p:sp>
      <p:sp>
        <p:nvSpPr>
          <p:cNvPr id="8" name="Text 5"/>
          <p:cNvSpPr txBox="1"/>
          <p:nvPr/>
        </p:nvSpPr>
        <p:spPr>
          <a:xfrm>
            <a:off x="777240" y="23317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6"/>
          <p:cNvSpPr txBox="1"/>
          <p:nvPr/>
        </p:nvSpPr>
        <p:spPr>
          <a:xfrm>
            <a:off x="1353312" y="22860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Explain why linear models fail on XOR and how a hidden layer fixes it</a:t>
            </a:r>
            <a:endParaRPr lang="en-US" sz="1800" dirty="0"/>
          </a:p>
        </p:txBody>
      </p:sp>
      <p:sp>
        <p:nvSpPr>
          <p:cNvPr id="10" name="Shape 7"/>
          <p:cNvSpPr/>
          <p:nvPr/>
        </p:nvSpPr>
        <p:spPr>
          <a:xfrm>
            <a:off x="777240" y="3703320"/>
            <a:ext cx="420624" cy="420624"/>
          </a:xfrm>
          <a:prstGeom prst="ellipse">
            <a:avLst/>
          </a:prstGeom>
          <a:solidFill>
            <a:srgbClr val="0F7C82"/>
          </a:solidFill>
          <a:ln/>
        </p:spPr>
      </p:sp>
      <p:sp>
        <p:nvSpPr>
          <p:cNvPr id="11" name="Text 8"/>
          <p:cNvSpPr txBox="1"/>
          <p:nvPr/>
        </p:nvSpPr>
        <p:spPr>
          <a:xfrm>
            <a:off x="777240" y="37033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9"/>
          <p:cNvSpPr txBox="1"/>
          <p:nvPr/>
        </p:nvSpPr>
        <p:spPr>
          <a:xfrm>
            <a:off x="1353312" y="36576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Compute an MLP's forward pass, shapes and parameter count</a:t>
            </a:r>
            <a:endParaRPr lang="en-US" sz="1800" dirty="0"/>
          </a:p>
        </p:txBody>
      </p:sp>
      <p:sp>
        <p:nvSpPr>
          <p:cNvPr id="13" name="Shape 10"/>
          <p:cNvSpPr/>
          <p:nvPr/>
        </p:nvSpPr>
        <p:spPr>
          <a:xfrm>
            <a:off x="4315968" y="1417320"/>
            <a:ext cx="3529584" cy="3657600"/>
          </a:xfrm>
          <a:prstGeom prst="roundRect">
            <a:avLst>
              <a:gd name="adj" fmla="val 2073"/>
            </a:avLst>
          </a:prstGeom>
          <a:solidFill>
            <a:srgbClr val="F3F5F8"/>
          </a:solidFill>
          <a:ln/>
        </p:spPr>
      </p:sp>
      <p:sp>
        <p:nvSpPr>
          <p:cNvPr id="14" name="Text 11"/>
          <p:cNvSpPr txBox="1"/>
          <p:nvPr/>
        </p:nvSpPr>
        <p:spPr>
          <a:xfrm>
            <a:off x="4544568" y="1618488"/>
            <a:ext cx="3072384" cy="411480"/>
          </a:xfrm>
          <a:prstGeom prst="rect">
            <a:avLst/>
          </a:prstGeom>
          <a:noFill/>
          <a:ln/>
        </p:spPr>
        <p:txBody>
          <a:bodyPr wrap="square" lIns="0" tIns="0" rIns="0" bIns="0" rtlCol="0" anchor="t"/>
          <a:lstStyle/>
          <a:p>
            <a:pPr indent="0" marL="0">
              <a:buNone/>
            </a:pPr>
            <a:r>
              <a:rPr lang="en-US" sz="2000" b="1" dirty="0">
                <a:solidFill>
                  <a:srgbClr val="C8571B"/>
                </a:solidFill>
                <a:latin typeface="Calibri" pitchFamily="34" charset="0"/>
                <a:ea typeface="Calibri" pitchFamily="34" charset="-122"/>
                <a:cs typeface="Calibri" pitchFamily="34" charset="-120"/>
              </a:rPr>
              <a:t>Part 2 · Learning</a:t>
            </a:r>
            <a:endParaRPr lang="en-US" sz="2000" dirty="0"/>
          </a:p>
        </p:txBody>
      </p:sp>
      <p:sp>
        <p:nvSpPr>
          <p:cNvPr id="15" name="Shape 12"/>
          <p:cNvSpPr/>
          <p:nvPr/>
        </p:nvSpPr>
        <p:spPr>
          <a:xfrm>
            <a:off x="4544568" y="2331720"/>
            <a:ext cx="420624" cy="420624"/>
          </a:xfrm>
          <a:prstGeom prst="ellipse">
            <a:avLst/>
          </a:prstGeom>
          <a:solidFill>
            <a:srgbClr val="C8571B"/>
          </a:solidFill>
          <a:ln/>
        </p:spPr>
      </p:sp>
      <p:sp>
        <p:nvSpPr>
          <p:cNvPr id="16" name="Text 13"/>
          <p:cNvSpPr txBox="1"/>
          <p:nvPr/>
        </p:nvSpPr>
        <p:spPr>
          <a:xfrm>
            <a:off x="4544568" y="23317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4"/>
          <p:cNvSpPr txBox="1"/>
          <p:nvPr/>
        </p:nvSpPr>
        <p:spPr>
          <a:xfrm>
            <a:off x="5120640" y="22860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Derive a loss from a noise model and pick the PyTorch loss</a:t>
            </a:r>
            <a:endParaRPr lang="en-US" sz="1800" dirty="0"/>
          </a:p>
        </p:txBody>
      </p:sp>
      <p:sp>
        <p:nvSpPr>
          <p:cNvPr id="18" name="Shape 15"/>
          <p:cNvSpPr/>
          <p:nvPr/>
        </p:nvSpPr>
        <p:spPr>
          <a:xfrm>
            <a:off x="4544568" y="3703320"/>
            <a:ext cx="420624" cy="420624"/>
          </a:xfrm>
          <a:prstGeom prst="ellipse">
            <a:avLst/>
          </a:prstGeom>
          <a:solidFill>
            <a:srgbClr val="C8571B"/>
          </a:solidFill>
          <a:ln/>
        </p:spPr>
      </p:sp>
      <p:sp>
        <p:nvSpPr>
          <p:cNvPr id="19" name="Text 16"/>
          <p:cNvSpPr txBox="1"/>
          <p:nvPr/>
        </p:nvSpPr>
        <p:spPr>
          <a:xfrm>
            <a:off x="4544568" y="37033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7"/>
          <p:cNvSpPr txBox="1"/>
          <p:nvPr/>
        </p:nvSpPr>
        <p:spPr>
          <a:xfrm>
            <a:off x="5120640" y="36576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Run backpropagation by hand and read the four BP equations</a:t>
            </a:r>
            <a:endParaRPr lang="en-US" sz="1800" dirty="0"/>
          </a:p>
        </p:txBody>
      </p:sp>
      <p:sp>
        <p:nvSpPr>
          <p:cNvPr id="21" name="Shape 18"/>
          <p:cNvSpPr/>
          <p:nvPr/>
        </p:nvSpPr>
        <p:spPr>
          <a:xfrm>
            <a:off x="8083296" y="1417320"/>
            <a:ext cx="3529584" cy="3657600"/>
          </a:xfrm>
          <a:prstGeom prst="roundRect">
            <a:avLst>
              <a:gd name="adj" fmla="val 2073"/>
            </a:avLst>
          </a:prstGeom>
          <a:solidFill>
            <a:srgbClr val="F3F5F8"/>
          </a:solidFill>
          <a:ln/>
        </p:spPr>
      </p:sp>
      <p:sp>
        <p:nvSpPr>
          <p:cNvPr id="22" name="Text 19"/>
          <p:cNvSpPr txBox="1"/>
          <p:nvPr/>
        </p:nvSpPr>
        <p:spPr>
          <a:xfrm>
            <a:off x="8311896" y="1618488"/>
            <a:ext cx="3072384" cy="411480"/>
          </a:xfrm>
          <a:prstGeom prst="rect">
            <a:avLst/>
          </a:prstGeom>
          <a:noFill/>
          <a:ln/>
        </p:spPr>
        <p:txBody>
          <a:bodyPr wrap="square" lIns="0" tIns="0" rIns="0" bIns="0" rtlCol="0" anchor="t"/>
          <a:lstStyle/>
          <a:p>
            <a:pPr indent="0" marL="0">
              <a:buNone/>
            </a:pPr>
            <a:r>
              <a:rPr lang="en-US" sz="2000" b="1" dirty="0">
                <a:solidFill>
                  <a:srgbClr val="4C5BD4"/>
                </a:solidFill>
                <a:latin typeface="Calibri" pitchFamily="34" charset="0"/>
                <a:ea typeface="Calibri" pitchFamily="34" charset="-122"/>
                <a:cs typeface="Calibri" pitchFamily="34" charset="-120"/>
              </a:rPr>
              <a:t>Part 3 · Train &amp; generalize</a:t>
            </a:r>
            <a:endParaRPr lang="en-US" sz="2000" dirty="0"/>
          </a:p>
        </p:txBody>
      </p:sp>
      <p:sp>
        <p:nvSpPr>
          <p:cNvPr id="23" name="Shape 20"/>
          <p:cNvSpPr/>
          <p:nvPr/>
        </p:nvSpPr>
        <p:spPr>
          <a:xfrm>
            <a:off x="8311896" y="2331720"/>
            <a:ext cx="420624" cy="420624"/>
          </a:xfrm>
          <a:prstGeom prst="ellipse">
            <a:avLst/>
          </a:prstGeom>
          <a:solidFill>
            <a:srgbClr val="4C5BD4"/>
          </a:solidFill>
          <a:ln/>
        </p:spPr>
      </p:sp>
      <p:sp>
        <p:nvSpPr>
          <p:cNvPr id="24" name="Text 21"/>
          <p:cNvSpPr txBox="1"/>
          <p:nvPr/>
        </p:nvSpPr>
        <p:spPr>
          <a:xfrm>
            <a:off x="8311896" y="23317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5" name="Text 22"/>
          <p:cNvSpPr txBox="1"/>
          <p:nvPr/>
        </p:nvSpPr>
        <p:spPr>
          <a:xfrm>
            <a:off x="8887968" y="22860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Choose initialization, optimizer and normalization</a:t>
            </a:r>
            <a:endParaRPr lang="en-US" sz="1800" dirty="0"/>
          </a:p>
        </p:txBody>
      </p:sp>
      <p:sp>
        <p:nvSpPr>
          <p:cNvPr id="26" name="Shape 23"/>
          <p:cNvSpPr/>
          <p:nvPr/>
        </p:nvSpPr>
        <p:spPr>
          <a:xfrm>
            <a:off x="8311896" y="3703320"/>
            <a:ext cx="420624" cy="420624"/>
          </a:xfrm>
          <a:prstGeom prst="ellipse">
            <a:avLst/>
          </a:prstGeom>
          <a:solidFill>
            <a:srgbClr val="4C5BD4"/>
          </a:solidFill>
          <a:ln/>
        </p:spPr>
      </p:sp>
      <p:sp>
        <p:nvSpPr>
          <p:cNvPr id="27" name="Text 24"/>
          <p:cNvSpPr txBox="1"/>
          <p:nvPr/>
        </p:nvSpPr>
        <p:spPr>
          <a:xfrm>
            <a:off x="8311896" y="37033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8" name="Text 25"/>
          <p:cNvSpPr txBox="1"/>
          <p:nvPr/>
        </p:nvSpPr>
        <p:spPr>
          <a:xfrm>
            <a:off x="8887968" y="36576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Diagnose under- and overfitting; pick remedies in order</a:t>
            </a:r>
            <a:endParaRPr lang="en-US" sz="1800" dirty="0"/>
          </a:p>
        </p:txBody>
      </p:sp>
      <p:sp>
        <p:nvSpPr>
          <p:cNvPr id="29" name="Shape 26"/>
          <p:cNvSpPr/>
          <p:nvPr/>
        </p:nvSpPr>
        <p:spPr>
          <a:xfrm>
            <a:off x="548640" y="5349240"/>
            <a:ext cx="11094415" cy="777240"/>
          </a:xfrm>
          <a:prstGeom prst="roundRect">
            <a:avLst>
              <a:gd name="adj" fmla="val 9412"/>
            </a:avLst>
          </a:prstGeom>
          <a:solidFill>
            <a:srgbClr val="FFFFFF"/>
          </a:solidFill>
          <a:ln w="12700">
            <a:solidFill>
              <a:srgbClr val="D5DBE3"/>
            </a:solidFill>
            <a:prstDash val="solid"/>
          </a:ln>
        </p:spPr>
      </p:sp>
      <p:sp>
        <p:nvSpPr>
          <p:cNvPr id="30" name="Text 27"/>
          <p:cNvSpPr txBox="1"/>
          <p:nvPr/>
        </p:nvSpPr>
        <p:spPr>
          <a:xfrm>
            <a:off x="777240" y="5349240"/>
            <a:ext cx="10637215" cy="777240"/>
          </a:xfrm>
          <a:prstGeom prst="rect">
            <a:avLst/>
          </a:prstGeom>
          <a:noFill/>
          <a:ln/>
        </p:spPr>
        <p:txBody>
          <a:bodyPr wrap="square" lIns="0" tIns="0" rIns="0" bIns="0" rtlCol="0" anchor="ctr"/>
          <a:lstStyle/>
          <a:p>
            <a:pPr indent="0" marL="0">
              <a:buNone/>
            </a:pPr>
            <a:r>
              <a:rPr lang="en-US" sz="1700" b="1" dirty="0">
                <a:solidFill>
                  <a:srgbClr val="17202E"/>
                </a:solidFill>
                <a:latin typeface="Calibri" pitchFamily="34" charset="0"/>
                <a:ea typeface="Calibri" pitchFamily="34" charset="-122"/>
                <a:cs typeface="Calibri" pitchFamily="34" charset="-120"/>
              </a:rPr>
              <a:t>You should already know:  </a:t>
            </a:r>
            <a:pPr indent="0" marL="0">
              <a:buNone/>
            </a:pPr>
            <a:r>
              <a:rPr lang="en-US" sz="1700" b="1" dirty="0">
                <a:solidFill>
                  <a:srgbClr val="2B3A4F"/>
                </a:solidFill>
                <a:latin typeface="Calibri" pitchFamily="34" charset="0"/>
                <a:ea typeface="Calibri" pitchFamily="34" charset="-122"/>
                <a:cs typeface="Calibri" pitchFamily="34" charset="-120"/>
              </a:rPr>
              <a:t>matrix–vector products · the chain rule · logistic regression · train/validation/test splits · Python and NumPy</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OPENING</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Today's plan, and one example we will follow all session</a:t>
            </a:r>
            <a:endParaRPr lang="en-US" sz="3200" dirty="0"/>
          </a:p>
        </p:txBody>
      </p:sp>
      <p:sp>
        <p:nvSpPr>
          <p:cNvPr id="5" name="Shape 2"/>
          <p:cNvSpPr/>
          <p:nvPr/>
        </p:nvSpPr>
        <p:spPr>
          <a:xfrm>
            <a:off x="548640" y="1417320"/>
            <a:ext cx="333238" cy="640080"/>
          </a:xfrm>
          <a:prstGeom prst="rect">
            <a:avLst/>
          </a:prstGeom>
          <a:solidFill>
            <a:srgbClr val="8A94A3"/>
          </a:solidFill>
          <a:ln/>
        </p:spPr>
      </p:sp>
      <p:sp>
        <p:nvSpPr>
          <p:cNvPr id="6" name="Text 3"/>
          <p:cNvSpPr txBox="1"/>
          <p:nvPr/>
        </p:nvSpPr>
        <p:spPr>
          <a:xfrm>
            <a:off x="274320"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0:00</a:t>
            </a:r>
            <a:endParaRPr lang="en-US" sz="1300" dirty="0"/>
          </a:p>
        </p:txBody>
      </p:sp>
      <p:sp>
        <p:nvSpPr>
          <p:cNvPr id="7" name="Shape 4"/>
          <p:cNvSpPr/>
          <p:nvPr/>
        </p:nvSpPr>
        <p:spPr>
          <a:xfrm>
            <a:off x="918454" y="1417320"/>
            <a:ext cx="2921935" cy="640080"/>
          </a:xfrm>
          <a:prstGeom prst="rect">
            <a:avLst/>
          </a:prstGeom>
          <a:solidFill>
            <a:srgbClr val="0F7C82"/>
          </a:solidFill>
          <a:ln/>
        </p:spPr>
      </p:sp>
      <p:sp>
        <p:nvSpPr>
          <p:cNvPr id="8" name="Text 5"/>
          <p:cNvSpPr txBox="1"/>
          <p:nvPr/>
        </p:nvSpPr>
        <p:spPr>
          <a:xfrm>
            <a:off x="1028182" y="1417320"/>
            <a:ext cx="2775631"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Part 1 · Foundations</a:t>
            </a:r>
            <a:endParaRPr lang="en-US" sz="1700" dirty="0"/>
          </a:p>
        </p:txBody>
      </p:sp>
      <p:sp>
        <p:nvSpPr>
          <p:cNvPr id="9" name="Shape 6"/>
          <p:cNvSpPr/>
          <p:nvPr/>
        </p:nvSpPr>
        <p:spPr>
          <a:xfrm>
            <a:off x="3876965" y="1417320"/>
            <a:ext cx="2552121" cy="640080"/>
          </a:xfrm>
          <a:prstGeom prst="rect">
            <a:avLst/>
          </a:prstGeom>
          <a:solidFill>
            <a:srgbClr val="C8571B"/>
          </a:solidFill>
          <a:ln/>
        </p:spPr>
      </p:sp>
      <p:sp>
        <p:nvSpPr>
          <p:cNvPr id="10" name="Text 7"/>
          <p:cNvSpPr txBox="1"/>
          <p:nvPr/>
        </p:nvSpPr>
        <p:spPr>
          <a:xfrm>
            <a:off x="3986693" y="1417320"/>
            <a:ext cx="2405817"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Part 2 · Learning</a:t>
            </a:r>
            <a:endParaRPr lang="en-US" sz="1700" dirty="0"/>
          </a:p>
        </p:txBody>
      </p:sp>
      <p:sp>
        <p:nvSpPr>
          <p:cNvPr id="11" name="Text 8"/>
          <p:cNvSpPr txBox="1"/>
          <p:nvPr/>
        </p:nvSpPr>
        <p:spPr>
          <a:xfrm>
            <a:off x="3602645"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0:45</a:t>
            </a:r>
            <a:endParaRPr lang="en-US" sz="1300" dirty="0"/>
          </a:p>
        </p:txBody>
      </p:sp>
      <p:sp>
        <p:nvSpPr>
          <p:cNvPr id="12" name="Shape 9"/>
          <p:cNvSpPr/>
          <p:nvPr/>
        </p:nvSpPr>
        <p:spPr>
          <a:xfrm>
            <a:off x="6465661" y="1417320"/>
            <a:ext cx="703052" cy="640080"/>
          </a:xfrm>
          <a:prstGeom prst="rect">
            <a:avLst/>
          </a:prstGeom>
          <a:solidFill>
            <a:srgbClr val="B7BFCB"/>
          </a:solidFill>
          <a:ln/>
        </p:spPr>
      </p:sp>
      <p:sp>
        <p:nvSpPr>
          <p:cNvPr id="13" name="Text 10"/>
          <p:cNvSpPr txBox="1"/>
          <p:nvPr/>
        </p:nvSpPr>
        <p:spPr>
          <a:xfrm>
            <a:off x="6575389" y="1417320"/>
            <a:ext cx="556748" cy="6400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Break</a:t>
            </a:r>
            <a:endParaRPr lang="en-US" sz="1400" dirty="0"/>
          </a:p>
        </p:txBody>
      </p:sp>
      <p:sp>
        <p:nvSpPr>
          <p:cNvPr id="14" name="Text 11"/>
          <p:cNvSpPr txBox="1"/>
          <p:nvPr/>
        </p:nvSpPr>
        <p:spPr>
          <a:xfrm>
            <a:off x="6191341"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1:20</a:t>
            </a:r>
            <a:endParaRPr lang="en-US" sz="1300" dirty="0"/>
          </a:p>
        </p:txBody>
      </p:sp>
      <p:sp>
        <p:nvSpPr>
          <p:cNvPr id="15" name="Shape 12"/>
          <p:cNvSpPr/>
          <p:nvPr/>
        </p:nvSpPr>
        <p:spPr>
          <a:xfrm>
            <a:off x="7205289" y="1417320"/>
            <a:ext cx="3661562" cy="640080"/>
          </a:xfrm>
          <a:prstGeom prst="rect">
            <a:avLst/>
          </a:prstGeom>
          <a:solidFill>
            <a:srgbClr val="4C5BD4"/>
          </a:solidFill>
          <a:ln/>
        </p:spPr>
      </p:sp>
      <p:sp>
        <p:nvSpPr>
          <p:cNvPr id="16" name="Text 13"/>
          <p:cNvSpPr txBox="1"/>
          <p:nvPr/>
        </p:nvSpPr>
        <p:spPr>
          <a:xfrm>
            <a:off x="7315017" y="1417320"/>
            <a:ext cx="3515258"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Part 3 · Train &amp; generalize</a:t>
            </a:r>
            <a:endParaRPr lang="en-US" sz="1700" dirty="0"/>
          </a:p>
        </p:txBody>
      </p:sp>
      <p:sp>
        <p:nvSpPr>
          <p:cNvPr id="17" name="Text 14"/>
          <p:cNvSpPr txBox="1"/>
          <p:nvPr/>
        </p:nvSpPr>
        <p:spPr>
          <a:xfrm>
            <a:off x="6930969"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1:30</a:t>
            </a:r>
            <a:endParaRPr lang="en-US" sz="1300" dirty="0"/>
          </a:p>
        </p:txBody>
      </p:sp>
      <p:sp>
        <p:nvSpPr>
          <p:cNvPr id="18" name="Shape 15"/>
          <p:cNvSpPr/>
          <p:nvPr/>
        </p:nvSpPr>
        <p:spPr>
          <a:xfrm>
            <a:off x="10903428" y="1417320"/>
            <a:ext cx="703052" cy="640080"/>
          </a:xfrm>
          <a:prstGeom prst="rect">
            <a:avLst/>
          </a:prstGeom>
          <a:solidFill>
            <a:srgbClr val="8A94A3"/>
          </a:solidFill>
          <a:ln/>
        </p:spPr>
      </p:sp>
      <p:sp>
        <p:nvSpPr>
          <p:cNvPr id="19" name="Text 16"/>
          <p:cNvSpPr txBox="1"/>
          <p:nvPr/>
        </p:nvSpPr>
        <p:spPr>
          <a:xfrm>
            <a:off x="10629108"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2:20</a:t>
            </a:r>
            <a:endParaRPr lang="en-US" sz="1300" dirty="0"/>
          </a:p>
        </p:txBody>
      </p:sp>
      <p:sp>
        <p:nvSpPr>
          <p:cNvPr id="20" name="Text 17"/>
          <p:cNvSpPr txBox="1"/>
          <p:nvPr/>
        </p:nvSpPr>
        <p:spPr>
          <a:xfrm>
            <a:off x="11231575"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2:30</a:t>
            </a:r>
            <a:endParaRPr lang="en-US" sz="1300" dirty="0"/>
          </a:p>
        </p:txBody>
      </p:sp>
      <p:sp>
        <p:nvSpPr>
          <p:cNvPr id="21" name="Shape 18"/>
          <p:cNvSpPr/>
          <p:nvPr/>
        </p:nvSpPr>
        <p:spPr>
          <a:xfrm>
            <a:off x="548640" y="2514600"/>
            <a:ext cx="3529584" cy="1737360"/>
          </a:xfrm>
          <a:prstGeom prst="roundRect">
            <a:avLst>
              <a:gd name="adj" fmla="val 4211"/>
            </a:avLst>
          </a:prstGeom>
          <a:solidFill>
            <a:srgbClr val="F3F5F8"/>
          </a:solidFill>
          <a:ln/>
        </p:spPr>
      </p:sp>
      <p:sp>
        <p:nvSpPr>
          <p:cNvPr id="22" name="Text 19"/>
          <p:cNvSpPr txBox="1"/>
          <p:nvPr/>
        </p:nvSpPr>
        <p:spPr>
          <a:xfrm>
            <a:off x="777240" y="2679192"/>
            <a:ext cx="3072384" cy="411480"/>
          </a:xfrm>
          <a:prstGeom prst="rect">
            <a:avLst/>
          </a:prstGeom>
          <a:noFill/>
          <a:ln/>
        </p:spPr>
        <p:txBody>
          <a:bodyPr wrap="square" lIns="0" tIns="0" rIns="0" bIns="0" rtlCol="0" anchor="t"/>
          <a:lstStyle/>
          <a:p>
            <a:pPr indent="0" marL="0">
              <a:buNone/>
            </a:pPr>
            <a:r>
              <a:rPr lang="en-US" sz="1900" b="1" dirty="0">
                <a:solidFill>
                  <a:srgbClr val="0F7C82"/>
                </a:solidFill>
                <a:latin typeface="Calibri" pitchFamily="34" charset="0"/>
                <a:ea typeface="Calibri" pitchFamily="34" charset="-122"/>
                <a:cs typeface="Calibri" pitchFamily="34" charset="-120"/>
              </a:rPr>
              <a:t>What a network computes</a:t>
            </a:r>
            <a:endParaRPr lang="en-US" sz="1900" dirty="0"/>
          </a:p>
        </p:txBody>
      </p:sp>
      <p:sp>
        <p:nvSpPr>
          <p:cNvPr id="23" name="Text 20"/>
          <p:cNvSpPr txBox="1"/>
          <p:nvPr/>
        </p:nvSpPr>
        <p:spPr>
          <a:xfrm>
            <a:off x="777240" y="3172968"/>
            <a:ext cx="3072384"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XOR, the neuron, activations, the forward pass</a:t>
            </a:r>
            <a:endParaRPr lang="en-US" sz="1700" dirty="0"/>
          </a:p>
        </p:txBody>
      </p:sp>
      <p:sp>
        <p:nvSpPr>
          <p:cNvPr id="24" name="Shape 21"/>
          <p:cNvSpPr/>
          <p:nvPr/>
        </p:nvSpPr>
        <p:spPr>
          <a:xfrm>
            <a:off x="4315968" y="2514600"/>
            <a:ext cx="3529584" cy="1737360"/>
          </a:xfrm>
          <a:prstGeom prst="roundRect">
            <a:avLst>
              <a:gd name="adj" fmla="val 4211"/>
            </a:avLst>
          </a:prstGeom>
          <a:solidFill>
            <a:srgbClr val="F3F5F8"/>
          </a:solidFill>
          <a:ln/>
        </p:spPr>
      </p:sp>
      <p:sp>
        <p:nvSpPr>
          <p:cNvPr id="25" name="Text 22"/>
          <p:cNvSpPr txBox="1"/>
          <p:nvPr/>
        </p:nvSpPr>
        <p:spPr>
          <a:xfrm>
            <a:off x="4544568" y="2679192"/>
            <a:ext cx="3072384" cy="411480"/>
          </a:xfrm>
          <a:prstGeom prst="rect">
            <a:avLst/>
          </a:prstGeom>
          <a:noFill/>
          <a:ln/>
        </p:spPr>
        <p:txBody>
          <a:bodyPr wrap="square" lIns="0" tIns="0" rIns="0" bIns="0" rtlCol="0" anchor="t"/>
          <a:lstStyle/>
          <a:p>
            <a:pPr indent="0" marL="0">
              <a:buNone/>
            </a:pPr>
            <a:r>
              <a:rPr lang="en-US" sz="1900" b="1" dirty="0">
                <a:solidFill>
                  <a:srgbClr val="C8571B"/>
                </a:solidFill>
                <a:latin typeface="Calibri" pitchFamily="34" charset="0"/>
                <a:ea typeface="Calibri" pitchFamily="34" charset="-122"/>
                <a:cs typeface="Calibri" pitchFamily="34" charset="-120"/>
              </a:rPr>
              <a:t>How it learns</a:t>
            </a:r>
            <a:endParaRPr lang="en-US" sz="1900" dirty="0"/>
          </a:p>
        </p:txBody>
      </p:sp>
      <p:sp>
        <p:nvSpPr>
          <p:cNvPr id="26" name="Text 23"/>
          <p:cNvSpPr txBox="1"/>
          <p:nvPr/>
        </p:nvSpPr>
        <p:spPr>
          <a:xfrm>
            <a:off x="4544568" y="3172968"/>
            <a:ext cx="3072384"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Losses, backpropagation, gradient descent</a:t>
            </a:r>
            <a:endParaRPr lang="en-US" sz="1700" dirty="0"/>
          </a:p>
        </p:txBody>
      </p:sp>
      <p:sp>
        <p:nvSpPr>
          <p:cNvPr id="27" name="Shape 24"/>
          <p:cNvSpPr/>
          <p:nvPr/>
        </p:nvSpPr>
        <p:spPr>
          <a:xfrm>
            <a:off x="8083296" y="2514600"/>
            <a:ext cx="3529584" cy="1737360"/>
          </a:xfrm>
          <a:prstGeom prst="roundRect">
            <a:avLst>
              <a:gd name="adj" fmla="val 4211"/>
            </a:avLst>
          </a:prstGeom>
          <a:solidFill>
            <a:srgbClr val="F3F5F8"/>
          </a:solidFill>
          <a:ln/>
        </p:spPr>
      </p:sp>
      <p:sp>
        <p:nvSpPr>
          <p:cNvPr id="28" name="Text 25"/>
          <p:cNvSpPr txBox="1"/>
          <p:nvPr/>
        </p:nvSpPr>
        <p:spPr>
          <a:xfrm>
            <a:off x="8311896" y="2679192"/>
            <a:ext cx="3072384" cy="411480"/>
          </a:xfrm>
          <a:prstGeom prst="rect">
            <a:avLst/>
          </a:prstGeom>
          <a:noFill/>
          <a:ln/>
        </p:spPr>
        <p:txBody>
          <a:bodyPr wrap="square" lIns="0" tIns="0" rIns="0" bIns="0" rtlCol="0" anchor="t"/>
          <a:lstStyle/>
          <a:p>
            <a:pPr indent="0" marL="0">
              <a:buNone/>
            </a:pPr>
            <a:r>
              <a:rPr lang="en-US" sz="1900" b="1" dirty="0">
                <a:solidFill>
                  <a:srgbClr val="4C5BD4"/>
                </a:solidFill>
                <a:latin typeface="Calibri" pitchFamily="34" charset="0"/>
                <a:ea typeface="Calibri" pitchFamily="34" charset="-122"/>
                <a:cs typeface="Calibri" pitchFamily="34" charset="-120"/>
              </a:rPr>
              <a:t>Making it train and generalize</a:t>
            </a:r>
            <a:endParaRPr lang="en-US" sz="1900" dirty="0"/>
          </a:p>
        </p:txBody>
      </p:sp>
      <p:sp>
        <p:nvSpPr>
          <p:cNvPr id="29" name="Text 26"/>
          <p:cNvSpPr txBox="1"/>
          <p:nvPr/>
        </p:nvSpPr>
        <p:spPr>
          <a:xfrm>
            <a:off x="8311896" y="3172968"/>
            <a:ext cx="3072384"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Initialization, residuals, optimizers, normalization, regularization</a:t>
            </a:r>
            <a:endParaRPr lang="en-US" sz="1700" dirty="0"/>
          </a:p>
        </p:txBody>
      </p:sp>
      <p:sp>
        <p:nvSpPr>
          <p:cNvPr id="30" name="Shape 27"/>
          <p:cNvSpPr/>
          <p:nvPr/>
        </p:nvSpPr>
        <p:spPr>
          <a:xfrm>
            <a:off x="548640" y="4526280"/>
            <a:ext cx="11094415" cy="1554480"/>
          </a:xfrm>
          <a:prstGeom prst="roundRect">
            <a:avLst>
              <a:gd name="adj" fmla="val 4706"/>
            </a:avLst>
          </a:prstGeom>
          <a:solidFill>
            <a:srgbClr val="E2F1F1"/>
          </a:solidFill>
          <a:ln/>
        </p:spPr>
      </p:sp>
      <p:pic>
        <p:nvPicPr>
          <p:cNvPr id="31" name="Image 0" descr="Ten Fashion-MNIST example images, one per class.">    </p:cNvPr>
          <p:cNvPicPr>
            <a:picLocks noChangeAspect="1"/>
          </p:cNvPicPr>
          <p:nvPr/>
        </p:nvPicPr>
        <p:blipFill>
          <a:blip r:embed="rId1"/>
          <a:stretch>
            <a:fillRect/>
          </a:stretch>
        </p:blipFill>
        <p:spPr>
          <a:xfrm>
            <a:off x="854207" y="4617720"/>
            <a:ext cx="2772146" cy="1371600"/>
          </a:xfrm>
          <a:prstGeom prst="rect">
            <a:avLst/>
          </a:prstGeom>
        </p:spPr>
      </p:pic>
      <p:sp>
        <p:nvSpPr>
          <p:cNvPr id="32" name="Text 28"/>
          <p:cNvSpPr txBox="1"/>
          <p:nvPr/>
        </p:nvSpPr>
        <p:spPr>
          <a:xfrm>
            <a:off x="3931920" y="4709160"/>
            <a:ext cx="7315200" cy="365760"/>
          </a:xfrm>
          <a:prstGeom prst="rect">
            <a:avLst/>
          </a:prstGeom>
          <a:noFill/>
          <a:ln/>
        </p:spPr>
        <p:txBody>
          <a:bodyPr wrap="square" lIns="0" tIns="0" rIns="0" bIns="0" rtlCol="0" anchor="t"/>
          <a:lstStyle/>
          <a:p>
            <a:pPr indent="0" marL="0">
              <a:buNone/>
            </a:pPr>
            <a:r>
              <a:rPr lang="en-US" sz="1900" b="1" dirty="0">
                <a:solidFill>
                  <a:srgbClr val="0A5559"/>
                </a:solidFill>
                <a:latin typeface="Calibri" pitchFamily="34" charset="0"/>
                <a:ea typeface="Calibri" pitchFamily="34" charset="-122"/>
                <a:cs typeface="Calibri" pitchFamily="34" charset="-120"/>
              </a:rPr>
              <a:t>Running example</a:t>
            </a:r>
            <a:endParaRPr lang="en-US" sz="1900" dirty="0"/>
          </a:p>
        </p:txBody>
      </p:sp>
      <p:sp>
        <p:nvSpPr>
          <p:cNvPr id="33" name="Text 29"/>
          <p:cNvSpPr txBox="1"/>
          <p:nvPr/>
        </p:nvSpPr>
        <p:spPr>
          <a:xfrm>
            <a:off x="3931920" y="5120640"/>
            <a:ext cx="7543800" cy="91440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Fashion-MNIST (28 × 28 grey images, 10 classes) and a 784–128–64–10 MLP: built in Part 1, trained in Part 2, regularized in Part 3. Every curve shown for it is a real run.</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PART 1  ·  ≈ 40 MINUTES</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Foundations: what a network computes</a:t>
            </a: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Why can't a linear model solve XOR?</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What does one neuron compute?</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Why is a nonlinearity mandatory?</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How does an MLP map inputs to outputs?</a:t>
            </a:r>
            <a:endParaRPr lang="en-US" sz="1800" dirty="0"/>
          </a:p>
        </p:txBody>
      </p:sp>
      <p:sp>
        <p:nvSpPr>
          <p:cNvPr id="5" name="Shape 3"/>
          <p:cNvSpPr/>
          <p:nvPr/>
        </p:nvSpPr>
        <p:spPr>
          <a:xfrm>
            <a:off x="8092440" y="2606040"/>
            <a:ext cx="1554480" cy="91"/>
          </a:xfrm>
          <a:prstGeom prst="line">
            <a:avLst/>
          </a:prstGeom>
          <a:noFill/>
          <a:ln w="11430">
            <a:solidFill>
              <a:srgbClr val="33445C"/>
            </a:solidFill>
            <a:prstDash val="solid"/>
          </a:ln>
        </p:spPr>
      </p:sp>
      <p:sp>
        <p:nvSpPr>
          <p:cNvPr id="6" name="Shape 4"/>
          <p:cNvSpPr/>
          <p:nvPr/>
        </p:nvSpPr>
        <p:spPr>
          <a:xfrm>
            <a:off x="8092440" y="2606040"/>
            <a:ext cx="1554480" cy="1463040"/>
          </a:xfrm>
          <a:prstGeom prst="line">
            <a:avLst/>
          </a:prstGeom>
          <a:noFill/>
          <a:ln w="11430">
            <a:solidFill>
              <a:srgbClr val="33445C"/>
            </a:solidFill>
            <a:prstDash val="solid"/>
          </a:ln>
        </p:spPr>
      </p:sp>
      <p:sp>
        <p:nvSpPr>
          <p:cNvPr id="7" name="Shape 5"/>
          <p:cNvSpPr/>
          <p:nvPr/>
        </p:nvSpPr>
        <p:spPr>
          <a:xfrm flipV="1">
            <a:off x="8092440" y="2606040"/>
            <a:ext cx="1554480" cy="1463040"/>
          </a:xfrm>
          <a:prstGeom prst="line">
            <a:avLst/>
          </a:prstGeom>
          <a:noFill/>
          <a:ln w="11430">
            <a:solidFill>
              <a:srgbClr val="33445C"/>
            </a:solidFill>
            <a:prstDash val="solid"/>
          </a:ln>
        </p:spPr>
      </p:sp>
      <p:sp>
        <p:nvSpPr>
          <p:cNvPr id="8" name="Shape 6"/>
          <p:cNvSpPr/>
          <p:nvPr/>
        </p:nvSpPr>
        <p:spPr>
          <a:xfrm>
            <a:off x="8092440" y="4069080"/>
            <a:ext cx="1554480" cy="91"/>
          </a:xfrm>
          <a:prstGeom prst="line">
            <a:avLst/>
          </a:prstGeom>
          <a:noFill/>
          <a:ln w="11430">
            <a:solidFill>
              <a:srgbClr val="33445C"/>
            </a:solidFill>
            <a:prstDash val="solid"/>
          </a:ln>
        </p:spPr>
      </p:sp>
      <p:sp>
        <p:nvSpPr>
          <p:cNvPr id="9" name="Shape 7"/>
          <p:cNvSpPr/>
          <p:nvPr/>
        </p:nvSpPr>
        <p:spPr>
          <a:xfrm>
            <a:off x="9646920" y="2606040"/>
            <a:ext cx="1554480" cy="731520"/>
          </a:xfrm>
          <a:prstGeom prst="line">
            <a:avLst/>
          </a:prstGeom>
          <a:noFill/>
          <a:ln w="11430">
            <a:solidFill>
              <a:srgbClr val="33445C"/>
            </a:solidFill>
            <a:prstDash val="solid"/>
          </a:ln>
        </p:spPr>
      </p:sp>
      <p:sp>
        <p:nvSpPr>
          <p:cNvPr id="10" name="Shape 8"/>
          <p:cNvSpPr/>
          <p:nvPr/>
        </p:nvSpPr>
        <p:spPr>
          <a:xfrm flipV="1">
            <a:off x="9646920" y="3337560"/>
            <a:ext cx="1554480" cy="731520"/>
          </a:xfrm>
          <a:prstGeom prst="line">
            <a:avLst/>
          </a:prstGeom>
          <a:noFill/>
          <a:ln w="11430">
            <a:solidFill>
              <a:srgbClr val="33445C"/>
            </a:solidFill>
            <a:prstDash val="solid"/>
          </a:ln>
        </p:spPr>
      </p:sp>
      <p:sp>
        <p:nvSpPr>
          <p:cNvPr id="11" name="Shape 9"/>
          <p:cNvSpPr/>
          <p:nvPr/>
        </p:nvSpPr>
        <p:spPr>
          <a:xfrm>
            <a:off x="7863840" y="2377440"/>
            <a:ext cx="457200" cy="457200"/>
          </a:xfrm>
          <a:prstGeom prst="ellipse">
            <a:avLst/>
          </a:prstGeom>
          <a:solidFill>
            <a:srgbClr val="8A94A3"/>
          </a:solidFill>
          <a:ln/>
        </p:spPr>
      </p:sp>
      <p:sp>
        <p:nvSpPr>
          <p:cNvPr id="12" name="Shape 10"/>
          <p:cNvSpPr/>
          <p:nvPr/>
        </p:nvSpPr>
        <p:spPr>
          <a:xfrm>
            <a:off x="7863840" y="3840480"/>
            <a:ext cx="457200" cy="457200"/>
          </a:xfrm>
          <a:prstGeom prst="ellipse">
            <a:avLst/>
          </a:prstGeom>
          <a:solidFill>
            <a:srgbClr val="8A94A3"/>
          </a:solidFill>
          <a:ln/>
        </p:spPr>
      </p:sp>
      <p:sp>
        <p:nvSpPr>
          <p:cNvPr id="13" name="Shape 11"/>
          <p:cNvSpPr/>
          <p:nvPr/>
        </p:nvSpPr>
        <p:spPr>
          <a:xfrm>
            <a:off x="9418320" y="2377440"/>
            <a:ext cx="457200" cy="457200"/>
          </a:xfrm>
          <a:prstGeom prst="ellipse">
            <a:avLst/>
          </a:prstGeom>
          <a:solidFill>
            <a:srgbClr val="0F7C82"/>
          </a:solidFill>
          <a:ln/>
        </p:spPr>
      </p:sp>
      <p:sp>
        <p:nvSpPr>
          <p:cNvPr id="14" name="Shape 12"/>
          <p:cNvSpPr/>
          <p:nvPr/>
        </p:nvSpPr>
        <p:spPr>
          <a:xfrm>
            <a:off x="9418320" y="3840480"/>
            <a:ext cx="457200" cy="457200"/>
          </a:xfrm>
          <a:prstGeom prst="ellipse">
            <a:avLst/>
          </a:prstGeom>
          <a:solidFill>
            <a:srgbClr val="0F7C82"/>
          </a:solidFill>
          <a:ln/>
        </p:spPr>
      </p:sp>
      <p:sp>
        <p:nvSpPr>
          <p:cNvPr id="15" name="Shape 13"/>
          <p:cNvSpPr/>
          <p:nvPr/>
        </p:nvSpPr>
        <p:spPr>
          <a:xfrm>
            <a:off x="10972800" y="3108960"/>
            <a:ext cx="457200" cy="457200"/>
          </a:xfrm>
          <a:prstGeom prst="ellipse">
            <a:avLst/>
          </a:prstGeom>
          <a:solidFill>
            <a:srgbClr val="C8571B"/>
          </a:solidFill>
          <a:ln/>
        </p:spPr>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WHY NEURAL NETWORKS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Linear models can only draw straight boundaries</a:t>
            </a:r>
            <a:endParaRPr lang="en-US" sz="3200" dirty="0"/>
          </a:p>
        </p:txBody>
      </p:sp>
      <p:pic>
        <p:nvPicPr>
          <p:cNvPr id="5" name="Image 0" descr="LaTeX: $\displaystyle \yh = \w\T\x + b = w_1x_1 + w_2x_2 + \dots + w_nx_n + b$">    </p:cNvPr>
          <p:cNvPicPr>
            <a:picLocks noChangeAspect="1"/>
          </p:cNvPicPr>
          <p:nvPr/>
        </p:nvPicPr>
        <p:blipFill>
          <a:blip r:embed="rId1"/>
          <a:stretch>
            <a:fillRect/>
          </a:stretch>
        </p:blipFill>
        <p:spPr>
          <a:xfrm>
            <a:off x="548640" y="1417320"/>
            <a:ext cx="5178552" cy="353568"/>
          </a:xfrm>
          <a:prstGeom prst="rect">
            <a:avLst/>
          </a:prstGeom>
        </p:spPr>
      </p:pic>
      <p:pic>
        <p:nvPicPr>
          <p:cNvPr id="6" name="Image 1" descr="Two-moons data: the logistic-regression boundary is a straight line; the MLP boundary curves around the moons.">    </p:cNvPr>
          <p:cNvPicPr>
            <a:picLocks noChangeAspect="1"/>
          </p:cNvPicPr>
          <p:nvPr/>
        </p:nvPicPr>
        <p:blipFill>
          <a:blip r:embed="rId2"/>
          <a:stretch>
            <a:fillRect/>
          </a:stretch>
        </p:blipFill>
        <p:spPr>
          <a:xfrm>
            <a:off x="1467947" y="1965960"/>
            <a:ext cx="9255801" cy="3703320"/>
          </a:xfrm>
          <a:prstGeom prst="rect">
            <a:avLst/>
          </a:prstGeom>
        </p:spPr>
      </p:pic>
      <p:sp>
        <p:nvSpPr>
          <p:cNvPr id="7" name="Shape 2"/>
          <p:cNvSpPr/>
          <p:nvPr/>
        </p:nvSpPr>
        <p:spPr>
          <a:xfrm>
            <a:off x="548640" y="5486400"/>
            <a:ext cx="11094415" cy="685800"/>
          </a:xfrm>
          <a:prstGeom prst="roundRect">
            <a:avLst>
              <a:gd name="adj" fmla="val 10667"/>
            </a:avLst>
          </a:prstGeom>
          <a:solidFill>
            <a:srgbClr val="E2F1F1"/>
          </a:solidFill>
          <a:ln/>
        </p:spPr>
      </p:sp>
      <p:sp>
        <p:nvSpPr>
          <p:cNvPr id="8" name="Text 3"/>
          <p:cNvSpPr txBox="1"/>
          <p:nvPr/>
        </p:nvSpPr>
        <p:spPr>
          <a:xfrm>
            <a:off x="749808" y="5532120"/>
            <a:ext cx="10692079" cy="59436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The boundary wᵀx + b = 0 is a line in 2-D and a hyperplane in n-D. Nothing about w or b can bend it.</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WHY NEURAL NETWORKS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XOR: no straight line separates the classes</a:t>
            </a:r>
            <a:endParaRPr lang="en-US" sz="3200" dirty="0"/>
          </a:p>
        </p:txBody>
      </p:sp>
      <p:pic>
        <p:nvPicPr>
          <p:cNvPr id="5" name="Image 0" descr="XOR points at the corners of the unit square with three failed dashed separating lines.">    </p:cNvPr>
          <p:cNvPicPr>
            <a:picLocks noChangeAspect="1"/>
          </p:cNvPicPr>
          <p:nvPr/>
        </p:nvPicPr>
        <p:blipFill>
          <a:blip r:embed="rId1"/>
          <a:stretch>
            <a:fillRect/>
          </a:stretch>
        </p:blipFill>
        <p:spPr>
          <a:xfrm>
            <a:off x="548640" y="1588090"/>
            <a:ext cx="3931920" cy="4321900"/>
          </a:xfrm>
          <a:prstGeom prst="rect">
            <a:avLst/>
          </a:prstGeom>
        </p:spPr>
      </p:pic>
      <p:sp>
        <p:nvSpPr>
          <p:cNvPr id="6" name="Text 2"/>
          <p:cNvSpPr txBox="1"/>
          <p:nvPr/>
        </p:nvSpPr>
        <p:spPr>
          <a:xfrm>
            <a:off x="4846320" y="1417320"/>
            <a:ext cx="6766560" cy="274320"/>
          </a:xfrm>
          <a:prstGeom prst="rect">
            <a:avLst/>
          </a:prstGeom>
          <a:noFill/>
          <a:ln/>
        </p:spPr>
        <p:txBody>
          <a:bodyPr wrap="square" lIns="0" tIns="0" rIns="0" bIns="0" rtlCol="0" anchor="t"/>
          <a:lstStyle/>
          <a:p>
            <a:pPr indent="0" marL="0">
              <a:buNone/>
            </a:pPr>
            <a:r>
              <a:rPr lang="en-US" sz="1300" b="1" spc="150" kern="0" dirty="0">
                <a:solidFill>
                  <a:srgbClr val="5B6675"/>
                </a:solidFill>
                <a:latin typeface="Calibri" pitchFamily="34" charset="0"/>
                <a:ea typeface="Calibri" pitchFamily="34" charset="-122"/>
                <a:cs typeface="Calibri" pitchFamily="34" charset="-120"/>
              </a:rPr>
              <a:t>PREDICT CLASS 1 WHEN W₁X₁ + W₂X₂ + B &gt; 0. EACH POINT DEMANDS:</a:t>
            </a:r>
            <a:endParaRPr lang="en-US" sz="1300" dirty="0"/>
          </a:p>
        </p:txBody>
      </p:sp>
      <p:sp>
        <p:nvSpPr>
          <p:cNvPr id="7" name="Shape 3"/>
          <p:cNvSpPr/>
          <p:nvPr/>
        </p:nvSpPr>
        <p:spPr>
          <a:xfrm>
            <a:off x="4846320" y="1783080"/>
            <a:ext cx="6793992" cy="1965960"/>
          </a:xfrm>
          <a:prstGeom prst="roundRect">
            <a:avLst>
              <a:gd name="adj" fmla="val 3721"/>
            </a:avLst>
          </a:prstGeom>
          <a:solidFill>
            <a:srgbClr val="F3F5F8"/>
          </a:solidFill>
          <a:ln/>
        </p:spPr>
      </p:sp>
      <p:pic>
        <p:nvPicPr>
          <p:cNvPr id="8" name="Image 1" descr="LaTeX: \begin{align*} (0,0)\mapsto 0 &amp;: \quad b \le 0\\ (0,1)\mapsto 1 &amp;: \quad w_2 + b &gt; 0\\ (1,0)\mapsto 1 &amp;: \quad w_1 + b &gt; 0\\ (1,1)\mapsto 0 &amp;: \quad w_1 + w_2 + b \le 0 \end{align*}">    </p:cNvPr>
          <p:cNvPicPr>
            <a:picLocks noChangeAspect="1"/>
          </p:cNvPicPr>
          <p:nvPr/>
        </p:nvPicPr>
        <p:blipFill>
          <a:blip r:embed="rId2"/>
          <a:stretch>
            <a:fillRect/>
          </a:stretch>
        </p:blipFill>
        <p:spPr>
          <a:xfrm>
            <a:off x="5120640" y="1920240"/>
            <a:ext cx="3199638" cy="1395679"/>
          </a:xfrm>
          <a:prstGeom prst="rect">
            <a:avLst/>
          </a:prstGeom>
        </p:spPr>
      </p:pic>
      <p:sp>
        <p:nvSpPr>
          <p:cNvPr id="9" name="Text 4"/>
          <p:cNvSpPr txBox="1"/>
          <p:nvPr/>
        </p:nvSpPr>
        <p:spPr>
          <a:xfrm>
            <a:off x="4846320" y="3931920"/>
            <a:ext cx="6766560" cy="274320"/>
          </a:xfrm>
          <a:prstGeom prst="rect">
            <a:avLst/>
          </a:prstGeom>
          <a:noFill/>
          <a:ln/>
        </p:spPr>
        <p:txBody>
          <a:bodyPr wrap="square" lIns="0" tIns="0" rIns="0" bIns="0" rtlCol="0" anchor="t"/>
          <a:lstStyle/>
          <a:p>
            <a:pPr indent="0" marL="0">
              <a:buNone/>
            </a:pPr>
            <a:r>
              <a:rPr lang="en-US" sz="1300" b="1" spc="150" kern="0" dirty="0">
                <a:solidFill>
                  <a:srgbClr val="5B6675"/>
                </a:solidFill>
                <a:latin typeface="Calibri" pitchFamily="34" charset="0"/>
                <a:ea typeface="Calibri" pitchFamily="34" charset="-122"/>
                <a:cs typeface="Calibri" pitchFamily="34" charset="-120"/>
              </a:rPr>
              <a:t>COMBINE ROWS 1 – 3</a:t>
            </a:r>
            <a:endParaRPr lang="en-US" sz="1300" dirty="0"/>
          </a:p>
        </p:txBody>
      </p:sp>
      <p:pic>
        <p:nvPicPr>
          <p:cNvPr id="10" name="Image 2" descr="LaTeX: \begin{align*} \text{add rows 2, 3:}\quad &amp; w_1 + w_2 + 2b &gt; 0\\ \text{use } b\le 0:\quad &amp; w_1 + w_2 + b \;&gt;\; -b \;\ge\; 0 \end{align*}">    </p:cNvPr>
          <p:cNvPicPr>
            <a:picLocks noChangeAspect="1"/>
          </p:cNvPicPr>
          <p:nvPr/>
        </p:nvPicPr>
        <p:blipFill>
          <a:blip r:embed="rId3"/>
          <a:stretch>
            <a:fillRect/>
          </a:stretch>
        </p:blipFill>
        <p:spPr>
          <a:xfrm>
            <a:off x="5120640" y="4297680"/>
            <a:ext cx="4340504" cy="634136"/>
          </a:xfrm>
          <a:prstGeom prst="rect">
            <a:avLst/>
          </a:prstGeom>
        </p:spPr>
      </p:pic>
      <p:sp>
        <p:nvSpPr>
          <p:cNvPr id="11" name="Shape 5"/>
          <p:cNvSpPr/>
          <p:nvPr/>
        </p:nvSpPr>
        <p:spPr>
          <a:xfrm>
            <a:off x="4846320" y="5349240"/>
            <a:ext cx="6793992" cy="777240"/>
          </a:xfrm>
          <a:prstGeom prst="roundRect">
            <a:avLst>
              <a:gd name="adj" fmla="val 9412"/>
            </a:avLst>
          </a:prstGeom>
          <a:solidFill>
            <a:srgbClr val="FBEADF"/>
          </a:solidFill>
          <a:ln/>
        </p:spPr>
      </p:sp>
      <p:sp>
        <p:nvSpPr>
          <p:cNvPr id="12" name="Text 6"/>
          <p:cNvSpPr txBox="1"/>
          <p:nvPr/>
        </p:nvSpPr>
        <p:spPr>
          <a:xfrm>
            <a:off x="5047488" y="5394960"/>
            <a:ext cx="6391656" cy="685800"/>
          </a:xfrm>
          <a:prstGeom prst="rect">
            <a:avLst/>
          </a:prstGeom>
          <a:noFill/>
          <a:ln/>
        </p:spPr>
        <p:txBody>
          <a:bodyPr wrap="square" lIns="0" tIns="0" rIns="0" bIns="0" rtlCol="0" anchor="ctr"/>
          <a:lstStyle/>
          <a:p>
            <a:pPr indent="0" marL="0">
              <a:buNone/>
            </a:pPr>
            <a:r>
              <a:rPr lang="en-US" sz="1900" b="1" dirty="0">
                <a:solidFill>
                  <a:srgbClr val="8F3A0E"/>
                </a:solidFill>
                <a:latin typeface="Calibri" pitchFamily="34" charset="0"/>
                <a:ea typeface="Calibri" pitchFamily="34" charset="-122"/>
                <a:cs typeface="Calibri" pitchFamily="34" charset="-120"/>
              </a:rPr>
              <a:t>Contradiction with row 4: no such w₁, w₂, b exist.</a:t>
            </a:r>
            <a:endParaRPr lang="en-US" sz="1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WHY NEURAL NETWORKS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 better representation makes XOR easy</a:t>
            </a:r>
            <a:endParaRPr lang="en-US" sz="3200" dirty="0"/>
          </a:p>
        </p:txBody>
      </p:sp>
      <p:pic>
        <p:nvPicPr>
          <p:cNvPr id="5" name="Image 0" descr="XOR points lifted to 3-D using the feature x1 times x2, separated by a plane.">    </p:cNvPr>
          <p:cNvPicPr>
            <a:picLocks noChangeAspect="1"/>
          </p:cNvPicPr>
          <p:nvPr/>
        </p:nvPicPr>
        <p:blipFill>
          <a:blip r:embed="rId1"/>
          <a:stretch>
            <a:fillRect/>
          </a:stretch>
        </p:blipFill>
        <p:spPr>
          <a:xfrm>
            <a:off x="672090" y="1325880"/>
            <a:ext cx="4690860" cy="4480560"/>
          </a:xfrm>
          <a:prstGeom prst="rect">
            <a:avLst/>
          </a:prstGeom>
        </p:spPr>
      </p:pic>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852160" y="1417320"/>
          <a:ext cx="3291840" cy="914400"/>
        </p:xfrm>
        <a:graphic>
          <a:graphicData uri="http://schemas.openxmlformats.org/drawingml/2006/table">
            <a:tbl>
              <a:tblPr/>
              <a:tblGrid>
                <a:gridCol w="822960"/>
                <a:gridCol w="822960"/>
                <a:gridCol w="822960"/>
                <a:gridCol w="822960"/>
              </a:tblGrid>
              <a:tr h="45720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x₁</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x₂</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x₁x₂</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y</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457200">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457200">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bl>
          </a:graphicData>
        </a:graphic>
      </p:graphicFrame>
      <p:sp>
        <p:nvSpPr>
          <p:cNvPr id="7" name="Shape 2"/>
          <p:cNvSpPr/>
          <p:nvPr/>
        </p:nvSpPr>
        <p:spPr>
          <a:xfrm>
            <a:off x="5852160" y="4023360"/>
            <a:ext cx="5788152" cy="1143000"/>
          </a:xfrm>
          <a:prstGeom prst="roundRect">
            <a:avLst>
              <a:gd name="adj" fmla="val 6400"/>
            </a:avLst>
          </a:prstGeom>
          <a:solidFill>
            <a:srgbClr val="E2F1F1"/>
          </a:solidFill>
          <a:ln/>
        </p:spPr>
      </p:sp>
      <p:sp>
        <p:nvSpPr>
          <p:cNvPr id="8" name="Text 3"/>
          <p:cNvSpPr txBox="1"/>
          <p:nvPr/>
        </p:nvSpPr>
        <p:spPr>
          <a:xfrm>
            <a:off x="6080760" y="4160520"/>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LINEAR IN THE NEW SPACE</a:t>
            </a:r>
            <a:endParaRPr lang="en-US" sz="1300" dirty="0"/>
          </a:p>
        </p:txBody>
      </p:sp>
      <p:pic>
        <p:nvPicPr>
          <p:cNvPr id="9" name="Image 1" descr="LaTeX: $\displaystyle y = x_1 + x_2 - 2\,x_1x_2$">    </p:cNvPr>
          <p:cNvPicPr>
            <a:picLocks noChangeAspect="1"/>
          </p:cNvPicPr>
          <p:nvPr/>
        </p:nvPicPr>
        <p:blipFill>
          <a:blip r:embed="rId2"/>
          <a:stretch>
            <a:fillRect/>
          </a:stretch>
        </p:blipFill>
        <p:spPr>
          <a:xfrm>
            <a:off x="6080760" y="4526280"/>
            <a:ext cx="2337816" cy="289560"/>
          </a:xfrm>
          <a:prstGeom prst="rect">
            <a:avLst/>
          </a:prstGeom>
        </p:spPr>
      </p:pic>
      <p:sp>
        <p:nvSpPr>
          <p:cNvPr id="10" name="Shape 4"/>
          <p:cNvSpPr/>
          <p:nvPr/>
        </p:nvSpPr>
        <p:spPr>
          <a:xfrm>
            <a:off x="5852160" y="5349240"/>
            <a:ext cx="5788152" cy="777240"/>
          </a:xfrm>
          <a:prstGeom prst="roundRect">
            <a:avLst>
              <a:gd name="adj" fmla="val 9412"/>
            </a:avLst>
          </a:prstGeom>
          <a:solidFill>
            <a:srgbClr val="17202E"/>
          </a:solidFill>
          <a:ln/>
        </p:spPr>
      </p:sp>
      <p:sp>
        <p:nvSpPr>
          <p:cNvPr id="11" name="Text 5"/>
          <p:cNvSpPr txBox="1"/>
          <p:nvPr/>
        </p:nvSpPr>
        <p:spPr>
          <a:xfrm>
            <a:off x="6053328" y="5394960"/>
            <a:ext cx="5385816" cy="6858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 hard problem in one representation can be easy in another.</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WHY NEURAL NETWORKS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The neural-network idea: learn the features too</a:t>
            </a:r>
            <a:endParaRPr lang="en-US" sz="3200" dirty="0"/>
          </a:p>
        </p:txBody>
      </p:sp>
      <p:sp>
        <p:nvSpPr>
          <p:cNvPr id="5" name="Shape 2"/>
          <p:cNvSpPr/>
          <p:nvPr/>
        </p:nvSpPr>
        <p:spPr>
          <a:xfrm>
            <a:off x="548640" y="1920240"/>
            <a:ext cx="731520" cy="731520"/>
          </a:xfrm>
          <a:prstGeom prst="roundRect">
            <a:avLst>
              <a:gd name="adj" fmla="val 12500"/>
            </a:avLst>
          </a:prstGeom>
          <a:solidFill>
            <a:srgbClr val="F3F5F8"/>
          </a:solidFill>
          <a:ln w="15875">
            <a:solidFill>
              <a:srgbClr val="8A94A3"/>
            </a:solidFill>
            <a:prstDash val="solid"/>
          </a:ln>
        </p:spPr>
      </p:sp>
      <p:sp>
        <p:nvSpPr>
          <p:cNvPr id="6" name="Text 3"/>
          <p:cNvSpPr txBox="1"/>
          <p:nvPr/>
        </p:nvSpPr>
        <p:spPr>
          <a:xfrm>
            <a:off x="594360" y="1920240"/>
            <a:ext cx="640080" cy="731520"/>
          </a:xfrm>
          <a:prstGeom prst="rect">
            <a:avLst/>
          </a:prstGeom>
          <a:noFill/>
          <a:ln/>
        </p:spPr>
        <p:txBody>
          <a:bodyPr wrap="square" lIns="0" tIns="0" rIns="0" bIns="0" rtlCol="0" anchor="ctr"/>
          <a:lstStyle/>
          <a:p>
            <a:pPr algn="ctr" indent="0" marL="0">
              <a:buNone/>
            </a:pPr>
            <a:r>
              <a:rPr lang="en-US" sz="2400" dirty="0">
                <a:solidFill>
                  <a:srgbClr val="17202E"/>
                </a:solidFill>
                <a:latin typeface="Cambria" pitchFamily="34" charset="0"/>
                <a:ea typeface="Cambria" pitchFamily="34" charset="-122"/>
                <a:cs typeface="Cambria" pitchFamily="34" charset="-120"/>
              </a:rPr>
              <a:t>x</a:t>
            </a:r>
            <a:endParaRPr lang="en-US" sz="2400" dirty="0"/>
          </a:p>
        </p:txBody>
      </p:sp>
      <p:sp>
        <p:nvSpPr>
          <p:cNvPr id="7" name="Shape 4"/>
          <p:cNvSpPr/>
          <p:nvPr/>
        </p:nvSpPr>
        <p:spPr>
          <a:xfrm>
            <a:off x="1325880" y="2286000"/>
            <a:ext cx="548640" cy="91"/>
          </a:xfrm>
          <a:prstGeom prst="line">
            <a:avLst/>
          </a:prstGeom>
          <a:noFill/>
          <a:ln w="25400">
            <a:solidFill>
              <a:srgbClr val="0F7C82"/>
            </a:solidFill>
            <a:prstDash val="solid"/>
            <a:tailEnd type="triangle"/>
          </a:ln>
        </p:spPr>
      </p:sp>
      <p:sp>
        <p:nvSpPr>
          <p:cNvPr id="8" name="Shape 5"/>
          <p:cNvSpPr/>
          <p:nvPr/>
        </p:nvSpPr>
        <p:spPr>
          <a:xfrm>
            <a:off x="1920240" y="1600200"/>
            <a:ext cx="3931920" cy="1371600"/>
          </a:xfrm>
          <a:prstGeom prst="roundRect">
            <a:avLst>
              <a:gd name="adj" fmla="val 5333"/>
            </a:avLst>
          </a:prstGeom>
          <a:solidFill>
            <a:srgbClr val="E2F1F1"/>
          </a:solidFill>
          <a:ln w="12700">
            <a:solidFill>
              <a:srgbClr val="0F7C82"/>
            </a:solidFill>
            <a:prstDash val="solid"/>
          </a:ln>
        </p:spPr>
      </p:sp>
      <p:sp>
        <p:nvSpPr>
          <p:cNvPr id="9" name="Text 6"/>
          <p:cNvSpPr txBox="1"/>
          <p:nvPr/>
        </p:nvSpPr>
        <p:spPr>
          <a:xfrm>
            <a:off x="2011680" y="1709928"/>
            <a:ext cx="3749040" cy="411480"/>
          </a:xfrm>
          <a:prstGeom prst="rect">
            <a:avLst/>
          </a:prstGeom>
          <a:noFill/>
          <a:ln/>
        </p:spPr>
        <p:txBody>
          <a:bodyPr wrap="square" lIns="0" tIns="0" rIns="0" bIns="0" rtlCol="0" anchor="t"/>
          <a:lstStyle/>
          <a:p>
            <a:pPr algn="ctr" indent="0" marL="0">
              <a:buNone/>
            </a:pPr>
            <a:r>
              <a:rPr lang="en-US" sz="1900" b="1" dirty="0">
                <a:solidFill>
                  <a:srgbClr val="0A5559"/>
                </a:solidFill>
                <a:latin typeface="Calibri" pitchFamily="34" charset="0"/>
                <a:ea typeface="Calibri" pitchFamily="34" charset="-122"/>
                <a:cs typeface="Calibri" pitchFamily="34" charset="-120"/>
              </a:rPr>
              <a:t>Learned feature extractor</a:t>
            </a:r>
            <a:endParaRPr lang="en-US" sz="1900" dirty="0"/>
          </a:p>
        </p:txBody>
      </p:sp>
      <p:pic>
        <p:nvPicPr>
          <p:cNvPr id="10" name="Image 0" descr="LaTeX: $\displaystyle \h = g(\W\x + \mathbf{c})$">    </p:cNvPr>
          <p:cNvPicPr>
            <a:picLocks noChangeAspect="1"/>
          </p:cNvPicPr>
          <p:nvPr/>
        </p:nvPicPr>
        <p:blipFill>
          <a:blip r:embed="rId1"/>
          <a:stretch>
            <a:fillRect/>
          </a:stretch>
        </p:blipFill>
        <p:spPr>
          <a:xfrm>
            <a:off x="3008376" y="2240280"/>
            <a:ext cx="1755648" cy="329184"/>
          </a:xfrm>
          <a:prstGeom prst="rect">
            <a:avLst/>
          </a:prstGeom>
        </p:spPr>
      </p:pic>
      <p:sp>
        <p:nvSpPr>
          <p:cNvPr id="11" name="Shape 7"/>
          <p:cNvSpPr/>
          <p:nvPr/>
        </p:nvSpPr>
        <p:spPr>
          <a:xfrm>
            <a:off x="5897880" y="2286000"/>
            <a:ext cx="548640" cy="91"/>
          </a:xfrm>
          <a:prstGeom prst="line">
            <a:avLst/>
          </a:prstGeom>
          <a:noFill/>
          <a:ln w="25400">
            <a:solidFill>
              <a:srgbClr val="0F7C82"/>
            </a:solidFill>
            <a:prstDash val="solid"/>
            <a:tailEnd type="triangle"/>
          </a:ln>
        </p:spPr>
      </p:sp>
      <p:sp>
        <p:nvSpPr>
          <p:cNvPr id="12" name="Shape 8"/>
          <p:cNvSpPr/>
          <p:nvPr/>
        </p:nvSpPr>
        <p:spPr>
          <a:xfrm>
            <a:off x="6492240" y="1600200"/>
            <a:ext cx="3291840" cy="1371600"/>
          </a:xfrm>
          <a:prstGeom prst="roundRect">
            <a:avLst>
              <a:gd name="adj" fmla="val 5333"/>
            </a:avLst>
          </a:prstGeom>
          <a:solidFill>
            <a:srgbClr val="F3F5F8"/>
          </a:solidFill>
          <a:ln w="12700">
            <a:solidFill>
              <a:srgbClr val="8A94A3"/>
            </a:solidFill>
            <a:prstDash val="solid"/>
          </a:ln>
        </p:spPr>
      </p:sp>
      <p:sp>
        <p:nvSpPr>
          <p:cNvPr id="13" name="Text 9"/>
          <p:cNvSpPr txBox="1"/>
          <p:nvPr/>
        </p:nvSpPr>
        <p:spPr>
          <a:xfrm>
            <a:off x="6583680" y="1709928"/>
            <a:ext cx="3108960" cy="411480"/>
          </a:xfrm>
          <a:prstGeom prst="rect">
            <a:avLst/>
          </a:prstGeom>
          <a:noFill/>
          <a:ln/>
        </p:spPr>
        <p:txBody>
          <a:bodyPr wrap="square" lIns="0" tIns="0" rIns="0" bIns="0" rtlCol="0" anchor="t"/>
          <a:lstStyle/>
          <a:p>
            <a:pPr algn="ctr" indent="0" marL="0">
              <a:buNone/>
            </a:pPr>
            <a:r>
              <a:rPr lang="en-US" sz="1900" b="1" dirty="0">
                <a:solidFill>
                  <a:srgbClr val="17202E"/>
                </a:solidFill>
                <a:latin typeface="Calibri" pitchFamily="34" charset="0"/>
                <a:ea typeface="Calibri" pitchFamily="34" charset="-122"/>
                <a:cs typeface="Calibri" pitchFamily="34" charset="-120"/>
              </a:rPr>
              <a:t>Linear model on top</a:t>
            </a:r>
            <a:endParaRPr lang="en-US" sz="1900" dirty="0"/>
          </a:p>
        </p:txBody>
      </p:sp>
      <p:pic>
        <p:nvPicPr>
          <p:cNvPr id="14" name="Image 1" descr="LaTeX: $\displaystyle \yh = \w\T\h + b$">    </p:cNvPr>
          <p:cNvPicPr>
            <a:picLocks noChangeAspect="1"/>
          </p:cNvPicPr>
          <p:nvPr/>
        </p:nvPicPr>
        <p:blipFill>
          <a:blip r:embed="rId2"/>
          <a:stretch>
            <a:fillRect/>
          </a:stretch>
        </p:blipFill>
        <p:spPr>
          <a:xfrm>
            <a:off x="7386828" y="2240280"/>
            <a:ext cx="1502664" cy="353568"/>
          </a:xfrm>
          <a:prstGeom prst="rect">
            <a:avLst/>
          </a:prstGeom>
        </p:spPr>
      </p:pic>
      <p:sp>
        <p:nvSpPr>
          <p:cNvPr id="15" name="Shape 10"/>
          <p:cNvSpPr/>
          <p:nvPr/>
        </p:nvSpPr>
        <p:spPr>
          <a:xfrm>
            <a:off x="9829800" y="2286000"/>
            <a:ext cx="548640" cy="91"/>
          </a:xfrm>
          <a:prstGeom prst="line">
            <a:avLst/>
          </a:prstGeom>
          <a:noFill/>
          <a:ln w="25400">
            <a:solidFill>
              <a:srgbClr val="0F7C82"/>
            </a:solidFill>
            <a:prstDash val="solid"/>
            <a:tailEnd type="triangle"/>
          </a:ln>
        </p:spPr>
      </p:sp>
      <p:sp>
        <p:nvSpPr>
          <p:cNvPr id="16" name="Shape 11"/>
          <p:cNvSpPr/>
          <p:nvPr/>
        </p:nvSpPr>
        <p:spPr>
          <a:xfrm>
            <a:off x="10424160" y="1920240"/>
            <a:ext cx="731520" cy="731520"/>
          </a:xfrm>
          <a:prstGeom prst="roundRect">
            <a:avLst>
              <a:gd name="adj" fmla="val 12500"/>
            </a:avLst>
          </a:prstGeom>
          <a:solidFill>
            <a:srgbClr val="F3F5F8"/>
          </a:solidFill>
          <a:ln w="15875">
            <a:solidFill>
              <a:srgbClr val="8A94A3"/>
            </a:solidFill>
            <a:prstDash val="solid"/>
          </a:ln>
        </p:spPr>
      </p:sp>
      <p:sp>
        <p:nvSpPr>
          <p:cNvPr id="17" name="Text 12"/>
          <p:cNvSpPr txBox="1"/>
          <p:nvPr/>
        </p:nvSpPr>
        <p:spPr>
          <a:xfrm>
            <a:off x="10469880" y="1920240"/>
            <a:ext cx="640080" cy="731520"/>
          </a:xfrm>
          <a:prstGeom prst="rect">
            <a:avLst/>
          </a:prstGeom>
          <a:noFill/>
          <a:ln/>
        </p:spPr>
        <p:txBody>
          <a:bodyPr wrap="square" lIns="0" tIns="0" rIns="0" bIns="0" rtlCol="0" anchor="ctr"/>
          <a:lstStyle/>
          <a:p>
            <a:pPr algn="ctr" indent="0" marL="0">
              <a:buNone/>
            </a:pPr>
            <a:r>
              <a:rPr lang="en-US" sz="2400" dirty="0">
                <a:solidFill>
                  <a:srgbClr val="17202E"/>
                </a:solidFill>
                <a:latin typeface="Cambria" pitchFamily="34" charset="0"/>
                <a:ea typeface="Cambria" pitchFamily="34" charset="-122"/>
                <a:cs typeface="Cambria" pitchFamily="34" charset="-120"/>
              </a:rPr>
              <a:t>ŷ</a:t>
            </a:r>
            <a:endParaRPr lang="en-US" sz="2400" dirty="0"/>
          </a:p>
        </p:txBody>
      </p:sp>
      <p:sp>
        <p:nvSpPr>
          <p:cNvPr id="18" name="Shape 13"/>
          <p:cNvSpPr/>
          <p:nvPr/>
        </p:nvSpPr>
        <p:spPr>
          <a:xfrm flipH="1">
            <a:off x="3291840" y="3291840"/>
            <a:ext cx="6035040" cy="91"/>
          </a:xfrm>
          <a:prstGeom prst="line">
            <a:avLst/>
          </a:prstGeom>
          <a:noFill/>
          <a:ln w="22225">
            <a:solidFill>
              <a:srgbClr val="C8571B"/>
            </a:solidFill>
            <a:prstDash val="solid"/>
            <a:headEnd type="triangle"/>
            <a:tailEnd type="triangle"/>
          </a:ln>
        </p:spPr>
      </p:sp>
      <p:sp>
        <p:nvSpPr>
          <p:cNvPr id="19" name="Text 14"/>
          <p:cNvSpPr txBox="1"/>
          <p:nvPr/>
        </p:nvSpPr>
        <p:spPr>
          <a:xfrm>
            <a:off x="3474720" y="3383280"/>
            <a:ext cx="5669280" cy="365760"/>
          </a:xfrm>
          <a:prstGeom prst="rect">
            <a:avLst/>
          </a:prstGeom>
          <a:noFill/>
          <a:ln/>
        </p:spPr>
        <p:txBody>
          <a:bodyPr wrap="square" lIns="0" tIns="0" rIns="0" bIns="0" rtlCol="0" anchor="t"/>
          <a:lstStyle/>
          <a:p>
            <a:pPr algn="ctr" indent="0" marL="0">
              <a:buNone/>
            </a:pPr>
            <a:r>
              <a:rPr lang="en-US" sz="1700" i="1" dirty="0">
                <a:solidFill>
                  <a:srgbClr val="C8571B"/>
                </a:solidFill>
                <a:latin typeface="Calibri" pitchFamily="34" charset="0"/>
                <a:ea typeface="Calibri" pitchFamily="34" charset="-122"/>
                <a:cs typeface="Calibri" pitchFamily="34" charset="-120"/>
              </a:rPr>
              <a:t>both trained together by gradient descent on one loss</a:t>
            </a:r>
            <a:endParaRPr lang="en-US" sz="1700" dirty="0"/>
          </a:p>
        </p:txBody>
      </p:sp>
      <p:sp>
        <p:nvSpPr>
          <p:cNvPr id="20" name="Shape 15"/>
          <p:cNvSpPr/>
          <p:nvPr/>
        </p:nvSpPr>
        <p:spPr>
          <a:xfrm>
            <a:off x="548640" y="4069080"/>
            <a:ext cx="3529584" cy="2057400"/>
          </a:xfrm>
          <a:prstGeom prst="roundRect">
            <a:avLst>
              <a:gd name="adj" fmla="val 3556"/>
            </a:avLst>
          </a:prstGeom>
          <a:solidFill>
            <a:srgbClr val="F3F5F8"/>
          </a:solidFill>
          <a:ln/>
        </p:spPr>
      </p:sp>
      <p:sp>
        <p:nvSpPr>
          <p:cNvPr id="21" name="Shape 16"/>
          <p:cNvSpPr/>
          <p:nvPr/>
        </p:nvSpPr>
        <p:spPr>
          <a:xfrm>
            <a:off x="749808" y="4270248"/>
            <a:ext cx="384048" cy="384048"/>
          </a:xfrm>
          <a:prstGeom prst="ellipse">
            <a:avLst/>
          </a:prstGeom>
          <a:solidFill>
            <a:srgbClr val="0F7C82"/>
          </a:solidFill>
          <a:ln/>
        </p:spPr>
      </p:sp>
      <p:sp>
        <p:nvSpPr>
          <p:cNvPr id="22" name="Text 17"/>
          <p:cNvSpPr txBox="1"/>
          <p:nvPr/>
        </p:nvSpPr>
        <p:spPr>
          <a:xfrm>
            <a:off x="749808"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3" name="Text 18"/>
          <p:cNvSpPr txBox="1"/>
          <p:nvPr/>
        </p:nvSpPr>
        <p:spPr>
          <a:xfrm>
            <a:off x="1298448" y="4288536"/>
            <a:ext cx="265176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Task-driven</a:t>
            </a:r>
            <a:endParaRPr lang="en-US" sz="1900" dirty="0"/>
          </a:p>
        </p:txBody>
      </p:sp>
      <p:sp>
        <p:nvSpPr>
          <p:cNvPr id="24" name="Text 19"/>
          <p:cNvSpPr txBox="1"/>
          <p:nvPr/>
        </p:nvSpPr>
        <p:spPr>
          <a:xfrm>
            <a:off x="749808" y="4846320"/>
            <a:ext cx="3154680"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Shaped by the loss you care about, not by an expert's guess.</a:t>
            </a:r>
            <a:endParaRPr lang="en-US" sz="1700" dirty="0"/>
          </a:p>
        </p:txBody>
      </p:sp>
      <p:sp>
        <p:nvSpPr>
          <p:cNvPr id="25" name="Shape 20"/>
          <p:cNvSpPr/>
          <p:nvPr/>
        </p:nvSpPr>
        <p:spPr>
          <a:xfrm>
            <a:off x="4315968" y="4069080"/>
            <a:ext cx="3529584" cy="2057400"/>
          </a:xfrm>
          <a:prstGeom prst="roundRect">
            <a:avLst>
              <a:gd name="adj" fmla="val 3556"/>
            </a:avLst>
          </a:prstGeom>
          <a:solidFill>
            <a:srgbClr val="F3F5F8"/>
          </a:solidFill>
          <a:ln/>
        </p:spPr>
      </p:sp>
      <p:sp>
        <p:nvSpPr>
          <p:cNvPr id="26" name="Shape 21"/>
          <p:cNvSpPr/>
          <p:nvPr/>
        </p:nvSpPr>
        <p:spPr>
          <a:xfrm>
            <a:off x="4517136" y="4270248"/>
            <a:ext cx="384048" cy="384048"/>
          </a:xfrm>
          <a:prstGeom prst="ellipse">
            <a:avLst/>
          </a:prstGeom>
          <a:solidFill>
            <a:srgbClr val="0F7C82"/>
          </a:solidFill>
          <a:ln/>
        </p:spPr>
      </p:sp>
      <p:sp>
        <p:nvSpPr>
          <p:cNvPr id="27" name="Text 22"/>
          <p:cNvSpPr txBox="1"/>
          <p:nvPr/>
        </p:nvSpPr>
        <p:spPr>
          <a:xfrm>
            <a:off x="4517136"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8" name="Text 23"/>
          <p:cNvSpPr txBox="1"/>
          <p:nvPr/>
        </p:nvSpPr>
        <p:spPr>
          <a:xfrm>
            <a:off x="5065776" y="4288536"/>
            <a:ext cx="265176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Reusable</a:t>
            </a:r>
            <a:endParaRPr lang="en-US" sz="1900" dirty="0"/>
          </a:p>
        </p:txBody>
      </p:sp>
      <p:sp>
        <p:nvSpPr>
          <p:cNvPr id="29" name="Text 24"/>
          <p:cNvSpPr txBox="1"/>
          <p:nvPr/>
        </p:nvSpPr>
        <p:spPr>
          <a:xfrm>
            <a:off x="4517136" y="4846320"/>
            <a:ext cx="3154680"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Edge and texture detectors transfer across vision tasks.</a:t>
            </a:r>
            <a:endParaRPr lang="en-US" sz="1700" dirty="0"/>
          </a:p>
        </p:txBody>
      </p:sp>
      <p:sp>
        <p:nvSpPr>
          <p:cNvPr id="30" name="Shape 25"/>
          <p:cNvSpPr/>
          <p:nvPr/>
        </p:nvSpPr>
        <p:spPr>
          <a:xfrm>
            <a:off x="8083296" y="4069080"/>
            <a:ext cx="3529584" cy="2057400"/>
          </a:xfrm>
          <a:prstGeom prst="roundRect">
            <a:avLst>
              <a:gd name="adj" fmla="val 3556"/>
            </a:avLst>
          </a:prstGeom>
          <a:solidFill>
            <a:srgbClr val="F3F5F8"/>
          </a:solidFill>
          <a:ln/>
        </p:spPr>
      </p:sp>
      <p:sp>
        <p:nvSpPr>
          <p:cNvPr id="31" name="Shape 26"/>
          <p:cNvSpPr/>
          <p:nvPr/>
        </p:nvSpPr>
        <p:spPr>
          <a:xfrm>
            <a:off x="8284464" y="4270248"/>
            <a:ext cx="384048" cy="384048"/>
          </a:xfrm>
          <a:prstGeom prst="ellipse">
            <a:avLst/>
          </a:prstGeom>
          <a:solidFill>
            <a:srgbClr val="0F7C82"/>
          </a:solidFill>
          <a:ln/>
        </p:spPr>
      </p:sp>
      <p:sp>
        <p:nvSpPr>
          <p:cNvPr id="32" name="Text 27"/>
          <p:cNvSpPr txBox="1"/>
          <p:nvPr/>
        </p:nvSpPr>
        <p:spPr>
          <a:xfrm>
            <a:off x="8284464"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33" name="Text 28"/>
          <p:cNvSpPr txBox="1"/>
          <p:nvPr/>
        </p:nvSpPr>
        <p:spPr>
          <a:xfrm>
            <a:off x="8833104" y="4288536"/>
            <a:ext cx="265176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Composable</a:t>
            </a:r>
            <a:endParaRPr lang="en-US" sz="1900" dirty="0"/>
          </a:p>
        </p:txBody>
      </p:sp>
      <p:sp>
        <p:nvSpPr>
          <p:cNvPr id="34" name="Text 29"/>
          <p:cNvSpPr txBox="1"/>
          <p:nvPr/>
        </p:nvSpPr>
        <p:spPr>
          <a:xfrm>
            <a:off x="8284464" y="4846320"/>
            <a:ext cx="3154680"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Layer 2 builds on layer 1: this hierarchy is what “deep” means.</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WHY NEURAL NETWORKS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Two ReLU units solve XOR by remapping the space</a:t>
            </a:r>
            <a:endParaRPr lang="en-US" sz="3200" dirty="0"/>
          </a:p>
        </p:txBody>
      </p:sp>
      <p:sp>
        <p:nvSpPr>
          <p:cNvPr id="5" name="Shape 2"/>
          <p:cNvSpPr/>
          <p:nvPr/>
        </p:nvSpPr>
        <p:spPr>
          <a:xfrm>
            <a:off x="850392" y="2176272"/>
            <a:ext cx="1828800" cy="91"/>
          </a:xfrm>
          <a:prstGeom prst="line">
            <a:avLst/>
          </a:prstGeom>
          <a:noFill/>
          <a:ln w="25400">
            <a:solidFill>
              <a:srgbClr val="8A94A3"/>
            </a:solidFill>
            <a:prstDash val="solid"/>
          </a:ln>
        </p:spPr>
      </p:sp>
      <p:sp>
        <p:nvSpPr>
          <p:cNvPr id="6" name="Shape 3"/>
          <p:cNvSpPr/>
          <p:nvPr/>
        </p:nvSpPr>
        <p:spPr>
          <a:xfrm>
            <a:off x="850392" y="2176272"/>
            <a:ext cx="1828800" cy="1828800"/>
          </a:xfrm>
          <a:prstGeom prst="line">
            <a:avLst/>
          </a:prstGeom>
          <a:noFill/>
          <a:ln w="25400">
            <a:solidFill>
              <a:srgbClr val="8A94A3"/>
            </a:solidFill>
            <a:prstDash val="solid"/>
          </a:ln>
        </p:spPr>
      </p:sp>
      <p:sp>
        <p:nvSpPr>
          <p:cNvPr id="7" name="Shape 4"/>
          <p:cNvSpPr/>
          <p:nvPr/>
        </p:nvSpPr>
        <p:spPr>
          <a:xfrm flipV="1">
            <a:off x="850392" y="2176272"/>
            <a:ext cx="1828800" cy="1828800"/>
          </a:xfrm>
          <a:prstGeom prst="line">
            <a:avLst/>
          </a:prstGeom>
          <a:noFill/>
          <a:ln w="25400">
            <a:solidFill>
              <a:srgbClr val="8A94A3"/>
            </a:solidFill>
            <a:prstDash val="solid"/>
          </a:ln>
        </p:spPr>
      </p:sp>
      <p:sp>
        <p:nvSpPr>
          <p:cNvPr id="8" name="Shape 5"/>
          <p:cNvSpPr/>
          <p:nvPr/>
        </p:nvSpPr>
        <p:spPr>
          <a:xfrm>
            <a:off x="850392" y="4005072"/>
            <a:ext cx="1828800" cy="91"/>
          </a:xfrm>
          <a:prstGeom prst="line">
            <a:avLst/>
          </a:prstGeom>
          <a:noFill/>
          <a:ln w="25400">
            <a:solidFill>
              <a:srgbClr val="8A94A3"/>
            </a:solidFill>
            <a:prstDash val="solid"/>
          </a:ln>
        </p:spPr>
      </p:sp>
      <p:sp>
        <p:nvSpPr>
          <p:cNvPr id="9" name="Shape 6"/>
          <p:cNvSpPr/>
          <p:nvPr/>
        </p:nvSpPr>
        <p:spPr>
          <a:xfrm>
            <a:off x="2679192" y="2176272"/>
            <a:ext cx="1645920" cy="914400"/>
          </a:xfrm>
          <a:prstGeom prst="line">
            <a:avLst/>
          </a:prstGeom>
          <a:noFill/>
          <a:ln w="25400">
            <a:solidFill>
              <a:srgbClr val="0F7C82"/>
            </a:solidFill>
            <a:prstDash val="solid"/>
          </a:ln>
        </p:spPr>
      </p:sp>
      <p:sp>
        <p:nvSpPr>
          <p:cNvPr id="10" name="Shape 7"/>
          <p:cNvSpPr/>
          <p:nvPr/>
        </p:nvSpPr>
        <p:spPr>
          <a:xfrm flipV="1">
            <a:off x="2679192" y="3090672"/>
            <a:ext cx="1645920" cy="914400"/>
          </a:xfrm>
          <a:prstGeom prst="line">
            <a:avLst/>
          </a:prstGeom>
          <a:noFill/>
          <a:ln w="25400">
            <a:solidFill>
              <a:srgbClr val="C8571B"/>
            </a:solidFill>
            <a:prstDash val="solid"/>
          </a:ln>
        </p:spPr>
      </p:sp>
      <p:sp>
        <p:nvSpPr>
          <p:cNvPr id="11" name="Shape 8"/>
          <p:cNvSpPr/>
          <p:nvPr/>
        </p:nvSpPr>
        <p:spPr>
          <a:xfrm>
            <a:off x="548640" y="1874520"/>
            <a:ext cx="603504" cy="603504"/>
          </a:xfrm>
          <a:prstGeom prst="ellipse">
            <a:avLst/>
          </a:prstGeom>
          <a:solidFill>
            <a:srgbClr val="F3F5F8"/>
          </a:solidFill>
          <a:ln w="15875">
            <a:solidFill>
              <a:srgbClr val="8A94A3"/>
            </a:solidFill>
            <a:prstDash val="solid"/>
          </a:ln>
        </p:spPr>
      </p:sp>
      <p:sp>
        <p:nvSpPr>
          <p:cNvPr id="12" name="Text 9"/>
          <p:cNvSpPr txBox="1"/>
          <p:nvPr/>
        </p:nvSpPr>
        <p:spPr>
          <a:xfrm>
            <a:off x="548640" y="1874520"/>
            <a:ext cx="603504" cy="603504"/>
          </a:xfrm>
          <a:prstGeom prst="rect">
            <a:avLst/>
          </a:prstGeom>
          <a:noFill/>
          <a:ln/>
        </p:spPr>
        <p:txBody>
          <a:bodyPr wrap="square" lIns="0" tIns="0" rIns="0" bIns="0" rtlCol="0" anchor="ctr"/>
          <a:lstStyle/>
          <a:p>
            <a:pPr algn="ctr" indent="0" marL="0">
              <a:buNone/>
            </a:pPr>
            <a:r>
              <a:rPr lang="en-US" sz="2000" b="1" dirty="0">
                <a:solidFill>
                  <a:srgbClr val="17202E"/>
                </a:solidFill>
                <a:latin typeface="Cambria" pitchFamily="34" charset="0"/>
                <a:ea typeface="Cambria" pitchFamily="34" charset="-122"/>
                <a:cs typeface="Cambria" pitchFamily="34" charset="-120"/>
              </a:rPr>
              <a:t>x</a:t>
            </a:r>
            <a:pPr algn="ctr" indent="0" marL="0">
              <a:buNone/>
            </a:pPr>
            <a:r>
              <a:rPr lang="en-US" sz="2000" b="1" baseline="-40000" dirty="0">
                <a:solidFill>
                  <a:srgbClr val="17202E"/>
                </a:solidFill>
                <a:latin typeface="Cambria" pitchFamily="34" charset="0"/>
                <a:ea typeface="Cambria" pitchFamily="34" charset="-122"/>
                <a:cs typeface="Cambria" pitchFamily="34" charset="-120"/>
              </a:rPr>
              <a:t>1</a:t>
            </a:r>
            <a:endParaRPr lang="en-US" sz="2000" dirty="0"/>
          </a:p>
        </p:txBody>
      </p:sp>
      <p:sp>
        <p:nvSpPr>
          <p:cNvPr id="13" name="Shape 10"/>
          <p:cNvSpPr/>
          <p:nvPr/>
        </p:nvSpPr>
        <p:spPr>
          <a:xfrm>
            <a:off x="548640" y="3703320"/>
            <a:ext cx="603504" cy="603504"/>
          </a:xfrm>
          <a:prstGeom prst="ellipse">
            <a:avLst/>
          </a:prstGeom>
          <a:solidFill>
            <a:srgbClr val="F3F5F8"/>
          </a:solidFill>
          <a:ln w="15875">
            <a:solidFill>
              <a:srgbClr val="8A94A3"/>
            </a:solidFill>
            <a:prstDash val="solid"/>
          </a:ln>
        </p:spPr>
      </p:sp>
      <p:sp>
        <p:nvSpPr>
          <p:cNvPr id="14" name="Text 11"/>
          <p:cNvSpPr txBox="1"/>
          <p:nvPr/>
        </p:nvSpPr>
        <p:spPr>
          <a:xfrm>
            <a:off x="548640" y="3703320"/>
            <a:ext cx="603504" cy="603504"/>
          </a:xfrm>
          <a:prstGeom prst="rect">
            <a:avLst/>
          </a:prstGeom>
          <a:noFill/>
          <a:ln/>
        </p:spPr>
        <p:txBody>
          <a:bodyPr wrap="square" lIns="0" tIns="0" rIns="0" bIns="0" rtlCol="0" anchor="ctr"/>
          <a:lstStyle/>
          <a:p>
            <a:pPr algn="ctr" indent="0" marL="0">
              <a:buNone/>
            </a:pPr>
            <a:r>
              <a:rPr lang="en-US" sz="2000" b="1" dirty="0">
                <a:solidFill>
                  <a:srgbClr val="17202E"/>
                </a:solidFill>
                <a:latin typeface="Cambria" pitchFamily="34" charset="0"/>
                <a:ea typeface="Cambria" pitchFamily="34" charset="-122"/>
                <a:cs typeface="Cambria" pitchFamily="34" charset="-120"/>
              </a:rPr>
              <a:t>x</a:t>
            </a:r>
            <a:pPr algn="ctr" indent="0" marL="0">
              <a:buNone/>
            </a:pPr>
            <a:r>
              <a:rPr lang="en-US" sz="2000" b="1" baseline="-40000" dirty="0">
                <a:solidFill>
                  <a:srgbClr val="17202E"/>
                </a:solidFill>
                <a:latin typeface="Cambria" pitchFamily="34" charset="0"/>
                <a:ea typeface="Cambria" pitchFamily="34" charset="-122"/>
                <a:cs typeface="Cambria" pitchFamily="34" charset="-120"/>
              </a:rPr>
              <a:t>2</a:t>
            </a:r>
            <a:endParaRPr lang="en-US" sz="2000" dirty="0"/>
          </a:p>
        </p:txBody>
      </p:sp>
      <p:sp>
        <p:nvSpPr>
          <p:cNvPr id="15" name="Shape 12"/>
          <p:cNvSpPr/>
          <p:nvPr/>
        </p:nvSpPr>
        <p:spPr>
          <a:xfrm>
            <a:off x="2377440" y="1874520"/>
            <a:ext cx="603504" cy="603504"/>
          </a:xfrm>
          <a:prstGeom prst="ellipse">
            <a:avLst/>
          </a:prstGeom>
          <a:solidFill>
            <a:srgbClr val="0F7C82"/>
          </a:solidFill>
          <a:ln/>
        </p:spPr>
      </p:sp>
      <p:sp>
        <p:nvSpPr>
          <p:cNvPr id="16" name="Text 13"/>
          <p:cNvSpPr txBox="1"/>
          <p:nvPr/>
        </p:nvSpPr>
        <p:spPr>
          <a:xfrm>
            <a:off x="2377440" y="1874520"/>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h</a:t>
            </a:r>
            <a:pPr algn="ctr" indent="0" marL="0">
              <a:buNone/>
            </a:pPr>
            <a:r>
              <a:rPr lang="en-US" sz="2000" b="1" baseline="-40000" dirty="0">
                <a:solidFill>
                  <a:srgbClr val="FFFFFF"/>
                </a:solidFill>
                <a:latin typeface="Cambria" pitchFamily="34" charset="0"/>
                <a:ea typeface="Cambria" pitchFamily="34" charset="-122"/>
                <a:cs typeface="Cambria" pitchFamily="34" charset="-120"/>
              </a:rPr>
              <a:t>1</a:t>
            </a:r>
            <a:endParaRPr lang="en-US" sz="2000" dirty="0"/>
          </a:p>
        </p:txBody>
      </p:sp>
      <p:sp>
        <p:nvSpPr>
          <p:cNvPr id="17" name="Shape 14"/>
          <p:cNvSpPr/>
          <p:nvPr/>
        </p:nvSpPr>
        <p:spPr>
          <a:xfrm>
            <a:off x="2377440" y="3703320"/>
            <a:ext cx="603504" cy="603504"/>
          </a:xfrm>
          <a:prstGeom prst="ellipse">
            <a:avLst/>
          </a:prstGeom>
          <a:solidFill>
            <a:srgbClr val="0F7C82"/>
          </a:solidFill>
          <a:ln/>
        </p:spPr>
      </p:sp>
      <p:sp>
        <p:nvSpPr>
          <p:cNvPr id="18" name="Text 15"/>
          <p:cNvSpPr txBox="1"/>
          <p:nvPr/>
        </p:nvSpPr>
        <p:spPr>
          <a:xfrm>
            <a:off x="2377440" y="3703320"/>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h</a:t>
            </a:r>
            <a:pPr algn="ctr" indent="0" marL="0">
              <a:buNone/>
            </a:pPr>
            <a:r>
              <a:rPr lang="en-US" sz="2000" b="1" baseline="-40000" dirty="0">
                <a:solidFill>
                  <a:srgbClr val="FFFFFF"/>
                </a:solidFill>
                <a:latin typeface="Cambria" pitchFamily="34" charset="0"/>
                <a:ea typeface="Cambria" pitchFamily="34" charset="-122"/>
                <a:cs typeface="Cambria" pitchFamily="34" charset="-120"/>
              </a:rPr>
              <a:t>2</a:t>
            </a:r>
            <a:endParaRPr lang="en-US" sz="2000" dirty="0"/>
          </a:p>
        </p:txBody>
      </p:sp>
      <p:sp>
        <p:nvSpPr>
          <p:cNvPr id="19" name="Shape 16"/>
          <p:cNvSpPr/>
          <p:nvPr/>
        </p:nvSpPr>
        <p:spPr>
          <a:xfrm>
            <a:off x="4023360" y="2788920"/>
            <a:ext cx="603504" cy="603504"/>
          </a:xfrm>
          <a:prstGeom prst="ellipse">
            <a:avLst/>
          </a:prstGeom>
          <a:solidFill>
            <a:srgbClr val="17202E"/>
          </a:solidFill>
          <a:ln/>
        </p:spPr>
      </p:sp>
      <p:sp>
        <p:nvSpPr>
          <p:cNvPr id="20" name="Text 17"/>
          <p:cNvSpPr txBox="1"/>
          <p:nvPr/>
        </p:nvSpPr>
        <p:spPr>
          <a:xfrm>
            <a:off x="4023360" y="2788920"/>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y</a:t>
            </a:r>
            <a:endParaRPr lang="en-US" sz="2000" dirty="0"/>
          </a:p>
        </p:txBody>
      </p:sp>
      <p:sp>
        <p:nvSpPr>
          <p:cNvPr id="21" name="Text 18"/>
          <p:cNvSpPr txBox="1"/>
          <p:nvPr/>
        </p:nvSpPr>
        <p:spPr>
          <a:xfrm>
            <a:off x="3291840" y="2057400"/>
            <a:ext cx="548640" cy="32004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+1</a:t>
            </a:r>
            <a:endParaRPr lang="en-US" sz="1800" dirty="0"/>
          </a:p>
        </p:txBody>
      </p:sp>
      <p:sp>
        <p:nvSpPr>
          <p:cNvPr id="22" name="Text 19"/>
          <p:cNvSpPr txBox="1"/>
          <p:nvPr/>
        </p:nvSpPr>
        <p:spPr>
          <a:xfrm>
            <a:off x="3383280" y="3749040"/>
            <a:ext cx="548640" cy="320040"/>
          </a:xfrm>
          <a:prstGeom prst="rect">
            <a:avLst/>
          </a:prstGeom>
          <a:noFill/>
          <a:ln/>
        </p:spPr>
        <p:txBody>
          <a:bodyPr wrap="square" lIns="0" tIns="0" rIns="0" bIns="0" rtlCol="0" anchor="t"/>
          <a:lstStyle/>
          <a:p>
            <a:pPr indent="0" marL="0">
              <a:buNone/>
            </a:pPr>
            <a:r>
              <a:rPr lang="en-US" sz="1800" b="1" dirty="0">
                <a:solidFill>
                  <a:srgbClr val="C8571B"/>
                </a:solidFill>
                <a:latin typeface="Calibri" pitchFamily="34" charset="0"/>
                <a:ea typeface="Calibri" pitchFamily="34" charset="-122"/>
                <a:cs typeface="Calibri" pitchFamily="34" charset="-120"/>
              </a:rPr>
              <a:t>−2</a:t>
            </a:r>
            <a:endParaRPr lang="en-US" sz="1800" dirty="0"/>
          </a:p>
        </p:txBody>
      </p:sp>
      <p:sp>
        <p:nvSpPr>
          <p:cNvPr id="23" name="Text 20"/>
          <p:cNvSpPr txBox="1"/>
          <p:nvPr/>
        </p:nvSpPr>
        <p:spPr>
          <a:xfrm>
            <a:off x="2148840" y="1463040"/>
            <a:ext cx="109728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bias 0</a:t>
            </a:r>
            <a:endParaRPr lang="en-US" sz="1500" dirty="0"/>
          </a:p>
        </p:txBody>
      </p:sp>
      <p:sp>
        <p:nvSpPr>
          <p:cNvPr id="24" name="Text 21"/>
          <p:cNvSpPr txBox="1"/>
          <p:nvPr/>
        </p:nvSpPr>
        <p:spPr>
          <a:xfrm>
            <a:off x="2148840" y="4343400"/>
            <a:ext cx="109728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bias −1</a:t>
            </a:r>
            <a:endParaRPr lang="en-US" sz="1500" dirty="0"/>
          </a:p>
        </p:txBody>
      </p:sp>
      <p:sp>
        <p:nvSpPr>
          <p:cNvPr id="25" name="Text 22"/>
          <p:cNvSpPr txBox="1"/>
          <p:nvPr/>
        </p:nvSpPr>
        <p:spPr>
          <a:xfrm>
            <a:off x="548640" y="4754880"/>
            <a:ext cx="4023360" cy="320040"/>
          </a:xfrm>
          <a:prstGeom prst="rect">
            <a:avLst/>
          </a:prstGeom>
          <a:noFill/>
          <a:ln/>
        </p:spPr>
        <p:txBody>
          <a:bodyPr wrap="square" lIns="0" tIns="0" rIns="0" bIns="0" rtlCol="0" anchor="t"/>
          <a:lstStyle/>
          <a:p>
            <a:pPr indent="0" marL="0">
              <a:buNone/>
            </a:pPr>
            <a:r>
              <a:rPr lang="en-US" sz="1500" dirty="0">
                <a:solidFill>
                  <a:srgbClr val="5B6675"/>
                </a:solidFill>
                <a:latin typeface="Calibri" pitchFamily="34" charset="0"/>
                <a:ea typeface="Calibri" pitchFamily="34" charset="-122"/>
                <a:cs typeface="Calibri" pitchFamily="34" charset="-120"/>
              </a:rPr>
              <a:t>all input weights = 1</a:t>
            </a:r>
            <a:endParaRPr lang="en-US" sz="1500" dirty="0"/>
          </a:p>
        </p:txBody>
      </p:sp>
      <p:pic>
        <p:nvPicPr>
          <p:cNvPr id="26" name="Image 0" descr="LaTeX: \begin{align*} h_1 &amp;= \ReLU(x_1 + x_2) \qquad \text{\color{mu}``OR-like''}\\ h_2 &amp;= \ReLU(x_1 + x_2 - 1) \qquad \text{\color{mu}``AND-like''}\\ y &amp;= h_1 - 2\,h_2 \end{align*}">    </p:cNvPr>
          <p:cNvPicPr>
            <a:picLocks noChangeAspect="1"/>
          </p:cNvPicPr>
          <p:nvPr/>
        </p:nvPicPr>
        <p:blipFill>
          <a:blip r:embed="rId1"/>
          <a:stretch>
            <a:fillRect/>
          </a:stretch>
        </p:blipFill>
        <p:spPr>
          <a:xfrm>
            <a:off x="548640" y="5074920"/>
            <a:ext cx="3800704" cy="917143"/>
          </a:xfrm>
          <a:prstGeom prst="rect">
            <a:avLst/>
          </a:prstGeom>
        </p:spPr>
      </p:pic>
      <p:pic>
        <p:nvPicPr>
          <p:cNvPr id="27" name="Image 1" descr="Left: XOR in input space. Right: after the hidden layer, (0,1) and (1,0) both map to (1,0) and one line separates the classes.">    </p:cNvPr>
          <p:cNvPicPr>
            <a:picLocks noChangeAspect="1"/>
          </p:cNvPicPr>
          <p:nvPr/>
        </p:nvPicPr>
        <p:blipFill>
          <a:blip r:embed="rId2"/>
          <a:stretch>
            <a:fillRect/>
          </a:stretch>
        </p:blipFill>
        <p:spPr>
          <a:xfrm>
            <a:off x="4754880" y="1728858"/>
            <a:ext cx="6885432" cy="2805925"/>
          </a:xfrm>
          <a:prstGeom prst="rect">
            <a:avLst/>
          </a:prstGeom>
        </p:spPr>
      </p:pic>
      <p:sp>
        <p:nvSpPr>
          <p:cNvPr id="28" name="Shape 23"/>
          <p:cNvSpPr/>
          <p:nvPr/>
        </p:nvSpPr>
        <p:spPr>
          <a:xfrm>
            <a:off x="5669280" y="5120640"/>
            <a:ext cx="5971032" cy="960120"/>
          </a:xfrm>
          <a:prstGeom prst="roundRect">
            <a:avLst>
              <a:gd name="adj" fmla="val 7619"/>
            </a:avLst>
          </a:prstGeom>
          <a:solidFill>
            <a:srgbClr val="E2F1F1"/>
          </a:solidFill>
          <a:ln/>
        </p:spPr>
      </p:sp>
      <p:sp>
        <p:nvSpPr>
          <p:cNvPr id="29" name="Text 24"/>
          <p:cNvSpPr txBox="1"/>
          <p:nvPr/>
        </p:nvSpPr>
        <p:spPr>
          <a:xfrm>
            <a:off x="5870448" y="5166360"/>
            <a:ext cx="5568696" cy="86868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The hidden layer makes the classes linearly separable; the output neuron just draws the line.</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THE NEURON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 neuron: a linear feature detector plus a threshold</a:t>
            </a:r>
            <a:endParaRPr lang="en-US" sz="3200" dirty="0"/>
          </a:p>
        </p:txBody>
      </p:sp>
      <p:sp>
        <p:nvSpPr>
          <p:cNvPr id="5" name="Shape 2"/>
          <p:cNvSpPr/>
          <p:nvPr/>
        </p:nvSpPr>
        <p:spPr>
          <a:xfrm>
            <a:off x="548640" y="1645920"/>
            <a:ext cx="530352" cy="530352"/>
          </a:xfrm>
          <a:prstGeom prst="ellipse">
            <a:avLst/>
          </a:prstGeom>
          <a:solidFill>
            <a:srgbClr val="F3F5F8"/>
          </a:solidFill>
          <a:ln w="15875">
            <a:solidFill>
              <a:srgbClr val="8A94A3"/>
            </a:solidFill>
            <a:prstDash val="solid"/>
          </a:ln>
        </p:spPr>
      </p:sp>
      <p:sp>
        <p:nvSpPr>
          <p:cNvPr id="6" name="Text 3"/>
          <p:cNvSpPr txBox="1"/>
          <p:nvPr/>
        </p:nvSpPr>
        <p:spPr>
          <a:xfrm>
            <a:off x="548640" y="1645920"/>
            <a:ext cx="530352" cy="530352"/>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x₁</a:t>
            </a:r>
            <a:endParaRPr lang="en-US" sz="1800" dirty="0"/>
          </a:p>
        </p:txBody>
      </p:sp>
      <p:sp>
        <p:nvSpPr>
          <p:cNvPr id="7" name="Shape 4"/>
          <p:cNvSpPr/>
          <p:nvPr/>
        </p:nvSpPr>
        <p:spPr>
          <a:xfrm>
            <a:off x="1078992" y="1911096"/>
            <a:ext cx="1527048" cy="1152144"/>
          </a:xfrm>
          <a:prstGeom prst="line">
            <a:avLst/>
          </a:prstGeom>
          <a:noFill/>
          <a:ln w="19050">
            <a:solidFill>
              <a:srgbClr val="8A94A3"/>
            </a:solidFill>
            <a:prstDash val="solid"/>
          </a:ln>
        </p:spPr>
      </p:sp>
      <p:sp>
        <p:nvSpPr>
          <p:cNvPr id="8" name="Shape 5"/>
          <p:cNvSpPr/>
          <p:nvPr/>
        </p:nvSpPr>
        <p:spPr>
          <a:xfrm>
            <a:off x="548640" y="2423160"/>
            <a:ext cx="530352" cy="530352"/>
          </a:xfrm>
          <a:prstGeom prst="ellipse">
            <a:avLst/>
          </a:prstGeom>
          <a:solidFill>
            <a:srgbClr val="F3F5F8"/>
          </a:solidFill>
          <a:ln w="15875">
            <a:solidFill>
              <a:srgbClr val="8A94A3"/>
            </a:solidFill>
            <a:prstDash val="solid"/>
          </a:ln>
        </p:spPr>
      </p:sp>
      <p:sp>
        <p:nvSpPr>
          <p:cNvPr id="9" name="Text 6"/>
          <p:cNvSpPr txBox="1"/>
          <p:nvPr/>
        </p:nvSpPr>
        <p:spPr>
          <a:xfrm>
            <a:off x="548640" y="2423160"/>
            <a:ext cx="530352" cy="530352"/>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x₂</a:t>
            </a:r>
            <a:endParaRPr lang="en-US" sz="1800" dirty="0"/>
          </a:p>
        </p:txBody>
      </p:sp>
      <p:sp>
        <p:nvSpPr>
          <p:cNvPr id="10" name="Shape 7"/>
          <p:cNvSpPr/>
          <p:nvPr/>
        </p:nvSpPr>
        <p:spPr>
          <a:xfrm>
            <a:off x="1078992" y="2688336"/>
            <a:ext cx="1527048" cy="374904"/>
          </a:xfrm>
          <a:prstGeom prst="line">
            <a:avLst/>
          </a:prstGeom>
          <a:noFill/>
          <a:ln w="19050">
            <a:solidFill>
              <a:srgbClr val="8A94A3"/>
            </a:solidFill>
            <a:prstDash val="solid"/>
          </a:ln>
        </p:spPr>
      </p:sp>
      <p:sp>
        <p:nvSpPr>
          <p:cNvPr id="11" name="Text 8"/>
          <p:cNvSpPr txBox="1"/>
          <p:nvPr/>
        </p:nvSpPr>
        <p:spPr>
          <a:xfrm>
            <a:off x="548640" y="3200400"/>
            <a:ext cx="530352" cy="457200"/>
          </a:xfrm>
          <a:prstGeom prst="rect">
            <a:avLst/>
          </a:prstGeom>
          <a:noFill/>
          <a:ln/>
        </p:spPr>
        <p:txBody>
          <a:bodyPr wrap="square" lIns="0" tIns="0" rIns="0" bIns="0" rtlCol="0" anchor="t"/>
          <a:lstStyle/>
          <a:p>
            <a:pPr algn="ctr" indent="0" marL="0">
              <a:buNone/>
            </a:pPr>
            <a:r>
              <a:rPr lang="en-US" sz="2200" dirty="0">
                <a:solidFill>
                  <a:srgbClr val="5B6675"/>
                </a:solidFill>
                <a:latin typeface="Calibri" pitchFamily="34" charset="0"/>
                <a:ea typeface="Calibri" pitchFamily="34" charset="-122"/>
                <a:cs typeface="Calibri" pitchFamily="34" charset="-120"/>
              </a:rPr>
              <a:t>⋮</a:t>
            </a:r>
            <a:endParaRPr lang="en-US" sz="2200" dirty="0"/>
          </a:p>
        </p:txBody>
      </p:sp>
      <p:sp>
        <p:nvSpPr>
          <p:cNvPr id="12" name="Shape 9"/>
          <p:cNvSpPr/>
          <p:nvPr/>
        </p:nvSpPr>
        <p:spPr>
          <a:xfrm>
            <a:off x="548640" y="3977640"/>
            <a:ext cx="530352" cy="530352"/>
          </a:xfrm>
          <a:prstGeom prst="ellipse">
            <a:avLst/>
          </a:prstGeom>
          <a:solidFill>
            <a:srgbClr val="F3F5F8"/>
          </a:solidFill>
          <a:ln w="15875">
            <a:solidFill>
              <a:srgbClr val="8A94A3"/>
            </a:solidFill>
            <a:prstDash val="solid"/>
          </a:ln>
        </p:spPr>
      </p:sp>
      <p:sp>
        <p:nvSpPr>
          <p:cNvPr id="13" name="Text 10"/>
          <p:cNvSpPr txBox="1"/>
          <p:nvPr/>
        </p:nvSpPr>
        <p:spPr>
          <a:xfrm>
            <a:off x="548640" y="3977640"/>
            <a:ext cx="530352" cy="530352"/>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xₙ</a:t>
            </a:r>
            <a:endParaRPr lang="en-US" sz="1800" dirty="0"/>
          </a:p>
        </p:txBody>
      </p:sp>
      <p:sp>
        <p:nvSpPr>
          <p:cNvPr id="14" name="Shape 11"/>
          <p:cNvSpPr/>
          <p:nvPr/>
        </p:nvSpPr>
        <p:spPr>
          <a:xfrm flipV="1">
            <a:off x="1078992" y="3063240"/>
            <a:ext cx="1527048" cy="1179576"/>
          </a:xfrm>
          <a:prstGeom prst="line">
            <a:avLst/>
          </a:prstGeom>
          <a:noFill/>
          <a:ln w="19050">
            <a:solidFill>
              <a:srgbClr val="8A94A3"/>
            </a:solidFill>
            <a:prstDash val="solid"/>
          </a:ln>
        </p:spPr>
      </p:sp>
      <p:sp>
        <p:nvSpPr>
          <p:cNvPr id="15" name="Text 12"/>
          <p:cNvSpPr txBox="1"/>
          <p:nvPr/>
        </p:nvSpPr>
        <p:spPr>
          <a:xfrm>
            <a:off x="1325880" y="1920240"/>
            <a:ext cx="1188720" cy="320040"/>
          </a:xfrm>
          <a:prstGeom prst="rect">
            <a:avLst/>
          </a:prstGeom>
          <a:noFill/>
          <a:ln/>
        </p:spPr>
        <p:txBody>
          <a:bodyPr wrap="square" lIns="0" tIns="0" rIns="0" bIns="0" rtlCol="0" anchor="t"/>
          <a:lstStyle/>
          <a:p>
            <a:pPr indent="0" marL="0">
              <a:buNone/>
            </a:pPr>
            <a:r>
              <a:rPr lang="en-US" sz="1500" dirty="0">
                <a:solidFill>
                  <a:srgbClr val="5B6675"/>
                </a:solidFill>
                <a:latin typeface="Calibri" pitchFamily="34" charset="0"/>
                <a:ea typeface="Calibri" pitchFamily="34" charset="-122"/>
                <a:cs typeface="Calibri" pitchFamily="34" charset="-120"/>
              </a:rPr>
              <a:t>weights w</a:t>
            </a:r>
            <a:endParaRPr lang="en-US" sz="1500" dirty="0"/>
          </a:p>
        </p:txBody>
      </p:sp>
      <p:sp>
        <p:nvSpPr>
          <p:cNvPr id="16" name="Shape 13"/>
          <p:cNvSpPr/>
          <p:nvPr/>
        </p:nvSpPr>
        <p:spPr>
          <a:xfrm>
            <a:off x="2606040" y="2679192"/>
            <a:ext cx="768096" cy="768096"/>
          </a:xfrm>
          <a:prstGeom prst="ellipse">
            <a:avLst/>
          </a:prstGeom>
          <a:solidFill>
            <a:srgbClr val="0F7C82"/>
          </a:solidFill>
          <a:ln/>
        </p:spPr>
      </p:sp>
      <p:sp>
        <p:nvSpPr>
          <p:cNvPr id="17" name="Text 14"/>
          <p:cNvSpPr txBox="1"/>
          <p:nvPr/>
        </p:nvSpPr>
        <p:spPr>
          <a:xfrm>
            <a:off x="2606040" y="2679192"/>
            <a:ext cx="768096" cy="768096"/>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Σ</a:t>
            </a:r>
            <a:endParaRPr lang="en-US" sz="2800" dirty="0"/>
          </a:p>
        </p:txBody>
      </p:sp>
      <p:sp>
        <p:nvSpPr>
          <p:cNvPr id="18" name="Shape 15"/>
          <p:cNvSpPr/>
          <p:nvPr/>
        </p:nvSpPr>
        <p:spPr>
          <a:xfrm>
            <a:off x="2990088" y="2011680"/>
            <a:ext cx="91" cy="640080"/>
          </a:xfrm>
          <a:prstGeom prst="line">
            <a:avLst/>
          </a:prstGeom>
          <a:noFill/>
          <a:ln w="19050">
            <a:solidFill>
              <a:srgbClr val="8A94A3"/>
            </a:solidFill>
            <a:prstDash val="solid"/>
            <a:tailEnd type="triangle"/>
          </a:ln>
        </p:spPr>
      </p:sp>
      <p:sp>
        <p:nvSpPr>
          <p:cNvPr id="19" name="Text 16"/>
          <p:cNvSpPr txBox="1"/>
          <p:nvPr/>
        </p:nvSpPr>
        <p:spPr>
          <a:xfrm>
            <a:off x="2834640" y="1664208"/>
            <a:ext cx="320040" cy="320040"/>
          </a:xfrm>
          <a:prstGeom prst="rect">
            <a:avLst/>
          </a:prstGeom>
          <a:noFill/>
          <a:ln/>
        </p:spPr>
        <p:txBody>
          <a:bodyPr wrap="square" lIns="0" tIns="0" rIns="0" bIns="0" rtlCol="0" anchor="t"/>
          <a:lstStyle/>
          <a:p>
            <a:pPr algn="ctr" indent="0" marL="0">
              <a:buNone/>
            </a:pPr>
            <a:r>
              <a:rPr lang="en-US" sz="1800" i="1" dirty="0">
                <a:solidFill>
                  <a:srgbClr val="17202E"/>
                </a:solidFill>
                <a:latin typeface="Cambria" pitchFamily="34" charset="0"/>
                <a:ea typeface="Cambria" pitchFamily="34" charset="-122"/>
                <a:cs typeface="Cambria" pitchFamily="34" charset="-120"/>
              </a:rPr>
              <a:t>b</a:t>
            </a:r>
            <a:endParaRPr lang="en-US" sz="1800" dirty="0"/>
          </a:p>
        </p:txBody>
      </p:sp>
      <p:sp>
        <p:nvSpPr>
          <p:cNvPr id="20" name="Shape 17"/>
          <p:cNvSpPr/>
          <p:nvPr/>
        </p:nvSpPr>
        <p:spPr>
          <a:xfrm>
            <a:off x="3383280" y="3063240"/>
            <a:ext cx="457200" cy="91"/>
          </a:xfrm>
          <a:prstGeom prst="line">
            <a:avLst/>
          </a:prstGeom>
          <a:noFill/>
          <a:ln w="22225">
            <a:solidFill>
              <a:srgbClr val="0F7C82"/>
            </a:solidFill>
            <a:prstDash val="solid"/>
            <a:tailEnd type="triangle"/>
          </a:ln>
        </p:spPr>
      </p:sp>
      <p:sp>
        <p:nvSpPr>
          <p:cNvPr id="21" name="Shape 18"/>
          <p:cNvSpPr/>
          <p:nvPr/>
        </p:nvSpPr>
        <p:spPr>
          <a:xfrm>
            <a:off x="3886200" y="2724912"/>
            <a:ext cx="914400" cy="685800"/>
          </a:xfrm>
          <a:prstGeom prst="roundRect">
            <a:avLst>
              <a:gd name="adj" fmla="val 13333"/>
            </a:avLst>
          </a:prstGeom>
          <a:solidFill>
            <a:srgbClr val="E2F1F1"/>
          </a:solidFill>
          <a:ln w="15875">
            <a:solidFill>
              <a:srgbClr val="0F7C82"/>
            </a:solidFill>
            <a:prstDash val="solid"/>
          </a:ln>
        </p:spPr>
      </p:sp>
      <p:sp>
        <p:nvSpPr>
          <p:cNvPr id="22" name="Text 19"/>
          <p:cNvSpPr txBox="1"/>
          <p:nvPr/>
        </p:nvSpPr>
        <p:spPr>
          <a:xfrm>
            <a:off x="3931920" y="2724912"/>
            <a:ext cx="822960" cy="685800"/>
          </a:xfrm>
          <a:prstGeom prst="rect">
            <a:avLst/>
          </a:prstGeom>
          <a:noFill/>
          <a:ln/>
        </p:spPr>
        <p:txBody>
          <a:bodyPr wrap="square" lIns="0" tIns="0" rIns="0" bIns="0" rtlCol="0" anchor="ctr"/>
          <a:lstStyle/>
          <a:p>
            <a:pPr algn="ctr" indent="0" marL="0">
              <a:buNone/>
            </a:pPr>
            <a:r>
              <a:rPr lang="en-US" sz="1900" dirty="0">
                <a:solidFill>
                  <a:srgbClr val="17202E"/>
                </a:solidFill>
                <a:latin typeface="Cambria" pitchFamily="34" charset="0"/>
                <a:ea typeface="Cambria" pitchFamily="34" charset="-122"/>
                <a:cs typeface="Cambria" pitchFamily="34" charset="-120"/>
              </a:rPr>
              <a:t>g(·)</a:t>
            </a:r>
            <a:endParaRPr lang="en-US" sz="1900" dirty="0"/>
          </a:p>
        </p:txBody>
      </p:sp>
      <p:sp>
        <p:nvSpPr>
          <p:cNvPr id="23" name="Shape 20"/>
          <p:cNvSpPr/>
          <p:nvPr/>
        </p:nvSpPr>
        <p:spPr>
          <a:xfrm>
            <a:off x="4846320" y="3063240"/>
            <a:ext cx="320040" cy="91"/>
          </a:xfrm>
          <a:prstGeom prst="line">
            <a:avLst/>
          </a:prstGeom>
          <a:noFill/>
          <a:ln w="22225">
            <a:solidFill>
              <a:srgbClr val="0F7C82"/>
            </a:solidFill>
            <a:prstDash val="solid"/>
            <a:tailEnd type="triangle"/>
          </a:ln>
        </p:spPr>
      </p:sp>
      <p:sp>
        <p:nvSpPr>
          <p:cNvPr id="24" name="Text 21"/>
          <p:cNvSpPr txBox="1"/>
          <p:nvPr/>
        </p:nvSpPr>
        <p:spPr>
          <a:xfrm>
            <a:off x="5193792" y="2862072"/>
            <a:ext cx="365760" cy="411480"/>
          </a:xfrm>
          <a:prstGeom prst="rect">
            <a:avLst/>
          </a:prstGeom>
          <a:noFill/>
          <a:ln/>
        </p:spPr>
        <p:txBody>
          <a:bodyPr wrap="square" lIns="0" tIns="0" rIns="0" bIns="0" rtlCol="0" anchor="t"/>
          <a:lstStyle/>
          <a:p>
            <a:pPr indent="0" marL="0">
              <a:buNone/>
            </a:pPr>
            <a:r>
              <a:rPr lang="en-US" sz="2000" i="1" dirty="0">
                <a:solidFill>
                  <a:srgbClr val="17202E"/>
                </a:solidFill>
                <a:latin typeface="Cambria" pitchFamily="34" charset="0"/>
                <a:ea typeface="Cambria" pitchFamily="34" charset="-122"/>
                <a:cs typeface="Cambria" pitchFamily="34" charset="-120"/>
              </a:rPr>
              <a:t>a</a:t>
            </a:r>
            <a:endParaRPr lang="en-US" sz="2000" dirty="0"/>
          </a:p>
        </p:txBody>
      </p:sp>
      <p:pic>
        <p:nvPicPr>
          <p:cNvPr id="25" name="Image 0" descr="LaTeX: \begin{align*} z &amp;= \w\T\x + b \\ a &amp;= g(z) \end{align*}">    </p:cNvPr>
          <p:cNvPicPr>
            <a:picLocks noChangeAspect="1"/>
          </p:cNvPicPr>
          <p:nvPr/>
        </p:nvPicPr>
        <p:blipFill>
          <a:blip r:embed="rId1"/>
          <a:stretch>
            <a:fillRect/>
          </a:stretch>
        </p:blipFill>
        <p:spPr>
          <a:xfrm>
            <a:off x="731520" y="4754880"/>
            <a:ext cx="1487424" cy="746760"/>
          </a:xfrm>
          <a:prstGeom prst="rect">
            <a:avLst/>
          </a:prstGeom>
        </p:spPr>
      </p:pic>
      <p:sp>
        <p:nvSpPr>
          <p:cNvPr id="26" name="Text 22"/>
          <p:cNvSpPr txBox="1"/>
          <p:nvPr/>
        </p:nvSpPr>
        <p:spPr>
          <a:xfrm>
            <a:off x="2560320" y="4800600"/>
            <a:ext cx="2377440" cy="731520"/>
          </a:xfrm>
          <a:prstGeom prst="rect">
            <a:avLst/>
          </a:prstGeom>
          <a:noFill/>
          <a:ln/>
        </p:spPr>
        <p:txBody>
          <a:bodyPr wrap="square" lIns="0" tIns="0" rIns="0" bIns="0" rtlCol="0" anchor="t"/>
          <a:lstStyle/>
          <a:p>
            <a:pPr indent="0" marL="0">
              <a:buNone/>
            </a:pPr>
            <a:r>
              <a:rPr lang="en-US" sz="1600" dirty="0">
                <a:solidFill>
                  <a:srgbClr val="5B6675"/>
                </a:solidFill>
                <a:latin typeface="Calibri" pitchFamily="34" charset="0"/>
                <a:ea typeface="Calibri" pitchFamily="34" charset="-122"/>
                <a:cs typeface="Calibri" pitchFamily="34" charset="-120"/>
              </a:rPr>
              <a:t>z: pre-activation</a:t>
            </a:r>
            <a:endParaRPr lang="en-US" sz="1600" dirty="0"/>
          </a:p>
          <a:p>
            <a:pPr indent="0" marL="0">
              <a:buNone/>
            </a:pPr>
            <a:r>
              <a:rPr lang="en-US" sz="1600" dirty="0">
                <a:solidFill>
                  <a:srgbClr val="5B6675"/>
                </a:solidFill>
                <a:latin typeface="Calibri" pitchFamily="34" charset="0"/>
                <a:ea typeface="Calibri" pitchFamily="34" charset="-122"/>
                <a:cs typeface="Calibri" pitchFamily="34" charset="-120"/>
              </a:rPr>
              <a:t>a: activation</a:t>
            </a:r>
            <a:endParaRPr lang="en-US" sz="1600" dirty="0"/>
          </a:p>
        </p:txBody>
      </p:sp>
      <p:pic>
        <p:nvPicPr>
          <p:cNvPr id="27" name="Image 1" descr="Decision boundary w-transpose-x plus b equals 0 with w perpendicular to it and distance |b|/||w|| from the origin.">    </p:cNvPr>
          <p:cNvPicPr>
            <a:picLocks noChangeAspect="1"/>
          </p:cNvPicPr>
          <p:nvPr/>
        </p:nvPicPr>
        <p:blipFill>
          <a:blip r:embed="rId2"/>
          <a:stretch>
            <a:fillRect/>
          </a:stretch>
        </p:blipFill>
        <p:spPr>
          <a:xfrm>
            <a:off x="5486400" y="1504612"/>
            <a:ext cx="3017520" cy="3254417"/>
          </a:xfrm>
          <a:prstGeom prst="rect">
            <a:avLst/>
          </a:prstGeom>
        </p:spPr>
      </p:pic>
      <p:pic>
        <p:nvPicPr>
          <p:cNvPr id="28" name="Image 2" descr="LaTeX: $\displaystyle \text{signed distance} = \frac{\w\T\x + b}{\lVert\w\rVert}$">    </p:cNvPr>
          <p:cNvPicPr>
            <a:picLocks noChangeAspect="1"/>
          </p:cNvPicPr>
          <p:nvPr/>
        </p:nvPicPr>
        <p:blipFill>
          <a:blip r:embed="rId3"/>
          <a:stretch>
            <a:fillRect/>
          </a:stretch>
        </p:blipFill>
        <p:spPr>
          <a:xfrm>
            <a:off x="5532120" y="5120640"/>
            <a:ext cx="2376373" cy="540944"/>
          </a:xfrm>
          <a:prstGeom prst="rect">
            <a:avLst/>
          </a:prstGeom>
        </p:spPr>
      </p:pic>
      <p:sp>
        <p:nvSpPr>
          <p:cNvPr id="29" name="Shape 23"/>
          <p:cNvSpPr/>
          <p:nvPr/>
        </p:nvSpPr>
        <p:spPr>
          <a:xfrm>
            <a:off x="8732520" y="1463040"/>
            <a:ext cx="365760" cy="365760"/>
          </a:xfrm>
          <a:prstGeom prst="ellipse">
            <a:avLst/>
          </a:prstGeom>
          <a:solidFill>
            <a:srgbClr val="0F7C82"/>
          </a:solidFill>
          <a:ln/>
        </p:spPr>
      </p:sp>
      <p:sp>
        <p:nvSpPr>
          <p:cNvPr id="30" name="Text 24"/>
          <p:cNvSpPr txBox="1"/>
          <p:nvPr/>
        </p:nvSpPr>
        <p:spPr>
          <a:xfrm>
            <a:off x="8732520" y="14630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1" name="Text 25"/>
          <p:cNvSpPr txBox="1"/>
          <p:nvPr/>
        </p:nvSpPr>
        <p:spPr>
          <a:xfrm>
            <a:off x="9299448" y="1444752"/>
            <a:ext cx="2340864"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w ⟂ boundary</a:t>
            </a:r>
            <a:endParaRPr lang="en-US" sz="1800" dirty="0"/>
          </a:p>
        </p:txBody>
      </p:sp>
      <p:sp>
        <p:nvSpPr>
          <p:cNvPr id="32" name="Text 26"/>
          <p:cNvSpPr txBox="1"/>
          <p:nvPr/>
        </p:nvSpPr>
        <p:spPr>
          <a:xfrm>
            <a:off x="9299448" y="1810512"/>
            <a:ext cx="2340864"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w points toward increasing z.</a:t>
            </a:r>
            <a:endParaRPr lang="en-US" sz="1600" dirty="0"/>
          </a:p>
        </p:txBody>
      </p:sp>
      <p:sp>
        <p:nvSpPr>
          <p:cNvPr id="33" name="Shape 27"/>
          <p:cNvSpPr/>
          <p:nvPr/>
        </p:nvSpPr>
        <p:spPr>
          <a:xfrm>
            <a:off x="8732520" y="2788920"/>
            <a:ext cx="365760" cy="365760"/>
          </a:xfrm>
          <a:prstGeom prst="ellipse">
            <a:avLst/>
          </a:prstGeom>
          <a:solidFill>
            <a:srgbClr val="0F7C82"/>
          </a:solidFill>
          <a:ln/>
        </p:spPr>
      </p:sp>
      <p:sp>
        <p:nvSpPr>
          <p:cNvPr id="34" name="Text 28"/>
          <p:cNvSpPr txBox="1"/>
          <p:nvPr/>
        </p:nvSpPr>
        <p:spPr>
          <a:xfrm>
            <a:off x="8732520" y="27889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5" name="Text 29"/>
          <p:cNvSpPr txBox="1"/>
          <p:nvPr/>
        </p:nvSpPr>
        <p:spPr>
          <a:xfrm>
            <a:off x="9299448" y="2770632"/>
            <a:ext cx="2340864"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Bias shifts, never rotates</a:t>
            </a:r>
            <a:endParaRPr lang="en-US" sz="1800" dirty="0"/>
          </a:p>
        </p:txBody>
      </p:sp>
      <p:sp>
        <p:nvSpPr>
          <p:cNvPr id="36" name="Text 30"/>
          <p:cNvSpPr txBox="1"/>
          <p:nvPr/>
        </p:nvSpPr>
        <p:spPr>
          <a:xfrm>
            <a:off x="9299448" y="3136392"/>
            <a:ext cx="2340864"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Distance to origin: |b| / ‖w‖.</a:t>
            </a:r>
            <a:endParaRPr lang="en-US" sz="1600" dirty="0"/>
          </a:p>
        </p:txBody>
      </p:sp>
      <p:sp>
        <p:nvSpPr>
          <p:cNvPr id="37" name="Shape 31"/>
          <p:cNvSpPr/>
          <p:nvPr/>
        </p:nvSpPr>
        <p:spPr>
          <a:xfrm>
            <a:off x="8732520" y="4114800"/>
            <a:ext cx="365760" cy="365760"/>
          </a:xfrm>
          <a:prstGeom prst="ellipse">
            <a:avLst/>
          </a:prstGeom>
          <a:solidFill>
            <a:srgbClr val="0F7C82"/>
          </a:solidFill>
          <a:ln/>
        </p:spPr>
      </p:sp>
      <p:sp>
        <p:nvSpPr>
          <p:cNvPr id="38" name="Text 32"/>
          <p:cNvSpPr txBox="1"/>
          <p:nvPr/>
        </p:nvSpPr>
        <p:spPr>
          <a:xfrm>
            <a:off x="8732520" y="41148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9" name="Text 33"/>
          <p:cNvSpPr txBox="1"/>
          <p:nvPr/>
        </p:nvSpPr>
        <p:spPr>
          <a:xfrm>
            <a:off x="9299448" y="4096512"/>
            <a:ext cx="2340864"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‖w‖ sets sharpness</a:t>
            </a:r>
            <a:endParaRPr lang="en-US" sz="1800" dirty="0"/>
          </a:p>
        </p:txBody>
      </p:sp>
      <p:sp>
        <p:nvSpPr>
          <p:cNvPr id="40" name="Text 34"/>
          <p:cNvSpPr txBox="1"/>
          <p:nvPr/>
        </p:nvSpPr>
        <p:spPr>
          <a:xfrm>
            <a:off x="9299448" y="4462272"/>
            <a:ext cx="2340864"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Same boundary, steeper switch.</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THE NEURON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Smooth activations give gradients: the sigmoid neuron</a:t>
            </a:r>
            <a:endParaRPr lang="en-US" sz="3200" dirty="0"/>
          </a:p>
        </p:txBody>
      </p:sp>
      <p:graphicFrame>
        <p:nvGraphicFramePr>
          <p:cNvPr id="5" name="Chart 0" descr="Sigmoid and its derivative; the derivative peaks at 0.25 at z = 0."/>
          <p:cNvGraphicFramePr/>
          <p:nvPr/>
        </p:nvGraphicFramePr>
        <p:xfrm>
          <a:off x="457200" y="1417320"/>
          <a:ext cx="5120640" cy="420624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5760720" y="1417320"/>
            <a:ext cx="5879592" cy="1417320"/>
          </a:xfrm>
          <a:prstGeom prst="roundRect">
            <a:avLst>
              <a:gd name="adj" fmla="val 5161"/>
            </a:avLst>
          </a:prstGeom>
          <a:solidFill>
            <a:srgbClr val="FBEADF"/>
          </a:solidFill>
          <a:ln/>
        </p:spPr>
      </p:sp>
      <p:sp>
        <p:nvSpPr>
          <p:cNvPr id="7" name="Text 3"/>
          <p:cNvSpPr txBox="1"/>
          <p:nvPr/>
        </p:nvSpPr>
        <p:spPr>
          <a:xfrm>
            <a:off x="5961888" y="1581912"/>
            <a:ext cx="5477256"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PERCEPTRON: A HARD STEP</a:t>
            </a:r>
            <a:endParaRPr lang="en-US" sz="1300" dirty="0"/>
          </a:p>
        </p:txBody>
      </p:sp>
      <p:sp>
        <p:nvSpPr>
          <p:cNvPr id="8" name="Text 4"/>
          <p:cNvSpPr txBox="1"/>
          <p:nvPr/>
        </p:nvSpPr>
        <p:spPr>
          <a:xfrm>
            <a:off x="5961888" y="1947672"/>
            <a:ext cx="5477256" cy="7772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g′(z) = 0 wherever it is defined: no gradient flows through a stack of steps.</a:t>
            </a:r>
            <a:endParaRPr lang="en-US" sz="1700" dirty="0"/>
          </a:p>
        </p:txBody>
      </p:sp>
      <p:sp>
        <p:nvSpPr>
          <p:cNvPr id="9" name="Shape 5"/>
          <p:cNvSpPr/>
          <p:nvPr/>
        </p:nvSpPr>
        <p:spPr>
          <a:xfrm>
            <a:off x="5760720" y="3017520"/>
            <a:ext cx="5879592" cy="2606040"/>
          </a:xfrm>
          <a:prstGeom prst="roundRect">
            <a:avLst>
              <a:gd name="adj" fmla="val 2807"/>
            </a:avLst>
          </a:prstGeom>
          <a:solidFill>
            <a:srgbClr val="F3F5F8"/>
          </a:solidFill>
          <a:ln/>
        </p:spPr>
      </p:sp>
      <p:sp>
        <p:nvSpPr>
          <p:cNvPr id="10" name="Text 6"/>
          <p:cNvSpPr txBox="1"/>
          <p:nvPr/>
        </p:nvSpPr>
        <p:spPr>
          <a:xfrm>
            <a:off x="5961888" y="3172968"/>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ASSUME LINEAR LOG-ODDS, SOLVE FOR P</a:t>
            </a:r>
            <a:endParaRPr lang="en-US" sz="1300" dirty="0"/>
          </a:p>
        </p:txBody>
      </p:sp>
      <p:pic>
        <p:nvPicPr>
          <p:cNvPr id="11" name="Image 0" descr="LaTeX: \begin{align*} \log\frac{p}{1-p} &amp;= \w\T\x + b = z\\[2pt] \Rightarrow\quad p &amp;= \frac{1}{1+e^{-z}} = \sigma(z) \end{align*}">    </p:cNvPr>
          <p:cNvPicPr>
            <a:picLocks noChangeAspect="1"/>
          </p:cNvPicPr>
          <p:nvPr/>
        </p:nvPicPr>
        <p:blipFill>
          <a:blip r:embed="rId2"/>
          <a:stretch>
            <a:fillRect/>
          </a:stretch>
        </p:blipFill>
        <p:spPr>
          <a:xfrm>
            <a:off x="5989320" y="3520440"/>
            <a:ext cx="2616708" cy="1072591"/>
          </a:xfrm>
          <a:prstGeom prst="rect">
            <a:avLst/>
          </a:prstGeom>
        </p:spPr>
      </p:pic>
      <p:pic>
        <p:nvPicPr>
          <p:cNvPr id="12" name="Image 1" descr="LaTeX: $\displaystyle \sigma'(z) = \sigma(z)\,\bigl(1-\sigma(z)\bigr) \;\le\; \tfrac14$">    </p:cNvPr>
          <p:cNvPicPr>
            <a:picLocks noChangeAspect="1"/>
          </p:cNvPicPr>
          <p:nvPr/>
        </p:nvPicPr>
        <p:blipFill>
          <a:blip r:embed="rId3"/>
          <a:stretch>
            <a:fillRect/>
          </a:stretch>
        </p:blipFill>
        <p:spPr>
          <a:xfrm>
            <a:off x="5989320" y="4937760"/>
            <a:ext cx="2746248" cy="321259"/>
          </a:xfrm>
          <a:prstGeom prst="rect">
            <a:avLst/>
          </a:prstGeom>
        </p:spPr>
      </p:pic>
      <p:sp>
        <p:nvSpPr>
          <p:cNvPr id="13" name="Shape 7"/>
          <p:cNvSpPr/>
          <p:nvPr/>
        </p:nvSpPr>
        <p:spPr>
          <a:xfrm>
            <a:off x="5760720" y="5669280"/>
            <a:ext cx="5879592" cy="548640"/>
          </a:xfrm>
          <a:prstGeom prst="roundRect">
            <a:avLst>
              <a:gd name="adj" fmla="val 13333"/>
            </a:avLst>
          </a:prstGeom>
          <a:solidFill>
            <a:srgbClr val="E2F1F1"/>
          </a:solidFill>
          <a:ln/>
        </p:spPr>
      </p:sp>
      <p:sp>
        <p:nvSpPr>
          <p:cNvPr id="14" name="Text 8"/>
          <p:cNvSpPr txBox="1"/>
          <p:nvPr/>
        </p:nvSpPr>
        <p:spPr>
          <a:xfrm>
            <a:off x="5961888" y="5715000"/>
            <a:ext cx="5477256" cy="45720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Logistic regression is a single sigmoid neuron.</a:t>
            </a:r>
            <a:endParaRPr lang="en-US" sz="1800" dirty="0"/>
          </a:p>
        </p:txBody>
      </p:sp>
      <p:sp>
        <p:nvSpPr>
          <p:cNvPr id="15" name="Text 9"/>
          <p:cNvSpPr txBox="1"/>
          <p:nvPr/>
        </p:nvSpPr>
        <p:spPr>
          <a:xfrm>
            <a:off x="548640" y="5760720"/>
            <a:ext cx="4937760" cy="365760"/>
          </a:xfrm>
          <a:prstGeom prst="rect">
            <a:avLst/>
          </a:prstGeom>
          <a:noFill/>
          <a:ln/>
        </p:spPr>
        <p:txBody>
          <a:bodyPr wrap="square" lIns="0" tIns="0" rIns="0" bIns="0" rtlCol="0" anchor="t"/>
          <a:lstStyle/>
          <a:p>
            <a:pPr indent="0" marL="0">
              <a:buNone/>
            </a:pPr>
            <a:r>
              <a:rPr lang="en-US" sz="1600" i="1" dirty="0">
                <a:solidFill>
                  <a:srgbClr val="5B6675"/>
                </a:solidFill>
                <a:latin typeface="Calibri" pitchFamily="34" charset="0"/>
                <a:ea typeface="Calibri" pitchFamily="34" charset="-122"/>
                <a:cs typeface="Calibri" pitchFamily="34" charset="-120"/>
              </a:rPr>
              <a:t>Maximum slope of σ: 1/4, at z = 0.</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ACTIVATIONS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Without a nonlinearity, depth collapses to one layer</a:t>
            </a:r>
            <a:endParaRPr lang="en-US" sz="3200" dirty="0"/>
          </a:p>
        </p:txBody>
      </p:sp>
      <p:sp>
        <p:nvSpPr>
          <p:cNvPr id="5" name="Shape 2"/>
          <p:cNvSpPr/>
          <p:nvPr/>
        </p:nvSpPr>
        <p:spPr>
          <a:xfrm>
            <a:off x="548640" y="1600200"/>
            <a:ext cx="685800" cy="777240"/>
          </a:xfrm>
          <a:prstGeom prst="roundRect">
            <a:avLst>
              <a:gd name="adj" fmla="val 13333"/>
            </a:avLst>
          </a:prstGeom>
          <a:solidFill>
            <a:srgbClr val="FFFFFF"/>
          </a:solidFill>
          <a:ln w="15875">
            <a:solidFill>
              <a:srgbClr val="8A94A3"/>
            </a:solidFill>
            <a:prstDash val="solid"/>
          </a:ln>
        </p:spPr>
      </p:sp>
      <p:sp>
        <p:nvSpPr>
          <p:cNvPr id="6" name="Text 3"/>
          <p:cNvSpPr txBox="1"/>
          <p:nvPr/>
        </p:nvSpPr>
        <p:spPr>
          <a:xfrm>
            <a:off x="594360" y="1600200"/>
            <a:ext cx="5943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a:t>
            </a:r>
            <a:endParaRPr lang="en-US" sz="1800" dirty="0"/>
          </a:p>
        </p:txBody>
      </p:sp>
      <p:sp>
        <p:nvSpPr>
          <p:cNvPr id="7" name="Shape 4"/>
          <p:cNvSpPr/>
          <p:nvPr/>
        </p:nvSpPr>
        <p:spPr>
          <a:xfrm>
            <a:off x="1280160" y="1984248"/>
            <a:ext cx="228600" cy="91"/>
          </a:xfrm>
          <a:prstGeom prst="line">
            <a:avLst/>
          </a:prstGeom>
          <a:noFill/>
          <a:ln w="22225">
            <a:solidFill>
              <a:srgbClr val="5B6675"/>
            </a:solidFill>
            <a:prstDash val="solid"/>
            <a:tailEnd type="triangle"/>
          </a:ln>
        </p:spPr>
      </p:sp>
      <p:sp>
        <p:nvSpPr>
          <p:cNvPr id="8" name="Shape 5"/>
          <p:cNvSpPr/>
          <p:nvPr/>
        </p:nvSpPr>
        <p:spPr>
          <a:xfrm>
            <a:off x="1554480" y="1600200"/>
            <a:ext cx="1371600" cy="777240"/>
          </a:xfrm>
          <a:prstGeom prst="roundRect">
            <a:avLst>
              <a:gd name="adj" fmla="val 11765"/>
            </a:avLst>
          </a:prstGeom>
          <a:solidFill>
            <a:srgbClr val="FFFFFF"/>
          </a:solidFill>
          <a:ln w="15875">
            <a:solidFill>
              <a:srgbClr val="8A94A3"/>
            </a:solidFill>
            <a:prstDash val="solid"/>
          </a:ln>
        </p:spPr>
      </p:sp>
      <p:sp>
        <p:nvSpPr>
          <p:cNvPr id="9" name="Text 6"/>
          <p:cNvSpPr txBox="1"/>
          <p:nvPr/>
        </p:nvSpPr>
        <p:spPr>
          <a:xfrm>
            <a:off x="1600200" y="1600200"/>
            <a:ext cx="12801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W</a:t>
            </a:r>
            <a:pPr algn="ctr" indent="0" marL="0">
              <a:buNone/>
            </a:pPr>
            <a:r>
              <a:rPr lang="en-US" sz="1800" baseline="30000" dirty="0">
                <a:solidFill>
                  <a:srgbClr val="17202E"/>
                </a:solidFill>
                <a:latin typeface="Cambria" pitchFamily="34" charset="0"/>
                <a:ea typeface="Cambria" pitchFamily="34" charset="-122"/>
                <a:cs typeface="Cambria" pitchFamily="34" charset="-120"/>
              </a:rPr>
              <a:t>[1]</a:t>
            </a:r>
            <a:endParaRPr lang="en-US" sz="1800" dirty="0"/>
          </a:p>
        </p:txBody>
      </p:sp>
      <p:sp>
        <p:nvSpPr>
          <p:cNvPr id="10" name="Shape 7"/>
          <p:cNvSpPr/>
          <p:nvPr/>
        </p:nvSpPr>
        <p:spPr>
          <a:xfrm>
            <a:off x="2971800" y="1984248"/>
            <a:ext cx="228600" cy="91"/>
          </a:xfrm>
          <a:prstGeom prst="line">
            <a:avLst/>
          </a:prstGeom>
          <a:noFill/>
          <a:ln w="22225">
            <a:solidFill>
              <a:srgbClr val="5B6675"/>
            </a:solidFill>
            <a:prstDash val="solid"/>
            <a:tailEnd type="triangle"/>
          </a:ln>
        </p:spPr>
      </p:sp>
      <p:sp>
        <p:nvSpPr>
          <p:cNvPr id="11" name="Shape 8"/>
          <p:cNvSpPr/>
          <p:nvPr/>
        </p:nvSpPr>
        <p:spPr>
          <a:xfrm>
            <a:off x="3246120" y="1600200"/>
            <a:ext cx="1371600" cy="777240"/>
          </a:xfrm>
          <a:prstGeom prst="roundRect">
            <a:avLst>
              <a:gd name="adj" fmla="val 11765"/>
            </a:avLst>
          </a:prstGeom>
          <a:solidFill>
            <a:srgbClr val="FFFFFF"/>
          </a:solidFill>
          <a:ln w="15875">
            <a:solidFill>
              <a:srgbClr val="8A94A3"/>
            </a:solidFill>
            <a:prstDash val="solid"/>
          </a:ln>
        </p:spPr>
      </p:sp>
      <p:sp>
        <p:nvSpPr>
          <p:cNvPr id="12" name="Text 9"/>
          <p:cNvSpPr txBox="1"/>
          <p:nvPr/>
        </p:nvSpPr>
        <p:spPr>
          <a:xfrm>
            <a:off x="3291840" y="1600200"/>
            <a:ext cx="12801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W</a:t>
            </a:r>
            <a:pPr algn="ctr" indent="0" marL="0">
              <a:buNone/>
            </a:pPr>
            <a:r>
              <a:rPr lang="en-US" sz="1800" baseline="30000" dirty="0">
                <a:solidFill>
                  <a:srgbClr val="17202E"/>
                </a:solidFill>
                <a:latin typeface="Cambria" pitchFamily="34" charset="0"/>
                <a:ea typeface="Cambria" pitchFamily="34" charset="-122"/>
                <a:cs typeface="Cambria" pitchFamily="34" charset="-120"/>
              </a:rPr>
              <a:t>[2]</a:t>
            </a:r>
            <a:endParaRPr lang="en-US" sz="1800" dirty="0"/>
          </a:p>
        </p:txBody>
      </p:sp>
      <p:sp>
        <p:nvSpPr>
          <p:cNvPr id="13" name="Shape 10"/>
          <p:cNvSpPr/>
          <p:nvPr/>
        </p:nvSpPr>
        <p:spPr>
          <a:xfrm>
            <a:off x="4663440" y="1984248"/>
            <a:ext cx="228600" cy="91"/>
          </a:xfrm>
          <a:prstGeom prst="line">
            <a:avLst/>
          </a:prstGeom>
          <a:noFill/>
          <a:ln w="22225">
            <a:solidFill>
              <a:srgbClr val="5B6675"/>
            </a:solidFill>
            <a:prstDash val="solid"/>
            <a:tailEnd type="triangle"/>
          </a:ln>
        </p:spPr>
      </p:sp>
      <p:sp>
        <p:nvSpPr>
          <p:cNvPr id="14" name="Shape 11"/>
          <p:cNvSpPr/>
          <p:nvPr/>
        </p:nvSpPr>
        <p:spPr>
          <a:xfrm>
            <a:off x="4937760" y="1600200"/>
            <a:ext cx="1371600" cy="777240"/>
          </a:xfrm>
          <a:prstGeom prst="roundRect">
            <a:avLst>
              <a:gd name="adj" fmla="val 11765"/>
            </a:avLst>
          </a:prstGeom>
          <a:solidFill>
            <a:srgbClr val="FFFFFF"/>
          </a:solidFill>
          <a:ln w="15875">
            <a:solidFill>
              <a:srgbClr val="8A94A3"/>
            </a:solidFill>
            <a:prstDash val="solid"/>
          </a:ln>
        </p:spPr>
      </p:sp>
      <p:sp>
        <p:nvSpPr>
          <p:cNvPr id="15" name="Text 12"/>
          <p:cNvSpPr txBox="1"/>
          <p:nvPr/>
        </p:nvSpPr>
        <p:spPr>
          <a:xfrm>
            <a:off x="4983480" y="1600200"/>
            <a:ext cx="12801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W</a:t>
            </a:r>
            <a:pPr algn="ctr" indent="0" marL="0">
              <a:buNone/>
            </a:pPr>
            <a:r>
              <a:rPr lang="en-US" sz="1800" baseline="30000" dirty="0">
                <a:solidFill>
                  <a:srgbClr val="17202E"/>
                </a:solidFill>
                <a:latin typeface="Cambria" pitchFamily="34" charset="0"/>
                <a:ea typeface="Cambria" pitchFamily="34" charset="-122"/>
                <a:cs typeface="Cambria" pitchFamily="34" charset="-120"/>
              </a:rPr>
              <a:t>[3]</a:t>
            </a:r>
            <a:endParaRPr lang="en-US" sz="1800" dirty="0"/>
          </a:p>
        </p:txBody>
      </p:sp>
      <p:sp>
        <p:nvSpPr>
          <p:cNvPr id="16" name="Shape 13"/>
          <p:cNvSpPr/>
          <p:nvPr/>
        </p:nvSpPr>
        <p:spPr>
          <a:xfrm>
            <a:off x="6355080" y="1984248"/>
            <a:ext cx="228600" cy="91"/>
          </a:xfrm>
          <a:prstGeom prst="line">
            <a:avLst/>
          </a:prstGeom>
          <a:noFill/>
          <a:ln w="22225">
            <a:solidFill>
              <a:srgbClr val="5B6675"/>
            </a:solidFill>
            <a:prstDash val="solid"/>
            <a:tailEnd type="triangle"/>
          </a:ln>
        </p:spPr>
      </p:sp>
      <p:sp>
        <p:nvSpPr>
          <p:cNvPr id="17" name="Shape 14"/>
          <p:cNvSpPr/>
          <p:nvPr/>
        </p:nvSpPr>
        <p:spPr>
          <a:xfrm>
            <a:off x="6629400" y="1600200"/>
            <a:ext cx="822960" cy="777240"/>
          </a:xfrm>
          <a:prstGeom prst="roundRect">
            <a:avLst>
              <a:gd name="adj" fmla="val 11765"/>
            </a:avLst>
          </a:prstGeom>
          <a:solidFill>
            <a:srgbClr val="FFFFFF"/>
          </a:solidFill>
          <a:ln w="15875">
            <a:solidFill>
              <a:srgbClr val="8A94A3"/>
            </a:solidFill>
            <a:prstDash val="solid"/>
          </a:ln>
        </p:spPr>
      </p:sp>
      <p:sp>
        <p:nvSpPr>
          <p:cNvPr id="18" name="Text 15"/>
          <p:cNvSpPr txBox="1"/>
          <p:nvPr/>
        </p:nvSpPr>
        <p:spPr>
          <a:xfrm>
            <a:off x="6675120" y="1600200"/>
            <a:ext cx="73152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ŷ</a:t>
            </a:r>
            <a:endParaRPr lang="en-US" sz="1800" dirty="0"/>
          </a:p>
        </p:txBody>
      </p:sp>
      <p:sp>
        <p:nvSpPr>
          <p:cNvPr id="19" name="Text 16"/>
          <p:cNvSpPr txBox="1"/>
          <p:nvPr/>
        </p:nvSpPr>
        <p:spPr>
          <a:xfrm>
            <a:off x="7635240" y="1600200"/>
            <a:ext cx="548640" cy="777240"/>
          </a:xfrm>
          <a:prstGeom prst="rect">
            <a:avLst/>
          </a:prstGeom>
          <a:noFill/>
          <a:ln/>
        </p:spPr>
        <p:txBody>
          <a:bodyPr wrap="square" lIns="0" tIns="0" rIns="0" bIns="0" rtlCol="0" anchor="ctr"/>
          <a:lstStyle/>
          <a:p>
            <a:pPr algn="ctr" indent="0" marL="0">
              <a:buNone/>
            </a:pPr>
            <a:r>
              <a:rPr lang="en-US" sz="3600" b="1" dirty="0">
                <a:solidFill>
                  <a:srgbClr val="C8571B"/>
                </a:solidFill>
                <a:latin typeface="Calibri" pitchFamily="34" charset="0"/>
                <a:ea typeface="Calibri" pitchFamily="34" charset="-122"/>
                <a:cs typeface="Calibri" pitchFamily="34" charset="-120"/>
              </a:rPr>
              <a:t>≡</a:t>
            </a:r>
            <a:endParaRPr lang="en-US" sz="3600" dirty="0"/>
          </a:p>
        </p:txBody>
      </p:sp>
      <p:sp>
        <p:nvSpPr>
          <p:cNvPr id="20" name="Shape 17"/>
          <p:cNvSpPr/>
          <p:nvPr/>
        </p:nvSpPr>
        <p:spPr>
          <a:xfrm>
            <a:off x="8321040" y="1600200"/>
            <a:ext cx="685800" cy="777240"/>
          </a:xfrm>
          <a:prstGeom prst="roundRect">
            <a:avLst>
              <a:gd name="adj" fmla="val 13333"/>
            </a:avLst>
          </a:prstGeom>
          <a:solidFill>
            <a:srgbClr val="FFFFFF"/>
          </a:solidFill>
          <a:ln w="15875">
            <a:solidFill>
              <a:srgbClr val="8A94A3"/>
            </a:solidFill>
            <a:prstDash val="solid"/>
          </a:ln>
        </p:spPr>
      </p:sp>
      <p:sp>
        <p:nvSpPr>
          <p:cNvPr id="21" name="Text 18"/>
          <p:cNvSpPr txBox="1"/>
          <p:nvPr/>
        </p:nvSpPr>
        <p:spPr>
          <a:xfrm>
            <a:off x="8366760" y="1600200"/>
            <a:ext cx="5943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a:t>
            </a:r>
            <a:endParaRPr lang="en-US" sz="1800" dirty="0"/>
          </a:p>
        </p:txBody>
      </p:sp>
      <p:sp>
        <p:nvSpPr>
          <p:cNvPr id="22" name="Shape 19"/>
          <p:cNvSpPr/>
          <p:nvPr/>
        </p:nvSpPr>
        <p:spPr>
          <a:xfrm>
            <a:off x="9052560" y="1984248"/>
            <a:ext cx="228600" cy="91"/>
          </a:xfrm>
          <a:prstGeom prst="line">
            <a:avLst/>
          </a:prstGeom>
          <a:noFill/>
          <a:ln w="22225">
            <a:solidFill>
              <a:srgbClr val="5B6675"/>
            </a:solidFill>
            <a:prstDash val="solid"/>
            <a:tailEnd type="triangle"/>
          </a:ln>
        </p:spPr>
      </p:sp>
      <p:sp>
        <p:nvSpPr>
          <p:cNvPr id="23" name="Shape 20"/>
          <p:cNvSpPr/>
          <p:nvPr/>
        </p:nvSpPr>
        <p:spPr>
          <a:xfrm>
            <a:off x="9326880" y="1600200"/>
            <a:ext cx="1143000" cy="777240"/>
          </a:xfrm>
          <a:prstGeom prst="roundRect">
            <a:avLst>
              <a:gd name="adj" fmla="val 11765"/>
            </a:avLst>
          </a:prstGeom>
          <a:solidFill>
            <a:srgbClr val="FBEADF"/>
          </a:solidFill>
          <a:ln w="15875">
            <a:solidFill>
              <a:srgbClr val="C8571B"/>
            </a:solidFill>
            <a:prstDash val="solid"/>
          </a:ln>
        </p:spPr>
      </p:sp>
      <p:sp>
        <p:nvSpPr>
          <p:cNvPr id="24" name="Text 21"/>
          <p:cNvSpPr txBox="1"/>
          <p:nvPr/>
        </p:nvSpPr>
        <p:spPr>
          <a:xfrm>
            <a:off x="9372600" y="1600200"/>
            <a:ext cx="10515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W′</a:t>
            </a:r>
            <a:endParaRPr lang="en-US" sz="1800" dirty="0"/>
          </a:p>
        </p:txBody>
      </p:sp>
      <p:sp>
        <p:nvSpPr>
          <p:cNvPr id="25" name="Shape 22"/>
          <p:cNvSpPr/>
          <p:nvPr/>
        </p:nvSpPr>
        <p:spPr>
          <a:xfrm>
            <a:off x="10515600" y="1984248"/>
            <a:ext cx="228600" cy="91"/>
          </a:xfrm>
          <a:prstGeom prst="line">
            <a:avLst/>
          </a:prstGeom>
          <a:noFill/>
          <a:ln w="22225">
            <a:solidFill>
              <a:srgbClr val="5B6675"/>
            </a:solidFill>
            <a:prstDash val="solid"/>
            <a:tailEnd type="triangle"/>
          </a:ln>
        </p:spPr>
      </p:sp>
      <p:sp>
        <p:nvSpPr>
          <p:cNvPr id="26" name="Shape 23"/>
          <p:cNvSpPr/>
          <p:nvPr/>
        </p:nvSpPr>
        <p:spPr>
          <a:xfrm>
            <a:off x="10789920" y="1600200"/>
            <a:ext cx="850392" cy="777240"/>
          </a:xfrm>
          <a:prstGeom prst="roundRect">
            <a:avLst>
              <a:gd name="adj" fmla="val 11765"/>
            </a:avLst>
          </a:prstGeom>
          <a:solidFill>
            <a:srgbClr val="FFFFFF"/>
          </a:solidFill>
          <a:ln w="15875">
            <a:solidFill>
              <a:srgbClr val="8A94A3"/>
            </a:solidFill>
            <a:prstDash val="solid"/>
          </a:ln>
        </p:spPr>
      </p:sp>
      <p:sp>
        <p:nvSpPr>
          <p:cNvPr id="27" name="Text 24"/>
          <p:cNvSpPr txBox="1"/>
          <p:nvPr/>
        </p:nvSpPr>
        <p:spPr>
          <a:xfrm>
            <a:off x="10835640" y="1600200"/>
            <a:ext cx="758952"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ŷ</a:t>
            </a:r>
            <a:endParaRPr lang="en-US" sz="1800" dirty="0"/>
          </a:p>
        </p:txBody>
      </p:sp>
      <p:sp>
        <p:nvSpPr>
          <p:cNvPr id="28" name="Text 25"/>
          <p:cNvSpPr txBox="1"/>
          <p:nvPr/>
        </p:nvSpPr>
        <p:spPr>
          <a:xfrm>
            <a:off x="1554480" y="2468880"/>
            <a:ext cx="512064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three linear layers, no activation (biases omitted)</a:t>
            </a:r>
            <a:endParaRPr lang="en-US" sz="1500" dirty="0"/>
          </a:p>
        </p:txBody>
      </p:sp>
      <p:sp>
        <p:nvSpPr>
          <p:cNvPr id="29" name="Text 26"/>
          <p:cNvSpPr txBox="1"/>
          <p:nvPr/>
        </p:nvSpPr>
        <p:spPr>
          <a:xfrm>
            <a:off x="8321040" y="2468880"/>
            <a:ext cx="329184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one linear layer</a:t>
            </a:r>
            <a:endParaRPr lang="en-US" sz="1500" dirty="0"/>
          </a:p>
        </p:txBody>
      </p:sp>
      <p:sp>
        <p:nvSpPr>
          <p:cNvPr id="30" name="Shape 27"/>
          <p:cNvSpPr/>
          <p:nvPr/>
        </p:nvSpPr>
        <p:spPr>
          <a:xfrm>
            <a:off x="548640" y="2880360"/>
            <a:ext cx="11094415" cy="2103120"/>
          </a:xfrm>
          <a:prstGeom prst="roundRect">
            <a:avLst>
              <a:gd name="adj" fmla="val 3478"/>
            </a:avLst>
          </a:prstGeom>
          <a:solidFill>
            <a:srgbClr val="F3F5F8"/>
          </a:solidFill>
          <a:ln/>
        </p:spPr>
      </p:sp>
      <p:sp>
        <p:nvSpPr>
          <p:cNvPr id="31" name="Text 28"/>
          <p:cNvSpPr txBox="1"/>
          <p:nvPr/>
        </p:nvSpPr>
        <p:spPr>
          <a:xfrm>
            <a:off x="777240" y="3035808"/>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SUBSTITUTE UPWARD</a:t>
            </a:r>
            <a:endParaRPr lang="en-US" sz="1300" dirty="0"/>
          </a:p>
        </p:txBody>
      </p:sp>
      <p:pic>
        <p:nvPicPr>
          <p:cNvPr id="32" name="Image 0" descr="LaTeX: \begin{align*} \av\Ly{3} &amp;= \W\Ly{3}\bigl(\W\Ly{2}(\W\Ly{1}\x + \bb\Ly{1}) + \bb\Ly{2}\bigr) + \bb\Ly{3}\\ &amp;= \underbrace{\W\Ly{3}\W\Ly{2}\W\Ly{1}}_{\W'}\,\x \;+\; \bb' \end{align*}">    </p:cNvPr>
          <p:cNvPicPr>
            <a:picLocks noChangeAspect="1"/>
          </p:cNvPicPr>
          <p:nvPr/>
        </p:nvPicPr>
        <p:blipFill>
          <a:blip r:embed="rId1"/>
          <a:stretch>
            <a:fillRect/>
          </a:stretch>
        </p:blipFill>
        <p:spPr>
          <a:xfrm>
            <a:off x="822960" y="3429000"/>
            <a:ext cx="5017008" cy="1091184"/>
          </a:xfrm>
          <a:prstGeom prst="rect">
            <a:avLst/>
          </a:prstGeom>
        </p:spPr>
      </p:pic>
      <p:sp>
        <p:nvSpPr>
          <p:cNvPr id="33" name="Shape 29"/>
          <p:cNvSpPr/>
          <p:nvPr/>
        </p:nvSpPr>
        <p:spPr>
          <a:xfrm>
            <a:off x="548640" y="5257800"/>
            <a:ext cx="11094415" cy="777240"/>
          </a:xfrm>
          <a:prstGeom prst="roundRect">
            <a:avLst>
              <a:gd name="adj" fmla="val 9412"/>
            </a:avLst>
          </a:prstGeom>
          <a:solidFill>
            <a:srgbClr val="FBEADF"/>
          </a:solidFill>
          <a:ln/>
        </p:spPr>
      </p:sp>
      <p:sp>
        <p:nvSpPr>
          <p:cNvPr id="34" name="Text 30"/>
          <p:cNvSpPr txBox="1"/>
          <p:nvPr/>
        </p:nvSpPr>
        <p:spPr>
          <a:xfrm>
            <a:off x="749808" y="5303520"/>
            <a:ext cx="10692079" cy="685800"/>
          </a:xfrm>
          <a:prstGeom prst="rect">
            <a:avLst/>
          </a:prstGeom>
          <a:noFill/>
          <a:ln/>
        </p:spPr>
        <p:txBody>
          <a:bodyPr wrap="square" lIns="0" tIns="0" rIns="0" bIns="0" rtlCol="0" anchor="ctr"/>
          <a:lstStyle/>
          <a:p>
            <a:pPr indent="0" marL="0">
              <a:buNone/>
            </a:pPr>
            <a:r>
              <a:rPr lang="en-US" sz="2000" b="1" dirty="0">
                <a:solidFill>
                  <a:srgbClr val="8F3A0E"/>
                </a:solidFill>
                <a:latin typeface="Calibri" pitchFamily="34" charset="0"/>
                <a:ea typeface="Calibri" pitchFamily="34" charset="-122"/>
                <a:cs typeface="Calibri" pitchFamily="34" charset="-120"/>
              </a:rPr>
              <a:t>Depth only pays off with a nonlinearity g between the layers.</a:t>
            </a:r>
            <a:endParaRPr lang="en-US" sz="2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1</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A 5-layer network uses g(z) = z (identity) in every layer. Which decision boundaries can it draw?</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sp>
      <p:sp>
        <p:nvSpPr>
          <p:cNvPr id="7" name="Shape 4"/>
          <p:cNvSpPr/>
          <p:nvPr/>
        </p:nvSpPr>
        <p:spPr>
          <a:xfrm>
            <a:off x="777240" y="3136392"/>
            <a:ext cx="548640" cy="548640"/>
          </a:xfrm>
          <a:prstGeom prst="ellipse">
            <a:avLst/>
          </a:prstGeom>
          <a:solidFill>
            <a:srgbClr val="0F7C82"/>
          </a:solidFill>
          <a:ln/>
        </p:spPr>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Any smooth curve</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sp>
      <p:sp>
        <p:nvSpPr>
          <p:cNvPr id="11" name="Shape 8"/>
          <p:cNvSpPr/>
          <p:nvPr/>
        </p:nvSpPr>
        <p:spPr>
          <a:xfrm>
            <a:off x="6419088" y="3136392"/>
            <a:ext cx="548640" cy="548640"/>
          </a:xfrm>
          <a:prstGeom prst="ellipse">
            <a:avLst/>
          </a:prstGeom>
          <a:solidFill>
            <a:srgbClr val="0F7C82"/>
          </a:solidFill>
          <a:ln/>
        </p:spPr>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Piecewise-linear curves</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sp>
      <p:sp>
        <p:nvSpPr>
          <p:cNvPr id="15" name="Shape 12"/>
          <p:cNvSpPr/>
          <p:nvPr/>
        </p:nvSpPr>
        <p:spPr>
          <a:xfrm>
            <a:off x="777240" y="4553712"/>
            <a:ext cx="548640" cy="548640"/>
          </a:xfrm>
          <a:prstGeom prst="ellipse">
            <a:avLst/>
          </a:prstGeom>
          <a:solidFill>
            <a:srgbClr val="0F7C82"/>
          </a:solidFill>
          <a:ln/>
        </p:spPr>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Only a straight line (a hyperplane)</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sp>
      <p:sp>
        <p:nvSpPr>
          <p:cNvPr id="19" name="Shape 16"/>
          <p:cNvSpPr/>
          <p:nvPr/>
        </p:nvSpPr>
        <p:spPr>
          <a:xfrm>
            <a:off x="6419088" y="4553712"/>
            <a:ext cx="548640" cy="548640"/>
          </a:xfrm>
          <a:prstGeom prst="ellipse">
            <a:avLst/>
          </a:prstGeom>
          <a:solidFill>
            <a:srgbClr val="0F7C82"/>
          </a:solidFill>
          <a:ln/>
        </p:spPr>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It depends on the layer widths</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ACTIVATIONS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Sigmoid and tanh saturate; ReLU does not</a:t>
            </a:r>
            <a:endParaRPr lang="en-US" sz="3200" dirty="0"/>
          </a:p>
        </p:txBody>
      </p:sp>
      <p:graphicFrame>
        <p:nvGraphicFramePr>
          <p:cNvPr id="5" name="Chart 0" descr="Activation g(z): sigmoid, tanh, ReLU"/>
          <p:cNvGraphicFramePr/>
          <p:nvPr/>
        </p:nvGraphicFramePr>
        <p:xfrm>
          <a:off x="457200" y="1417320"/>
          <a:ext cx="5394960" cy="324612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Derivative g′(z): what backprop multiplies: sigmoid′, tanh′, ReLU′"/>
          <p:cNvGraphicFramePr/>
          <p:nvPr/>
        </p:nvGraphicFramePr>
        <p:xfrm>
          <a:off x="6263640" y="1417320"/>
          <a:ext cx="5394960" cy="3246120"/>
        </p:xfrm>
        <a:graphic xmlns:a="http://schemas.openxmlformats.org/drawingml/2006/main">
          <a:graphicData uri="http://schemas.openxmlformats.org/drawingml/2006/chart">
            <c:chart xmlns:c="http://schemas.openxmlformats.org/drawingml/2006/chart" r:id="rId2"/>
          </a:graphicData>
        </a:graphic>
      </p:graphicFrame>
      <p:sp>
        <p:nvSpPr>
          <p:cNvPr id="7" name="Shape 2"/>
          <p:cNvSpPr/>
          <p:nvPr/>
        </p:nvSpPr>
        <p:spPr>
          <a:xfrm>
            <a:off x="548640" y="4846320"/>
            <a:ext cx="3529584" cy="1325880"/>
          </a:xfrm>
          <a:prstGeom prst="roundRect">
            <a:avLst>
              <a:gd name="adj" fmla="val 5517"/>
            </a:avLst>
          </a:prstGeom>
          <a:solidFill>
            <a:srgbClr val="F3F5F8"/>
          </a:solidFill>
          <a:ln/>
        </p:spPr>
      </p:sp>
      <p:sp>
        <p:nvSpPr>
          <p:cNvPr id="8" name="Text 3"/>
          <p:cNvSpPr txBox="1"/>
          <p:nvPr/>
        </p:nvSpPr>
        <p:spPr>
          <a:xfrm>
            <a:off x="731520" y="4956048"/>
            <a:ext cx="3200400" cy="365760"/>
          </a:xfrm>
          <a:prstGeom prst="rect">
            <a:avLst/>
          </a:prstGeom>
          <a:noFill/>
          <a:ln/>
        </p:spPr>
        <p:txBody>
          <a:bodyPr wrap="square" lIns="0" tIns="0" rIns="0" bIns="0" rtlCol="0" anchor="t"/>
          <a:lstStyle/>
          <a:p>
            <a:pPr indent="0" marL="0">
              <a:buNone/>
            </a:pPr>
            <a:r>
              <a:rPr lang="en-US" sz="1800" b="1" dirty="0">
                <a:solidFill>
                  <a:srgbClr val="C8571B"/>
                </a:solidFill>
                <a:latin typeface="Calibri" pitchFamily="34" charset="0"/>
                <a:ea typeface="Calibri" pitchFamily="34" charset="-122"/>
                <a:cs typeface="Calibri" pitchFamily="34" charset="-120"/>
              </a:rPr>
              <a:t>Saturation kills gradients</a:t>
            </a:r>
            <a:endParaRPr lang="en-US" sz="1800" dirty="0"/>
          </a:p>
        </p:txBody>
      </p:sp>
      <p:sp>
        <p:nvSpPr>
          <p:cNvPr id="9" name="Text 4"/>
          <p:cNvSpPr txBox="1"/>
          <p:nvPr/>
        </p:nvSpPr>
        <p:spPr>
          <a:xfrm>
            <a:off x="731520" y="53492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σ′ ≤ 0.25: ten sigmoid layers give ≤ 0.25¹⁰ ≈ 10⁻⁶ from σ′ alone.</a:t>
            </a:r>
            <a:endParaRPr lang="en-US" sz="1600" dirty="0"/>
          </a:p>
        </p:txBody>
      </p:sp>
      <p:sp>
        <p:nvSpPr>
          <p:cNvPr id="10" name="Shape 5"/>
          <p:cNvSpPr/>
          <p:nvPr/>
        </p:nvSpPr>
        <p:spPr>
          <a:xfrm>
            <a:off x="4315968" y="4846320"/>
            <a:ext cx="3529584" cy="1325880"/>
          </a:xfrm>
          <a:prstGeom prst="roundRect">
            <a:avLst>
              <a:gd name="adj" fmla="val 5517"/>
            </a:avLst>
          </a:prstGeom>
          <a:solidFill>
            <a:srgbClr val="F3F5F8"/>
          </a:solidFill>
          <a:ln/>
        </p:spPr>
      </p:sp>
      <p:sp>
        <p:nvSpPr>
          <p:cNvPr id="11" name="Text 6"/>
          <p:cNvSpPr txBox="1"/>
          <p:nvPr/>
        </p:nvSpPr>
        <p:spPr>
          <a:xfrm>
            <a:off x="4498848" y="4956048"/>
            <a:ext cx="3200400"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ReLU: slope 1 when active</a:t>
            </a:r>
            <a:endParaRPr lang="en-US" sz="1800" dirty="0"/>
          </a:p>
        </p:txBody>
      </p:sp>
      <p:sp>
        <p:nvSpPr>
          <p:cNvPr id="12" name="Text 7"/>
          <p:cNvSpPr txBox="1"/>
          <p:nvPr/>
        </p:nvSpPr>
        <p:spPr>
          <a:xfrm>
            <a:off x="4498848" y="53492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The gradient passes unchanged; cheap and sparse.</a:t>
            </a:r>
            <a:endParaRPr lang="en-US" sz="1600" dirty="0"/>
          </a:p>
        </p:txBody>
      </p:sp>
      <p:sp>
        <p:nvSpPr>
          <p:cNvPr id="13" name="Shape 8"/>
          <p:cNvSpPr/>
          <p:nvPr/>
        </p:nvSpPr>
        <p:spPr>
          <a:xfrm>
            <a:off x="8083296" y="4846320"/>
            <a:ext cx="3529584" cy="1325880"/>
          </a:xfrm>
          <a:prstGeom prst="roundRect">
            <a:avLst>
              <a:gd name="adj" fmla="val 5517"/>
            </a:avLst>
          </a:prstGeom>
          <a:solidFill>
            <a:srgbClr val="F3F5F8"/>
          </a:solidFill>
          <a:ln/>
        </p:spPr>
      </p:sp>
      <p:sp>
        <p:nvSpPr>
          <p:cNvPr id="14" name="Text 9"/>
          <p:cNvSpPr txBox="1"/>
          <p:nvPr/>
        </p:nvSpPr>
        <p:spPr>
          <a:xfrm>
            <a:off x="8266176" y="4956048"/>
            <a:ext cx="3200400" cy="365760"/>
          </a:xfrm>
          <a:prstGeom prst="rect">
            <a:avLst/>
          </a:prstGeom>
          <a:noFill/>
          <a:ln/>
        </p:spPr>
        <p:txBody>
          <a:bodyPr wrap="square" lIns="0" tIns="0" rIns="0" bIns="0" rtlCol="0" anchor="t"/>
          <a:lstStyle/>
          <a:p>
            <a:pPr indent="0" marL="0">
              <a:buNone/>
            </a:pPr>
            <a:r>
              <a:rPr lang="en-US" sz="1800" b="1" dirty="0">
                <a:solidFill>
                  <a:srgbClr val="C8571B"/>
                </a:solidFill>
                <a:latin typeface="Calibri" pitchFamily="34" charset="0"/>
                <a:ea typeface="Calibri" pitchFamily="34" charset="-122"/>
                <a:cs typeface="Calibri" pitchFamily="34" charset="-120"/>
              </a:rPr>
              <a:t>Dying ReLU</a:t>
            </a:r>
            <a:endParaRPr lang="en-US" sz="1800" dirty="0"/>
          </a:p>
        </p:txBody>
      </p:sp>
      <p:sp>
        <p:nvSpPr>
          <p:cNvPr id="15" name="Text 10"/>
          <p:cNvSpPr txBox="1"/>
          <p:nvPr/>
        </p:nvSpPr>
        <p:spPr>
          <a:xfrm>
            <a:off x="8266176" y="53492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A unit negative on every input never recovers.</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ACTIVATIONS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Choose the activation by the layer's role</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720840" cy="914400"/>
        </p:xfrm>
        <a:graphic>
          <a:graphicData uri="http://schemas.openxmlformats.org/drawingml/2006/table">
            <a:tbl>
              <a:tblPr/>
              <a:tblGrid>
                <a:gridCol w="2240280"/>
                <a:gridCol w="1691640"/>
                <a:gridCol w="2788920"/>
              </a:tblGrid>
              <a:tr h="65836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Layer role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Use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Why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Hidden layers (MLP, CNN)</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ReLU</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Simple, fast; try GELU if many units die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Transformer blocks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GELU or SwiGLU</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What these architectures were tuned with</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Classifier output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None: raw logits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The loss applies sigmoid / softmax stably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Regression output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None (identity)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A bounded output caps what can be predicted</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Positive output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Softplus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Smooth and &gt; 0 (or predict log 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graphicFrame>
        <p:nvGraphicFramePr>
          <p:cNvPr id="6" name="Chart 0" descr="Modern variants: ReLU, Leaky ReLU (α = 0.1), GELU, SiLU"/>
          <p:cNvGraphicFramePr/>
          <p:nvPr/>
        </p:nvGraphicFramePr>
        <p:xfrm>
          <a:off x="7452360" y="1371600"/>
          <a:ext cx="4251960" cy="4023360"/>
        </p:xfrm>
        <a:graphic xmlns:a="http://schemas.openxmlformats.org/drawingml/2006/main">
          <a:graphicData uri="http://schemas.openxmlformats.org/drawingml/2006/chart">
            <c:chart xmlns:c="http://schemas.openxmlformats.org/drawingml/2006/chart" r:id="rId1"/>
          </a:graphicData>
        </a:graphic>
      </p:graphicFrame>
      <p:sp>
        <p:nvSpPr>
          <p:cNvPr id="7" name="Shape 2"/>
          <p:cNvSpPr/>
          <p:nvPr/>
        </p:nvSpPr>
        <p:spPr>
          <a:xfrm>
            <a:off x="548640" y="5532120"/>
            <a:ext cx="11094415" cy="640080"/>
          </a:xfrm>
          <a:prstGeom prst="roundRect">
            <a:avLst>
              <a:gd name="adj" fmla="val 11429"/>
            </a:avLst>
          </a:prstGeom>
          <a:solidFill>
            <a:srgbClr val="FBEADF"/>
          </a:solidFill>
          <a:ln/>
        </p:spPr>
      </p:sp>
      <p:sp>
        <p:nvSpPr>
          <p:cNvPr id="8" name="Text 3"/>
          <p:cNvSpPr txBox="1"/>
          <p:nvPr/>
        </p:nvSpPr>
        <p:spPr>
          <a:xfrm>
            <a:off x="749808" y="5577840"/>
            <a:ext cx="10692079" cy="548640"/>
          </a:xfrm>
          <a:prstGeom prst="rect">
            <a:avLst/>
          </a:prstGeom>
          <a:noFill/>
          <a:ln/>
        </p:spPr>
        <p:txBody>
          <a:bodyPr wrap="square" lIns="0" tIns="0" rIns="0" bIns="0" rtlCol="0" anchor="ctr"/>
          <a:lstStyle/>
          <a:p>
            <a:pPr indent="0" marL="0">
              <a:buNone/>
            </a:pPr>
            <a:r>
              <a:rPr lang="en-US" sz="1800" b="1" dirty="0">
                <a:solidFill>
                  <a:srgbClr val="8F3A0E"/>
                </a:solidFill>
                <a:latin typeface="Calibri" pitchFamily="34" charset="0"/>
                <a:ea typeface="Calibri" pitchFamily="34" charset="-122"/>
                <a:cs typeface="Calibri" pitchFamily="34" charset="-120"/>
              </a:rPr>
              <a:t>Never put softmax before CrossEntropyLoss: end classifiers in raw logits.</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ACTIVATIONS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 ReLU network computes a patchwork of linear pieces</a:t>
            </a:r>
            <a:endParaRPr lang="en-US" sz="3200" dirty="0"/>
          </a:p>
        </p:txBody>
      </p:sp>
      <p:pic>
        <p:nvPicPr>
          <p:cNvPr id="5" name="Image 0" descr="Input space of a trained 2-12-12-1 ReLU network coloured by activation pattern; the decision boundary is a polyline.">    </p:cNvPr>
          <p:cNvPicPr>
            <a:picLocks noChangeAspect="1"/>
          </p:cNvPicPr>
          <p:nvPr/>
        </p:nvPicPr>
        <p:blipFill>
          <a:blip r:embed="rId1"/>
          <a:stretch>
            <a:fillRect/>
          </a:stretch>
        </p:blipFill>
        <p:spPr>
          <a:xfrm>
            <a:off x="548640" y="1572392"/>
            <a:ext cx="7040880" cy="4444737"/>
          </a:xfrm>
          <a:prstGeom prst="rect">
            <a:avLst/>
          </a:prstGeom>
        </p:spPr>
      </p:pic>
      <p:sp>
        <p:nvSpPr>
          <p:cNvPr id="6" name="Text 2"/>
          <p:cNvSpPr txBox="1"/>
          <p:nvPr/>
        </p:nvSpPr>
        <p:spPr>
          <a:xfrm>
            <a:off x="7863840" y="1463040"/>
            <a:ext cx="3776472" cy="792480"/>
          </a:xfrm>
          <a:prstGeom prst="rect">
            <a:avLst/>
          </a:prstGeom>
          <a:noFill/>
          <a:ln/>
        </p:spPr>
        <p:txBody>
          <a:bodyPr wrap="square" lIns="0" tIns="0" rIns="0" bIns="0" rtlCol="0" anchor="t"/>
          <a:lstStyle/>
          <a:p>
            <a:pPr indent="0" marL="0">
              <a:buNone/>
            </a:pPr>
            <a:r>
              <a:rPr lang="en-US" sz="5200" b="1" dirty="0">
                <a:solidFill>
                  <a:srgbClr val="0F7C82"/>
                </a:solidFill>
                <a:latin typeface="Cambria" pitchFamily="34" charset="0"/>
                <a:ea typeface="Cambria" pitchFamily="34" charset="-122"/>
                <a:cs typeface="Cambria" pitchFamily="34" charset="-120"/>
              </a:rPr>
              <a:t>≥ 183</a:t>
            </a:r>
            <a:endParaRPr lang="en-US" sz="5200" dirty="0"/>
          </a:p>
        </p:txBody>
      </p:sp>
      <p:sp>
        <p:nvSpPr>
          <p:cNvPr id="7" name="Text 3"/>
          <p:cNvSpPr txBox="1"/>
          <p:nvPr/>
        </p:nvSpPr>
        <p:spPr>
          <a:xfrm>
            <a:off x="7863840" y="2346960"/>
            <a:ext cx="3776472"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linear regions in view, for a 2 → 12 → 12 → 1 ReLU net</a:t>
            </a:r>
            <a:endParaRPr lang="en-US" sz="1700" dirty="0"/>
          </a:p>
        </p:txBody>
      </p:sp>
      <p:sp>
        <p:nvSpPr>
          <p:cNvPr id="8" name="Shape 4"/>
          <p:cNvSpPr/>
          <p:nvPr/>
        </p:nvSpPr>
        <p:spPr>
          <a:xfrm>
            <a:off x="7863840" y="3429000"/>
            <a:ext cx="402336" cy="402336"/>
          </a:xfrm>
          <a:prstGeom prst="ellipse">
            <a:avLst/>
          </a:prstGeom>
          <a:solidFill>
            <a:srgbClr val="0F7C82"/>
          </a:solidFill>
          <a:ln/>
        </p:spPr>
      </p:sp>
      <p:sp>
        <p:nvSpPr>
          <p:cNvPr id="9" name="Text 5"/>
          <p:cNvSpPr txBox="1"/>
          <p:nvPr/>
        </p:nvSpPr>
        <p:spPr>
          <a:xfrm>
            <a:off x="7863840" y="34290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6"/>
          <p:cNvSpPr txBox="1"/>
          <p:nvPr/>
        </p:nvSpPr>
        <p:spPr>
          <a:xfrm>
            <a:off x="8467344" y="3410712"/>
            <a:ext cx="317296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Inside a patch: exactly linear</a:t>
            </a:r>
            <a:endParaRPr lang="en-US" sz="1800" dirty="0"/>
          </a:p>
        </p:txBody>
      </p:sp>
      <p:sp>
        <p:nvSpPr>
          <p:cNvPr id="11" name="Text 7"/>
          <p:cNvSpPr txBox="1"/>
          <p:nvPr/>
        </p:nvSpPr>
        <p:spPr>
          <a:xfrm>
            <a:off x="8467344" y="3776472"/>
            <a:ext cx="3172968"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One on/off pattern of all 24 ReLUs.</a:t>
            </a:r>
            <a:endParaRPr lang="en-US" sz="1600" dirty="0"/>
          </a:p>
        </p:txBody>
      </p:sp>
      <p:sp>
        <p:nvSpPr>
          <p:cNvPr id="12" name="Shape 8"/>
          <p:cNvSpPr/>
          <p:nvPr/>
        </p:nvSpPr>
        <p:spPr>
          <a:xfrm>
            <a:off x="7863840" y="4480560"/>
            <a:ext cx="402336" cy="402336"/>
          </a:xfrm>
          <a:prstGeom prst="ellipse">
            <a:avLst/>
          </a:prstGeom>
          <a:solidFill>
            <a:srgbClr val="0F7C82"/>
          </a:solidFill>
          <a:ln/>
        </p:spPr>
      </p:sp>
      <p:sp>
        <p:nvSpPr>
          <p:cNvPr id="13" name="Text 9"/>
          <p:cNvSpPr txBox="1"/>
          <p:nvPr/>
        </p:nvSpPr>
        <p:spPr>
          <a:xfrm>
            <a:off x="7863840" y="448056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0"/>
          <p:cNvSpPr txBox="1"/>
          <p:nvPr/>
        </p:nvSpPr>
        <p:spPr>
          <a:xfrm>
            <a:off x="8467344" y="4462272"/>
            <a:ext cx="317296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Boundary: a polyline</a:t>
            </a:r>
            <a:endParaRPr lang="en-US" sz="1800" dirty="0"/>
          </a:p>
        </p:txBody>
      </p:sp>
      <p:sp>
        <p:nvSpPr>
          <p:cNvPr id="15" name="Text 11"/>
          <p:cNvSpPr txBox="1"/>
          <p:nvPr/>
        </p:nvSpPr>
        <p:spPr>
          <a:xfrm>
            <a:off x="8467344" y="4828032"/>
            <a:ext cx="3172968"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Straight pieces that follow curves.</a:t>
            </a:r>
            <a:endParaRPr lang="en-US" sz="1600" dirty="0"/>
          </a:p>
        </p:txBody>
      </p:sp>
      <p:sp>
        <p:nvSpPr>
          <p:cNvPr id="16" name="Shape 12"/>
          <p:cNvSpPr/>
          <p:nvPr/>
        </p:nvSpPr>
        <p:spPr>
          <a:xfrm>
            <a:off x="7863840" y="5257800"/>
            <a:ext cx="3776472" cy="868680"/>
          </a:xfrm>
          <a:prstGeom prst="roundRect">
            <a:avLst>
              <a:gd name="adj" fmla="val 8421"/>
            </a:avLst>
          </a:prstGeom>
          <a:solidFill>
            <a:srgbClr val="E8EAFB"/>
          </a:solidFill>
          <a:ln/>
        </p:spPr>
      </p:sp>
      <p:sp>
        <p:nvSpPr>
          <p:cNvPr id="17" name="Text 13"/>
          <p:cNvSpPr txBox="1"/>
          <p:nvPr/>
        </p:nvSpPr>
        <p:spPr>
          <a:xfrm>
            <a:off x="8046720" y="5257800"/>
            <a:ext cx="3474720" cy="868680"/>
          </a:xfrm>
          <a:prstGeom prst="rect">
            <a:avLst/>
          </a:prstGeom>
          <a:noFill/>
          <a:ln/>
        </p:spPr>
        <p:txBody>
          <a:bodyPr wrap="square" lIns="0" tIns="0" rIns="0" bIns="0" rtlCol="0" anchor="ctr"/>
          <a:lstStyle/>
          <a:p>
            <a:pPr indent="0" marL="0">
              <a:buNone/>
            </a:pPr>
            <a:r>
              <a:rPr lang="en-US" sz="1700" b="1" dirty="0">
                <a:solidFill>
                  <a:srgbClr val="2E3A9E"/>
                </a:solidFill>
                <a:latin typeface="Calibri" pitchFamily="34" charset="0"/>
                <a:ea typeface="Calibri" pitchFamily="34" charset="-122"/>
                <a:cs typeface="Calibri" pitchFamily="34" charset="-120"/>
              </a:rPr>
              <a:t>Try it: </a:t>
            </a:r>
            <a:pPr indent="0" marL="0">
              <a:buNone/>
            </a:pPr>
            <a:r>
              <a:rPr lang="en-US" sz="1700" b="1" dirty="0">
                <a:solidFill>
                  <a:srgbClr val="2E3A9E"/>
                </a:solidFill>
                <a:latin typeface="Calibri" pitchFamily="34" charset="0"/>
                <a:ea typeface="Calibri" pitchFamily="34" charset="-122"/>
                <a:cs typeface="Calibri" pitchFamily="34" charset="-120"/>
              </a:rPr>
              <a:t>playground.tensorflow.org</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THE MLP</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The forward pass repeats one rule per layer</a:t>
            </a:r>
            <a:endParaRPr lang="en-US" sz="3200" dirty="0"/>
          </a:p>
        </p:txBody>
      </p:sp>
      <p:sp>
        <p:nvSpPr>
          <p:cNvPr id="5" name="Shape 2"/>
          <p:cNvSpPr/>
          <p:nvPr/>
        </p:nvSpPr>
        <p:spPr>
          <a:xfrm flipV="1">
            <a:off x="914400" y="2203704"/>
            <a:ext cx="1402080" cy="329184"/>
          </a:xfrm>
          <a:prstGeom prst="line">
            <a:avLst/>
          </a:prstGeom>
          <a:noFill/>
          <a:ln w="11430">
            <a:solidFill>
              <a:srgbClr val="A9B3C2"/>
            </a:solidFill>
            <a:prstDash val="solid"/>
          </a:ln>
        </p:spPr>
      </p:sp>
      <p:sp>
        <p:nvSpPr>
          <p:cNvPr id="6" name="Shape 3"/>
          <p:cNvSpPr/>
          <p:nvPr/>
        </p:nvSpPr>
        <p:spPr>
          <a:xfrm>
            <a:off x="914400" y="2532888"/>
            <a:ext cx="1402080" cy="329184"/>
          </a:xfrm>
          <a:prstGeom prst="line">
            <a:avLst/>
          </a:prstGeom>
          <a:noFill/>
          <a:ln w="11430">
            <a:solidFill>
              <a:srgbClr val="A9B3C2"/>
            </a:solidFill>
            <a:prstDash val="solid"/>
          </a:ln>
        </p:spPr>
      </p:sp>
      <p:sp>
        <p:nvSpPr>
          <p:cNvPr id="7" name="Shape 4"/>
          <p:cNvSpPr/>
          <p:nvPr/>
        </p:nvSpPr>
        <p:spPr>
          <a:xfrm>
            <a:off x="914400" y="2532888"/>
            <a:ext cx="1402080" cy="987552"/>
          </a:xfrm>
          <a:prstGeom prst="line">
            <a:avLst/>
          </a:prstGeom>
          <a:noFill/>
          <a:ln w="11430">
            <a:solidFill>
              <a:srgbClr val="A9B3C2"/>
            </a:solidFill>
            <a:prstDash val="solid"/>
          </a:ln>
        </p:spPr>
      </p:sp>
      <p:sp>
        <p:nvSpPr>
          <p:cNvPr id="8" name="Shape 5"/>
          <p:cNvSpPr/>
          <p:nvPr/>
        </p:nvSpPr>
        <p:spPr>
          <a:xfrm>
            <a:off x="914400" y="2532888"/>
            <a:ext cx="1402080" cy="1645920"/>
          </a:xfrm>
          <a:prstGeom prst="line">
            <a:avLst/>
          </a:prstGeom>
          <a:noFill/>
          <a:ln w="11430">
            <a:solidFill>
              <a:srgbClr val="A9B3C2"/>
            </a:solidFill>
            <a:prstDash val="solid"/>
          </a:ln>
        </p:spPr>
      </p:sp>
      <p:sp>
        <p:nvSpPr>
          <p:cNvPr id="9" name="Shape 6"/>
          <p:cNvSpPr/>
          <p:nvPr/>
        </p:nvSpPr>
        <p:spPr>
          <a:xfrm>
            <a:off x="914400" y="2532888"/>
            <a:ext cx="1402080" cy="2304288"/>
          </a:xfrm>
          <a:prstGeom prst="line">
            <a:avLst/>
          </a:prstGeom>
          <a:noFill/>
          <a:ln w="11430">
            <a:solidFill>
              <a:srgbClr val="A9B3C2"/>
            </a:solidFill>
            <a:prstDash val="solid"/>
          </a:ln>
        </p:spPr>
      </p:sp>
      <p:sp>
        <p:nvSpPr>
          <p:cNvPr id="10" name="Shape 7"/>
          <p:cNvSpPr/>
          <p:nvPr/>
        </p:nvSpPr>
        <p:spPr>
          <a:xfrm flipV="1">
            <a:off x="914400" y="2203704"/>
            <a:ext cx="1402080" cy="987552"/>
          </a:xfrm>
          <a:prstGeom prst="line">
            <a:avLst/>
          </a:prstGeom>
          <a:noFill/>
          <a:ln w="11430">
            <a:solidFill>
              <a:srgbClr val="A9B3C2"/>
            </a:solidFill>
            <a:prstDash val="solid"/>
          </a:ln>
        </p:spPr>
      </p:sp>
      <p:sp>
        <p:nvSpPr>
          <p:cNvPr id="11" name="Shape 8"/>
          <p:cNvSpPr/>
          <p:nvPr/>
        </p:nvSpPr>
        <p:spPr>
          <a:xfrm flipV="1">
            <a:off x="914400" y="2862072"/>
            <a:ext cx="1402080" cy="329184"/>
          </a:xfrm>
          <a:prstGeom prst="line">
            <a:avLst/>
          </a:prstGeom>
          <a:noFill/>
          <a:ln w="11430">
            <a:solidFill>
              <a:srgbClr val="A9B3C2"/>
            </a:solidFill>
            <a:prstDash val="solid"/>
          </a:ln>
        </p:spPr>
      </p:sp>
      <p:sp>
        <p:nvSpPr>
          <p:cNvPr id="12" name="Shape 9"/>
          <p:cNvSpPr/>
          <p:nvPr/>
        </p:nvSpPr>
        <p:spPr>
          <a:xfrm>
            <a:off x="914400" y="3191256"/>
            <a:ext cx="1402080" cy="329184"/>
          </a:xfrm>
          <a:prstGeom prst="line">
            <a:avLst/>
          </a:prstGeom>
          <a:noFill/>
          <a:ln w="11430">
            <a:solidFill>
              <a:srgbClr val="A9B3C2"/>
            </a:solidFill>
            <a:prstDash val="solid"/>
          </a:ln>
        </p:spPr>
      </p:sp>
      <p:sp>
        <p:nvSpPr>
          <p:cNvPr id="13" name="Shape 10"/>
          <p:cNvSpPr/>
          <p:nvPr/>
        </p:nvSpPr>
        <p:spPr>
          <a:xfrm>
            <a:off x="914400" y="3191256"/>
            <a:ext cx="1402080" cy="987552"/>
          </a:xfrm>
          <a:prstGeom prst="line">
            <a:avLst/>
          </a:prstGeom>
          <a:noFill/>
          <a:ln w="11430">
            <a:solidFill>
              <a:srgbClr val="A9B3C2"/>
            </a:solidFill>
            <a:prstDash val="solid"/>
          </a:ln>
        </p:spPr>
      </p:sp>
      <p:sp>
        <p:nvSpPr>
          <p:cNvPr id="14" name="Shape 11"/>
          <p:cNvSpPr/>
          <p:nvPr/>
        </p:nvSpPr>
        <p:spPr>
          <a:xfrm>
            <a:off x="914400" y="3191256"/>
            <a:ext cx="1402080" cy="1645920"/>
          </a:xfrm>
          <a:prstGeom prst="line">
            <a:avLst/>
          </a:prstGeom>
          <a:noFill/>
          <a:ln w="11430">
            <a:solidFill>
              <a:srgbClr val="A9B3C2"/>
            </a:solidFill>
            <a:prstDash val="solid"/>
          </a:ln>
        </p:spPr>
      </p:sp>
      <p:sp>
        <p:nvSpPr>
          <p:cNvPr id="15" name="Shape 12"/>
          <p:cNvSpPr/>
          <p:nvPr/>
        </p:nvSpPr>
        <p:spPr>
          <a:xfrm flipV="1">
            <a:off x="914400" y="2203704"/>
            <a:ext cx="1402080" cy="1645920"/>
          </a:xfrm>
          <a:prstGeom prst="line">
            <a:avLst/>
          </a:prstGeom>
          <a:noFill/>
          <a:ln w="11430">
            <a:solidFill>
              <a:srgbClr val="A9B3C2"/>
            </a:solidFill>
            <a:prstDash val="solid"/>
          </a:ln>
        </p:spPr>
      </p:sp>
      <p:sp>
        <p:nvSpPr>
          <p:cNvPr id="16" name="Shape 13"/>
          <p:cNvSpPr/>
          <p:nvPr/>
        </p:nvSpPr>
        <p:spPr>
          <a:xfrm flipV="1">
            <a:off x="914400" y="2862072"/>
            <a:ext cx="1402080" cy="987552"/>
          </a:xfrm>
          <a:prstGeom prst="line">
            <a:avLst/>
          </a:prstGeom>
          <a:noFill/>
          <a:ln w="11430">
            <a:solidFill>
              <a:srgbClr val="A9B3C2"/>
            </a:solidFill>
            <a:prstDash val="solid"/>
          </a:ln>
        </p:spPr>
      </p:sp>
      <p:sp>
        <p:nvSpPr>
          <p:cNvPr id="17" name="Shape 14"/>
          <p:cNvSpPr/>
          <p:nvPr/>
        </p:nvSpPr>
        <p:spPr>
          <a:xfrm flipV="1">
            <a:off x="914400" y="3520440"/>
            <a:ext cx="1402080" cy="329184"/>
          </a:xfrm>
          <a:prstGeom prst="line">
            <a:avLst/>
          </a:prstGeom>
          <a:noFill/>
          <a:ln w="11430">
            <a:solidFill>
              <a:srgbClr val="A9B3C2"/>
            </a:solidFill>
            <a:prstDash val="solid"/>
          </a:ln>
        </p:spPr>
      </p:sp>
      <p:sp>
        <p:nvSpPr>
          <p:cNvPr id="18" name="Shape 15"/>
          <p:cNvSpPr/>
          <p:nvPr/>
        </p:nvSpPr>
        <p:spPr>
          <a:xfrm>
            <a:off x="914400" y="3849624"/>
            <a:ext cx="1402080" cy="329184"/>
          </a:xfrm>
          <a:prstGeom prst="line">
            <a:avLst/>
          </a:prstGeom>
          <a:noFill/>
          <a:ln w="11430">
            <a:solidFill>
              <a:srgbClr val="A9B3C2"/>
            </a:solidFill>
            <a:prstDash val="solid"/>
          </a:ln>
        </p:spPr>
      </p:sp>
      <p:sp>
        <p:nvSpPr>
          <p:cNvPr id="19" name="Shape 16"/>
          <p:cNvSpPr/>
          <p:nvPr/>
        </p:nvSpPr>
        <p:spPr>
          <a:xfrm>
            <a:off x="914400" y="3849624"/>
            <a:ext cx="1402080" cy="987552"/>
          </a:xfrm>
          <a:prstGeom prst="line">
            <a:avLst/>
          </a:prstGeom>
          <a:noFill/>
          <a:ln w="11430">
            <a:solidFill>
              <a:srgbClr val="A9B3C2"/>
            </a:solidFill>
            <a:prstDash val="solid"/>
          </a:ln>
        </p:spPr>
      </p:sp>
      <p:sp>
        <p:nvSpPr>
          <p:cNvPr id="20" name="Shape 17"/>
          <p:cNvSpPr/>
          <p:nvPr/>
        </p:nvSpPr>
        <p:spPr>
          <a:xfrm flipV="1">
            <a:off x="914400" y="2203704"/>
            <a:ext cx="1402080" cy="2304288"/>
          </a:xfrm>
          <a:prstGeom prst="line">
            <a:avLst/>
          </a:prstGeom>
          <a:noFill/>
          <a:ln w="11430">
            <a:solidFill>
              <a:srgbClr val="A9B3C2"/>
            </a:solidFill>
            <a:prstDash val="solid"/>
          </a:ln>
        </p:spPr>
      </p:sp>
      <p:sp>
        <p:nvSpPr>
          <p:cNvPr id="21" name="Shape 18"/>
          <p:cNvSpPr/>
          <p:nvPr/>
        </p:nvSpPr>
        <p:spPr>
          <a:xfrm flipV="1">
            <a:off x="914400" y="2862072"/>
            <a:ext cx="1402080" cy="1645920"/>
          </a:xfrm>
          <a:prstGeom prst="line">
            <a:avLst/>
          </a:prstGeom>
          <a:noFill/>
          <a:ln w="11430">
            <a:solidFill>
              <a:srgbClr val="A9B3C2"/>
            </a:solidFill>
            <a:prstDash val="solid"/>
          </a:ln>
        </p:spPr>
      </p:sp>
      <p:sp>
        <p:nvSpPr>
          <p:cNvPr id="22" name="Shape 19"/>
          <p:cNvSpPr/>
          <p:nvPr/>
        </p:nvSpPr>
        <p:spPr>
          <a:xfrm flipV="1">
            <a:off x="914400" y="3520440"/>
            <a:ext cx="1402080" cy="987552"/>
          </a:xfrm>
          <a:prstGeom prst="line">
            <a:avLst/>
          </a:prstGeom>
          <a:noFill/>
          <a:ln w="11430">
            <a:solidFill>
              <a:srgbClr val="A9B3C2"/>
            </a:solidFill>
            <a:prstDash val="solid"/>
          </a:ln>
        </p:spPr>
      </p:sp>
      <p:sp>
        <p:nvSpPr>
          <p:cNvPr id="23" name="Shape 20"/>
          <p:cNvSpPr/>
          <p:nvPr/>
        </p:nvSpPr>
        <p:spPr>
          <a:xfrm flipV="1">
            <a:off x="914400" y="4178808"/>
            <a:ext cx="1402080" cy="329184"/>
          </a:xfrm>
          <a:prstGeom prst="line">
            <a:avLst/>
          </a:prstGeom>
          <a:noFill/>
          <a:ln w="11430">
            <a:solidFill>
              <a:srgbClr val="A9B3C2"/>
            </a:solidFill>
            <a:prstDash val="solid"/>
          </a:ln>
        </p:spPr>
      </p:sp>
      <p:sp>
        <p:nvSpPr>
          <p:cNvPr id="24" name="Shape 21"/>
          <p:cNvSpPr/>
          <p:nvPr/>
        </p:nvSpPr>
        <p:spPr>
          <a:xfrm>
            <a:off x="914400" y="4507992"/>
            <a:ext cx="1402080" cy="329184"/>
          </a:xfrm>
          <a:prstGeom prst="line">
            <a:avLst/>
          </a:prstGeom>
          <a:noFill/>
          <a:ln w="11430">
            <a:solidFill>
              <a:srgbClr val="A9B3C2"/>
            </a:solidFill>
            <a:prstDash val="solid"/>
          </a:ln>
        </p:spPr>
      </p:sp>
      <p:sp>
        <p:nvSpPr>
          <p:cNvPr id="25" name="Shape 22"/>
          <p:cNvSpPr/>
          <p:nvPr/>
        </p:nvSpPr>
        <p:spPr>
          <a:xfrm>
            <a:off x="2316480" y="2203704"/>
            <a:ext cx="1402080" cy="91"/>
          </a:xfrm>
          <a:prstGeom prst="line">
            <a:avLst/>
          </a:prstGeom>
          <a:noFill/>
          <a:ln w="11430">
            <a:solidFill>
              <a:srgbClr val="A9B3C2"/>
            </a:solidFill>
            <a:prstDash val="solid"/>
          </a:ln>
        </p:spPr>
      </p:sp>
      <p:sp>
        <p:nvSpPr>
          <p:cNvPr id="26" name="Shape 23"/>
          <p:cNvSpPr/>
          <p:nvPr/>
        </p:nvSpPr>
        <p:spPr>
          <a:xfrm>
            <a:off x="2316480" y="2203704"/>
            <a:ext cx="1402080" cy="658368"/>
          </a:xfrm>
          <a:prstGeom prst="line">
            <a:avLst/>
          </a:prstGeom>
          <a:noFill/>
          <a:ln w="11430">
            <a:solidFill>
              <a:srgbClr val="A9B3C2"/>
            </a:solidFill>
            <a:prstDash val="solid"/>
          </a:ln>
        </p:spPr>
      </p:sp>
      <p:sp>
        <p:nvSpPr>
          <p:cNvPr id="27" name="Shape 24"/>
          <p:cNvSpPr/>
          <p:nvPr/>
        </p:nvSpPr>
        <p:spPr>
          <a:xfrm>
            <a:off x="2316480" y="2203704"/>
            <a:ext cx="1402080" cy="1316736"/>
          </a:xfrm>
          <a:prstGeom prst="line">
            <a:avLst/>
          </a:prstGeom>
          <a:noFill/>
          <a:ln w="11430">
            <a:solidFill>
              <a:srgbClr val="A9B3C2"/>
            </a:solidFill>
            <a:prstDash val="solid"/>
          </a:ln>
        </p:spPr>
      </p:sp>
      <p:sp>
        <p:nvSpPr>
          <p:cNvPr id="28" name="Shape 25"/>
          <p:cNvSpPr/>
          <p:nvPr/>
        </p:nvSpPr>
        <p:spPr>
          <a:xfrm>
            <a:off x="2316480" y="2203704"/>
            <a:ext cx="1402080" cy="1975104"/>
          </a:xfrm>
          <a:prstGeom prst="line">
            <a:avLst/>
          </a:prstGeom>
          <a:noFill/>
          <a:ln w="11430">
            <a:solidFill>
              <a:srgbClr val="A9B3C2"/>
            </a:solidFill>
            <a:prstDash val="solid"/>
          </a:ln>
        </p:spPr>
      </p:sp>
      <p:sp>
        <p:nvSpPr>
          <p:cNvPr id="29" name="Shape 26"/>
          <p:cNvSpPr/>
          <p:nvPr/>
        </p:nvSpPr>
        <p:spPr>
          <a:xfrm>
            <a:off x="2316480" y="2203704"/>
            <a:ext cx="1402080" cy="2633472"/>
          </a:xfrm>
          <a:prstGeom prst="line">
            <a:avLst/>
          </a:prstGeom>
          <a:noFill/>
          <a:ln w="11430">
            <a:solidFill>
              <a:srgbClr val="A9B3C2"/>
            </a:solidFill>
            <a:prstDash val="solid"/>
          </a:ln>
        </p:spPr>
      </p:sp>
      <p:sp>
        <p:nvSpPr>
          <p:cNvPr id="30" name="Shape 27"/>
          <p:cNvSpPr/>
          <p:nvPr/>
        </p:nvSpPr>
        <p:spPr>
          <a:xfrm flipV="1">
            <a:off x="2316480" y="2203704"/>
            <a:ext cx="1402080" cy="658368"/>
          </a:xfrm>
          <a:prstGeom prst="line">
            <a:avLst/>
          </a:prstGeom>
          <a:noFill/>
          <a:ln w="11430">
            <a:solidFill>
              <a:srgbClr val="A9B3C2"/>
            </a:solidFill>
            <a:prstDash val="solid"/>
          </a:ln>
        </p:spPr>
      </p:sp>
      <p:sp>
        <p:nvSpPr>
          <p:cNvPr id="31" name="Shape 28"/>
          <p:cNvSpPr/>
          <p:nvPr/>
        </p:nvSpPr>
        <p:spPr>
          <a:xfrm>
            <a:off x="2316480" y="2862072"/>
            <a:ext cx="1402080" cy="91"/>
          </a:xfrm>
          <a:prstGeom prst="line">
            <a:avLst/>
          </a:prstGeom>
          <a:noFill/>
          <a:ln w="11430">
            <a:solidFill>
              <a:srgbClr val="A9B3C2"/>
            </a:solidFill>
            <a:prstDash val="solid"/>
          </a:ln>
        </p:spPr>
      </p:sp>
      <p:sp>
        <p:nvSpPr>
          <p:cNvPr id="32" name="Shape 29"/>
          <p:cNvSpPr/>
          <p:nvPr/>
        </p:nvSpPr>
        <p:spPr>
          <a:xfrm>
            <a:off x="2316480" y="2862072"/>
            <a:ext cx="1402080" cy="658368"/>
          </a:xfrm>
          <a:prstGeom prst="line">
            <a:avLst/>
          </a:prstGeom>
          <a:noFill/>
          <a:ln w="11430">
            <a:solidFill>
              <a:srgbClr val="A9B3C2"/>
            </a:solidFill>
            <a:prstDash val="solid"/>
          </a:ln>
        </p:spPr>
      </p:sp>
      <p:sp>
        <p:nvSpPr>
          <p:cNvPr id="33" name="Shape 30"/>
          <p:cNvSpPr/>
          <p:nvPr/>
        </p:nvSpPr>
        <p:spPr>
          <a:xfrm>
            <a:off x="2316480" y="2862072"/>
            <a:ext cx="1402080" cy="1316736"/>
          </a:xfrm>
          <a:prstGeom prst="line">
            <a:avLst/>
          </a:prstGeom>
          <a:noFill/>
          <a:ln w="11430">
            <a:solidFill>
              <a:srgbClr val="A9B3C2"/>
            </a:solidFill>
            <a:prstDash val="solid"/>
          </a:ln>
        </p:spPr>
      </p:sp>
      <p:sp>
        <p:nvSpPr>
          <p:cNvPr id="34" name="Shape 31"/>
          <p:cNvSpPr/>
          <p:nvPr/>
        </p:nvSpPr>
        <p:spPr>
          <a:xfrm>
            <a:off x="2316480" y="2862072"/>
            <a:ext cx="1402080" cy="1975104"/>
          </a:xfrm>
          <a:prstGeom prst="line">
            <a:avLst/>
          </a:prstGeom>
          <a:noFill/>
          <a:ln w="11430">
            <a:solidFill>
              <a:srgbClr val="A9B3C2"/>
            </a:solidFill>
            <a:prstDash val="solid"/>
          </a:ln>
        </p:spPr>
      </p:sp>
      <p:sp>
        <p:nvSpPr>
          <p:cNvPr id="35" name="Shape 32"/>
          <p:cNvSpPr/>
          <p:nvPr/>
        </p:nvSpPr>
        <p:spPr>
          <a:xfrm flipV="1">
            <a:off x="2316480" y="2203704"/>
            <a:ext cx="1402080" cy="1316736"/>
          </a:xfrm>
          <a:prstGeom prst="line">
            <a:avLst/>
          </a:prstGeom>
          <a:noFill/>
          <a:ln w="11430">
            <a:solidFill>
              <a:srgbClr val="A9B3C2"/>
            </a:solidFill>
            <a:prstDash val="solid"/>
          </a:ln>
        </p:spPr>
      </p:sp>
      <p:sp>
        <p:nvSpPr>
          <p:cNvPr id="36" name="Shape 33"/>
          <p:cNvSpPr/>
          <p:nvPr/>
        </p:nvSpPr>
        <p:spPr>
          <a:xfrm flipV="1">
            <a:off x="2316480" y="2862072"/>
            <a:ext cx="1402080" cy="658368"/>
          </a:xfrm>
          <a:prstGeom prst="line">
            <a:avLst/>
          </a:prstGeom>
          <a:noFill/>
          <a:ln w="11430">
            <a:solidFill>
              <a:srgbClr val="A9B3C2"/>
            </a:solidFill>
            <a:prstDash val="solid"/>
          </a:ln>
        </p:spPr>
      </p:sp>
      <p:sp>
        <p:nvSpPr>
          <p:cNvPr id="37" name="Shape 34"/>
          <p:cNvSpPr/>
          <p:nvPr/>
        </p:nvSpPr>
        <p:spPr>
          <a:xfrm>
            <a:off x="2316480" y="3520440"/>
            <a:ext cx="1402080" cy="91"/>
          </a:xfrm>
          <a:prstGeom prst="line">
            <a:avLst/>
          </a:prstGeom>
          <a:noFill/>
          <a:ln w="11430">
            <a:solidFill>
              <a:srgbClr val="A9B3C2"/>
            </a:solidFill>
            <a:prstDash val="solid"/>
          </a:ln>
        </p:spPr>
      </p:sp>
      <p:sp>
        <p:nvSpPr>
          <p:cNvPr id="38" name="Shape 35"/>
          <p:cNvSpPr/>
          <p:nvPr/>
        </p:nvSpPr>
        <p:spPr>
          <a:xfrm>
            <a:off x="2316480" y="3520440"/>
            <a:ext cx="1402080" cy="658368"/>
          </a:xfrm>
          <a:prstGeom prst="line">
            <a:avLst/>
          </a:prstGeom>
          <a:noFill/>
          <a:ln w="11430">
            <a:solidFill>
              <a:srgbClr val="A9B3C2"/>
            </a:solidFill>
            <a:prstDash val="solid"/>
          </a:ln>
        </p:spPr>
      </p:sp>
      <p:sp>
        <p:nvSpPr>
          <p:cNvPr id="39" name="Shape 36"/>
          <p:cNvSpPr/>
          <p:nvPr/>
        </p:nvSpPr>
        <p:spPr>
          <a:xfrm>
            <a:off x="2316480" y="3520440"/>
            <a:ext cx="1402080" cy="1316736"/>
          </a:xfrm>
          <a:prstGeom prst="line">
            <a:avLst/>
          </a:prstGeom>
          <a:noFill/>
          <a:ln w="11430">
            <a:solidFill>
              <a:srgbClr val="A9B3C2"/>
            </a:solidFill>
            <a:prstDash val="solid"/>
          </a:ln>
        </p:spPr>
      </p:sp>
      <p:sp>
        <p:nvSpPr>
          <p:cNvPr id="40" name="Shape 37"/>
          <p:cNvSpPr/>
          <p:nvPr/>
        </p:nvSpPr>
        <p:spPr>
          <a:xfrm flipV="1">
            <a:off x="2316480" y="2203704"/>
            <a:ext cx="1402080" cy="1975104"/>
          </a:xfrm>
          <a:prstGeom prst="line">
            <a:avLst/>
          </a:prstGeom>
          <a:noFill/>
          <a:ln w="11430">
            <a:solidFill>
              <a:srgbClr val="A9B3C2"/>
            </a:solidFill>
            <a:prstDash val="solid"/>
          </a:ln>
        </p:spPr>
      </p:sp>
      <p:sp>
        <p:nvSpPr>
          <p:cNvPr id="41" name="Shape 38"/>
          <p:cNvSpPr/>
          <p:nvPr/>
        </p:nvSpPr>
        <p:spPr>
          <a:xfrm flipV="1">
            <a:off x="2316480" y="2862072"/>
            <a:ext cx="1402080" cy="1316736"/>
          </a:xfrm>
          <a:prstGeom prst="line">
            <a:avLst/>
          </a:prstGeom>
          <a:noFill/>
          <a:ln w="11430">
            <a:solidFill>
              <a:srgbClr val="A9B3C2"/>
            </a:solidFill>
            <a:prstDash val="solid"/>
          </a:ln>
        </p:spPr>
      </p:sp>
      <p:sp>
        <p:nvSpPr>
          <p:cNvPr id="42" name="Shape 39"/>
          <p:cNvSpPr/>
          <p:nvPr/>
        </p:nvSpPr>
        <p:spPr>
          <a:xfrm flipV="1">
            <a:off x="2316480" y="3520440"/>
            <a:ext cx="1402080" cy="658368"/>
          </a:xfrm>
          <a:prstGeom prst="line">
            <a:avLst/>
          </a:prstGeom>
          <a:noFill/>
          <a:ln w="11430">
            <a:solidFill>
              <a:srgbClr val="A9B3C2"/>
            </a:solidFill>
            <a:prstDash val="solid"/>
          </a:ln>
        </p:spPr>
      </p:sp>
      <p:sp>
        <p:nvSpPr>
          <p:cNvPr id="43" name="Shape 40"/>
          <p:cNvSpPr/>
          <p:nvPr/>
        </p:nvSpPr>
        <p:spPr>
          <a:xfrm>
            <a:off x="2316480" y="4178808"/>
            <a:ext cx="1402080" cy="91"/>
          </a:xfrm>
          <a:prstGeom prst="line">
            <a:avLst/>
          </a:prstGeom>
          <a:noFill/>
          <a:ln w="11430">
            <a:solidFill>
              <a:srgbClr val="A9B3C2"/>
            </a:solidFill>
            <a:prstDash val="solid"/>
          </a:ln>
        </p:spPr>
      </p:sp>
      <p:sp>
        <p:nvSpPr>
          <p:cNvPr id="44" name="Shape 41"/>
          <p:cNvSpPr/>
          <p:nvPr/>
        </p:nvSpPr>
        <p:spPr>
          <a:xfrm>
            <a:off x="2316480" y="4178808"/>
            <a:ext cx="1402080" cy="658368"/>
          </a:xfrm>
          <a:prstGeom prst="line">
            <a:avLst/>
          </a:prstGeom>
          <a:noFill/>
          <a:ln w="11430">
            <a:solidFill>
              <a:srgbClr val="A9B3C2"/>
            </a:solidFill>
            <a:prstDash val="solid"/>
          </a:ln>
        </p:spPr>
      </p:sp>
      <p:sp>
        <p:nvSpPr>
          <p:cNvPr id="45" name="Shape 42"/>
          <p:cNvSpPr/>
          <p:nvPr/>
        </p:nvSpPr>
        <p:spPr>
          <a:xfrm flipV="1">
            <a:off x="2316480" y="2203704"/>
            <a:ext cx="1402080" cy="2633472"/>
          </a:xfrm>
          <a:prstGeom prst="line">
            <a:avLst/>
          </a:prstGeom>
          <a:noFill/>
          <a:ln w="11430">
            <a:solidFill>
              <a:srgbClr val="A9B3C2"/>
            </a:solidFill>
            <a:prstDash val="solid"/>
          </a:ln>
        </p:spPr>
      </p:sp>
      <p:sp>
        <p:nvSpPr>
          <p:cNvPr id="46" name="Shape 43"/>
          <p:cNvSpPr/>
          <p:nvPr/>
        </p:nvSpPr>
        <p:spPr>
          <a:xfrm flipV="1">
            <a:off x="2316480" y="2862072"/>
            <a:ext cx="1402080" cy="1975104"/>
          </a:xfrm>
          <a:prstGeom prst="line">
            <a:avLst/>
          </a:prstGeom>
          <a:noFill/>
          <a:ln w="11430">
            <a:solidFill>
              <a:srgbClr val="A9B3C2"/>
            </a:solidFill>
            <a:prstDash val="solid"/>
          </a:ln>
        </p:spPr>
      </p:sp>
      <p:sp>
        <p:nvSpPr>
          <p:cNvPr id="47" name="Shape 44"/>
          <p:cNvSpPr/>
          <p:nvPr/>
        </p:nvSpPr>
        <p:spPr>
          <a:xfrm flipV="1">
            <a:off x="2316480" y="3520440"/>
            <a:ext cx="1402080" cy="1316736"/>
          </a:xfrm>
          <a:prstGeom prst="line">
            <a:avLst/>
          </a:prstGeom>
          <a:noFill/>
          <a:ln w="11430">
            <a:solidFill>
              <a:srgbClr val="A9B3C2"/>
            </a:solidFill>
            <a:prstDash val="solid"/>
          </a:ln>
        </p:spPr>
      </p:sp>
      <p:sp>
        <p:nvSpPr>
          <p:cNvPr id="48" name="Shape 45"/>
          <p:cNvSpPr/>
          <p:nvPr/>
        </p:nvSpPr>
        <p:spPr>
          <a:xfrm flipV="1">
            <a:off x="2316480" y="4178808"/>
            <a:ext cx="1402080" cy="658368"/>
          </a:xfrm>
          <a:prstGeom prst="line">
            <a:avLst/>
          </a:prstGeom>
          <a:noFill/>
          <a:ln w="11430">
            <a:solidFill>
              <a:srgbClr val="A9B3C2"/>
            </a:solidFill>
            <a:prstDash val="solid"/>
          </a:ln>
        </p:spPr>
      </p:sp>
      <p:sp>
        <p:nvSpPr>
          <p:cNvPr id="49" name="Shape 46"/>
          <p:cNvSpPr/>
          <p:nvPr/>
        </p:nvSpPr>
        <p:spPr>
          <a:xfrm>
            <a:off x="2316480" y="4837176"/>
            <a:ext cx="1402080" cy="91"/>
          </a:xfrm>
          <a:prstGeom prst="line">
            <a:avLst/>
          </a:prstGeom>
          <a:noFill/>
          <a:ln w="11430">
            <a:solidFill>
              <a:srgbClr val="A9B3C2"/>
            </a:solidFill>
            <a:prstDash val="solid"/>
          </a:ln>
        </p:spPr>
      </p:sp>
      <p:sp>
        <p:nvSpPr>
          <p:cNvPr id="50" name="Shape 47"/>
          <p:cNvSpPr/>
          <p:nvPr/>
        </p:nvSpPr>
        <p:spPr>
          <a:xfrm>
            <a:off x="3718560" y="2203704"/>
            <a:ext cx="1402080" cy="658368"/>
          </a:xfrm>
          <a:prstGeom prst="line">
            <a:avLst/>
          </a:prstGeom>
          <a:noFill/>
          <a:ln w="11430">
            <a:solidFill>
              <a:srgbClr val="A9B3C2"/>
            </a:solidFill>
            <a:prstDash val="solid"/>
          </a:ln>
        </p:spPr>
      </p:sp>
      <p:sp>
        <p:nvSpPr>
          <p:cNvPr id="51" name="Shape 48"/>
          <p:cNvSpPr/>
          <p:nvPr/>
        </p:nvSpPr>
        <p:spPr>
          <a:xfrm>
            <a:off x="3718560" y="2203704"/>
            <a:ext cx="1402080" cy="1316736"/>
          </a:xfrm>
          <a:prstGeom prst="line">
            <a:avLst/>
          </a:prstGeom>
          <a:noFill/>
          <a:ln w="11430">
            <a:solidFill>
              <a:srgbClr val="A9B3C2"/>
            </a:solidFill>
            <a:prstDash val="solid"/>
          </a:ln>
        </p:spPr>
      </p:sp>
      <p:sp>
        <p:nvSpPr>
          <p:cNvPr id="52" name="Shape 49"/>
          <p:cNvSpPr/>
          <p:nvPr/>
        </p:nvSpPr>
        <p:spPr>
          <a:xfrm>
            <a:off x="3718560" y="2203704"/>
            <a:ext cx="1402080" cy="1975104"/>
          </a:xfrm>
          <a:prstGeom prst="line">
            <a:avLst/>
          </a:prstGeom>
          <a:noFill/>
          <a:ln w="11430">
            <a:solidFill>
              <a:srgbClr val="A9B3C2"/>
            </a:solidFill>
            <a:prstDash val="solid"/>
          </a:ln>
        </p:spPr>
      </p:sp>
      <p:sp>
        <p:nvSpPr>
          <p:cNvPr id="53" name="Shape 50"/>
          <p:cNvSpPr/>
          <p:nvPr/>
        </p:nvSpPr>
        <p:spPr>
          <a:xfrm>
            <a:off x="3718560" y="2862072"/>
            <a:ext cx="1402080" cy="91"/>
          </a:xfrm>
          <a:prstGeom prst="line">
            <a:avLst/>
          </a:prstGeom>
          <a:noFill/>
          <a:ln w="11430">
            <a:solidFill>
              <a:srgbClr val="A9B3C2"/>
            </a:solidFill>
            <a:prstDash val="solid"/>
          </a:ln>
        </p:spPr>
      </p:sp>
      <p:sp>
        <p:nvSpPr>
          <p:cNvPr id="54" name="Shape 51"/>
          <p:cNvSpPr/>
          <p:nvPr/>
        </p:nvSpPr>
        <p:spPr>
          <a:xfrm>
            <a:off x="3718560" y="2862072"/>
            <a:ext cx="1402080" cy="658368"/>
          </a:xfrm>
          <a:prstGeom prst="line">
            <a:avLst/>
          </a:prstGeom>
          <a:noFill/>
          <a:ln w="11430">
            <a:solidFill>
              <a:srgbClr val="A9B3C2"/>
            </a:solidFill>
            <a:prstDash val="solid"/>
          </a:ln>
        </p:spPr>
      </p:sp>
      <p:sp>
        <p:nvSpPr>
          <p:cNvPr id="55" name="Shape 52"/>
          <p:cNvSpPr/>
          <p:nvPr/>
        </p:nvSpPr>
        <p:spPr>
          <a:xfrm>
            <a:off x="3718560" y="2862072"/>
            <a:ext cx="1402080" cy="1316736"/>
          </a:xfrm>
          <a:prstGeom prst="line">
            <a:avLst/>
          </a:prstGeom>
          <a:noFill/>
          <a:ln w="11430">
            <a:solidFill>
              <a:srgbClr val="A9B3C2"/>
            </a:solidFill>
            <a:prstDash val="solid"/>
          </a:ln>
        </p:spPr>
      </p:sp>
      <p:sp>
        <p:nvSpPr>
          <p:cNvPr id="56" name="Shape 53"/>
          <p:cNvSpPr/>
          <p:nvPr/>
        </p:nvSpPr>
        <p:spPr>
          <a:xfrm flipV="1">
            <a:off x="3718560" y="2862072"/>
            <a:ext cx="1402080" cy="658368"/>
          </a:xfrm>
          <a:prstGeom prst="line">
            <a:avLst/>
          </a:prstGeom>
          <a:noFill/>
          <a:ln w="11430">
            <a:solidFill>
              <a:srgbClr val="A9B3C2"/>
            </a:solidFill>
            <a:prstDash val="solid"/>
          </a:ln>
        </p:spPr>
      </p:sp>
      <p:sp>
        <p:nvSpPr>
          <p:cNvPr id="57" name="Shape 54"/>
          <p:cNvSpPr/>
          <p:nvPr/>
        </p:nvSpPr>
        <p:spPr>
          <a:xfrm>
            <a:off x="3718560" y="3520440"/>
            <a:ext cx="1402080" cy="91"/>
          </a:xfrm>
          <a:prstGeom prst="line">
            <a:avLst/>
          </a:prstGeom>
          <a:noFill/>
          <a:ln w="11430">
            <a:solidFill>
              <a:srgbClr val="A9B3C2"/>
            </a:solidFill>
            <a:prstDash val="solid"/>
          </a:ln>
        </p:spPr>
      </p:sp>
      <p:sp>
        <p:nvSpPr>
          <p:cNvPr id="58" name="Shape 55"/>
          <p:cNvSpPr/>
          <p:nvPr/>
        </p:nvSpPr>
        <p:spPr>
          <a:xfrm>
            <a:off x="3718560" y="3520440"/>
            <a:ext cx="1402080" cy="658368"/>
          </a:xfrm>
          <a:prstGeom prst="line">
            <a:avLst/>
          </a:prstGeom>
          <a:noFill/>
          <a:ln w="11430">
            <a:solidFill>
              <a:srgbClr val="A9B3C2"/>
            </a:solidFill>
            <a:prstDash val="solid"/>
          </a:ln>
        </p:spPr>
      </p:sp>
      <p:sp>
        <p:nvSpPr>
          <p:cNvPr id="59" name="Shape 56"/>
          <p:cNvSpPr/>
          <p:nvPr/>
        </p:nvSpPr>
        <p:spPr>
          <a:xfrm flipV="1">
            <a:off x="3718560" y="2862072"/>
            <a:ext cx="1402080" cy="1316736"/>
          </a:xfrm>
          <a:prstGeom prst="line">
            <a:avLst/>
          </a:prstGeom>
          <a:noFill/>
          <a:ln w="11430">
            <a:solidFill>
              <a:srgbClr val="A9B3C2"/>
            </a:solidFill>
            <a:prstDash val="solid"/>
          </a:ln>
        </p:spPr>
      </p:sp>
      <p:sp>
        <p:nvSpPr>
          <p:cNvPr id="60" name="Shape 57"/>
          <p:cNvSpPr/>
          <p:nvPr/>
        </p:nvSpPr>
        <p:spPr>
          <a:xfrm flipV="1">
            <a:off x="3718560" y="3520440"/>
            <a:ext cx="1402080" cy="658368"/>
          </a:xfrm>
          <a:prstGeom prst="line">
            <a:avLst/>
          </a:prstGeom>
          <a:noFill/>
          <a:ln w="11430">
            <a:solidFill>
              <a:srgbClr val="A9B3C2"/>
            </a:solidFill>
            <a:prstDash val="solid"/>
          </a:ln>
        </p:spPr>
      </p:sp>
      <p:sp>
        <p:nvSpPr>
          <p:cNvPr id="61" name="Shape 58"/>
          <p:cNvSpPr/>
          <p:nvPr/>
        </p:nvSpPr>
        <p:spPr>
          <a:xfrm>
            <a:off x="3718560" y="4178808"/>
            <a:ext cx="1402080" cy="91"/>
          </a:xfrm>
          <a:prstGeom prst="line">
            <a:avLst/>
          </a:prstGeom>
          <a:noFill/>
          <a:ln w="11430">
            <a:solidFill>
              <a:srgbClr val="A9B3C2"/>
            </a:solidFill>
            <a:prstDash val="solid"/>
          </a:ln>
        </p:spPr>
      </p:sp>
      <p:sp>
        <p:nvSpPr>
          <p:cNvPr id="62" name="Shape 59"/>
          <p:cNvSpPr/>
          <p:nvPr/>
        </p:nvSpPr>
        <p:spPr>
          <a:xfrm flipV="1">
            <a:off x="3718560" y="2862072"/>
            <a:ext cx="1402080" cy="1975104"/>
          </a:xfrm>
          <a:prstGeom prst="line">
            <a:avLst/>
          </a:prstGeom>
          <a:noFill/>
          <a:ln w="11430">
            <a:solidFill>
              <a:srgbClr val="A9B3C2"/>
            </a:solidFill>
            <a:prstDash val="solid"/>
          </a:ln>
        </p:spPr>
      </p:sp>
      <p:sp>
        <p:nvSpPr>
          <p:cNvPr id="63" name="Shape 60"/>
          <p:cNvSpPr/>
          <p:nvPr/>
        </p:nvSpPr>
        <p:spPr>
          <a:xfrm flipV="1">
            <a:off x="3718560" y="3520440"/>
            <a:ext cx="1402080" cy="1316736"/>
          </a:xfrm>
          <a:prstGeom prst="line">
            <a:avLst/>
          </a:prstGeom>
          <a:noFill/>
          <a:ln w="11430">
            <a:solidFill>
              <a:srgbClr val="A9B3C2"/>
            </a:solidFill>
            <a:prstDash val="solid"/>
          </a:ln>
        </p:spPr>
      </p:sp>
      <p:sp>
        <p:nvSpPr>
          <p:cNvPr id="64" name="Shape 61"/>
          <p:cNvSpPr/>
          <p:nvPr/>
        </p:nvSpPr>
        <p:spPr>
          <a:xfrm flipV="1">
            <a:off x="3718560" y="4178808"/>
            <a:ext cx="1402080" cy="658368"/>
          </a:xfrm>
          <a:prstGeom prst="line">
            <a:avLst/>
          </a:prstGeom>
          <a:noFill/>
          <a:ln w="11430">
            <a:solidFill>
              <a:srgbClr val="A9B3C2"/>
            </a:solidFill>
            <a:prstDash val="solid"/>
          </a:ln>
        </p:spPr>
      </p:sp>
      <p:sp>
        <p:nvSpPr>
          <p:cNvPr id="65" name="Shape 62"/>
          <p:cNvSpPr/>
          <p:nvPr/>
        </p:nvSpPr>
        <p:spPr>
          <a:xfrm>
            <a:off x="731520" y="2350008"/>
            <a:ext cx="365760" cy="365760"/>
          </a:xfrm>
          <a:prstGeom prst="ellipse">
            <a:avLst/>
          </a:prstGeom>
          <a:solidFill>
            <a:srgbClr val="8A94A3"/>
          </a:solidFill>
          <a:ln/>
        </p:spPr>
      </p:sp>
      <p:sp>
        <p:nvSpPr>
          <p:cNvPr id="66" name="Shape 63"/>
          <p:cNvSpPr/>
          <p:nvPr/>
        </p:nvSpPr>
        <p:spPr>
          <a:xfrm>
            <a:off x="731520" y="3008376"/>
            <a:ext cx="365760" cy="365760"/>
          </a:xfrm>
          <a:prstGeom prst="ellipse">
            <a:avLst/>
          </a:prstGeom>
          <a:solidFill>
            <a:srgbClr val="8A94A3"/>
          </a:solidFill>
          <a:ln/>
        </p:spPr>
      </p:sp>
      <p:sp>
        <p:nvSpPr>
          <p:cNvPr id="67" name="Shape 64"/>
          <p:cNvSpPr/>
          <p:nvPr/>
        </p:nvSpPr>
        <p:spPr>
          <a:xfrm>
            <a:off x="731520" y="3666744"/>
            <a:ext cx="365760" cy="365760"/>
          </a:xfrm>
          <a:prstGeom prst="ellipse">
            <a:avLst/>
          </a:prstGeom>
          <a:solidFill>
            <a:srgbClr val="8A94A3"/>
          </a:solidFill>
          <a:ln/>
        </p:spPr>
      </p:sp>
      <p:sp>
        <p:nvSpPr>
          <p:cNvPr id="68" name="Shape 65"/>
          <p:cNvSpPr/>
          <p:nvPr/>
        </p:nvSpPr>
        <p:spPr>
          <a:xfrm>
            <a:off x="731520" y="4325112"/>
            <a:ext cx="365760" cy="365760"/>
          </a:xfrm>
          <a:prstGeom prst="ellipse">
            <a:avLst/>
          </a:prstGeom>
          <a:solidFill>
            <a:srgbClr val="8A94A3"/>
          </a:solidFill>
          <a:ln/>
        </p:spPr>
      </p:sp>
      <p:sp>
        <p:nvSpPr>
          <p:cNvPr id="69" name="Shape 66"/>
          <p:cNvSpPr/>
          <p:nvPr/>
        </p:nvSpPr>
        <p:spPr>
          <a:xfrm>
            <a:off x="2133600" y="2020824"/>
            <a:ext cx="365760" cy="365760"/>
          </a:xfrm>
          <a:prstGeom prst="ellipse">
            <a:avLst/>
          </a:prstGeom>
          <a:solidFill>
            <a:srgbClr val="0F7C82"/>
          </a:solidFill>
          <a:ln/>
        </p:spPr>
      </p:sp>
      <p:sp>
        <p:nvSpPr>
          <p:cNvPr id="70" name="Shape 67"/>
          <p:cNvSpPr/>
          <p:nvPr/>
        </p:nvSpPr>
        <p:spPr>
          <a:xfrm>
            <a:off x="2133600" y="2679192"/>
            <a:ext cx="365760" cy="365760"/>
          </a:xfrm>
          <a:prstGeom prst="ellipse">
            <a:avLst/>
          </a:prstGeom>
          <a:solidFill>
            <a:srgbClr val="0F7C82"/>
          </a:solidFill>
          <a:ln/>
        </p:spPr>
      </p:sp>
      <p:sp>
        <p:nvSpPr>
          <p:cNvPr id="71" name="Shape 68"/>
          <p:cNvSpPr/>
          <p:nvPr/>
        </p:nvSpPr>
        <p:spPr>
          <a:xfrm>
            <a:off x="2133600" y="3337560"/>
            <a:ext cx="365760" cy="365760"/>
          </a:xfrm>
          <a:prstGeom prst="ellipse">
            <a:avLst/>
          </a:prstGeom>
          <a:solidFill>
            <a:srgbClr val="0F7C82"/>
          </a:solidFill>
          <a:ln/>
        </p:spPr>
      </p:sp>
      <p:sp>
        <p:nvSpPr>
          <p:cNvPr id="72" name="Shape 69"/>
          <p:cNvSpPr/>
          <p:nvPr/>
        </p:nvSpPr>
        <p:spPr>
          <a:xfrm>
            <a:off x="2133600" y="3995928"/>
            <a:ext cx="365760" cy="365760"/>
          </a:xfrm>
          <a:prstGeom prst="ellipse">
            <a:avLst/>
          </a:prstGeom>
          <a:solidFill>
            <a:srgbClr val="0F7C82"/>
          </a:solidFill>
          <a:ln/>
        </p:spPr>
      </p:sp>
      <p:sp>
        <p:nvSpPr>
          <p:cNvPr id="73" name="Shape 70"/>
          <p:cNvSpPr/>
          <p:nvPr/>
        </p:nvSpPr>
        <p:spPr>
          <a:xfrm>
            <a:off x="2133600" y="4654296"/>
            <a:ext cx="365760" cy="365760"/>
          </a:xfrm>
          <a:prstGeom prst="ellipse">
            <a:avLst/>
          </a:prstGeom>
          <a:solidFill>
            <a:srgbClr val="0F7C82"/>
          </a:solidFill>
          <a:ln/>
        </p:spPr>
      </p:sp>
      <p:sp>
        <p:nvSpPr>
          <p:cNvPr id="74" name="Shape 71"/>
          <p:cNvSpPr/>
          <p:nvPr/>
        </p:nvSpPr>
        <p:spPr>
          <a:xfrm>
            <a:off x="3535680" y="2020824"/>
            <a:ext cx="365760" cy="365760"/>
          </a:xfrm>
          <a:prstGeom prst="ellipse">
            <a:avLst/>
          </a:prstGeom>
          <a:solidFill>
            <a:srgbClr val="0F7C82"/>
          </a:solidFill>
          <a:ln/>
        </p:spPr>
      </p:sp>
      <p:sp>
        <p:nvSpPr>
          <p:cNvPr id="75" name="Shape 72"/>
          <p:cNvSpPr/>
          <p:nvPr/>
        </p:nvSpPr>
        <p:spPr>
          <a:xfrm>
            <a:off x="3535680" y="2679192"/>
            <a:ext cx="365760" cy="365760"/>
          </a:xfrm>
          <a:prstGeom prst="ellipse">
            <a:avLst/>
          </a:prstGeom>
          <a:solidFill>
            <a:srgbClr val="0F7C82"/>
          </a:solidFill>
          <a:ln/>
        </p:spPr>
      </p:sp>
      <p:sp>
        <p:nvSpPr>
          <p:cNvPr id="76" name="Shape 73"/>
          <p:cNvSpPr/>
          <p:nvPr/>
        </p:nvSpPr>
        <p:spPr>
          <a:xfrm>
            <a:off x="3535680" y="3337560"/>
            <a:ext cx="365760" cy="365760"/>
          </a:xfrm>
          <a:prstGeom prst="ellipse">
            <a:avLst/>
          </a:prstGeom>
          <a:solidFill>
            <a:srgbClr val="0F7C82"/>
          </a:solidFill>
          <a:ln/>
        </p:spPr>
      </p:sp>
      <p:sp>
        <p:nvSpPr>
          <p:cNvPr id="77" name="Shape 74"/>
          <p:cNvSpPr/>
          <p:nvPr/>
        </p:nvSpPr>
        <p:spPr>
          <a:xfrm>
            <a:off x="3535680" y="3995928"/>
            <a:ext cx="365760" cy="365760"/>
          </a:xfrm>
          <a:prstGeom prst="ellipse">
            <a:avLst/>
          </a:prstGeom>
          <a:solidFill>
            <a:srgbClr val="0F7C82"/>
          </a:solidFill>
          <a:ln/>
        </p:spPr>
      </p:sp>
      <p:sp>
        <p:nvSpPr>
          <p:cNvPr id="78" name="Shape 75"/>
          <p:cNvSpPr/>
          <p:nvPr/>
        </p:nvSpPr>
        <p:spPr>
          <a:xfrm>
            <a:off x="3535680" y="4654296"/>
            <a:ext cx="365760" cy="365760"/>
          </a:xfrm>
          <a:prstGeom prst="ellipse">
            <a:avLst/>
          </a:prstGeom>
          <a:solidFill>
            <a:srgbClr val="0F7C82"/>
          </a:solidFill>
          <a:ln/>
        </p:spPr>
      </p:sp>
      <p:sp>
        <p:nvSpPr>
          <p:cNvPr id="79" name="Shape 76"/>
          <p:cNvSpPr/>
          <p:nvPr/>
        </p:nvSpPr>
        <p:spPr>
          <a:xfrm>
            <a:off x="4937760" y="2679192"/>
            <a:ext cx="365760" cy="365760"/>
          </a:xfrm>
          <a:prstGeom prst="ellipse">
            <a:avLst/>
          </a:prstGeom>
          <a:solidFill>
            <a:srgbClr val="C8571B"/>
          </a:solidFill>
          <a:ln/>
        </p:spPr>
      </p:sp>
      <p:sp>
        <p:nvSpPr>
          <p:cNvPr id="80" name="Shape 77"/>
          <p:cNvSpPr/>
          <p:nvPr/>
        </p:nvSpPr>
        <p:spPr>
          <a:xfrm>
            <a:off x="4937760" y="3337560"/>
            <a:ext cx="365760" cy="365760"/>
          </a:xfrm>
          <a:prstGeom prst="ellipse">
            <a:avLst/>
          </a:prstGeom>
          <a:solidFill>
            <a:srgbClr val="C8571B"/>
          </a:solidFill>
          <a:ln/>
        </p:spPr>
      </p:sp>
      <p:sp>
        <p:nvSpPr>
          <p:cNvPr id="81" name="Shape 78"/>
          <p:cNvSpPr/>
          <p:nvPr/>
        </p:nvSpPr>
        <p:spPr>
          <a:xfrm>
            <a:off x="4937760" y="3995928"/>
            <a:ext cx="365760" cy="365760"/>
          </a:xfrm>
          <a:prstGeom prst="ellipse">
            <a:avLst/>
          </a:prstGeom>
          <a:solidFill>
            <a:srgbClr val="C8571B"/>
          </a:solidFill>
          <a:ln/>
        </p:spPr>
      </p:sp>
      <p:sp>
        <p:nvSpPr>
          <p:cNvPr id="82" name="Text 79"/>
          <p:cNvSpPr txBox="1"/>
          <p:nvPr/>
        </p:nvSpPr>
        <p:spPr>
          <a:xfrm>
            <a:off x="320040" y="5257800"/>
            <a:ext cx="1188720" cy="365760"/>
          </a:xfrm>
          <a:prstGeom prst="rect">
            <a:avLst/>
          </a:prstGeom>
          <a:noFill/>
          <a:ln/>
        </p:spPr>
        <p:txBody>
          <a:bodyPr wrap="square" lIns="0" tIns="0" rIns="0" bIns="0" rtlCol="0" anchor="t"/>
          <a:lstStyle/>
          <a:p>
            <a:pPr algn="ctr" indent="0" marL="0">
              <a:buNone/>
            </a:pPr>
            <a:r>
              <a:rPr lang="en-US" sz="1800" dirty="0">
                <a:solidFill>
                  <a:srgbClr val="2B3A4F"/>
                </a:solidFill>
                <a:latin typeface="Cambria" pitchFamily="34" charset="0"/>
                <a:ea typeface="Cambria" pitchFamily="34" charset="-122"/>
                <a:cs typeface="Cambria" pitchFamily="34" charset="-120"/>
              </a:rPr>
              <a:t>a</a:t>
            </a:r>
            <a:pPr algn="ctr" indent="0" marL="0">
              <a:buNone/>
            </a:pPr>
            <a:r>
              <a:rPr lang="en-US" sz="1800" baseline="30000" dirty="0">
                <a:solidFill>
                  <a:srgbClr val="2B3A4F"/>
                </a:solidFill>
                <a:latin typeface="Cambria" pitchFamily="34" charset="0"/>
                <a:ea typeface="Cambria" pitchFamily="34" charset="-122"/>
                <a:cs typeface="Cambria" pitchFamily="34" charset="-120"/>
              </a:rPr>
              <a:t>[0]</a:t>
            </a:r>
            <a:endParaRPr lang="en-US" sz="1800" dirty="0"/>
          </a:p>
        </p:txBody>
      </p:sp>
      <p:sp>
        <p:nvSpPr>
          <p:cNvPr id="83" name="Text 80"/>
          <p:cNvSpPr txBox="1"/>
          <p:nvPr/>
        </p:nvSpPr>
        <p:spPr>
          <a:xfrm>
            <a:off x="1722120" y="5257800"/>
            <a:ext cx="1188720" cy="365760"/>
          </a:xfrm>
          <a:prstGeom prst="rect">
            <a:avLst/>
          </a:prstGeom>
          <a:noFill/>
          <a:ln/>
        </p:spPr>
        <p:txBody>
          <a:bodyPr wrap="square" lIns="0" tIns="0" rIns="0" bIns="0" rtlCol="0" anchor="t"/>
          <a:lstStyle/>
          <a:p>
            <a:pPr algn="ctr" indent="0" marL="0">
              <a:buNone/>
            </a:pPr>
            <a:r>
              <a:rPr lang="en-US" sz="1800" dirty="0">
                <a:solidFill>
                  <a:srgbClr val="2B3A4F"/>
                </a:solidFill>
                <a:latin typeface="Cambria" pitchFamily="34" charset="0"/>
                <a:ea typeface="Cambria" pitchFamily="34" charset="-122"/>
                <a:cs typeface="Cambria" pitchFamily="34" charset="-120"/>
              </a:rPr>
              <a:t>a</a:t>
            </a:r>
            <a:pPr algn="ctr" indent="0" marL="0">
              <a:buNone/>
            </a:pPr>
            <a:r>
              <a:rPr lang="en-US" sz="1800" baseline="30000" dirty="0">
                <a:solidFill>
                  <a:srgbClr val="2B3A4F"/>
                </a:solidFill>
                <a:latin typeface="Cambria" pitchFamily="34" charset="0"/>
                <a:ea typeface="Cambria" pitchFamily="34" charset="-122"/>
                <a:cs typeface="Cambria" pitchFamily="34" charset="-120"/>
              </a:rPr>
              <a:t>[1]</a:t>
            </a:r>
            <a:endParaRPr lang="en-US" sz="1800" dirty="0"/>
          </a:p>
        </p:txBody>
      </p:sp>
      <p:sp>
        <p:nvSpPr>
          <p:cNvPr id="84" name="Text 81"/>
          <p:cNvSpPr txBox="1"/>
          <p:nvPr/>
        </p:nvSpPr>
        <p:spPr>
          <a:xfrm>
            <a:off x="3124200" y="5257800"/>
            <a:ext cx="1188720" cy="365760"/>
          </a:xfrm>
          <a:prstGeom prst="rect">
            <a:avLst/>
          </a:prstGeom>
          <a:noFill/>
          <a:ln/>
        </p:spPr>
        <p:txBody>
          <a:bodyPr wrap="square" lIns="0" tIns="0" rIns="0" bIns="0" rtlCol="0" anchor="t"/>
          <a:lstStyle/>
          <a:p>
            <a:pPr algn="ctr" indent="0" marL="0">
              <a:buNone/>
            </a:pPr>
            <a:r>
              <a:rPr lang="en-US" sz="1800" dirty="0">
                <a:solidFill>
                  <a:srgbClr val="2B3A4F"/>
                </a:solidFill>
                <a:latin typeface="Cambria" pitchFamily="34" charset="0"/>
                <a:ea typeface="Cambria" pitchFamily="34" charset="-122"/>
                <a:cs typeface="Cambria" pitchFamily="34" charset="-120"/>
              </a:rPr>
              <a:t>a</a:t>
            </a:r>
            <a:pPr algn="ctr" indent="0" marL="0">
              <a:buNone/>
            </a:pPr>
            <a:r>
              <a:rPr lang="en-US" sz="1800" baseline="30000" dirty="0">
                <a:solidFill>
                  <a:srgbClr val="2B3A4F"/>
                </a:solidFill>
                <a:latin typeface="Cambria" pitchFamily="34" charset="0"/>
                <a:ea typeface="Cambria" pitchFamily="34" charset="-122"/>
                <a:cs typeface="Cambria" pitchFamily="34" charset="-120"/>
              </a:rPr>
              <a:t>[2]</a:t>
            </a:r>
            <a:endParaRPr lang="en-US" sz="1800" dirty="0"/>
          </a:p>
        </p:txBody>
      </p:sp>
      <p:sp>
        <p:nvSpPr>
          <p:cNvPr id="85" name="Text 82"/>
          <p:cNvSpPr txBox="1"/>
          <p:nvPr/>
        </p:nvSpPr>
        <p:spPr>
          <a:xfrm>
            <a:off x="4526280" y="5257800"/>
            <a:ext cx="1188720" cy="365760"/>
          </a:xfrm>
          <a:prstGeom prst="rect">
            <a:avLst/>
          </a:prstGeom>
          <a:noFill/>
          <a:ln/>
        </p:spPr>
        <p:txBody>
          <a:bodyPr wrap="square" lIns="0" tIns="0" rIns="0" bIns="0" rtlCol="0" anchor="t"/>
          <a:lstStyle/>
          <a:p>
            <a:pPr algn="ctr" indent="0" marL="0">
              <a:buNone/>
            </a:pPr>
            <a:r>
              <a:rPr lang="en-US" sz="1800" dirty="0">
                <a:solidFill>
                  <a:srgbClr val="2B3A4F"/>
                </a:solidFill>
                <a:latin typeface="Cambria" pitchFamily="34" charset="0"/>
                <a:ea typeface="Cambria" pitchFamily="34" charset="-122"/>
                <a:cs typeface="Cambria" pitchFamily="34" charset="-120"/>
              </a:rPr>
              <a:t>a</a:t>
            </a:r>
            <a:pPr algn="ctr" indent="0" marL="0">
              <a:buNone/>
            </a:pPr>
            <a:r>
              <a:rPr lang="en-US" sz="1800" baseline="30000" dirty="0">
                <a:solidFill>
                  <a:srgbClr val="2B3A4F"/>
                </a:solidFill>
                <a:latin typeface="Cambria" pitchFamily="34" charset="0"/>
                <a:ea typeface="Cambria" pitchFamily="34" charset="-122"/>
                <a:cs typeface="Cambria" pitchFamily="34" charset="-120"/>
              </a:rPr>
              <a:t>[3]</a:t>
            </a:r>
            <a:endParaRPr lang="en-US" sz="1800" dirty="0"/>
          </a:p>
        </p:txBody>
      </p:sp>
      <p:sp>
        <p:nvSpPr>
          <p:cNvPr id="86" name="Text 83"/>
          <p:cNvSpPr txBox="1"/>
          <p:nvPr/>
        </p:nvSpPr>
        <p:spPr>
          <a:xfrm>
            <a:off x="320040" y="5577840"/>
            <a:ext cx="118872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 x</a:t>
            </a:r>
            <a:endParaRPr lang="en-US" sz="1500" dirty="0"/>
          </a:p>
        </p:txBody>
      </p:sp>
      <p:sp>
        <p:nvSpPr>
          <p:cNvPr id="87" name="Text 84"/>
          <p:cNvSpPr txBox="1"/>
          <p:nvPr/>
        </p:nvSpPr>
        <p:spPr>
          <a:xfrm>
            <a:off x="4526280" y="5577840"/>
            <a:ext cx="118872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 ŷ</a:t>
            </a:r>
            <a:endParaRPr lang="en-US" sz="1500" dirty="0"/>
          </a:p>
        </p:txBody>
      </p:sp>
      <p:sp>
        <p:nvSpPr>
          <p:cNvPr id="88" name="Text 85"/>
          <p:cNvSpPr txBox="1"/>
          <p:nvPr/>
        </p:nvSpPr>
        <p:spPr>
          <a:xfrm>
            <a:off x="1158240" y="1371600"/>
            <a:ext cx="100584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mbria" pitchFamily="34" charset="0"/>
                <a:ea typeface="Cambria" pitchFamily="34" charset="-122"/>
                <a:cs typeface="Cambria" pitchFamily="34" charset="-120"/>
              </a:rPr>
              <a:t>W</a:t>
            </a:r>
            <a:pPr algn="ctr" indent="0" marL="0">
              <a:buNone/>
            </a:pPr>
            <a:r>
              <a:rPr lang="en-US" sz="1800" b="1" baseline="30000" dirty="0">
                <a:solidFill>
                  <a:srgbClr val="0F7C82"/>
                </a:solidFill>
                <a:latin typeface="Cambria" pitchFamily="34" charset="0"/>
                <a:ea typeface="Cambria" pitchFamily="34" charset="-122"/>
                <a:cs typeface="Cambria" pitchFamily="34" charset="-120"/>
              </a:rPr>
              <a:t>[1]</a:t>
            </a:r>
            <a:endParaRPr lang="en-US" sz="1800" dirty="0"/>
          </a:p>
        </p:txBody>
      </p:sp>
      <p:sp>
        <p:nvSpPr>
          <p:cNvPr id="89" name="Text 86"/>
          <p:cNvSpPr txBox="1"/>
          <p:nvPr/>
        </p:nvSpPr>
        <p:spPr>
          <a:xfrm>
            <a:off x="2560320" y="1371600"/>
            <a:ext cx="100584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mbria" pitchFamily="34" charset="0"/>
                <a:ea typeface="Cambria" pitchFamily="34" charset="-122"/>
                <a:cs typeface="Cambria" pitchFamily="34" charset="-120"/>
              </a:rPr>
              <a:t>W</a:t>
            </a:r>
            <a:pPr algn="ctr" indent="0" marL="0">
              <a:buNone/>
            </a:pPr>
            <a:r>
              <a:rPr lang="en-US" sz="1800" b="1" baseline="30000" dirty="0">
                <a:solidFill>
                  <a:srgbClr val="0F7C82"/>
                </a:solidFill>
                <a:latin typeface="Cambria" pitchFamily="34" charset="0"/>
                <a:ea typeface="Cambria" pitchFamily="34" charset="-122"/>
                <a:cs typeface="Cambria" pitchFamily="34" charset="-120"/>
              </a:rPr>
              <a:t>[2]</a:t>
            </a:r>
            <a:endParaRPr lang="en-US" sz="1800" dirty="0"/>
          </a:p>
        </p:txBody>
      </p:sp>
      <p:sp>
        <p:nvSpPr>
          <p:cNvPr id="90" name="Text 87"/>
          <p:cNvSpPr txBox="1"/>
          <p:nvPr/>
        </p:nvSpPr>
        <p:spPr>
          <a:xfrm>
            <a:off x="3962400" y="1371600"/>
            <a:ext cx="100584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mbria" pitchFamily="34" charset="0"/>
                <a:ea typeface="Cambria" pitchFamily="34" charset="-122"/>
                <a:cs typeface="Cambria" pitchFamily="34" charset="-120"/>
              </a:rPr>
              <a:t>W</a:t>
            </a:r>
            <a:pPr algn="ctr" indent="0" marL="0">
              <a:buNone/>
            </a:pPr>
            <a:r>
              <a:rPr lang="en-US" sz="1800" b="1" baseline="30000" dirty="0">
                <a:solidFill>
                  <a:srgbClr val="0F7C82"/>
                </a:solidFill>
                <a:latin typeface="Cambria" pitchFamily="34" charset="0"/>
                <a:ea typeface="Cambria" pitchFamily="34" charset="-122"/>
                <a:cs typeface="Cambria" pitchFamily="34" charset="-120"/>
              </a:rPr>
              <a:t>[3]</a:t>
            </a:r>
            <a:endParaRPr lang="en-US" sz="1800" dirty="0"/>
          </a:p>
        </p:txBody>
      </p:sp>
      <p:sp>
        <p:nvSpPr>
          <p:cNvPr id="91" name="Shape 88"/>
          <p:cNvSpPr/>
          <p:nvPr/>
        </p:nvSpPr>
        <p:spPr>
          <a:xfrm>
            <a:off x="5623560" y="1417320"/>
            <a:ext cx="6016752" cy="2926080"/>
          </a:xfrm>
          <a:prstGeom prst="roundRect">
            <a:avLst>
              <a:gd name="adj" fmla="val 2500"/>
            </a:avLst>
          </a:prstGeom>
          <a:solidFill>
            <a:srgbClr val="F3F5F8"/>
          </a:solidFill>
          <a:ln/>
        </p:spPr>
      </p:sp>
      <p:sp>
        <p:nvSpPr>
          <p:cNvPr id="92" name="Text 89"/>
          <p:cNvSpPr txBox="1"/>
          <p:nvPr/>
        </p:nvSpPr>
        <p:spPr>
          <a:xfrm>
            <a:off x="5852160" y="1572768"/>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FORWARD PASS, ONE EXAMPLE</a:t>
            </a:r>
            <a:endParaRPr lang="en-US" sz="1300" dirty="0"/>
          </a:p>
        </p:txBody>
      </p:sp>
      <p:pic>
        <p:nvPicPr>
          <p:cNvPr id="93" name="Image 0" descr="LaTeX: \begin{align*} &amp;\av\Ly{0} = \x\\ &amp;\textbf{for } l = 1,\dots,L:\\ &amp;\qquad \z\Ly{l} = \W\Ly{l}\av\Ly{l-1} + \bb\Ly{l} \qquad \text{\color{mu}pre-activation}\\ &amp;\qquad \av\Ly{l} = g\Ly{l}\bigl(\z\Ly{l}\bigr) \qquad \text{\color{mu}activation}\\ &amp;\yhv = \av\Ly{L} \end{align*}">    </p:cNvPr>
          <p:cNvPicPr>
            <a:picLocks noChangeAspect="1"/>
          </p:cNvPicPr>
          <p:nvPr/>
        </p:nvPicPr>
        <p:blipFill>
          <a:blip r:embed="rId1"/>
          <a:stretch>
            <a:fillRect/>
          </a:stretch>
        </p:blipFill>
        <p:spPr>
          <a:xfrm>
            <a:off x="5897880" y="1920240"/>
            <a:ext cx="4256684" cy="1728064"/>
          </a:xfrm>
          <a:prstGeom prst="rect">
            <a:avLst/>
          </a:prstGeom>
        </p:spPr>
      </p:pic>
      <p:sp>
        <p:nvSpPr>
          <p:cNvPr id="94" name="Shape 90"/>
          <p:cNvSpPr/>
          <p:nvPr/>
        </p:nvSpPr>
        <p:spPr>
          <a:xfrm>
            <a:off x="5623560" y="4572000"/>
            <a:ext cx="6016752" cy="1554480"/>
          </a:xfrm>
          <a:prstGeom prst="roundRect">
            <a:avLst>
              <a:gd name="adj" fmla="val 4706"/>
            </a:avLst>
          </a:prstGeom>
          <a:solidFill>
            <a:srgbClr val="E2F1F1"/>
          </a:solidFill>
          <a:ln/>
        </p:spPr>
      </p:sp>
      <p:sp>
        <p:nvSpPr>
          <p:cNvPr id="95" name="Text 91"/>
          <p:cNvSpPr txBox="1"/>
          <p:nvPr/>
        </p:nvSpPr>
        <p:spPr>
          <a:xfrm>
            <a:off x="5852160" y="4709160"/>
            <a:ext cx="36576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SHAPE CHECK</a:t>
            </a:r>
            <a:endParaRPr lang="en-US" sz="1300" dirty="0"/>
          </a:p>
        </p:txBody>
      </p:sp>
      <p:pic>
        <p:nvPicPr>
          <p:cNvPr id="96" name="Image 1" descr="LaTeX: $\displaystyle \underbrace{\W\Ly{l}}_{(n\Ly{l},\,n\Ly{l-1})}\;\underbrace{\av\Ly{l-1}}_{(n\Ly{l-1},\,1)} + \underbrace{\bb\Ly{l}}_{(n\Ly{l},\,1)} = \underbrace{\z\Ly{l}}_{(n\Ly{l},\,1)}$">    </p:cNvPr>
          <p:cNvPicPr>
            <a:picLocks noChangeAspect="1"/>
          </p:cNvPicPr>
          <p:nvPr/>
        </p:nvPicPr>
        <p:blipFill>
          <a:blip r:embed="rId2"/>
          <a:stretch>
            <a:fillRect/>
          </a:stretch>
        </p:blipFill>
        <p:spPr>
          <a:xfrm>
            <a:off x="5897880" y="5074920"/>
            <a:ext cx="3422447" cy="619201"/>
          </a:xfrm>
          <a:prstGeom prst="rect">
            <a:avLst/>
          </a:prstGeom>
        </p:spPr>
      </p:pic>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RUNNING EXAMPLE</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Running example: a 784–128–64–10 MLP</a:t>
            </a:r>
            <a:endParaRPr lang="en-US" sz="3200" dirty="0"/>
          </a:p>
        </p:txBody>
      </p:sp>
      <p:pic>
        <p:nvPicPr>
          <p:cNvPr id="5" name="Image 0" descr="Ten Fashion-MNIST images, one per class: T-shirt, trouser, pullover, dress, coat, sandal, shirt, sneaker, bag, ankle boot.">    </p:cNvPr>
          <p:cNvPicPr>
            <a:picLocks noChangeAspect="1"/>
          </p:cNvPicPr>
          <p:nvPr/>
        </p:nvPicPr>
        <p:blipFill>
          <a:blip r:embed="rId1"/>
          <a:stretch>
            <a:fillRect/>
          </a:stretch>
        </p:blipFill>
        <p:spPr>
          <a:xfrm>
            <a:off x="548640" y="1727628"/>
            <a:ext cx="5029200" cy="2488343"/>
          </a:xfrm>
          <a:prstGeom prst="rect">
            <a:avLst/>
          </a:prstGeom>
        </p:spPr>
      </p:pic>
      <p:sp>
        <p:nvSpPr>
          <p:cNvPr id="6" name="Text 2"/>
          <p:cNvSpPr txBox="1"/>
          <p:nvPr/>
        </p:nvSpPr>
        <p:spPr>
          <a:xfrm>
            <a:off x="548640" y="4526280"/>
            <a:ext cx="5029200" cy="365760"/>
          </a:xfrm>
          <a:prstGeom prst="rect">
            <a:avLst/>
          </a:prstGeom>
          <a:noFill/>
          <a:ln/>
        </p:spPr>
        <p:txBody>
          <a:bodyPr wrap="square" lIns="0" tIns="0" rIns="0" bIns="0" rtlCol="0" anchor="t"/>
          <a:lstStyle/>
          <a:p>
            <a:pPr algn="ctr" indent="0" marL="0">
              <a:buNone/>
            </a:pPr>
            <a:r>
              <a:rPr lang="en-US" sz="1700" dirty="0">
                <a:solidFill>
                  <a:srgbClr val="2B3A4F"/>
                </a:solidFill>
                <a:latin typeface="Calibri" pitchFamily="34" charset="0"/>
                <a:ea typeface="Calibri" pitchFamily="34" charset="-122"/>
                <a:cs typeface="Calibri" pitchFamily="34" charset="-120"/>
              </a:rPr>
              <a:t>70,000 images · 28 × 28 grey · 10 classes</a:t>
            </a:r>
            <a:endParaRPr lang="en-US" sz="1700" dirty="0"/>
          </a:p>
        </p:txBody>
      </p:sp>
      <p:sp>
        <p:nvSpPr>
          <p:cNvPr id="7" name="Text 3"/>
          <p:cNvSpPr txBox="1"/>
          <p:nvPr/>
        </p:nvSpPr>
        <p:spPr>
          <a:xfrm>
            <a:off x="548640" y="4937760"/>
            <a:ext cx="5029200" cy="365760"/>
          </a:xfrm>
          <a:prstGeom prst="rect">
            <a:avLst/>
          </a:prstGeom>
          <a:noFill/>
          <a:ln/>
        </p:spPr>
        <p:txBody>
          <a:bodyPr wrap="square" lIns="0" tIns="0" rIns="0" bIns="0" rtlCol="0" anchor="t"/>
          <a:lstStyle/>
          <a:p>
            <a:pPr algn="ctr" indent="0" marL="0">
              <a:buNone/>
            </a:pPr>
            <a:r>
              <a:rPr lang="en-US" sz="1700" dirty="0">
                <a:solidFill>
                  <a:srgbClr val="5B6675"/>
                </a:solidFill>
                <a:latin typeface="Calibri" pitchFamily="34" charset="0"/>
                <a:ea typeface="Calibri" pitchFamily="34" charset="-122"/>
                <a:cs typeface="Calibri" pitchFamily="34" charset="-120"/>
              </a:rPr>
              <a:t>train 55,000 · validation 5,000 · test 10,000</a:t>
            </a:r>
            <a:endParaRPr lang="en-US" sz="1700" dirty="0"/>
          </a:p>
        </p:txBody>
      </p:sp>
      <p:sp>
        <p:nvSpPr>
          <p:cNvPr id="8" name="Shape 4"/>
          <p:cNvSpPr/>
          <p:nvPr/>
        </p:nvSpPr>
        <p:spPr>
          <a:xfrm>
            <a:off x="5897880" y="1417320"/>
            <a:ext cx="5742432" cy="621792"/>
          </a:xfrm>
          <a:prstGeom prst="roundRect">
            <a:avLst>
              <a:gd name="adj" fmla="val 11765"/>
            </a:avLst>
          </a:prstGeom>
          <a:solidFill>
            <a:srgbClr val="F3F5F8"/>
          </a:solidFill>
          <a:ln/>
        </p:spPr>
      </p:sp>
      <p:sp>
        <p:nvSpPr>
          <p:cNvPr id="9" name="Text 5"/>
          <p:cNvSpPr txBox="1"/>
          <p:nvPr/>
        </p:nvSpPr>
        <p:spPr>
          <a:xfrm>
            <a:off x="6126480" y="141732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Input batch</a:t>
            </a:r>
            <a:endParaRPr lang="en-US" sz="1800" dirty="0"/>
          </a:p>
        </p:txBody>
      </p:sp>
      <p:sp>
        <p:nvSpPr>
          <p:cNvPr id="10" name="Text 6"/>
          <p:cNvSpPr txBox="1"/>
          <p:nvPr/>
        </p:nvSpPr>
        <p:spPr>
          <a:xfrm>
            <a:off x="8549640" y="141732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(32, 1, 28, 28)</a:t>
            </a:r>
            <a:endParaRPr lang="en-US" sz="1800" dirty="0"/>
          </a:p>
        </p:txBody>
      </p:sp>
      <p:sp>
        <p:nvSpPr>
          <p:cNvPr id="11" name="Shape 7"/>
          <p:cNvSpPr/>
          <p:nvPr/>
        </p:nvSpPr>
        <p:spPr>
          <a:xfrm>
            <a:off x="9189720" y="2057400"/>
            <a:ext cx="91" cy="164592"/>
          </a:xfrm>
          <a:prstGeom prst="line">
            <a:avLst/>
          </a:prstGeom>
          <a:noFill/>
          <a:ln w="15875">
            <a:solidFill>
              <a:srgbClr val="8A94A3"/>
            </a:solidFill>
            <a:prstDash val="solid"/>
            <a:tailEnd type="triangle"/>
          </a:ln>
        </p:spPr>
      </p:sp>
      <p:sp>
        <p:nvSpPr>
          <p:cNvPr id="12" name="Shape 8"/>
          <p:cNvSpPr/>
          <p:nvPr/>
        </p:nvSpPr>
        <p:spPr>
          <a:xfrm>
            <a:off x="5897880" y="2240280"/>
            <a:ext cx="5742432" cy="621792"/>
          </a:xfrm>
          <a:prstGeom prst="roundRect">
            <a:avLst>
              <a:gd name="adj" fmla="val 11765"/>
            </a:avLst>
          </a:prstGeom>
          <a:solidFill>
            <a:srgbClr val="F3F5F8"/>
          </a:solidFill>
          <a:ln/>
        </p:spPr>
      </p:sp>
      <p:sp>
        <p:nvSpPr>
          <p:cNvPr id="13" name="Text 9"/>
          <p:cNvSpPr txBox="1"/>
          <p:nvPr/>
        </p:nvSpPr>
        <p:spPr>
          <a:xfrm>
            <a:off x="6126480" y="224028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Flatten</a:t>
            </a:r>
            <a:endParaRPr lang="en-US" sz="1800" dirty="0"/>
          </a:p>
        </p:txBody>
      </p:sp>
      <p:sp>
        <p:nvSpPr>
          <p:cNvPr id="14" name="Text 10"/>
          <p:cNvSpPr txBox="1"/>
          <p:nvPr/>
        </p:nvSpPr>
        <p:spPr>
          <a:xfrm>
            <a:off x="8549640" y="224028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(32, 784)</a:t>
            </a:r>
            <a:endParaRPr lang="en-US" sz="1800" dirty="0"/>
          </a:p>
        </p:txBody>
      </p:sp>
      <p:sp>
        <p:nvSpPr>
          <p:cNvPr id="15" name="Shape 11"/>
          <p:cNvSpPr/>
          <p:nvPr/>
        </p:nvSpPr>
        <p:spPr>
          <a:xfrm>
            <a:off x="9189720" y="2880360"/>
            <a:ext cx="91" cy="164592"/>
          </a:xfrm>
          <a:prstGeom prst="line">
            <a:avLst/>
          </a:prstGeom>
          <a:noFill/>
          <a:ln w="15875">
            <a:solidFill>
              <a:srgbClr val="8A94A3"/>
            </a:solidFill>
            <a:prstDash val="solid"/>
            <a:tailEnd type="triangle"/>
          </a:ln>
        </p:spPr>
      </p:sp>
      <p:sp>
        <p:nvSpPr>
          <p:cNvPr id="16" name="Shape 12"/>
          <p:cNvSpPr/>
          <p:nvPr/>
        </p:nvSpPr>
        <p:spPr>
          <a:xfrm>
            <a:off x="5897880" y="3063240"/>
            <a:ext cx="5742432" cy="621792"/>
          </a:xfrm>
          <a:prstGeom prst="roundRect">
            <a:avLst>
              <a:gd name="adj" fmla="val 11765"/>
            </a:avLst>
          </a:prstGeom>
          <a:solidFill>
            <a:srgbClr val="E2F1F1"/>
          </a:solidFill>
          <a:ln/>
        </p:spPr>
      </p:sp>
      <p:sp>
        <p:nvSpPr>
          <p:cNvPr id="17" name="Text 13"/>
          <p:cNvSpPr txBox="1"/>
          <p:nvPr/>
        </p:nvSpPr>
        <p:spPr>
          <a:xfrm>
            <a:off x="6126480" y="306324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Linear + ReLU</a:t>
            </a:r>
            <a:endParaRPr lang="en-US" sz="1800" dirty="0"/>
          </a:p>
        </p:txBody>
      </p:sp>
      <p:sp>
        <p:nvSpPr>
          <p:cNvPr id="18" name="Text 14"/>
          <p:cNvSpPr txBox="1"/>
          <p:nvPr/>
        </p:nvSpPr>
        <p:spPr>
          <a:xfrm>
            <a:off x="8549640" y="306324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(32, 128)</a:t>
            </a:r>
            <a:endParaRPr lang="en-US" sz="1800" dirty="0"/>
          </a:p>
        </p:txBody>
      </p:sp>
      <p:sp>
        <p:nvSpPr>
          <p:cNvPr id="19" name="Shape 15"/>
          <p:cNvSpPr/>
          <p:nvPr/>
        </p:nvSpPr>
        <p:spPr>
          <a:xfrm>
            <a:off x="9189720" y="3703320"/>
            <a:ext cx="91" cy="164592"/>
          </a:xfrm>
          <a:prstGeom prst="line">
            <a:avLst/>
          </a:prstGeom>
          <a:noFill/>
          <a:ln w="15875">
            <a:solidFill>
              <a:srgbClr val="8A94A3"/>
            </a:solidFill>
            <a:prstDash val="solid"/>
            <a:tailEnd type="triangle"/>
          </a:ln>
        </p:spPr>
      </p:sp>
      <p:sp>
        <p:nvSpPr>
          <p:cNvPr id="20" name="Shape 16"/>
          <p:cNvSpPr/>
          <p:nvPr/>
        </p:nvSpPr>
        <p:spPr>
          <a:xfrm>
            <a:off x="5897880" y="3886200"/>
            <a:ext cx="5742432" cy="621792"/>
          </a:xfrm>
          <a:prstGeom prst="roundRect">
            <a:avLst>
              <a:gd name="adj" fmla="val 11765"/>
            </a:avLst>
          </a:prstGeom>
          <a:solidFill>
            <a:srgbClr val="E2F1F1"/>
          </a:solidFill>
          <a:ln/>
        </p:spPr>
      </p:sp>
      <p:sp>
        <p:nvSpPr>
          <p:cNvPr id="21" name="Text 17"/>
          <p:cNvSpPr txBox="1"/>
          <p:nvPr/>
        </p:nvSpPr>
        <p:spPr>
          <a:xfrm>
            <a:off x="6126480" y="388620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Linear + ReLU</a:t>
            </a:r>
            <a:endParaRPr lang="en-US" sz="1800" dirty="0"/>
          </a:p>
        </p:txBody>
      </p:sp>
      <p:sp>
        <p:nvSpPr>
          <p:cNvPr id="22" name="Text 18"/>
          <p:cNvSpPr txBox="1"/>
          <p:nvPr/>
        </p:nvSpPr>
        <p:spPr>
          <a:xfrm>
            <a:off x="8549640" y="388620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(32, 64)</a:t>
            </a:r>
            <a:endParaRPr lang="en-US" sz="1800" dirty="0"/>
          </a:p>
        </p:txBody>
      </p:sp>
      <p:sp>
        <p:nvSpPr>
          <p:cNvPr id="23" name="Shape 19"/>
          <p:cNvSpPr/>
          <p:nvPr/>
        </p:nvSpPr>
        <p:spPr>
          <a:xfrm>
            <a:off x="9189720" y="4526280"/>
            <a:ext cx="91" cy="164592"/>
          </a:xfrm>
          <a:prstGeom prst="line">
            <a:avLst/>
          </a:prstGeom>
          <a:noFill/>
          <a:ln w="15875">
            <a:solidFill>
              <a:srgbClr val="8A94A3"/>
            </a:solidFill>
            <a:prstDash val="solid"/>
            <a:tailEnd type="triangle"/>
          </a:ln>
        </p:spPr>
      </p:sp>
      <p:sp>
        <p:nvSpPr>
          <p:cNvPr id="24" name="Shape 20"/>
          <p:cNvSpPr/>
          <p:nvPr/>
        </p:nvSpPr>
        <p:spPr>
          <a:xfrm>
            <a:off x="5897880" y="4709160"/>
            <a:ext cx="5742432" cy="621792"/>
          </a:xfrm>
          <a:prstGeom prst="roundRect">
            <a:avLst>
              <a:gd name="adj" fmla="val 11765"/>
            </a:avLst>
          </a:prstGeom>
          <a:solidFill>
            <a:srgbClr val="FBEADF"/>
          </a:solidFill>
          <a:ln/>
        </p:spPr>
      </p:sp>
      <p:sp>
        <p:nvSpPr>
          <p:cNvPr id="25" name="Text 21"/>
          <p:cNvSpPr txBox="1"/>
          <p:nvPr/>
        </p:nvSpPr>
        <p:spPr>
          <a:xfrm>
            <a:off x="6126480" y="470916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Linear → logits</a:t>
            </a:r>
            <a:endParaRPr lang="en-US" sz="1800" dirty="0"/>
          </a:p>
        </p:txBody>
      </p:sp>
      <p:sp>
        <p:nvSpPr>
          <p:cNvPr id="26" name="Text 22"/>
          <p:cNvSpPr txBox="1"/>
          <p:nvPr/>
        </p:nvSpPr>
        <p:spPr>
          <a:xfrm>
            <a:off x="8549640" y="470916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(32, 10)</a:t>
            </a:r>
            <a:endParaRPr lang="en-US" sz="1800" dirty="0"/>
          </a:p>
        </p:txBody>
      </p:sp>
      <p:sp>
        <p:nvSpPr>
          <p:cNvPr id="27" name="Shape 23"/>
          <p:cNvSpPr/>
          <p:nvPr/>
        </p:nvSpPr>
        <p:spPr>
          <a:xfrm>
            <a:off x="5897880" y="5577840"/>
            <a:ext cx="5742432" cy="548640"/>
          </a:xfrm>
          <a:prstGeom prst="roundRect">
            <a:avLst>
              <a:gd name="adj" fmla="val 13333"/>
            </a:avLst>
          </a:prstGeom>
          <a:solidFill>
            <a:srgbClr val="E2F1F1"/>
          </a:solidFill>
          <a:ln/>
        </p:spPr>
      </p:sp>
      <p:sp>
        <p:nvSpPr>
          <p:cNvPr id="28" name="Text 24"/>
          <p:cNvSpPr txBox="1"/>
          <p:nvPr/>
        </p:nvSpPr>
        <p:spPr>
          <a:xfrm>
            <a:off x="6099048" y="5623560"/>
            <a:ext cx="5340096" cy="45720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The batch dimension (32) never changes.</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RUNNING EXAMPLE</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In PyTorch: an nn.Module that returns logits</a:t>
            </a:r>
            <a:endParaRPr lang="en-US" sz="3200" dirty="0"/>
          </a:p>
        </p:txBody>
      </p:sp>
      <p:sp>
        <p:nvSpPr>
          <p:cNvPr id="5" name="Shape 2"/>
          <p:cNvSpPr/>
          <p:nvPr/>
        </p:nvSpPr>
        <p:spPr>
          <a:xfrm>
            <a:off x="548640" y="1417320"/>
            <a:ext cx="6675120" cy="4709160"/>
          </a:xfrm>
          <a:prstGeom prst="roundRect">
            <a:avLst>
              <a:gd name="adj" fmla="val 1165"/>
            </a:avLst>
          </a:prstGeom>
          <a:solidFill>
            <a:srgbClr val="1E2735"/>
          </a:solidFill>
          <a:ln/>
        </p:spPr>
      </p:sp>
      <p:sp>
        <p:nvSpPr>
          <p:cNvPr id="6" name="Text 3"/>
          <p:cNvSpPr txBox="1"/>
          <p:nvPr/>
        </p:nvSpPr>
        <p:spPr>
          <a:xfrm>
            <a:off x="749808" y="1563624"/>
            <a:ext cx="6355080" cy="4453128"/>
          </a:xfrm>
          <a:prstGeom prst="rect">
            <a:avLst/>
          </a:prstGeom>
          <a:noFill/>
          <a:ln/>
        </p:spPr>
        <p:txBody>
          <a:bodyPr wrap="square" lIns="0" tIns="0" rIns="0" bIns="0" rtlCol="0" anchor="t"/>
          <a:lstStyle/>
          <a:p>
            <a:pPr indent="0" marL="0">
              <a:lnSpc>
                <a:spcPct val="105000"/>
              </a:lnSpc>
              <a:buNone/>
            </a:pPr>
            <a:r>
              <a:rPr lang="en-US" sz="1600" dirty="0">
                <a:solidFill>
                  <a:srgbClr val="7FD1CF"/>
                </a:solidFill>
                <a:latin typeface="Consolas" pitchFamily="34" charset="0"/>
                <a:ea typeface="Consolas" pitchFamily="34" charset="-122"/>
                <a:cs typeface="Consolas" pitchFamily="34" charset="-120"/>
              </a:rPr>
              <a:t>class</a:t>
            </a:r>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MLP(nn.Module):</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a:t>
            </a:r>
            <a:pPr indent="0" marL="0">
              <a:lnSpc>
                <a:spcPct val="105000"/>
              </a:lnSpc>
              <a:buNone/>
            </a:pPr>
            <a:r>
              <a:rPr lang="en-US" sz="1600" dirty="0">
                <a:solidFill>
                  <a:srgbClr val="7FD1CF"/>
                </a:solidFill>
                <a:latin typeface="Consolas" pitchFamily="34" charset="0"/>
                <a:ea typeface="Consolas" pitchFamily="34" charset="-122"/>
                <a:cs typeface="Consolas" pitchFamily="34" charset="-120"/>
              </a:rPr>
              <a:t>def</a:t>
            </a:r>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__init__(self):</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super().__init__()</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self.net = nn.Sequential(</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nn.Flatten(),          </a:t>
            </a:r>
            <a:pPr indent="0" marL="0">
              <a:lnSpc>
                <a:spcPct val="105000"/>
              </a:lnSpc>
              <a:buNone/>
            </a:pPr>
            <a:r>
              <a:rPr lang="en-US" sz="1600" i="1" dirty="0">
                <a:solidFill>
                  <a:srgbClr val="8D99AB"/>
                </a:solidFill>
                <a:latin typeface="Consolas" pitchFamily="34" charset="0"/>
                <a:ea typeface="Consolas" pitchFamily="34" charset="-122"/>
                <a:cs typeface="Consolas" pitchFamily="34" charset="-120"/>
              </a:rPr>
              <a:t># -&gt; (B, 784)</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nn.Linear(784, 128), nn.ReLU(),</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nn.Linear(128, 64), nn.ReLU(),</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nn.Linear(64, 10))     </a:t>
            </a:r>
            <a:pPr indent="0" marL="0">
              <a:lnSpc>
                <a:spcPct val="105000"/>
              </a:lnSpc>
              <a:buNone/>
            </a:pPr>
            <a:r>
              <a:rPr lang="en-US" sz="1600" i="1" dirty="0">
                <a:solidFill>
                  <a:srgbClr val="8D99AB"/>
                </a:solidFill>
                <a:latin typeface="Consolas" pitchFamily="34" charset="0"/>
                <a:ea typeface="Consolas" pitchFamily="34" charset="-122"/>
                <a:cs typeface="Consolas" pitchFamily="34" charset="-120"/>
              </a:rPr>
              <a:t># logits</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a:t>
            </a:r>
            <a:pPr indent="0" marL="0">
              <a:lnSpc>
                <a:spcPct val="105000"/>
              </a:lnSpc>
              <a:buNone/>
            </a:pPr>
            <a:r>
              <a:rPr lang="en-US" sz="1600" dirty="0">
                <a:solidFill>
                  <a:srgbClr val="7FD1CF"/>
                </a:solidFill>
                <a:latin typeface="Consolas" pitchFamily="34" charset="0"/>
                <a:ea typeface="Consolas" pitchFamily="34" charset="-122"/>
                <a:cs typeface="Consolas" pitchFamily="34" charset="-120"/>
              </a:rPr>
              <a:t>def</a:t>
            </a:r>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forward(self, x):</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a:t>
            </a:r>
            <a:pPr indent="0" marL="0">
              <a:lnSpc>
                <a:spcPct val="105000"/>
              </a:lnSpc>
              <a:buNone/>
            </a:pPr>
            <a:r>
              <a:rPr lang="en-US" sz="1600" dirty="0">
                <a:solidFill>
                  <a:srgbClr val="7FD1CF"/>
                </a:solidFill>
                <a:latin typeface="Consolas" pitchFamily="34" charset="0"/>
                <a:ea typeface="Consolas" pitchFamily="34" charset="-122"/>
                <a:cs typeface="Consolas" pitchFamily="34" charset="-120"/>
              </a:rPr>
              <a:t>return</a:t>
            </a:r>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self.net(x)</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model = MLP()</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x = torch.randn(32, 1, 28, 28)</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print(model(x).shape)       </a:t>
            </a:r>
            <a:pPr indent="0" marL="0">
              <a:lnSpc>
                <a:spcPct val="105000"/>
              </a:lnSpc>
              <a:buNone/>
            </a:pPr>
            <a:r>
              <a:rPr lang="en-US" sz="1600" i="1" dirty="0">
                <a:solidFill>
                  <a:srgbClr val="8D99AB"/>
                </a:solidFill>
                <a:latin typeface="Consolas" pitchFamily="34" charset="0"/>
                <a:ea typeface="Consolas" pitchFamily="34" charset="-122"/>
                <a:cs typeface="Consolas" pitchFamily="34" charset="-120"/>
              </a:rPr>
              <a:t># [32, 10]</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n = sum(p.numel() </a:t>
            </a:r>
            <a:pPr indent="0" marL="0">
              <a:lnSpc>
                <a:spcPct val="105000"/>
              </a:lnSpc>
              <a:buNone/>
            </a:pPr>
            <a:r>
              <a:rPr lang="en-US" sz="1600" dirty="0">
                <a:solidFill>
                  <a:srgbClr val="7FD1CF"/>
                </a:solidFill>
                <a:latin typeface="Consolas" pitchFamily="34" charset="0"/>
                <a:ea typeface="Consolas" pitchFamily="34" charset="-122"/>
                <a:cs typeface="Consolas" pitchFamily="34" charset="-120"/>
              </a:rPr>
              <a:t>for</a:t>
            </a:r>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p </a:t>
            </a:r>
            <a:pPr indent="0" marL="0">
              <a:lnSpc>
                <a:spcPct val="105000"/>
              </a:lnSpc>
              <a:buNone/>
            </a:pPr>
            <a:r>
              <a:rPr lang="en-US" sz="1600" dirty="0">
                <a:solidFill>
                  <a:srgbClr val="7FD1CF"/>
                </a:solidFill>
                <a:latin typeface="Consolas" pitchFamily="34" charset="0"/>
                <a:ea typeface="Consolas" pitchFamily="34" charset="-122"/>
                <a:cs typeface="Consolas" pitchFamily="34" charset="-120"/>
              </a:rPr>
              <a:t>in</a:t>
            </a:r>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model.parameters())</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print(n)                    </a:t>
            </a:r>
            <a:pPr indent="0" marL="0">
              <a:lnSpc>
                <a:spcPct val="105000"/>
              </a:lnSpc>
              <a:buNone/>
            </a:pPr>
            <a:r>
              <a:rPr lang="en-US" sz="1600" i="1" dirty="0">
                <a:solidFill>
                  <a:srgbClr val="8D99AB"/>
                </a:solidFill>
                <a:latin typeface="Consolas" pitchFamily="34" charset="0"/>
                <a:ea typeface="Consolas" pitchFamily="34" charset="-122"/>
                <a:cs typeface="Consolas" pitchFamily="34" charset="-120"/>
              </a:rPr>
              <a:t># 109386</a:t>
            </a:r>
            <a:endParaRPr lang="en-US" sz="1600" dirty="0"/>
          </a:p>
        </p:txBody>
      </p:sp>
      <p:graphicFrame>
        <p:nvGraphicFramePr>
          <p:cNvPr id="7" name="Chart 0" descr="Parameters per layer: Layer 1 = 100480; Layer 2 = 8256; Layer 3 = 650"/>
          <p:cNvGraphicFramePr/>
          <p:nvPr/>
        </p:nvGraphicFramePr>
        <p:xfrm>
          <a:off x="7452360" y="1325880"/>
          <a:ext cx="4206240" cy="2331720"/>
        </p:xfrm>
        <a:graphic xmlns:a="http://schemas.openxmlformats.org/drawingml/2006/main">
          <a:graphicData uri="http://schemas.openxmlformats.org/drawingml/2006/chart">
            <c:chart xmlns:c="http://schemas.openxmlformats.org/drawingml/2006/chart" r:id="rId1"/>
          </a:graphicData>
        </a:graphic>
      </p:graphicFrame>
      <p:sp>
        <p:nvSpPr>
          <p:cNvPr id="8" name="Text 4"/>
          <p:cNvSpPr txBox="1"/>
          <p:nvPr/>
        </p:nvSpPr>
        <p:spPr>
          <a:xfrm>
            <a:off x="7543800" y="3749040"/>
            <a:ext cx="4114800" cy="609600"/>
          </a:xfrm>
          <a:prstGeom prst="rect">
            <a:avLst/>
          </a:prstGeom>
          <a:noFill/>
          <a:ln/>
        </p:spPr>
        <p:txBody>
          <a:bodyPr wrap="square" lIns="0" tIns="0" rIns="0" bIns="0" rtlCol="0" anchor="t"/>
          <a:lstStyle/>
          <a:p>
            <a:pPr indent="0" marL="0">
              <a:buNone/>
            </a:pPr>
            <a:r>
              <a:rPr lang="en-US" sz="4000" b="1" dirty="0">
                <a:solidFill>
                  <a:srgbClr val="C8571B"/>
                </a:solidFill>
                <a:latin typeface="Cambria" pitchFamily="34" charset="0"/>
                <a:ea typeface="Cambria" pitchFamily="34" charset="-122"/>
                <a:cs typeface="Cambria" pitchFamily="34" charset="-120"/>
              </a:rPr>
              <a:t>92%</a:t>
            </a:r>
            <a:endParaRPr lang="en-US" sz="4000" dirty="0"/>
          </a:p>
        </p:txBody>
      </p:sp>
      <p:sp>
        <p:nvSpPr>
          <p:cNvPr id="9" name="Text 5"/>
          <p:cNvSpPr txBox="1"/>
          <p:nvPr/>
        </p:nvSpPr>
        <p:spPr>
          <a:xfrm>
            <a:off x="7543800" y="4450080"/>
            <a:ext cx="4114800"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of 109,386 parameters are in layer 1</a:t>
            </a:r>
            <a:endParaRPr lang="en-US" sz="1700" dirty="0"/>
          </a:p>
        </p:txBody>
      </p:sp>
      <p:sp>
        <p:nvSpPr>
          <p:cNvPr id="10" name="Shape 6"/>
          <p:cNvSpPr/>
          <p:nvPr/>
        </p:nvSpPr>
        <p:spPr>
          <a:xfrm>
            <a:off x="7452360" y="5166360"/>
            <a:ext cx="4187952" cy="960120"/>
          </a:xfrm>
          <a:prstGeom prst="roundRect">
            <a:avLst>
              <a:gd name="adj" fmla="val 7619"/>
            </a:avLst>
          </a:prstGeom>
          <a:solidFill>
            <a:srgbClr val="E2F1F1"/>
          </a:solidFill>
          <a:ln/>
        </p:spPr>
      </p:sp>
      <p:sp>
        <p:nvSpPr>
          <p:cNvPr id="11" name="Text 7"/>
          <p:cNvSpPr txBox="1"/>
          <p:nvPr/>
        </p:nvSpPr>
        <p:spPr>
          <a:xfrm>
            <a:off x="7653528" y="5212080"/>
            <a:ext cx="3785616" cy="868680"/>
          </a:xfrm>
          <a:prstGeom prst="rect">
            <a:avLst/>
          </a:prstGeom>
          <a:noFill/>
          <a:ln/>
        </p:spPr>
        <p:txBody>
          <a:bodyPr wrap="square" lIns="0" tIns="0" rIns="0" bIns="0" rtlCol="0" anchor="ctr"/>
          <a:lstStyle/>
          <a:p>
            <a:pPr indent="0" marL="0">
              <a:buNone/>
            </a:pPr>
            <a:r>
              <a:rPr lang="en-US" sz="1600" b="1" dirty="0">
                <a:solidFill>
                  <a:srgbClr val="0A5559"/>
                </a:solidFill>
                <a:latin typeface="Calibri" pitchFamily="34" charset="0"/>
                <a:ea typeface="Calibri" pitchFamily="34" charset="-122"/>
                <a:cs typeface="Calibri" pitchFamily="34" charset="-120"/>
              </a:rPr>
              <a:t>nn.Linear(in, out) stores weight as (out, in) and computes x @ W.T + b.</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2</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layer = nn.Linear(784, 128). What is layer.weight.shape?</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sp>
      <p:sp>
        <p:nvSpPr>
          <p:cNvPr id="7" name="Shape 4"/>
          <p:cNvSpPr/>
          <p:nvPr/>
        </p:nvSpPr>
        <p:spPr>
          <a:xfrm>
            <a:off x="777240" y="3136392"/>
            <a:ext cx="548640" cy="548640"/>
          </a:xfrm>
          <a:prstGeom prst="ellipse">
            <a:avLst/>
          </a:prstGeom>
          <a:solidFill>
            <a:srgbClr val="0F7C82"/>
          </a:solidFill>
          <a:ln/>
        </p:spPr>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(784, 128)</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sp>
      <p:sp>
        <p:nvSpPr>
          <p:cNvPr id="11" name="Shape 8"/>
          <p:cNvSpPr/>
          <p:nvPr/>
        </p:nvSpPr>
        <p:spPr>
          <a:xfrm>
            <a:off x="6419088" y="3136392"/>
            <a:ext cx="548640" cy="548640"/>
          </a:xfrm>
          <a:prstGeom prst="ellipse">
            <a:avLst/>
          </a:prstGeom>
          <a:solidFill>
            <a:srgbClr val="0F7C82"/>
          </a:solidFill>
          <a:ln/>
        </p:spPr>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(128, 784)</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sp>
      <p:sp>
        <p:nvSpPr>
          <p:cNvPr id="15" name="Shape 12"/>
          <p:cNvSpPr/>
          <p:nvPr/>
        </p:nvSpPr>
        <p:spPr>
          <a:xfrm>
            <a:off x="777240" y="4553712"/>
            <a:ext cx="548640" cy="548640"/>
          </a:xfrm>
          <a:prstGeom prst="ellipse">
            <a:avLst/>
          </a:prstGeom>
          <a:solidFill>
            <a:srgbClr val="0F7C82"/>
          </a:solidFill>
          <a:ln/>
        </p:spPr>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(784,)</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sp>
      <p:sp>
        <p:nvSpPr>
          <p:cNvPr id="19" name="Shape 16"/>
          <p:cNvSpPr/>
          <p:nvPr/>
        </p:nvSpPr>
        <p:spPr>
          <a:xfrm>
            <a:off x="6419088" y="4553712"/>
            <a:ext cx="548640" cy="548640"/>
          </a:xfrm>
          <a:prstGeom prst="ellipse">
            <a:avLst/>
          </a:prstGeom>
          <a:solidFill>
            <a:srgbClr val="0F7C82"/>
          </a:solidFill>
          <a:ln/>
        </p:spPr>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(128, 128)</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THE MLP</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Universal approximation, stated honestly</a:t>
            </a:r>
            <a:endParaRPr lang="en-US" sz="3200" dirty="0"/>
          </a:p>
        </p:txBody>
      </p:sp>
      <p:pic>
        <p:nvPicPr>
          <p:cNvPr id="5" name="Image 0" descr="A smooth target curve approximated by ReLU networks with 3, 6 and 24 hidden units; the maximum error falls from 0.39 to 0.02.">    </p:cNvPr>
          <p:cNvPicPr>
            <a:picLocks noChangeAspect="1"/>
          </p:cNvPicPr>
          <p:nvPr/>
        </p:nvPicPr>
        <p:blipFill>
          <a:blip r:embed="rId1"/>
          <a:stretch>
            <a:fillRect/>
          </a:stretch>
        </p:blipFill>
        <p:spPr>
          <a:xfrm>
            <a:off x="2030646" y="1371600"/>
            <a:ext cx="8130403" cy="2514600"/>
          </a:xfrm>
          <a:prstGeom prst="rect">
            <a:avLst/>
          </a:prstGeom>
        </p:spPr>
      </p:pic>
      <p:sp>
        <p:nvSpPr>
          <p:cNvPr id="6" name="Text 2"/>
          <p:cNvSpPr txBox="1"/>
          <p:nvPr/>
        </p:nvSpPr>
        <p:spPr>
          <a:xfrm>
            <a:off x="548640" y="3931920"/>
            <a:ext cx="11094415" cy="32004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Grey: target f(x).   Teal: an exact one-hidden-layer ReLU network.</a:t>
            </a:r>
            <a:endParaRPr lang="en-US" sz="1500" dirty="0"/>
          </a:p>
        </p:txBody>
      </p:sp>
      <p:sp>
        <p:nvSpPr>
          <p:cNvPr id="7" name="Shape 3"/>
          <p:cNvSpPr/>
          <p:nvPr/>
        </p:nvSpPr>
        <p:spPr>
          <a:xfrm>
            <a:off x="548640" y="4343400"/>
            <a:ext cx="4937760" cy="1783080"/>
          </a:xfrm>
          <a:prstGeom prst="roundRect">
            <a:avLst>
              <a:gd name="adj" fmla="val 4103"/>
            </a:avLst>
          </a:prstGeom>
          <a:solidFill>
            <a:srgbClr val="E2F1F1"/>
          </a:solidFill>
          <a:ln/>
        </p:spPr>
      </p:sp>
      <p:sp>
        <p:nvSpPr>
          <p:cNvPr id="8" name="Text 4"/>
          <p:cNvSpPr txBox="1"/>
          <p:nvPr/>
        </p:nvSpPr>
        <p:spPr>
          <a:xfrm>
            <a:off x="749808" y="4462272"/>
            <a:ext cx="466344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THEOREM (INFORMAL)</a:t>
            </a:r>
            <a:endParaRPr lang="en-US" sz="1300" dirty="0"/>
          </a:p>
        </p:txBody>
      </p:sp>
      <p:sp>
        <p:nvSpPr>
          <p:cNvPr id="9" name="Text 5"/>
          <p:cNvSpPr txBox="1"/>
          <p:nvPr/>
        </p:nvSpPr>
        <p:spPr>
          <a:xfrm>
            <a:off x="749808" y="4800600"/>
            <a:ext cx="4572000" cy="685800"/>
          </a:xfrm>
          <a:prstGeom prst="rect">
            <a:avLst/>
          </a:prstGeom>
          <a:noFill/>
          <a:ln/>
        </p:spPr>
        <p:txBody>
          <a:bodyPr wrap="square" lIns="0" tIns="0" rIns="0" bIns="0" rtlCol="0" anchor="t"/>
          <a:lstStyle/>
          <a:p>
            <a:pPr indent="0" marL="0">
              <a:buNone/>
            </a:pPr>
            <a:r>
              <a:rPr lang="en-US" sz="1600" dirty="0">
                <a:solidFill>
                  <a:srgbClr val="17202E"/>
                </a:solidFill>
                <a:latin typeface="Calibri" pitchFamily="34" charset="0"/>
                <a:ea typeface="Calibri" pitchFamily="34" charset="-122"/>
                <a:cs typeface="Calibri" pitchFamily="34" charset="-120"/>
              </a:rPr>
              <a:t>Continuous f on a compact set K: one hidden layer, enough units, gets</a:t>
            </a:r>
            <a:endParaRPr lang="en-US" sz="1600" dirty="0"/>
          </a:p>
        </p:txBody>
      </p:sp>
      <p:pic>
        <p:nvPicPr>
          <p:cNvPr id="10" name="Image 1" descr="LaTeX: $\displaystyle \sup_{\x\in K}\,\bigl|F(\x) - f(\x)\bigr| &lt; \varepsilon$">    </p:cNvPr>
          <p:cNvPicPr>
            <a:picLocks noChangeAspect="1"/>
          </p:cNvPicPr>
          <p:nvPr/>
        </p:nvPicPr>
        <p:blipFill>
          <a:blip r:embed="rId2"/>
          <a:stretch>
            <a:fillRect/>
          </a:stretch>
        </p:blipFill>
        <p:spPr>
          <a:xfrm>
            <a:off x="1645920" y="5486400"/>
            <a:ext cx="1642415" cy="336804"/>
          </a:xfrm>
          <a:prstGeom prst="rect">
            <a:avLst/>
          </a:prstGeom>
        </p:spPr>
      </p:pic>
      <p:sp>
        <p:nvSpPr>
          <p:cNvPr id="11" name="Shape 6"/>
          <p:cNvSpPr/>
          <p:nvPr/>
        </p:nvSpPr>
        <p:spPr>
          <a:xfrm>
            <a:off x="5715000" y="4343400"/>
            <a:ext cx="2862072" cy="841248"/>
          </a:xfrm>
          <a:prstGeom prst="roundRect">
            <a:avLst>
              <a:gd name="adj" fmla="val 8696"/>
            </a:avLst>
          </a:prstGeom>
          <a:solidFill>
            <a:srgbClr val="FBEADF"/>
          </a:solidFill>
          <a:ln/>
        </p:spPr>
      </p:sp>
      <p:sp>
        <p:nvSpPr>
          <p:cNvPr id="12" name="Text 7"/>
          <p:cNvSpPr txBox="1"/>
          <p:nvPr/>
        </p:nvSpPr>
        <p:spPr>
          <a:xfrm>
            <a:off x="5879592" y="43982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Not “any function”</a:t>
            </a:r>
            <a:endParaRPr lang="en-US" sz="1700" dirty="0"/>
          </a:p>
        </p:txBody>
      </p:sp>
      <p:sp>
        <p:nvSpPr>
          <p:cNvPr id="13" name="Text 8"/>
          <p:cNvSpPr txBox="1"/>
          <p:nvPr/>
        </p:nvSpPr>
        <p:spPr>
          <a:xfrm>
            <a:off x="5879592" y="47640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Continuous, compact domain.</a:t>
            </a:r>
            <a:endParaRPr lang="en-US" sz="1500" dirty="0"/>
          </a:p>
        </p:txBody>
      </p:sp>
      <p:sp>
        <p:nvSpPr>
          <p:cNvPr id="14" name="Shape 9"/>
          <p:cNvSpPr/>
          <p:nvPr/>
        </p:nvSpPr>
        <p:spPr>
          <a:xfrm>
            <a:off x="8705088" y="4343400"/>
            <a:ext cx="2862072" cy="841248"/>
          </a:xfrm>
          <a:prstGeom prst="roundRect">
            <a:avLst>
              <a:gd name="adj" fmla="val 8696"/>
            </a:avLst>
          </a:prstGeom>
          <a:solidFill>
            <a:srgbClr val="FBEADF"/>
          </a:solidFill>
          <a:ln/>
        </p:spPr>
      </p:sp>
      <p:sp>
        <p:nvSpPr>
          <p:cNvPr id="15" name="Text 10"/>
          <p:cNvSpPr txBox="1"/>
          <p:nvPr/>
        </p:nvSpPr>
        <p:spPr>
          <a:xfrm>
            <a:off x="8869680" y="43982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Width can be huge</a:t>
            </a:r>
            <a:endParaRPr lang="en-US" sz="1700" dirty="0"/>
          </a:p>
        </p:txBody>
      </p:sp>
      <p:sp>
        <p:nvSpPr>
          <p:cNvPr id="16" name="Text 11"/>
          <p:cNvSpPr txBox="1"/>
          <p:nvPr/>
        </p:nvSpPr>
        <p:spPr>
          <a:xfrm>
            <a:off x="8869680" y="47640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Exponential in input size.</a:t>
            </a:r>
            <a:endParaRPr lang="en-US" sz="1500" dirty="0"/>
          </a:p>
        </p:txBody>
      </p:sp>
      <p:sp>
        <p:nvSpPr>
          <p:cNvPr id="17" name="Shape 12"/>
          <p:cNvSpPr/>
          <p:nvPr/>
        </p:nvSpPr>
        <p:spPr>
          <a:xfrm>
            <a:off x="5715000" y="5257800"/>
            <a:ext cx="2862072" cy="841248"/>
          </a:xfrm>
          <a:prstGeom prst="roundRect">
            <a:avLst>
              <a:gd name="adj" fmla="val 8696"/>
            </a:avLst>
          </a:prstGeom>
          <a:solidFill>
            <a:srgbClr val="FBEADF"/>
          </a:solidFill>
          <a:ln/>
        </p:spPr>
      </p:sp>
      <p:sp>
        <p:nvSpPr>
          <p:cNvPr id="18" name="Text 13"/>
          <p:cNvSpPr txBox="1"/>
          <p:nvPr/>
        </p:nvSpPr>
        <p:spPr>
          <a:xfrm>
            <a:off x="5879592" y="53126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Existence ≠ findable</a:t>
            </a:r>
            <a:endParaRPr lang="en-US" sz="1700" dirty="0"/>
          </a:p>
        </p:txBody>
      </p:sp>
      <p:sp>
        <p:nvSpPr>
          <p:cNvPr id="19" name="Text 14"/>
          <p:cNvSpPr txBox="1"/>
          <p:nvPr/>
        </p:nvSpPr>
        <p:spPr>
          <a:xfrm>
            <a:off x="5879592" y="56784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GD may not find it.</a:t>
            </a:r>
            <a:endParaRPr lang="en-US" sz="1500" dirty="0"/>
          </a:p>
        </p:txBody>
      </p:sp>
      <p:sp>
        <p:nvSpPr>
          <p:cNvPr id="20" name="Shape 15"/>
          <p:cNvSpPr/>
          <p:nvPr/>
        </p:nvSpPr>
        <p:spPr>
          <a:xfrm>
            <a:off x="8705088" y="5257800"/>
            <a:ext cx="2862072" cy="841248"/>
          </a:xfrm>
          <a:prstGeom prst="roundRect">
            <a:avLst>
              <a:gd name="adj" fmla="val 8696"/>
            </a:avLst>
          </a:prstGeom>
          <a:solidFill>
            <a:srgbClr val="FBEADF"/>
          </a:solidFill>
          <a:ln/>
        </p:spPr>
      </p:sp>
      <p:sp>
        <p:nvSpPr>
          <p:cNvPr id="21" name="Text 16"/>
          <p:cNvSpPr txBox="1"/>
          <p:nvPr/>
        </p:nvSpPr>
        <p:spPr>
          <a:xfrm>
            <a:off x="8869680" y="53126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Fit ≠ generalize</a:t>
            </a:r>
            <a:endParaRPr lang="en-US" sz="1700" dirty="0"/>
          </a:p>
        </p:txBody>
      </p:sp>
      <p:sp>
        <p:nvSpPr>
          <p:cNvPr id="22" name="Text 17"/>
          <p:cNvSpPr txBox="1"/>
          <p:nvPr/>
        </p:nvSpPr>
        <p:spPr>
          <a:xfrm>
            <a:off x="8869680" y="56784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Fitting is not the goal.</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PART 2  ·  ≈ 35 MINUTES</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How a network learns</a:t>
            </a: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How do we turn “wrong” into a number?</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How do we get every gradient at once?</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How do we use gradients to improve?</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What do real training curves tell us?</a:t>
            </a:r>
            <a:endParaRPr lang="en-US" sz="1800" dirty="0"/>
          </a:p>
        </p:txBody>
      </p:sp>
      <p:sp>
        <p:nvSpPr>
          <p:cNvPr id="5" name="Shape 3"/>
          <p:cNvSpPr/>
          <p:nvPr/>
        </p:nvSpPr>
        <p:spPr>
          <a:xfrm flipV="1">
            <a:off x="8046720" y="2103120"/>
            <a:ext cx="1066800" cy="411480"/>
          </a:xfrm>
          <a:prstGeom prst="line">
            <a:avLst/>
          </a:prstGeom>
          <a:noFill/>
          <a:ln w="11430">
            <a:solidFill>
              <a:srgbClr val="33445C"/>
            </a:solidFill>
            <a:prstDash val="solid"/>
          </a:ln>
        </p:spPr>
      </p:sp>
      <p:sp>
        <p:nvSpPr>
          <p:cNvPr id="6" name="Shape 4"/>
          <p:cNvSpPr/>
          <p:nvPr/>
        </p:nvSpPr>
        <p:spPr>
          <a:xfrm>
            <a:off x="8046720" y="2514600"/>
            <a:ext cx="1066800" cy="411480"/>
          </a:xfrm>
          <a:prstGeom prst="line">
            <a:avLst/>
          </a:prstGeom>
          <a:noFill/>
          <a:ln w="11430">
            <a:solidFill>
              <a:srgbClr val="33445C"/>
            </a:solidFill>
            <a:prstDash val="solid"/>
          </a:ln>
        </p:spPr>
      </p:sp>
      <p:sp>
        <p:nvSpPr>
          <p:cNvPr id="7" name="Shape 5"/>
          <p:cNvSpPr/>
          <p:nvPr/>
        </p:nvSpPr>
        <p:spPr>
          <a:xfrm>
            <a:off x="8046720" y="2514600"/>
            <a:ext cx="1066800" cy="1234440"/>
          </a:xfrm>
          <a:prstGeom prst="line">
            <a:avLst/>
          </a:prstGeom>
          <a:noFill/>
          <a:ln w="11430">
            <a:solidFill>
              <a:srgbClr val="33445C"/>
            </a:solidFill>
            <a:prstDash val="solid"/>
          </a:ln>
        </p:spPr>
      </p:sp>
      <p:sp>
        <p:nvSpPr>
          <p:cNvPr id="8" name="Shape 6"/>
          <p:cNvSpPr/>
          <p:nvPr/>
        </p:nvSpPr>
        <p:spPr>
          <a:xfrm>
            <a:off x="8046720" y="2514600"/>
            <a:ext cx="1066800" cy="2057400"/>
          </a:xfrm>
          <a:prstGeom prst="line">
            <a:avLst/>
          </a:prstGeom>
          <a:noFill/>
          <a:ln w="11430">
            <a:solidFill>
              <a:srgbClr val="33445C"/>
            </a:solidFill>
            <a:prstDash val="solid"/>
          </a:ln>
        </p:spPr>
      </p:sp>
      <p:sp>
        <p:nvSpPr>
          <p:cNvPr id="9" name="Shape 7"/>
          <p:cNvSpPr/>
          <p:nvPr/>
        </p:nvSpPr>
        <p:spPr>
          <a:xfrm flipV="1">
            <a:off x="8046720" y="2103120"/>
            <a:ext cx="1066800" cy="1234440"/>
          </a:xfrm>
          <a:prstGeom prst="line">
            <a:avLst/>
          </a:prstGeom>
          <a:noFill/>
          <a:ln w="11430">
            <a:solidFill>
              <a:srgbClr val="33445C"/>
            </a:solidFill>
            <a:prstDash val="solid"/>
          </a:ln>
        </p:spPr>
      </p:sp>
      <p:sp>
        <p:nvSpPr>
          <p:cNvPr id="10" name="Shape 8"/>
          <p:cNvSpPr/>
          <p:nvPr/>
        </p:nvSpPr>
        <p:spPr>
          <a:xfrm flipV="1">
            <a:off x="8046720" y="2926080"/>
            <a:ext cx="1066800" cy="411480"/>
          </a:xfrm>
          <a:prstGeom prst="line">
            <a:avLst/>
          </a:prstGeom>
          <a:noFill/>
          <a:ln w="11430">
            <a:solidFill>
              <a:srgbClr val="33445C"/>
            </a:solidFill>
            <a:prstDash val="solid"/>
          </a:ln>
        </p:spPr>
      </p:sp>
      <p:sp>
        <p:nvSpPr>
          <p:cNvPr id="11" name="Shape 9"/>
          <p:cNvSpPr/>
          <p:nvPr/>
        </p:nvSpPr>
        <p:spPr>
          <a:xfrm>
            <a:off x="8046720" y="3337560"/>
            <a:ext cx="1066800" cy="411480"/>
          </a:xfrm>
          <a:prstGeom prst="line">
            <a:avLst/>
          </a:prstGeom>
          <a:noFill/>
          <a:ln w="28575">
            <a:solidFill>
              <a:srgbClr val="C8571B"/>
            </a:solidFill>
            <a:prstDash val="solid"/>
          </a:ln>
        </p:spPr>
      </p:sp>
      <p:sp>
        <p:nvSpPr>
          <p:cNvPr id="12" name="Shape 10"/>
          <p:cNvSpPr/>
          <p:nvPr/>
        </p:nvSpPr>
        <p:spPr>
          <a:xfrm>
            <a:off x="8046720" y="3337560"/>
            <a:ext cx="1066800" cy="1234440"/>
          </a:xfrm>
          <a:prstGeom prst="line">
            <a:avLst/>
          </a:prstGeom>
          <a:noFill/>
          <a:ln w="11430">
            <a:solidFill>
              <a:srgbClr val="33445C"/>
            </a:solidFill>
            <a:prstDash val="solid"/>
          </a:ln>
        </p:spPr>
      </p:sp>
      <p:sp>
        <p:nvSpPr>
          <p:cNvPr id="13" name="Shape 11"/>
          <p:cNvSpPr/>
          <p:nvPr/>
        </p:nvSpPr>
        <p:spPr>
          <a:xfrm flipV="1">
            <a:off x="8046720" y="2103120"/>
            <a:ext cx="1066800" cy="2057400"/>
          </a:xfrm>
          <a:prstGeom prst="line">
            <a:avLst/>
          </a:prstGeom>
          <a:noFill/>
          <a:ln w="11430">
            <a:solidFill>
              <a:srgbClr val="33445C"/>
            </a:solidFill>
            <a:prstDash val="solid"/>
          </a:ln>
        </p:spPr>
      </p:sp>
      <p:sp>
        <p:nvSpPr>
          <p:cNvPr id="14" name="Shape 12"/>
          <p:cNvSpPr/>
          <p:nvPr/>
        </p:nvSpPr>
        <p:spPr>
          <a:xfrm flipV="1">
            <a:off x="8046720" y="2926080"/>
            <a:ext cx="1066800" cy="1234440"/>
          </a:xfrm>
          <a:prstGeom prst="line">
            <a:avLst/>
          </a:prstGeom>
          <a:noFill/>
          <a:ln w="11430">
            <a:solidFill>
              <a:srgbClr val="33445C"/>
            </a:solidFill>
            <a:prstDash val="solid"/>
          </a:ln>
        </p:spPr>
      </p:sp>
      <p:sp>
        <p:nvSpPr>
          <p:cNvPr id="15" name="Shape 13"/>
          <p:cNvSpPr/>
          <p:nvPr/>
        </p:nvSpPr>
        <p:spPr>
          <a:xfrm flipV="1">
            <a:off x="8046720" y="3749040"/>
            <a:ext cx="1066800" cy="411480"/>
          </a:xfrm>
          <a:prstGeom prst="line">
            <a:avLst/>
          </a:prstGeom>
          <a:noFill/>
          <a:ln w="11430">
            <a:solidFill>
              <a:srgbClr val="33445C"/>
            </a:solidFill>
            <a:prstDash val="solid"/>
          </a:ln>
        </p:spPr>
      </p:sp>
      <p:sp>
        <p:nvSpPr>
          <p:cNvPr id="16" name="Shape 14"/>
          <p:cNvSpPr/>
          <p:nvPr/>
        </p:nvSpPr>
        <p:spPr>
          <a:xfrm>
            <a:off x="8046720" y="4160520"/>
            <a:ext cx="1066800" cy="411480"/>
          </a:xfrm>
          <a:prstGeom prst="line">
            <a:avLst/>
          </a:prstGeom>
          <a:noFill/>
          <a:ln w="11430">
            <a:solidFill>
              <a:srgbClr val="33445C"/>
            </a:solidFill>
            <a:prstDash val="solid"/>
          </a:ln>
        </p:spPr>
      </p:sp>
      <p:sp>
        <p:nvSpPr>
          <p:cNvPr id="17" name="Shape 15"/>
          <p:cNvSpPr/>
          <p:nvPr/>
        </p:nvSpPr>
        <p:spPr>
          <a:xfrm>
            <a:off x="9113520" y="2103120"/>
            <a:ext cx="1066800" cy="91"/>
          </a:xfrm>
          <a:prstGeom prst="line">
            <a:avLst/>
          </a:prstGeom>
          <a:noFill/>
          <a:ln w="11430">
            <a:solidFill>
              <a:srgbClr val="33445C"/>
            </a:solidFill>
            <a:prstDash val="solid"/>
          </a:ln>
        </p:spPr>
      </p:sp>
      <p:sp>
        <p:nvSpPr>
          <p:cNvPr id="18" name="Shape 16"/>
          <p:cNvSpPr/>
          <p:nvPr/>
        </p:nvSpPr>
        <p:spPr>
          <a:xfrm>
            <a:off x="9113520" y="2103120"/>
            <a:ext cx="1066800" cy="822960"/>
          </a:xfrm>
          <a:prstGeom prst="line">
            <a:avLst/>
          </a:prstGeom>
          <a:noFill/>
          <a:ln w="11430">
            <a:solidFill>
              <a:srgbClr val="33445C"/>
            </a:solidFill>
            <a:prstDash val="solid"/>
          </a:ln>
        </p:spPr>
      </p:sp>
      <p:sp>
        <p:nvSpPr>
          <p:cNvPr id="19" name="Shape 17"/>
          <p:cNvSpPr/>
          <p:nvPr/>
        </p:nvSpPr>
        <p:spPr>
          <a:xfrm>
            <a:off x="9113520" y="2103120"/>
            <a:ext cx="1066800" cy="1645920"/>
          </a:xfrm>
          <a:prstGeom prst="line">
            <a:avLst/>
          </a:prstGeom>
          <a:noFill/>
          <a:ln w="11430">
            <a:solidFill>
              <a:srgbClr val="33445C"/>
            </a:solidFill>
            <a:prstDash val="solid"/>
          </a:ln>
        </p:spPr>
      </p:sp>
      <p:sp>
        <p:nvSpPr>
          <p:cNvPr id="20" name="Shape 18"/>
          <p:cNvSpPr/>
          <p:nvPr/>
        </p:nvSpPr>
        <p:spPr>
          <a:xfrm>
            <a:off x="9113520" y="2103120"/>
            <a:ext cx="1066800" cy="2468880"/>
          </a:xfrm>
          <a:prstGeom prst="line">
            <a:avLst/>
          </a:prstGeom>
          <a:noFill/>
          <a:ln w="11430">
            <a:solidFill>
              <a:srgbClr val="33445C"/>
            </a:solidFill>
            <a:prstDash val="solid"/>
          </a:ln>
        </p:spPr>
      </p:sp>
      <p:sp>
        <p:nvSpPr>
          <p:cNvPr id="21" name="Shape 19"/>
          <p:cNvSpPr/>
          <p:nvPr/>
        </p:nvSpPr>
        <p:spPr>
          <a:xfrm flipV="1">
            <a:off x="9113520" y="2103120"/>
            <a:ext cx="1066800" cy="822960"/>
          </a:xfrm>
          <a:prstGeom prst="line">
            <a:avLst/>
          </a:prstGeom>
          <a:noFill/>
          <a:ln w="11430">
            <a:solidFill>
              <a:srgbClr val="33445C"/>
            </a:solidFill>
            <a:prstDash val="solid"/>
          </a:ln>
        </p:spPr>
      </p:sp>
      <p:sp>
        <p:nvSpPr>
          <p:cNvPr id="22" name="Shape 20"/>
          <p:cNvSpPr/>
          <p:nvPr/>
        </p:nvSpPr>
        <p:spPr>
          <a:xfrm>
            <a:off x="9113520" y="2926080"/>
            <a:ext cx="1066800" cy="91"/>
          </a:xfrm>
          <a:prstGeom prst="line">
            <a:avLst/>
          </a:prstGeom>
          <a:noFill/>
          <a:ln w="11430">
            <a:solidFill>
              <a:srgbClr val="33445C"/>
            </a:solidFill>
            <a:prstDash val="solid"/>
          </a:ln>
        </p:spPr>
      </p:sp>
      <p:sp>
        <p:nvSpPr>
          <p:cNvPr id="23" name="Shape 21"/>
          <p:cNvSpPr/>
          <p:nvPr/>
        </p:nvSpPr>
        <p:spPr>
          <a:xfrm>
            <a:off x="9113520" y="2926080"/>
            <a:ext cx="1066800" cy="822960"/>
          </a:xfrm>
          <a:prstGeom prst="line">
            <a:avLst/>
          </a:prstGeom>
          <a:noFill/>
          <a:ln w="11430">
            <a:solidFill>
              <a:srgbClr val="33445C"/>
            </a:solidFill>
            <a:prstDash val="solid"/>
          </a:ln>
        </p:spPr>
      </p:sp>
      <p:sp>
        <p:nvSpPr>
          <p:cNvPr id="24" name="Shape 22"/>
          <p:cNvSpPr/>
          <p:nvPr/>
        </p:nvSpPr>
        <p:spPr>
          <a:xfrm>
            <a:off x="9113520" y="2926080"/>
            <a:ext cx="1066800" cy="1645920"/>
          </a:xfrm>
          <a:prstGeom prst="line">
            <a:avLst/>
          </a:prstGeom>
          <a:noFill/>
          <a:ln w="11430">
            <a:solidFill>
              <a:srgbClr val="33445C"/>
            </a:solidFill>
            <a:prstDash val="solid"/>
          </a:ln>
        </p:spPr>
      </p:sp>
      <p:sp>
        <p:nvSpPr>
          <p:cNvPr id="25" name="Shape 23"/>
          <p:cNvSpPr/>
          <p:nvPr/>
        </p:nvSpPr>
        <p:spPr>
          <a:xfrm flipV="1">
            <a:off x="9113520" y="2103120"/>
            <a:ext cx="1066800" cy="1645920"/>
          </a:xfrm>
          <a:prstGeom prst="line">
            <a:avLst/>
          </a:prstGeom>
          <a:noFill/>
          <a:ln w="11430">
            <a:solidFill>
              <a:srgbClr val="33445C"/>
            </a:solidFill>
            <a:prstDash val="solid"/>
          </a:ln>
        </p:spPr>
      </p:sp>
      <p:sp>
        <p:nvSpPr>
          <p:cNvPr id="26" name="Shape 24"/>
          <p:cNvSpPr/>
          <p:nvPr/>
        </p:nvSpPr>
        <p:spPr>
          <a:xfrm flipV="1">
            <a:off x="9113520" y="2926080"/>
            <a:ext cx="1066800" cy="822960"/>
          </a:xfrm>
          <a:prstGeom prst="line">
            <a:avLst/>
          </a:prstGeom>
          <a:noFill/>
          <a:ln w="28575">
            <a:solidFill>
              <a:srgbClr val="C8571B"/>
            </a:solidFill>
            <a:prstDash val="solid"/>
          </a:ln>
        </p:spPr>
      </p:sp>
      <p:sp>
        <p:nvSpPr>
          <p:cNvPr id="27" name="Shape 25"/>
          <p:cNvSpPr/>
          <p:nvPr/>
        </p:nvSpPr>
        <p:spPr>
          <a:xfrm>
            <a:off x="9113520" y="3749040"/>
            <a:ext cx="1066800" cy="91"/>
          </a:xfrm>
          <a:prstGeom prst="line">
            <a:avLst/>
          </a:prstGeom>
          <a:noFill/>
          <a:ln w="11430">
            <a:solidFill>
              <a:srgbClr val="33445C"/>
            </a:solidFill>
            <a:prstDash val="solid"/>
          </a:ln>
        </p:spPr>
      </p:sp>
      <p:sp>
        <p:nvSpPr>
          <p:cNvPr id="28" name="Shape 26"/>
          <p:cNvSpPr/>
          <p:nvPr/>
        </p:nvSpPr>
        <p:spPr>
          <a:xfrm>
            <a:off x="9113520" y="3749040"/>
            <a:ext cx="1066800" cy="822960"/>
          </a:xfrm>
          <a:prstGeom prst="line">
            <a:avLst/>
          </a:prstGeom>
          <a:noFill/>
          <a:ln w="11430">
            <a:solidFill>
              <a:srgbClr val="33445C"/>
            </a:solidFill>
            <a:prstDash val="solid"/>
          </a:ln>
        </p:spPr>
      </p:sp>
      <p:sp>
        <p:nvSpPr>
          <p:cNvPr id="29" name="Shape 27"/>
          <p:cNvSpPr/>
          <p:nvPr/>
        </p:nvSpPr>
        <p:spPr>
          <a:xfrm flipV="1">
            <a:off x="9113520" y="2103120"/>
            <a:ext cx="1066800" cy="2468880"/>
          </a:xfrm>
          <a:prstGeom prst="line">
            <a:avLst/>
          </a:prstGeom>
          <a:noFill/>
          <a:ln w="11430">
            <a:solidFill>
              <a:srgbClr val="33445C"/>
            </a:solidFill>
            <a:prstDash val="solid"/>
          </a:ln>
        </p:spPr>
      </p:sp>
      <p:sp>
        <p:nvSpPr>
          <p:cNvPr id="30" name="Shape 28"/>
          <p:cNvSpPr/>
          <p:nvPr/>
        </p:nvSpPr>
        <p:spPr>
          <a:xfrm flipV="1">
            <a:off x="9113520" y="2926080"/>
            <a:ext cx="1066800" cy="1645920"/>
          </a:xfrm>
          <a:prstGeom prst="line">
            <a:avLst/>
          </a:prstGeom>
          <a:noFill/>
          <a:ln w="11430">
            <a:solidFill>
              <a:srgbClr val="33445C"/>
            </a:solidFill>
            <a:prstDash val="solid"/>
          </a:ln>
        </p:spPr>
      </p:sp>
      <p:sp>
        <p:nvSpPr>
          <p:cNvPr id="31" name="Shape 29"/>
          <p:cNvSpPr/>
          <p:nvPr/>
        </p:nvSpPr>
        <p:spPr>
          <a:xfrm flipV="1">
            <a:off x="9113520" y="3749040"/>
            <a:ext cx="1066800" cy="822960"/>
          </a:xfrm>
          <a:prstGeom prst="line">
            <a:avLst/>
          </a:prstGeom>
          <a:noFill/>
          <a:ln w="11430">
            <a:solidFill>
              <a:srgbClr val="33445C"/>
            </a:solidFill>
            <a:prstDash val="solid"/>
          </a:ln>
        </p:spPr>
      </p:sp>
      <p:sp>
        <p:nvSpPr>
          <p:cNvPr id="32" name="Shape 30"/>
          <p:cNvSpPr/>
          <p:nvPr/>
        </p:nvSpPr>
        <p:spPr>
          <a:xfrm>
            <a:off x="9113520" y="4572000"/>
            <a:ext cx="1066800" cy="91"/>
          </a:xfrm>
          <a:prstGeom prst="line">
            <a:avLst/>
          </a:prstGeom>
          <a:noFill/>
          <a:ln w="11430">
            <a:solidFill>
              <a:srgbClr val="33445C"/>
            </a:solidFill>
            <a:prstDash val="solid"/>
          </a:ln>
        </p:spPr>
      </p:sp>
      <p:sp>
        <p:nvSpPr>
          <p:cNvPr id="33" name="Shape 31"/>
          <p:cNvSpPr/>
          <p:nvPr/>
        </p:nvSpPr>
        <p:spPr>
          <a:xfrm>
            <a:off x="10180320" y="2103120"/>
            <a:ext cx="1066800" cy="822960"/>
          </a:xfrm>
          <a:prstGeom prst="line">
            <a:avLst/>
          </a:prstGeom>
          <a:noFill/>
          <a:ln w="11430">
            <a:solidFill>
              <a:srgbClr val="33445C"/>
            </a:solidFill>
            <a:prstDash val="solid"/>
          </a:ln>
        </p:spPr>
      </p:sp>
      <p:sp>
        <p:nvSpPr>
          <p:cNvPr id="34" name="Shape 32"/>
          <p:cNvSpPr/>
          <p:nvPr/>
        </p:nvSpPr>
        <p:spPr>
          <a:xfrm>
            <a:off x="10180320" y="2103120"/>
            <a:ext cx="1066800" cy="1645920"/>
          </a:xfrm>
          <a:prstGeom prst="line">
            <a:avLst/>
          </a:prstGeom>
          <a:noFill/>
          <a:ln w="11430">
            <a:solidFill>
              <a:srgbClr val="33445C"/>
            </a:solidFill>
            <a:prstDash val="solid"/>
          </a:ln>
        </p:spPr>
      </p:sp>
      <p:sp>
        <p:nvSpPr>
          <p:cNvPr id="35" name="Shape 33"/>
          <p:cNvSpPr/>
          <p:nvPr/>
        </p:nvSpPr>
        <p:spPr>
          <a:xfrm>
            <a:off x="10180320" y="2926080"/>
            <a:ext cx="1066800" cy="91"/>
          </a:xfrm>
          <a:prstGeom prst="line">
            <a:avLst/>
          </a:prstGeom>
          <a:noFill/>
          <a:ln w="28575">
            <a:solidFill>
              <a:srgbClr val="C8571B"/>
            </a:solidFill>
            <a:prstDash val="solid"/>
          </a:ln>
        </p:spPr>
      </p:sp>
      <p:sp>
        <p:nvSpPr>
          <p:cNvPr id="36" name="Shape 34"/>
          <p:cNvSpPr/>
          <p:nvPr/>
        </p:nvSpPr>
        <p:spPr>
          <a:xfrm>
            <a:off x="10180320" y="2926080"/>
            <a:ext cx="1066800" cy="822960"/>
          </a:xfrm>
          <a:prstGeom prst="line">
            <a:avLst/>
          </a:prstGeom>
          <a:noFill/>
          <a:ln w="11430">
            <a:solidFill>
              <a:srgbClr val="33445C"/>
            </a:solidFill>
            <a:prstDash val="solid"/>
          </a:ln>
        </p:spPr>
      </p:sp>
      <p:sp>
        <p:nvSpPr>
          <p:cNvPr id="37" name="Shape 35"/>
          <p:cNvSpPr/>
          <p:nvPr/>
        </p:nvSpPr>
        <p:spPr>
          <a:xfrm flipV="1">
            <a:off x="10180320" y="2926080"/>
            <a:ext cx="1066800" cy="822960"/>
          </a:xfrm>
          <a:prstGeom prst="line">
            <a:avLst/>
          </a:prstGeom>
          <a:noFill/>
          <a:ln w="11430">
            <a:solidFill>
              <a:srgbClr val="33445C"/>
            </a:solidFill>
            <a:prstDash val="solid"/>
          </a:ln>
        </p:spPr>
      </p:sp>
      <p:sp>
        <p:nvSpPr>
          <p:cNvPr id="38" name="Shape 36"/>
          <p:cNvSpPr/>
          <p:nvPr/>
        </p:nvSpPr>
        <p:spPr>
          <a:xfrm>
            <a:off x="10180320" y="3749040"/>
            <a:ext cx="1066800" cy="91"/>
          </a:xfrm>
          <a:prstGeom prst="line">
            <a:avLst/>
          </a:prstGeom>
          <a:noFill/>
          <a:ln w="11430">
            <a:solidFill>
              <a:srgbClr val="33445C"/>
            </a:solidFill>
            <a:prstDash val="solid"/>
          </a:ln>
        </p:spPr>
      </p:sp>
      <p:sp>
        <p:nvSpPr>
          <p:cNvPr id="39" name="Shape 37"/>
          <p:cNvSpPr/>
          <p:nvPr/>
        </p:nvSpPr>
        <p:spPr>
          <a:xfrm flipV="1">
            <a:off x="10180320" y="2926080"/>
            <a:ext cx="1066800" cy="1645920"/>
          </a:xfrm>
          <a:prstGeom prst="line">
            <a:avLst/>
          </a:prstGeom>
          <a:noFill/>
          <a:ln w="11430">
            <a:solidFill>
              <a:srgbClr val="33445C"/>
            </a:solidFill>
            <a:prstDash val="solid"/>
          </a:ln>
        </p:spPr>
      </p:sp>
      <p:sp>
        <p:nvSpPr>
          <p:cNvPr id="40" name="Shape 38"/>
          <p:cNvSpPr/>
          <p:nvPr/>
        </p:nvSpPr>
        <p:spPr>
          <a:xfrm flipV="1">
            <a:off x="10180320" y="3749040"/>
            <a:ext cx="1066800" cy="822960"/>
          </a:xfrm>
          <a:prstGeom prst="line">
            <a:avLst/>
          </a:prstGeom>
          <a:noFill/>
          <a:ln w="11430">
            <a:solidFill>
              <a:srgbClr val="33445C"/>
            </a:solidFill>
            <a:prstDash val="solid"/>
          </a:ln>
        </p:spPr>
      </p:sp>
      <p:sp>
        <p:nvSpPr>
          <p:cNvPr id="41" name="Shape 39"/>
          <p:cNvSpPr/>
          <p:nvPr/>
        </p:nvSpPr>
        <p:spPr>
          <a:xfrm>
            <a:off x="7863840" y="2331720"/>
            <a:ext cx="365760" cy="365760"/>
          </a:xfrm>
          <a:prstGeom prst="ellipse">
            <a:avLst/>
          </a:prstGeom>
          <a:solidFill>
            <a:srgbClr val="8A94A3"/>
          </a:solidFill>
          <a:ln/>
        </p:spPr>
      </p:sp>
      <p:sp>
        <p:nvSpPr>
          <p:cNvPr id="42" name="Shape 40"/>
          <p:cNvSpPr/>
          <p:nvPr/>
        </p:nvSpPr>
        <p:spPr>
          <a:xfrm>
            <a:off x="7863840" y="3154680"/>
            <a:ext cx="365760" cy="365760"/>
          </a:xfrm>
          <a:prstGeom prst="ellipse">
            <a:avLst/>
          </a:prstGeom>
          <a:solidFill>
            <a:srgbClr val="8A94A3"/>
          </a:solidFill>
          <a:ln/>
        </p:spPr>
      </p:sp>
      <p:sp>
        <p:nvSpPr>
          <p:cNvPr id="43" name="Shape 41"/>
          <p:cNvSpPr/>
          <p:nvPr/>
        </p:nvSpPr>
        <p:spPr>
          <a:xfrm>
            <a:off x="7863840" y="3977640"/>
            <a:ext cx="365760" cy="365760"/>
          </a:xfrm>
          <a:prstGeom prst="ellipse">
            <a:avLst/>
          </a:prstGeom>
          <a:solidFill>
            <a:srgbClr val="8A94A3"/>
          </a:solidFill>
          <a:ln/>
        </p:spPr>
      </p:sp>
      <p:sp>
        <p:nvSpPr>
          <p:cNvPr id="44" name="Shape 42"/>
          <p:cNvSpPr/>
          <p:nvPr/>
        </p:nvSpPr>
        <p:spPr>
          <a:xfrm>
            <a:off x="8930640" y="1920240"/>
            <a:ext cx="365760" cy="365760"/>
          </a:xfrm>
          <a:prstGeom prst="ellipse">
            <a:avLst/>
          </a:prstGeom>
          <a:solidFill>
            <a:srgbClr val="0F7C82"/>
          </a:solidFill>
          <a:ln/>
        </p:spPr>
      </p:sp>
      <p:sp>
        <p:nvSpPr>
          <p:cNvPr id="45" name="Shape 43"/>
          <p:cNvSpPr/>
          <p:nvPr/>
        </p:nvSpPr>
        <p:spPr>
          <a:xfrm>
            <a:off x="8930640" y="2743200"/>
            <a:ext cx="365760" cy="365760"/>
          </a:xfrm>
          <a:prstGeom prst="ellipse">
            <a:avLst/>
          </a:prstGeom>
          <a:solidFill>
            <a:srgbClr val="0F7C82"/>
          </a:solidFill>
          <a:ln/>
        </p:spPr>
      </p:sp>
      <p:sp>
        <p:nvSpPr>
          <p:cNvPr id="46" name="Shape 44"/>
          <p:cNvSpPr/>
          <p:nvPr/>
        </p:nvSpPr>
        <p:spPr>
          <a:xfrm>
            <a:off x="8930640" y="3566160"/>
            <a:ext cx="365760" cy="365760"/>
          </a:xfrm>
          <a:prstGeom prst="ellipse">
            <a:avLst/>
          </a:prstGeom>
          <a:solidFill>
            <a:srgbClr val="0F7C82"/>
          </a:solidFill>
          <a:ln/>
        </p:spPr>
      </p:sp>
      <p:sp>
        <p:nvSpPr>
          <p:cNvPr id="47" name="Shape 45"/>
          <p:cNvSpPr/>
          <p:nvPr/>
        </p:nvSpPr>
        <p:spPr>
          <a:xfrm>
            <a:off x="8930640" y="4389120"/>
            <a:ext cx="365760" cy="365760"/>
          </a:xfrm>
          <a:prstGeom prst="ellipse">
            <a:avLst/>
          </a:prstGeom>
          <a:solidFill>
            <a:srgbClr val="0F7C82"/>
          </a:solidFill>
          <a:ln/>
        </p:spPr>
      </p:sp>
      <p:sp>
        <p:nvSpPr>
          <p:cNvPr id="48" name="Shape 46"/>
          <p:cNvSpPr/>
          <p:nvPr/>
        </p:nvSpPr>
        <p:spPr>
          <a:xfrm>
            <a:off x="9997440" y="1920240"/>
            <a:ext cx="365760" cy="365760"/>
          </a:xfrm>
          <a:prstGeom prst="ellipse">
            <a:avLst/>
          </a:prstGeom>
          <a:solidFill>
            <a:srgbClr val="0F7C82"/>
          </a:solidFill>
          <a:ln/>
        </p:spPr>
      </p:sp>
      <p:sp>
        <p:nvSpPr>
          <p:cNvPr id="49" name="Shape 47"/>
          <p:cNvSpPr/>
          <p:nvPr/>
        </p:nvSpPr>
        <p:spPr>
          <a:xfrm>
            <a:off x="9997440" y="2743200"/>
            <a:ext cx="365760" cy="365760"/>
          </a:xfrm>
          <a:prstGeom prst="ellipse">
            <a:avLst/>
          </a:prstGeom>
          <a:solidFill>
            <a:srgbClr val="0F7C82"/>
          </a:solidFill>
          <a:ln/>
        </p:spPr>
      </p:sp>
      <p:sp>
        <p:nvSpPr>
          <p:cNvPr id="50" name="Shape 48"/>
          <p:cNvSpPr/>
          <p:nvPr/>
        </p:nvSpPr>
        <p:spPr>
          <a:xfrm>
            <a:off x="9997440" y="3566160"/>
            <a:ext cx="365760" cy="365760"/>
          </a:xfrm>
          <a:prstGeom prst="ellipse">
            <a:avLst/>
          </a:prstGeom>
          <a:solidFill>
            <a:srgbClr val="0F7C82"/>
          </a:solidFill>
          <a:ln/>
        </p:spPr>
      </p:sp>
      <p:sp>
        <p:nvSpPr>
          <p:cNvPr id="51" name="Shape 49"/>
          <p:cNvSpPr/>
          <p:nvPr/>
        </p:nvSpPr>
        <p:spPr>
          <a:xfrm>
            <a:off x="9997440" y="4389120"/>
            <a:ext cx="365760" cy="365760"/>
          </a:xfrm>
          <a:prstGeom prst="ellipse">
            <a:avLst/>
          </a:prstGeom>
          <a:solidFill>
            <a:srgbClr val="0F7C82"/>
          </a:solidFill>
          <a:ln/>
        </p:spPr>
      </p:sp>
      <p:sp>
        <p:nvSpPr>
          <p:cNvPr id="52" name="Shape 50"/>
          <p:cNvSpPr/>
          <p:nvPr/>
        </p:nvSpPr>
        <p:spPr>
          <a:xfrm>
            <a:off x="11064240" y="2743200"/>
            <a:ext cx="365760" cy="365760"/>
          </a:xfrm>
          <a:prstGeom prst="ellipse">
            <a:avLst/>
          </a:prstGeom>
          <a:solidFill>
            <a:srgbClr val="C8571B"/>
          </a:solidFill>
          <a:ln/>
        </p:spPr>
      </p:sp>
      <p:sp>
        <p:nvSpPr>
          <p:cNvPr id="53" name="Shape 51"/>
          <p:cNvSpPr/>
          <p:nvPr/>
        </p:nvSpPr>
        <p:spPr>
          <a:xfrm>
            <a:off x="11064240" y="3566160"/>
            <a:ext cx="365760" cy="365760"/>
          </a:xfrm>
          <a:prstGeom prst="ellipse">
            <a:avLst/>
          </a:prstGeom>
          <a:solidFill>
            <a:srgbClr val="C8571B"/>
          </a:solidFill>
          <a:ln/>
        </p:spPr>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Most losses are negative log-likelihoods</a:t>
            </a:r>
            <a:endParaRPr lang="en-US" sz="3200" dirty="0"/>
          </a:p>
        </p:txBody>
      </p:sp>
      <p:sp>
        <p:nvSpPr>
          <p:cNvPr id="5" name="Shape 2"/>
          <p:cNvSpPr/>
          <p:nvPr/>
        </p:nvSpPr>
        <p:spPr>
          <a:xfrm>
            <a:off x="548640" y="1417320"/>
            <a:ext cx="1773936" cy="502920"/>
          </a:xfrm>
          <a:prstGeom prst="roundRect">
            <a:avLst>
              <a:gd name="adj" fmla="val 7273"/>
            </a:avLst>
          </a:prstGeom>
          <a:solidFill>
            <a:srgbClr val="2B3A4F"/>
          </a:solidFill>
          <a:ln/>
        </p:spPr>
      </p:sp>
      <p:sp>
        <p:nvSpPr>
          <p:cNvPr id="6" name="Text 3"/>
          <p:cNvSpPr txBox="1"/>
          <p:nvPr/>
        </p:nvSpPr>
        <p:spPr>
          <a:xfrm>
            <a:off x="685800" y="1417320"/>
            <a:ext cx="1554480"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Task</a:t>
            </a:r>
            <a:endParaRPr lang="en-US" sz="1700" dirty="0"/>
          </a:p>
        </p:txBody>
      </p:sp>
      <p:sp>
        <p:nvSpPr>
          <p:cNvPr id="7" name="Shape 4"/>
          <p:cNvSpPr/>
          <p:nvPr/>
        </p:nvSpPr>
        <p:spPr>
          <a:xfrm>
            <a:off x="2377440" y="1417320"/>
            <a:ext cx="2231136" cy="502920"/>
          </a:xfrm>
          <a:prstGeom prst="roundRect">
            <a:avLst>
              <a:gd name="adj" fmla="val 7273"/>
            </a:avLst>
          </a:prstGeom>
          <a:solidFill>
            <a:srgbClr val="2B3A4F"/>
          </a:solidFill>
          <a:ln/>
        </p:spPr>
      </p:sp>
      <p:sp>
        <p:nvSpPr>
          <p:cNvPr id="8" name="Text 5"/>
          <p:cNvSpPr txBox="1"/>
          <p:nvPr/>
        </p:nvSpPr>
        <p:spPr>
          <a:xfrm>
            <a:off x="2514600" y="1417320"/>
            <a:ext cx="2011680"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Target model</a:t>
            </a:r>
            <a:endParaRPr lang="en-US" sz="1700" dirty="0"/>
          </a:p>
        </p:txBody>
      </p:sp>
      <p:sp>
        <p:nvSpPr>
          <p:cNvPr id="9" name="Shape 6"/>
          <p:cNvSpPr/>
          <p:nvPr/>
        </p:nvSpPr>
        <p:spPr>
          <a:xfrm>
            <a:off x="4663440" y="1417320"/>
            <a:ext cx="4151376" cy="502920"/>
          </a:xfrm>
          <a:prstGeom prst="roundRect">
            <a:avLst>
              <a:gd name="adj" fmla="val 7273"/>
            </a:avLst>
          </a:prstGeom>
          <a:solidFill>
            <a:srgbClr val="2B3A4F"/>
          </a:solidFill>
          <a:ln/>
        </p:spPr>
      </p:sp>
      <p:sp>
        <p:nvSpPr>
          <p:cNvPr id="10" name="Text 7"/>
          <p:cNvSpPr txBox="1"/>
          <p:nvPr/>
        </p:nvSpPr>
        <p:spPr>
          <a:xfrm>
            <a:off x="4800600" y="1417320"/>
            <a:ext cx="3931920"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Negative log-likelihood</a:t>
            </a:r>
            <a:endParaRPr lang="en-US" sz="1700" dirty="0"/>
          </a:p>
        </p:txBody>
      </p:sp>
      <p:sp>
        <p:nvSpPr>
          <p:cNvPr id="11" name="Shape 8"/>
          <p:cNvSpPr/>
          <p:nvPr/>
        </p:nvSpPr>
        <p:spPr>
          <a:xfrm>
            <a:off x="8869680" y="1417320"/>
            <a:ext cx="2715768" cy="502920"/>
          </a:xfrm>
          <a:prstGeom prst="roundRect">
            <a:avLst>
              <a:gd name="adj" fmla="val 7273"/>
            </a:avLst>
          </a:prstGeom>
          <a:solidFill>
            <a:srgbClr val="2B3A4F"/>
          </a:solidFill>
          <a:ln/>
        </p:spPr>
      </p:sp>
      <p:sp>
        <p:nvSpPr>
          <p:cNvPr id="12" name="Text 9"/>
          <p:cNvSpPr txBox="1"/>
          <p:nvPr/>
        </p:nvSpPr>
        <p:spPr>
          <a:xfrm>
            <a:off x="9006840" y="1417320"/>
            <a:ext cx="2496312"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PyTorch loss</a:t>
            </a:r>
            <a:endParaRPr lang="en-US" sz="1700" dirty="0"/>
          </a:p>
        </p:txBody>
      </p:sp>
      <p:sp>
        <p:nvSpPr>
          <p:cNvPr id="13" name="Shape 10"/>
          <p:cNvSpPr/>
          <p:nvPr/>
        </p:nvSpPr>
        <p:spPr>
          <a:xfrm>
            <a:off x="548640" y="2029968"/>
            <a:ext cx="1773936" cy="1024128"/>
          </a:xfrm>
          <a:prstGeom prst="roundRect">
            <a:avLst>
              <a:gd name="adj" fmla="val 3571"/>
            </a:avLst>
          </a:prstGeom>
          <a:solidFill>
            <a:srgbClr val="F3F5F8"/>
          </a:solidFill>
          <a:ln/>
        </p:spPr>
      </p:sp>
      <p:sp>
        <p:nvSpPr>
          <p:cNvPr id="14" name="Shape 11"/>
          <p:cNvSpPr/>
          <p:nvPr/>
        </p:nvSpPr>
        <p:spPr>
          <a:xfrm>
            <a:off x="2377440" y="2029968"/>
            <a:ext cx="2231136" cy="1024128"/>
          </a:xfrm>
          <a:prstGeom prst="roundRect">
            <a:avLst>
              <a:gd name="adj" fmla="val 3571"/>
            </a:avLst>
          </a:prstGeom>
          <a:solidFill>
            <a:srgbClr val="FFFFFF"/>
          </a:solidFill>
          <a:ln w="12700">
            <a:solidFill>
              <a:srgbClr val="D5DBE3"/>
            </a:solidFill>
            <a:prstDash val="solid"/>
          </a:ln>
        </p:spPr>
      </p:sp>
      <p:sp>
        <p:nvSpPr>
          <p:cNvPr id="15" name="Shape 12"/>
          <p:cNvSpPr/>
          <p:nvPr/>
        </p:nvSpPr>
        <p:spPr>
          <a:xfrm>
            <a:off x="4663440" y="2029968"/>
            <a:ext cx="4151376" cy="1024128"/>
          </a:xfrm>
          <a:prstGeom prst="roundRect">
            <a:avLst>
              <a:gd name="adj" fmla="val 3571"/>
            </a:avLst>
          </a:prstGeom>
          <a:solidFill>
            <a:srgbClr val="E2F1F1"/>
          </a:solidFill>
          <a:ln/>
        </p:spPr>
      </p:sp>
      <p:sp>
        <p:nvSpPr>
          <p:cNvPr id="16" name="Shape 13"/>
          <p:cNvSpPr/>
          <p:nvPr/>
        </p:nvSpPr>
        <p:spPr>
          <a:xfrm>
            <a:off x="8869680" y="2029968"/>
            <a:ext cx="2715768" cy="1024128"/>
          </a:xfrm>
          <a:prstGeom prst="roundRect">
            <a:avLst>
              <a:gd name="adj" fmla="val 3571"/>
            </a:avLst>
          </a:prstGeom>
          <a:solidFill>
            <a:srgbClr val="F3F5F8"/>
          </a:solidFill>
          <a:ln/>
        </p:spPr>
      </p:sp>
      <p:sp>
        <p:nvSpPr>
          <p:cNvPr id="17" name="Text 14"/>
          <p:cNvSpPr txBox="1"/>
          <p:nvPr/>
        </p:nvSpPr>
        <p:spPr>
          <a:xfrm>
            <a:off x="685800" y="2029968"/>
            <a:ext cx="1554480" cy="1024128"/>
          </a:xfrm>
          <a:prstGeom prst="rect">
            <a:avLst/>
          </a:prstGeom>
          <a:noFill/>
          <a:ln/>
        </p:spPr>
        <p:txBody>
          <a:bodyPr wrap="square" lIns="0" tIns="0" rIns="0" bIns="0" rtlCol="0" anchor="ctr"/>
          <a:lstStyle/>
          <a:p>
            <a:pPr indent="0" marL="0">
              <a:buNone/>
            </a:pPr>
            <a:r>
              <a:rPr lang="en-US" sz="1900" b="1" dirty="0">
                <a:solidFill>
                  <a:srgbClr val="17202E"/>
                </a:solidFill>
                <a:latin typeface="Calibri" pitchFamily="34" charset="0"/>
                <a:ea typeface="Calibri" pitchFamily="34" charset="-122"/>
                <a:cs typeface="Calibri" pitchFamily="34" charset="-120"/>
              </a:rPr>
              <a:t>Regression</a:t>
            </a:r>
            <a:endParaRPr lang="en-US" sz="1900" dirty="0"/>
          </a:p>
        </p:txBody>
      </p:sp>
      <p:sp>
        <p:nvSpPr>
          <p:cNvPr id="18" name="Text 15"/>
          <p:cNvSpPr txBox="1"/>
          <p:nvPr/>
        </p:nvSpPr>
        <p:spPr>
          <a:xfrm>
            <a:off x="2514600" y="2029968"/>
            <a:ext cx="2011680" cy="1024128"/>
          </a:xfrm>
          <a:prstGeom prst="rect">
            <a:avLst/>
          </a:prstGeom>
          <a:noFill/>
          <a:ln/>
        </p:spPr>
        <p:txBody>
          <a:bodyPr wrap="square" lIns="0" tIns="0" rIns="0" bIns="0" rtlCol="0" anchor="ctr"/>
          <a:lstStyle/>
          <a:p>
            <a:pPr indent="0" marL="0">
              <a:buNone/>
            </a:pPr>
            <a:r>
              <a:rPr lang="en-US" sz="1600" dirty="0">
                <a:solidFill>
                  <a:srgbClr val="2B3A4F"/>
                </a:solidFill>
                <a:latin typeface="Calibri" pitchFamily="34" charset="0"/>
                <a:ea typeface="Calibri" pitchFamily="34" charset="-122"/>
                <a:cs typeface="Calibri" pitchFamily="34" charset="-120"/>
              </a:rPr>
              <a:t>y = f(x) + Gaussian noise</a:t>
            </a:r>
            <a:endParaRPr lang="en-US" sz="1600" dirty="0"/>
          </a:p>
        </p:txBody>
      </p:sp>
      <p:pic>
        <p:nvPicPr>
          <p:cNvPr id="19" name="Image 0" descr="LaTeX: $\displaystyle L = \tfrac12(\yh - y)^2$">    </p:cNvPr>
          <p:cNvPicPr>
            <a:picLocks noChangeAspect="1"/>
          </p:cNvPicPr>
          <p:nvPr/>
        </p:nvPicPr>
        <p:blipFill>
          <a:blip r:embed="rId1"/>
          <a:stretch>
            <a:fillRect/>
          </a:stretch>
        </p:blipFill>
        <p:spPr>
          <a:xfrm>
            <a:off x="4846320" y="2380107"/>
            <a:ext cx="1360170" cy="323850"/>
          </a:xfrm>
          <a:prstGeom prst="rect">
            <a:avLst/>
          </a:prstGeom>
        </p:spPr>
      </p:pic>
      <p:sp>
        <p:nvSpPr>
          <p:cNvPr id="20" name="Text 16"/>
          <p:cNvSpPr txBox="1"/>
          <p:nvPr/>
        </p:nvSpPr>
        <p:spPr>
          <a:xfrm>
            <a:off x="8979408" y="2029968"/>
            <a:ext cx="2587752" cy="1024128"/>
          </a:xfrm>
          <a:prstGeom prst="rect">
            <a:avLst/>
          </a:prstGeom>
          <a:noFill/>
          <a:ln/>
        </p:spPr>
        <p:txBody>
          <a:bodyPr wrap="square" lIns="0" tIns="0" rIns="0" bIns="0" rtlCol="0" anchor="ctr"/>
          <a:lstStyle/>
          <a:p>
            <a:pPr indent="0" marL="0">
              <a:buNone/>
            </a:pPr>
            <a:r>
              <a:rPr lang="en-US" sz="1500" dirty="0">
                <a:solidFill>
                  <a:srgbClr val="0A5559"/>
                </a:solidFill>
                <a:latin typeface="Consolas" pitchFamily="34" charset="0"/>
                <a:ea typeface="Consolas" pitchFamily="34" charset="-122"/>
                <a:cs typeface="Consolas" pitchFamily="34" charset="-120"/>
              </a:rPr>
              <a:t>nn.MSELoss()</a:t>
            </a:r>
            <a:endParaRPr lang="en-US" sz="1500" dirty="0"/>
          </a:p>
        </p:txBody>
      </p:sp>
      <p:sp>
        <p:nvSpPr>
          <p:cNvPr id="21" name="Shape 17"/>
          <p:cNvSpPr/>
          <p:nvPr/>
        </p:nvSpPr>
        <p:spPr>
          <a:xfrm>
            <a:off x="548640" y="3145536"/>
            <a:ext cx="1773936" cy="1024128"/>
          </a:xfrm>
          <a:prstGeom prst="roundRect">
            <a:avLst>
              <a:gd name="adj" fmla="val 3571"/>
            </a:avLst>
          </a:prstGeom>
          <a:solidFill>
            <a:srgbClr val="F3F5F8"/>
          </a:solidFill>
          <a:ln/>
        </p:spPr>
      </p:sp>
      <p:sp>
        <p:nvSpPr>
          <p:cNvPr id="22" name="Shape 18"/>
          <p:cNvSpPr/>
          <p:nvPr/>
        </p:nvSpPr>
        <p:spPr>
          <a:xfrm>
            <a:off x="2377440" y="3145536"/>
            <a:ext cx="2231136" cy="1024128"/>
          </a:xfrm>
          <a:prstGeom prst="roundRect">
            <a:avLst>
              <a:gd name="adj" fmla="val 3571"/>
            </a:avLst>
          </a:prstGeom>
          <a:solidFill>
            <a:srgbClr val="FFFFFF"/>
          </a:solidFill>
          <a:ln w="12700">
            <a:solidFill>
              <a:srgbClr val="D5DBE3"/>
            </a:solidFill>
            <a:prstDash val="solid"/>
          </a:ln>
        </p:spPr>
      </p:sp>
      <p:sp>
        <p:nvSpPr>
          <p:cNvPr id="23" name="Shape 19"/>
          <p:cNvSpPr/>
          <p:nvPr/>
        </p:nvSpPr>
        <p:spPr>
          <a:xfrm>
            <a:off x="4663440" y="3145536"/>
            <a:ext cx="4151376" cy="1024128"/>
          </a:xfrm>
          <a:prstGeom prst="roundRect">
            <a:avLst>
              <a:gd name="adj" fmla="val 3571"/>
            </a:avLst>
          </a:prstGeom>
          <a:solidFill>
            <a:srgbClr val="E2F1F1"/>
          </a:solidFill>
          <a:ln/>
        </p:spPr>
      </p:sp>
      <p:sp>
        <p:nvSpPr>
          <p:cNvPr id="24" name="Shape 20"/>
          <p:cNvSpPr/>
          <p:nvPr/>
        </p:nvSpPr>
        <p:spPr>
          <a:xfrm>
            <a:off x="8869680" y="3145536"/>
            <a:ext cx="2715768" cy="1024128"/>
          </a:xfrm>
          <a:prstGeom prst="roundRect">
            <a:avLst>
              <a:gd name="adj" fmla="val 3571"/>
            </a:avLst>
          </a:prstGeom>
          <a:solidFill>
            <a:srgbClr val="F3F5F8"/>
          </a:solidFill>
          <a:ln/>
        </p:spPr>
      </p:sp>
      <p:sp>
        <p:nvSpPr>
          <p:cNvPr id="25" name="Text 21"/>
          <p:cNvSpPr txBox="1"/>
          <p:nvPr/>
        </p:nvSpPr>
        <p:spPr>
          <a:xfrm>
            <a:off x="685800" y="3145536"/>
            <a:ext cx="1554480" cy="1024128"/>
          </a:xfrm>
          <a:prstGeom prst="rect">
            <a:avLst/>
          </a:prstGeom>
          <a:noFill/>
          <a:ln/>
        </p:spPr>
        <p:txBody>
          <a:bodyPr wrap="square" lIns="0" tIns="0" rIns="0" bIns="0" rtlCol="0" anchor="ctr"/>
          <a:lstStyle/>
          <a:p>
            <a:pPr indent="0" marL="0">
              <a:buNone/>
            </a:pPr>
            <a:r>
              <a:rPr lang="en-US" sz="1900" b="1" dirty="0">
                <a:solidFill>
                  <a:srgbClr val="17202E"/>
                </a:solidFill>
                <a:latin typeface="Calibri" pitchFamily="34" charset="0"/>
                <a:ea typeface="Calibri" pitchFamily="34" charset="-122"/>
                <a:cs typeface="Calibri" pitchFamily="34" charset="-120"/>
              </a:rPr>
              <a:t>Binary</a:t>
            </a:r>
            <a:endParaRPr lang="en-US" sz="1900" dirty="0"/>
          </a:p>
        </p:txBody>
      </p:sp>
      <p:sp>
        <p:nvSpPr>
          <p:cNvPr id="26" name="Text 22"/>
          <p:cNvSpPr txBox="1"/>
          <p:nvPr/>
        </p:nvSpPr>
        <p:spPr>
          <a:xfrm>
            <a:off x="2514600" y="3145536"/>
            <a:ext cx="2011680" cy="1024128"/>
          </a:xfrm>
          <a:prstGeom prst="rect">
            <a:avLst/>
          </a:prstGeom>
          <a:noFill/>
          <a:ln/>
        </p:spPr>
        <p:txBody>
          <a:bodyPr wrap="square" lIns="0" tIns="0" rIns="0" bIns="0" rtlCol="0" anchor="ctr"/>
          <a:lstStyle/>
          <a:p>
            <a:pPr indent="0" marL="0">
              <a:buNone/>
            </a:pPr>
            <a:r>
              <a:rPr lang="en-US" sz="1600" dirty="0">
                <a:solidFill>
                  <a:srgbClr val="2B3A4F"/>
                </a:solidFill>
                <a:latin typeface="Calibri" pitchFamily="34" charset="0"/>
                <a:ea typeface="Calibri" pitchFamily="34" charset="-122"/>
                <a:cs typeface="Calibri" pitchFamily="34" charset="-120"/>
              </a:rPr>
              <a:t>Bernoulli, ŷ = σ(z)</a:t>
            </a:r>
            <a:endParaRPr lang="en-US" sz="1600" dirty="0"/>
          </a:p>
        </p:txBody>
      </p:sp>
      <p:pic>
        <p:nvPicPr>
          <p:cNvPr id="27" name="Image 1" descr="LaTeX: $\displaystyle L = -\bigl[y\log\yh + (1-y)\log(1-\yh)\bigr]$">    </p:cNvPr>
          <p:cNvPicPr>
            <a:picLocks noChangeAspect="1"/>
          </p:cNvPicPr>
          <p:nvPr/>
        </p:nvPicPr>
        <p:blipFill>
          <a:blip r:embed="rId2"/>
          <a:stretch>
            <a:fillRect/>
          </a:stretch>
        </p:blipFill>
        <p:spPr>
          <a:xfrm>
            <a:off x="4846320" y="3496970"/>
            <a:ext cx="3246272" cy="321259"/>
          </a:xfrm>
          <a:prstGeom prst="rect">
            <a:avLst/>
          </a:prstGeom>
        </p:spPr>
      </p:pic>
      <p:sp>
        <p:nvSpPr>
          <p:cNvPr id="28" name="Text 23"/>
          <p:cNvSpPr txBox="1"/>
          <p:nvPr/>
        </p:nvSpPr>
        <p:spPr>
          <a:xfrm>
            <a:off x="8979408" y="3145536"/>
            <a:ext cx="2587752" cy="1024128"/>
          </a:xfrm>
          <a:prstGeom prst="rect">
            <a:avLst/>
          </a:prstGeom>
          <a:noFill/>
          <a:ln/>
        </p:spPr>
        <p:txBody>
          <a:bodyPr wrap="square" lIns="0" tIns="0" rIns="0" bIns="0" rtlCol="0" anchor="ctr"/>
          <a:lstStyle/>
          <a:p>
            <a:pPr indent="0" marL="0">
              <a:buNone/>
            </a:pPr>
            <a:r>
              <a:rPr lang="en-US" sz="1500" dirty="0">
                <a:solidFill>
                  <a:srgbClr val="0A5559"/>
                </a:solidFill>
                <a:latin typeface="Consolas" pitchFamily="34" charset="0"/>
                <a:ea typeface="Consolas" pitchFamily="34" charset="-122"/>
                <a:cs typeface="Consolas" pitchFamily="34" charset="-120"/>
              </a:rPr>
              <a:t>nn.BCEWithLogitsLoss()</a:t>
            </a:r>
            <a:endParaRPr lang="en-US" sz="1500" dirty="0"/>
          </a:p>
        </p:txBody>
      </p:sp>
      <p:sp>
        <p:nvSpPr>
          <p:cNvPr id="29" name="Shape 24"/>
          <p:cNvSpPr/>
          <p:nvPr/>
        </p:nvSpPr>
        <p:spPr>
          <a:xfrm>
            <a:off x="548640" y="4261104"/>
            <a:ext cx="1773936" cy="1024128"/>
          </a:xfrm>
          <a:prstGeom prst="roundRect">
            <a:avLst>
              <a:gd name="adj" fmla="val 3571"/>
            </a:avLst>
          </a:prstGeom>
          <a:solidFill>
            <a:srgbClr val="F3F5F8"/>
          </a:solidFill>
          <a:ln/>
        </p:spPr>
      </p:sp>
      <p:sp>
        <p:nvSpPr>
          <p:cNvPr id="30" name="Shape 25"/>
          <p:cNvSpPr/>
          <p:nvPr/>
        </p:nvSpPr>
        <p:spPr>
          <a:xfrm>
            <a:off x="2377440" y="4261104"/>
            <a:ext cx="2231136" cy="1024128"/>
          </a:xfrm>
          <a:prstGeom prst="roundRect">
            <a:avLst>
              <a:gd name="adj" fmla="val 3571"/>
            </a:avLst>
          </a:prstGeom>
          <a:solidFill>
            <a:srgbClr val="FFFFFF"/>
          </a:solidFill>
          <a:ln w="12700">
            <a:solidFill>
              <a:srgbClr val="D5DBE3"/>
            </a:solidFill>
            <a:prstDash val="solid"/>
          </a:ln>
        </p:spPr>
      </p:sp>
      <p:sp>
        <p:nvSpPr>
          <p:cNvPr id="31" name="Shape 26"/>
          <p:cNvSpPr/>
          <p:nvPr/>
        </p:nvSpPr>
        <p:spPr>
          <a:xfrm>
            <a:off x="4663440" y="4261104"/>
            <a:ext cx="4151376" cy="1024128"/>
          </a:xfrm>
          <a:prstGeom prst="roundRect">
            <a:avLst>
              <a:gd name="adj" fmla="val 3571"/>
            </a:avLst>
          </a:prstGeom>
          <a:solidFill>
            <a:srgbClr val="E2F1F1"/>
          </a:solidFill>
          <a:ln/>
        </p:spPr>
      </p:sp>
      <p:sp>
        <p:nvSpPr>
          <p:cNvPr id="32" name="Shape 27"/>
          <p:cNvSpPr/>
          <p:nvPr/>
        </p:nvSpPr>
        <p:spPr>
          <a:xfrm>
            <a:off x="8869680" y="4261104"/>
            <a:ext cx="2715768" cy="1024128"/>
          </a:xfrm>
          <a:prstGeom prst="roundRect">
            <a:avLst>
              <a:gd name="adj" fmla="val 3571"/>
            </a:avLst>
          </a:prstGeom>
          <a:solidFill>
            <a:srgbClr val="F3F5F8"/>
          </a:solidFill>
          <a:ln/>
        </p:spPr>
      </p:sp>
      <p:sp>
        <p:nvSpPr>
          <p:cNvPr id="33" name="Text 28"/>
          <p:cNvSpPr txBox="1"/>
          <p:nvPr/>
        </p:nvSpPr>
        <p:spPr>
          <a:xfrm>
            <a:off x="685800" y="4261104"/>
            <a:ext cx="1554480" cy="1024128"/>
          </a:xfrm>
          <a:prstGeom prst="rect">
            <a:avLst/>
          </a:prstGeom>
          <a:noFill/>
          <a:ln/>
        </p:spPr>
        <p:txBody>
          <a:bodyPr wrap="square" lIns="0" tIns="0" rIns="0" bIns="0" rtlCol="0" anchor="ctr"/>
          <a:lstStyle/>
          <a:p>
            <a:pPr indent="0" marL="0">
              <a:buNone/>
            </a:pPr>
            <a:r>
              <a:rPr lang="en-US" sz="1900" b="1" dirty="0">
                <a:solidFill>
                  <a:srgbClr val="17202E"/>
                </a:solidFill>
                <a:latin typeface="Calibri" pitchFamily="34" charset="0"/>
                <a:ea typeface="Calibri" pitchFamily="34" charset="-122"/>
                <a:cs typeface="Calibri" pitchFamily="34" charset="-120"/>
              </a:rPr>
              <a:t>Multi-class</a:t>
            </a:r>
            <a:endParaRPr lang="en-US" sz="1900" dirty="0"/>
          </a:p>
        </p:txBody>
      </p:sp>
      <p:sp>
        <p:nvSpPr>
          <p:cNvPr id="34" name="Text 29"/>
          <p:cNvSpPr txBox="1"/>
          <p:nvPr/>
        </p:nvSpPr>
        <p:spPr>
          <a:xfrm>
            <a:off x="2514600" y="4261104"/>
            <a:ext cx="2011680" cy="1024128"/>
          </a:xfrm>
          <a:prstGeom prst="rect">
            <a:avLst/>
          </a:prstGeom>
          <a:noFill/>
          <a:ln/>
        </p:spPr>
        <p:txBody>
          <a:bodyPr wrap="square" lIns="0" tIns="0" rIns="0" bIns="0" rtlCol="0" anchor="ctr"/>
          <a:lstStyle/>
          <a:p>
            <a:pPr indent="0" marL="0">
              <a:buNone/>
            </a:pPr>
            <a:r>
              <a:rPr lang="en-US" sz="1600" dirty="0">
                <a:solidFill>
                  <a:srgbClr val="2B3A4F"/>
                </a:solidFill>
                <a:latin typeface="Calibri" pitchFamily="34" charset="0"/>
                <a:ea typeface="Calibri" pitchFamily="34" charset="-122"/>
                <a:cs typeface="Calibri" pitchFamily="34" charset="-120"/>
              </a:rPr>
              <a:t>Categorical, ŷ = softmax(z)</a:t>
            </a:r>
            <a:endParaRPr lang="en-US" sz="1600" dirty="0"/>
          </a:p>
        </p:txBody>
      </p:sp>
      <p:pic>
        <p:nvPicPr>
          <p:cNvPr id="35" name="Image 2" descr="LaTeX: $\displaystyle L = -\sum_k y_k \log \yh_k = -\log \yh_c$">    </p:cNvPr>
          <p:cNvPicPr>
            <a:picLocks noChangeAspect="1"/>
          </p:cNvPicPr>
          <p:nvPr/>
        </p:nvPicPr>
        <p:blipFill>
          <a:blip r:embed="rId3"/>
          <a:stretch>
            <a:fillRect/>
          </a:stretch>
        </p:blipFill>
        <p:spPr>
          <a:xfrm>
            <a:off x="4846320" y="4507611"/>
            <a:ext cx="2795473" cy="531114"/>
          </a:xfrm>
          <a:prstGeom prst="rect">
            <a:avLst/>
          </a:prstGeom>
        </p:spPr>
      </p:pic>
      <p:sp>
        <p:nvSpPr>
          <p:cNvPr id="36" name="Text 30"/>
          <p:cNvSpPr txBox="1"/>
          <p:nvPr/>
        </p:nvSpPr>
        <p:spPr>
          <a:xfrm>
            <a:off x="8979408" y="4261104"/>
            <a:ext cx="2587752" cy="1024128"/>
          </a:xfrm>
          <a:prstGeom prst="rect">
            <a:avLst/>
          </a:prstGeom>
          <a:noFill/>
          <a:ln/>
        </p:spPr>
        <p:txBody>
          <a:bodyPr wrap="square" lIns="0" tIns="0" rIns="0" bIns="0" rtlCol="0" anchor="ctr"/>
          <a:lstStyle/>
          <a:p>
            <a:pPr indent="0" marL="0">
              <a:buNone/>
            </a:pPr>
            <a:r>
              <a:rPr lang="en-US" sz="1500" dirty="0">
                <a:solidFill>
                  <a:srgbClr val="0A5559"/>
                </a:solidFill>
                <a:latin typeface="Consolas" pitchFamily="34" charset="0"/>
                <a:ea typeface="Consolas" pitchFamily="34" charset="-122"/>
                <a:cs typeface="Consolas" pitchFamily="34" charset="-120"/>
              </a:rPr>
              <a:t>nn.CrossEntropyLoss()</a:t>
            </a:r>
            <a:endParaRPr lang="en-US" sz="1500" dirty="0"/>
          </a:p>
        </p:txBody>
      </p:sp>
      <p:sp>
        <p:nvSpPr>
          <p:cNvPr id="37" name="Shape 31"/>
          <p:cNvSpPr/>
          <p:nvPr/>
        </p:nvSpPr>
        <p:spPr>
          <a:xfrm>
            <a:off x="548640" y="5440680"/>
            <a:ext cx="11094415" cy="685800"/>
          </a:xfrm>
          <a:prstGeom prst="roundRect">
            <a:avLst>
              <a:gd name="adj" fmla="val 10667"/>
            </a:avLst>
          </a:prstGeom>
          <a:solidFill>
            <a:srgbClr val="E2F1F1"/>
          </a:solidFill>
          <a:ln/>
        </p:spPr>
      </p:sp>
      <p:sp>
        <p:nvSpPr>
          <p:cNvPr id="38" name="Text 32"/>
          <p:cNvSpPr txBox="1"/>
          <p:nvPr/>
        </p:nvSpPr>
        <p:spPr>
          <a:xfrm>
            <a:off x="749808" y="5486400"/>
            <a:ext cx="10692079" cy="59436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Choose the noise model; the loss follows. Classification losses take raw logits.</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Softmax, and the first-loss sanity check</a:t>
            </a:r>
            <a:endParaRPr lang="en-US" sz="3200" dirty="0"/>
          </a:p>
        </p:txBody>
      </p:sp>
      <p:graphicFrame>
        <p:nvGraphicFramePr>
          <p:cNvPr id="5" name="Chart 0" descr="Logits z: z₁ = 2; z₂ = 1; z₃ = 0.1"/>
          <p:cNvGraphicFramePr/>
          <p:nvPr/>
        </p:nvGraphicFramePr>
        <p:xfrm>
          <a:off x="457200" y="1417320"/>
          <a:ext cx="2651760" cy="27432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2651760" y="2880360"/>
            <a:ext cx="594360" cy="91"/>
          </a:xfrm>
          <a:prstGeom prst="line">
            <a:avLst/>
          </a:prstGeom>
          <a:noFill/>
          <a:ln w="31750">
            <a:solidFill>
              <a:srgbClr val="0F7C82"/>
            </a:solidFill>
            <a:prstDash val="solid"/>
            <a:tailEnd type="triangle"/>
          </a:ln>
        </p:spPr>
      </p:sp>
      <p:sp>
        <p:nvSpPr>
          <p:cNvPr id="7" name="Text 3"/>
          <p:cNvSpPr txBox="1"/>
          <p:nvPr/>
        </p:nvSpPr>
        <p:spPr>
          <a:xfrm>
            <a:off x="2468880" y="2423160"/>
            <a:ext cx="914400" cy="365760"/>
          </a:xfrm>
          <a:prstGeom prst="rect">
            <a:avLst/>
          </a:prstGeom>
          <a:noFill/>
          <a:ln/>
        </p:spPr>
        <p:txBody>
          <a:bodyPr wrap="square" lIns="0" tIns="0" rIns="0" bIns="0" rtlCol="0" anchor="t"/>
          <a:lstStyle/>
          <a:p>
            <a:pPr algn="ctr" indent="0" marL="0">
              <a:buNone/>
            </a:pPr>
            <a:r>
              <a:rPr lang="en-US" sz="1500" b="1" dirty="0">
                <a:solidFill>
                  <a:srgbClr val="0F7C82"/>
                </a:solidFill>
                <a:latin typeface="Calibri" pitchFamily="34" charset="0"/>
                <a:ea typeface="Calibri" pitchFamily="34" charset="-122"/>
                <a:cs typeface="Calibri" pitchFamily="34" charset="-120"/>
              </a:rPr>
              <a:t>softmax</a:t>
            </a:r>
            <a:endParaRPr lang="en-US" sz="1500" dirty="0"/>
          </a:p>
        </p:txBody>
      </p:sp>
      <p:graphicFrame>
        <p:nvGraphicFramePr>
          <p:cNvPr id="8" name="Chart 1" descr="Probabilities (sum 1): ŷ₁ = 0.659; ŷ₂ = 0.242; ŷ₃ = 0.099"/>
          <p:cNvGraphicFramePr/>
          <p:nvPr/>
        </p:nvGraphicFramePr>
        <p:xfrm>
          <a:off x="3246120" y="1417320"/>
          <a:ext cx="2651760" cy="2743200"/>
        </p:xfrm>
        <a:graphic xmlns:a="http://schemas.openxmlformats.org/drawingml/2006/main">
          <a:graphicData uri="http://schemas.openxmlformats.org/drawingml/2006/chart">
            <c:chart xmlns:c="http://schemas.openxmlformats.org/drawingml/2006/chart" r:id="rId2"/>
          </a:graphicData>
        </a:graphic>
      </p:graphicFrame>
      <p:sp>
        <p:nvSpPr>
          <p:cNvPr id="9" name="Shape 4"/>
          <p:cNvSpPr/>
          <p:nvPr/>
        </p:nvSpPr>
        <p:spPr>
          <a:xfrm>
            <a:off x="548640" y="4343400"/>
            <a:ext cx="5349240" cy="1783080"/>
          </a:xfrm>
          <a:prstGeom prst="roundRect">
            <a:avLst>
              <a:gd name="adj" fmla="val 4103"/>
            </a:avLst>
          </a:prstGeom>
          <a:solidFill>
            <a:srgbClr val="F3F5F8"/>
          </a:solidFill>
          <a:ln/>
        </p:spPr>
      </p:sp>
      <p:pic>
        <p:nvPicPr>
          <p:cNvPr id="10" name="Image 0" descr="LaTeX: $\displaystyle \yh_k = \frac{e^{z_k}}{\sum_j e^{z_j}}$">    </p:cNvPr>
          <p:cNvPicPr>
            <a:picLocks noChangeAspect="1"/>
          </p:cNvPicPr>
          <p:nvPr/>
        </p:nvPicPr>
        <p:blipFill>
          <a:blip r:embed="rId3"/>
          <a:stretch>
            <a:fillRect/>
          </a:stretch>
        </p:blipFill>
        <p:spPr>
          <a:xfrm>
            <a:off x="822960" y="4526280"/>
            <a:ext cx="1209904" cy="595884"/>
          </a:xfrm>
          <a:prstGeom prst="rect">
            <a:avLst/>
          </a:prstGeom>
        </p:spPr>
      </p:pic>
      <p:pic>
        <p:nvPicPr>
          <p:cNvPr id="11" name="Image 1" descr="LaTeX: $\displaystyle L = -\sum_k y_k \log \yh_k = -\log \yh_c$">    </p:cNvPr>
          <p:cNvPicPr>
            <a:picLocks noChangeAspect="1"/>
          </p:cNvPicPr>
          <p:nvPr/>
        </p:nvPicPr>
        <p:blipFill>
          <a:blip r:embed="rId4"/>
          <a:stretch>
            <a:fillRect/>
          </a:stretch>
        </p:blipFill>
        <p:spPr>
          <a:xfrm>
            <a:off x="822960" y="5349240"/>
            <a:ext cx="2384374" cy="453009"/>
          </a:xfrm>
          <a:prstGeom prst="rect">
            <a:avLst/>
          </a:prstGeom>
        </p:spPr>
      </p:pic>
      <p:sp>
        <p:nvSpPr>
          <p:cNvPr id="12" name="Shape 5"/>
          <p:cNvSpPr/>
          <p:nvPr/>
        </p:nvSpPr>
        <p:spPr>
          <a:xfrm>
            <a:off x="6217920" y="1417320"/>
            <a:ext cx="5422392" cy="2514600"/>
          </a:xfrm>
          <a:prstGeom prst="roundRect">
            <a:avLst>
              <a:gd name="adj" fmla="val 2909"/>
            </a:avLst>
          </a:prstGeom>
          <a:solidFill>
            <a:srgbClr val="E2F1F1"/>
          </a:solidFill>
          <a:ln/>
        </p:spPr>
      </p:sp>
      <p:sp>
        <p:nvSpPr>
          <p:cNvPr id="13" name="Text 6"/>
          <p:cNvSpPr txBox="1"/>
          <p:nvPr/>
        </p:nvSpPr>
        <p:spPr>
          <a:xfrm>
            <a:off x="6446520" y="1581912"/>
            <a:ext cx="493776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SANITY CHECK ON STEP 0</a:t>
            </a:r>
            <a:endParaRPr lang="en-US" sz="1300" dirty="0"/>
          </a:p>
        </p:txBody>
      </p:sp>
      <p:pic>
        <p:nvPicPr>
          <p:cNvPr id="14" name="Image 2" descr="LaTeX: $\displaystyle L_{\text{first}} \approx -\log\tfrac{1}{K} = \ln K \qquad \textcolor{mu}{(\ln 10 = 2.30)}$">    </p:cNvPr>
          <p:cNvPicPr>
            <a:picLocks noChangeAspect="1"/>
          </p:cNvPicPr>
          <p:nvPr/>
        </p:nvPicPr>
        <p:blipFill>
          <a:blip r:embed="rId5"/>
          <a:stretch>
            <a:fillRect/>
          </a:stretch>
        </p:blipFill>
        <p:spPr>
          <a:xfrm>
            <a:off x="6446520" y="1984248"/>
            <a:ext cx="3899154" cy="321259"/>
          </a:xfrm>
          <a:prstGeom prst="rect">
            <a:avLst/>
          </a:prstGeom>
        </p:spPr>
      </p:pic>
      <p:sp>
        <p:nvSpPr>
          <p:cNvPr id="15" name="Text 7"/>
          <p:cNvSpPr txBox="1"/>
          <p:nvPr/>
        </p:nvSpPr>
        <p:spPr>
          <a:xfrm>
            <a:off x="6446520" y="2743200"/>
            <a:ext cx="5029200" cy="10515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Running example, real first loss: </a:t>
            </a:r>
            <a:pPr indent="0" marL="0">
              <a:buNone/>
            </a:pPr>
            <a:r>
              <a:rPr lang="en-US" sz="1800" b="1" dirty="0">
                <a:solidFill>
                  <a:srgbClr val="0F7C82"/>
                </a:solidFill>
                <a:latin typeface="Calibri" pitchFamily="34" charset="0"/>
                <a:ea typeface="Calibri" pitchFamily="34" charset="-122"/>
                <a:cs typeface="Calibri" pitchFamily="34" charset="-120"/>
              </a:rPr>
              <a:t>2.78</a:t>
            </a:r>
            <a:pPr indent="0" marL="0">
              <a:buNone/>
            </a:pPr>
            <a:r>
              <a:rPr lang="en-US" sz="1800" dirty="0">
                <a:solidFill>
                  <a:srgbClr val="17202E"/>
                </a:solidFill>
                <a:latin typeface="Calibri" pitchFamily="34" charset="0"/>
                <a:ea typeface="Calibri" pitchFamily="34" charset="-122"/>
                <a:cs typeface="Calibri" pitchFamily="34" charset="-120"/>
              </a:rPr>
              <a:t> (He init, logits of order 1).</a:t>
            </a:r>
            <a:endParaRPr lang="en-US" sz="1800" dirty="0"/>
          </a:p>
        </p:txBody>
      </p:sp>
      <p:sp>
        <p:nvSpPr>
          <p:cNvPr id="16" name="Shape 8"/>
          <p:cNvSpPr/>
          <p:nvPr/>
        </p:nvSpPr>
        <p:spPr>
          <a:xfrm>
            <a:off x="6217920" y="4160520"/>
            <a:ext cx="5422392" cy="1234440"/>
          </a:xfrm>
          <a:prstGeom prst="roundRect">
            <a:avLst>
              <a:gd name="adj" fmla="val 5926"/>
            </a:avLst>
          </a:prstGeom>
          <a:solidFill>
            <a:srgbClr val="FBEADF"/>
          </a:solidFill>
          <a:ln/>
        </p:spPr>
      </p:sp>
      <p:sp>
        <p:nvSpPr>
          <p:cNvPr id="17" name="Text 9"/>
          <p:cNvSpPr txBox="1"/>
          <p:nvPr/>
        </p:nvSpPr>
        <p:spPr>
          <a:xfrm>
            <a:off x="6419088" y="4206240"/>
            <a:ext cx="5020056" cy="1143000"/>
          </a:xfrm>
          <a:prstGeom prst="rect">
            <a:avLst/>
          </a:prstGeom>
          <a:noFill/>
          <a:ln/>
        </p:spPr>
        <p:txBody>
          <a:bodyPr wrap="square" lIns="0" tIns="0" rIns="0" bIns="0" rtlCol="0" anchor="ctr"/>
          <a:lstStyle/>
          <a:p>
            <a:pPr indent="0" marL="0">
              <a:buNone/>
            </a:pPr>
            <a:r>
              <a:rPr lang="en-US" sz="1800" b="1" dirty="0">
                <a:solidFill>
                  <a:srgbClr val="8F3A0E"/>
                </a:solidFill>
                <a:latin typeface="Calibri" pitchFamily="34" charset="0"/>
                <a:ea typeface="Calibri" pitchFamily="34" charset="-122"/>
                <a:cs typeface="Calibri" pitchFamily="34" charset="-120"/>
              </a:rPr>
              <a:t>First loss ≫ ln K (say 10 – 15)? Logits are huge: check input standardization, initialization and labels.</a:t>
            </a:r>
            <a:endParaRPr lang="en-US" sz="1800" dirty="0"/>
          </a:p>
        </p:txBody>
      </p:sp>
      <p:sp>
        <p:nvSpPr>
          <p:cNvPr id="18" name="Text 10"/>
          <p:cNvSpPr txBox="1"/>
          <p:nvPr/>
        </p:nvSpPr>
        <p:spPr>
          <a:xfrm>
            <a:off x="6217920" y="5623560"/>
            <a:ext cx="5422392" cy="411480"/>
          </a:xfrm>
          <a:prstGeom prst="rect">
            <a:avLst/>
          </a:prstGeom>
          <a:noFill/>
          <a:ln/>
        </p:spPr>
        <p:txBody>
          <a:bodyPr wrap="square" lIns="0" tIns="0" rIns="0" bIns="0" rtlCol="0" anchor="t"/>
          <a:lstStyle/>
          <a:p>
            <a:pPr indent="0" marL="0">
              <a:buNone/>
            </a:pPr>
            <a:r>
              <a:rPr lang="en-US" sz="1600" dirty="0">
                <a:solidFill>
                  <a:srgbClr val="5B6675"/>
                </a:solidFill>
                <a:latin typeface="Calibri" pitchFamily="34" charset="0"/>
                <a:ea typeface="Calibri" pitchFamily="34" charset="-122"/>
                <a:cs typeface="Calibri" pitchFamily="34" charset="-120"/>
              </a:rPr>
              <a:t>−log 0.9 = 0.105   ·   −log 0.5 = 0.693   ·   −log 0.01 = 4.61</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Cross-entropy keeps learning when MSE stalls</a:t>
            </a:r>
            <a:endParaRPr lang="en-US" sz="3200" dirty="0"/>
          </a:p>
        </p:txBody>
      </p:sp>
      <p:graphicFrame>
        <p:nvGraphicFramePr>
          <p:cNvPr id="5" name="Chart 0" descr="|∂L/∂z| for a true label y = 1: cross-entropy, MSE on a sigmoid"/>
          <p:cNvGraphicFramePr/>
          <p:nvPr/>
        </p:nvGraphicFramePr>
        <p:xfrm>
          <a:off x="457200" y="1417320"/>
          <a:ext cx="5577840" cy="425196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6080760" y="1417320"/>
            <a:ext cx="5559552" cy="1600200"/>
          </a:xfrm>
          <a:prstGeom prst="roundRect">
            <a:avLst>
              <a:gd name="adj" fmla="val 4571"/>
            </a:avLst>
          </a:prstGeom>
          <a:solidFill>
            <a:srgbClr val="FBEADF"/>
          </a:solidFill>
          <a:ln/>
        </p:spPr>
      </p:sp>
      <p:sp>
        <p:nvSpPr>
          <p:cNvPr id="7" name="Text 3"/>
          <p:cNvSpPr txBox="1"/>
          <p:nvPr/>
        </p:nvSpPr>
        <p:spPr>
          <a:xfrm>
            <a:off x="6281928" y="1554480"/>
            <a:ext cx="502920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MSE ON A SIGMOID</a:t>
            </a:r>
            <a:endParaRPr lang="en-US" sz="1300" dirty="0"/>
          </a:p>
        </p:txBody>
      </p:sp>
      <p:pic>
        <p:nvPicPr>
          <p:cNvPr id="8" name="Image 0" descr="LaTeX: $\displaystyle \frac{\partial L}{\partial z} = (\sigma(z) - y)\,\textcolor{bw}{\sigma(z)(1-\sigma(z))}$">    </p:cNvPr>
          <p:cNvPicPr>
            <a:picLocks noChangeAspect="1"/>
          </p:cNvPicPr>
          <p:nvPr/>
        </p:nvPicPr>
        <p:blipFill>
          <a:blip r:embed="rId2"/>
          <a:stretch>
            <a:fillRect/>
          </a:stretch>
        </p:blipFill>
        <p:spPr>
          <a:xfrm>
            <a:off x="6309360" y="1874520"/>
            <a:ext cx="2791968" cy="477926"/>
          </a:xfrm>
          <a:prstGeom prst="rect">
            <a:avLst/>
          </a:prstGeom>
        </p:spPr>
      </p:pic>
      <p:sp>
        <p:nvSpPr>
          <p:cNvPr id="9" name="Text 4"/>
          <p:cNvSpPr txBox="1"/>
          <p:nvPr/>
        </p:nvSpPr>
        <p:spPr>
          <a:xfrm>
            <a:off x="6281928" y="2560320"/>
            <a:ext cx="5212080" cy="365760"/>
          </a:xfrm>
          <a:prstGeom prst="rect">
            <a:avLst/>
          </a:prstGeom>
          <a:noFill/>
          <a:ln/>
        </p:spPr>
        <p:txBody>
          <a:bodyPr wrap="square" lIns="0" tIns="0" rIns="0" bIns="0" rtlCol="0" anchor="t"/>
          <a:lstStyle/>
          <a:p>
            <a:pPr indent="0" marL="0">
              <a:buNone/>
            </a:pPr>
            <a:r>
              <a:rPr lang="en-US" sz="1600" dirty="0">
                <a:solidFill>
                  <a:srgbClr val="8F3A0E"/>
                </a:solidFill>
                <a:latin typeface="Calibri" pitchFamily="34" charset="0"/>
                <a:ea typeface="Calibri" pitchFamily="34" charset="-122"/>
                <a:cs typeface="Calibri" pitchFamily="34" charset="-120"/>
              </a:rPr>
              <a:t>σ(z) = 0.0001, y = 1  →  ∂L/∂z ≈ −0.0001</a:t>
            </a:r>
            <a:endParaRPr lang="en-US" sz="1600" dirty="0"/>
          </a:p>
        </p:txBody>
      </p:sp>
      <p:sp>
        <p:nvSpPr>
          <p:cNvPr id="10" name="Shape 5"/>
          <p:cNvSpPr/>
          <p:nvPr/>
        </p:nvSpPr>
        <p:spPr>
          <a:xfrm>
            <a:off x="6080760" y="3200400"/>
            <a:ext cx="5559552" cy="1600200"/>
          </a:xfrm>
          <a:prstGeom prst="roundRect">
            <a:avLst>
              <a:gd name="adj" fmla="val 4571"/>
            </a:avLst>
          </a:prstGeom>
          <a:solidFill>
            <a:srgbClr val="E2F1F1"/>
          </a:solidFill>
          <a:ln/>
        </p:spPr>
      </p:sp>
      <p:sp>
        <p:nvSpPr>
          <p:cNvPr id="11" name="Text 6"/>
          <p:cNvSpPr txBox="1"/>
          <p:nvPr/>
        </p:nvSpPr>
        <p:spPr>
          <a:xfrm>
            <a:off x="6281928" y="3337560"/>
            <a:ext cx="50292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CROSS-ENTROPY ON A SIGMOID</a:t>
            </a:r>
            <a:endParaRPr lang="en-US" sz="1300" dirty="0"/>
          </a:p>
        </p:txBody>
      </p:sp>
      <p:pic>
        <p:nvPicPr>
          <p:cNvPr id="12" name="Image 1" descr="LaTeX: $\displaystyle \frac{\partial L}{\partial z} = \sigma(z) - y$">    </p:cNvPr>
          <p:cNvPicPr>
            <a:picLocks noChangeAspect="1"/>
          </p:cNvPicPr>
          <p:nvPr/>
        </p:nvPicPr>
        <p:blipFill>
          <a:blip r:embed="rId3"/>
          <a:stretch>
            <a:fillRect/>
          </a:stretch>
        </p:blipFill>
        <p:spPr>
          <a:xfrm>
            <a:off x="6309360" y="3657600"/>
            <a:ext cx="1341120" cy="477926"/>
          </a:xfrm>
          <a:prstGeom prst="rect">
            <a:avLst/>
          </a:prstGeom>
        </p:spPr>
      </p:pic>
      <p:sp>
        <p:nvSpPr>
          <p:cNvPr id="13" name="Text 7"/>
          <p:cNvSpPr txBox="1"/>
          <p:nvPr/>
        </p:nvSpPr>
        <p:spPr>
          <a:xfrm>
            <a:off x="8412480" y="3840480"/>
            <a:ext cx="3108960" cy="411480"/>
          </a:xfrm>
          <a:prstGeom prst="rect">
            <a:avLst/>
          </a:prstGeom>
          <a:noFill/>
          <a:ln/>
        </p:spPr>
        <p:txBody>
          <a:bodyPr wrap="square" lIns="0" tIns="0" rIns="0" bIns="0" rtlCol="0" anchor="t"/>
          <a:lstStyle/>
          <a:p>
            <a:pPr indent="0" marL="0">
              <a:buNone/>
            </a:pPr>
            <a:r>
              <a:rPr lang="en-US" sz="1600" dirty="0">
                <a:solidFill>
                  <a:srgbClr val="0A5559"/>
                </a:solidFill>
                <a:latin typeface="Calibri" pitchFamily="34" charset="0"/>
                <a:ea typeface="Calibri" pitchFamily="34" charset="-122"/>
                <a:cs typeface="Calibri" pitchFamily="34" charset="-120"/>
              </a:rPr>
              <a:t>same case  →  ∂L/∂z ≈ −1</a:t>
            </a:r>
            <a:endParaRPr lang="en-US" sz="1600" dirty="0"/>
          </a:p>
        </p:txBody>
      </p:sp>
      <p:sp>
        <p:nvSpPr>
          <p:cNvPr id="14" name="Shape 8"/>
          <p:cNvSpPr/>
          <p:nvPr/>
        </p:nvSpPr>
        <p:spPr>
          <a:xfrm>
            <a:off x="6080760" y="5029200"/>
            <a:ext cx="5559552" cy="1051560"/>
          </a:xfrm>
          <a:prstGeom prst="roundRect">
            <a:avLst>
              <a:gd name="adj" fmla="val 6957"/>
            </a:avLst>
          </a:prstGeom>
          <a:solidFill>
            <a:srgbClr val="17202E"/>
          </a:solidFill>
          <a:ln/>
        </p:spPr>
      </p:sp>
      <p:sp>
        <p:nvSpPr>
          <p:cNvPr id="15" name="Text 9"/>
          <p:cNvSpPr txBox="1"/>
          <p:nvPr/>
        </p:nvSpPr>
        <p:spPr>
          <a:xfrm>
            <a:off x="6281928" y="5074920"/>
            <a:ext cx="5157216" cy="9601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Use cross-entropy for classification: its gradient is largest when the model is most wrong.</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3</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A 10-class classifier's training loss falls from 2.3 but plateaus near 1.5 and never goes lower, while accuracy looks reasonable. Most likely cause?</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sp>
      <p:sp>
        <p:nvSpPr>
          <p:cNvPr id="7" name="Shape 4"/>
          <p:cNvSpPr/>
          <p:nvPr/>
        </p:nvSpPr>
        <p:spPr>
          <a:xfrm>
            <a:off x="777240" y="3136392"/>
            <a:ext cx="548640" cy="548640"/>
          </a:xfrm>
          <a:prstGeom prst="ellipse">
            <a:avLst/>
          </a:prstGeom>
          <a:solidFill>
            <a:srgbClr val="C8571B"/>
          </a:solidFill>
          <a:ln/>
        </p:spPr>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The learning rate is too small</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sp>
      <p:sp>
        <p:nvSpPr>
          <p:cNvPr id="11" name="Shape 8"/>
          <p:cNvSpPr/>
          <p:nvPr/>
        </p:nvSpPr>
        <p:spPr>
          <a:xfrm>
            <a:off x="6419088" y="3136392"/>
            <a:ext cx="548640" cy="548640"/>
          </a:xfrm>
          <a:prstGeom prst="ellipse">
            <a:avLst/>
          </a:prstGeom>
          <a:solidFill>
            <a:srgbClr val="C8571B"/>
          </a:solidFill>
          <a:ln/>
        </p:spPr>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Softmax is applied before nn.CrossEntropyLoss</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sp>
      <p:sp>
        <p:nvSpPr>
          <p:cNvPr id="15" name="Shape 12"/>
          <p:cNvSpPr/>
          <p:nvPr/>
        </p:nvSpPr>
        <p:spPr>
          <a:xfrm>
            <a:off x="777240" y="4553712"/>
            <a:ext cx="548640" cy="548640"/>
          </a:xfrm>
          <a:prstGeom prst="ellipse">
            <a:avLst/>
          </a:prstGeom>
          <a:solidFill>
            <a:srgbClr val="C8571B"/>
          </a:solidFill>
          <a:ln/>
        </p:spPr>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It needs more epochs</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sp>
      <p:sp>
        <p:nvSpPr>
          <p:cNvPr id="19" name="Shape 16"/>
          <p:cNvSpPr/>
          <p:nvPr/>
        </p:nvSpPr>
        <p:spPr>
          <a:xfrm>
            <a:off x="6419088" y="4553712"/>
            <a:ext cx="548640" cy="548640"/>
          </a:xfrm>
          <a:prstGeom prst="ellipse">
            <a:avLst/>
          </a:prstGeom>
          <a:solidFill>
            <a:srgbClr val="C8571B"/>
          </a:solidFill>
          <a:ln/>
        </p:spPr>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The labels should be one-hot</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Pass raw logits to the loss: softmax twice fails silently</a:t>
            </a:r>
            <a:endParaRPr lang="en-US" sz="3200" dirty="0"/>
          </a:p>
        </p:txBody>
      </p:sp>
      <p:graphicFrame>
        <p:nvGraphicFramePr>
          <p:cNvPr id="5" name="Chart 0" descr="Training loss per epoch. Correct model falls to 0.14; double-softmax bug plateaus at 1.56."/>
          <p:cNvGraphicFramePr/>
          <p:nvPr/>
        </p:nvGraphicFramePr>
        <p:xfrm>
          <a:off x="457200" y="1417320"/>
          <a:ext cx="6035040" cy="393192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4206240" y="2743200"/>
            <a:ext cx="1645920" cy="320040"/>
          </a:xfrm>
          <a:prstGeom prst="rect">
            <a:avLst/>
          </a:prstGeom>
          <a:noFill/>
          <a:ln/>
        </p:spPr>
        <p:txBody>
          <a:bodyPr wrap="square" lIns="0" tIns="0" rIns="0" bIns="0" rtlCol="0" anchor="t"/>
          <a:lstStyle/>
          <a:p>
            <a:pPr indent="0" marL="0">
              <a:buNone/>
            </a:pPr>
            <a:r>
              <a:rPr lang="en-US" sz="1500" b="1" dirty="0">
                <a:solidFill>
                  <a:srgbClr val="C8571B"/>
                </a:solidFill>
                <a:latin typeface="Calibri" pitchFamily="34" charset="0"/>
                <a:ea typeface="Calibri" pitchFamily="34" charset="-122"/>
                <a:cs typeface="Calibri" pitchFamily="34" charset="-120"/>
              </a:rPr>
              <a:t>floor ≈ 1.46</a:t>
            </a:r>
            <a:endParaRPr lang="en-US" sz="1500" dirty="0"/>
          </a:p>
        </p:txBody>
      </p:sp>
      <p:sp>
        <p:nvSpPr>
          <p:cNvPr id="7" name="Shape 3"/>
          <p:cNvSpPr/>
          <p:nvPr/>
        </p:nvSpPr>
        <p:spPr>
          <a:xfrm>
            <a:off x="6263640" y="1417320"/>
            <a:ext cx="5376672" cy="2103120"/>
          </a:xfrm>
          <a:prstGeom prst="roundRect">
            <a:avLst>
              <a:gd name="adj" fmla="val 3478"/>
            </a:avLst>
          </a:prstGeom>
          <a:solidFill>
            <a:srgbClr val="F3F5F8"/>
          </a:solidFill>
          <a:ln/>
        </p:spPr>
      </p:sp>
      <p:sp>
        <p:nvSpPr>
          <p:cNvPr id="8" name="Text 4"/>
          <p:cNvSpPr txBox="1"/>
          <p:nvPr/>
        </p:nvSpPr>
        <p:spPr>
          <a:xfrm>
            <a:off x="6464808" y="1554480"/>
            <a:ext cx="493776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WITH THE BUG, FOR K CLASSES</a:t>
            </a:r>
            <a:endParaRPr lang="en-US" sz="1300" dirty="0"/>
          </a:p>
        </p:txBody>
      </p:sp>
      <p:pic>
        <p:nvPicPr>
          <p:cNvPr id="9" name="Image 0" descr="LaTeX: \begin{align*} \ln(K - 1 + e) - 1 \;\le\; &amp;L \;\le\; \ln(K - 1 + e)\\ \textcolor{mu}{K = 10:}\quad 1.46 \;\le\; &amp;L \;\le\; 2.46 \end{align*}">    </p:cNvPr>
          <p:cNvPicPr>
            <a:picLocks noChangeAspect="1"/>
          </p:cNvPicPr>
          <p:nvPr/>
        </p:nvPicPr>
        <p:blipFill>
          <a:blip r:embed="rId2"/>
          <a:stretch>
            <a:fillRect/>
          </a:stretch>
        </p:blipFill>
        <p:spPr>
          <a:xfrm>
            <a:off x="6492240" y="1920240"/>
            <a:ext cx="3973830" cy="597408"/>
          </a:xfrm>
          <a:prstGeom prst="rect">
            <a:avLst/>
          </a:prstGeom>
        </p:spPr>
      </p:pic>
      <p:sp>
        <p:nvSpPr>
          <p:cNvPr id="10" name="Text 5"/>
          <p:cNvSpPr txBox="1"/>
          <p:nvPr/>
        </p:nvSpPr>
        <p:spPr>
          <a:xfrm>
            <a:off x="6464808" y="2834640"/>
            <a:ext cx="5029200" cy="6400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Validation accuracy still 88.1% (vs 89.3%): nothing looks broken.</a:t>
            </a:r>
            <a:endParaRPr lang="en-US" sz="1600" dirty="0"/>
          </a:p>
        </p:txBody>
      </p:sp>
      <p:sp>
        <p:nvSpPr>
          <p:cNvPr id="11" name="Shape 6"/>
          <p:cNvSpPr/>
          <p:nvPr/>
        </p:nvSpPr>
        <p:spPr>
          <a:xfrm>
            <a:off x="6263640" y="3703320"/>
            <a:ext cx="5376672" cy="1463040"/>
          </a:xfrm>
          <a:prstGeom prst="roundRect">
            <a:avLst>
              <a:gd name="adj" fmla="val 5000"/>
            </a:avLst>
          </a:prstGeom>
          <a:solidFill>
            <a:srgbClr val="F3F5F8"/>
          </a:solidFill>
          <a:ln/>
        </p:spPr>
      </p:sp>
      <p:sp>
        <p:nvSpPr>
          <p:cNvPr id="12" name="Text 7"/>
          <p:cNvSpPr txBox="1"/>
          <p:nvPr/>
        </p:nvSpPr>
        <p:spPr>
          <a:xfrm>
            <a:off x="6464808" y="3822192"/>
            <a:ext cx="493776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INSIDE THE FUSED LOSS: LOG-SUM-EXP</a:t>
            </a:r>
            <a:endParaRPr lang="en-US" sz="1300" dirty="0"/>
          </a:p>
        </p:txBody>
      </p:sp>
      <p:pic>
        <p:nvPicPr>
          <p:cNvPr id="13" name="Image 1" descr="LaTeX: \begin{align*} \log\operatorname{softmax}(\z)_k &amp;= z_k - c - \log\sum_j e^{\,z_j - c},\\ c &amp;= \max_j z_j \end{align*}">    </p:cNvPr>
          <p:cNvPicPr>
            <a:picLocks noChangeAspect="1"/>
          </p:cNvPicPr>
          <p:nvPr/>
        </p:nvPicPr>
        <p:blipFill>
          <a:blip r:embed="rId3"/>
          <a:stretch>
            <a:fillRect/>
          </a:stretch>
        </p:blipFill>
        <p:spPr>
          <a:xfrm>
            <a:off x="6492240" y="4133088"/>
            <a:ext cx="3488969" cy="916534"/>
          </a:xfrm>
          <a:prstGeom prst="rect">
            <a:avLst/>
          </a:prstGeom>
        </p:spPr>
      </p:pic>
      <p:sp>
        <p:nvSpPr>
          <p:cNvPr id="14" name="Shape 8"/>
          <p:cNvSpPr/>
          <p:nvPr/>
        </p:nvSpPr>
        <p:spPr>
          <a:xfrm>
            <a:off x="6263640" y="5303520"/>
            <a:ext cx="5376672" cy="822960"/>
          </a:xfrm>
          <a:prstGeom prst="roundRect">
            <a:avLst>
              <a:gd name="adj" fmla="val 8889"/>
            </a:avLst>
          </a:prstGeom>
          <a:solidFill>
            <a:srgbClr val="E2F1F1"/>
          </a:solidFill>
          <a:ln/>
        </p:spPr>
      </p:sp>
      <p:sp>
        <p:nvSpPr>
          <p:cNvPr id="15" name="Text 9"/>
          <p:cNvSpPr txBox="1"/>
          <p:nvPr/>
        </p:nvSpPr>
        <p:spPr>
          <a:xfrm>
            <a:off x="6464808" y="5349240"/>
            <a:ext cx="4974336" cy="731520"/>
          </a:xfrm>
          <a:prstGeom prst="rect">
            <a:avLst/>
          </a:prstGeom>
          <a:noFill/>
          <a:ln/>
        </p:spPr>
        <p:txBody>
          <a:bodyPr wrap="square" lIns="0" tIns="0" rIns="0" bIns="0" rtlCol="0" anchor="ctr"/>
          <a:lstStyle/>
          <a:p>
            <a:pPr indent="0" marL="0">
              <a:buNone/>
            </a:pPr>
            <a:r>
              <a:rPr lang="en-US" sz="1700" b="1" dirty="0">
                <a:solidFill>
                  <a:srgbClr val="0A5559"/>
                </a:solidFill>
                <a:latin typeface="Calibri" pitchFamily="34" charset="0"/>
                <a:ea typeface="Calibri" pitchFamily="34" charset="-122"/>
                <a:cs typeface="Calibri" pitchFamily="34" charset="-120"/>
              </a:rPr>
              <a:t>End the model in raw logits; CrossEntropyLoss applies log-softmax once.</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Backpropagation: every gradient for about 3× a forward pass</a:t>
            </a:r>
            <a:endParaRPr lang="en-US" sz="3200" dirty="0"/>
          </a:p>
        </p:txBody>
      </p:sp>
      <p:sp>
        <p:nvSpPr>
          <p:cNvPr id="5" name="Shape 2"/>
          <p:cNvSpPr/>
          <p:nvPr/>
        </p:nvSpPr>
        <p:spPr>
          <a:xfrm>
            <a:off x="548640" y="1417320"/>
            <a:ext cx="3474720" cy="2331720"/>
          </a:xfrm>
          <a:prstGeom prst="roundRect">
            <a:avLst>
              <a:gd name="adj" fmla="val 3137"/>
            </a:avLst>
          </a:prstGeom>
          <a:solidFill>
            <a:srgbClr val="FBEADF"/>
          </a:solidFill>
          <a:ln/>
        </p:spPr>
      </p:sp>
      <p:sp>
        <p:nvSpPr>
          <p:cNvPr id="6" name="Text 3"/>
          <p:cNvSpPr txBox="1"/>
          <p:nvPr/>
        </p:nvSpPr>
        <p:spPr>
          <a:xfrm>
            <a:off x="749808" y="1572768"/>
            <a:ext cx="301752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FINITE DIFFERENCES</a:t>
            </a:r>
            <a:endParaRPr lang="en-US" sz="1300" dirty="0"/>
          </a:p>
        </p:txBody>
      </p:sp>
      <p:sp>
        <p:nvSpPr>
          <p:cNvPr id="7" name="Text 4"/>
          <p:cNvSpPr txBox="1"/>
          <p:nvPr/>
        </p:nvSpPr>
        <p:spPr>
          <a:xfrm>
            <a:off x="749808" y="1874520"/>
            <a:ext cx="3017520" cy="822960"/>
          </a:xfrm>
          <a:prstGeom prst="rect">
            <a:avLst/>
          </a:prstGeom>
          <a:noFill/>
          <a:ln/>
        </p:spPr>
        <p:txBody>
          <a:bodyPr wrap="square" lIns="0" tIns="0" rIns="0" bIns="0" rtlCol="0" anchor="t"/>
          <a:lstStyle/>
          <a:p>
            <a:pPr indent="0" marL="0">
              <a:buNone/>
            </a:pPr>
            <a:r>
              <a:rPr lang="en-US" sz="4800" b="1" dirty="0">
                <a:solidFill>
                  <a:srgbClr val="C8571B"/>
                </a:solidFill>
                <a:latin typeface="Cambria" pitchFamily="34" charset="0"/>
                <a:ea typeface="Cambria" pitchFamily="34" charset="-122"/>
                <a:cs typeface="Cambria" pitchFamily="34" charset="-120"/>
              </a:rPr>
              <a:t>10⁸</a:t>
            </a:r>
            <a:endParaRPr lang="en-US" sz="4800" dirty="0"/>
          </a:p>
        </p:txBody>
      </p:sp>
      <p:sp>
        <p:nvSpPr>
          <p:cNvPr id="8" name="Text 5"/>
          <p:cNvSpPr txBox="1"/>
          <p:nvPr/>
        </p:nvSpPr>
        <p:spPr>
          <a:xfrm>
            <a:off x="749808" y="2788920"/>
            <a:ext cx="3108960" cy="86868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forward passes per step for 10⁸ parameters</a:t>
            </a:r>
            <a:endParaRPr lang="en-US" sz="1700" dirty="0"/>
          </a:p>
        </p:txBody>
      </p:sp>
      <p:sp>
        <p:nvSpPr>
          <p:cNvPr id="9" name="Shape 6"/>
          <p:cNvSpPr/>
          <p:nvPr/>
        </p:nvSpPr>
        <p:spPr>
          <a:xfrm>
            <a:off x="4206240" y="1417320"/>
            <a:ext cx="3474720" cy="2331720"/>
          </a:xfrm>
          <a:prstGeom prst="roundRect">
            <a:avLst>
              <a:gd name="adj" fmla="val 3137"/>
            </a:avLst>
          </a:prstGeom>
          <a:solidFill>
            <a:srgbClr val="E2F1F1"/>
          </a:solidFill>
          <a:ln/>
        </p:spPr>
      </p:sp>
      <p:sp>
        <p:nvSpPr>
          <p:cNvPr id="10" name="Text 7"/>
          <p:cNvSpPr txBox="1"/>
          <p:nvPr/>
        </p:nvSpPr>
        <p:spPr>
          <a:xfrm>
            <a:off x="4407408" y="1572768"/>
            <a:ext cx="301752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BACKPROPAGATION</a:t>
            </a:r>
            <a:endParaRPr lang="en-US" sz="1300" dirty="0"/>
          </a:p>
        </p:txBody>
      </p:sp>
      <p:sp>
        <p:nvSpPr>
          <p:cNvPr id="11" name="Text 8"/>
          <p:cNvSpPr txBox="1"/>
          <p:nvPr/>
        </p:nvSpPr>
        <p:spPr>
          <a:xfrm>
            <a:off x="4407408" y="1874520"/>
            <a:ext cx="3017520" cy="822960"/>
          </a:xfrm>
          <a:prstGeom prst="rect">
            <a:avLst/>
          </a:prstGeom>
          <a:noFill/>
          <a:ln/>
        </p:spPr>
        <p:txBody>
          <a:bodyPr wrap="square" lIns="0" tIns="0" rIns="0" bIns="0" rtlCol="0" anchor="t"/>
          <a:lstStyle/>
          <a:p>
            <a:pPr indent="0" marL="0">
              <a:buNone/>
            </a:pPr>
            <a:r>
              <a:rPr lang="en-US" sz="4800" b="1" dirty="0">
                <a:solidFill>
                  <a:srgbClr val="0F7C82"/>
                </a:solidFill>
                <a:latin typeface="Cambria" pitchFamily="34" charset="0"/>
                <a:ea typeface="Cambria" pitchFamily="34" charset="-122"/>
                <a:cs typeface="Cambria" pitchFamily="34" charset="-120"/>
              </a:rPr>
              <a:t>≈ 3×</a:t>
            </a:r>
            <a:endParaRPr lang="en-US" sz="4800" dirty="0"/>
          </a:p>
        </p:txBody>
      </p:sp>
      <p:sp>
        <p:nvSpPr>
          <p:cNvPr id="12" name="Text 9"/>
          <p:cNvSpPr txBox="1"/>
          <p:nvPr/>
        </p:nvSpPr>
        <p:spPr>
          <a:xfrm>
            <a:off x="4407408" y="2788920"/>
            <a:ext cx="3108960" cy="86868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one forward pass, for every gradient at once</a:t>
            </a:r>
            <a:endParaRPr lang="en-US" sz="1700" dirty="0"/>
          </a:p>
        </p:txBody>
      </p:sp>
      <p:sp>
        <p:nvSpPr>
          <p:cNvPr id="13" name="Shape 10"/>
          <p:cNvSpPr/>
          <p:nvPr/>
        </p:nvSpPr>
        <p:spPr>
          <a:xfrm>
            <a:off x="731520" y="4206240"/>
            <a:ext cx="658368" cy="658368"/>
          </a:xfrm>
          <a:prstGeom prst="ellipse">
            <a:avLst/>
          </a:prstGeom>
          <a:solidFill>
            <a:srgbClr val="FFFFFF"/>
          </a:solidFill>
          <a:ln w="15875">
            <a:solidFill>
              <a:srgbClr val="8A94A3"/>
            </a:solidFill>
            <a:prstDash val="solid"/>
          </a:ln>
        </p:spPr>
      </p:sp>
      <p:sp>
        <p:nvSpPr>
          <p:cNvPr id="14" name="Text 11"/>
          <p:cNvSpPr txBox="1"/>
          <p:nvPr/>
        </p:nvSpPr>
        <p:spPr>
          <a:xfrm>
            <a:off x="731520" y="4206240"/>
            <a:ext cx="658368" cy="658368"/>
          </a:xfrm>
          <a:prstGeom prst="rect">
            <a:avLst/>
          </a:prstGeom>
          <a:noFill/>
          <a:ln/>
        </p:spPr>
        <p:txBody>
          <a:bodyPr wrap="square" lIns="0" tIns="0" rIns="0" bIns="0" rtlCol="0" anchor="ctr"/>
          <a:lstStyle/>
          <a:p>
            <a:pPr algn="ctr" indent="0" marL="0">
              <a:buNone/>
            </a:pPr>
            <a:r>
              <a:rPr lang="en-US" sz="2200" i="1" dirty="0">
                <a:solidFill>
                  <a:srgbClr val="17202E"/>
                </a:solidFill>
                <a:latin typeface="Cambria" pitchFamily="34" charset="0"/>
                <a:ea typeface="Cambria" pitchFamily="34" charset="-122"/>
                <a:cs typeface="Cambria" pitchFamily="34" charset="-120"/>
              </a:rPr>
              <a:t>x</a:t>
            </a:r>
            <a:endParaRPr lang="en-US" sz="2200" dirty="0"/>
          </a:p>
        </p:txBody>
      </p:sp>
      <p:sp>
        <p:nvSpPr>
          <p:cNvPr id="15" name="Shape 12"/>
          <p:cNvSpPr/>
          <p:nvPr/>
        </p:nvSpPr>
        <p:spPr>
          <a:xfrm>
            <a:off x="1408176" y="4407408"/>
            <a:ext cx="905256" cy="91"/>
          </a:xfrm>
          <a:prstGeom prst="line">
            <a:avLst/>
          </a:prstGeom>
          <a:noFill/>
          <a:ln w="22225">
            <a:solidFill>
              <a:srgbClr val="0F7C82"/>
            </a:solidFill>
            <a:prstDash val="solid"/>
            <a:tailEnd type="triangle"/>
          </a:ln>
        </p:spPr>
      </p:sp>
      <p:sp>
        <p:nvSpPr>
          <p:cNvPr id="16" name="Shape 13"/>
          <p:cNvSpPr/>
          <p:nvPr/>
        </p:nvSpPr>
        <p:spPr>
          <a:xfrm flipH="1">
            <a:off x="1408176" y="4681728"/>
            <a:ext cx="905256" cy="91"/>
          </a:xfrm>
          <a:prstGeom prst="line">
            <a:avLst/>
          </a:prstGeom>
          <a:noFill/>
          <a:ln w="22225">
            <a:solidFill>
              <a:srgbClr val="C8571B"/>
            </a:solidFill>
            <a:prstDash val="solid"/>
            <a:tailEnd type="triangle"/>
          </a:ln>
        </p:spPr>
      </p:sp>
      <p:sp>
        <p:nvSpPr>
          <p:cNvPr id="17" name="Shape 14"/>
          <p:cNvSpPr/>
          <p:nvPr/>
        </p:nvSpPr>
        <p:spPr>
          <a:xfrm>
            <a:off x="2331720" y="4206240"/>
            <a:ext cx="658368" cy="658368"/>
          </a:xfrm>
          <a:prstGeom prst="ellipse">
            <a:avLst/>
          </a:prstGeom>
          <a:solidFill>
            <a:srgbClr val="FFFFFF"/>
          </a:solidFill>
          <a:ln w="15875">
            <a:solidFill>
              <a:srgbClr val="8A94A3"/>
            </a:solidFill>
            <a:prstDash val="solid"/>
          </a:ln>
        </p:spPr>
      </p:sp>
      <p:sp>
        <p:nvSpPr>
          <p:cNvPr id="18" name="Text 15"/>
          <p:cNvSpPr txBox="1"/>
          <p:nvPr/>
        </p:nvSpPr>
        <p:spPr>
          <a:xfrm>
            <a:off x="2331720" y="4206240"/>
            <a:ext cx="658368" cy="658368"/>
          </a:xfrm>
          <a:prstGeom prst="rect">
            <a:avLst/>
          </a:prstGeom>
          <a:noFill/>
          <a:ln/>
        </p:spPr>
        <p:txBody>
          <a:bodyPr wrap="square" lIns="0" tIns="0" rIns="0" bIns="0" rtlCol="0" anchor="ctr"/>
          <a:lstStyle/>
          <a:p>
            <a:pPr algn="ctr" indent="0" marL="0">
              <a:buNone/>
            </a:pPr>
            <a:r>
              <a:rPr lang="en-US" sz="2200" i="1" dirty="0">
                <a:solidFill>
                  <a:srgbClr val="17202E"/>
                </a:solidFill>
                <a:latin typeface="Cambria" pitchFamily="34" charset="0"/>
                <a:ea typeface="Cambria" pitchFamily="34" charset="-122"/>
                <a:cs typeface="Cambria" pitchFamily="34" charset="-120"/>
              </a:rPr>
              <a:t>a</a:t>
            </a:r>
            <a:endParaRPr lang="en-US" sz="2200" dirty="0"/>
          </a:p>
        </p:txBody>
      </p:sp>
      <p:sp>
        <p:nvSpPr>
          <p:cNvPr id="19" name="Shape 16"/>
          <p:cNvSpPr/>
          <p:nvPr/>
        </p:nvSpPr>
        <p:spPr>
          <a:xfrm>
            <a:off x="3008376" y="4407408"/>
            <a:ext cx="905256" cy="91"/>
          </a:xfrm>
          <a:prstGeom prst="line">
            <a:avLst/>
          </a:prstGeom>
          <a:noFill/>
          <a:ln w="22225">
            <a:solidFill>
              <a:srgbClr val="0F7C82"/>
            </a:solidFill>
            <a:prstDash val="solid"/>
            <a:tailEnd type="triangle"/>
          </a:ln>
        </p:spPr>
      </p:sp>
      <p:sp>
        <p:nvSpPr>
          <p:cNvPr id="20" name="Shape 17"/>
          <p:cNvSpPr/>
          <p:nvPr/>
        </p:nvSpPr>
        <p:spPr>
          <a:xfrm flipH="1">
            <a:off x="3008376" y="4681728"/>
            <a:ext cx="905256" cy="91"/>
          </a:xfrm>
          <a:prstGeom prst="line">
            <a:avLst/>
          </a:prstGeom>
          <a:noFill/>
          <a:ln w="22225">
            <a:solidFill>
              <a:srgbClr val="C8571B"/>
            </a:solidFill>
            <a:prstDash val="solid"/>
            <a:tailEnd type="triangle"/>
          </a:ln>
        </p:spPr>
      </p:sp>
      <p:sp>
        <p:nvSpPr>
          <p:cNvPr id="21" name="Shape 18"/>
          <p:cNvSpPr/>
          <p:nvPr/>
        </p:nvSpPr>
        <p:spPr>
          <a:xfrm>
            <a:off x="3931920" y="4206240"/>
            <a:ext cx="658368" cy="658368"/>
          </a:xfrm>
          <a:prstGeom prst="ellipse">
            <a:avLst/>
          </a:prstGeom>
          <a:solidFill>
            <a:srgbClr val="FFFFFF"/>
          </a:solidFill>
          <a:ln w="15875">
            <a:solidFill>
              <a:srgbClr val="8A94A3"/>
            </a:solidFill>
            <a:prstDash val="solid"/>
          </a:ln>
        </p:spPr>
      </p:sp>
      <p:sp>
        <p:nvSpPr>
          <p:cNvPr id="22" name="Text 19"/>
          <p:cNvSpPr txBox="1"/>
          <p:nvPr/>
        </p:nvSpPr>
        <p:spPr>
          <a:xfrm>
            <a:off x="3931920" y="4206240"/>
            <a:ext cx="658368" cy="658368"/>
          </a:xfrm>
          <a:prstGeom prst="rect">
            <a:avLst/>
          </a:prstGeom>
          <a:noFill/>
          <a:ln/>
        </p:spPr>
        <p:txBody>
          <a:bodyPr wrap="square" lIns="0" tIns="0" rIns="0" bIns="0" rtlCol="0" anchor="ctr"/>
          <a:lstStyle/>
          <a:p>
            <a:pPr algn="ctr" indent="0" marL="0">
              <a:buNone/>
            </a:pPr>
            <a:r>
              <a:rPr lang="en-US" sz="2200" i="1" dirty="0">
                <a:solidFill>
                  <a:srgbClr val="17202E"/>
                </a:solidFill>
                <a:latin typeface="Cambria" pitchFamily="34" charset="0"/>
                <a:ea typeface="Cambria" pitchFamily="34" charset="-122"/>
                <a:cs typeface="Cambria" pitchFamily="34" charset="-120"/>
              </a:rPr>
              <a:t>b</a:t>
            </a:r>
            <a:endParaRPr lang="en-US" sz="2200" dirty="0"/>
          </a:p>
        </p:txBody>
      </p:sp>
      <p:sp>
        <p:nvSpPr>
          <p:cNvPr id="23" name="Shape 20"/>
          <p:cNvSpPr/>
          <p:nvPr/>
        </p:nvSpPr>
        <p:spPr>
          <a:xfrm>
            <a:off x="4608576" y="4407408"/>
            <a:ext cx="905256" cy="91"/>
          </a:xfrm>
          <a:prstGeom prst="line">
            <a:avLst/>
          </a:prstGeom>
          <a:noFill/>
          <a:ln w="22225">
            <a:solidFill>
              <a:srgbClr val="0F7C82"/>
            </a:solidFill>
            <a:prstDash val="solid"/>
            <a:tailEnd type="triangle"/>
          </a:ln>
        </p:spPr>
      </p:sp>
      <p:sp>
        <p:nvSpPr>
          <p:cNvPr id="24" name="Shape 21"/>
          <p:cNvSpPr/>
          <p:nvPr/>
        </p:nvSpPr>
        <p:spPr>
          <a:xfrm flipH="1">
            <a:off x="4608576" y="4681728"/>
            <a:ext cx="905256" cy="91"/>
          </a:xfrm>
          <a:prstGeom prst="line">
            <a:avLst/>
          </a:prstGeom>
          <a:noFill/>
          <a:ln w="22225">
            <a:solidFill>
              <a:srgbClr val="C8571B"/>
            </a:solidFill>
            <a:prstDash val="solid"/>
            <a:tailEnd type="triangle"/>
          </a:ln>
        </p:spPr>
      </p:sp>
      <p:sp>
        <p:nvSpPr>
          <p:cNvPr id="25" name="Shape 22"/>
          <p:cNvSpPr/>
          <p:nvPr/>
        </p:nvSpPr>
        <p:spPr>
          <a:xfrm>
            <a:off x="5532120" y="4206240"/>
            <a:ext cx="658368" cy="658368"/>
          </a:xfrm>
          <a:prstGeom prst="ellipse">
            <a:avLst/>
          </a:prstGeom>
          <a:solidFill>
            <a:srgbClr val="FFFFFF"/>
          </a:solidFill>
          <a:ln w="15875">
            <a:solidFill>
              <a:srgbClr val="8A94A3"/>
            </a:solidFill>
            <a:prstDash val="solid"/>
          </a:ln>
        </p:spPr>
      </p:sp>
      <p:sp>
        <p:nvSpPr>
          <p:cNvPr id="26" name="Text 23"/>
          <p:cNvSpPr txBox="1"/>
          <p:nvPr/>
        </p:nvSpPr>
        <p:spPr>
          <a:xfrm>
            <a:off x="5532120" y="4206240"/>
            <a:ext cx="658368" cy="658368"/>
          </a:xfrm>
          <a:prstGeom prst="rect">
            <a:avLst/>
          </a:prstGeom>
          <a:noFill/>
          <a:ln/>
        </p:spPr>
        <p:txBody>
          <a:bodyPr wrap="square" lIns="0" tIns="0" rIns="0" bIns="0" rtlCol="0" anchor="ctr"/>
          <a:lstStyle/>
          <a:p>
            <a:pPr algn="ctr" indent="0" marL="0">
              <a:buNone/>
            </a:pPr>
            <a:r>
              <a:rPr lang="en-US" sz="2200" i="1" dirty="0">
                <a:solidFill>
                  <a:srgbClr val="17202E"/>
                </a:solidFill>
                <a:latin typeface="Cambria" pitchFamily="34" charset="0"/>
                <a:ea typeface="Cambria" pitchFamily="34" charset="-122"/>
                <a:cs typeface="Cambria" pitchFamily="34" charset="-120"/>
              </a:rPr>
              <a:t>c</a:t>
            </a:r>
            <a:endParaRPr lang="en-US" sz="2200" dirty="0"/>
          </a:p>
        </p:txBody>
      </p:sp>
      <p:sp>
        <p:nvSpPr>
          <p:cNvPr id="27" name="Shape 24"/>
          <p:cNvSpPr/>
          <p:nvPr/>
        </p:nvSpPr>
        <p:spPr>
          <a:xfrm>
            <a:off x="6208776" y="4407408"/>
            <a:ext cx="905256" cy="91"/>
          </a:xfrm>
          <a:prstGeom prst="line">
            <a:avLst/>
          </a:prstGeom>
          <a:noFill/>
          <a:ln w="22225">
            <a:solidFill>
              <a:srgbClr val="0F7C82"/>
            </a:solidFill>
            <a:prstDash val="solid"/>
            <a:tailEnd type="triangle"/>
          </a:ln>
        </p:spPr>
      </p:sp>
      <p:sp>
        <p:nvSpPr>
          <p:cNvPr id="28" name="Shape 25"/>
          <p:cNvSpPr/>
          <p:nvPr/>
        </p:nvSpPr>
        <p:spPr>
          <a:xfrm flipH="1">
            <a:off x="6208776" y="4681728"/>
            <a:ext cx="905256" cy="91"/>
          </a:xfrm>
          <a:prstGeom prst="line">
            <a:avLst/>
          </a:prstGeom>
          <a:noFill/>
          <a:ln w="22225">
            <a:solidFill>
              <a:srgbClr val="C8571B"/>
            </a:solidFill>
            <a:prstDash val="solid"/>
            <a:tailEnd type="triangle"/>
          </a:ln>
        </p:spPr>
      </p:sp>
      <p:sp>
        <p:nvSpPr>
          <p:cNvPr id="29" name="Shape 26"/>
          <p:cNvSpPr/>
          <p:nvPr/>
        </p:nvSpPr>
        <p:spPr>
          <a:xfrm>
            <a:off x="7132320" y="4206240"/>
            <a:ext cx="658368" cy="658368"/>
          </a:xfrm>
          <a:prstGeom prst="ellipse">
            <a:avLst/>
          </a:prstGeom>
          <a:solidFill>
            <a:srgbClr val="17202E"/>
          </a:solidFill>
          <a:ln/>
        </p:spPr>
      </p:sp>
      <p:sp>
        <p:nvSpPr>
          <p:cNvPr id="30" name="Text 27"/>
          <p:cNvSpPr txBox="1"/>
          <p:nvPr/>
        </p:nvSpPr>
        <p:spPr>
          <a:xfrm>
            <a:off x="7132320" y="4206240"/>
            <a:ext cx="658368" cy="658368"/>
          </a:xfrm>
          <a:prstGeom prst="rect">
            <a:avLst/>
          </a:prstGeom>
          <a:noFill/>
          <a:ln/>
        </p:spPr>
        <p:txBody>
          <a:bodyPr wrap="square" lIns="0" tIns="0" rIns="0" bIns="0" rtlCol="0" anchor="ctr"/>
          <a:lstStyle/>
          <a:p>
            <a:pPr algn="ctr" indent="0" marL="0">
              <a:buNone/>
            </a:pPr>
            <a:r>
              <a:rPr lang="en-US" sz="2200" i="1" dirty="0">
                <a:solidFill>
                  <a:srgbClr val="FFFFFF"/>
                </a:solidFill>
                <a:latin typeface="Cambria" pitchFamily="34" charset="0"/>
                <a:ea typeface="Cambria" pitchFamily="34" charset="-122"/>
                <a:cs typeface="Cambria" pitchFamily="34" charset="-120"/>
              </a:rPr>
              <a:t>J</a:t>
            </a:r>
            <a:endParaRPr lang="en-US" sz="2200" dirty="0"/>
          </a:p>
        </p:txBody>
      </p:sp>
      <p:sp>
        <p:nvSpPr>
          <p:cNvPr id="31" name="Text 28"/>
          <p:cNvSpPr txBox="1"/>
          <p:nvPr/>
        </p:nvSpPr>
        <p:spPr>
          <a:xfrm>
            <a:off x="731520" y="3794760"/>
            <a:ext cx="2743200" cy="320040"/>
          </a:xfrm>
          <a:prstGeom prst="rect">
            <a:avLst/>
          </a:prstGeom>
          <a:noFill/>
          <a:ln/>
        </p:spPr>
        <p:txBody>
          <a:bodyPr wrap="square" lIns="0" tIns="0" rIns="0" bIns="0" rtlCol="0" anchor="t"/>
          <a:lstStyle/>
          <a:p>
            <a:pPr indent="0" marL="0">
              <a:buNone/>
            </a:pPr>
            <a:r>
              <a:rPr lang="en-US" sz="1500" b="1" dirty="0">
                <a:solidFill>
                  <a:srgbClr val="0F7C82"/>
                </a:solidFill>
                <a:latin typeface="Calibri" pitchFamily="34" charset="0"/>
                <a:ea typeface="Calibri" pitchFamily="34" charset="-122"/>
                <a:cs typeface="Calibri" pitchFamily="34" charset="-120"/>
              </a:rPr>
              <a:t>forward: values</a:t>
            </a:r>
            <a:endParaRPr lang="en-US" sz="1500" dirty="0"/>
          </a:p>
        </p:txBody>
      </p:sp>
      <p:sp>
        <p:nvSpPr>
          <p:cNvPr id="32" name="Text 29"/>
          <p:cNvSpPr txBox="1"/>
          <p:nvPr/>
        </p:nvSpPr>
        <p:spPr>
          <a:xfrm>
            <a:off x="731520" y="4983480"/>
            <a:ext cx="6583680" cy="320040"/>
          </a:xfrm>
          <a:prstGeom prst="rect">
            <a:avLst/>
          </a:prstGeom>
          <a:noFill/>
          <a:ln/>
        </p:spPr>
        <p:txBody>
          <a:bodyPr wrap="square" lIns="0" tIns="0" rIns="0" bIns="0" rtlCol="0" anchor="t"/>
          <a:lstStyle/>
          <a:p>
            <a:pPr indent="0" marL="0">
              <a:buNone/>
            </a:pPr>
            <a:r>
              <a:rPr lang="en-US" sz="1500" b="1" dirty="0">
                <a:solidFill>
                  <a:srgbClr val="C8571B"/>
                </a:solidFill>
                <a:latin typeface="Calibri" pitchFamily="34" charset="0"/>
                <a:ea typeface="Calibri" pitchFamily="34" charset="-122"/>
                <a:cs typeface="Calibri" pitchFamily="34" charset="-120"/>
              </a:rPr>
              <a:t>backward: reuse the product to the right</a:t>
            </a:r>
            <a:endParaRPr lang="en-US" sz="1500" dirty="0"/>
          </a:p>
        </p:txBody>
      </p:sp>
      <p:pic>
        <p:nvPicPr>
          <p:cNvPr id="33" name="Image 0" descr="LaTeX: $\displaystyle \frac{\partial J}{\partial x} = \frac{\partial J}{\partial c}\,\frac{\partial c}{\partial b}\,\frac{\partial b}{\partial a}\,\frac{\partial a}{\partial x}$">    </p:cNvPr>
          <p:cNvPicPr>
            <a:picLocks noChangeAspect="1"/>
          </p:cNvPicPr>
          <p:nvPr/>
        </p:nvPicPr>
        <p:blipFill>
          <a:blip r:embed="rId1"/>
          <a:stretch>
            <a:fillRect/>
          </a:stretch>
        </p:blipFill>
        <p:spPr>
          <a:xfrm>
            <a:off x="2103120" y="5349240"/>
            <a:ext cx="1458163" cy="388315"/>
          </a:xfrm>
          <a:prstGeom prst="rect">
            <a:avLst/>
          </a:prstGeom>
        </p:spPr>
      </p:pic>
      <p:sp>
        <p:nvSpPr>
          <p:cNvPr id="34" name="Shape 30"/>
          <p:cNvSpPr/>
          <p:nvPr/>
        </p:nvSpPr>
        <p:spPr>
          <a:xfrm>
            <a:off x="7909560" y="1463040"/>
            <a:ext cx="402336" cy="402336"/>
          </a:xfrm>
          <a:prstGeom prst="ellipse">
            <a:avLst/>
          </a:prstGeom>
          <a:solidFill>
            <a:srgbClr val="0F7C82"/>
          </a:solidFill>
          <a:ln/>
        </p:spPr>
      </p:sp>
      <p:sp>
        <p:nvSpPr>
          <p:cNvPr id="35" name="Text 31"/>
          <p:cNvSpPr txBox="1"/>
          <p:nvPr/>
        </p:nvSpPr>
        <p:spPr>
          <a:xfrm>
            <a:off x="7909560" y="14630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36" name="Text 32"/>
          <p:cNvSpPr txBox="1"/>
          <p:nvPr/>
        </p:nvSpPr>
        <p:spPr>
          <a:xfrm>
            <a:off x="8513064" y="1444752"/>
            <a:ext cx="312724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It is the chain rule</a:t>
            </a:r>
            <a:endParaRPr lang="en-US" sz="1800" dirty="0"/>
          </a:p>
        </p:txBody>
      </p:sp>
      <p:sp>
        <p:nvSpPr>
          <p:cNvPr id="37" name="Text 33"/>
          <p:cNvSpPr txBox="1"/>
          <p:nvPr/>
        </p:nvSpPr>
        <p:spPr>
          <a:xfrm>
            <a:off x="8513064" y="1810512"/>
            <a:ext cx="3127248" cy="10972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On the computation graph, summed over paths.</a:t>
            </a:r>
            <a:endParaRPr lang="en-US" sz="1600" dirty="0"/>
          </a:p>
        </p:txBody>
      </p:sp>
      <p:sp>
        <p:nvSpPr>
          <p:cNvPr id="38" name="Shape 34"/>
          <p:cNvSpPr/>
          <p:nvPr/>
        </p:nvSpPr>
        <p:spPr>
          <a:xfrm>
            <a:off x="7909560" y="2926080"/>
            <a:ext cx="402336" cy="402336"/>
          </a:xfrm>
          <a:prstGeom prst="ellipse">
            <a:avLst/>
          </a:prstGeom>
          <a:solidFill>
            <a:srgbClr val="0F7C82"/>
          </a:solidFill>
          <a:ln/>
        </p:spPr>
      </p:sp>
      <p:sp>
        <p:nvSpPr>
          <p:cNvPr id="39" name="Text 35"/>
          <p:cNvSpPr txBox="1"/>
          <p:nvPr/>
        </p:nvSpPr>
        <p:spPr>
          <a:xfrm>
            <a:off x="7909560" y="292608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40" name="Text 36"/>
          <p:cNvSpPr txBox="1"/>
          <p:nvPr/>
        </p:nvSpPr>
        <p:spPr>
          <a:xfrm>
            <a:off x="8513064" y="2907792"/>
            <a:ext cx="312724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Reverse mode reuses work</a:t>
            </a:r>
            <a:endParaRPr lang="en-US" sz="1800" dirty="0"/>
          </a:p>
        </p:txBody>
      </p:sp>
      <p:sp>
        <p:nvSpPr>
          <p:cNvPr id="41" name="Text 37"/>
          <p:cNvSpPr txBox="1"/>
          <p:nvPr/>
        </p:nvSpPr>
        <p:spPr>
          <a:xfrm>
            <a:off x="8513064" y="3273552"/>
            <a:ext cx="3127248" cy="10972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One backward sweep: ideal for one loss, many parameters.</a:t>
            </a:r>
            <a:endParaRPr lang="en-US" sz="1600" dirty="0"/>
          </a:p>
        </p:txBody>
      </p:sp>
      <p:sp>
        <p:nvSpPr>
          <p:cNvPr id="42" name="Shape 38"/>
          <p:cNvSpPr/>
          <p:nvPr/>
        </p:nvSpPr>
        <p:spPr>
          <a:xfrm>
            <a:off x="7909560" y="4389120"/>
            <a:ext cx="402336" cy="402336"/>
          </a:xfrm>
          <a:prstGeom prst="ellipse">
            <a:avLst/>
          </a:prstGeom>
          <a:solidFill>
            <a:srgbClr val="C8571B"/>
          </a:solidFill>
          <a:ln/>
        </p:spPr>
      </p:sp>
      <p:sp>
        <p:nvSpPr>
          <p:cNvPr id="43" name="Text 39"/>
          <p:cNvSpPr txBox="1"/>
          <p:nvPr/>
        </p:nvSpPr>
        <p:spPr>
          <a:xfrm>
            <a:off x="7909560" y="438912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44" name="Text 40"/>
          <p:cNvSpPr txBox="1"/>
          <p:nvPr/>
        </p:nvSpPr>
        <p:spPr>
          <a:xfrm>
            <a:off x="8513064" y="4370832"/>
            <a:ext cx="312724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Not the learning rule</a:t>
            </a:r>
            <a:endParaRPr lang="en-US" sz="1800" dirty="0"/>
          </a:p>
        </p:txBody>
      </p:sp>
      <p:sp>
        <p:nvSpPr>
          <p:cNvPr id="45" name="Text 41"/>
          <p:cNvSpPr txBox="1"/>
          <p:nvPr/>
        </p:nvSpPr>
        <p:spPr>
          <a:xfrm>
            <a:off x="8513064" y="4736592"/>
            <a:ext cx="3127248" cy="10972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Backprop computes gradients; SGD or Adam uses them.</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Worked example: forward, then backward, by hand</a:t>
            </a:r>
            <a:endParaRPr lang="en-US" sz="3200" dirty="0"/>
          </a:p>
        </p:txBody>
      </p:sp>
      <p:sp>
        <p:nvSpPr>
          <p:cNvPr id="5" name="Shape 2"/>
          <p:cNvSpPr/>
          <p:nvPr/>
        </p:nvSpPr>
        <p:spPr>
          <a:xfrm>
            <a:off x="822960" y="2011680"/>
            <a:ext cx="749808" cy="749808"/>
          </a:xfrm>
          <a:prstGeom prst="ellipse">
            <a:avLst/>
          </a:prstGeom>
          <a:solidFill>
            <a:srgbClr val="FFFFFF"/>
          </a:solidFill>
          <a:ln w="15875">
            <a:solidFill>
              <a:srgbClr val="8A94A3"/>
            </a:solidFill>
            <a:prstDash val="solid"/>
          </a:ln>
        </p:spPr>
      </p:sp>
      <p:sp>
        <p:nvSpPr>
          <p:cNvPr id="6" name="Text 3"/>
          <p:cNvSpPr txBox="1"/>
          <p:nvPr/>
        </p:nvSpPr>
        <p:spPr>
          <a:xfrm>
            <a:off x="82296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x</a:t>
            </a:r>
            <a:endParaRPr lang="en-US" sz="2100" dirty="0"/>
          </a:p>
        </p:txBody>
      </p:sp>
      <p:sp>
        <p:nvSpPr>
          <p:cNvPr id="7" name="Text 4"/>
          <p:cNvSpPr txBox="1"/>
          <p:nvPr/>
        </p:nvSpPr>
        <p:spPr>
          <a:xfrm>
            <a:off x="4114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a:t>
            </a:r>
            <a:endParaRPr lang="en-US" sz="1800" dirty="0"/>
          </a:p>
        </p:txBody>
      </p:sp>
      <p:sp>
        <p:nvSpPr>
          <p:cNvPr id="8" name="Shape 5"/>
          <p:cNvSpPr/>
          <p:nvPr/>
        </p:nvSpPr>
        <p:spPr>
          <a:xfrm>
            <a:off x="1591056" y="2295144"/>
            <a:ext cx="1225296" cy="91"/>
          </a:xfrm>
          <a:prstGeom prst="line">
            <a:avLst/>
          </a:prstGeom>
          <a:noFill/>
          <a:ln w="22225">
            <a:solidFill>
              <a:srgbClr val="0F7C82"/>
            </a:solidFill>
            <a:prstDash val="solid"/>
            <a:tailEnd type="triangle"/>
          </a:ln>
        </p:spPr>
      </p:sp>
      <p:sp>
        <p:nvSpPr>
          <p:cNvPr id="9" name="Text 6"/>
          <p:cNvSpPr txBox="1"/>
          <p:nvPr/>
        </p:nvSpPr>
        <p:spPr>
          <a:xfrm>
            <a:off x="157276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w₁, b₁</a:t>
            </a:r>
            <a:endParaRPr lang="en-US" sz="1400" dirty="0"/>
          </a:p>
        </p:txBody>
      </p:sp>
      <p:sp>
        <p:nvSpPr>
          <p:cNvPr id="10" name="Shape 7"/>
          <p:cNvSpPr/>
          <p:nvPr/>
        </p:nvSpPr>
        <p:spPr>
          <a:xfrm>
            <a:off x="2834640" y="2011680"/>
            <a:ext cx="749808" cy="749808"/>
          </a:xfrm>
          <a:prstGeom prst="ellipse">
            <a:avLst/>
          </a:prstGeom>
          <a:solidFill>
            <a:srgbClr val="FFFFFF"/>
          </a:solidFill>
          <a:ln w="15875">
            <a:solidFill>
              <a:srgbClr val="8A94A3"/>
            </a:solidFill>
            <a:prstDash val="solid"/>
          </a:ln>
        </p:spPr>
      </p:sp>
      <p:sp>
        <p:nvSpPr>
          <p:cNvPr id="11" name="Text 8"/>
          <p:cNvSpPr txBox="1"/>
          <p:nvPr/>
        </p:nvSpPr>
        <p:spPr>
          <a:xfrm>
            <a:off x="283464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12" name="Text 9"/>
          <p:cNvSpPr txBox="1"/>
          <p:nvPr/>
        </p:nvSpPr>
        <p:spPr>
          <a:xfrm>
            <a:off x="242316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1.1</a:t>
            </a:r>
            <a:endParaRPr lang="en-US" sz="1800" dirty="0"/>
          </a:p>
        </p:txBody>
      </p:sp>
      <p:sp>
        <p:nvSpPr>
          <p:cNvPr id="13" name="Shape 10"/>
          <p:cNvSpPr/>
          <p:nvPr/>
        </p:nvSpPr>
        <p:spPr>
          <a:xfrm>
            <a:off x="3602736" y="2295144"/>
            <a:ext cx="1225296" cy="91"/>
          </a:xfrm>
          <a:prstGeom prst="line">
            <a:avLst/>
          </a:prstGeom>
          <a:noFill/>
          <a:ln w="22225">
            <a:solidFill>
              <a:srgbClr val="0F7C82"/>
            </a:solidFill>
            <a:prstDash val="solid"/>
            <a:tailEnd type="triangle"/>
          </a:ln>
        </p:spPr>
      </p:sp>
      <p:sp>
        <p:nvSpPr>
          <p:cNvPr id="14" name="Text 11"/>
          <p:cNvSpPr txBox="1"/>
          <p:nvPr/>
        </p:nvSpPr>
        <p:spPr>
          <a:xfrm>
            <a:off x="358444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15" name="Shape 12"/>
          <p:cNvSpPr/>
          <p:nvPr/>
        </p:nvSpPr>
        <p:spPr>
          <a:xfrm>
            <a:off x="4846320" y="2011680"/>
            <a:ext cx="749808" cy="749808"/>
          </a:xfrm>
          <a:prstGeom prst="ellipse">
            <a:avLst/>
          </a:prstGeom>
          <a:solidFill>
            <a:srgbClr val="FFFFFF"/>
          </a:solidFill>
          <a:ln w="15875">
            <a:solidFill>
              <a:srgbClr val="8A94A3"/>
            </a:solidFill>
            <a:prstDash val="solid"/>
          </a:ln>
        </p:spPr>
      </p:sp>
      <p:sp>
        <p:nvSpPr>
          <p:cNvPr id="16" name="Text 13"/>
          <p:cNvSpPr txBox="1"/>
          <p:nvPr/>
        </p:nvSpPr>
        <p:spPr>
          <a:xfrm>
            <a:off x="484632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17" name="Text 14"/>
          <p:cNvSpPr txBox="1"/>
          <p:nvPr/>
        </p:nvSpPr>
        <p:spPr>
          <a:xfrm>
            <a:off x="443484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0.7503</a:t>
            </a:r>
            <a:endParaRPr lang="en-US" sz="1800" dirty="0"/>
          </a:p>
        </p:txBody>
      </p:sp>
      <p:sp>
        <p:nvSpPr>
          <p:cNvPr id="18" name="Shape 15"/>
          <p:cNvSpPr/>
          <p:nvPr/>
        </p:nvSpPr>
        <p:spPr>
          <a:xfrm>
            <a:off x="5614416" y="2295144"/>
            <a:ext cx="1225296" cy="91"/>
          </a:xfrm>
          <a:prstGeom prst="line">
            <a:avLst/>
          </a:prstGeom>
          <a:noFill/>
          <a:ln w="22225">
            <a:solidFill>
              <a:srgbClr val="0F7C82"/>
            </a:solidFill>
            <a:prstDash val="solid"/>
            <a:tailEnd type="triangle"/>
          </a:ln>
        </p:spPr>
      </p:sp>
      <p:sp>
        <p:nvSpPr>
          <p:cNvPr id="19" name="Text 16"/>
          <p:cNvSpPr txBox="1"/>
          <p:nvPr/>
        </p:nvSpPr>
        <p:spPr>
          <a:xfrm>
            <a:off x="559612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w₂, b₂</a:t>
            </a:r>
            <a:endParaRPr lang="en-US" sz="1400" dirty="0"/>
          </a:p>
        </p:txBody>
      </p:sp>
      <p:sp>
        <p:nvSpPr>
          <p:cNvPr id="20" name="Shape 17"/>
          <p:cNvSpPr/>
          <p:nvPr/>
        </p:nvSpPr>
        <p:spPr>
          <a:xfrm>
            <a:off x="6858000" y="2011680"/>
            <a:ext cx="749808" cy="749808"/>
          </a:xfrm>
          <a:prstGeom prst="ellipse">
            <a:avLst/>
          </a:prstGeom>
          <a:solidFill>
            <a:srgbClr val="FFFFFF"/>
          </a:solidFill>
          <a:ln w="15875">
            <a:solidFill>
              <a:srgbClr val="8A94A3"/>
            </a:solidFill>
            <a:prstDash val="solid"/>
          </a:ln>
        </p:spPr>
      </p:sp>
      <p:sp>
        <p:nvSpPr>
          <p:cNvPr id="21" name="Text 18"/>
          <p:cNvSpPr txBox="1"/>
          <p:nvPr/>
        </p:nvSpPr>
        <p:spPr>
          <a:xfrm>
            <a:off x="685800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22" name="Text 19"/>
          <p:cNvSpPr txBox="1"/>
          <p:nvPr/>
        </p:nvSpPr>
        <p:spPr>
          <a:xfrm>
            <a:off x="644652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0.3002</a:t>
            </a:r>
            <a:endParaRPr lang="en-US" sz="1800" dirty="0"/>
          </a:p>
        </p:txBody>
      </p:sp>
      <p:sp>
        <p:nvSpPr>
          <p:cNvPr id="23" name="Shape 20"/>
          <p:cNvSpPr/>
          <p:nvPr/>
        </p:nvSpPr>
        <p:spPr>
          <a:xfrm>
            <a:off x="7626096" y="2295144"/>
            <a:ext cx="1225296" cy="91"/>
          </a:xfrm>
          <a:prstGeom prst="line">
            <a:avLst/>
          </a:prstGeom>
          <a:noFill/>
          <a:ln w="22225">
            <a:solidFill>
              <a:srgbClr val="0F7C82"/>
            </a:solidFill>
            <a:prstDash val="solid"/>
            <a:tailEnd type="triangle"/>
          </a:ln>
        </p:spPr>
      </p:sp>
      <p:sp>
        <p:nvSpPr>
          <p:cNvPr id="24" name="Text 21"/>
          <p:cNvSpPr txBox="1"/>
          <p:nvPr/>
        </p:nvSpPr>
        <p:spPr>
          <a:xfrm>
            <a:off x="760780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25" name="Shape 22"/>
          <p:cNvSpPr/>
          <p:nvPr/>
        </p:nvSpPr>
        <p:spPr>
          <a:xfrm>
            <a:off x="8869680" y="2011680"/>
            <a:ext cx="749808" cy="749808"/>
          </a:xfrm>
          <a:prstGeom prst="ellipse">
            <a:avLst/>
          </a:prstGeom>
          <a:solidFill>
            <a:srgbClr val="FFFFFF"/>
          </a:solidFill>
          <a:ln w="15875">
            <a:solidFill>
              <a:srgbClr val="8A94A3"/>
            </a:solidFill>
            <a:prstDash val="solid"/>
          </a:ln>
        </p:spPr>
      </p:sp>
      <p:sp>
        <p:nvSpPr>
          <p:cNvPr id="26" name="Text 23"/>
          <p:cNvSpPr txBox="1"/>
          <p:nvPr/>
        </p:nvSpPr>
        <p:spPr>
          <a:xfrm>
            <a:off x="886968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27" name="Text 24"/>
          <p:cNvSpPr txBox="1"/>
          <p:nvPr/>
        </p:nvSpPr>
        <p:spPr>
          <a:xfrm>
            <a:off x="845820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0.5745</a:t>
            </a:r>
            <a:endParaRPr lang="en-US" sz="1800" dirty="0"/>
          </a:p>
        </p:txBody>
      </p:sp>
      <p:sp>
        <p:nvSpPr>
          <p:cNvPr id="28" name="Shape 25"/>
          <p:cNvSpPr/>
          <p:nvPr/>
        </p:nvSpPr>
        <p:spPr>
          <a:xfrm>
            <a:off x="9637776" y="2295144"/>
            <a:ext cx="1225296" cy="91"/>
          </a:xfrm>
          <a:prstGeom prst="line">
            <a:avLst/>
          </a:prstGeom>
          <a:noFill/>
          <a:ln w="22225">
            <a:solidFill>
              <a:srgbClr val="0F7C82"/>
            </a:solidFill>
            <a:prstDash val="solid"/>
            <a:tailEnd type="triangle"/>
          </a:ln>
        </p:spPr>
      </p:sp>
      <p:sp>
        <p:nvSpPr>
          <p:cNvPr id="29" name="Text 26"/>
          <p:cNvSpPr txBox="1"/>
          <p:nvPr/>
        </p:nvSpPr>
        <p:spPr>
          <a:xfrm>
            <a:off x="961948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½(a₂ − y)²</a:t>
            </a:r>
            <a:endParaRPr lang="en-US" sz="1400" dirty="0"/>
          </a:p>
        </p:txBody>
      </p:sp>
      <p:sp>
        <p:nvSpPr>
          <p:cNvPr id="30" name="Shape 27"/>
          <p:cNvSpPr/>
          <p:nvPr/>
        </p:nvSpPr>
        <p:spPr>
          <a:xfrm>
            <a:off x="10881360" y="2011680"/>
            <a:ext cx="749808" cy="749808"/>
          </a:xfrm>
          <a:prstGeom prst="ellipse">
            <a:avLst/>
          </a:prstGeom>
          <a:solidFill>
            <a:srgbClr val="17202E"/>
          </a:solidFill>
          <a:ln/>
        </p:spPr>
      </p:sp>
      <p:sp>
        <p:nvSpPr>
          <p:cNvPr id="31" name="Text 28"/>
          <p:cNvSpPr txBox="1"/>
          <p:nvPr/>
        </p:nvSpPr>
        <p:spPr>
          <a:xfrm>
            <a:off x="10881360" y="2011680"/>
            <a:ext cx="749808" cy="749808"/>
          </a:xfrm>
          <a:prstGeom prst="rect">
            <a:avLst/>
          </a:prstGeom>
          <a:noFill/>
          <a:ln/>
        </p:spPr>
        <p:txBody>
          <a:bodyPr wrap="square" lIns="0" tIns="0" rIns="0" bIns="0" rtlCol="0" anchor="ctr"/>
          <a:lstStyle/>
          <a:p>
            <a:pPr algn="ctr" indent="0" marL="0">
              <a:buNone/>
            </a:pPr>
            <a:r>
              <a:rPr lang="en-US" sz="2100" i="1" dirty="0">
                <a:solidFill>
                  <a:srgbClr val="FFFFFF"/>
                </a:solidFill>
                <a:latin typeface="Cambria" pitchFamily="34" charset="0"/>
                <a:ea typeface="Cambria" pitchFamily="34" charset="-122"/>
                <a:cs typeface="Cambria" pitchFamily="34" charset="-120"/>
              </a:rPr>
              <a:t>L</a:t>
            </a:r>
            <a:endParaRPr lang="en-US" sz="2100" dirty="0"/>
          </a:p>
        </p:txBody>
      </p:sp>
      <p:sp>
        <p:nvSpPr>
          <p:cNvPr id="32" name="Text 29"/>
          <p:cNvSpPr txBox="1"/>
          <p:nvPr/>
        </p:nvSpPr>
        <p:spPr>
          <a:xfrm>
            <a:off x="104698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0.0905</a:t>
            </a:r>
            <a:endParaRPr lang="en-US" sz="1800" dirty="0"/>
          </a:p>
        </p:txBody>
      </p:sp>
      <p:sp>
        <p:nvSpPr>
          <p:cNvPr id="33" name="Shape 30"/>
          <p:cNvSpPr/>
          <p:nvPr/>
        </p:nvSpPr>
        <p:spPr>
          <a:xfrm>
            <a:off x="548640" y="3200400"/>
            <a:ext cx="6309360" cy="2926080"/>
          </a:xfrm>
          <a:prstGeom prst="roundRect">
            <a:avLst>
              <a:gd name="adj" fmla="val 2500"/>
            </a:avLst>
          </a:prstGeom>
          <a:solidFill>
            <a:srgbClr val="E2F1F1"/>
          </a:solidFill>
          <a:ln/>
        </p:spPr>
      </p:sp>
      <p:sp>
        <p:nvSpPr>
          <p:cNvPr id="34" name="Text 31"/>
          <p:cNvSpPr txBox="1"/>
          <p:nvPr/>
        </p:nvSpPr>
        <p:spPr>
          <a:xfrm>
            <a:off x="749808" y="3337560"/>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FORWARD PASS</a:t>
            </a:r>
            <a:endParaRPr lang="en-US" sz="1300" dirty="0"/>
          </a:p>
        </p:txBody>
      </p:sp>
      <p:pic>
        <p:nvPicPr>
          <p:cNvPr id="35" name="Image 0" descr="LaTeX: \begin{align*} z_1 &amp;= w_1x + b_1 = 0.5(2.0) + 0.1 = \textcolor{fw}{1.1}\\ a_1 &amp;= \sigma(z_1) = \textcolor{fw}{0.7503}\\ z_2 &amp;= w_2a_1 + b_2 = 0.8(0.7503) - 0.3 = \textcolor{fw}{0.3002}\\ a_2 &amp;= \sigma(z_2) = \textcolor{fw}{0.5745}\\ L &amp;= \tfrac12(a_2 - y)^2 = \textcolor{fw}{0.0905} \end{align*}">    </p:cNvPr>
          <p:cNvPicPr>
            <a:picLocks noChangeAspect="1"/>
          </p:cNvPicPr>
          <p:nvPr/>
        </p:nvPicPr>
        <p:blipFill>
          <a:blip r:embed="rId1"/>
          <a:stretch>
            <a:fillRect/>
          </a:stretch>
        </p:blipFill>
        <p:spPr>
          <a:xfrm>
            <a:off x="822960" y="3703320"/>
            <a:ext cx="5441594" cy="2095500"/>
          </a:xfrm>
          <a:prstGeom prst="rect">
            <a:avLst/>
          </a:prstGeom>
        </p:spPr>
      </p:pic>
      <p:sp>
        <p:nvSpPr>
          <p:cNvPr id="36" name="Shape 32"/>
          <p:cNvSpPr/>
          <p:nvPr/>
        </p:nvSpPr>
        <p:spPr>
          <a:xfrm>
            <a:off x="7040880" y="3200400"/>
            <a:ext cx="4599432" cy="1463040"/>
          </a:xfrm>
          <a:prstGeom prst="roundRect">
            <a:avLst>
              <a:gd name="adj" fmla="val 5000"/>
            </a:avLst>
          </a:prstGeom>
          <a:solidFill>
            <a:srgbClr val="F3F5F8"/>
          </a:solidFill>
          <a:ln/>
        </p:spPr>
      </p:sp>
      <p:sp>
        <p:nvSpPr>
          <p:cNvPr id="37" name="Text 33"/>
          <p:cNvSpPr txBox="1"/>
          <p:nvPr/>
        </p:nvSpPr>
        <p:spPr>
          <a:xfrm>
            <a:off x="7242048" y="3364992"/>
            <a:ext cx="4197096"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SETUP</a:t>
            </a:r>
            <a:endParaRPr lang="en-US" sz="1300" dirty="0"/>
          </a:p>
        </p:txBody>
      </p:sp>
      <p:sp>
        <p:nvSpPr>
          <p:cNvPr id="38" name="Text 34"/>
          <p:cNvSpPr txBox="1"/>
          <p:nvPr/>
        </p:nvSpPr>
        <p:spPr>
          <a:xfrm>
            <a:off x="7242048" y="3730752"/>
            <a:ext cx="4197096" cy="82296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w₁ = 0.5, b₁ = 0.1, w₂ = 0.8, b₂ = −0.3</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x = 2.0, y = 1.0, L = ½(a₂ − y)²</a:t>
            </a:r>
            <a:endParaRPr lang="en-US" sz="1700" dirty="0"/>
          </a:p>
        </p:txBody>
      </p:sp>
      <p:sp>
        <p:nvSpPr>
          <p:cNvPr id="39" name="Shape 35"/>
          <p:cNvSpPr/>
          <p:nvPr/>
        </p:nvSpPr>
        <p:spPr>
          <a:xfrm>
            <a:off x="7040880" y="4846320"/>
            <a:ext cx="4599432" cy="1280160"/>
          </a:xfrm>
          <a:prstGeom prst="roundRect">
            <a:avLst>
              <a:gd name="adj" fmla="val 5714"/>
            </a:avLst>
          </a:prstGeom>
          <a:solidFill>
            <a:srgbClr val="17202E"/>
          </a:solidFill>
          <a:ln/>
        </p:spPr>
      </p:sp>
      <p:sp>
        <p:nvSpPr>
          <p:cNvPr id="40" name="Text 36"/>
          <p:cNvSpPr txBox="1"/>
          <p:nvPr/>
        </p:nvSpPr>
        <p:spPr>
          <a:xfrm>
            <a:off x="7242048" y="4892040"/>
            <a:ext cx="4197096" cy="11887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Before showing this slide, have students compute z₁ … L on paper, then check.</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Worked example: forward, then backward, by hand</a:t>
            </a:r>
            <a:endParaRPr lang="en-US" sz="3200" dirty="0"/>
          </a:p>
        </p:txBody>
      </p:sp>
      <p:sp>
        <p:nvSpPr>
          <p:cNvPr id="5" name="Shape 2"/>
          <p:cNvSpPr/>
          <p:nvPr/>
        </p:nvSpPr>
        <p:spPr>
          <a:xfrm>
            <a:off x="822960" y="2011680"/>
            <a:ext cx="749808" cy="749808"/>
          </a:xfrm>
          <a:prstGeom prst="ellipse">
            <a:avLst/>
          </a:prstGeom>
          <a:solidFill>
            <a:srgbClr val="FFFFFF"/>
          </a:solidFill>
          <a:ln w="15875">
            <a:solidFill>
              <a:srgbClr val="8A94A3"/>
            </a:solidFill>
            <a:prstDash val="solid"/>
          </a:ln>
        </p:spPr>
      </p:sp>
      <p:sp>
        <p:nvSpPr>
          <p:cNvPr id="6" name="Text 3"/>
          <p:cNvSpPr txBox="1"/>
          <p:nvPr/>
        </p:nvSpPr>
        <p:spPr>
          <a:xfrm>
            <a:off x="82296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x</a:t>
            </a:r>
            <a:endParaRPr lang="en-US" sz="2100" dirty="0"/>
          </a:p>
        </p:txBody>
      </p:sp>
      <p:sp>
        <p:nvSpPr>
          <p:cNvPr id="7" name="Text 4"/>
          <p:cNvSpPr txBox="1"/>
          <p:nvPr/>
        </p:nvSpPr>
        <p:spPr>
          <a:xfrm>
            <a:off x="4114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a:t>
            </a:r>
            <a:endParaRPr lang="en-US" sz="1800" dirty="0"/>
          </a:p>
        </p:txBody>
      </p:sp>
      <p:sp>
        <p:nvSpPr>
          <p:cNvPr id="8" name="Shape 5"/>
          <p:cNvSpPr/>
          <p:nvPr/>
        </p:nvSpPr>
        <p:spPr>
          <a:xfrm>
            <a:off x="1591056" y="2295144"/>
            <a:ext cx="1225296" cy="91"/>
          </a:xfrm>
          <a:prstGeom prst="line">
            <a:avLst/>
          </a:prstGeom>
          <a:noFill/>
          <a:ln w="22225">
            <a:solidFill>
              <a:srgbClr val="0F7C82"/>
            </a:solidFill>
            <a:prstDash val="solid"/>
            <a:tailEnd type="triangle"/>
          </a:ln>
        </p:spPr>
      </p:sp>
      <p:sp>
        <p:nvSpPr>
          <p:cNvPr id="9" name="Shape 6"/>
          <p:cNvSpPr/>
          <p:nvPr/>
        </p:nvSpPr>
        <p:spPr>
          <a:xfrm flipH="1">
            <a:off x="1591056" y="2496312"/>
            <a:ext cx="1225296" cy="91"/>
          </a:xfrm>
          <a:prstGeom prst="line">
            <a:avLst/>
          </a:prstGeom>
          <a:noFill/>
          <a:ln w="19050">
            <a:solidFill>
              <a:srgbClr val="C8571B"/>
            </a:solidFill>
            <a:prstDash val="solid"/>
            <a:tailEnd type="triangle"/>
          </a:ln>
        </p:spPr>
      </p:sp>
      <p:sp>
        <p:nvSpPr>
          <p:cNvPr id="10" name="Text 7"/>
          <p:cNvSpPr txBox="1"/>
          <p:nvPr/>
        </p:nvSpPr>
        <p:spPr>
          <a:xfrm>
            <a:off x="157276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w₁, b₁</a:t>
            </a:r>
            <a:endParaRPr lang="en-US" sz="1400" dirty="0"/>
          </a:p>
        </p:txBody>
      </p:sp>
      <p:sp>
        <p:nvSpPr>
          <p:cNvPr id="11" name="Shape 8"/>
          <p:cNvSpPr/>
          <p:nvPr/>
        </p:nvSpPr>
        <p:spPr>
          <a:xfrm>
            <a:off x="2834640" y="2011680"/>
            <a:ext cx="749808" cy="749808"/>
          </a:xfrm>
          <a:prstGeom prst="ellipse">
            <a:avLst/>
          </a:prstGeom>
          <a:solidFill>
            <a:srgbClr val="FFFFFF"/>
          </a:solidFill>
          <a:ln w="15875">
            <a:solidFill>
              <a:srgbClr val="8A94A3"/>
            </a:solidFill>
            <a:prstDash val="solid"/>
          </a:ln>
        </p:spPr>
      </p:sp>
      <p:sp>
        <p:nvSpPr>
          <p:cNvPr id="12" name="Text 9"/>
          <p:cNvSpPr txBox="1"/>
          <p:nvPr/>
        </p:nvSpPr>
        <p:spPr>
          <a:xfrm>
            <a:off x="283464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13" name="Text 10"/>
          <p:cNvSpPr txBox="1"/>
          <p:nvPr/>
        </p:nvSpPr>
        <p:spPr>
          <a:xfrm>
            <a:off x="242316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1.1</a:t>
            </a:r>
            <a:endParaRPr lang="en-US" sz="1800" dirty="0"/>
          </a:p>
        </p:txBody>
      </p:sp>
      <p:sp>
        <p:nvSpPr>
          <p:cNvPr id="14" name="Text 11"/>
          <p:cNvSpPr txBox="1"/>
          <p:nvPr/>
        </p:nvSpPr>
        <p:spPr>
          <a:xfrm>
            <a:off x="228600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δ₁ = −0.0156</a:t>
            </a:r>
            <a:endParaRPr lang="en-US" sz="1700" dirty="0"/>
          </a:p>
        </p:txBody>
      </p:sp>
      <p:sp>
        <p:nvSpPr>
          <p:cNvPr id="15" name="Shape 12"/>
          <p:cNvSpPr/>
          <p:nvPr/>
        </p:nvSpPr>
        <p:spPr>
          <a:xfrm>
            <a:off x="3602736" y="2295144"/>
            <a:ext cx="1225296" cy="91"/>
          </a:xfrm>
          <a:prstGeom prst="line">
            <a:avLst/>
          </a:prstGeom>
          <a:noFill/>
          <a:ln w="22225">
            <a:solidFill>
              <a:srgbClr val="0F7C82"/>
            </a:solidFill>
            <a:prstDash val="solid"/>
            <a:tailEnd type="triangle"/>
          </a:ln>
        </p:spPr>
      </p:sp>
      <p:sp>
        <p:nvSpPr>
          <p:cNvPr id="16" name="Shape 13"/>
          <p:cNvSpPr/>
          <p:nvPr/>
        </p:nvSpPr>
        <p:spPr>
          <a:xfrm flipH="1">
            <a:off x="3602736" y="2496312"/>
            <a:ext cx="1225296" cy="91"/>
          </a:xfrm>
          <a:prstGeom prst="line">
            <a:avLst/>
          </a:prstGeom>
          <a:noFill/>
          <a:ln w="19050">
            <a:solidFill>
              <a:srgbClr val="C8571B"/>
            </a:solidFill>
            <a:prstDash val="solid"/>
            <a:tailEnd type="triangle"/>
          </a:ln>
        </p:spPr>
      </p:sp>
      <p:sp>
        <p:nvSpPr>
          <p:cNvPr id="17" name="Text 14"/>
          <p:cNvSpPr txBox="1"/>
          <p:nvPr/>
        </p:nvSpPr>
        <p:spPr>
          <a:xfrm>
            <a:off x="358444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18" name="Shape 15"/>
          <p:cNvSpPr/>
          <p:nvPr/>
        </p:nvSpPr>
        <p:spPr>
          <a:xfrm>
            <a:off x="4846320" y="2011680"/>
            <a:ext cx="749808" cy="749808"/>
          </a:xfrm>
          <a:prstGeom prst="ellipse">
            <a:avLst/>
          </a:prstGeom>
          <a:solidFill>
            <a:srgbClr val="FFFFFF"/>
          </a:solidFill>
          <a:ln w="15875">
            <a:solidFill>
              <a:srgbClr val="8A94A3"/>
            </a:solidFill>
            <a:prstDash val="solid"/>
          </a:ln>
        </p:spPr>
      </p:sp>
      <p:sp>
        <p:nvSpPr>
          <p:cNvPr id="19" name="Text 16"/>
          <p:cNvSpPr txBox="1"/>
          <p:nvPr/>
        </p:nvSpPr>
        <p:spPr>
          <a:xfrm>
            <a:off x="484632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20" name="Text 17"/>
          <p:cNvSpPr txBox="1"/>
          <p:nvPr/>
        </p:nvSpPr>
        <p:spPr>
          <a:xfrm>
            <a:off x="443484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0.7503</a:t>
            </a:r>
            <a:endParaRPr lang="en-US" sz="1800" dirty="0"/>
          </a:p>
        </p:txBody>
      </p:sp>
      <p:sp>
        <p:nvSpPr>
          <p:cNvPr id="21" name="Text 18"/>
          <p:cNvSpPr txBox="1"/>
          <p:nvPr/>
        </p:nvSpPr>
        <p:spPr>
          <a:xfrm>
            <a:off x="429768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−0.0832</a:t>
            </a:r>
            <a:endParaRPr lang="en-US" sz="1700" dirty="0"/>
          </a:p>
        </p:txBody>
      </p:sp>
      <p:sp>
        <p:nvSpPr>
          <p:cNvPr id="22" name="Shape 19"/>
          <p:cNvSpPr/>
          <p:nvPr/>
        </p:nvSpPr>
        <p:spPr>
          <a:xfrm>
            <a:off x="5614416" y="2295144"/>
            <a:ext cx="1225296" cy="91"/>
          </a:xfrm>
          <a:prstGeom prst="line">
            <a:avLst/>
          </a:prstGeom>
          <a:noFill/>
          <a:ln w="22225">
            <a:solidFill>
              <a:srgbClr val="0F7C82"/>
            </a:solidFill>
            <a:prstDash val="solid"/>
            <a:tailEnd type="triangle"/>
          </a:ln>
        </p:spPr>
      </p:sp>
      <p:sp>
        <p:nvSpPr>
          <p:cNvPr id="23" name="Shape 20"/>
          <p:cNvSpPr/>
          <p:nvPr/>
        </p:nvSpPr>
        <p:spPr>
          <a:xfrm flipH="1">
            <a:off x="5614416" y="2496312"/>
            <a:ext cx="1225296" cy="91"/>
          </a:xfrm>
          <a:prstGeom prst="line">
            <a:avLst/>
          </a:prstGeom>
          <a:noFill/>
          <a:ln w="19050">
            <a:solidFill>
              <a:srgbClr val="C8571B"/>
            </a:solidFill>
            <a:prstDash val="solid"/>
            <a:tailEnd type="triangle"/>
          </a:ln>
        </p:spPr>
      </p:sp>
      <p:sp>
        <p:nvSpPr>
          <p:cNvPr id="24" name="Text 21"/>
          <p:cNvSpPr txBox="1"/>
          <p:nvPr/>
        </p:nvSpPr>
        <p:spPr>
          <a:xfrm>
            <a:off x="559612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w₂, b₂</a:t>
            </a:r>
            <a:endParaRPr lang="en-US" sz="1400" dirty="0"/>
          </a:p>
        </p:txBody>
      </p:sp>
      <p:sp>
        <p:nvSpPr>
          <p:cNvPr id="25" name="Shape 22"/>
          <p:cNvSpPr/>
          <p:nvPr/>
        </p:nvSpPr>
        <p:spPr>
          <a:xfrm>
            <a:off x="6858000" y="2011680"/>
            <a:ext cx="749808" cy="749808"/>
          </a:xfrm>
          <a:prstGeom prst="ellipse">
            <a:avLst/>
          </a:prstGeom>
          <a:solidFill>
            <a:srgbClr val="FFFFFF"/>
          </a:solidFill>
          <a:ln w="15875">
            <a:solidFill>
              <a:srgbClr val="8A94A3"/>
            </a:solidFill>
            <a:prstDash val="solid"/>
          </a:ln>
        </p:spPr>
      </p:sp>
      <p:sp>
        <p:nvSpPr>
          <p:cNvPr id="26" name="Text 23"/>
          <p:cNvSpPr txBox="1"/>
          <p:nvPr/>
        </p:nvSpPr>
        <p:spPr>
          <a:xfrm>
            <a:off x="685800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27" name="Text 24"/>
          <p:cNvSpPr txBox="1"/>
          <p:nvPr/>
        </p:nvSpPr>
        <p:spPr>
          <a:xfrm>
            <a:off x="644652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0.3002</a:t>
            </a:r>
            <a:endParaRPr lang="en-US" sz="1800" dirty="0"/>
          </a:p>
        </p:txBody>
      </p:sp>
      <p:sp>
        <p:nvSpPr>
          <p:cNvPr id="28" name="Text 25"/>
          <p:cNvSpPr txBox="1"/>
          <p:nvPr/>
        </p:nvSpPr>
        <p:spPr>
          <a:xfrm>
            <a:off x="630936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δ₂ = −0.1040</a:t>
            </a:r>
            <a:endParaRPr lang="en-US" sz="1700" dirty="0"/>
          </a:p>
        </p:txBody>
      </p:sp>
      <p:sp>
        <p:nvSpPr>
          <p:cNvPr id="29" name="Shape 26"/>
          <p:cNvSpPr/>
          <p:nvPr/>
        </p:nvSpPr>
        <p:spPr>
          <a:xfrm>
            <a:off x="7626096" y="2295144"/>
            <a:ext cx="1225296" cy="91"/>
          </a:xfrm>
          <a:prstGeom prst="line">
            <a:avLst/>
          </a:prstGeom>
          <a:noFill/>
          <a:ln w="22225">
            <a:solidFill>
              <a:srgbClr val="0F7C82"/>
            </a:solidFill>
            <a:prstDash val="solid"/>
            <a:tailEnd type="triangle"/>
          </a:ln>
        </p:spPr>
      </p:sp>
      <p:sp>
        <p:nvSpPr>
          <p:cNvPr id="30" name="Shape 27"/>
          <p:cNvSpPr/>
          <p:nvPr/>
        </p:nvSpPr>
        <p:spPr>
          <a:xfrm flipH="1">
            <a:off x="7626096" y="2496312"/>
            <a:ext cx="1225296" cy="91"/>
          </a:xfrm>
          <a:prstGeom prst="line">
            <a:avLst/>
          </a:prstGeom>
          <a:noFill/>
          <a:ln w="19050">
            <a:solidFill>
              <a:srgbClr val="C8571B"/>
            </a:solidFill>
            <a:prstDash val="solid"/>
            <a:tailEnd type="triangle"/>
          </a:ln>
        </p:spPr>
      </p:sp>
      <p:sp>
        <p:nvSpPr>
          <p:cNvPr id="31" name="Text 28"/>
          <p:cNvSpPr txBox="1"/>
          <p:nvPr/>
        </p:nvSpPr>
        <p:spPr>
          <a:xfrm>
            <a:off x="760780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32" name="Shape 29"/>
          <p:cNvSpPr/>
          <p:nvPr/>
        </p:nvSpPr>
        <p:spPr>
          <a:xfrm>
            <a:off x="8869680" y="2011680"/>
            <a:ext cx="749808" cy="749808"/>
          </a:xfrm>
          <a:prstGeom prst="ellipse">
            <a:avLst/>
          </a:prstGeom>
          <a:solidFill>
            <a:srgbClr val="FFFFFF"/>
          </a:solidFill>
          <a:ln w="15875">
            <a:solidFill>
              <a:srgbClr val="8A94A3"/>
            </a:solidFill>
            <a:prstDash val="solid"/>
          </a:ln>
        </p:spPr>
      </p:sp>
      <p:sp>
        <p:nvSpPr>
          <p:cNvPr id="33" name="Text 30"/>
          <p:cNvSpPr txBox="1"/>
          <p:nvPr/>
        </p:nvSpPr>
        <p:spPr>
          <a:xfrm>
            <a:off x="886968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34" name="Text 31"/>
          <p:cNvSpPr txBox="1"/>
          <p:nvPr/>
        </p:nvSpPr>
        <p:spPr>
          <a:xfrm>
            <a:off x="845820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0.5745</a:t>
            </a:r>
            <a:endParaRPr lang="en-US" sz="1800" dirty="0"/>
          </a:p>
        </p:txBody>
      </p:sp>
      <p:sp>
        <p:nvSpPr>
          <p:cNvPr id="35" name="Text 32"/>
          <p:cNvSpPr txBox="1"/>
          <p:nvPr/>
        </p:nvSpPr>
        <p:spPr>
          <a:xfrm>
            <a:off x="832104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−0.4255</a:t>
            </a:r>
            <a:endParaRPr lang="en-US" sz="1700" dirty="0"/>
          </a:p>
        </p:txBody>
      </p:sp>
      <p:sp>
        <p:nvSpPr>
          <p:cNvPr id="36" name="Shape 33"/>
          <p:cNvSpPr/>
          <p:nvPr/>
        </p:nvSpPr>
        <p:spPr>
          <a:xfrm>
            <a:off x="9637776" y="2295144"/>
            <a:ext cx="1225296" cy="91"/>
          </a:xfrm>
          <a:prstGeom prst="line">
            <a:avLst/>
          </a:prstGeom>
          <a:noFill/>
          <a:ln w="22225">
            <a:solidFill>
              <a:srgbClr val="0F7C82"/>
            </a:solidFill>
            <a:prstDash val="solid"/>
            <a:tailEnd type="triangle"/>
          </a:ln>
        </p:spPr>
      </p:sp>
      <p:sp>
        <p:nvSpPr>
          <p:cNvPr id="37" name="Shape 34"/>
          <p:cNvSpPr/>
          <p:nvPr/>
        </p:nvSpPr>
        <p:spPr>
          <a:xfrm flipH="1">
            <a:off x="9637776" y="2496312"/>
            <a:ext cx="1225296" cy="91"/>
          </a:xfrm>
          <a:prstGeom prst="line">
            <a:avLst/>
          </a:prstGeom>
          <a:noFill/>
          <a:ln w="19050">
            <a:solidFill>
              <a:srgbClr val="C8571B"/>
            </a:solidFill>
            <a:prstDash val="solid"/>
            <a:tailEnd type="triangle"/>
          </a:ln>
        </p:spPr>
      </p:sp>
      <p:sp>
        <p:nvSpPr>
          <p:cNvPr id="38" name="Text 35"/>
          <p:cNvSpPr txBox="1"/>
          <p:nvPr/>
        </p:nvSpPr>
        <p:spPr>
          <a:xfrm>
            <a:off x="961948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½(a₂ − y)²</a:t>
            </a:r>
            <a:endParaRPr lang="en-US" sz="1400" dirty="0"/>
          </a:p>
        </p:txBody>
      </p:sp>
      <p:sp>
        <p:nvSpPr>
          <p:cNvPr id="39" name="Shape 36"/>
          <p:cNvSpPr/>
          <p:nvPr/>
        </p:nvSpPr>
        <p:spPr>
          <a:xfrm>
            <a:off x="10881360" y="2011680"/>
            <a:ext cx="749808" cy="749808"/>
          </a:xfrm>
          <a:prstGeom prst="ellipse">
            <a:avLst/>
          </a:prstGeom>
          <a:solidFill>
            <a:srgbClr val="17202E"/>
          </a:solidFill>
          <a:ln/>
        </p:spPr>
      </p:sp>
      <p:sp>
        <p:nvSpPr>
          <p:cNvPr id="40" name="Text 37"/>
          <p:cNvSpPr txBox="1"/>
          <p:nvPr/>
        </p:nvSpPr>
        <p:spPr>
          <a:xfrm>
            <a:off x="10881360" y="2011680"/>
            <a:ext cx="749808" cy="749808"/>
          </a:xfrm>
          <a:prstGeom prst="rect">
            <a:avLst/>
          </a:prstGeom>
          <a:noFill/>
          <a:ln/>
        </p:spPr>
        <p:txBody>
          <a:bodyPr wrap="square" lIns="0" tIns="0" rIns="0" bIns="0" rtlCol="0" anchor="ctr"/>
          <a:lstStyle/>
          <a:p>
            <a:pPr algn="ctr" indent="0" marL="0">
              <a:buNone/>
            </a:pPr>
            <a:r>
              <a:rPr lang="en-US" sz="2100" i="1" dirty="0">
                <a:solidFill>
                  <a:srgbClr val="FFFFFF"/>
                </a:solidFill>
                <a:latin typeface="Cambria" pitchFamily="34" charset="0"/>
                <a:ea typeface="Cambria" pitchFamily="34" charset="-122"/>
                <a:cs typeface="Cambria" pitchFamily="34" charset="-120"/>
              </a:rPr>
              <a:t>L</a:t>
            </a:r>
            <a:endParaRPr lang="en-US" sz="2100" dirty="0"/>
          </a:p>
        </p:txBody>
      </p:sp>
      <p:sp>
        <p:nvSpPr>
          <p:cNvPr id="41" name="Text 38"/>
          <p:cNvSpPr txBox="1"/>
          <p:nvPr/>
        </p:nvSpPr>
        <p:spPr>
          <a:xfrm>
            <a:off x="104698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0.0905</a:t>
            </a:r>
            <a:endParaRPr lang="en-US" sz="1800" dirty="0"/>
          </a:p>
        </p:txBody>
      </p:sp>
      <p:sp>
        <p:nvSpPr>
          <p:cNvPr id="42" name="Shape 39"/>
          <p:cNvSpPr/>
          <p:nvPr/>
        </p:nvSpPr>
        <p:spPr>
          <a:xfrm>
            <a:off x="548640" y="3200400"/>
            <a:ext cx="6309360" cy="2926080"/>
          </a:xfrm>
          <a:prstGeom prst="roundRect">
            <a:avLst>
              <a:gd name="adj" fmla="val 2500"/>
            </a:avLst>
          </a:prstGeom>
          <a:solidFill>
            <a:srgbClr val="FBEADF"/>
          </a:solidFill>
          <a:ln/>
        </p:spPr>
      </p:sp>
      <p:sp>
        <p:nvSpPr>
          <p:cNvPr id="43" name="Text 40"/>
          <p:cNvSpPr txBox="1"/>
          <p:nvPr/>
        </p:nvSpPr>
        <p:spPr>
          <a:xfrm>
            <a:off x="749808" y="3337560"/>
            <a:ext cx="585216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ERROR SIGNALS, ONE LOCAL DERIVATIVE AT A TIME</a:t>
            </a:r>
            <a:endParaRPr lang="en-US" sz="1300" dirty="0"/>
          </a:p>
        </p:txBody>
      </p:sp>
      <p:pic>
        <p:nvPicPr>
          <p:cNvPr id="44" name="Image 0" descr="LaTeX: \begin{align*} \frac{\partial L}{\partial a_2} &amp;= a_2 - y = \textcolor{bw}{-0.4255}\\ \delta_2 &amp;= \frac{\partial L}{\partial a_2}\,a_2(1-a_2) = \textcolor{bw}{-0.1040}\\ \frac{\partial L}{\partial a_1} &amp;= \delta_2\,w_2 = \textcolor{bw}{-0.0832}\\ \delta_1 &amp;= \frac{\partial L}{\partial a_1}\,a_1(1-a_1) = \textcolor{bw}{-0.0156} \end{align*}">    </p:cNvPr>
          <p:cNvPicPr>
            <a:picLocks noChangeAspect="1"/>
          </p:cNvPicPr>
          <p:nvPr/>
        </p:nvPicPr>
        <p:blipFill>
          <a:blip r:embed="rId1"/>
          <a:stretch>
            <a:fillRect/>
          </a:stretch>
        </p:blipFill>
        <p:spPr>
          <a:xfrm>
            <a:off x="822960" y="3657600"/>
            <a:ext cx="3417113" cy="2421865"/>
          </a:xfrm>
          <a:prstGeom prst="rect">
            <a:avLst/>
          </a:prstGeom>
        </p:spPr>
      </p:pic>
      <p:sp>
        <p:nvSpPr>
          <p:cNvPr id="45" name="Text 41"/>
          <p:cNvSpPr txBox="1"/>
          <p:nvPr/>
        </p:nvSpPr>
        <p:spPr>
          <a:xfrm>
            <a:off x="7040880" y="3246120"/>
            <a:ext cx="4599432" cy="670560"/>
          </a:xfrm>
          <a:prstGeom prst="rect">
            <a:avLst/>
          </a:prstGeom>
          <a:noFill/>
          <a:ln/>
        </p:spPr>
        <p:txBody>
          <a:bodyPr wrap="square" lIns="0" tIns="0" rIns="0" bIns="0" rtlCol="0" anchor="t"/>
          <a:lstStyle/>
          <a:p>
            <a:pPr indent="0" marL="0">
              <a:buNone/>
            </a:pPr>
            <a:r>
              <a:rPr lang="en-US" sz="4400" b="1" dirty="0">
                <a:solidFill>
                  <a:srgbClr val="C8571B"/>
                </a:solidFill>
                <a:latin typeface="Cambria" pitchFamily="34" charset="0"/>
                <a:ea typeface="Cambria" pitchFamily="34" charset="-122"/>
                <a:cs typeface="Cambria" pitchFamily="34" charset="-120"/>
              </a:rPr>
              <a:t>6.7×</a:t>
            </a:r>
            <a:endParaRPr lang="en-US" sz="4400" dirty="0"/>
          </a:p>
        </p:txBody>
      </p:sp>
      <p:sp>
        <p:nvSpPr>
          <p:cNvPr id="46" name="Text 42"/>
          <p:cNvSpPr txBox="1"/>
          <p:nvPr/>
        </p:nvSpPr>
        <p:spPr>
          <a:xfrm>
            <a:off x="7040880" y="4008120"/>
            <a:ext cx="4599432"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smaller: δ₁ vs δ₂ after ONE sigmoid layer, since w₂·σ′(z₁) = 0.8 × 0.187</a:t>
            </a:r>
            <a:endParaRPr lang="en-US" sz="1700" dirty="0"/>
          </a:p>
        </p:txBody>
      </p:sp>
      <p:sp>
        <p:nvSpPr>
          <p:cNvPr id="47" name="Shape 43"/>
          <p:cNvSpPr/>
          <p:nvPr/>
        </p:nvSpPr>
        <p:spPr>
          <a:xfrm>
            <a:off x="7040880" y="5029200"/>
            <a:ext cx="4599432" cy="1097280"/>
          </a:xfrm>
          <a:prstGeom prst="roundRect">
            <a:avLst>
              <a:gd name="adj" fmla="val 6667"/>
            </a:avLst>
          </a:prstGeom>
          <a:solidFill>
            <a:srgbClr val="FBEADF"/>
          </a:solidFill>
          <a:ln/>
        </p:spPr>
      </p:sp>
      <p:sp>
        <p:nvSpPr>
          <p:cNvPr id="48" name="Text 44"/>
          <p:cNvSpPr txBox="1"/>
          <p:nvPr/>
        </p:nvSpPr>
        <p:spPr>
          <a:xfrm>
            <a:off x="7242048" y="5074920"/>
            <a:ext cx="4197096" cy="1005840"/>
          </a:xfrm>
          <a:prstGeom prst="rect">
            <a:avLst/>
          </a:prstGeom>
          <a:noFill/>
          <a:ln/>
        </p:spPr>
        <p:txBody>
          <a:bodyPr wrap="square" lIns="0" tIns="0" rIns="0" bIns="0" rtlCol="0" anchor="ctr"/>
          <a:lstStyle/>
          <a:p>
            <a:pPr indent="0" marL="0">
              <a:buNone/>
            </a:pPr>
            <a:r>
              <a:rPr lang="en-US" sz="1700" b="1" dirty="0">
                <a:solidFill>
                  <a:srgbClr val="8F3A0E"/>
                </a:solidFill>
                <a:latin typeface="Calibri" pitchFamily="34" charset="0"/>
                <a:ea typeface="Calibri" pitchFamily="34" charset="-122"/>
                <a:cs typeface="Calibri" pitchFamily="34" charset="-120"/>
              </a:rPr>
              <a:t>Twenty such layers and almost nothing reaches the front: vanishing gradients.</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Worked example: forward, then backward, by hand</a:t>
            </a:r>
            <a:endParaRPr lang="en-US" sz="3200" dirty="0"/>
          </a:p>
        </p:txBody>
      </p:sp>
      <p:sp>
        <p:nvSpPr>
          <p:cNvPr id="5" name="Shape 2"/>
          <p:cNvSpPr/>
          <p:nvPr/>
        </p:nvSpPr>
        <p:spPr>
          <a:xfrm>
            <a:off x="822960" y="2011680"/>
            <a:ext cx="749808" cy="749808"/>
          </a:xfrm>
          <a:prstGeom prst="ellipse">
            <a:avLst/>
          </a:prstGeom>
          <a:solidFill>
            <a:srgbClr val="FFFFFF"/>
          </a:solidFill>
          <a:ln w="15875">
            <a:solidFill>
              <a:srgbClr val="8A94A3"/>
            </a:solidFill>
            <a:prstDash val="solid"/>
          </a:ln>
        </p:spPr>
      </p:sp>
      <p:sp>
        <p:nvSpPr>
          <p:cNvPr id="6" name="Text 3"/>
          <p:cNvSpPr txBox="1"/>
          <p:nvPr/>
        </p:nvSpPr>
        <p:spPr>
          <a:xfrm>
            <a:off x="82296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x</a:t>
            </a:r>
            <a:endParaRPr lang="en-US" sz="2100" dirty="0"/>
          </a:p>
        </p:txBody>
      </p:sp>
      <p:sp>
        <p:nvSpPr>
          <p:cNvPr id="7" name="Text 4"/>
          <p:cNvSpPr txBox="1"/>
          <p:nvPr/>
        </p:nvSpPr>
        <p:spPr>
          <a:xfrm>
            <a:off x="4114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a:t>
            </a:r>
            <a:endParaRPr lang="en-US" sz="1800" dirty="0"/>
          </a:p>
        </p:txBody>
      </p:sp>
      <p:sp>
        <p:nvSpPr>
          <p:cNvPr id="8" name="Shape 5"/>
          <p:cNvSpPr/>
          <p:nvPr/>
        </p:nvSpPr>
        <p:spPr>
          <a:xfrm>
            <a:off x="1591056" y="2295144"/>
            <a:ext cx="1225296" cy="91"/>
          </a:xfrm>
          <a:prstGeom prst="line">
            <a:avLst/>
          </a:prstGeom>
          <a:noFill/>
          <a:ln w="22225">
            <a:solidFill>
              <a:srgbClr val="0F7C82"/>
            </a:solidFill>
            <a:prstDash val="solid"/>
            <a:tailEnd type="triangle"/>
          </a:ln>
        </p:spPr>
      </p:sp>
      <p:sp>
        <p:nvSpPr>
          <p:cNvPr id="9" name="Shape 6"/>
          <p:cNvSpPr/>
          <p:nvPr/>
        </p:nvSpPr>
        <p:spPr>
          <a:xfrm flipH="1">
            <a:off x="1591056" y="2496312"/>
            <a:ext cx="1225296" cy="91"/>
          </a:xfrm>
          <a:prstGeom prst="line">
            <a:avLst/>
          </a:prstGeom>
          <a:noFill/>
          <a:ln w="19050">
            <a:solidFill>
              <a:srgbClr val="C8571B"/>
            </a:solidFill>
            <a:prstDash val="solid"/>
            <a:tailEnd type="triangle"/>
          </a:ln>
        </p:spPr>
      </p:sp>
      <p:sp>
        <p:nvSpPr>
          <p:cNvPr id="10" name="Text 7"/>
          <p:cNvSpPr txBox="1"/>
          <p:nvPr/>
        </p:nvSpPr>
        <p:spPr>
          <a:xfrm>
            <a:off x="157276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w₁, b₁</a:t>
            </a:r>
            <a:endParaRPr lang="en-US" sz="1400" dirty="0"/>
          </a:p>
        </p:txBody>
      </p:sp>
      <p:sp>
        <p:nvSpPr>
          <p:cNvPr id="11" name="Shape 8"/>
          <p:cNvSpPr/>
          <p:nvPr/>
        </p:nvSpPr>
        <p:spPr>
          <a:xfrm>
            <a:off x="2834640" y="2011680"/>
            <a:ext cx="749808" cy="749808"/>
          </a:xfrm>
          <a:prstGeom prst="ellipse">
            <a:avLst/>
          </a:prstGeom>
          <a:solidFill>
            <a:srgbClr val="FFFFFF"/>
          </a:solidFill>
          <a:ln w="15875">
            <a:solidFill>
              <a:srgbClr val="8A94A3"/>
            </a:solidFill>
            <a:prstDash val="solid"/>
          </a:ln>
        </p:spPr>
      </p:sp>
      <p:sp>
        <p:nvSpPr>
          <p:cNvPr id="12" name="Text 9"/>
          <p:cNvSpPr txBox="1"/>
          <p:nvPr/>
        </p:nvSpPr>
        <p:spPr>
          <a:xfrm>
            <a:off x="283464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13" name="Text 10"/>
          <p:cNvSpPr txBox="1"/>
          <p:nvPr/>
        </p:nvSpPr>
        <p:spPr>
          <a:xfrm>
            <a:off x="242316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1.1</a:t>
            </a:r>
            <a:endParaRPr lang="en-US" sz="1800" dirty="0"/>
          </a:p>
        </p:txBody>
      </p:sp>
      <p:sp>
        <p:nvSpPr>
          <p:cNvPr id="14" name="Text 11"/>
          <p:cNvSpPr txBox="1"/>
          <p:nvPr/>
        </p:nvSpPr>
        <p:spPr>
          <a:xfrm>
            <a:off x="228600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δ₁ = −0.0156</a:t>
            </a:r>
            <a:endParaRPr lang="en-US" sz="1700" dirty="0"/>
          </a:p>
        </p:txBody>
      </p:sp>
      <p:sp>
        <p:nvSpPr>
          <p:cNvPr id="15" name="Shape 12"/>
          <p:cNvSpPr/>
          <p:nvPr/>
        </p:nvSpPr>
        <p:spPr>
          <a:xfrm>
            <a:off x="3602736" y="2295144"/>
            <a:ext cx="1225296" cy="91"/>
          </a:xfrm>
          <a:prstGeom prst="line">
            <a:avLst/>
          </a:prstGeom>
          <a:noFill/>
          <a:ln w="22225">
            <a:solidFill>
              <a:srgbClr val="0F7C82"/>
            </a:solidFill>
            <a:prstDash val="solid"/>
            <a:tailEnd type="triangle"/>
          </a:ln>
        </p:spPr>
      </p:sp>
      <p:sp>
        <p:nvSpPr>
          <p:cNvPr id="16" name="Shape 13"/>
          <p:cNvSpPr/>
          <p:nvPr/>
        </p:nvSpPr>
        <p:spPr>
          <a:xfrm flipH="1">
            <a:off x="3602736" y="2496312"/>
            <a:ext cx="1225296" cy="91"/>
          </a:xfrm>
          <a:prstGeom prst="line">
            <a:avLst/>
          </a:prstGeom>
          <a:noFill/>
          <a:ln w="19050">
            <a:solidFill>
              <a:srgbClr val="C8571B"/>
            </a:solidFill>
            <a:prstDash val="solid"/>
            <a:tailEnd type="triangle"/>
          </a:ln>
        </p:spPr>
      </p:sp>
      <p:sp>
        <p:nvSpPr>
          <p:cNvPr id="17" name="Text 14"/>
          <p:cNvSpPr txBox="1"/>
          <p:nvPr/>
        </p:nvSpPr>
        <p:spPr>
          <a:xfrm>
            <a:off x="358444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18" name="Shape 15"/>
          <p:cNvSpPr/>
          <p:nvPr/>
        </p:nvSpPr>
        <p:spPr>
          <a:xfrm>
            <a:off x="4846320" y="2011680"/>
            <a:ext cx="749808" cy="749808"/>
          </a:xfrm>
          <a:prstGeom prst="ellipse">
            <a:avLst/>
          </a:prstGeom>
          <a:solidFill>
            <a:srgbClr val="FFFFFF"/>
          </a:solidFill>
          <a:ln w="15875">
            <a:solidFill>
              <a:srgbClr val="8A94A3"/>
            </a:solidFill>
            <a:prstDash val="solid"/>
          </a:ln>
        </p:spPr>
      </p:sp>
      <p:sp>
        <p:nvSpPr>
          <p:cNvPr id="19" name="Text 16"/>
          <p:cNvSpPr txBox="1"/>
          <p:nvPr/>
        </p:nvSpPr>
        <p:spPr>
          <a:xfrm>
            <a:off x="484632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20" name="Text 17"/>
          <p:cNvSpPr txBox="1"/>
          <p:nvPr/>
        </p:nvSpPr>
        <p:spPr>
          <a:xfrm>
            <a:off x="443484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0.7503</a:t>
            </a:r>
            <a:endParaRPr lang="en-US" sz="1800" dirty="0"/>
          </a:p>
        </p:txBody>
      </p:sp>
      <p:sp>
        <p:nvSpPr>
          <p:cNvPr id="21" name="Text 18"/>
          <p:cNvSpPr txBox="1"/>
          <p:nvPr/>
        </p:nvSpPr>
        <p:spPr>
          <a:xfrm>
            <a:off x="429768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−0.0832</a:t>
            </a:r>
            <a:endParaRPr lang="en-US" sz="1700" dirty="0"/>
          </a:p>
        </p:txBody>
      </p:sp>
      <p:sp>
        <p:nvSpPr>
          <p:cNvPr id="22" name="Shape 19"/>
          <p:cNvSpPr/>
          <p:nvPr/>
        </p:nvSpPr>
        <p:spPr>
          <a:xfrm>
            <a:off x="5614416" y="2295144"/>
            <a:ext cx="1225296" cy="91"/>
          </a:xfrm>
          <a:prstGeom prst="line">
            <a:avLst/>
          </a:prstGeom>
          <a:noFill/>
          <a:ln w="22225">
            <a:solidFill>
              <a:srgbClr val="0F7C82"/>
            </a:solidFill>
            <a:prstDash val="solid"/>
            <a:tailEnd type="triangle"/>
          </a:ln>
        </p:spPr>
      </p:sp>
      <p:sp>
        <p:nvSpPr>
          <p:cNvPr id="23" name="Shape 20"/>
          <p:cNvSpPr/>
          <p:nvPr/>
        </p:nvSpPr>
        <p:spPr>
          <a:xfrm flipH="1">
            <a:off x="5614416" y="2496312"/>
            <a:ext cx="1225296" cy="91"/>
          </a:xfrm>
          <a:prstGeom prst="line">
            <a:avLst/>
          </a:prstGeom>
          <a:noFill/>
          <a:ln w="19050">
            <a:solidFill>
              <a:srgbClr val="C8571B"/>
            </a:solidFill>
            <a:prstDash val="solid"/>
            <a:tailEnd type="triangle"/>
          </a:ln>
        </p:spPr>
      </p:sp>
      <p:sp>
        <p:nvSpPr>
          <p:cNvPr id="24" name="Text 21"/>
          <p:cNvSpPr txBox="1"/>
          <p:nvPr/>
        </p:nvSpPr>
        <p:spPr>
          <a:xfrm>
            <a:off x="559612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w₂, b₂</a:t>
            </a:r>
            <a:endParaRPr lang="en-US" sz="1400" dirty="0"/>
          </a:p>
        </p:txBody>
      </p:sp>
      <p:sp>
        <p:nvSpPr>
          <p:cNvPr id="25" name="Shape 22"/>
          <p:cNvSpPr/>
          <p:nvPr/>
        </p:nvSpPr>
        <p:spPr>
          <a:xfrm>
            <a:off x="6858000" y="2011680"/>
            <a:ext cx="749808" cy="749808"/>
          </a:xfrm>
          <a:prstGeom prst="ellipse">
            <a:avLst/>
          </a:prstGeom>
          <a:solidFill>
            <a:srgbClr val="FFFFFF"/>
          </a:solidFill>
          <a:ln w="15875">
            <a:solidFill>
              <a:srgbClr val="8A94A3"/>
            </a:solidFill>
            <a:prstDash val="solid"/>
          </a:ln>
        </p:spPr>
      </p:sp>
      <p:sp>
        <p:nvSpPr>
          <p:cNvPr id="26" name="Text 23"/>
          <p:cNvSpPr txBox="1"/>
          <p:nvPr/>
        </p:nvSpPr>
        <p:spPr>
          <a:xfrm>
            <a:off x="685800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27" name="Text 24"/>
          <p:cNvSpPr txBox="1"/>
          <p:nvPr/>
        </p:nvSpPr>
        <p:spPr>
          <a:xfrm>
            <a:off x="644652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0.3002</a:t>
            </a:r>
            <a:endParaRPr lang="en-US" sz="1800" dirty="0"/>
          </a:p>
        </p:txBody>
      </p:sp>
      <p:sp>
        <p:nvSpPr>
          <p:cNvPr id="28" name="Text 25"/>
          <p:cNvSpPr txBox="1"/>
          <p:nvPr/>
        </p:nvSpPr>
        <p:spPr>
          <a:xfrm>
            <a:off x="630936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δ₂ = −0.1040</a:t>
            </a:r>
            <a:endParaRPr lang="en-US" sz="1700" dirty="0"/>
          </a:p>
        </p:txBody>
      </p:sp>
      <p:sp>
        <p:nvSpPr>
          <p:cNvPr id="29" name="Shape 26"/>
          <p:cNvSpPr/>
          <p:nvPr/>
        </p:nvSpPr>
        <p:spPr>
          <a:xfrm>
            <a:off x="7626096" y="2295144"/>
            <a:ext cx="1225296" cy="91"/>
          </a:xfrm>
          <a:prstGeom prst="line">
            <a:avLst/>
          </a:prstGeom>
          <a:noFill/>
          <a:ln w="22225">
            <a:solidFill>
              <a:srgbClr val="0F7C82"/>
            </a:solidFill>
            <a:prstDash val="solid"/>
            <a:tailEnd type="triangle"/>
          </a:ln>
        </p:spPr>
      </p:sp>
      <p:sp>
        <p:nvSpPr>
          <p:cNvPr id="30" name="Shape 27"/>
          <p:cNvSpPr/>
          <p:nvPr/>
        </p:nvSpPr>
        <p:spPr>
          <a:xfrm flipH="1">
            <a:off x="7626096" y="2496312"/>
            <a:ext cx="1225296" cy="91"/>
          </a:xfrm>
          <a:prstGeom prst="line">
            <a:avLst/>
          </a:prstGeom>
          <a:noFill/>
          <a:ln w="19050">
            <a:solidFill>
              <a:srgbClr val="C8571B"/>
            </a:solidFill>
            <a:prstDash val="solid"/>
            <a:tailEnd type="triangle"/>
          </a:ln>
        </p:spPr>
      </p:sp>
      <p:sp>
        <p:nvSpPr>
          <p:cNvPr id="31" name="Text 28"/>
          <p:cNvSpPr txBox="1"/>
          <p:nvPr/>
        </p:nvSpPr>
        <p:spPr>
          <a:xfrm>
            <a:off x="760780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32" name="Shape 29"/>
          <p:cNvSpPr/>
          <p:nvPr/>
        </p:nvSpPr>
        <p:spPr>
          <a:xfrm>
            <a:off x="8869680" y="2011680"/>
            <a:ext cx="749808" cy="749808"/>
          </a:xfrm>
          <a:prstGeom prst="ellipse">
            <a:avLst/>
          </a:prstGeom>
          <a:solidFill>
            <a:srgbClr val="FFFFFF"/>
          </a:solidFill>
          <a:ln w="15875">
            <a:solidFill>
              <a:srgbClr val="8A94A3"/>
            </a:solidFill>
            <a:prstDash val="solid"/>
          </a:ln>
        </p:spPr>
      </p:sp>
      <p:sp>
        <p:nvSpPr>
          <p:cNvPr id="33" name="Text 30"/>
          <p:cNvSpPr txBox="1"/>
          <p:nvPr/>
        </p:nvSpPr>
        <p:spPr>
          <a:xfrm>
            <a:off x="886968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34" name="Text 31"/>
          <p:cNvSpPr txBox="1"/>
          <p:nvPr/>
        </p:nvSpPr>
        <p:spPr>
          <a:xfrm>
            <a:off x="845820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0.5745</a:t>
            </a:r>
            <a:endParaRPr lang="en-US" sz="1800" dirty="0"/>
          </a:p>
        </p:txBody>
      </p:sp>
      <p:sp>
        <p:nvSpPr>
          <p:cNvPr id="35" name="Text 32"/>
          <p:cNvSpPr txBox="1"/>
          <p:nvPr/>
        </p:nvSpPr>
        <p:spPr>
          <a:xfrm>
            <a:off x="832104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−0.4255</a:t>
            </a:r>
            <a:endParaRPr lang="en-US" sz="1700" dirty="0"/>
          </a:p>
        </p:txBody>
      </p:sp>
      <p:sp>
        <p:nvSpPr>
          <p:cNvPr id="36" name="Shape 33"/>
          <p:cNvSpPr/>
          <p:nvPr/>
        </p:nvSpPr>
        <p:spPr>
          <a:xfrm>
            <a:off x="9637776" y="2295144"/>
            <a:ext cx="1225296" cy="91"/>
          </a:xfrm>
          <a:prstGeom prst="line">
            <a:avLst/>
          </a:prstGeom>
          <a:noFill/>
          <a:ln w="22225">
            <a:solidFill>
              <a:srgbClr val="0F7C82"/>
            </a:solidFill>
            <a:prstDash val="solid"/>
            <a:tailEnd type="triangle"/>
          </a:ln>
        </p:spPr>
      </p:sp>
      <p:sp>
        <p:nvSpPr>
          <p:cNvPr id="37" name="Shape 34"/>
          <p:cNvSpPr/>
          <p:nvPr/>
        </p:nvSpPr>
        <p:spPr>
          <a:xfrm flipH="1">
            <a:off x="9637776" y="2496312"/>
            <a:ext cx="1225296" cy="91"/>
          </a:xfrm>
          <a:prstGeom prst="line">
            <a:avLst/>
          </a:prstGeom>
          <a:noFill/>
          <a:ln w="19050">
            <a:solidFill>
              <a:srgbClr val="C8571B"/>
            </a:solidFill>
            <a:prstDash val="solid"/>
            <a:tailEnd type="triangle"/>
          </a:ln>
        </p:spPr>
      </p:sp>
      <p:sp>
        <p:nvSpPr>
          <p:cNvPr id="38" name="Text 35"/>
          <p:cNvSpPr txBox="1"/>
          <p:nvPr/>
        </p:nvSpPr>
        <p:spPr>
          <a:xfrm>
            <a:off x="961948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½(a₂ − y)²</a:t>
            </a:r>
            <a:endParaRPr lang="en-US" sz="1400" dirty="0"/>
          </a:p>
        </p:txBody>
      </p:sp>
      <p:sp>
        <p:nvSpPr>
          <p:cNvPr id="39" name="Shape 36"/>
          <p:cNvSpPr/>
          <p:nvPr/>
        </p:nvSpPr>
        <p:spPr>
          <a:xfrm>
            <a:off x="10881360" y="2011680"/>
            <a:ext cx="749808" cy="749808"/>
          </a:xfrm>
          <a:prstGeom prst="ellipse">
            <a:avLst/>
          </a:prstGeom>
          <a:solidFill>
            <a:srgbClr val="17202E"/>
          </a:solidFill>
          <a:ln/>
        </p:spPr>
      </p:sp>
      <p:sp>
        <p:nvSpPr>
          <p:cNvPr id="40" name="Text 37"/>
          <p:cNvSpPr txBox="1"/>
          <p:nvPr/>
        </p:nvSpPr>
        <p:spPr>
          <a:xfrm>
            <a:off x="10881360" y="2011680"/>
            <a:ext cx="749808" cy="749808"/>
          </a:xfrm>
          <a:prstGeom prst="rect">
            <a:avLst/>
          </a:prstGeom>
          <a:noFill/>
          <a:ln/>
        </p:spPr>
        <p:txBody>
          <a:bodyPr wrap="square" lIns="0" tIns="0" rIns="0" bIns="0" rtlCol="0" anchor="ctr"/>
          <a:lstStyle/>
          <a:p>
            <a:pPr algn="ctr" indent="0" marL="0">
              <a:buNone/>
            </a:pPr>
            <a:r>
              <a:rPr lang="en-US" sz="2100" i="1" dirty="0">
                <a:solidFill>
                  <a:srgbClr val="FFFFFF"/>
                </a:solidFill>
                <a:latin typeface="Cambria" pitchFamily="34" charset="0"/>
                <a:ea typeface="Cambria" pitchFamily="34" charset="-122"/>
                <a:cs typeface="Cambria" pitchFamily="34" charset="-120"/>
              </a:rPr>
              <a:t>L</a:t>
            </a:r>
            <a:endParaRPr lang="en-US" sz="2100" dirty="0"/>
          </a:p>
        </p:txBody>
      </p:sp>
      <p:sp>
        <p:nvSpPr>
          <p:cNvPr id="41" name="Text 38"/>
          <p:cNvSpPr txBox="1"/>
          <p:nvPr/>
        </p:nvSpPr>
        <p:spPr>
          <a:xfrm>
            <a:off x="104698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0.0905</a:t>
            </a:r>
            <a:endParaRPr lang="en-US" sz="1800" dirty="0"/>
          </a:p>
        </p:txBody>
      </p:sp>
      <p:sp>
        <p:nvSpPr>
          <p:cNvPr id="42" name="Shape 39"/>
          <p:cNvSpPr/>
          <p:nvPr/>
        </p:nvSpPr>
        <p:spPr>
          <a:xfrm>
            <a:off x="548640" y="3200400"/>
            <a:ext cx="7223760" cy="1874520"/>
          </a:xfrm>
          <a:prstGeom prst="roundRect">
            <a:avLst>
              <a:gd name="adj" fmla="val 3902"/>
            </a:avLst>
          </a:prstGeom>
          <a:solidFill>
            <a:srgbClr val="E2F1F1"/>
          </a:solidFill>
          <a:ln/>
        </p:spPr>
      </p:sp>
      <p:sp>
        <p:nvSpPr>
          <p:cNvPr id="43" name="Text 40"/>
          <p:cNvSpPr txBox="1"/>
          <p:nvPr/>
        </p:nvSpPr>
        <p:spPr>
          <a:xfrm>
            <a:off x="749808" y="3337560"/>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PARAMETER GRADIENTS</a:t>
            </a:r>
            <a:endParaRPr lang="en-US" sz="1300" dirty="0"/>
          </a:p>
        </p:txBody>
      </p:sp>
      <p:pic>
        <p:nvPicPr>
          <p:cNvPr id="44" name="Image 0" descr="LaTeX: \begin{alignat*}{2} \frac{\partial L}{\partial w_2} &amp;= \delta_2\,a_1 = \textcolor{bw}{-0.0780} &amp;\qquad \frac{\partial L}{\partial b_2} &amp;= \delta_2 = \textcolor{bw}{-0.1040}\\ \frac{\partial L}{\partial w_1} &amp;= \delta_1\,x = \textcolor{bw}{-0.0312} &amp;\qquad \frac{\partial L}{\partial b_1} &amp;= \delta_1 = \textcolor{bw}{-0.0156} \end{alignat*}">    </p:cNvPr>
          <p:cNvPicPr>
            <a:picLocks noChangeAspect="1"/>
          </p:cNvPicPr>
          <p:nvPr/>
        </p:nvPicPr>
        <p:blipFill>
          <a:blip r:embed="rId1"/>
          <a:stretch>
            <a:fillRect/>
          </a:stretch>
        </p:blipFill>
        <p:spPr>
          <a:xfrm>
            <a:off x="822960" y="3703320"/>
            <a:ext cx="5367528" cy="1298448"/>
          </a:xfrm>
          <a:prstGeom prst="rect">
            <a:avLst/>
          </a:prstGeom>
        </p:spPr>
      </p:pic>
      <p:sp>
        <p:nvSpPr>
          <p:cNvPr id="45" name="Shape 41"/>
          <p:cNvSpPr/>
          <p:nvPr/>
        </p:nvSpPr>
        <p:spPr>
          <a:xfrm>
            <a:off x="548640" y="5257800"/>
            <a:ext cx="3520440" cy="868680"/>
          </a:xfrm>
          <a:prstGeom prst="roundRect">
            <a:avLst>
              <a:gd name="adj" fmla="val 8421"/>
            </a:avLst>
          </a:prstGeom>
          <a:solidFill>
            <a:srgbClr val="F3F5F8"/>
          </a:solidFill>
          <a:ln/>
        </p:spPr>
      </p:sp>
      <p:sp>
        <p:nvSpPr>
          <p:cNvPr id="46" name="Text 42"/>
          <p:cNvSpPr txBox="1"/>
          <p:nvPr/>
        </p:nvSpPr>
        <p:spPr>
          <a:xfrm>
            <a:off x="749808" y="5422392"/>
            <a:ext cx="3118104" cy="41148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Weight: error × input</a:t>
            </a:r>
            <a:endParaRPr lang="en-US" sz="1800" dirty="0"/>
          </a:p>
        </p:txBody>
      </p:sp>
      <p:sp>
        <p:nvSpPr>
          <p:cNvPr id="47" name="Shape 43"/>
          <p:cNvSpPr/>
          <p:nvPr/>
        </p:nvSpPr>
        <p:spPr>
          <a:xfrm>
            <a:off x="4251960" y="5257800"/>
            <a:ext cx="3520440" cy="868680"/>
          </a:xfrm>
          <a:prstGeom prst="roundRect">
            <a:avLst>
              <a:gd name="adj" fmla="val 8421"/>
            </a:avLst>
          </a:prstGeom>
          <a:solidFill>
            <a:srgbClr val="F3F5F8"/>
          </a:solidFill>
          <a:ln/>
        </p:spPr>
      </p:sp>
      <p:sp>
        <p:nvSpPr>
          <p:cNvPr id="48" name="Text 44"/>
          <p:cNvSpPr txBox="1"/>
          <p:nvPr/>
        </p:nvSpPr>
        <p:spPr>
          <a:xfrm>
            <a:off x="4453128" y="5422392"/>
            <a:ext cx="3118104" cy="41148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Bias: the error itself</a:t>
            </a:r>
            <a:endParaRPr lang="en-US" sz="1800" dirty="0"/>
          </a:p>
        </p:txBody>
      </p:sp>
      <p:sp>
        <p:nvSpPr>
          <p:cNvPr id="49" name="Shape 45"/>
          <p:cNvSpPr/>
          <p:nvPr/>
        </p:nvSpPr>
        <p:spPr>
          <a:xfrm>
            <a:off x="8001000" y="3200400"/>
            <a:ext cx="3639312" cy="2926080"/>
          </a:xfrm>
          <a:prstGeom prst="roundRect">
            <a:avLst>
              <a:gd name="adj" fmla="val 2500"/>
            </a:avLst>
          </a:prstGeom>
          <a:solidFill>
            <a:srgbClr val="17202E"/>
          </a:solidFill>
          <a:ln/>
        </p:spPr>
      </p:sp>
      <p:sp>
        <p:nvSpPr>
          <p:cNvPr id="50" name="Text 46"/>
          <p:cNvSpPr txBox="1"/>
          <p:nvPr/>
        </p:nvSpPr>
        <p:spPr>
          <a:xfrm>
            <a:off x="8202168" y="3246120"/>
            <a:ext cx="3236976" cy="28346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PyTorch's autograd reproduces −0.0312 and −0.0780 exactly (next slides).</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The four equations of backpropagation</a:t>
            </a:r>
            <a:endParaRPr lang="en-US" sz="3200" dirty="0"/>
          </a:p>
        </p:txBody>
      </p:sp>
      <p:sp>
        <p:nvSpPr>
          <p:cNvPr id="5" name="Shape 2"/>
          <p:cNvSpPr/>
          <p:nvPr/>
        </p:nvSpPr>
        <p:spPr>
          <a:xfrm>
            <a:off x="548640" y="1417320"/>
            <a:ext cx="11094415" cy="896112"/>
          </a:xfrm>
          <a:prstGeom prst="roundRect">
            <a:avLst>
              <a:gd name="adj" fmla="val 8163"/>
            </a:avLst>
          </a:prstGeom>
          <a:solidFill>
            <a:srgbClr val="F3F5F8"/>
          </a:solidFill>
          <a:ln/>
        </p:spPr>
      </p:sp>
      <p:sp>
        <p:nvSpPr>
          <p:cNvPr id="6" name="Shape 3"/>
          <p:cNvSpPr/>
          <p:nvPr/>
        </p:nvSpPr>
        <p:spPr>
          <a:xfrm>
            <a:off x="713232" y="1618488"/>
            <a:ext cx="868680" cy="493776"/>
          </a:xfrm>
          <a:prstGeom prst="roundRect">
            <a:avLst>
              <a:gd name="adj" fmla="val 18519"/>
            </a:avLst>
          </a:prstGeom>
          <a:solidFill>
            <a:srgbClr val="0F7C82"/>
          </a:solidFill>
          <a:ln w="15875">
            <a:solidFill>
              <a:srgbClr val="0F7C82"/>
            </a:solidFill>
            <a:prstDash val="solid"/>
          </a:ln>
        </p:spPr>
      </p:sp>
      <p:sp>
        <p:nvSpPr>
          <p:cNvPr id="7" name="Text 4"/>
          <p:cNvSpPr txBox="1"/>
          <p:nvPr/>
        </p:nvSpPr>
        <p:spPr>
          <a:xfrm>
            <a:off x="758952" y="1618488"/>
            <a:ext cx="777240"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BP1</a:t>
            </a:r>
            <a:endParaRPr lang="en-US" sz="1700" dirty="0"/>
          </a:p>
        </p:txBody>
      </p:sp>
      <p:pic>
        <p:nvPicPr>
          <p:cNvPr id="8" name="Image 0" descr="LaTeX: $\displaystyle \dl\Ly{L} = \nabla_{\av}L \odot g'(\z\Ly{L})$">    </p:cNvPr>
          <p:cNvPicPr>
            <a:picLocks noChangeAspect="1"/>
          </p:cNvPicPr>
          <p:nvPr/>
        </p:nvPicPr>
        <p:blipFill>
          <a:blip r:embed="rId1"/>
          <a:stretch>
            <a:fillRect/>
          </a:stretch>
        </p:blipFill>
        <p:spPr>
          <a:xfrm>
            <a:off x="1828800" y="1715414"/>
            <a:ext cx="1914144" cy="299923"/>
          </a:xfrm>
          <a:prstGeom prst="rect">
            <a:avLst/>
          </a:prstGeom>
        </p:spPr>
      </p:pic>
      <p:sp>
        <p:nvSpPr>
          <p:cNvPr id="9" name="Text 5"/>
          <p:cNvSpPr txBox="1"/>
          <p:nvPr/>
        </p:nvSpPr>
        <p:spPr>
          <a:xfrm>
            <a:off x="6400800" y="1417320"/>
            <a:ext cx="5120640" cy="896112"/>
          </a:xfrm>
          <a:prstGeom prst="rect">
            <a:avLst/>
          </a:prstGeom>
          <a:noFill/>
          <a:ln/>
        </p:spPr>
        <p:txBody>
          <a:bodyPr wrap="square" lIns="0" tIns="0" rIns="0" bIns="0" rtlCol="0" anchor="ctr"/>
          <a:lstStyle/>
          <a:p>
            <a:pPr indent="0" marL="0">
              <a:buNone/>
            </a:pPr>
            <a:r>
              <a:rPr lang="en-US" sz="1700" dirty="0">
                <a:solidFill>
                  <a:srgbClr val="2B3A4F"/>
                </a:solidFill>
                <a:latin typeface="Calibri" pitchFamily="34" charset="0"/>
                <a:ea typeface="Calibri" pitchFamily="34" charset="-122"/>
                <a:cs typeface="Calibri" pitchFamily="34" charset="-120"/>
              </a:rPr>
              <a:t>Output error: loss gradient × the unit's own slope (elementwise g).</a:t>
            </a:r>
            <a:endParaRPr lang="en-US" sz="1700" dirty="0"/>
          </a:p>
        </p:txBody>
      </p:sp>
      <p:sp>
        <p:nvSpPr>
          <p:cNvPr id="10" name="Shape 6"/>
          <p:cNvSpPr/>
          <p:nvPr/>
        </p:nvSpPr>
        <p:spPr>
          <a:xfrm>
            <a:off x="548640" y="2423160"/>
            <a:ext cx="11094415" cy="896112"/>
          </a:xfrm>
          <a:prstGeom prst="roundRect">
            <a:avLst>
              <a:gd name="adj" fmla="val 8163"/>
            </a:avLst>
          </a:prstGeom>
          <a:solidFill>
            <a:srgbClr val="FFFFFF"/>
          </a:solidFill>
          <a:ln w="12700">
            <a:solidFill>
              <a:srgbClr val="D5DBE3"/>
            </a:solidFill>
            <a:prstDash val="solid"/>
          </a:ln>
        </p:spPr>
      </p:sp>
      <p:sp>
        <p:nvSpPr>
          <p:cNvPr id="11" name="Shape 7"/>
          <p:cNvSpPr/>
          <p:nvPr/>
        </p:nvSpPr>
        <p:spPr>
          <a:xfrm>
            <a:off x="713232" y="2624328"/>
            <a:ext cx="868680" cy="493776"/>
          </a:xfrm>
          <a:prstGeom prst="roundRect">
            <a:avLst>
              <a:gd name="adj" fmla="val 18519"/>
            </a:avLst>
          </a:prstGeom>
          <a:solidFill>
            <a:srgbClr val="C8571B"/>
          </a:solidFill>
          <a:ln w="15875">
            <a:solidFill>
              <a:srgbClr val="C8571B"/>
            </a:solidFill>
            <a:prstDash val="solid"/>
          </a:ln>
        </p:spPr>
      </p:sp>
      <p:sp>
        <p:nvSpPr>
          <p:cNvPr id="12" name="Text 8"/>
          <p:cNvSpPr txBox="1"/>
          <p:nvPr/>
        </p:nvSpPr>
        <p:spPr>
          <a:xfrm>
            <a:off x="758952" y="2624328"/>
            <a:ext cx="777240"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BP2</a:t>
            </a:r>
            <a:endParaRPr lang="en-US" sz="1700" dirty="0"/>
          </a:p>
        </p:txBody>
      </p:sp>
      <p:pic>
        <p:nvPicPr>
          <p:cNvPr id="13" name="Image 1" descr="LaTeX: $\displaystyle \dl\Ly{l} = \bigl(\W\Ly{l+1}{}\T\,\dl\Ly{l+1}\bigr) \odot g'(\z\Ly{l})$">    </p:cNvPr>
          <p:cNvPicPr>
            <a:picLocks noChangeAspect="1"/>
          </p:cNvPicPr>
          <p:nvPr/>
        </p:nvPicPr>
        <p:blipFill>
          <a:blip r:embed="rId2"/>
          <a:stretch>
            <a:fillRect/>
          </a:stretch>
        </p:blipFill>
        <p:spPr>
          <a:xfrm>
            <a:off x="1828800" y="2710282"/>
            <a:ext cx="2821229" cy="321869"/>
          </a:xfrm>
          <a:prstGeom prst="rect">
            <a:avLst/>
          </a:prstGeom>
        </p:spPr>
      </p:pic>
      <p:sp>
        <p:nvSpPr>
          <p:cNvPr id="14" name="Text 9"/>
          <p:cNvSpPr txBox="1"/>
          <p:nvPr/>
        </p:nvSpPr>
        <p:spPr>
          <a:xfrm>
            <a:off x="6400800" y="2423160"/>
            <a:ext cx="5120640" cy="896112"/>
          </a:xfrm>
          <a:prstGeom prst="rect">
            <a:avLst/>
          </a:prstGeom>
          <a:noFill/>
          <a:ln/>
        </p:spPr>
        <p:txBody>
          <a:bodyPr wrap="square" lIns="0" tIns="0" rIns="0" bIns="0" rtlCol="0" anchor="ctr"/>
          <a:lstStyle/>
          <a:p>
            <a:pPr indent="0" marL="0">
              <a:buNone/>
            </a:pPr>
            <a:r>
              <a:rPr lang="en-US" sz="1700" dirty="0">
                <a:solidFill>
                  <a:srgbClr val="2B3A4F"/>
                </a:solidFill>
                <a:latin typeface="Calibri" pitchFamily="34" charset="0"/>
                <a:ea typeface="Calibri" pitchFamily="34" charset="-122"/>
                <a:cs typeface="Calibri" pitchFamily="34" charset="-120"/>
              </a:rPr>
              <a:t>Send the error back through Wᵀ, then gate it by g′.</a:t>
            </a:r>
            <a:endParaRPr lang="en-US" sz="1700" dirty="0"/>
          </a:p>
        </p:txBody>
      </p:sp>
      <p:sp>
        <p:nvSpPr>
          <p:cNvPr id="15" name="Shape 10"/>
          <p:cNvSpPr/>
          <p:nvPr/>
        </p:nvSpPr>
        <p:spPr>
          <a:xfrm>
            <a:off x="548640" y="3429000"/>
            <a:ext cx="11094415" cy="896112"/>
          </a:xfrm>
          <a:prstGeom prst="roundRect">
            <a:avLst>
              <a:gd name="adj" fmla="val 8163"/>
            </a:avLst>
          </a:prstGeom>
          <a:solidFill>
            <a:srgbClr val="F3F5F8"/>
          </a:solidFill>
          <a:ln/>
        </p:spPr>
      </p:sp>
      <p:sp>
        <p:nvSpPr>
          <p:cNvPr id="16" name="Shape 11"/>
          <p:cNvSpPr/>
          <p:nvPr/>
        </p:nvSpPr>
        <p:spPr>
          <a:xfrm>
            <a:off x="713232" y="3630168"/>
            <a:ext cx="868680" cy="493776"/>
          </a:xfrm>
          <a:prstGeom prst="roundRect">
            <a:avLst>
              <a:gd name="adj" fmla="val 18519"/>
            </a:avLst>
          </a:prstGeom>
          <a:solidFill>
            <a:srgbClr val="0F7C82"/>
          </a:solidFill>
          <a:ln w="15875">
            <a:solidFill>
              <a:srgbClr val="0F7C82"/>
            </a:solidFill>
            <a:prstDash val="solid"/>
          </a:ln>
        </p:spPr>
      </p:sp>
      <p:sp>
        <p:nvSpPr>
          <p:cNvPr id="17" name="Text 12"/>
          <p:cNvSpPr txBox="1"/>
          <p:nvPr/>
        </p:nvSpPr>
        <p:spPr>
          <a:xfrm>
            <a:off x="758952" y="3630168"/>
            <a:ext cx="777240"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BP3</a:t>
            </a:r>
            <a:endParaRPr lang="en-US" sz="1700" dirty="0"/>
          </a:p>
        </p:txBody>
      </p:sp>
      <p:pic>
        <p:nvPicPr>
          <p:cNvPr id="18" name="Image 2" descr="LaTeX: $\displaystyle \frac{\partial L}{\partial \bb\Ly{l}} = \dl\Ly{l}$">    </p:cNvPr>
          <p:cNvPicPr>
            <a:picLocks noChangeAspect="1"/>
          </p:cNvPicPr>
          <p:nvPr/>
        </p:nvPicPr>
        <p:blipFill>
          <a:blip r:embed="rId3"/>
          <a:stretch>
            <a:fillRect/>
          </a:stretch>
        </p:blipFill>
        <p:spPr>
          <a:xfrm>
            <a:off x="1828800" y="3635654"/>
            <a:ext cx="994867" cy="482803"/>
          </a:xfrm>
          <a:prstGeom prst="rect">
            <a:avLst/>
          </a:prstGeom>
        </p:spPr>
      </p:pic>
      <p:sp>
        <p:nvSpPr>
          <p:cNvPr id="19" name="Text 13"/>
          <p:cNvSpPr txBox="1"/>
          <p:nvPr/>
        </p:nvSpPr>
        <p:spPr>
          <a:xfrm>
            <a:off x="6400800" y="3429000"/>
            <a:ext cx="5120640" cy="896112"/>
          </a:xfrm>
          <a:prstGeom prst="rect">
            <a:avLst/>
          </a:prstGeom>
          <a:noFill/>
          <a:ln/>
        </p:spPr>
        <p:txBody>
          <a:bodyPr wrap="square" lIns="0" tIns="0" rIns="0" bIns="0" rtlCol="0" anchor="ctr"/>
          <a:lstStyle/>
          <a:p>
            <a:pPr indent="0" marL="0">
              <a:buNone/>
            </a:pPr>
            <a:r>
              <a:rPr lang="en-US" sz="1700" dirty="0">
                <a:solidFill>
                  <a:srgbClr val="2B3A4F"/>
                </a:solidFill>
                <a:latin typeface="Calibri" pitchFamily="34" charset="0"/>
                <a:ea typeface="Calibri" pitchFamily="34" charset="-122"/>
                <a:cs typeface="Calibri" pitchFamily="34" charset="-120"/>
              </a:rPr>
              <a:t>Bias gradient = the error signal.</a:t>
            </a:r>
            <a:endParaRPr lang="en-US" sz="1700" dirty="0"/>
          </a:p>
        </p:txBody>
      </p:sp>
      <p:sp>
        <p:nvSpPr>
          <p:cNvPr id="20" name="Shape 14"/>
          <p:cNvSpPr/>
          <p:nvPr/>
        </p:nvSpPr>
        <p:spPr>
          <a:xfrm>
            <a:off x="548640" y="4434840"/>
            <a:ext cx="11094415" cy="896112"/>
          </a:xfrm>
          <a:prstGeom prst="roundRect">
            <a:avLst>
              <a:gd name="adj" fmla="val 8163"/>
            </a:avLst>
          </a:prstGeom>
          <a:solidFill>
            <a:srgbClr val="FFFFFF"/>
          </a:solidFill>
          <a:ln w="12700">
            <a:solidFill>
              <a:srgbClr val="D5DBE3"/>
            </a:solidFill>
            <a:prstDash val="solid"/>
          </a:ln>
        </p:spPr>
      </p:sp>
      <p:sp>
        <p:nvSpPr>
          <p:cNvPr id="21" name="Shape 15"/>
          <p:cNvSpPr/>
          <p:nvPr/>
        </p:nvSpPr>
        <p:spPr>
          <a:xfrm>
            <a:off x="713232" y="4636008"/>
            <a:ext cx="868680" cy="493776"/>
          </a:xfrm>
          <a:prstGeom prst="roundRect">
            <a:avLst>
              <a:gd name="adj" fmla="val 18519"/>
            </a:avLst>
          </a:prstGeom>
          <a:solidFill>
            <a:srgbClr val="0F7C82"/>
          </a:solidFill>
          <a:ln w="15875">
            <a:solidFill>
              <a:srgbClr val="0F7C82"/>
            </a:solidFill>
            <a:prstDash val="solid"/>
          </a:ln>
        </p:spPr>
      </p:sp>
      <p:sp>
        <p:nvSpPr>
          <p:cNvPr id="22" name="Text 16"/>
          <p:cNvSpPr txBox="1"/>
          <p:nvPr/>
        </p:nvSpPr>
        <p:spPr>
          <a:xfrm>
            <a:off x="758952" y="4636008"/>
            <a:ext cx="777240"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BP4</a:t>
            </a:r>
            <a:endParaRPr lang="en-US" sz="1700" dirty="0"/>
          </a:p>
        </p:txBody>
      </p:sp>
      <p:pic>
        <p:nvPicPr>
          <p:cNvPr id="23" name="Image 3" descr="LaTeX: $\displaystyle \frac{\partial L}{\partial \W\Ly{l}} = \dl\Ly{l}\,\av\Ly{l-1}{}\T$">    </p:cNvPr>
          <p:cNvPicPr>
            <a:picLocks noChangeAspect="1"/>
          </p:cNvPicPr>
          <p:nvPr/>
        </p:nvPicPr>
        <p:blipFill>
          <a:blip r:embed="rId4"/>
          <a:stretch>
            <a:fillRect/>
          </a:stretch>
        </p:blipFill>
        <p:spPr>
          <a:xfrm>
            <a:off x="1828800" y="4641494"/>
            <a:ext cx="1762963" cy="482803"/>
          </a:xfrm>
          <a:prstGeom prst="rect">
            <a:avLst/>
          </a:prstGeom>
        </p:spPr>
      </p:pic>
      <p:sp>
        <p:nvSpPr>
          <p:cNvPr id="24" name="Text 17"/>
          <p:cNvSpPr txBox="1"/>
          <p:nvPr/>
        </p:nvSpPr>
        <p:spPr>
          <a:xfrm>
            <a:off x="6400800" y="4434840"/>
            <a:ext cx="5120640" cy="896112"/>
          </a:xfrm>
          <a:prstGeom prst="rect">
            <a:avLst/>
          </a:prstGeom>
          <a:noFill/>
          <a:ln/>
        </p:spPr>
        <p:txBody>
          <a:bodyPr wrap="square" lIns="0" tIns="0" rIns="0" bIns="0" rtlCol="0" anchor="ctr"/>
          <a:lstStyle/>
          <a:p>
            <a:pPr indent="0" marL="0">
              <a:buNone/>
            </a:pPr>
            <a:r>
              <a:rPr lang="en-US" sz="1700" dirty="0">
                <a:solidFill>
                  <a:srgbClr val="2B3A4F"/>
                </a:solidFill>
                <a:latin typeface="Calibri" pitchFamily="34" charset="0"/>
                <a:ea typeface="Calibri" pitchFamily="34" charset="-122"/>
                <a:cs typeface="Calibri" pitchFamily="34" charset="-120"/>
              </a:rPr>
              <a:t>Weight gradient = error × input activation (outer product).</a:t>
            </a:r>
            <a:endParaRPr lang="en-US" sz="1700" dirty="0"/>
          </a:p>
        </p:txBody>
      </p:sp>
      <p:sp>
        <p:nvSpPr>
          <p:cNvPr id="25" name="Shape 18"/>
          <p:cNvSpPr/>
          <p:nvPr/>
        </p:nvSpPr>
        <p:spPr>
          <a:xfrm>
            <a:off x="548640" y="5486400"/>
            <a:ext cx="11094415" cy="685800"/>
          </a:xfrm>
          <a:prstGeom prst="roundRect">
            <a:avLst>
              <a:gd name="adj" fmla="val 10667"/>
            </a:avLst>
          </a:prstGeom>
          <a:solidFill>
            <a:srgbClr val="E2F1F1"/>
          </a:solidFill>
          <a:ln/>
        </p:spPr>
      </p:sp>
      <p:pic>
        <p:nvPicPr>
          <p:cNvPr id="26" name="Image 4" descr="LaTeX: $\displaystyle \text{softmax + cross-entropy:}\quad \dl\Ly{L} = \frac{\partial L}{\partial \z\Ly{L}} = \yhv - \yv$">    </p:cNvPr>
          <p:cNvPicPr>
            <a:picLocks noChangeAspect="1"/>
          </p:cNvPicPr>
          <p:nvPr/>
        </p:nvPicPr>
        <p:blipFill>
          <a:blip r:embed="rId5"/>
          <a:stretch>
            <a:fillRect/>
          </a:stretch>
        </p:blipFill>
        <p:spPr>
          <a:xfrm>
            <a:off x="822960" y="5559552"/>
            <a:ext cx="3906926" cy="437540"/>
          </a:xfrm>
          <a:prstGeom prst="rect">
            <a:avLst/>
          </a:prstGeom>
        </p:spPr>
      </p:pic>
      <p:sp>
        <p:nvSpPr>
          <p:cNvPr id="27" name="Text 19"/>
          <p:cNvSpPr txBox="1"/>
          <p:nvPr/>
        </p:nvSpPr>
        <p:spPr>
          <a:xfrm>
            <a:off x="6949440" y="5486400"/>
            <a:ext cx="4572000" cy="685800"/>
          </a:xfrm>
          <a:prstGeom prst="rect">
            <a:avLst/>
          </a:prstGeom>
          <a:noFill/>
          <a:ln/>
        </p:spPr>
        <p:txBody>
          <a:bodyPr wrap="square" lIns="0" tIns="0" rIns="0" bIns="0" rtlCol="0" anchor="ctr"/>
          <a:lstStyle/>
          <a:p>
            <a:pPr indent="0" marL="0">
              <a:buNone/>
            </a:pPr>
            <a:r>
              <a:rPr lang="en-US" sz="1600" i="1" dirty="0">
                <a:solidFill>
                  <a:srgbClr val="0A5559"/>
                </a:solidFill>
                <a:latin typeface="Calibri" pitchFamily="34" charset="0"/>
                <a:ea typeface="Calibri" pitchFamily="34" charset="-122"/>
                <a:cs typeface="Calibri" pitchFamily="34" charset="-120"/>
              </a:rPr>
              <a:t>derived directly: softmax is not elementwise</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In PyTorch, autograd runs these equations for you</a:t>
            </a:r>
            <a:endParaRPr lang="en-US" sz="3200" dirty="0"/>
          </a:p>
        </p:txBody>
      </p:sp>
      <p:sp>
        <p:nvSpPr>
          <p:cNvPr id="5" name="Shape 2"/>
          <p:cNvSpPr/>
          <p:nvPr/>
        </p:nvSpPr>
        <p:spPr>
          <a:xfrm>
            <a:off x="548640" y="1417320"/>
            <a:ext cx="6720840" cy="4709160"/>
          </a:xfrm>
          <a:prstGeom prst="roundRect">
            <a:avLst>
              <a:gd name="adj" fmla="val 1165"/>
            </a:avLst>
          </a:prstGeom>
          <a:solidFill>
            <a:srgbClr val="1E2735"/>
          </a:solidFill>
          <a:ln/>
        </p:spPr>
      </p:sp>
      <p:sp>
        <p:nvSpPr>
          <p:cNvPr id="6" name="Text 3"/>
          <p:cNvSpPr txBox="1"/>
          <p:nvPr/>
        </p:nvSpPr>
        <p:spPr>
          <a:xfrm>
            <a:off x="749808" y="1563624"/>
            <a:ext cx="6400800" cy="4453128"/>
          </a:xfrm>
          <a:prstGeom prst="rect">
            <a:avLst/>
          </a:prstGeom>
          <a:noFill/>
          <a:ln/>
        </p:spPr>
        <p:txBody>
          <a:bodyPr wrap="square" lIns="0" tIns="0" rIns="0" bIns="0" rtlCol="0" anchor="t"/>
          <a:lstStyle/>
          <a:p>
            <a:pPr indent="0" marL="0">
              <a:lnSpc>
                <a:spcPct val="105000"/>
              </a:lnSpc>
              <a:buNone/>
            </a:pPr>
            <a:r>
              <a:rPr lang="en-US" sz="1600" dirty="0">
                <a:solidFill>
                  <a:srgbClr val="7FD1CF"/>
                </a:solidFill>
                <a:latin typeface="Consolas" pitchFamily="34" charset="0"/>
                <a:ea typeface="Consolas" pitchFamily="34" charset="-122"/>
                <a:cs typeface="Consolas" pitchFamily="34" charset="-120"/>
              </a:rPr>
              <a:t>import</a:t>
            </a:r>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torch</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x, y = torch.tensor(2.0), torch.tensor(1.0)</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w1 = torch.tensor(0.5, requires_grad=</a:t>
            </a:r>
            <a:pPr indent="0" marL="0">
              <a:lnSpc>
                <a:spcPct val="105000"/>
              </a:lnSpc>
              <a:buNone/>
            </a:pPr>
            <a:r>
              <a:rPr lang="en-US" sz="1600" dirty="0">
                <a:solidFill>
                  <a:srgbClr val="7FD1CF"/>
                </a:solidFill>
                <a:latin typeface="Consolas" pitchFamily="34" charset="0"/>
                <a:ea typeface="Consolas" pitchFamily="34" charset="-122"/>
                <a:cs typeface="Consolas" pitchFamily="34" charset="-120"/>
              </a:rPr>
              <a:t>True</a:t>
            </a:r>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b1 = torch.tensor(0.1, requires_grad=</a:t>
            </a:r>
            <a:pPr indent="0" marL="0">
              <a:lnSpc>
                <a:spcPct val="105000"/>
              </a:lnSpc>
              <a:buNone/>
            </a:pPr>
            <a:r>
              <a:rPr lang="en-US" sz="1600" dirty="0">
                <a:solidFill>
                  <a:srgbClr val="7FD1CF"/>
                </a:solidFill>
                <a:latin typeface="Consolas" pitchFamily="34" charset="0"/>
                <a:ea typeface="Consolas" pitchFamily="34" charset="-122"/>
                <a:cs typeface="Consolas" pitchFamily="34" charset="-120"/>
              </a:rPr>
              <a:t>True</a:t>
            </a:r>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w2 = torch.tensor(0.8, requires_grad=</a:t>
            </a:r>
            <a:pPr indent="0" marL="0">
              <a:lnSpc>
                <a:spcPct val="105000"/>
              </a:lnSpc>
              <a:buNone/>
            </a:pPr>
            <a:r>
              <a:rPr lang="en-US" sz="1600" dirty="0">
                <a:solidFill>
                  <a:srgbClr val="7FD1CF"/>
                </a:solidFill>
                <a:latin typeface="Consolas" pitchFamily="34" charset="0"/>
                <a:ea typeface="Consolas" pitchFamily="34" charset="-122"/>
                <a:cs typeface="Consolas" pitchFamily="34" charset="-120"/>
              </a:rPr>
              <a:t>True</a:t>
            </a:r>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b2 = torch.tensor(-0.3, requires_grad=</a:t>
            </a:r>
            <a:pPr indent="0" marL="0">
              <a:lnSpc>
                <a:spcPct val="105000"/>
              </a:lnSpc>
              <a:buNone/>
            </a:pPr>
            <a:r>
              <a:rPr lang="en-US" sz="1600" dirty="0">
                <a:solidFill>
                  <a:srgbClr val="7FD1CF"/>
                </a:solidFill>
                <a:latin typeface="Consolas" pitchFamily="34" charset="0"/>
                <a:ea typeface="Consolas" pitchFamily="34" charset="-122"/>
                <a:cs typeface="Consolas" pitchFamily="34" charset="-120"/>
              </a:rPr>
              <a:t>True</a:t>
            </a:r>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a1 = torch.sigmoid(w1 * x + b1)   </a:t>
            </a:r>
            <a:pPr indent="0" marL="0">
              <a:lnSpc>
                <a:spcPct val="105000"/>
              </a:lnSpc>
              <a:buNone/>
            </a:pPr>
            <a:r>
              <a:rPr lang="en-US" sz="1600" i="1" dirty="0">
                <a:solidFill>
                  <a:srgbClr val="8D99AB"/>
                </a:solidFill>
                <a:latin typeface="Consolas" pitchFamily="34" charset="0"/>
                <a:ea typeface="Consolas" pitchFamily="34" charset="-122"/>
                <a:cs typeface="Consolas" pitchFamily="34" charset="-120"/>
              </a:rPr>
              <a:t># graph recorded</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a2 = torch.sigmoid(w2 * a1 + b2)</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L = 0.5 * (a2 - y) ** 2</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L.backward()             </a:t>
            </a:r>
            <a:pPr indent="0" marL="0">
              <a:lnSpc>
                <a:spcPct val="105000"/>
              </a:lnSpc>
              <a:buNone/>
            </a:pPr>
            <a:r>
              <a:rPr lang="en-US" sz="1600" i="1" dirty="0">
                <a:solidFill>
                  <a:srgbClr val="8D99AB"/>
                </a:solidFill>
                <a:latin typeface="Consolas" pitchFamily="34" charset="0"/>
                <a:ea typeface="Consolas" pitchFamily="34" charset="-122"/>
                <a:cs typeface="Consolas" pitchFamily="34" charset="-120"/>
              </a:rPr>
              <a:t># reverse-mode autodiff</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print(w1.grad)           </a:t>
            </a:r>
            <a:pPr indent="0" marL="0">
              <a:lnSpc>
                <a:spcPct val="105000"/>
              </a:lnSpc>
              <a:buNone/>
            </a:pPr>
            <a:r>
              <a:rPr lang="en-US" sz="1600" i="1" dirty="0">
                <a:solidFill>
                  <a:srgbClr val="8D99AB"/>
                </a:solidFill>
                <a:latin typeface="Consolas" pitchFamily="34" charset="0"/>
                <a:ea typeface="Consolas" pitchFamily="34" charset="-122"/>
                <a:cs typeface="Consolas" pitchFamily="34" charset="-120"/>
              </a:rPr>
              <a:t># tensor(-0.0312)</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print(w2.grad)           </a:t>
            </a:r>
            <a:pPr indent="0" marL="0">
              <a:lnSpc>
                <a:spcPct val="105000"/>
              </a:lnSpc>
              <a:buNone/>
            </a:pPr>
            <a:r>
              <a:rPr lang="en-US" sz="1600" i="1" dirty="0">
                <a:solidFill>
                  <a:srgbClr val="8D99AB"/>
                </a:solidFill>
                <a:latin typeface="Consolas" pitchFamily="34" charset="0"/>
                <a:ea typeface="Consolas" pitchFamily="34" charset="-122"/>
                <a:cs typeface="Consolas" pitchFamily="34" charset="-120"/>
              </a:rPr>
              <a:t># tensor(-0.0780)</a:t>
            </a:r>
            <a:endParaRPr lang="en-US" sz="1600" dirty="0"/>
          </a:p>
        </p:txBody>
      </p:sp>
      <p:sp>
        <p:nvSpPr>
          <p:cNvPr id="7" name="Shape 4"/>
          <p:cNvSpPr/>
          <p:nvPr/>
        </p:nvSpPr>
        <p:spPr>
          <a:xfrm>
            <a:off x="7498080" y="1463040"/>
            <a:ext cx="402336" cy="402336"/>
          </a:xfrm>
          <a:prstGeom prst="ellipse">
            <a:avLst/>
          </a:prstGeom>
          <a:solidFill>
            <a:srgbClr val="0F7C82"/>
          </a:solidFill>
          <a:ln/>
        </p:spPr>
      </p:sp>
      <p:sp>
        <p:nvSpPr>
          <p:cNvPr id="8" name="Text 5"/>
          <p:cNvSpPr txBox="1"/>
          <p:nvPr/>
        </p:nvSpPr>
        <p:spPr>
          <a:xfrm>
            <a:off x="7498080" y="14630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6"/>
          <p:cNvSpPr txBox="1"/>
          <p:nvPr/>
        </p:nvSpPr>
        <p:spPr>
          <a:xfrm>
            <a:off x="8101584" y="1444752"/>
            <a:ext cx="35387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.grad accumulates</a:t>
            </a:r>
            <a:endParaRPr lang="en-US" sz="1800" dirty="0"/>
          </a:p>
        </p:txBody>
      </p:sp>
      <p:sp>
        <p:nvSpPr>
          <p:cNvPr id="10" name="Text 7"/>
          <p:cNvSpPr txBox="1"/>
          <p:nvPr/>
        </p:nvSpPr>
        <p:spPr>
          <a:xfrm>
            <a:off x="8101584" y="1810512"/>
            <a:ext cx="3538728" cy="80467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So call optimizer.zero_grad() every step.</a:t>
            </a:r>
            <a:endParaRPr lang="en-US" sz="1600" dirty="0"/>
          </a:p>
        </p:txBody>
      </p:sp>
      <p:sp>
        <p:nvSpPr>
          <p:cNvPr id="11" name="Shape 8"/>
          <p:cNvSpPr/>
          <p:nvPr/>
        </p:nvSpPr>
        <p:spPr>
          <a:xfrm>
            <a:off x="7498080" y="2633472"/>
            <a:ext cx="402336" cy="402336"/>
          </a:xfrm>
          <a:prstGeom prst="ellipse">
            <a:avLst/>
          </a:prstGeom>
          <a:solidFill>
            <a:srgbClr val="0F7C82"/>
          </a:solidFill>
          <a:ln/>
        </p:spPr>
      </p:sp>
      <p:sp>
        <p:nvSpPr>
          <p:cNvPr id="12" name="Text 9"/>
          <p:cNvSpPr txBox="1"/>
          <p:nvPr/>
        </p:nvSpPr>
        <p:spPr>
          <a:xfrm>
            <a:off x="7498080" y="263347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0"/>
          <p:cNvSpPr txBox="1"/>
          <p:nvPr/>
        </p:nvSpPr>
        <p:spPr>
          <a:xfrm>
            <a:off x="8101584" y="2615184"/>
            <a:ext cx="35387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Activations are stored</a:t>
            </a:r>
            <a:endParaRPr lang="en-US" sz="1800" dirty="0"/>
          </a:p>
        </p:txBody>
      </p:sp>
      <p:sp>
        <p:nvSpPr>
          <p:cNvPr id="14" name="Text 11"/>
          <p:cNvSpPr txBox="1"/>
          <p:nvPr/>
        </p:nvSpPr>
        <p:spPr>
          <a:xfrm>
            <a:off x="8101584" y="2980944"/>
            <a:ext cx="3538728" cy="80467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Memory grows with batch size.</a:t>
            </a:r>
            <a:endParaRPr lang="en-US" sz="1600" dirty="0"/>
          </a:p>
        </p:txBody>
      </p:sp>
      <p:sp>
        <p:nvSpPr>
          <p:cNvPr id="15" name="Shape 12"/>
          <p:cNvSpPr/>
          <p:nvPr/>
        </p:nvSpPr>
        <p:spPr>
          <a:xfrm>
            <a:off x="7498080" y="3803904"/>
            <a:ext cx="402336" cy="402336"/>
          </a:xfrm>
          <a:prstGeom prst="ellipse">
            <a:avLst/>
          </a:prstGeom>
          <a:solidFill>
            <a:srgbClr val="0F7C82"/>
          </a:solidFill>
          <a:ln/>
        </p:spPr>
      </p:sp>
      <p:sp>
        <p:nvSpPr>
          <p:cNvPr id="16" name="Text 13"/>
          <p:cNvSpPr txBox="1"/>
          <p:nvPr/>
        </p:nvSpPr>
        <p:spPr>
          <a:xfrm>
            <a:off x="7498080" y="380390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4"/>
          <p:cNvSpPr txBox="1"/>
          <p:nvPr/>
        </p:nvSpPr>
        <p:spPr>
          <a:xfrm>
            <a:off x="8101584" y="3785616"/>
            <a:ext cx="35387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Evaluate without a graph</a:t>
            </a:r>
            <a:endParaRPr lang="en-US" sz="1800" dirty="0"/>
          </a:p>
        </p:txBody>
      </p:sp>
      <p:sp>
        <p:nvSpPr>
          <p:cNvPr id="18" name="Text 15"/>
          <p:cNvSpPr txBox="1"/>
          <p:nvPr/>
        </p:nvSpPr>
        <p:spPr>
          <a:xfrm>
            <a:off x="8101584" y="4151376"/>
            <a:ext cx="3538728" cy="80467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torch.no_grad() / inference_mode().</a:t>
            </a:r>
            <a:endParaRPr lang="en-US" sz="1600" dirty="0"/>
          </a:p>
        </p:txBody>
      </p:sp>
      <p:sp>
        <p:nvSpPr>
          <p:cNvPr id="19" name="Shape 16"/>
          <p:cNvSpPr/>
          <p:nvPr/>
        </p:nvSpPr>
        <p:spPr>
          <a:xfrm>
            <a:off x="7498080" y="4974336"/>
            <a:ext cx="402336" cy="402336"/>
          </a:xfrm>
          <a:prstGeom prst="ellipse">
            <a:avLst/>
          </a:prstGeom>
          <a:solidFill>
            <a:srgbClr val="C8571B"/>
          </a:solidFill>
          <a:ln/>
        </p:spPr>
      </p:sp>
      <p:sp>
        <p:nvSpPr>
          <p:cNvPr id="20" name="Text 17"/>
          <p:cNvSpPr txBox="1"/>
          <p:nvPr/>
        </p:nvSpPr>
        <p:spPr>
          <a:xfrm>
            <a:off x="7498080" y="497433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1" name="Text 18"/>
          <p:cNvSpPr txBox="1"/>
          <p:nvPr/>
        </p:nvSpPr>
        <p:spPr>
          <a:xfrm>
            <a:off x="8101584" y="4956048"/>
            <a:ext cx="35387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Same numbers as by hand</a:t>
            </a:r>
            <a:endParaRPr lang="en-US" sz="1800" dirty="0"/>
          </a:p>
        </p:txBody>
      </p:sp>
      <p:sp>
        <p:nvSpPr>
          <p:cNvPr id="22" name="Text 19"/>
          <p:cNvSpPr txBox="1"/>
          <p:nvPr/>
        </p:nvSpPr>
        <p:spPr>
          <a:xfrm>
            <a:off x="8101584" y="5321808"/>
            <a:ext cx="3538728" cy="80467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−0.0312 and −0.0780.</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4</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In the worked example, set w₂ = 0 (everything else unchanged). What is ∂L/∂w₁?</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sp>
      <p:sp>
        <p:nvSpPr>
          <p:cNvPr id="7" name="Shape 4"/>
          <p:cNvSpPr/>
          <p:nvPr/>
        </p:nvSpPr>
        <p:spPr>
          <a:xfrm>
            <a:off x="777240" y="3136392"/>
            <a:ext cx="548640" cy="548640"/>
          </a:xfrm>
          <a:prstGeom prst="ellipse">
            <a:avLst/>
          </a:prstGeom>
          <a:solidFill>
            <a:srgbClr val="C8571B"/>
          </a:solidFill>
          <a:ln/>
        </p:spPr>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Unchanged: −0.0312</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sp>
      <p:sp>
        <p:nvSpPr>
          <p:cNvPr id="11" name="Shape 8"/>
          <p:cNvSpPr/>
          <p:nvPr/>
        </p:nvSpPr>
        <p:spPr>
          <a:xfrm>
            <a:off x="6419088" y="3136392"/>
            <a:ext cx="548640" cy="548640"/>
          </a:xfrm>
          <a:prstGeom prst="ellipse">
            <a:avLst/>
          </a:prstGeom>
          <a:solidFill>
            <a:srgbClr val="C8571B"/>
          </a:solidFill>
          <a:ln/>
        </p:spPr>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Exactly 0</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sp>
      <p:sp>
        <p:nvSpPr>
          <p:cNvPr id="15" name="Shape 12"/>
          <p:cNvSpPr/>
          <p:nvPr/>
        </p:nvSpPr>
        <p:spPr>
          <a:xfrm>
            <a:off x="777240" y="4553712"/>
            <a:ext cx="548640" cy="548640"/>
          </a:xfrm>
          <a:prstGeom prst="ellipse">
            <a:avLst/>
          </a:prstGeom>
          <a:solidFill>
            <a:srgbClr val="C8571B"/>
          </a:solidFill>
          <a:ln/>
        </p:spPr>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Larger in magnitude</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sp>
      <p:sp>
        <p:nvSpPr>
          <p:cNvPr id="19" name="Shape 16"/>
          <p:cNvSpPr/>
          <p:nvPr/>
        </p:nvSpPr>
        <p:spPr>
          <a:xfrm>
            <a:off x="6419088" y="4553712"/>
            <a:ext cx="548640" cy="548640"/>
          </a:xfrm>
          <a:prstGeom prst="ellipse">
            <a:avLst/>
          </a:prstGeom>
          <a:solidFill>
            <a:srgbClr val="C8571B"/>
          </a:solidFill>
          <a:ln/>
        </p:spPr>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Undefined</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GRADIENT DESCENT</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Gradient descent: the sharpest direction sets η</a:t>
            </a:r>
            <a:endParaRPr lang="en-US" sz="3200" dirty="0"/>
          </a:p>
        </p:txBody>
      </p:sp>
      <p:sp>
        <p:nvSpPr>
          <p:cNvPr id="5" name="Shape 2"/>
          <p:cNvSpPr/>
          <p:nvPr/>
        </p:nvSpPr>
        <p:spPr>
          <a:xfrm>
            <a:off x="548640" y="1417320"/>
            <a:ext cx="3200400" cy="1508760"/>
          </a:xfrm>
          <a:prstGeom prst="roundRect">
            <a:avLst>
              <a:gd name="adj" fmla="val 4848"/>
            </a:avLst>
          </a:prstGeom>
          <a:solidFill>
            <a:srgbClr val="E2F1F1"/>
          </a:solidFill>
          <a:ln/>
        </p:spPr>
      </p:sp>
      <p:sp>
        <p:nvSpPr>
          <p:cNvPr id="6" name="Text 3"/>
          <p:cNvSpPr txBox="1"/>
          <p:nvPr/>
        </p:nvSpPr>
        <p:spPr>
          <a:xfrm>
            <a:off x="749808" y="1554480"/>
            <a:ext cx="283464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UPDATE RULE</a:t>
            </a:r>
            <a:endParaRPr lang="en-US" sz="1300" dirty="0"/>
          </a:p>
        </p:txBody>
      </p:sp>
      <p:pic>
        <p:nvPicPr>
          <p:cNvPr id="7" name="Image 0" descr="LaTeX: $\displaystyle \bm\theta \;\leftarrow\; \bm\theta - \eta\,\nabla_{\bm\theta} J$">    </p:cNvPr>
          <p:cNvPicPr>
            <a:picLocks noChangeAspect="1"/>
          </p:cNvPicPr>
          <p:nvPr/>
        </p:nvPicPr>
        <p:blipFill>
          <a:blip r:embed="rId1"/>
          <a:stretch>
            <a:fillRect/>
          </a:stretch>
        </p:blipFill>
        <p:spPr>
          <a:xfrm>
            <a:off x="822960" y="2011680"/>
            <a:ext cx="2075383" cy="331927"/>
          </a:xfrm>
          <a:prstGeom prst="rect">
            <a:avLst/>
          </a:prstGeom>
        </p:spPr>
      </p:pic>
      <p:sp>
        <p:nvSpPr>
          <p:cNvPr id="8" name="Shape 4"/>
          <p:cNvSpPr/>
          <p:nvPr/>
        </p:nvSpPr>
        <p:spPr>
          <a:xfrm>
            <a:off x="3931920" y="1417320"/>
            <a:ext cx="3657600" cy="1508760"/>
          </a:xfrm>
          <a:prstGeom prst="roundRect">
            <a:avLst>
              <a:gd name="adj" fmla="val 4848"/>
            </a:avLst>
          </a:prstGeom>
          <a:solidFill>
            <a:srgbClr val="F3F5F8"/>
          </a:solidFill>
          <a:ln/>
        </p:spPr>
      </p:sp>
      <p:sp>
        <p:nvSpPr>
          <p:cNvPr id="9" name="Text 5"/>
          <p:cNvSpPr txBox="1"/>
          <p:nvPr/>
        </p:nvSpPr>
        <p:spPr>
          <a:xfrm>
            <a:off x="4133088" y="1554480"/>
            <a:ext cx="329184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WHY: FIRST-ORDER TAYLOR</a:t>
            </a:r>
            <a:endParaRPr lang="en-US" sz="1300" dirty="0"/>
          </a:p>
        </p:txBody>
      </p:sp>
      <p:pic>
        <p:nvPicPr>
          <p:cNvPr id="10" name="Image 1" descr="LaTeX: $\displaystyle J(\bm\theta + \Delta\bm\theta) \approx J(\bm\theta) + \nabla J\T\Delta\bm\theta$">    </p:cNvPr>
          <p:cNvPicPr>
            <a:picLocks noChangeAspect="1"/>
          </p:cNvPicPr>
          <p:nvPr/>
        </p:nvPicPr>
        <p:blipFill>
          <a:blip r:embed="rId2"/>
          <a:stretch>
            <a:fillRect/>
          </a:stretch>
        </p:blipFill>
        <p:spPr>
          <a:xfrm>
            <a:off x="4133088" y="2057400"/>
            <a:ext cx="2883027" cy="320040"/>
          </a:xfrm>
          <a:prstGeom prst="rect">
            <a:avLst/>
          </a:prstGeom>
        </p:spPr>
      </p:pic>
      <p:sp>
        <p:nvSpPr>
          <p:cNvPr id="11" name="Shape 6"/>
          <p:cNvSpPr/>
          <p:nvPr/>
        </p:nvSpPr>
        <p:spPr>
          <a:xfrm>
            <a:off x="7772400" y="1417320"/>
            <a:ext cx="3867912" cy="1508760"/>
          </a:xfrm>
          <a:prstGeom prst="roundRect">
            <a:avLst>
              <a:gd name="adj" fmla="val 4848"/>
            </a:avLst>
          </a:prstGeom>
          <a:solidFill>
            <a:srgbClr val="FBEADF"/>
          </a:solidFill>
          <a:ln/>
        </p:spPr>
      </p:sp>
      <p:sp>
        <p:nvSpPr>
          <p:cNvPr id="12" name="Text 7"/>
          <p:cNvSpPr txBox="1"/>
          <p:nvPr/>
        </p:nvSpPr>
        <p:spPr>
          <a:xfrm>
            <a:off x="7973568" y="1554480"/>
            <a:ext cx="347472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STABILITY ON A BOWL</a:t>
            </a:r>
            <a:endParaRPr lang="en-US" sz="1300" dirty="0"/>
          </a:p>
        </p:txBody>
      </p:sp>
      <p:pic>
        <p:nvPicPr>
          <p:cNvPr id="13" name="Image 2" descr="LaTeX: \begin{align*} J = \tfrac12\lambda\theta^2 \;&amp;\Rightarrow\; \theta \leftarrow (1-\eta\lambda)\,\theta\\ \text{converges} \;&amp;\Leftrightarrow\; \eta &lt; 2/\lambda_{\max} \end{align*}">    </p:cNvPr>
          <p:cNvPicPr>
            <a:picLocks noChangeAspect="1"/>
          </p:cNvPicPr>
          <p:nvPr/>
        </p:nvPicPr>
        <p:blipFill>
          <a:blip r:embed="rId3"/>
          <a:stretch>
            <a:fillRect/>
          </a:stretch>
        </p:blipFill>
        <p:spPr>
          <a:xfrm>
            <a:off x="7973568" y="1874520"/>
            <a:ext cx="2594458" cy="592531"/>
          </a:xfrm>
          <a:prstGeom prst="rect">
            <a:avLst/>
          </a:prstGeom>
        </p:spPr>
      </p:pic>
      <p:pic>
        <p:nvPicPr>
          <p:cNvPr id="14" name="Image 3" descr="Gradient descent on an elongated quadratic with learning rates 0.02 (slow), 0.15 (good) and 0.21 (diverges).">    </p:cNvPr>
          <p:cNvPicPr>
            <a:picLocks noChangeAspect="1"/>
          </p:cNvPicPr>
          <p:nvPr/>
        </p:nvPicPr>
        <p:blipFill>
          <a:blip r:embed="rId4"/>
          <a:stretch>
            <a:fillRect/>
          </a:stretch>
        </p:blipFill>
        <p:spPr>
          <a:xfrm>
            <a:off x="1069161" y="3063240"/>
            <a:ext cx="10053374" cy="2697480"/>
          </a:xfrm>
          <a:prstGeom prst="rect">
            <a:avLst/>
          </a:prstGeom>
        </p:spPr>
      </p:pic>
      <p:sp>
        <p:nvSpPr>
          <p:cNvPr id="15" name="Text 8"/>
          <p:cNvSpPr txBox="1"/>
          <p:nvPr/>
        </p:nvSpPr>
        <p:spPr>
          <a:xfrm>
            <a:off x="548640" y="5806440"/>
            <a:ext cx="11094415" cy="365760"/>
          </a:xfrm>
          <a:prstGeom prst="rect">
            <a:avLst/>
          </a:prstGeom>
          <a:noFill/>
          <a:ln/>
        </p:spPr>
        <p:txBody>
          <a:bodyPr wrap="square" lIns="0" tIns="0" rIns="0" bIns="0" rtlCol="0" anchor="t"/>
          <a:lstStyle/>
          <a:p>
            <a:pPr indent="0" marL="0">
              <a:buNone/>
            </a:pPr>
            <a:r>
              <a:rPr lang="en-US" sz="1600" i="1" dirty="0">
                <a:solidFill>
                  <a:srgbClr val="5B6675"/>
                </a:solidFill>
                <a:latin typeface="Calibri" pitchFamily="34" charset="0"/>
                <a:ea typeface="Calibri" pitchFamily="34" charset="-122"/>
                <a:cs typeface="Calibri" pitchFamily="34" charset="-120"/>
              </a:rPr>
              <a:t>Real runs on J = ½(θ₁² + 10θ₂²): the largest curvature is 10, so η must stay below 0.2.</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GRADIENT DESCENT</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Feeding the network: splits, standardization, mini-batches</a:t>
            </a:r>
            <a:endParaRPr lang="en-US" sz="3200" dirty="0"/>
          </a:p>
        </p:txBody>
      </p:sp>
      <p:sp>
        <p:nvSpPr>
          <p:cNvPr id="5" name="Shape 2"/>
          <p:cNvSpPr/>
          <p:nvPr/>
        </p:nvSpPr>
        <p:spPr>
          <a:xfrm>
            <a:off x="548640" y="1417320"/>
            <a:ext cx="5280007" cy="685800"/>
          </a:xfrm>
          <a:prstGeom prst="rect">
            <a:avLst/>
          </a:prstGeom>
          <a:solidFill>
            <a:srgbClr val="0F7C82"/>
          </a:solidFill>
          <a:ln/>
        </p:spPr>
      </p:sp>
      <p:sp>
        <p:nvSpPr>
          <p:cNvPr id="6" name="Text 3"/>
          <p:cNvSpPr txBox="1"/>
          <p:nvPr/>
        </p:nvSpPr>
        <p:spPr>
          <a:xfrm>
            <a:off x="640080" y="1417320"/>
            <a:ext cx="5179423" cy="6858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Train 55k</a:t>
            </a:r>
            <a:endParaRPr lang="en-US" sz="1700" dirty="0"/>
          </a:p>
        </p:txBody>
      </p:sp>
      <p:sp>
        <p:nvSpPr>
          <p:cNvPr id="7" name="Shape 4"/>
          <p:cNvSpPr/>
          <p:nvPr/>
        </p:nvSpPr>
        <p:spPr>
          <a:xfrm>
            <a:off x="5865223" y="1417320"/>
            <a:ext cx="446750" cy="685800"/>
          </a:xfrm>
          <a:prstGeom prst="rect">
            <a:avLst/>
          </a:prstGeom>
          <a:solidFill>
            <a:srgbClr val="C8571B"/>
          </a:solidFill>
          <a:ln/>
        </p:spPr>
      </p:sp>
      <p:sp>
        <p:nvSpPr>
          <p:cNvPr id="8" name="Text 5"/>
          <p:cNvSpPr txBox="1"/>
          <p:nvPr/>
        </p:nvSpPr>
        <p:spPr>
          <a:xfrm>
            <a:off x="5956663" y="1417320"/>
            <a:ext cx="346166" cy="6858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Val 5k</a:t>
            </a:r>
            <a:endParaRPr lang="en-US" sz="1300" dirty="0"/>
          </a:p>
        </p:txBody>
      </p:sp>
      <p:sp>
        <p:nvSpPr>
          <p:cNvPr id="9" name="Shape 6"/>
          <p:cNvSpPr/>
          <p:nvPr/>
        </p:nvSpPr>
        <p:spPr>
          <a:xfrm>
            <a:off x="6348549" y="1417320"/>
            <a:ext cx="930075" cy="685800"/>
          </a:xfrm>
          <a:prstGeom prst="rect">
            <a:avLst/>
          </a:prstGeom>
          <a:solidFill>
            <a:srgbClr val="2B3A4F"/>
          </a:solidFill>
          <a:ln/>
        </p:spPr>
      </p:sp>
      <p:sp>
        <p:nvSpPr>
          <p:cNvPr id="10" name="Text 7"/>
          <p:cNvSpPr txBox="1"/>
          <p:nvPr/>
        </p:nvSpPr>
        <p:spPr>
          <a:xfrm>
            <a:off x="6439989" y="1417320"/>
            <a:ext cx="829491" cy="6858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Test 10k</a:t>
            </a:r>
            <a:endParaRPr lang="en-US" sz="1700" dirty="0"/>
          </a:p>
        </p:txBody>
      </p:sp>
      <p:sp>
        <p:nvSpPr>
          <p:cNvPr id="11" name="Text 8"/>
          <p:cNvSpPr txBox="1"/>
          <p:nvPr/>
        </p:nvSpPr>
        <p:spPr>
          <a:xfrm>
            <a:off x="548640" y="2194560"/>
            <a:ext cx="6766560" cy="365760"/>
          </a:xfrm>
          <a:prstGeom prst="rect">
            <a:avLst/>
          </a:prstGeom>
          <a:noFill/>
          <a:ln/>
        </p:spPr>
        <p:txBody>
          <a:bodyPr wrap="square" lIns="0" tIns="0" rIns="0" bIns="0" rtlCol="0" anchor="t"/>
          <a:lstStyle/>
          <a:p>
            <a:pPr indent="0" marL="0">
              <a:buNone/>
            </a:pPr>
            <a:r>
              <a:rPr lang="en-US" sz="1500" dirty="0">
                <a:solidFill>
                  <a:srgbClr val="5B6675"/>
                </a:solidFill>
                <a:latin typeface="Calibri" pitchFamily="34" charset="0"/>
                <a:ea typeface="Calibri" pitchFamily="34" charset="-122"/>
                <a:cs typeface="Calibri" pitchFamily="34" charset="-120"/>
              </a:rPr>
              <a:t>Train: fit the weights  ·  Val: choose η, epochs, checkpoint  ·  Test: once, at the end</a:t>
            </a:r>
            <a:endParaRPr lang="en-US" sz="1500" dirty="0"/>
          </a:p>
        </p:txBody>
      </p:sp>
      <p:sp>
        <p:nvSpPr>
          <p:cNvPr id="12" name="Shape 9"/>
          <p:cNvSpPr/>
          <p:nvPr/>
        </p:nvSpPr>
        <p:spPr>
          <a:xfrm>
            <a:off x="548640" y="2788920"/>
            <a:ext cx="6766560" cy="1371600"/>
          </a:xfrm>
          <a:prstGeom prst="roundRect">
            <a:avLst>
              <a:gd name="adj" fmla="val 5333"/>
            </a:avLst>
          </a:prstGeom>
          <a:solidFill>
            <a:srgbClr val="E2F1F1"/>
          </a:solidFill>
          <a:ln/>
        </p:spPr>
      </p:sp>
      <p:sp>
        <p:nvSpPr>
          <p:cNvPr id="13" name="Text 10"/>
          <p:cNvSpPr txBox="1"/>
          <p:nvPr/>
        </p:nvSpPr>
        <p:spPr>
          <a:xfrm>
            <a:off x="749808" y="2907792"/>
            <a:ext cx="621792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STANDARDIZE WITH TRAINING STATISTICS</a:t>
            </a:r>
            <a:endParaRPr lang="en-US" sz="1300" dirty="0"/>
          </a:p>
        </p:txBody>
      </p:sp>
      <p:pic>
        <p:nvPicPr>
          <p:cNvPr id="14" name="Image 0" descr="LaTeX: $\displaystyle \tilde{x} = \frac{x - \mu_{\text{train}}}{\sigma_{\text{train}}}$">    </p:cNvPr>
          <p:cNvPicPr>
            <a:picLocks noChangeAspect="1"/>
          </p:cNvPicPr>
          <p:nvPr/>
        </p:nvPicPr>
        <p:blipFill>
          <a:blip r:embed="rId1"/>
          <a:stretch>
            <a:fillRect/>
          </a:stretch>
        </p:blipFill>
        <p:spPr>
          <a:xfrm>
            <a:off x="822960" y="3246120"/>
            <a:ext cx="1304544" cy="455981"/>
          </a:xfrm>
          <a:prstGeom prst="rect">
            <a:avLst/>
          </a:prstGeom>
        </p:spPr>
      </p:pic>
      <p:sp>
        <p:nvSpPr>
          <p:cNvPr id="15" name="Text 11"/>
          <p:cNvSpPr txBox="1"/>
          <p:nvPr/>
        </p:nvSpPr>
        <p:spPr>
          <a:xfrm>
            <a:off x="3108960" y="3246120"/>
            <a:ext cx="4023360" cy="822960"/>
          </a:xfrm>
          <a:prstGeom prst="rect">
            <a:avLst/>
          </a:prstGeom>
          <a:noFill/>
          <a:ln/>
        </p:spPr>
        <p:txBody>
          <a:bodyPr wrap="square" lIns="0" tIns="0" rIns="0" bIns="0" rtlCol="0" anchor="t"/>
          <a:lstStyle/>
          <a:p>
            <a:pPr indent="0" marL="0">
              <a:buNone/>
            </a:pPr>
            <a:r>
              <a:rPr lang="en-US" sz="1600" dirty="0">
                <a:solidFill>
                  <a:srgbClr val="0A5559"/>
                </a:solidFill>
                <a:latin typeface="Calibri" pitchFamily="34" charset="0"/>
                <a:ea typeface="Calibri" pitchFamily="34" charset="-122"/>
                <a:cs typeface="Calibri" pitchFamily="34" charset="-120"/>
              </a:rPr>
              <a:t>Never compute μ, σ on validation or test data: that leaks information.</a:t>
            </a:r>
            <a:endParaRPr lang="en-US" sz="1600" dirty="0"/>
          </a:p>
        </p:txBody>
      </p:sp>
      <p:sp>
        <p:nvSpPr>
          <p:cNvPr id="16" name="Shape 12"/>
          <p:cNvSpPr/>
          <p:nvPr/>
        </p:nvSpPr>
        <p:spPr>
          <a:xfrm>
            <a:off x="548640" y="4389120"/>
            <a:ext cx="6766560" cy="1234440"/>
          </a:xfrm>
          <a:prstGeom prst="roundRect">
            <a:avLst>
              <a:gd name="adj" fmla="val 4444"/>
            </a:avLst>
          </a:prstGeom>
          <a:solidFill>
            <a:srgbClr val="1E2735"/>
          </a:solidFill>
          <a:ln/>
        </p:spPr>
      </p:sp>
      <p:sp>
        <p:nvSpPr>
          <p:cNvPr id="17" name="Text 13"/>
          <p:cNvSpPr txBox="1"/>
          <p:nvPr/>
        </p:nvSpPr>
        <p:spPr>
          <a:xfrm>
            <a:off x="749808" y="4535424"/>
            <a:ext cx="6446520" cy="978408"/>
          </a:xfrm>
          <a:prstGeom prst="rect">
            <a:avLst/>
          </a:prstGeom>
          <a:noFill/>
          <a:ln/>
        </p:spPr>
        <p:txBody>
          <a:bodyPr wrap="square" lIns="0" tIns="0" rIns="0" bIns="0" rtlCol="0" anchor="t"/>
          <a:lstStyle/>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train_loader = DataLoader(train_ds, batch_size=128,</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shuffle=</a:t>
            </a:r>
            <a:pPr indent="0" marL="0">
              <a:lnSpc>
                <a:spcPct val="105000"/>
              </a:lnSpc>
              <a:buNone/>
            </a:pPr>
            <a:r>
              <a:rPr lang="en-US" sz="1600" dirty="0">
                <a:solidFill>
                  <a:srgbClr val="7FD1CF"/>
                </a:solidFill>
                <a:latin typeface="Consolas" pitchFamily="34" charset="0"/>
                <a:ea typeface="Consolas" pitchFamily="34" charset="-122"/>
                <a:cs typeface="Consolas" pitchFamily="34" charset="-120"/>
              </a:rPr>
              <a:t>True</a:t>
            </a:r>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val_loader = DataLoader(val_ds, batch_size=512)</a:t>
            </a:r>
            <a:endParaRPr lang="en-US" sz="16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7543800" y="1417320"/>
          <a:ext cx="4096512" cy="914400"/>
        </p:xfrm>
        <a:graphic>
          <a:graphicData uri="http://schemas.openxmlformats.org/drawingml/2006/table">
            <a:tbl>
              <a:tblPr/>
              <a:tblGrid>
                <a:gridCol w="1170432"/>
                <a:gridCol w="914400"/>
                <a:gridCol w="1097280"/>
                <a:gridCol w="914400"/>
              </a:tblGrid>
              <a:tr h="50292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Batch</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Full</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Mini</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Single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02920">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Gradient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exact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good</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noisy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02920">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Hardware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good</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best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poor</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02920">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Verdict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slow</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use this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noisy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bl>
          </a:graphicData>
        </a:graphic>
      </p:graphicFrame>
      <p:sp>
        <p:nvSpPr>
          <p:cNvPr id="19" name="Shape 14"/>
          <p:cNvSpPr/>
          <p:nvPr/>
        </p:nvSpPr>
        <p:spPr>
          <a:xfrm>
            <a:off x="7543800" y="3657600"/>
            <a:ext cx="4096512" cy="2468880"/>
          </a:xfrm>
          <a:prstGeom prst="roundRect">
            <a:avLst>
              <a:gd name="adj" fmla="val 2963"/>
            </a:avLst>
          </a:prstGeom>
          <a:solidFill>
            <a:srgbClr val="F3F5F8"/>
          </a:solidFill>
          <a:ln/>
        </p:spPr>
      </p:sp>
      <p:sp>
        <p:nvSpPr>
          <p:cNvPr id="20" name="Text 15"/>
          <p:cNvSpPr txBox="1"/>
          <p:nvPr/>
        </p:nvSpPr>
        <p:spPr>
          <a:xfrm>
            <a:off x="7726680" y="3749040"/>
            <a:ext cx="3749040" cy="548640"/>
          </a:xfrm>
          <a:prstGeom prst="rect">
            <a:avLst/>
          </a:prstGeom>
          <a:noFill/>
          <a:ln/>
        </p:spPr>
        <p:txBody>
          <a:bodyPr wrap="square" lIns="0" tIns="0" rIns="0" bIns="0" rtlCol="0" anchor="t"/>
          <a:lstStyle/>
          <a:p>
            <a:pPr indent="0" marL="0">
              <a:buNone/>
            </a:pPr>
            <a:r>
              <a:rPr lang="en-US" sz="2600" b="1" dirty="0">
                <a:solidFill>
                  <a:srgbClr val="0F7C82"/>
                </a:solidFill>
                <a:latin typeface="Cambria" pitchFamily="34" charset="0"/>
                <a:ea typeface="Cambria" pitchFamily="34" charset="-122"/>
                <a:cs typeface="Cambria" pitchFamily="34" charset="-120"/>
              </a:rPr>
              <a:t>noise ∝ 1/√m</a:t>
            </a:r>
            <a:endParaRPr lang="en-US" sz="2600" dirty="0"/>
          </a:p>
        </p:txBody>
      </p:sp>
      <p:sp>
        <p:nvSpPr>
          <p:cNvPr id="21" name="Text 16"/>
          <p:cNvSpPr txBox="1"/>
          <p:nvPr/>
        </p:nvSpPr>
        <p:spPr>
          <a:xfrm>
            <a:off x="7726680" y="4389120"/>
            <a:ext cx="3749040" cy="1645920"/>
          </a:xfrm>
          <a:prstGeom prst="rect">
            <a:avLst/>
          </a:prstGeom>
          <a:noFill/>
          <a:ln/>
        </p:spPr>
        <p:txBody>
          <a:bodyPr wrap="square" lIns="0" tIns="0" rIns="0" bIns="0" rtlCol="0" anchor="t"/>
          <a:lstStyle/>
          <a:p>
            <a:pPr indent="0" marL="0">
              <a:buNone/>
            </a:pPr>
            <a:r>
              <a:rPr lang="en-US" sz="1600" dirty="0">
                <a:solidFill>
                  <a:srgbClr val="17202E"/>
                </a:solidFill>
                <a:latin typeface="Calibri" pitchFamily="34" charset="0"/>
                <a:ea typeface="Calibri" pitchFamily="34" charset="-122"/>
                <a:cs typeface="Calibri" pitchFamily="34" charset="-120"/>
              </a:rPr>
              <a:t>Epoch: one pass over the data. Iteration: one update.</a:t>
            </a:r>
            <a:endParaRPr lang="en-US" sz="1600" dirty="0"/>
          </a:p>
          <a:p>
            <a:pPr indent="0" marL="0">
              <a:buNone/>
            </a:pPr>
            <a:r>
              <a:rPr lang="en-US" sz="1600" dirty="0">
                <a:solidFill>
                  <a:srgbClr val="17202E"/>
                </a:solidFill>
                <a:latin typeface="Calibri" pitchFamily="34" charset="0"/>
                <a:ea typeface="Calibri" pitchFamily="34" charset="-122"/>
                <a:cs typeface="Calibri" pitchFamily="34" charset="-120"/>
              </a:rPr>
              <a:t>55,000 images, batch 128 → 430 iterations per epoch.</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GRADIENT DESCENT</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The training loop: five lines, always in this order</a:t>
            </a:r>
            <a:endParaRPr lang="en-US" sz="3200" dirty="0"/>
          </a:p>
        </p:txBody>
      </p:sp>
      <p:sp>
        <p:nvSpPr>
          <p:cNvPr id="5" name="Shape 2"/>
          <p:cNvSpPr/>
          <p:nvPr/>
        </p:nvSpPr>
        <p:spPr>
          <a:xfrm>
            <a:off x="548640" y="1417320"/>
            <a:ext cx="6675120" cy="3977640"/>
          </a:xfrm>
          <a:prstGeom prst="roundRect">
            <a:avLst>
              <a:gd name="adj" fmla="val 1379"/>
            </a:avLst>
          </a:prstGeom>
          <a:solidFill>
            <a:srgbClr val="1E2735"/>
          </a:solidFill>
          <a:ln/>
        </p:spPr>
      </p:sp>
      <p:sp>
        <p:nvSpPr>
          <p:cNvPr id="6" name="Text 3"/>
          <p:cNvSpPr txBox="1"/>
          <p:nvPr/>
        </p:nvSpPr>
        <p:spPr>
          <a:xfrm>
            <a:off x="749808" y="1563624"/>
            <a:ext cx="6355080" cy="3721608"/>
          </a:xfrm>
          <a:prstGeom prst="rect">
            <a:avLst/>
          </a:prstGeom>
          <a:noFill/>
          <a:ln/>
        </p:spPr>
        <p:txBody>
          <a:bodyPr wrap="square" lIns="0" tIns="0" rIns="0" bIns="0" rtlCol="0" anchor="t"/>
          <a:lstStyle/>
          <a:p>
            <a:pPr indent="0" marL="0">
              <a:lnSpc>
                <a:spcPct val="105000"/>
              </a:lnSpc>
              <a:buNone/>
            </a:pPr>
            <a:r>
              <a:rPr lang="en-US" sz="1600" dirty="0">
                <a:solidFill>
                  <a:srgbClr val="7FD1CF"/>
                </a:solidFill>
                <a:latin typeface="Consolas" pitchFamily="34" charset="0"/>
                <a:ea typeface="Consolas" pitchFamily="34" charset="-122"/>
                <a:cs typeface="Consolas" pitchFamily="34" charset="-120"/>
              </a:rPr>
              <a:t>for</a:t>
            </a:r>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epoch </a:t>
            </a:r>
            <a:pPr indent="0" marL="0">
              <a:lnSpc>
                <a:spcPct val="105000"/>
              </a:lnSpc>
              <a:buNone/>
            </a:pPr>
            <a:r>
              <a:rPr lang="en-US" sz="1600" dirty="0">
                <a:solidFill>
                  <a:srgbClr val="7FD1CF"/>
                </a:solidFill>
                <a:latin typeface="Consolas" pitchFamily="34" charset="0"/>
                <a:ea typeface="Consolas" pitchFamily="34" charset="-122"/>
                <a:cs typeface="Consolas" pitchFamily="34" charset="-120"/>
              </a:rPr>
              <a:t>in</a:t>
            </a:r>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range(num_epochs):</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model.train()</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a:t>
            </a:r>
            <a:pPr indent="0" marL="0">
              <a:lnSpc>
                <a:spcPct val="105000"/>
              </a:lnSpc>
              <a:buNone/>
            </a:pPr>
            <a:r>
              <a:rPr lang="en-US" sz="1600" dirty="0">
                <a:solidFill>
                  <a:srgbClr val="7FD1CF"/>
                </a:solidFill>
                <a:latin typeface="Consolas" pitchFamily="34" charset="0"/>
                <a:ea typeface="Consolas" pitchFamily="34" charset="-122"/>
                <a:cs typeface="Consolas" pitchFamily="34" charset="-120"/>
              </a:rPr>
              <a:t>for</a:t>
            </a:r>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 y </a:t>
            </a:r>
            <a:pPr indent="0" marL="0">
              <a:lnSpc>
                <a:spcPct val="105000"/>
              </a:lnSpc>
              <a:buNone/>
            </a:pPr>
            <a:r>
              <a:rPr lang="en-US" sz="1600" dirty="0">
                <a:solidFill>
                  <a:srgbClr val="7FD1CF"/>
                </a:solidFill>
                <a:latin typeface="Consolas" pitchFamily="34" charset="0"/>
                <a:ea typeface="Consolas" pitchFamily="34" charset="-122"/>
                <a:cs typeface="Consolas" pitchFamily="34" charset="-120"/>
              </a:rPr>
              <a:t>in</a:t>
            </a:r>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train_loader:</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 y = x.to(dev), y.to(dev)</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optimizer.zero_grad()      </a:t>
            </a:r>
            <a:pPr indent="0" marL="0">
              <a:lnSpc>
                <a:spcPct val="105000"/>
              </a:lnSpc>
              <a:buNone/>
            </a:pPr>
            <a:r>
              <a:rPr lang="en-US" sz="1600" i="1" dirty="0">
                <a:solidFill>
                  <a:srgbClr val="8D99AB"/>
                </a:solidFill>
                <a:latin typeface="Consolas" pitchFamily="34" charset="0"/>
                <a:ea typeface="Consolas" pitchFamily="34" charset="-122"/>
                <a:cs typeface="Consolas" pitchFamily="34" charset="-120"/>
              </a:rPr>
              <a:t># 1</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logits = model(x)          </a:t>
            </a:r>
            <a:pPr indent="0" marL="0">
              <a:lnSpc>
                <a:spcPct val="105000"/>
              </a:lnSpc>
              <a:buNone/>
            </a:pPr>
            <a:r>
              <a:rPr lang="en-US" sz="1600" i="1" dirty="0">
                <a:solidFill>
                  <a:srgbClr val="8D99AB"/>
                </a:solidFill>
                <a:latin typeface="Consolas" pitchFamily="34" charset="0"/>
                <a:ea typeface="Consolas" pitchFamily="34" charset="-122"/>
                <a:cs typeface="Consolas" pitchFamily="34" charset="-120"/>
              </a:rPr>
              <a:t># 2</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loss = loss_fn(logits, y)  </a:t>
            </a:r>
            <a:pPr indent="0" marL="0">
              <a:lnSpc>
                <a:spcPct val="105000"/>
              </a:lnSpc>
              <a:buNone/>
            </a:pPr>
            <a:r>
              <a:rPr lang="en-US" sz="1600" i="1" dirty="0">
                <a:solidFill>
                  <a:srgbClr val="8D99AB"/>
                </a:solidFill>
                <a:latin typeface="Consolas" pitchFamily="34" charset="0"/>
                <a:ea typeface="Consolas" pitchFamily="34" charset="-122"/>
                <a:cs typeface="Consolas" pitchFamily="34" charset="-120"/>
              </a:rPr>
              <a:t># 3</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loss.backward()            </a:t>
            </a:r>
            <a:pPr indent="0" marL="0">
              <a:lnSpc>
                <a:spcPct val="105000"/>
              </a:lnSpc>
              <a:buNone/>
            </a:pPr>
            <a:r>
              <a:rPr lang="en-US" sz="1600" i="1" dirty="0">
                <a:solidFill>
                  <a:srgbClr val="8D99AB"/>
                </a:solidFill>
                <a:latin typeface="Consolas" pitchFamily="34" charset="0"/>
                <a:ea typeface="Consolas" pitchFamily="34" charset="-122"/>
                <a:cs typeface="Consolas" pitchFamily="34" charset="-120"/>
              </a:rPr>
              <a:t># 4</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optimizer.step()           </a:t>
            </a:r>
            <a:pPr indent="0" marL="0">
              <a:lnSpc>
                <a:spcPct val="105000"/>
              </a:lnSpc>
              <a:buNone/>
            </a:pPr>
            <a:r>
              <a:rPr lang="en-US" sz="1600" i="1" dirty="0">
                <a:solidFill>
                  <a:srgbClr val="8D99AB"/>
                </a:solidFill>
                <a:latin typeface="Consolas" pitchFamily="34" charset="0"/>
                <a:ea typeface="Consolas" pitchFamily="34" charset="-122"/>
                <a:cs typeface="Consolas" pitchFamily="34" charset="-120"/>
              </a:rPr>
              <a:t># 5</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model.eval()</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a:t>
            </a:r>
            <a:pPr indent="0" marL="0">
              <a:lnSpc>
                <a:spcPct val="105000"/>
              </a:lnSpc>
              <a:buNone/>
            </a:pPr>
            <a:r>
              <a:rPr lang="en-US" sz="1600" dirty="0">
                <a:solidFill>
                  <a:srgbClr val="7FD1CF"/>
                </a:solidFill>
                <a:latin typeface="Consolas" pitchFamily="34" charset="0"/>
                <a:ea typeface="Consolas" pitchFamily="34" charset="-122"/>
                <a:cs typeface="Consolas" pitchFamily="34" charset="-120"/>
              </a:rPr>
              <a:t>with</a:t>
            </a:r>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torch.no_grad():</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val_loss = evaluate(model, val_loader)</a:t>
            </a:r>
            <a:endParaRPr lang="en-US" sz="1600" dirty="0"/>
          </a:p>
        </p:txBody>
      </p:sp>
      <p:sp>
        <p:nvSpPr>
          <p:cNvPr id="7" name="Shape 4"/>
          <p:cNvSpPr/>
          <p:nvPr/>
        </p:nvSpPr>
        <p:spPr>
          <a:xfrm>
            <a:off x="8046720" y="2103120"/>
            <a:ext cx="2834640" cy="2834640"/>
          </a:xfrm>
          <a:prstGeom prst="ellipse">
            <a:avLst/>
          </a:prstGeom>
          <a:ln w="25400">
            <a:solidFill>
              <a:srgbClr val="D5DBE3"/>
            </a:solidFill>
            <a:prstDash val="dash"/>
          </a:ln>
        </p:spPr>
      </p:sp>
      <p:sp>
        <p:nvSpPr>
          <p:cNvPr id="8" name="Shape 5"/>
          <p:cNvSpPr/>
          <p:nvPr/>
        </p:nvSpPr>
        <p:spPr>
          <a:xfrm>
            <a:off x="8750808" y="1847088"/>
            <a:ext cx="1417320" cy="512064"/>
          </a:xfrm>
          <a:prstGeom prst="roundRect">
            <a:avLst>
              <a:gd name="adj" fmla="val 17857"/>
            </a:avLst>
          </a:prstGeom>
          <a:solidFill>
            <a:srgbClr val="E2F1F1"/>
          </a:solidFill>
          <a:ln w="15875">
            <a:solidFill>
              <a:srgbClr val="0F7C82"/>
            </a:solidFill>
            <a:prstDash val="solid"/>
          </a:ln>
        </p:spPr>
      </p:sp>
      <p:sp>
        <p:nvSpPr>
          <p:cNvPr id="9" name="Text 6"/>
          <p:cNvSpPr txBox="1"/>
          <p:nvPr/>
        </p:nvSpPr>
        <p:spPr>
          <a:xfrm>
            <a:off x="8796528" y="1847088"/>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1  zero_grad</a:t>
            </a:r>
            <a:endParaRPr lang="en-US" sz="1600" dirty="0"/>
          </a:p>
        </p:txBody>
      </p:sp>
      <p:sp>
        <p:nvSpPr>
          <p:cNvPr id="10" name="Shape 7"/>
          <p:cNvSpPr/>
          <p:nvPr/>
        </p:nvSpPr>
        <p:spPr>
          <a:xfrm>
            <a:off x="10098759" y="2826432"/>
            <a:ext cx="1417320" cy="512064"/>
          </a:xfrm>
          <a:prstGeom prst="roundRect">
            <a:avLst>
              <a:gd name="adj" fmla="val 17857"/>
            </a:avLst>
          </a:prstGeom>
          <a:solidFill>
            <a:srgbClr val="E2F1F1"/>
          </a:solidFill>
          <a:ln w="15875">
            <a:solidFill>
              <a:srgbClr val="0F7C82"/>
            </a:solidFill>
            <a:prstDash val="solid"/>
          </a:ln>
        </p:spPr>
      </p:sp>
      <p:sp>
        <p:nvSpPr>
          <p:cNvPr id="11" name="Text 8"/>
          <p:cNvSpPr txBox="1"/>
          <p:nvPr/>
        </p:nvSpPr>
        <p:spPr>
          <a:xfrm>
            <a:off x="10144479" y="2826432"/>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2  forward</a:t>
            </a:r>
            <a:endParaRPr lang="en-US" sz="1600" dirty="0"/>
          </a:p>
        </p:txBody>
      </p:sp>
      <p:sp>
        <p:nvSpPr>
          <p:cNvPr id="12" name="Shape 9"/>
          <p:cNvSpPr/>
          <p:nvPr/>
        </p:nvSpPr>
        <p:spPr>
          <a:xfrm>
            <a:off x="9583888" y="4411044"/>
            <a:ext cx="1417320" cy="512064"/>
          </a:xfrm>
          <a:prstGeom prst="roundRect">
            <a:avLst>
              <a:gd name="adj" fmla="val 17857"/>
            </a:avLst>
          </a:prstGeom>
          <a:solidFill>
            <a:srgbClr val="E2F1F1"/>
          </a:solidFill>
          <a:ln w="15875">
            <a:solidFill>
              <a:srgbClr val="0F7C82"/>
            </a:solidFill>
            <a:prstDash val="solid"/>
          </a:ln>
        </p:spPr>
      </p:sp>
      <p:sp>
        <p:nvSpPr>
          <p:cNvPr id="13" name="Text 10"/>
          <p:cNvSpPr txBox="1"/>
          <p:nvPr/>
        </p:nvSpPr>
        <p:spPr>
          <a:xfrm>
            <a:off x="9629608" y="4411044"/>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3  loss</a:t>
            </a:r>
            <a:endParaRPr lang="en-US" sz="1600" dirty="0"/>
          </a:p>
        </p:txBody>
      </p:sp>
      <p:sp>
        <p:nvSpPr>
          <p:cNvPr id="14" name="Shape 11"/>
          <p:cNvSpPr/>
          <p:nvPr/>
        </p:nvSpPr>
        <p:spPr>
          <a:xfrm>
            <a:off x="7917728" y="4411044"/>
            <a:ext cx="1417320" cy="512064"/>
          </a:xfrm>
          <a:prstGeom prst="roundRect">
            <a:avLst>
              <a:gd name="adj" fmla="val 17857"/>
            </a:avLst>
          </a:prstGeom>
          <a:solidFill>
            <a:srgbClr val="FBEADF"/>
          </a:solidFill>
          <a:ln w="15875">
            <a:solidFill>
              <a:srgbClr val="C8571B"/>
            </a:solidFill>
            <a:prstDash val="solid"/>
          </a:ln>
        </p:spPr>
      </p:sp>
      <p:sp>
        <p:nvSpPr>
          <p:cNvPr id="15" name="Text 12"/>
          <p:cNvSpPr txBox="1"/>
          <p:nvPr/>
        </p:nvSpPr>
        <p:spPr>
          <a:xfrm>
            <a:off x="7963448" y="4411044"/>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4  backward</a:t>
            </a:r>
            <a:endParaRPr lang="en-US" sz="1600" dirty="0"/>
          </a:p>
        </p:txBody>
      </p:sp>
      <p:sp>
        <p:nvSpPr>
          <p:cNvPr id="16" name="Shape 13"/>
          <p:cNvSpPr/>
          <p:nvPr/>
        </p:nvSpPr>
        <p:spPr>
          <a:xfrm>
            <a:off x="7402857" y="2826432"/>
            <a:ext cx="1417320" cy="512064"/>
          </a:xfrm>
          <a:prstGeom prst="roundRect">
            <a:avLst>
              <a:gd name="adj" fmla="val 17857"/>
            </a:avLst>
          </a:prstGeom>
          <a:solidFill>
            <a:srgbClr val="E2F1F1"/>
          </a:solidFill>
          <a:ln w="15875">
            <a:solidFill>
              <a:srgbClr val="0F7C82"/>
            </a:solidFill>
            <a:prstDash val="solid"/>
          </a:ln>
        </p:spPr>
      </p:sp>
      <p:sp>
        <p:nvSpPr>
          <p:cNvPr id="17" name="Text 14"/>
          <p:cNvSpPr txBox="1"/>
          <p:nvPr/>
        </p:nvSpPr>
        <p:spPr>
          <a:xfrm>
            <a:off x="7448577" y="2826432"/>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5  step</a:t>
            </a:r>
            <a:endParaRPr lang="en-US" sz="1600" dirty="0"/>
          </a:p>
        </p:txBody>
      </p:sp>
      <p:sp>
        <p:nvSpPr>
          <p:cNvPr id="18" name="Text 15"/>
          <p:cNvSpPr txBox="1"/>
          <p:nvPr/>
        </p:nvSpPr>
        <p:spPr>
          <a:xfrm>
            <a:off x="8869680" y="3154680"/>
            <a:ext cx="1188720" cy="731520"/>
          </a:xfrm>
          <a:prstGeom prst="rect">
            <a:avLst/>
          </a:prstGeom>
          <a:noFill/>
          <a:ln/>
        </p:spPr>
        <p:txBody>
          <a:bodyPr wrap="square" lIns="0" tIns="0" rIns="0" bIns="0" rtlCol="0" anchor="ctr"/>
          <a:lstStyle/>
          <a:p>
            <a:pPr algn="ctr" indent="0" marL="0">
              <a:buNone/>
            </a:pPr>
            <a:r>
              <a:rPr lang="en-US" sz="1500" dirty="0">
                <a:solidFill>
                  <a:srgbClr val="5B6675"/>
                </a:solidFill>
                <a:latin typeface="Calibri" pitchFamily="34" charset="0"/>
                <a:ea typeface="Calibri" pitchFamily="34" charset="-122"/>
                <a:cs typeface="Calibri" pitchFamily="34" charset="-120"/>
              </a:rPr>
              <a:t>every</a:t>
            </a:r>
            <a:endParaRPr lang="en-US" sz="1500" dirty="0"/>
          </a:p>
          <a:p>
            <a:pPr algn="ctr" indent="0" marL="0">
              <a:buNone/>
            </a:pPr>
            <a:r>
              <a:rPr lang="en-US" sz="1500" dirty="0">
                <a:solidFill>
                  <a:srgbClr val="5B6675"/>
                </a:solidFill>
                <a:latin typeface="Calibri" pitchFamily="34" charset="0"/>
                <a:ea typeface="Calibri" pitchFamily="34" charset="-122"/>
                <a:cs typeface="Calibri" pitchFamily="34" charset="-120"/>
              </a:rPr>
              <a:t>mini-batch</a:t>
            </a:r>
            <a:endParaRPr lang="en-US" sz="1500" dirty="0"/>
          </a:p>
        </p:txBody>
      </p:sp>
      <p:sp>
        <p:nvSpPr>
          <p:cNvPr id="19" name="Shape 16"/>
          <p:cNvSpPr/>
          <p:nvPr/>
        </p:nvSpPr>
        <p:spPr>
          <a:xfrm>
            <a:off x="548640" y="5577840"/>
            <a:ext cx="11094415" cy="594360"/>
          </a:xfrm>
          <a:prstGeom prst="roundRect">
            <a:avLst>
              <a:gd name="adj" fmla="val 12308"/>
            </a:avLst>
          </a:prstGeom>
          <a:solidFill>
            <a:srgbClr val="E2F1F1"/>
          </a:solidFill>
          <a:ln/>
        </p:spPr>
      </p:sp>
      <p:sp>
        <p:nvSpPr>
          <p:cNvPr id="20" name="Text 17"/>
          <p:cNvSpPr txBox="1"/>
          <p:nvPr/>
        </p:nvSpPr>
        <p:spPr>
          <a:xfrm>
            <a:off x="749808" y="5623560"/>
            <a:ext cx="10692079" cy="50292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train() for training, eval() + no_grad() for validation.</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GRADIENT DESCENT</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Six bugs that raise no error</a:t>
            </a:r>
            <a:endParaRPr lang="en-US" sz="3200" dirty="0"/>
          </a:p>
        </p:txBody>
      </p:sp>
      <p:sp>
        <p:nvSpPr>
          <p:cNvPr id="5" name="Shape 2"/>
          <p:cNvSpPr/>
          <p:nvPr/>
        </p:nvSpPr>
        <p:spPr>
          <a:xfrm>
            <a:off x="548640" y="1417320"/>
            <a:ext cx="5449824" cy="1417320"/>
          </a:xfrm>
          <a:prstGeom prst="roundRect">
            <a:avLst>
              <a:gd name="adj" fmla="val 5161"/>
            </a:avLst>
          </a:prstGeom>
          <a:solidFill>
            <a:srgbClr val="FBEADF"/>
          </a:solidFill>
          <a:ln/>
        </p:spPr>
      </p:sp>
      <p:sp>
        <p:nvSpPr>
          <p:cNvPr id="6" name="Shape 3"/>
          <p:cNvSpPr/>
          <p:nvPr/>
        </p:nvSpPr>
        <p:spPr>
          <a:xfrm>
            <a:off x="749808" y="1618488"/>
            <a:ext cx="420624" cy="420624"/>
          </a:xfrm>
          <a:prstGeom prst="ellipse">
            <a:avLst/>
          </a:prstGeom>
          <a:solidFill>
            <a:srgbClr val="C8571B"/>
          </a:solidFill>
          <a:ln/>
        </p:spPr>
      </p:sp>
      <p:sp>
        <p:nvSpPr>
          <p:cNvPr id="7" name="Text 4"/>
          <p:cNvSpPr txBox="1"/>
          <p:nvPr/>
        </p:nvSpPr>
        <p:spPr>
          <a:xfrm>
            <a:off x="749808" y="161848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5"/>
          <p:cNvSpPr txBox="1"/>
          <p:nvPr/>
        </p:nvSpPr>
        <p:spPr>
          <a:xfrm>
            <a:off x="1325880" y="1600200"/>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Softmax before CrossEntropyLoss</a:t>
            </a:r>
            <a:endParaRPr lang="en-US" sz="1900" dirty="0"/>
          </a:p>
        </p:txBody>
      </p:sp>
      <p:sp>
        <p:nvSpPr>
          <p:cNvPr id="9" name="Text 6"/>
          <p:cNvSpPr txBox="1"/>
          <p:nvPr/>
        </p:nvSpPr>
        <p:spPr>
          <a:xfrm>
            <a:off x="1325880" y="2075688"/>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Loss floor ≈ 1.46 for 10 classes; miscalibrated outputs.</a:t>
            </a:r>
            <a:endParaRPr lang="en-US" sz="1600" dirty="0"/>
          </a:p>
        </p:txBody>
      </p:sp>
      <p:sp>
        <p:nvSpPr>
          <p:cNvPr id="10" name="Shape 7"/>
          <p:cNvSpPr/>
          <p:nvPr/>
        </p:nvSpPr>
        <p:spPr>
          <a:xfrm>
            <a:off x="6190488" y="1417320"/>
            <a:ext cx="5449824" cy="1417320"/>
          </a:xfrm>
          <a:prstGeom prst="roundRect">
            <a:avLst>
              <a:gd name="adj" fmla="val 5161"/>
            </a:avLst>
          </a:prstGeom>
          <a:solidFill>
            <a:srgbClr val="F3F5F8"/>
          </a:solidFill>
          <a:ln/>
        </p:spPr>
      </p:sp>
      <p:sp>
        <p:nvSpPr>
          <p:cNvPr id="11" name="Shape 8"/>
          <p:cNvSpPr/>
          <p:nvPr/>
        </p:nvSpPr>
        <p:spPr>
          <a:xfrm>
            <a:off x="6391656" y="1618488"/>
            <a:ext cx="420624" cy="420624"/>
          </a:xfrm>
          <a:prstGeom prst="ellipse">
            <a:avLst/>
          </a:prstGeom>
          <a:solidFill>
            <a:srgbClr val="C8571B"/>
          </a:solidFill>
          <a:ln/>
        </p:spPr>
      </p:sp>
      <p:sp>
        <p:nvSpPr>
          <p:cNvPr id="12" name="Text 9"/>
          <p:cNvSpPr txBox="1"/>
          <p:nvPr/>
        </p:nvSpPr>
        <p:spPr>
          <a:xfrm>
            <a:off x="6391656" y="161848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0"/>
          <p:cNvSpPr txBox="1"/>
          <p:nvPr/>
        </p:nvSpPr>
        <p:spPr>
          <a:xfrm>
            <a:off x="6967728" y="1600200"/>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No optimizer.zero_grad()</a:t>
            </a:r>
            <a:endParaRPr lang="en-US" sz="1900" dirty="0"/>
          </a:p>
        </p:txBody>
      </p:sp>
      <p:sp>
        <p:nvSpPr>
          <p:cNvPr id="14" name="Text 11"/>
          <p:cNvSpPr txBox="1"/>
          <p:nvPr/>
        </p:nvSpPr>
        <p:spPr>
          <a:xfrm>
            <a:off x="6967728" y="2075688"/>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Gradients pile up across steps; training degrades slowly.</a:t>
            </a:r>
            <a:endParaRPr lang="en-US" sz="1600" dirty="0"/>
          </a:p>
        </p:txBody>
      </p:sp>
      <p:sp>
        <p:nvSpPr>
          <p:cNvPr id="15" name="Shape 12"/>
          <p:cNvSpPr/>
          <p:nvPr/>
        </p:nvSpPr>
        <p:spPr>
          <a:xfrm>
            <a:off x="548640" y="2990088"/>
            <a:ext cx="5449824" cy="1417320"/>
          </a:xfrm>
          <a:prstGeom prst="roundRect">
            <a:avLst>
              <a:gd name="adj" fmla="val 5161"/>
            </a:avLst>
          </a:prstGeom>
          <a:solidFill>
            <a:srgbClr val="F3F5F8"/>
          </a:solidFill>
          <a:ln/>
        </p:spPr>
      </p:sp>
      <p:sp>
        <p:nvSpPr>
          <p:cNvPr id="16" name="Shape 13"/>
          <p:cNvSpPr/>
          <p:nvPr/>
        </p:nvSpPr>
        <p:spPr>
          <a:xfrm>
            <a:off x="749808" y="3191256"/>
            <a:ext cx="420624" cy="420624"/>
          </a:xfrm>
          <a:prstGeom prst="ellipse">
            <a:avLst/>
          </a:prstGeom>
          <a:solidFill>
            <a:srgbClr val="C8571B"/>
          </a:solidFill>
          <a:ln/>
        </p:spPr>
      </p:sp>
      <p:sp>
        <p:nvSpPr>
          <p:cNvPr id="17" name="Text 14"/>
          <p:cNvSpPr txBox="1"/>
          <p:nvPr/>
        </p:nvSpPr>
        <p:spPr>
          <a:xfrm>
            <a:off x="749808" y="319125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5"/>
          <p:cNvSpPr txBox="1"/>
          <p:nvPr/>
        </p:nvSpPr>
        <p:spPr>
          <a:xfrm>
            <a:off x="1325880" y="3172968"/>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No model.eval() for validation</a:t>
            </a:r>
            <a:endParaRPr lang="en-US" sz="1900" dirty="0"/>
          </a:p>
        </p:txBody>
      </p:sp>
      <p:sp>
        <p:nvSpPr>
          <p:cNvPr id="19" name="Text 16"/>
          <p:cNvSpPr txBox="1"/>
          <p:nvPr/>
        </p:nvSpPr>
        <p:spPr>
          <a:xfrm>
            <a:off x="1325880" y="3648456"/>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Dropout stays on; BatchNorm uses batch statistics.</a:t>
            </a:r>
            <a:endParaRPr lang="en-US" sz="1600" dirty="0"/>
          </a:p>
        </p:txBody>
      </p:sp>
      <p:sp>
        <p:nvSpPr>
          <p:cNvPr id="20" name="Shape 17"/>
          <p:cNvSpPr/>
          <p:nvPr/>
        </p:nvSpPr>
        <p:spPr>
          <a:xfrm>
            <a:off x="6190488" y="2990088"/>
            <a:ext cx="5449824" cy="1417320"/>
          </a:xfrm>
          <a:prstGeom prst="roundRect">
            <a:avLst>
              <a:gd name="adj" fmla="val 5161"/>
            </a:avLst>
          </a:prstGeom>
          <a:solidFill>
            <a:srgbClr val="FBEADF"/>
          </a:solidFill>
          <a:ln/>
        </p:spPr>
      </p:sp>
      <p:sp>
        <p:nvSpPr>
          <p:cNvPr id="21" name="Shape 18"/>
          <p:cNvSpPr/>
          <p:nvPr/>
        </p:nvSpPr>
        <p:spPr>
          <a:xfrm>
            <a:off x="6391656" y="3191256"/>
            <a:ext cx="420624" cy="420624"/>
          </a:xfrm>
          <a:prstGeom prst="ellipse">
            <a:avLst/>
          </a:prstGeom>
          <a:solidFill>
            <a:srgbClr val="C8571B"/>
          </a:solidFill>
          <a:ln/>
        </p:spPr>
      </p:sp>
      <p:sp>
        <p:nvSpPr>
          <p:cNvPr id="22" name="Text 19"/>
          <p:cNvSpPr txBox="1"/>
          <p:nvPr/>
        </p:nvSpPr>
        <p:spPr>
          <a:xfrm>
            <a:off x="6391656" y="319125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0"/>
          <p:cNvSpPr txBox="1"/>
          <p:nvPr/>
        </p:nvSpPr>
        <p:spPr>
          <a:xfrm>
            <a:off x="6967728" y="3172968"/>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Layers kept in a Python list</a:t>
            </a:r>
            <a:endParaRPr lang="en-US" sz="1900" dirty="0"/>
          </a:p>
        </p:txBody>
      </p:sp>
      <p:sp>
        <p:nvSpPr>
          <p:cNvPr id="24" name="Text 21"/>
          <p:cNvSpPr txBox="1"/>
          <p:nvPr/>
        </p:nvSpPr>
        <p:spPr>
          <a:xfrm>
            <a:off x="6967728" y="3648456"/>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Not registered: never updated. Use nn.ModuleList.</a:t>
            </a:r>
            <a:endParaRPr lang="en-US" sz="1600" dirty="0"/>
          </a:p>
        </p:txBody>
      </p:sp>
      <p:sp>
        <p:nvSpPr>
          <p:cNvPr id="25" name="Shape 22"/>
          <p:cNvSpPr/>
          <p:nvPr/>
        </p:nvSpPr>
        <p:spPr>
          <a:xfrm>
            <a:off x="548640" y="4562856"/>
            <a:ext cx="5449824" cy="1417320"/>
          </a:xfrm>
          <a:prstGeom prst="roundRect">
            <a:avLst>
              <a:gd name="adj" fmla="val 5161"/>
            </a:avLst>
          </a:prstGeom>
          <a:solidFill>
            <a:srgbClr val="F3F5F8"/>
          </a:solidFill>
          <a:ln/>
        </p:spPr>
      </p:sp>
      <p:sp>
        <p:nvSpPr>
          <p:cNvPr id="26" name="Shape 23"/>
          <p:cNvSpPr/>
          <p:nvPr/>
        </p:nvSpPr>
        <p:spPr>
          <a:xfrm>
            <a:off x="749808" y="4764024"/>
            <a:ext cx="420624" cy="420624"/>
          </a:xfrm>
          <a:prstGeom prst="ellipse">
            <a:avLst/>
          </a:prstGeom>
          <a:solidFill>
            <a:srgbClr val="C8571B"/>
          </a:solidFill>
          <a:ln/>
        </p:spPr>
      </p:sp>
      <p:sp>
        <p:nvSpPr>
          <p:cNvPr id="27" name="Text 24"/>
          <p:cNvSpPr txBox="1"/>
          <p:nvPr/>
        </p:nvSpPr>
        <p:spPr>
          <a:xfrm>
            <a:off x="749808" y="47640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8" name="Text 25"/>
          <p:cNvSpPr txBox="1"/>
          <p:nvPr/>
        </p:nvSpPr>
        <p:spPr>
          <a:xfrm>
            <a:off x="1325880" y="4745736"/>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Optimizer built for another model</a:t>
            </a:r>
            <a:endParaRPr lang="en-US" sz="1900" dirty="0"/>
          </a:p>
        </p:txBody>
      </p:sp>
      <p:sp>
        <p:nvSpPr>
          <p:cNvPr id="29" name="Text 26"/>
          <p:cNvSpPr txBox="1"/>
          <p:nvPr/>
        </p:nvSpPr>
        <p:spPr>
          <a:xfrm>
            <a:off x="1325880" y="5221224"/>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Re-created model after the optimizer: loss never moves.</a:t>
            </a:r>
            <a:endParaRPr lang="en-US" sz="1600" dirty="0"/>
          </a:p>
        </p:txBody>
      </p:sp>
      <p:sp>
        <p:nvSpPr>
          <p:cNvPr id="30" name="Shape 27"/>
          <p:cNvSpPr/>
          <p:nvPr/>
        </p:nvSpPr>
        <p:spPr>
          <a:xfrm>
            <a:off x="6190488" y="4562856"/>
            <a:ext cx="5449824" cy="1417320"/>
          </a:xfrm>
          <a:prstGeom prst="roundRect">
            <a:avLst>
              <a:gd name="adj" fmla="val 5161"/>
            </a:avLst>
          </a:prstGeom>
          <a:solidFill>
            <a:srgbClr val="F3F5F8"/>
          </a:solidFill>
          <a:ln/>
        </p:spPr>
      </p:sp>
      <p:sp>
        <p:nvSpPr>
          <p:cNvPr id="31" name="Shape 28"/>
          <p:cNvSpPr/>
          <p:nvPr/>
        </p:nvSpPr>
        <p:spPr>
          <a:xfrm>
            <a:off x="6391656" y="4764024"/>
            <a:ext cx="420624" cy="420624"/>
          </a:xfrm>
          <a:prstGeom prst="ellipse">
            <a:avLst/>
          </a:prstGeom>
          <a:solidFill>
            <a:srgbClr val="C8571B"/>
          </a:solidFill>
          <a:ln/>
        </p:spPr>
      </p:sp>
      <p:sp>
        <p:nvSpPr>
          <p:cNvPr id="32" name="Text 29"/>
          <p:cNvSpPr txBox="1"/>
          <p:nvPr/>
        </p:nvSpPr>
        <p:spPr>
          <a:xfrm>
            <a:off x="6391656" y="47640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3" name="Text 30"/>
          <p:cNvSpPr txBox="1"/>
          <p:nvPr/>
        </p:nvSpPr>
        <p:spPr>
          <a:xfrm>
            <a:off x="6967728" y="4745736"/>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Shape mismatch in MSELoss</a:t>
            </a:r>
            <a:endParaRPr lang="en-US" sz="1900" dirty="0"/>
          </a:p>
        </p:txBody>
      </p:sp>
      <p:sp>
        <p:nvSpPr>
          <p:cNvPr id="34" name="Text 31"/>
          <p:cNvSpPr txBox="1"/>
          <p:nvPr/>
        </p:nvSpPr>
        <p:spPr>
          <a:xfrm>
            <a:off x="6967728" y="5221224"/>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(m, 1) vs (m,) broadcasts to (m, m); only a warning.</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RUNNING EXAMPLE</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Running example: real curves after 20 epochs</a:t>
            </a:r>
            <a:endParaRPr lang="en-US" sz="3200" dirty="0"/>
          </a:p>
        </p:txBody>
      </p:sp>
      <p:graphicFrame>
        <p:nvGraphicFramePr>
          <p:cNvPr id="5" name="Chart 0" descr="Running example loss curves: training falls to 0.14, validation is lowest at epoch 5 then rises."/>
          <p:cNvGraphicFramePr/>
          <p:nvPr/>
        </p:nvGraphicFramePr>
        <p:xfrm>
          <a:off x="457200" y="1417320"/>
          <a:ext cx="548640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Running example accuracy: validation about 89.3%, training 94.5%."/>
          <p:cNvGraphicFramePr/>
          <p:nvPr/>
        </p:nvGraphicFramePr>
        <p:xfrm>
          <a:off x="5897880" y="1417320"/>
          <a:ext cx="5806440" cy="2926080"/>
        </p:xfrm>
        <a:graphic xmlns:a="http://schemas.openxmlformats.org/drawingml/2006/main">
          <a:graphicData uri="http://schemas.openxmlformats.org/drawingml/2006/chart">
            <c:chart xmlns:c="http://schemas.openxmlformats.org/drawingml/2006/chart" r:id="rId2"/>
          </a:graphicData>
        </a:graphic>
      </p:graphicFrame>
      <p:sp>
        <p:nvSpPr>
          <p:cNvPr id="7" name="Shape 2"/>
          <p:cNvSpPr/>
          <p:nvPr/>
        </p:nvSpPr>
        <p:spPr>
          <a:xfrm>
            <a:off x="5989320" y="4526280"/>
            <a:ext cx="5650992" cy="1600200"/>
          </a:xfrm>
          <a:prstGeom prst="roundRect">
            <a:avLst>
              <a:gd name="adj" fmla="val 4571"/>
            </a:avLst>
          </a:prstGeom>
          <a:solidFill>
            <a:srgbClr val="FBEADF"/>
          </a:solidFill>
          <a:ln/>
        </p:spPr>
      </p:sp>
      <p:sp>
        <p:nvSpPr>
          <p:cNvPr id="8" name="Text 3"/>
          <p:cNvSpPr txBox="1"/>
          <p:nvPr/>
        </p:nvSpPr>
        <p:spPr>
          <a:xfrm>
            <a:off x="6190488" y="4572000"/>
            <a:ext cx="5248656" cy="1508760"/>
          </a:xfrm>
          <a:prstGeom prst="rect">
            <a:avLst/>
          </a:prstGeom>
          <a:noFill/>
          <a:ln/>
        </p:spPr>
        <p:txBody>
          <a:bodyPr wrap="square" lIns="0" tIns="0" rIns="0" bIns="0" rtlCol="0" anchor="ctr"/>
          <a:lstStyle/>
          <a:p>
            <a:pPr indent="0" marL="0">
              <a:buNone/>
            </a:pPr>
            <a:r>
              <a:rPr lang="en-US" sz="1700" b="1" dirty="0">
                <a:solidFill>
                  <a:srgbClr val="8F3A0E"/>
                </a:solidFill>
                <a:latin typeface="Calibri" pitchFamily="34" charset="0"/>
                <a:ea typeface="Calibri" pitchFamily="34" charset="-122"/>
                <a:cs typeface="Calibri" pitchFamily="34" charset="-120"/>
              </a:rPr>
              <a:t>Best validation loss at epoch 5: keep that checkpoint (early stopping). Rising validation loss with flat accuracy = growing over-confidence.</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10-MINUTE BREAK</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Back at 1:30</a:t>
            </a: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Something to think about:</a:t>
            </a:r>
            <a:endParaRPr lang="en-US" sz="1800" dirty="0"/>
          </a:p>
          <a:p>
            <a:pPr indent="0" marL="0">
              <a:buNone/>
            </a:pPr>
            <a:r>
              <a:rPr lang="en-US" sz="1800" dirty="0">
                <a:solidFill>
                  <a:srgbClr val="C9D3DF"/>
                </a:solidFill>
                <a:latin typeface="Calibri" pitchFamily="34" charset="0"/>
                <a:ea typeface="Calibri" pitchFamily="34" charset="-122"/>
                <a:cs typeface="Calibri" pitchFamily="34" charset="-120"/>
              </a:rPr>
              <a:t>A 30-layer plain MLP trains worse than a 10-layer one — on the TRAINING set, not just validation. Is that overfitting? What could cause it?</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PART 3  ·  ≈ 50 MINUTES</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Making deep networks train and generalize</a:t>
            </a: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Keep gradients alive: initialization, residuals</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Handle ravines: momentum, Adam, AdamW</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Keep activations healthy: normalization</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Close the gap: regularization and diagnosis</a:t>
            </a:r>
            <a:endParaRPr lang="en-US" sz="1800" dirty="0"/>
          </a:p>
        </p:txBody>
      </p:sp>
      <p:sp>
        <p:nvSpPr>
          <p:cNvPr id="5" name="Shape 3"/>
          <p:cNvSpPr/>
          <p:nvPr/>
        </p:nvSpPr>
        <p:spPr>
          <a:xfrm flipV="1">
            <a:off x="8028432" y="2171700"/>
            <a:ext cx="809244" cy="388620"/>
          </a:xfrm>
          <a:prstGeom prst="line">
            <a:avLst/>
          </a:prstGeom>
          <a:noFill/>
          <a:ln w="11430">
            <a:solidFill>
              <a:srgbClr val="33445C"/>
            </a:solidFill>
            <a:prstDash val="solid"/>
          </a:ln>
        </p:spPr>
      </p:sp>
      <p:sp>
        <p:nvSpPr>
          <p:cNvPr id="6" name="Shape 4"/>
          <p:cNvSpPr/>
          <p:nvPr/>
        </p:nvSpPr>
        <p:spPr>
          <a:xfrm>
            <a:off x="8028432" y="2560320"/>
            <a:ext cx="809244" cy="388620"/>
          </a:xfrm>
          <a:prstGeom prst="line">
            <a:avLst/>
          </a:prstGeom>
          <a:noFill/>
          <a:ln w="11430">
            <a:solidFill>
              <a:srgbClr val="33445C"/>
            </a:solidFill>
            <a:prstDash val="solid"/>
          </a:ln>
        </p:spPr>
      </p:sp>
      <p:sp>
        <p:nvSpPr>
          <p:cNvPr id="7" name="Shape 5"/>
          <p:cNvSpPr/>
          <p:nvPr/>
        </p:nvSpPr>
        <p:spPr>
          <a:xfrm>
            <a:off x="8028432" y="2560320"/>
            <a:ext cx="809244" cy="1165860"/>
          </a:xfrm>
          <a:prstGeom prst="line">
            <a:avLst/>
          </a:prstGeom>
          <a:noFill/>
          <a:ln w="11430">
            <a:solidFill>
              <a:srgbClr val="33445C"/>
            </a:solidFill>
            <a:prstDash val="solid"/>
          </a:ln>
        </p:spPr>
      </p:sp>
      <p:sp>
        <p:nvSpPr>
          <p:cNvPr id="8" name="Shape 6"/>
          <p:cNvSpPr/>
          <p:nvPr/>
        </p:nvSpPr>
        <p:spPr>
          <a:xfrm>
            <a:off x="8028432" y="2560320"/>
            <a:ext cx="809244" cy="1943100"/>
          </a:xfrm>
          <a:prstGeom prst="line">
            <a:avLst/>
          </a:prstGeom>
          <a:noFill/>
          <a:ln w="11430">
            <a:solidFill>
              <a:srgbClr val="33445C"/>
            </a:solidFill>
            <a:prstDash val="solid"/>
          </a:ln>
        </p:spPr>
      </p:sp>
      <p:sp>
        <p:nvSpPr>
          <p:cNvPr id="9" name="Shape 7"/>
          <p:cNvSpPr/>
          <p:nvPr/>
        </p:nvSpPr>
        <p:spPr>
          <a:xfrm flipV="1">
            <a:off x="8028432" y="2171700"/>
            <a:ext cx="809244" cy="1165860"/>
          </a:xfrm>
          <a:prstGeom prst="line">
            <a:avLst/>
          </a:prstGeom>
          <a:noFill/>
          <a:ln w="11430">
            <a:solidFill>
              <a:srgbClr val="33445C"/>
            </a:solidFill>
            <a:prstDash val="solid"/>
          </a:ln>
        </p:spPr>
      </p:sp>
      <p:sp>
        <p:nvSpPr>
          <p:cNvPr id="10" name="Shape 8"/>
          <p:cNvSpPr/>
          <p:nvPr/>
        </p:nvSpPr>
        <p:spPr>
          <a:xfrm flipV="1">
            <a:off x="8028432" y="2948940"/>
            <a:ext cx="809244" cy="388620"/>
          </a:xfrm>
          <a:prstGeom prst="line">
            <a:avLst/>
          </a:prstGeom>
          <a:noFill/>
          <a:ln w="11430">
            <a:solidFill>
              <a:srgbClr val="33445C"/>
            </a:solidFill>
            <a:prstDash val="solid"/>
          </a:ln>
        </p:spPr>
      </p:sp>
      <p:sp>
        <p:nvSpPr>
          <p:cNvPr id="11" name="Shape 9"/>
          <p:cNvSpPr/>
          <p:nvPr/>
        </p:nvSpPr>
        <p:spPr>
          <a:xfrm>
            <a:off x="8028432" y="3337560"/>
            <a:ext cx="809244" cy="388620"/>
          </a:xfrm>
          <a:prstGeom prst="line">
            <a:avLst/>
          </a:prstGeom>
          <a:noFill/>
          <a:ln w="11430">
            <a:solidFill>
              <a:srgbClr val="33445C"/>
            </a:solidFill>
            <a:prstDash val="solid"/>
          </a:ln>
        </p:spPr>
      </p:sp>
      <p:sp>
        <p:nvSpPr>
          <p:cNvPr id="12" name="Shape 10"/>
          <p:cNvSpPr/>
          <p:nvPr/>
        </p:nvSpPr>
        <p:spPr>
          <a:xfrm>
            <a:off x="8028432" y="3337560"/>
            <a:ext cx="809244" cy="1165860"/>
          </a:xfrm>
          <a:prstGeom prst="line">
            <a:avLst/>
          </a:prstGeom>
          <a:noFill/>
          <a:ln w="11430">
            <a:solidFill>
              <a:srgbClr val="33445C"/>
            </a:solidFill>
            <a:prstDash val="solid"/>
          </a:ln>
        </p:spPr>
      </p:sp>
      <p:sp>
        <p:nvSpPr>
          <p:cNvPr id="13" name="Shape 11"/>
          <p:cNvSpPr/>
          <p:nvPr/>
        </p:nvSpPr>
        <p:spPr>
          <a:xfrm flipV="1">
            <a:off x="8028432" y="2171700"/>
            <a:ext cx="809244" cy="1943100"/>
          </a:xfrm>
          <a:prstGeom prst="line">
            <a:avLst/>
          </a:prstGeom>
          <a:noFill/>
          <a:ln w="11430">
            <a:solidFill>
              <a:srgbClr val="33445C"/>
            </a:solidFill>
            <a:prstDash val="solid"/>
          </a:ln>
        </p:spPr>
      </p:sp>
      <p:sp>
        <p:nvSpPr>
          <p:cNvPr id="14" name="Shape 12"/>
          <p:cNvSpPr/>
          <p:nvPr/>
        </p:nvSpPr>
        <p:spPr>
          <a:xfrm flipV="1">
            <a:off x="8028432" y="2948940"/>
            <a:ext cx="809244" cy="1165860"/>
          </a:xfrm>
          <a:prstGeom prst="line">
            <a:avLst/>
          </a:prstGeom>
          <a:noFill/>
          <a:ln w="11430">
            <a:solidFill>
              <a:srgbClr val="33445C"/>
            </a:solidFill>
            <a:prstDash val="solid"/>
          </a:ln>
        </p:spPr>
      </p:sp>
      <p:sp>
        <p:nvSpPr>
          <p:cNvPr id="15" name="Shape 13"/>
          <p:cNvSpPr/>
          <p:nvPr/>
        </p:nvSpPr>
        <p:spPr>
          <a:xfrm flipV="1">
            <a:off x="8028432" y="3726180"/>
            <a:ext cx="809244" cy="388620"/>
          </a:xfrm>
          <a:prstGeom prst="line">
            <a:avLst/>
          </a:prstGeom>
          <a:noFill/>
          <a:ln w="11430">
            <a:solidFill>
              <a:srgbClr val="33445C"/>
            </a:solidFill>
            <a:prstDash val="solid"/>
          </a:ln>
        </p:spPr>
      </p:sp>
      <p:sp>
        <p:nvSpPr>
          <p:cNvPr id="16" name="Shape 14"/>
          <p:cNvSpPr/>
          <p:nvPr/>
        </p:nvSpPr>
        <p:spPr>
          <a:xfrm>
            <a:off x="8028432" y="4114800"/>
            <a:ext cx="809244" cy="388620"/>
          </a:xfrm>
          <a:prstGeom prst="line">
            <a:avLst/>
          </a:prstGeom>
          <a:noFill/>
          <a:ln w="11430">
            <a:solidFill>
              <a:srgbClr val="33445C"/>
            </a:solidFill>
            <a:prstDash val="solid"/>
          </a:ln>
        </p:spPr>
      </p:sp>
      <p:sp>
        <p:nvSpPr>
          <p:cNvPr id="17" name="Shape 15"/>
          <p:cNvSpPr/>
          <p:nvPr/>
        </p:nvSpPr>
        <p:spPr>
          <a:xfrm>
            <a:off x="8837676" y="2171700"/>
            <a:ext cx="809244" cy="91"/>
          </a:xfrm>
          <a:prstGeom prst="line">
            <a:avLst/>
          </a:prstGeom>
          <a:noFill/>
          <a:ln w="11430">
            <a:solidFill>
              <a:srgbClr val="33445C"/>
            </a:solidFill>
            <a:prstDash val="solid"/>
          </a:ln>
        </p:spPr>
      </p:sp>
      <p:sp>
        <p:nvSpPr>
          <p:cNvPr id="18" name="Shape 16"/>
          <p:cNvSpPr/>
          <p:nvPr/>
        </p:nvSpPr>
        <p:spPr>
          <a:xfrm>
            <a:off x="8837676" y="2171700"/>
            <a:ext cx="809244" cy="777240"/>
          </a:xfrm>
          <a:prstGeom prst="line">
            <a:avLst/>
          </a:prstGeom>
          <a:noFill/>
          <a:ln w="11430">
            <a:solidFill>
              <a:srgbClr val="33445C"/>
            </a:solidFill>
            <a:prstDash val="solid"/>
          </a:ln>
        </p:spPr>
      </p:sp>
      <p:sp>
        <p:nvSpPr>
          <p:cNvPr id="19" name="Shape 17"/>
          <p:cNvSpPr/>
          <p:nvPr/>
        </p:nvSpPr>
        <p:spPr>
          <a:xfrm>
            <a:off x="8837676" y="2171700"/>
            <a:ext cx="809244" cy="1554480"/>
          </a:xfrm>
          <a:prstGeom prst="line">
            <a:avLst/>
          </a:prstGeom>
          <a:noFill/>
          <a:ln w="11430">
            <a:solidFill>
              <a:srgbClr val="33445C"/>
            </a:solidFill>
            <a:prstDash val="solid"/>
          </a:ln>
        </p:spPr>
      </p:sp>
      <p:sp>
        <p:nvSpPr>
          <p:cNvPr id="20" name="Shape 18"/>
          <p:cNvSpPr/>
          <p:nvPr/>
        </p:nvSpPr>
        <p:spPr>
          <a:xfrm>
            <a:off x="8837676" y="2171700"/>
            <a:ext cx="809244" cy="2331720"/>
          </a:xfrm>
          <a:prstGeom prst="line">
            <a:avLst/>
          </a:prstGeom>
          <a:noFill/>
          <a:ln w="11430">
            <a:solidFill>
              <a:srgbClr val="33445C"/>
            </a:solidFill>
            <a:prstDash val="solid"/>
          </a:ln>
        </p:spPr>
      </p:sp>
      <p:sp>
        <p:nvSpPr>
          <p:cNvPr id="21" name="Shape 19"/>
          <p:cNvSpPr/>
          <p:nvPr/>
        </p:nvSpPr>
        <p:spPr>
          <a:xfrm flipV="1">
            <a:off x="8837676" y="2171700"/>
            <a:ext cx="809244" cy="777240"/>
          </a:xfrm>
          <a:prstGeom prst="line">
            <a:avLst/>
          </a:prstGeom>
          <a:noFill/>
          <a:ln w="11430">
            <a:solidFill>
              <a:srgbClr val="33445C"/>
            </a:solidFill>
            <a:prstDash val="solid"/>
          </a:ln>
        </p:spPr>
      </p:sp>
      <p:sp>
        <p:nvSpPr>
          <p:cNvPr id="22" name="Shape 20"/>
          <p:cNvSpPr/>
          <p:nvPr/>
        </p:nvSpPr>
        <p:spPr>
          <a:xfrm>
            <a:off x="8837676" y="2948940"/>
            <a:ext cx="809244" cy="91"/>
          </a:xfrm>
          <a:prstGeom prst="line">
            <a:avLst/>
          </a:prstGeom>
          <a:noFill/>
          <a:ln w="11430">
            <a:solidFill>
              <a:srgbClr val="33445C"/>
            </a:solidFill>
            <a:prstDash val="solid"/>
          </a:ln>
        </p:spPr>
      </p:sp>
      <p:sp>
        <p:nvSpPr>
          <p:cNvPr id="23" name="Shape 21"/>
          <p:cNvSpPr/>
          <p:nvPr/>
        </p:nvSpPr>
        <p:spPr>
          <a:xfrm>
            <a:off x="8837676" y="2948940"/>
            <a:ext cx="809244" cy="777240"/>
          </a:xfrm>
          <a:prstGeom prst="line">
            <a:avLst/>
          </a:prstGeom>
          <a:noFill/>
          <a:ln w="11430">
            <a:solidFill>
              <a:srgbClr val="33445C"/>
            </a:solidFill>
            <a:prstDash val="solid"/>
          </a:ln>
        </p:spPr>
      </p:sp>
      <p:sp>
        <p:nvSpPr>
          <p:cNvPr id="24" name="Shape 22"/>
          <p:cNvSpPr/>
          <p:nvPr/>
        </p:nvSpPr>
        <p:spPr>
          <a:xfrm>
            <a:off x="8837676" y="2948940"/>
            <a:ext cx="809244" cy="1554480"/>
          </a:xfrm>
          <a:prstGeom prst="line">
            <a:avLst/>
          </a:prstGeom>
          <a:noFill/>
          <a:ln w="11430">
            <a:solidFill>
              <a:srgbClr val="33445C"/>
            </a:solidFill>
            <a:prstDash val="solid"/>
          </a:ln>
        </p:spPr>
      </p:sp>
      <p:sp>
        <p:nvSpPr>
          <p:cNvPr id="25" name="Shape 23"/>
          <p:cNvSpPr/>
          <p:nvPr/>
        </p:nvSpPr>
        <p:spPr>
          <a:xfrm flipV="1">
            <a:off x="8837676" y="2171700"/>
            <a:ext cx="809244" cy="1554480"/>
          </a:xfrm>
          <a:prstGeom prst="line">
            <a:avLst/>
          </a:prstGeom>
          <a:noFill/>
          <a:ln w="11430">
            <a:solidFill>
              <a:srgbClr val="33445C"/>
            </a:solidFill>
            <a:prstDash val="solid"/>
          </a:ln>
        </p:spPr>
      </p:sp>
      <p:sp>
        <p:nvSpPr>
          <p:cNvPr id="26" name="Shape 24"/>
          <p:cNvSpPr/>
          <p:nvPr/>
        </p:nvSpPr>
        <p:spPr>
          <a:xfrm flipV="1">
            <a:off x="8837676" y="2948940"/>
            <a:ext cx="809244" cy="777240"/>
          </a:xfrm>
          <a:prstGeom prst="line">
            <a:avLst/>
          </a:prstGeom>
          <a:noFill/>
          <a:ln w="11430">
            <a:solidFill>
              <a:srgbClr val="33445C"/>
            </a:solidFill>
            <a:prstDash val="solid"/>
          </a:ln>
        </p:spPr>
      </p:sp>
      <p:sp>
        <p:nvSpPr>
          <p:cNvPr id="27" name="Shape 25"/>
          <p:cNvSpPr/>
          <p:nvPr/>
        </p:nvSpPr>
        <p:spPr>
          <a:xfrm>
            <a:off x="8837676" y="3726180"/>
            <a:ext cx="809244" cy="91"/>
          </a:xfrm>
          <a:prstGeom prst="line">
            <a:avLst/>
          </a:prstGeom>
          <a:noFill/>
          <a:ln w="11430">
            <a:solidFill>
              <a:srgbClr val="33445C"/>
            </a:solidFill>
            <a:prstDash val="solid"/>
          </a:ln>
        </p:spPr>
      </p:sp>
      <p:sp>
        <p:nvSpPr>
          <p:cNvPr id="28" name="Shape 26"/>
          <p:cNvSpPr/>
          <p:nvPr/>
        </p:nvSpPr>
        <p:spPr>
          <a:xfrm>
            <a:off x="8837676" y="3726180"/>
            <a:ext cx="809244" cy="777240"/>
          </a:xfrm>
          <a:prstGeom prst="line">
            <a:avLst/>
          </a:prstGeom>
          <a:noFill/>
          <a:ln w="11430">
            <a:solidFill>
              <a:srgbClr val="33445C"/>
            </a:solidFill>
            <a:prstDash val="solid"/>
          </a:ln>
        </p:spPr>
      </p:sp>
      <p:sp>
        <p:nvSpPr>
          <p:cNvPr id="29" name="Shape 27"/>
          <p:cNvSpPr/>
          <p:nvPr/>
        </p:nvSpPr>
        <p:spPr>
          <a:xfrm flipV="1">
            <a:off x="8837676" y="2171700"/>
            <a:ext cx="809244" cy="2331720"/>
          </a:xfrm>
          <a:prstGeom prst="line">
            <a:avLst/>
          </a:prstGeom>
          <a:noFill/>
          <a:ln w="11430">
            <a:solidFill>
              <a:srgbClr val="33445C"/>
            </a:solidFill>
            <a:prstDash val="solid"/>
          </a:ln>
        </p:spPr>
      </p:sp>
      <p:sp>
        <p:nvSpPr>
          <p:cNvPr id="30" name="Shape 28"/>
          <p:cNvSpPr/>
          <p:nvPr/>
        </p:nvSpPr>
        <p:spPr>
          <a:xfrm flipV="1">
            <a:off x="8837676" y="2948940"/>
            <a:ext cx="809244" cy="1554480"/>
          </a:xfrm>
          <a:prstGeom prst="line">
            <a:avLst/>
          </a:prstGeom>
          <a:noFill/>
          <a:ln w="11430">
            <a:solidFill>
              <a:srgbClr val="33445C"/>
            </a:solidFill>
            <a:prstDash val="solid"/>
          </a:ln>
        </p:spPr>
      </p:sp>
      <p:sp>
        <p:nvSpPr>
          <p:cNvPr id="31" name="Shape 29"/>
          <p:cNvSpPr/>
          <p:nvPr/>
        </p:nvSpPr>
        <p:spPr>
          <a:xfrm flipV="1">
            <a:off x="8837676" y="3726180"/>
            <a:ext cx="809244" cy="777240"/>
          </a:xfrm>
          <a:prstGeom prst="line">
            <a:avLst/>
          </a:prstGeom>
          <a:noFill/>
          <a:ln w="11430">
            <a:solidFill>
              <a:srgbClr val="33445C"/>
            </a:solidFill>
            <a:prstDash val="solid"/>
          </a:ln>
        </p:spPr>
      </p:sp>
      <p:sp>
        <p:nvSpPr>
          <p:cNvPr id="32" name="Shape 30"/>
          <p:cNvSpPr/>
          <p:nvPr/>
        </p:nvSpPr>
        <p:spPr>
          <a:xfrm>
            <a:off x="8837676" y="4503420"/>
            <a:ext cx="809244" cy="91"/>
          </a:xfrm>
          <a:prstGeom prst="line">
            <a:avLst/>
          </a:prstGeom>
          <a:noFill/>
          <a:ln w="11430">
            <a:solidFill>
              <a:srgbClr val="33445C"/>
            </a:solidFill>
            <a:prstDash val="solid"/>
          </a:ln>
        </p:spPr>
      </p:sp>
      <p:sp>
        <p:nvSpPr>
          <p:cNvPr id="33" name="Shape 31"/>
          <p:cNvSpPr/>
          <p:nvPr/>
        </p:nvSpPr>
        <p:spPr>
          <a:xfrm>
            <a:off x="9646920" y="2171700"/>
            <a:ext cx="809244" cy="91"/>
          </a:xfrm>
          <a:prstGeom prst="line">
            <a:avLst/>
          </a:prstGeom>
          <a:noFill/>
          <a:ln w="11430">
            <a:solidFill>
              <a:srgbClr val="33445C"/>
            </a:solidFill>
            <a:prstDash val="solid"/>
          </a:ln>
        </p:spPr>
      </p:sp>
      <p:sp>
        <p:nvSpPr>
          <p:cNvPr id="34" name="Shape 32"/>
          <p:cNvSpPr/>
          <p:nvPr/>
        </p:nvSpPr>
        <p:spPr>
          <a:xfrm>
            <a:off x="9646920" y="2171700"/>
            <a:ext cx="809244" cy="777240"/>
          </a:xfrm>
          <a:prstGeom prst="line">
            <a:avLst/>
          </a:prstGeom>
          <a:noFill/>
          <a:ln w="11430">
            <a:solidFill>
              <a:srgbClr val="33445C"/>
            </a:solidFill>
            <a:prstDash val="solid"/>
          </a:ln>
        </p:spPr>
      </p:sp>
      <p:sp>
        <p:nvSpPr>
          <p:cNvPr id="35" name="Shape 33"/>
          <p:cNvSpPr/>
          <p:nvPr/>
        </p:nvSpPr>
        <p:spPr>
          <a:xfrm>
            <a:off x="9646920" y="2171700"/>
            <a:ext cx="809244" cy="1554480"/>
          </a:xfrm>
          <a:prstGeom prst="line">
            <a:avLst/>
          </a:prstGeom>
          <a:noFill/>
          <a:ln w="11430">
            <a:solidFill>
              <a:srgbClr val="33445C"/>
            </a:solidFill>
            <a:prstDash val="solid"/>
          </a:ln>
        </p:spPr>
      </p:sp>
      <p:sp>
        <p:nvSpPr>
          <p:cNvPr id="36" name="Shape 34"/>
          <p:cNvSpPr/>
          <p:nvPr/>
        </p:nvSpPr>
        <p:spPr>
          <a:xfrm>
            <a:off x="9646920" y="2171700"/>
            <a:ext cx="809244" cy="2331720"/>
          </a:xfrm>
          <a:prstGeom prst="line">
            <a:avLst/>
          </a:prstGeom>
          <a:noFill/>
          <a:ln w="11430">
            <a:solidFill>
              <a:srgbClr val="33445C"/>
            </a:solidFill>
            <a:prstDash val="solid"/>
          </a:ln>
        </p:spPr>
      </p:sp>
      <p:sp>
        <p:nvSpPr>
          <p:cNvPr id="37" name="Shape 35"/>
          <p:cNvSpPr/>
          <p:nvPr/>
        </p:nvSpPr>
        <p:spPr>
          <a:xfrm flipV="1">
            <a:off x="9646920" y="2171700"/>
            <a:ext cx="809244" cy="777240"/>
          </a:xfrm>
          <a:prstGeom prst="line">
            <a:avLst/>
          </a:prstGeom>
          <a:noFill/>
          <a:ln w="11430">
            <a:solidFill>
              <a:srgbClr val="33445C"/>
            </a:solidFill>
            <a:prstDash val="solid"/>
          </a:ln>
        </p:spPr>
      </p:sp>
      <p:sp>
        <p:nvSpPr>
          <p:cNvPr id="38" name="Shape 36"/>
          <p:cNvSpPr/>
          <p:nvPr/>
        </p:nvSpPr>
        <p:spPr>
          <a:xfrm>
            <a:off x="9646920" y="2948940"/>
            <a:ext cx="809244" cy="91"/>
          </a:xfrm>
          <a:prstGeom prst="line">
            <a:avLst/>
          </a:prstGeom>
          <a:noFill/>
          <a:ln w="11430">
            <a:solidFill>
              <a:srgbClr val="33445C"/>
            </a:solidFill>
            <a:prstDash val="solid"/>
          </a:ln>
        </p:spPr>
      </p:sp>
      <p:sp>
        <p:nvSpPr>
          <p:cNvPr id="39" name="Shape 37"/>
          <p:cNvSpPr/>
          <p:nvPr/>
        </p:nvSpPr>
        <p:spPr>
          <a:xfrm>
            <a:off x="9646920" y="2948940"/>
            <a:ext cx="809244" cy="777240"/>
          </a:xfrm>
          <a:prstGeom prst="line">
            <a:avLst/>
          </a:prstGeom>
          <a:noFill/>
          <a:ln w="11430">
            <a:solidFill>
              <a:srgbClr val="33445C"/>
            </a:solidFill>
            <a:prstDash val="solid"/>
          </a:ln>
        </p:spPr>
      </p:sp>
      <p:sp>
        <p:nvSpPr>
          <p:cNvPr id="40" name="Shape 38"/>
          <p:cNvSpPr/>
          <p:nvPr/>
        </p:nvSpPr>
        <p:spPr>
          <a:xfrm>
            <a:off x="9646920" y="2948940"/>
            <a:ext cx="809244" cy="1554480"/>
          </a:xfrm>
          <a:prstGeom prst="line">
            <a:avLst/>
          </a:prstGeom>
          <a:noFill/>
          <a:ln w="11430">
            <a:solidFill>
              <a:srgbClr val="33445C"/>
            </a:solidFill>
            <a:prstDash val="solid"/>
          </a:ln>
        </p:spPr>
      </p:sp>
      <p:sp>
        <p:nvSpPr>
          <p:cNvPr id="41" name="Shape 39"/>
          <p:cNvSpPr/>
          <p:nvPr/>
        </p:nvSpPr>
        <p:spPr>
          <a:xfrm flipV="1">
            <a:off x="9646920" y="2171700"/>
            <a:ext cx="809244" cy="1554480"/>
          </a:xfrm>
          <a:prstGeom prst="line">
            <a:avLst/>
          </a:prstGeom>
          <a:noFill/>
          <a:ln w="11430">
            <a:solidFill>
              <a:srgbClr val="33445C"/>
            </a:solidFill>
            <a:prstDash val="solid"/>
          </a:ln>
        </p:spPr>
      </p:sp>
      <p:sp>
        <p:nvSpPr>
          <p:cNvPr id="42" name="Shape 40"/>
          <p:cNvSpPr/>
          <p:nvPr/>
        </p:nvSpPr>
        <p:spPr>
          <a:xfrm flipV="1">
            <a:off x="9646920" y="2948940"/>
            <a:ext cx="809244" cy="777240"/>
          </a:xfrm>
          <a:prstGeom prst="line">
            <a:avLst/>
          </a:prstGeom>
          <a:noFill/>
          <a:ln w="11430">
            <a:solidFill>
              <a:srgbClr val="33445C"/>
            </a:solidFill>
            <a:prstDash val="solid"/>
          </a:ln>
        </p:spPr>
      </p:sp>
      <p:sp>
        <p:nvSpPr>
          <p:cNvPr id="43" name="Shape 41"/>
          <p:cNvSpPr/>
          <p:nvPr/>
        </p:nvSpPr>
        <p:spPr>
          <a:xfrm>
            <a:off x="9646920" y="3726180"/>
            <a:ext cx="809244" cy="91"/>
          </a:xfrm>
          <a:prstGeom prst="line">
            <a:avLst/>
          </a:prstGeom>
          <a:noFill/>
          <a:ln w="11430">
            <a:solidFill>
              <a:srgbClr val="33445C"/>
            </a:solidFill>
            <a:prstDash val="solid"/>
          </a:ln>
        </p:spPr>
      </p:sp>
      <p:sp>
        <p:nvSpPr>
          <p:cNvPr id="44" name="Shape 42"/>
          <p:cNvSpPr/>
          <p:nvPr/>
        </p:nvSpPr>
        <p:spPr>
          <a:xfrm>
            <a:off x="9646920" y="3726180"/>
            <a:ext cx="809244" cy="777240"/>
          </a:xfrm>
          <a:prstGeom prst="line">
            <a:avLst/>
          </a:prstGeom>
          <a:noFill/>
          <a:ln w="11430">
            <a:solidFill>
              <a:srgbClr val="33445C"/>
            </a:solidFill>
            <a:prstDash val="solid"/>
          </a:ln>
        </p:spPr>
      </p:sp>
      <p:sp>
        <p:nvSpPr>
          <p:cNvPr id="45" name="Shape 43"/>
          <p:cNvSpPr/>
          <p:nvPr/>
        </p:nvSpPr>
        <p:spPr>
          <a:xfrm flipV="1">
            <a:off x="9646920" y="2171700"/>
            <a:ext cx="809244" cy="2331720"/>
          </a:xfrm>
          <a:prstGeom prst="line">
            <a:avLst/>
          </a:prstGeom>
          <a:noFill/>
          <a:ln w="11430">
            <a:solidFill>
              <a:srgbClr val="33445C"/>
            </a:solidFill>
            <a:prstDash val="solid"/>
          </a:ln>
        </p:spPr>
      </p:sp>
      <p:sp>
        <p:nvSpPr>
          <p:cNvPr id="46" name="Shape 44"/>
          <p:cNvSpPr/>
          <p:nvPr/>
        </p:nvSpPr>
        <p:spPr>
          <a:xfrm flipV="1">
            <a:off x="9646920" y="2948940"/>
            <a:ext cx="809244" cy="1554480"/>
          </a:xfrm>
          <a:prstGeom prst="line">
            <a:avLst/>
          </a:prstGeom>
          <a:noFill/>
          <a:ln w="11430">
            <a:solidFill>
              <a:srgbClr val="33445C"/>
            </a:solidFill>
            <a:prstDash val="solid"/>
          </a:ln>
        </p:spPr>
      </p:sp>
      <p:sp>
        <p:nvSpPr>
          <p:cNvPr id="47" name="Shape 45"/>
          <p:cNvSpPr/>
          <p:nvPr/>
        </p:nvSpPr>
        <p:spPr>
          <a:xfrm flipV="1">
            <a:off x="9646920" y="3726180"/>
            <a:ext cx="809244" cy="777240"/>
          </a:xfrm>
          <a:prstGeom prst="line">
            <a:avLst/>
          </a:prstGeom>
          <a:noFill/>
          <a:ln w="11430">
            <a:solidFill>
              <a:srgbClr val="33445C"/>
            </a:solidFill>
            <a:prstDash val="solid"/>
          </a:ln>
        </p:spPr>
      </p:sp>
      <p:sp>
        <p:nvSpPr>
          <p:cNvPr id="48" name="Shape 46"/>
          <p:cNvSpPr/>
          <p:nvPr/>
        </p:nvSpPr>
        <p:spPr>
          <a:xfrm>
            <a:off x="9646920" y="4503420"/>
            <a:ext cx="809244" cy="91"/>
          </a:xfrm>
          <a:prstGeom prst="line">
            <a:avLst/>
          </a:prstGeom>
          <a:noFill/>
          <a:ln w="11430">
            <a:solidFill>
              <a:srgbClr val="33445C"/>
            </a:solidFill>
            <a:prstDash val="solid"/>
          </a:ln>
        </p:spPr>
      </p:sp>
      <p:sp>
        <p:nvSpPr>
          <p:cNvPr id="49" name="Shape 47"/>
          <p:cNvSpPr/>
          <p:nvPr/>
        </p:nvSpPr>
        <p:spPr>
          <a:xfrm>
            <a:off x="10456164" y="2171700"/>
            <a:ext cx="809244" cy="777240"/>
          </a:xfrm>
          <a:prstGeom prst="line">
            <a:avLst/>
          </a:prstGeom>
          <a:noFill/>
          <a:ln w="11430">
            <a:solidFill>
              <a:srgbClr val="33445C"/>
            </a:solidFill>
            <a:prstDash val="solid"/>
          </a:ln>
        </p:spPr>
      </p:sp>
      <p:sp>
        <p:nvSpPr>
          <p:cNvPr id="50" name="Shape 48"/>
          <p:cNvSpPr/>
          <p:nvPr/>
        </p:nvSpPr>
        <p:spPr>
          <a:xfrm>
            <a:off x="10456164" y="2171700"/>
            <a:ext cx="809244" cy="1554480"/>
          </a:xfrm>
          <a:prstGeom prst="line">
            <a:avLst/>
          </a:prstGeom>
          <a:noFill/>
          <a:ln w="11430">
            <a:solidFill>
              <a:srgbClr val="33445C"/>
            </a:solidFill>
            <a:prstDash val="solid"/>
          </a:ln>
        </p:spPr>
      </p:sp>
      <p:sp>
        <p:nvSpPr>
          <p:cNvPr id="51" name="Shape 49"/>
          <p:cNvSpPr/>
          <p:nvPr/>
        </p:nvSpPr>
        <p:spPr>
          <a:xfrm>
            <a:off x="10456164" y="2948940"/>
            <a:ext cx="809244" cy="91"/>
          </a:xfrm>
          <a:prstGeom prst="line">
            <a:avLst/>
          </a:prstGeom>
          <a:noFill/>
          <a:ln w="11430">
            <a:solidFill>
              <a:srgbClr val="33445C"/>
            </a:solidFill>
            <a:prstDash val="solid"/>
          </a:ln>
        </p:spPr>
      </p:sp>
      <p:sp>
        <p:nvSpPr>
          <p:cNvPr id="52" name="Shape 50"/>
          <p:cNvSpPr/>
          <p:nvPr/>
        </p:nvSpPr>
        <p:spPr>
          <a:xfrm>
            <a:off x="10456164" y="2948940"/>
            <a:ext cx="809244" cy="777240"/>
          </a:xfrm>
          <a:prstGeom prst="line">
            <a:avLst/>
          </a:prstGeom>
          <a:noFill/>
          <a:ln w="11430">
            <a:solidFill>
              <a:srgbClr val="33445C"/>
            </a:solidFill>
            <a:prstDash val="solid"/>
          </a:ln>
        </p:spPr>
      </p:sp>
      <p:sp>
        <p:nvSpPr>
          <p:cNvPr id="53" name="Shape 51"/>
          <p:cNvSpPr/>
          <p:nvPr/>
        </p:nvSpPr>
        <p:spPr>
          <a:xfrm flipV="1">
            <a:off x="10456164" y="2948940"/>
            <a:ext cx="809244" cy="777240"/>
          </a:xfrm>
          <a:prstGeom prst="line">
            <a:avLst/>
          </a:prstGeom>
          <a:noFill/>
          <a:ln w="11430">
            <a:solidFill>
              <a:srgbClr val="33445C"/>
            </a:solidFill>
            <a:prstDash val="solid"/>
          </a:ln>
        </p:spPr>
      </p:sp>
      <p:sp>
        <p:nvSpPr>
          <p:cNvPr id="54" name="Shape 52"/>
          <p:cNvSpPr/>
          <p:nvPr/>
        </p:nvSpPr>
        <p:spPr>
          <a:xfrm>
            <a:off x="10456164" y="3726180"/>
            <a:ext cx="809244" cy="91"/>
          </a:xfrm>
          <a:prstGeom prst="line">
            <a:avLst/>
          </a:prstGeom>
          <a:noFill/>
          <a:ln w="11430">
            <a:solidFill>
              <a:srgbClr val="33445C"/>
            </a:solidFill>
            <a:prstDash val="solid"/>
          </a:ln>
        </p:spPr>
      </p:sp>
      <p:sp>
        <p:nvSpPr>
          <p:cNvPr id="55" name="Shape 53"/>
          <p:cNvSpPr/>
          <p:nvPr/>
        </p:nvSpPr>
        <p:spPr>
          <a:xfrm flipV="1">
            <a:off x="10456164" y="2948940"/>
            <a:ext cx="809244" cy="1554480"/>
          </a:xfrm>
          <a:prstGeom prst="line">
            <a:avLst/>
          </a:prstGeom>
          <a:noFill/>
          <a:ln w="11430">
            <a:solidFill>
              <a:srgbClr val="33445C"/>
            </a:solidFill>
            <a:prstDash val="solid"/>
          </a:ln>
        </p:spPr>
      </p:sp>
      <p:sp>
        <p:nvSpPr>
          <p:cNvPr id="56" name="Shape 54"/>
          <p:cNvSpPr/>
          <p:nvPr/>
        </p:nvSpPr>
        <p:spPr>
          <a:xfrm flipV="1">
            <a:off x="10456164" y="3726180"/>
            <a:ext cx="809244" cy="777240"/>
          </a:xfrm>
          <a:prstGeom prst="line">
            <a:avLst/>
          </a:prstGeom>
          <a:noFill/>
          <a:ln w="11430">
            <a:solidFill>
              <a:srgbClr val="33445C"/>
            </a:solidFill>
            <a:prstDash val="solid"/>
          </a:ln>
        </p:spPr>
      </p:sp>
      <p:sp>
        <p:nvSpPr>
          <p:cNvPr id="57" name="Shape 55"/>
          <p:cNvSpPr/>
          <p:nvPr/>
        </p:nvSpPr>
        <p:spPr>
          <a:xfrm>
            <a:off x="7863840" y="2395728"/>
            <a:ext cx="329184" cy="329184"/>
          </a:xfrm>
          <a:prstGeom prst="ellipse">
            <a:avLst/>
          </a:prstGeom>
          <a:solidFill>
            <a:srgbClr val="8A94A3"/>
          </a:solidFill>
          <a:ln/>
        </p:spPr>
      </p:sp>
      <p:sp>
        <p:nvSpPr>
          <p:cNvPr id="58" name="Shape 56"/>
          <p:cNvSpPr/>
          <p:nvPr/>
        </p:nvSpPr>
        <p:spPr>
          <a:xfrm>
            <a:off x="7863840" y="3172968"/>
            <a:ext cx="329184" cy="329184"/>
          </a:xfrm>
          <a:prstGeom prst="ellipse">
            <a:avLst/>
          </a:prstGeom>
          <a:solidFill>
            <a:srgbClr val="8A94A3"/>
          </a:solidFill>
          <a:ln/>
        </p:spPr>
      </p:sp>
      <p:sp>
        <p:nvSpPr>
          <p:cNvPr id="59" name="Shape 57"/>
          <p:cNvSpPr/>
          <p:nvPr/>
        </p:nvSpPr>
        <p:spPr>
          <a:xfrm>
            <a:off x="7863840" y="3950208"/>
            <a:ext cx="329184" cy="329184"/>
          </a:xfrm>
          <a:prstGeom prst="ellipse">
            <a:avLst/>
          </a:prstGeom>
          <a:solidFill>
            <a:srgbClr val="8A94A3"/>
          </a:solidFill>
          <a:ln/>
        </p:spPr>
      </p:sp>
      <p:sp>
        <p:nvSpPr>
          <p:cNvPr id="60" name="Shape 58"/>
          <p:cNvSpPr/>
          <p:nvPr/>
        </p:nvSpPr>
        <p:spPr>
          <a:xfrm>
            <a:off x="8673084" y="2007108"/>
            <a:ext cx="329184" cy="329184"/>
          </a:xfrm>
          <a:prstGeom prst="ellipse">
            <a:avLst/>
          </a:prstGeom>
          <a:solidFill>
            <a:srgbClr val="4C5BD4"/>
          </a:solidFill>
          <a:ln/>
        </p:spPr>
      </p:sp>
      <p:sp>
        <p:nvSpPr>
          <p:cNvPr id="61" name="Shape 59"/>
          <p:cNvSpPr/>
          <p:nvPr/>
        </p:nvSpPr>
        <p:spPr>
          <a:xfrm>
            <a:off x="8673084" y="2784348"/>
            <a:ext cx="329184" cy="329184"/>
          </a:xfrm>
          <a:prstGeom prst="ellipse">
            <a:avLst/>
          </a:prstGeom>
          <a:solidFill>
            <a:srgbClr val="4C5BD4"/>
          </a:solidFill>
          <a:ln/>
        </p:spPr>
      </p:sp>
      <p:sp>
        <p:nvSpPr>
          <p:cNvPr id="62" name="Shape 60"/>
          <p:cNvSpPr/>
          <p:nvPr/>
        </p:nvSpPr>
        <p:spPr>
          <a:xfrm>
            <a:off x="8673084" y="3561588"/>
            <a:ext cx="329184" cy="329184"/>
          </a:xfrm>
          <a:prstGeom prst="ellipse">
            <a:avLst/>
          </a:prstGeom>
          <a:solidFill>
            <a:srgbClr val="4C5BD4"/>
          </a:solidFill>
          <a:ln/>
        </p:spPr>
      </p:sp>
      <p:sp>
        <p:nvSpPr>
          <p:cNvPr id="63" name="Shape 61"/>
          <p:cNvSpPr/>
          <p:nvPr/>
        </p:nvSpPr>
        <p:spPr>
          <a:xfrm>
            <a:off x="8673084" y="4338828"/>
            <a:ext cx="329184" cy="329184"/>
          </a:xfrm>
          <a:prstGeom prst="ellipse">
            <a:avLst/>
          </a:prstGeom>
          <a:solidFill>
            <a:srgbClr val="4C5BD4"/>
          </a:solidFill>
          <a:ln/>
        </p:spPr>
      </p:sp>
      <p:sp>
        <p:nvSpPr>
          <p:cNvPr id="64" name="Shape 62"/>
          <p:cNvSpPr/>
          <p:nvPr/>
        </p:nvSpPr>
        <p:spPr>
          <a:xfrm>
            <a:off x="9482328" y="2007108"/>
            <a:ext cx="329184" cy="329184"/>
          </a:xfrm>
          <a:prstGeom prst="ellipse">
            <a:avLst/>
          </a:prstGeom>
          <a:solidFill>
            <a:srgbClr val="4C5BD4"/>
          </a:solidFill>
          <a:ln/>
        </p:spPr>
      </p:sp>
      <p:sp>
        <p:nvSpPr>
          <p:cNvPr id="65" name="Shape 63"/>
          <p:cNvSpPr/>
          <p:nvPr/>
        </p:nvSpPr>
        <p:spPr>
          <a:xfrm>
            <a:off x="9482328" y="2784348"/>
            <a:ext cx="329184" cy="329184"/>
          </a:xfrm>
          <a:prstGeom prst="ellipse">
            <a:avLst/>
          </a:prstGeom>
          <a:solidFill>
            <a:srgbClr val="4C5BD4"/>
          </a:solidFill>
          <a:ln/>
        </p:spPr>
      </p:sp>
      <p:sp>
        <p:nvSpPr>
          <p:cNvPr id="66" name="Shape 64"/>
          <p:cNvSpPr/>
          <p:nvPr/>
        </p:nvSpPr>
        <p:spPr>
          <a:xfrm>
            <a:off x="9482328" y="3561588"/>
            <a:ext cx="329184" cy="329184"/>
          </a:xfrm>
          <a:prstGeom prst="ellipse">
            <a:avLst/>
          </a:prstGeom>
          <a:solidFill>
            <a:srgbClr val="4C5BD4"/>
          </a:solidFill>
          <a:ln/>
        </p:spPr>
      </p:sp>
      <p:sp>
        <p:nvSpPr>
          <p:cNvPr id="67" name="Shape 65"/>
          <p:cNvSpPr/>
          <p:nvPr/>
        </p:nvSpPr>
        <p:spPr>
          <a:xfrm>
            <a:off x="9482328" y="4338828"/>
            <a:ext cx="329184" cy="329184"/>
          </a:xfrm>
          <a:prstGeom prst="ellipse">
            <a:avLst/>
          </a:prstGeom>
          <a:solidFill>
            <a:srgbClr val="4C5BD4"/>
          </a:solidFill>
          <a:ln/>
        </p:spPr>
      </p:sp>
      <p:sp>
        <p:nvSpPr>
          <p:cNvPr id="68" name="Shape 66"/>
          <p:cNvSpPr/>
          <p:nvPr/>
        </p:nvSpPr>
        <p:spPr>
          <a:xfrm>
            <a:off x="10291572" y="2007108"/>
            <a:ext cx="329184" cy="329184"/>
          </a:xfrm>
          <a:prstGeom prst="ellipse">
            <a:avLst/>
          </a:prstGeom>
          <a:solidFill>
            <a:srgbClr val="4C5BD4"/>
          </a:solidFill>
          <a:ln/>
        </p:spPr>
      </p:sp>
      <p:sp>
        <p:nvSpPr>
          <p:cNvPr id="69" name="Shape 67"/>
          <p:cNvSpPr/>
          <p:nvPr/>
        </p:nvSpPr>
        <p:spPr>
          <a:xfrm>
            <a:off x="10291572" y="2784348"/>
            <a:ext cx="329184" cy="329184"/>
          </a:xfrm>
          <a:prstGeom prst="ellipse">
            <a:avLst/>
          </a:prstGeom>
          <a:solidFill>
            <a:srgbClr val="4C5BD4"/>
          </a:solidFill>
          <a:ln/>
        </p:spPr>
      </p:sp>
      <p:sp>
        <p:nvSpPr>
          <p:cNvPr id="70" name="Shape 68"/>
          <p:cNvSpPr/>
          <p:nvPr/>
        </p:nvSpPr>
        <p:spPr>
          <a:xfrm>
            <a:off x="10291572" y="3561588"/>
            <a:ext cx="329184" cy="329184"/>
          </a:xfrm>
          <a:prstGeom prst="ellipse">
            <a:avLst/>
          </a:prstGeom>
          <a:solidFill>
            <a:srgbClr val="4C5BD4"/>
          </a:solidFill>
          <a:ln/>
        </p:spPr>
      </p:sp>
      <p:sp>
        <p:nvSpPr>
          <p:cNvPr id="71" name="Shape 69"/>
          <p:cNvSpPr/>
          <p:nvPr/>
        </p:nvSpPr>
        <p:spPr>
          <a:xfrm>
            <a:off x="10291572" y="4338828"/>
            <a:ext cx="329184" cy="329184"/>
          </a:xfrm>
          <a:prstGeom prst="ellipse">
            <a:avLst/>
          </a:prstGeom>
          <a:solidFill>
            <a:srgbClr val="4C5BD4"/>
          </a:solidFill>
          <a:ln/>
        </p:spPr>
      </p:sp>
      <p:sp>
        <p:nvSpPr>
          <p:cNvPr id="72" name="Shape 70"/>
          <p:cNvSpPr/>
          <p:nvPr/>
        </p:nvSpPr>
        <p:spPr>
          <a:xfrm>
            <a:off x="11100816" y="2784348"/>
            <a:ext cx="329184" cy="329184"/>
          </a:xfrm>
          <a:prstGeom prst="ellipse">
            <a:avLst/>
          </a:prstGeom>
          <a:solidFill>
            <a:srgbClr val="C8571B"/>
          </a:solidFill>
          <a:ln/>
        </p:spPr>
      </p:sp>
      <p:sp>
        <p:nvSpPr>
          <p:cNvPr id="73" name="Shape 71"/>
          <p:cNvSpPr/>
          <p:nvPr/>
        </p:nvSpPr>
        <p:spPr>
          <a:xfrm>
            <a:off x="11100816" y="3561588"/>
            <a:ext cx="329184" cy="329184"/>
          </a:xfrm>
          <a:prstGeom prst="ellipse">
            <a:avLst/>
          </a:prstGeom>
          <a:solidFill>
            <a:srgbClr val="C8571B"/>
          </a:solidFill>
          <a:ln/>
        </p:spPr>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GRADIENT FLOW</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Depth multiplies: gradients vanish or explode</a:t>
            </a:r>
            <a:endParaRPr lang="en-US" sz="3200" dirty="0"/>
          </a:p>
        </p:txBody>
      </p:sp>
      <p:sp>
        <p:nvSpPr>
          <p:cNvPr id="5" name="Shape 2"/>
          <p:cNvSpPr/>
          <p:nvPr/>
        </p:nvSpPr>
        <p:spPr>
          <a:xfrm>
            <a:off x="548640" y="1417320"/>
            <a:ext cx="5760720" cy="1371600"/>
          </a:xfrm>
          <a:prstGeom prst="roundRect">
            <a:avLst>
              <a:gd name="adj" fmla="val 5333"/>
            </a:avLst>
          </a:prstGeom>
          <a:solidFill>
            <a:srgbClr val="F3F5F8"/>
          </a:solidFill>
          <a:ln/>
        </p:spPr>
      </p:sp>
      <p:sp>
        <p:nvSpPr>
          <p:cNvPr id="6" name="Text 3"/>
          <p:cNvSpPr txBox="1"/>
          <p:nvPr/>
        </p:nvSpPr>
        <p:spPr>
          <a:xfrm>
            <a:off x="749808" y="1527048"/>
            <a:ext cx="50292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UNROLL BP2 DOWN TO LAYER 1</a:t>
            </a:r>
            <a:endParaRPr lang="en-US" sz="1300" dirty="0"/>
          </a:p>
        </p:txBody>
      </p:sp>
      <p:pic>
        <p:nvPicPr>
          <p:cNvPr id="7" name="Image 0" descr="LaTeX: $\displaystyle \dl\Ly{1} = \Bigl(\prod_{l=2}^{L} \textcolor{mu}{\text{diag}}\bigl(g'(\z\Ly{l-1})\bigr)\,\W\Ly{l}{}\T\Bigr)\,\dl\Ly{L}$">    </p:cNvPr>
          <p:cNvPicPr>
            <a:picLocks noChangeAspect="1"/>
          </p:cNvPicPr>
          <p:nvPr/>
        </p:nvPicPr>
        <p:blipFill>
          <a:blip r:embed="rId1"/>
          <a:stretch>
            <a:fillRect/>
          </a:stretch>
        </p:blipFill>
        <p:spPr>
          <a:xfrm>
            <a:off x="822960" y="1828800"/>
            <a:ext cx="3707130" cy="717423"/>
          </a:xfrm>
          <a:prstGeom prst="rect">
            <a:avLst/>
          </a:prstGeom>
        </p:spPr>
      </p:pic>
      <p:graphicFrame>
        <p:nvGraphicFramePr>
          <p:cNvPr id="8" name="Chart 0" descr="Product of L equal factors (log scale): 1.5, 1.1, 1.0, 0.9, 0.5"/>
          <p:cNvGraphicFramePr/>
          <p:nvPr/>
        </p:nvGraphicFramePr>
        <p:xfrm>
          <a:off x="457200" y="2880360"/>
          <a:ext cx="5943600" cy="3291840"/>
        </p:xfrm>
        <a:graphic xmlns:a="http://schemas.openxmlformats.org/drawingml/2006/main">
          <a:graphicData uri="http://schemas.openxmlformats.org/drawingml/2006/chart">
            <c:chart xmlns:c="http://schemas.openxmlformats.org/drawingml/2006/chart" r:id="rId2"/>
          </a:graphicData>
        </a:graphic>
      </p:graphicFrame>
      <p:sp>
        <p:nvSpPr>
          <p:cNvPr id="9" name="Shape 4"/>
          <p:cNvSpPr/>
          <p:nvPr/>
        </p:nvSpPr>
        <p:spPr>
          <a:xfrm>
            <a:off x="6537960" y="1417320"/>
            <a:ext cx="5102352" cy="1170432"/>
          </a:xfrm>
          <a:prstGeom prst="roundRect">
            <a:avLst>
              <a:gd name="adj" fmla="val 6250"/>
            </a:avLst>
          </a:prstGeom>
          <a:solidFill>
            <a:srgbClr val="F3F5F8"/>
          </a:solidFill>
          <a:ln/>
        </p:spPr>
      </p:sp>
      <p:sp>
        <p:nvSpPr>
          <p:cNvPr id="10" name="Text 5"/>
          <p:cNvSpPr txBox="1"/>
          <p:nvPr/>
        </p:nvSpPr>
        <p:spPr>
          <a:xfrm>
            <a:off x="6739128" y="1527048"/>
            <a:ext cx="4754880" cy="384048"/>
          </a:xfrm>
          <a:prstGeom prst="rect">
            <a:avLst/>
          </a:prstGeom>
          <a:noFill/>
          <a:ln/>
        </p:spPr>
        <p:txBody>
          <a:bodyPr wrap="square" lIns="0" tIns="0" rIns="0" bIns="0" rtlCol="0" anchor="t"/>
          <a:lstStyle/>
          <a:p>
            <a:pPr indent="0" marL="0">
              <a:buNone/>
            </a:pPr>
            <a:r>
              <a:rPr lang="en-US" sz="1900" b="1" dirty="0">
                <a:solidFill>
                  <a:srgbClr val="0F7C82"/>
                </a:solidFill>
                <a:latin typeface="Calibri" pitchFamily="34" charset="0"/>
                <a:ea typeface="Calibri" pitchFamily="34" charset="-122"/>
                <a:cs typeface="Calibri" pitchFamily="34" charset="-120"/>
              </a:rPr>
              <a:t>Vanishing</a:t>
            </a:r>
            <a:endParaRPr lang="en-US" sz="1900" dirty="0"/>
          </a:p>
        </p:txBody>
      </p:sp>
      <p:sp>
        <p:nvSpPr>
          <p:cNvPr id="11" name="Text 6"/>
          <p:cNvSpPr txBox="1"/>
          <p:nvPr/>
        </p:nvSpPr>
        <p:spPr>
          <a:xfrm>
            <a:off x="6739128" y="1929384"/>
            <a:ext cx="4754880"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Early layers stay near random; loss plateaus, no error.</a:t>
            </a:r>
            <a:endParaRPr lang="en-US" sz="1600" dirty="0"/>
          </a:p>
        </p:txBody>
      </p:sp>
      <p:sp>
        <p:nvSpPr>
          <p:cNvPr id="12" name="Shape 7"/>
          <p:cNvSpPr/>
          <p:nvPr/>
        </p:nvSpPr>
        <p:spPr>
          <a:xfrm>
            <a:off x="6537960" y="2715768"/>
            <a:ext cx="5102352" cy="1170432"/>
          </a:xfrm>
          <a:prstGeom prst="roundRect">
            <a:avLst>
              <a:gd name="adj" fmla="val 6250"/>
            </a:avLst>
          </a:prstGeom>
          <a:solidFill>
            <a:srgbClr val="F3F5F8"/>
          </a:solidFill>
          <a:ln/>
        </p:spPr>
      </p:sp>
      <p:sp>
        <p:nvSpPr>
          <p:cNvPr id="13" name="Text 8"/>
          <p:cNvSpPr txBox="1"/>
          <p:nvPr/>
        </p:nvSpPr>
        <p:spPr>
          <a:xfrm>
            <a:off x="6739128" y="2825496"/>
            <a:ext cx="4754880" cy="384048"/>
          </a:xfrm>
          <a:prstGeom prst="rect">
            <a:avLst/>
          </a:prstGeom>
          <a:noFill/>
          <a:ln/>
        </p:spPr>
        <p:txBody>
          <a:bodyPr wrap="square" lIns="0" tIns="0" rIns="0" bIns="0" rtlCol="0" anchor="t"/>
          <a:lstStyle/>
          <a:p>
            <a:pPr indent="0" marL="0">
              <a:buNone/>
            </a:pPr>
            <a:r>
              <a:rPr lang="en-US" sz="1900" b="1" dirty="0">
                <a:solidFill>
                  <a:srgbClr val="C8571B"/>
                </a:solidFill>
                <a:latin typeface="Calibri" pitchFamily="34" charset="0"/>
                <a:ea typeface="Calibri" pitchFamily="34" charset="-122"/>
                <a:cs typeface="Calibri" pitchFamily="34" charset="-120"/>
              </a:rPr>
              <a:t>Exploding</a:t>
            </a:r>
            <a:endParaRPr lang="en-US" sz="1900" dirty="0"/>
          </a:p>
        </p:txBody>
      </p:sp>
      <p:sp>
        <p:nvSpPr>
          <p:cNvPr id="14" name="Text 9"/>
          <p:cNvSpPr txBox="1"/>
          <p:nvPr/>
        </p:nvSpPr>
        <p:spPr>
          <a:xfrm>
            <a:off x="6739128" y="3227832"/>
            <a:ext cx="4754880"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Loss jumps to inf or nan within a few steps.</a:t>
            </a:r>
            <a:endParaRPr lang="en-US" sz="1600" dirty="0"/>
          </a:p>
        </p:txBody>
      </p:sp>
      <p:sp>
        <p:nvSpPr>
          <p:cNvPr id="15" name="Shape 10"/>
          <p:cNvSpPr/>
          <p:nvPr/>
        </p:nvSpPr>
        <p:spPr>
          <a:xfrm>
            <a:off x="6537960" y="4014216"/>
            <a:ext cx="5102352" cy="1170432"/>
          </a:xfrm>
          <a:prstGeom prst="roundRect">
            <a:avLst>
              <a:gd name="adj" fmla="val 6250"/>
            </a:avLst>
          </a:prstGeom>
          <a:solidFill>
            <a:srgbClr val="F3F5F8"/>
          </a:solidFill>
          <a:ln/>
        </p:spPr>
      </p:sp>
      <p:sp>
        <p:nvSpPr>
          <p:cNvPr id="16" name="Text 11"/>
          <p:cNvSpPr txBox="1"/>
          <p:nvPr/>
        </p:nvSpPr>
        <p:spPr>
          <a:xfrm>
            <a:off x="6739128" y="4123944"/>
            <a:ext cx="4754880" cy="384048"/>
          </a:xfrm>
          <a:prstGeom prst="rect">
            <a:avLst/>
          </a:prstGeom>
          <a:noFill/>
          <a:ln/>
        </p:spPr>
        <p:txBody>
          <a:bodyPr wrap="square" lIns="0" tIns="0" rIns="0" bIns="0" rtlCol="0" anchor="t"/>
          <a:lstStyle/>
          <a:p>
            <a:pPr indent="0" marL="0">
              <a:buNone/>
            </a:pPr>
            <a:r>
              <a:rPr lang="en-US" sz="1900" b="1" dirty="0">
                <a:solidFill>
                  <a:srgbClr val="4C5BD4"/>
                </a:solidFill>
                <a:latin typeface="Calibri" pitchFamily="34" charset="0"/>
                <a:ea typeface="Calibri" pitchFamily="34" charset="-122"/>
                <a:cs typeface="Calibri" pitchFamily="34" charset="-120"/>
              </a:rPr>
              <a:t>Degradation</a:t>
            </a:r>
            <a:endParaRPr lang="en-US" sz="1900" dirty="0"/>
          </a:p>
        </p:txBody>
      </p:sp>
      <p:sp>
        <p:nvSpPr>
          <p:cNvPr id="17" name="Text 12"/>
          <p:cNvSpPr txBox="1"/>
          <p:nvPr/>
        </p:nvSpPr>
        <p:spPr>
          <a:xfrm>
            <a:off x="6739128" y="4526280"/>
            <a:ext cx="4754880"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Deeper plain nets reach higher TRAINING error (He et al., 2016).</a:t>
            </a:r>
            <a:endParaRPr lang="en-US" sz="1600" dirty="0"/>
          </a:p>
        </p:txBody>
      </p:sp>
      <p:sp>
        <p:nvSpPr>
          <p:cNvPr id="18" name="Shape 13"/>
          <p:cNvSpPr/>
          <p:nvPr/>
        </p:nvSpPr>
        <p:spPr>
          <a:xfrm>
            <a:off x="6537960" y="5349240"/>
            <a:ext cx="5102352" cy="777240"/>
          </a:xfrm>
          <a:prstGeom prst="roundRect">
            <a:avLst>
              <a:gd name="adj" fmla="val 9412"/>
            </a:avLst>
          </a:prstGeom>
          <a:solidFill>
            <a:srgbClr val="E2F1F1"/>
          </a:solidFill>
          <a:ln/>
        </p:spPr>
      </p:sp>
      <p:sp>
        <p:nvSpPr>
          <p:cNvPr id="19" name="Text 14"/>
          <p:cNvSpPr txBox="1"/>
          <p:nvPr/>
        </p:nvSpPr>
        <p:spPr>
          <a:xfrm>
            <a:off x="6739128" y="5394960"/>
            <a:ext cx="4700016" cy="685800"/>
          </a:xfrm>
          <a:prstGeom prst="rect">
            <a:avLst/>
          </a:prstGeom>
          <a:noFill/>
          <a:ln/>
        </p:spPr>
        <p:txBody>
          <a:bodyPr wrap="square" lIns="0" tIns="0" rIns="0" bIns="0" rtlCol="0" anchor="ctr"/>
          <a:lstStyle/>
          <a:p>
            <a:pPr indent="0" marL="0">
              <a:buNone/>
            </a:pPr>
            <a:r>
              <a:rPr lang="en-US" sz="1700" b="1" dirty="0">
                <a:solidFill>
                  <a:srgbClr val="0A5559"/>
                </a:solidFill>
                <a:latin typeface="Calibri" pitchFamily="34" charset="0"/>
                <a:ea typeface="Calibri" pitchFamily="34" charset="-122"/>
                <a:cs typeface="Calibri" pitchFamily="34" charset="-120"/>
              </a:rPr>
              <a:t>Fixes: initialization, residual connections, normalization, gradient clipping.</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INITIALIZATION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Initialize so each layer preserves the signal's variance</a:t>
            </a:r>
            <a:endParaRPr lang="en-US" sz="3200" dirty="0"/>
          </a:p>
        </p:txBody>
      </p:sp>
      <p:sp>
        <p:nvSpPr>
          <p:cNvPr id="5" name="Shape 2"/>
          <p:cNvSpPr/>
          <p:nvPr/>
        </p:nvSpPr>
        <p:spPr>
          <a:xfrm>
            <a:off x="548640" y="1417320"/>
            <a:ext cx="5120640" cy="2514600"/>
          </a:xfrm>
          <a:prstGeom prst="roundRect">
            <a:avLst>
              <a:gd name="adj" fmla="val 2909"/>
            </a:avLst>
          </a:prstGeom>
          <a:solidFill>
            <a:srgbClr val="F3F5F8"/>
          </a:solidFill>
          <a:ln/>
        </p:spPr>
      </p:sp>
      <p:sp>
        <p:nvSpPr>
          <p:cNvPr id="6" name="Text 3"/>
          <p:cNvSpPr txBox="1"/>
          <p:nvPr/>
        </p:nvSpPr>
        <p:spPr>
          <a:xfrm>
            <a:off x="749808" y="1554480"/>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KEEP THE VARIANCE CONSTANT</a:t>
            </a:r>
            <a:endParaRPr lang="en-US" sz="1300" dirty="0"/>
          </a:p>
        </p:txBody>
      </p:sp>
      <p:pic>
        <p:nvPicPr>
          <p:cNvPr id="7" name="Image 0" descr="LaTeX: \begin{align*} z &amp;= \textstyle\sum_{i=1}^{n_{\text{in}}} w_i x_i\\ \Var(z) &amp;= n_{\text{in}}\,\Var(w)\,\Var(x)\\ \Var(z) = \Var(x) \;&amp;\Leftrightarrow\; \Var(w) = 1/n_{\text{in}} \end{align*}">    </p:cNvPr>
          <p:cNvPicPr>
            <a:picLocks noChangeAspect="1"/>
          </p:cNvPicPr>
          <p:nvPr/>
        </p:nvPicPr>
        <p:blipFill>
          <a:blip r:embed="rId1"/>
          <a:stretch>
            <a:fillRect/>
          </a:stretch>
        </p:blipFill>
        <p:spPr>
          <a:xfrm>
            <a:off x="822960" y="1920240"/>
            <a:ext cx="3731133" cy="965454"/>
          </a:xfrm>
          <a:prstGeom prst="rect">
            <a:avLst/>
          </a:prstGeom>
        </p:spPr>
      </p:pic>
      <p:sp>
        <p:nvSpPr>
          <p:cNvPr id="8" name="Shape 4"/>
          <p:cNvSpPr/>
          <p:nvPr/>
        </p:nvSpPr>
        <p:spPr>
          <a:xfrm>
            <a:off x="548640" y="4114800"/>
            <a:ext cx="5120640" cy="1188720"/>
          </a:xfrm>
          <a:prstGeom prst="roundRect">
            <a:avLst>
              <a:gd name="adj" fmla="val 6154"/>
            </a:avLst>
          </a:prstGeom>
          <a:solidFill>
            <a:srgbClr val="E2F1F1"/>
          </a:solidFill>
          <a:ln/>
        </p:spPr>
      </p:sp>
      <p:sp>
        <p:nvSpPr>
          <p:cNvPr id="9" name="Text 5"/>
          <p:cNvSpPr txBox="1"/>
          <p:nvPr/>
        </p:nvSpPr>
        <p:spPr>
          <a:xfrm>
            <a:off x="749808" y="4224528"/>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RELU HALVES IT, SO DOUBLE IT (HE)</a:t>
            </a:r>
            <a:endParaRPr lang="en-US" sz="1300" dirty="0"/>
          </a:p>
        </p:txBody>
      </p:sp>
      <p:pic>
        <p:nvPicPr>
          <p:cNvPr id="10" name="Image 1" descr="LaTeX: $\displaystyle \E[\ReLU(z)^2] = \tfrac12\E[z^2] \;\Rightarrow\; \Var(w) = \frac{2}{n_{\text{in}}}$">    </p:cNvPr>
          <p:cNvPicPr>
            <a:picLocks noChangeAspect="1"/>
          </p:cNvPicPr>
          <p:nvPr/>
        </p:nvPicPr>
        <p:blipFill>
          <a:blip r:embed="rId2"/>
          <a:stretch>
            <a:fillRect/>
          </a:stretch>
        </p:blipFill>
        <p:spPr>
          <a:xfrm>
            <a:off x="822960" y="4507992"/>
            <a:ext cx="3399282" cy="464058"/>
          </a:xfrm>
          <a:prstGeom prst="rect">
            <a:avLst/>
          </a:prstGeom>
        </p:spPr>
      </p:pic>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943600" y="1417320"/>
          <a:ext cx="5696712" cy="914400"/>
        </p:xfrm>
        <a:graphic>
          <a:graphicData uri="http://schemas.openxmlformats.org/drawingml/2006/table">
            <a:tbl>
              <a:tblPr/>
              <a:tblGrid>
                <a:gridCol w="1691640"/>
                <a:gridCol w="1828800"/>
                <a:gridCol w="2176272"/>
              </a:tblGrid>
              <a:tr h="54864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Activation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Initialization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Var(w)</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ReLU, GELU</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He / Kaiming</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2 / n_in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tanh, sigmoid</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Xavier / Glorot</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2 / (n_in + n_out)</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SELU, linear</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LeCun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1 / n_in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12" name="Shape 6"/>
          <p:cNvSpPr/>
          <p:nvPr/>
        </p:nvSpPr>
        <p:spPr>
          <a:xfrm>
            <a:off x="5943600" y="3840480"/>
            <a:ext cx="5696712" cy="1234440"/>
          </a:xfrm>
          <a:prstGeom prst="roundRect">
            <a:avLst>
              <a:gd name="adj" fmla="val 4444"/>
            </a:avLst>
          </a:prstGeom>
          <a:solidFill>
            <a:srgbClr val="1E2735"/>
          </a:solidFill>
          <a:ln/>
        </p:spPr>
      </p:sp>
      <p:sp>
        <p:nvSpPr>
          <p:cNvPr id="13" name="Text 7"/>
          <p:cNvSpPr txBox="1"/>
          <p:nvPr/>
        </p:nvSpPr>
        <p:spPr>
          <a:xfrm>
            <a:off x="6144768" y="3986784"/>
            <a:ext cx="5376672" cy="978408"/>
          </a:xfrm>
          <a:prstGeom prst="rect">
            <a:avLst/>
          </a:prstGeom>
          <a:noFill/>
          <a:ln/>
        </p:spPr>
        <p:txBody>
          <a:bodyPr wrap="square" lIns="0" tIns="0" rIns="0" bIns="0" rtlCol="0" anchor="t"/>
          <a:lstStyle/>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nn.init.kaiming_normal_(layer.weight,</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nonlinearity="relu")</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nn.init.zeros_(layer.bias)</a:t>
            </a:r>
            <a:endParaRPr lang="en-US" sz="1500" dirty="0"/>
          </a:p>
        </p:txBody>
      </p:sp>
      <p:sp>
        <p:nvSpPr>
          <p:cNvPr id="14" name="Shape 8"/>
          <p:cNvSpPr/>
          <p:nvPr/>
        </p:nvSpPr>
        <p:spPr>
          <a:xfrm>
            <a:off x="5943600" y="5303520"/>
            <a:ext cx="5696712" cy="822960"/>
          </a:xfrm>
          <a:prstGeom prst="roundRect">
            <a:avLst>
              <a:gd name="adj" fmla="val 8889"/>
            </a:avLst>
          </a:prstGeom>
          <a:solidFill>
            <a:srgbClr val="FBEADF"/>
          </a:solidFill>
          <a:ln/>
        </p:spPr>
      </p:sp>
      <p:sp>
        <p:nvSpPr>
          <p:cNvPr id="15" name="Text 9"/>
          <p:cNvSpPr txBox="1"/>
          <p:nvPr/>
        </p:nvSpPr>
        <p:spPr>
          <a:xfrm>
            <a:off x="6144768" y="5349240"/>
            <a:ext cx="5294376" cy="731520"/>
          </a:xfrm>
          <a:prstGeom prst="rect">
            <a:avLst/>
          </a:prstGeom>
          <a:noFill/>
          <a:ln/>
        </p:spPr>
        <p:txBody>
          <a:bodyPr wrap="square" lIns="0" tIns="0" rIns="0" bIns="0" rtlCol="0" anchor="ctr"/>
          <a:lstStyle/>
          <a:p>
            <a:pPr indent="0" marL="0">
              <a:buNone/>
            </a:pPr>
            <a:r>
              <a:rPr lang="en-US" sz="1700" b="1" dirty="0">
                <a:solidFill>
                  <a:srgbClr val="8F3A0E"/>
                </a:solidFill>
                <a:latin typeface="Calibri" pitchFamily="34" charset="0"/>
                <a:ea typeface="Calibri" pitchFamily="34" charset="-122"/>
                <a:cs typeface="Calibri" pitchFamily="34" charset="-120"/>
              </a:rPr>
              <a:t>Never all-zero weights: identical units stay identical forever.</a:t>
            </a:r>
            <a:endParaRPr lang="en-US" sz="1700" dirty="0"/>
          </a:p>
        </p:txBody>
      </p:sp>
      <p:sp>
        <p:nvSpPr>
          <p:cNvPr id="16" name="Text 10"/>
          <p:cNvSpPr txBox="1"/>
          <p:nvPr/>
        </p:nvSpPr>
        <p:spPr>
          <a:xfrm>
            <a:off x="548640" y="5486400"/>
            <a:ext cx="5120640" cy="777240"/>
          </a:xfrm>
          <a:prstGeom prst="rect">
            <a:avLst/>
          </a:prstGeom>
          <a:noFill/>
          <a:ln/>
        </p:spPr>
        <p:txBody>
          <a:bodyPr wrap="square" lIns="0" tIns="0" rIns="0" bIns="0" rtlCol="0" anchor="t"/>
          <a:lstStyle/>
          <a:p>
            <a:pPr indent="0" marL="0">
              <a:buNone/>
            </a:pPr>
            <a:r>
              <a:rPr lang="en-US" sz="1600" i="1" dirty="0">
                <a:solidFill>
                  <a:srgbClr val="5B6675"/>
                </a:solidFill>
                <a:latin typeface="Calibri" pitchFamily="34" charset="0"/>
                <a:ea typeface="Calibri" pitchFamily="34" charset="-122"/>
                <a:cs typeface="Calibri" pitchFamily="34" charset="-120"/>
              </a:rPr>
              <a:t>Conv: n_in = k · k · C_in.  PyTorch default: Var(w) = 1/(3 n_in).</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INITIALIZATION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Simulation: 20 ReLU layers, four initializations</a:t>
            </a:r>
            <a:endParaRPr lang="en-US" sz="3200" dirty="0"/>
          </a:p>
        </p:txBody>
      </p:sp>
      <p:graphicFrame>
        <p:nvGraphicFramePr>
          <p:cNvPr id="5" name="Chart 0" descr="Std of activations by layer (log scale): std 1.0, He, Xavier, std 0.01"/>
          <p:cNvGraphicFramePr/>
          <p:nvPr/>
        </p:nvGraphicFramePr>
        <p:xfrm>
          <a:off x="457200" y="1417320"/>
          <a:ext cx="6583680" cy="4709160"/>
        </p:xfrm>
        <a:graphic xmlns:a="http://schemas.openxmlformats.org/drawingml/2006/main">
          <a:graphicData uri="http://schemas.openxmlformats.org/drawingml/2006/chart">
            <c:chart xmlns:c="http://schemas.openxmlformats.org/drawingml/2006/chart" r:id="rId1"/>
          </a:graphicData>
        </a:graphic>
      </p:graphicFrame>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6903720" y="1417320"/>
          <a:ext cx="4736592" cy="914400"/>
        </p:xfrm>
        <a:graphic>
          <a:graphicData uri="http://schemas.openxmlformats.org/drawingml/2006/table">
            <a:tbl>
              <a:tblPr/>
              <a:tblGrid>
                <a:gridCol w="1005840"/>
                <a:gridCol w="1143000"/>
                <a:gridCol w="1280160"/>
                <a:gridCol w="1307592"/>
              </a:tblGrid>
              <a:tr h="50292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Init</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Layer 1</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Layer 10</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Layer 20</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0292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He</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0.83</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0.88</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0.88</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50292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Xavier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0.59</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0.03</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8.6 × 10⁻⁴</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0292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std 0.01</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0.09</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3.0 × 10⁻¹⁰</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1.0 × 10⁻¹⁹</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std 1.0</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9.40</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3.0 × 10¹⁰</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1.0 × 10²¹</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7" name="Shape 2"/>
          <p:cNvSpPr/>
          <p:nvPr/>
        </p:nvSpPr>
        <p:spPr>
          <a:xfrm>
            <a:off x="6903720" y="4160520"/>
            <a:ext cx="4736592" cy="914400"/>
          </a:xfrm>
          <a:prstGeom prst="roundRect">
            <a:avLst>
              <a:gd name="adj" fmla="val 8000"/>
            </a:avLst>
          </a:prstGeom>
          <a:solidFill>
            <a:srgbClr val="E2F1F1"/>
          </a:solidFill>
          <a:ln/>
        </p:spPr>
      </p:sp>
      <p:sp>
        <p:nvSpPr>
          <p:cNvPr id="8" name="Text 3"/>
          <p:cNvSpPr txBox="1"/>
          <p:nvPr/>
        </p:nvSpPr>
        <p:spPr>
          <a:xfrm>
            <a:off x="7104888" y="4206240"/>
            <a:ext cx="4334256" cy="82296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Only He initialization keeps a deep ReLU network's signal alive.</a:t>
            </a:r>
            <a:endParaRPr lang="en-US" sz="1800" dirty="0"/>
          </a:p>
        </p:txBody>
      </p:sp>
      <p:sp>
        <p:nvSpPr>
          <p:cNvPr id="9" name="Text 4"/>
          <p:cNvSpPr txBox="1"/>
          <p:nvPr/>
        </p:nvSpPr>
        <p:spPr>
          <a:xfrm>
            <a:off x="6903720" y="5303520"/>
            <a:ext cx="4736592" cy="45720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Width 256, 1,000 inputs, one seeded NumPy run.</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5</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A ReLU layer has 512 inputs and 256 outputs. What weight standard deviation does He initialization give?</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sp>
      <p:sp>
        <p:nvSpPr>
          <p:cNvPr id="7" name="Shape 4"/>
          <p:cNvSpPr/>
          <p:nvPr/>
        </p:nvSpPr>
        <p:spPr>
          <a:xfrm>
            <a:off x="777240" y="3136392"/>
            <a:ext cx="548640" cy="548640"/>
          </a:xfrm>
          <a:prstGeom prst="ellipse">
            <a:avLst/>
          </a:prstGeom>
          <a:solidFill>
            <a:srgbClr val="4C5BD4"/>
          </a:solidFill>
          <a:ln/>
        </p:spPr>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√(1/512) ≈ 0.044</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sp>
      <p:sp>
        <p:nvSpPr>
          <p:cNvPr id="11" name="Shape 8"/>
          <p:cNvSpPr/>
          <p:nvPr/>
        </p:nvSpPr>
        <p:spPr>
          <a:xfrm>
            <a:off x="6419088" y="3136392"/>
            <a:ext cx="548640" cy="548640"/>
          </a:xfrm>
          <a:prstGeom prst="ellipse">
            <a:avLst/>
          </a:prstGeom>
          <a:solidFill>
            <a:srgbClr val="4C5BD4"/>
          </a:solidFill>
          <a:ln/>
        </p:spPr>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√(2/512) = 0.0625</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sp>
      <p:sp>
        <p:nvSpPr>
          <p:cNvPr id="15" name="Shape 12"/>
          <p:cNvSpPr/>
          <p:nvPr/>
        </p:nvSpPr>
        <p:spPr>
          <a:xfrm>
            <a:off x="777240" y="4553712"/>
            <a:ext cx="548640" cy="548640"/>
          </a:xfrm>
          <a:prstGeom prst="ellipse">
            <a:avLst/>
          </a:prstGeom>
          <a:solidFill>
            <a:srgbClr val="4C5BD4"/>
          </a:solidFill>
          <a:ln/>
        </p:spPr>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√(4/512) ≈ 0.088</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sp>
      <p:sp>
        <p:nvSpPr>
          <p:cNvPr id="19" name="Shape 16"/>
          <p:cNvSpPr/>
          <p:nvPr/>
        </p:nvSpPr>
        <p:spPr>
          <a:xfrm>
            <a:off x="6419088" y="4553712"/>
            <a:ext cx="548640" cy="548640"/>
          </a:xfrm>
          <a:prstGeom prst="ellipse">
            <a:avLst/>
          </a:prstGeom>
          <a:solidFill>
            <a:srgbClr val="4C5BD4"/>
          </a:solidFill>
          <a:ln/>
        </p:spPr>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√(2/256) ≈ 0.088</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RESIDUAL CONNECTIONS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Residual connections give the gradient a highway</a:t>
            </a:r>
            <a:endParaRPr lang="en-US" sz="3200" dirty="0"/>
          </a:p>
        </p:txBody>
      </p:sp>
      <p:sp>
        <p:nvSpPr>
          <p:cNvPr id="5" name="Shape 2"/>
          <p:cNvSpPr/>
          <p:nvPr/>
        </p:nvSpPr>
        <p:spPr>
          <a:xfrm>
            <a:off x="2148840" y="1417320"/>
            <a:ext cx="1188720" cy="548640"/>
          </a:xfrm>
          <a:prstGeom prst="roundRect">
            <a:avLst>
              <a:gd name="adj" fmla="val 16667"/>
            </a:avLst>
          </a:prstGeom>
          <a:solidFill>
            <a:srgbClr val="F3F5F8"/>
          </a:solidFill>
          <a:ln w="15875">
            <a:solidFill>
              <a:srgbClr val="8A94A3"/>
            </a:solidFill>
            <a:prstDash val="solid"/>
          </a:ln>
        </p:spPr>
      </p:sp>
      <p:sp>
        <p:nvSpPr>
          <p:cNvPr id="6" name="Text 3"/>
          <p:cNvSpPr txBox="1"/>
          <p:nvPr/>
        </p:nvSpPr>
        <p:spPr>
          <a:xfrm>
            <a:off x="2194560" y="1417320"/>
            <a:ext cx="1097280" cy="548640"/>
          </a:xfrm>
          <a:prstGeom prst="rect">
            <a:avLst/>
          </a:prstGeom>
          <a:noFill/>
          <a:ln/>
        </p:spPr>
        <p:txBody>
          <a:bodyPr wrap="square" lIns="0" tIns="0" rIns="0" bIns="0" rtlCol="0" anchor="ctr"/>
          <a:lstStyle/>
          <a:p>
            <a:pPr algn="ctr" indent="0" marL="0">
              <a:buNone/>
            </a:pPr>
            <a:r>
              <a:rPr lang="en-US" sz="1900" dirty="0">
                <a:solidFill>
                  <a:srgbClr val="17202E"/>
                </a:solidFill>
                <a:latin typeface="Cambria" pitchFamily="34" charset="0"/>
                <a:ea typeface="Cambria" pitchFamily="34" charset="-122"/>
                <a:cs typeface="Cambria" pitchFamily="34" charset="-120"/>
              </a:rPr>
              <a:t>x</a:t>
            </a:r>
            <a:pPr algn="ctr" indent="0" marL="0">
              <a:buNone/>
            </a:pPr>
            <a:r>
              <a:rPr lang="en-US" sz="1900" baseline="-40000" dirty="0">
                <a:solidFill>
                  <a:srgbClr val="17202E"/>
                </a:solidFill>
                <a:latin typeface="Cambria" pitchFamily="34" charset="0"/>
                <a:ea typeface="Cambria" pitchFamily="34" charset="-122"/>
                <a:cs typeface="Cambria" pitchFamily="34" charset="-120"/>
              </a:rPr>
              <a:t>l</a:t>
            </a:r>
            <a:endParaRPr lang="en-US" sz="1900" dirty="0"/>
          </a:p>
        </p:txBody>
      </p:sp>
      <p:sp>
        <p:nvSpPr>
          <p:cNvPr id="7" name="Shape 4"/>
          <p:cNvSpPr/>
          <p:nvPr/>
        </p:nvSpPr>
        <p:spPr>
          <a:xfrm>
            <a:off x="2743200" y="1984248"/>
            <a:ext cx="91" cy="274320"/>
          </a:xfrm>
          <a:prstGeom prst="line">
            <a:avLst/>
          </a:prstGeom>
          <a:noFill/>
          <a:ln w="22225">
            <a:solidFill>
              <a:srgbClr val="0F7C82"/>
            </a:solidFill>
            <a:prstDash val="solid"/>
            <a:tailEnd type="triangle"/>
          </a:ln>
        </p:spPr>
      </p:sp>
      <p:sp>
        <p:nvSpPr>
          <p:cNvPr id="8" name="Shape 5"/>
          <p:cNvSpPr/>
          <p:nvPr/>
        </p:nvSpPr>
        <p:spPr>
          <a:xfrm>
            <a:off x="1645920" y="2276856"/>
            <a:ext cx="2194560" cy="2377440"/>
          </a:xfrm>
          <a:prstGeom prst="roundRect">
            <a:avLst>
              <a:gd name="adj" fmla="val 3333"/>
            </a:avLst>
          </a:prstGeom>
          <a:solidFill>
            <a:srgbClr val="E2F1F1"/>
          </a:solidFill>
          <a:ln w="12700">
            <a:solidFill>
              <a:srgbClr val="0F7C82"/>
            </a:solidFill>
            <a:prstDash val="solid"/>
          </a:ln>
        </p:spPr>
      </p:sp>
      <p:sp>
        <p:nvSpPr>
          <p:cNvPr id="9" name="Text 6"/>
          <p:cNvSpPr txBox="1"/>
          <p:nvPr/>
        </p:nvSpPr>
        <p:spPr>
          <a:xfrm>
            <a:off x="1737360" y="2331720"/>
            <a:ext cx="2011680" cy="365760"/>
          </a:xfrm>
          <a:prstGeom prst="rect">
            <a:avLst/>
          </a:prstGeom>
          <a:noFill/>
          <a:ln/>
        </p:spPr>
        <p:txBody>
          <a:bodyPr wrap="square" lIns="0" tIns="0" rIns="0" bIns="0" rtlCol="0" anchor="t"/>
          <a:lstStyle/>
          <a:p>
            <a:pPr algn="ctr" indent="0" marL="0">
              <a:buNone/>
            </a:pPr>
            <a:r>
              <a:rPr lang="en-US" sz="1700" b="1" dirty="0">
                <a:solidFill>
                  <a:srgbClr val="0A5559"/>
                </a:solidFill>
                <a:latin typeface="Calibri" pitchFamily="34" charset="0"/>
                <a:ea typeface="Calibri" pitchFamily="34" charset="-122"/>
                <a:cs typeface="Calibri" pitchFamily="34" charset="-120"/>
              </a:rPr>
              <a:t>F(x</a:t>
            </a:r>
            <a:pPr algn="ctr" indent="0" marL="0">
              <a:buNone/>
            </a:pPr>
            <a:r>
              <a:rPr lang="en-US" sz="1700" b="1" baseline="-40000" dirty="0">
                <a:solidFill>
                  <a:srgbClr val="0A5559"/>
                </a:solidFill>
                <a:latin typeface="Calibri" pitchFamily="34" charset="0"/>
                <a:ea typeface="Calibri" pitchFamily="34" charset="-122"/>
                <a:cs typeface="Calibri" pitchFamily="34" charset="-120"/>
              </a:rPr>
              <a:t>l</a:t>
            </a:r>
            <a:pPr algn="ctr" indent="0" marL="0">
              <a:buNone/>
            </a:pPr>
            <a:r>
              <a:rPr lang="en-US" sz="1700" b="1" dirty="0">
                <a:solidFill>
                  <a:srgbClr val="0A5559"/>
                </a:solidFill>
                <a:latin typeface="Calibri" pitchFamily="34" charset="0"/>
                <a:ea typeface="Calibri" pitchFamily="34" charset="-122"/>
                <a:cs typeface="Calibri" pitchFamily="34" charset="-120"/>
              </a:rPr>
              <a:t>)</a:t>
            </a:r>
            <a:endParaRPr lang="en-US" sz="1700" dirty="0"/>
          </a:p>
        </p:txBody>
      </p:sp>
      <p:sp>
        <p:nvSpPr>
          <p:cNvPr id="10" name="Shape 7"/>
          <p:cNvSpPr/>
          <p:nvPr/>
        </p:nvSpPr>
        <p:spPr>
          <a:xfrm>
            <a:off x="1828800" y="2743200"/>
            <a:ext cx="1828800" cy="475488"/>
          </a:xfrm>
          <a:prstGeom prst="roundRect">
            <a:avLst>
              <a:gd name="adj" fmla="val 19231"/>
            </a:avLst>
          </a:prstGeom>
          <a:solidFill>
            <a:srgbClr val="FFFFFF"/>
          </a:solidFill>
          <a:ln w="15875">
            <a:solidFill>
              <a:srgbClr val="0F7C82"/>
            </a:solidFill>
            <a:prstDash val="solid"/>
          </a:ln>
        </p:spPr>
      </p:sp>
      <p:sp>
        <p:nvSpPr>
          <p:cNvPr id="11" name="Text 8"/>
          <p:cNvSpPr txBox="1"/>
          <p:nvPr/>
        </p:nvSpPr>
        <p:spPr>
          <a:xfrm>
            <a:off x="1874520" y="2743200"/>
            <a:ext cx="1737360" cy="475488"/>
          </a:xfrm>
          <a:prstGeom prst="rect">
            <a:avLst/>
          </a:prstGeom>
          <a:noFill/>
          <a:ln/>
        </p:spPr>
        <p:txBody>
          <a:bodyPr wrap="square" lIns="0" tIns="0" rIns="0" bIns="0" rtlCol="0" anchor="ctr"/>
          <a:lstStyle/>
          <a:p>
            <a:pPr algn="ctr" indent="0" marL="0">
              <a:buNone/>
            </a:pPr>
            <a:r>
              <a:rPr lang="en-US" sz="1500" dirty="0">
                <a:solidFill>
                  <a:srgbClr val="17202E"/>
                </a:solidFill>
                <a:latin typeface="Calibri" pitchFamily="34" charset="0"/>
                <a:ea typeface="Calibri" pitchFamily="34" charset="-122"/>
                <a:cs typeface="Calibri" pitchFamily="34" charset="-120"/>
              </a:rPr>
              <a:t>Linear / Conv</a:t>
            </a:r>
            <a:endParaRPr lang="en-US" sz="1500" dirty="0"/>
          </a:p>
        </p:txBody>
      </p:sp>
      <p:sp>
        <p:nvSpPr>
          <p:cNvPr id="12" name="Shape 9"/>
          <p:cNvSpPr/>
          <p:nvPr/>
        </p:nvSpPr>
        <p:spPr>
          <a:xfrm>
            <a:off x="1828800" y="3364992"/>
            <a:ext cx="1828800" cy="475488"/>
          </a:xfrm>
          <a:prstGeom prst="roundRect">
            <a:avLst>
              <a:gd name="adj" fmla="val 19231"/>
            </a:avLst>
          </a:prstGeom>
          <a:solidFill>
            <a:srgbClr val="FFFFFF"/>
          </a:solidFill>
          <a:ln w="15875">
            <a:solidFill>
              <a:srgbClr val="0F7C82"/>
            </a:solidFill>
            <a:prstDash val="solid"/>
          </a:ln>
        </p:spPr>
      </p:sp>
      <p:sp>
        <p:nvSpPr>
          <p:cNvPr id="13" name="Text 10"/>
          <p:cNvSpPr txBox="1"/>
          <p:nvPr/>
        </p:nvSpPr>
        <p:spPr>
          <a:xfrm>
            <a:off x="1874520" y="3364992"/>
            <a:ext cx="1737360" cy="475488"/>
          </a:xfrm>
          <a:prstGeom prst="rect">
            <a:avLst/>
          </a:prstGeom>
          <a:noFill/>
          <a:ln/>
        </p:spPr>
        <p:txBody>
          <a:bodyPr wrap="square" lIns="0" tIns="0" rIns="0" bIns="0" rtlCol="0" anchor="ctr"/>
          <a:lstStyle/>
          <a:p>
            <a:pPr algn="ctr" indent="0" marL="0">
              <a:buNone/>
            </a:pPr>
            <a:r>
              <a:rPr lang="en-US" sz="1500" dirty="0">
                <a:solidFill>
                  <a:srgbClr val="17202E"/>
                </a:solidFill>
                <a:latin typeface="Calibri" pitchFamily="34" charset="0"/>
                <a:ea typeface="Calibri" pitchFamily="34" charset="-122"/>
                <a:cs typeface="Calibri" pitchFamily="34" charset="-120"/>
              </a:rPr>
              <a:t>Norm + ReLU</a:t>
            </a:r>
            <a:endParaRPr lang="en-US" sz="1500" dirty="0"/>
          </a:p>
        </p:txBody>
      </p:sp>
      <p:sp>
        <p:nvSpPr>
          <p:cNvPr id="14" name="Shape 11"/>
          <p:cNvSpPr/>
          <p:nvPr/>
        </p:nvSpPr>
        <p:spPr>
          <a:xfrm>
            <a:off x="1828800" y="3986784"/>
            <a:ext cx="1828800" cy="475488"/>
          </a:xfrm>
          <a:prstGeom prst="roundRect">
            <a:avLst>
              <a:gd name="adj" fmla="val 19231"/>
            </a:avLst>
          </a:prstGeom>
          <a:solidFill>
            <a:srgbClr val="FFFFFF"/>
          </a:solidFill>
          <a:ln w="15875">
            <a:solidFill>
              <a:srgbClr val="0F7C82"/>
            </a:solidFill>
            <a:prstDash val="solid"/>
          </a:ln>
        </p:spPr>
      </p:sp>
      <p:sp>
        <p:nvSpPr>
          <p:cNvPr id="15" name="Text 12"/>
          <p:cNvSpPr txBox="1"/>
          <p:nvPr/>
        </p:nvSpPr>
        <p:spPr>
          <a:xfrm>
            <a:off x="1874520" y="3986784"/>
            <a:ext cx="1737360" cy="475488"/>
          </a:xfrm>
          <a:prstGeom prst="rect">
            <a:avLst/>
          </a:prstGeom>
          <a:noFill/>
          <a:ln/>
        </p:spPr>
        <p:txBody>
          <a:bodyPr wrap="square" lIns="0" tIns="0" rIns="0" bIns="0" rtlCol="0" anchor="ctr"/>
          <a:lstStyle/>
          <a:p>
            <a:pPr algn="ctr" indent="0" marL="0">
              <a:buNone/>
            </a:pPr>
            <a:r>
              <a:rPr lang="en-US" sz="1500" dirty="0">
                <a:solidFill>
                  <a:srgbClr val="17202E"/>
                </a:solidFill>
                <a:latin typeface="Calibri" pitchFamily="34" charset="0"/>
                <a:ea typeface="Calibri" pitchFamily="34" charset="-122"/>
                <a:cs typeface="Calibri" pitchFamily="34" charset="-120"/>
              </a:rPr>
              <a:t>Linear / Conv</a:t>
            </a:r>
            <a:endParaRPr lang="en-US" sz="1500" dirty="0"/>
          </a:p>
        </p:txBody>
      </p:sp>
      <p:sp>
        <p:nvSpPr>
          <p:cNvPr id="16" name="Shape 13"/>
          <p:cNvSpPr/>
          <p:nvPr/>
        </p:nvSpPr>
        <p:spPr>
          <a:xfrm>
            <a:off x="2743200" y="4672584"/>
            <a:ext cx="91" cy="237744"/>
          </a:xfrm>
          <a:prstGeom prst="line">
            <a:avLst/>
          </a:prstGeom>
          <a:noFill/>
          <a:ln w="22225">
            <a:solidFill>
              <a:srgbClr val="0F7C82"/>
            </a:solidFill>
            <a:prstDash val="solid"/>
            <a:tailEnd type="triangle"/>
          </a:ln>
        </p:spPr>
      </p:sp>
      <p:sp>
        <p:nvSpPr>
          <p:cNvPr id="17" name="Shape 14"/>
          <p:cNvSpPr/>
          <p:nvPr/>
        </p:nvSpPr>
        <p:spPr>
          <a:xfrm>
            <a:off x="2468880" y="4928616"/>
            <a:ext cx="548640" cy="548640"/>
          </a:xfrm>
          <a:prstGeom prst="ellipse">
            <a:avLst/>
          </a:prstGeom>
          <a:solidFill>
            <a:srgbClr val="FFFFFF"/>
          </a:solidFill>
          <a:ln w="15875">
            <a:solidFill>
              <a:srgbClr val="17202E"/>
            </a:solidFill>
            <a:prstDash val="solid"/>
          </a:ln>
        </p:spPr>
      </p:sp>
      <p:sp>
        <p:nvSpPr>
          <p:cNvPr id="18" name="Text 15"/>
          <p:cNvSpPr txBox="1"/>
          <p:nvPr/>
        </p:nvSpPr>
        <p:spPr>
          <a:xfrm>
            <a:off x="2468880" y="4928616"/>
            <a:ext cx="548640" cy="548640"/>
          </a:xfrm>
          <a:prstGeom prst="rect">
            <a:avLst/>
          </a:prstGeom>
          <a:noFill/>
          <a:ln/>
        </p:spPr>
        <p:txBody>
          <a:bodyPr wrap="square" lIns="0" tIns="0" rIns="0" bIns="0" rtlCol="0" anchor="ctr"/>
          <a:lstStyle/>
          <a:p>
            <a:pPr algn="ctr" indent="0" marL="0">
              <a:buNone/>
            </a:pPr>
            <a:r>
              <a:rPr lang="en-US" sz="2600" b="1" dirty="0">
                <a:solidFill>
                  <a:srgbClr val="17202E"/>
                </a:solidFill>
                <a:latin typeface="Calibri" pitchFamily="34" charset="0"/>
                <a:ea typeface="Calibri" pitchFamily="34" charset="-122"/>
                <a:cs typeface="Calibri" pitchFamily="34" charset="-120"/>
              </a:rPr>
              <a:t>+</a:t>
            </a:r>
            <a:endParaRPr lang="en-US" sz="2600" dirty="0"/>
          </a:p>
        </p:txBody>
      </p:sp>
      <p:sp>
        <p:nvSpPr>
          <p:cNvPr id="19" name="Shape 16"/>
          <p:cNvSpPr/>
          <p:nvPr/>
        </p:nvSpPr>
        <p:spPr>
          <a:xfrm>
            <a:off x="2743200" y="5495544"/>
            <a:ext cx="91" cy="265176"/>
          </a:xfrm>
          <a:prstGeom prst="line">
            <a:avLst/>
          </a:prstGeom>
          <a:noFill/>
          <a:ln w="22225">
            <a:solidFill>
              <a:srgbClr val="0F7C82"/>
            </a:solidFill>
            <a:prstDash val="solid"/>
            <a:tailEnd type="triangle"/>
          </a:ln>
        </p:spPr>
      </p:sp>
      <p:sp>
        <p:nvSpPr>
          <p:cNvPr id="20" name="Shape 17"/>
          <p:cNvSpPr/>
          <p:nvPr/>
        </p:nvSpPr>
        <p:spPr>
          <a:xfrm>
            <a:off x="2057400" y="5779008"/>
            <a:ext cx="1371600" cy="548640"/>
          </a:xfrm>
          <a:prstGeom prst="roundRect">
            <a:avLst>
              <a:gd name="adj" fmla="val 16667"/>
            </a:avLst>
          </a:prstGeom>
          <a:solidFill>
            <a:srgbClr val="F3F5F8"/>
          </a:solidFill>
          <a:ln w="15875">
            <a:solidFill>
              <a:srgbClr val="8A94A3"/>
            </a:solidFill>
            <a:prstDash val="solid"/>
          </a:ln>
        </p:spPr>
      </p:sp>
      <p:sp>
        <p:nvSpPr>
          <p:cNvPr id="21" name="Text 18"/>
          <p:cNvSpPr txBox="1"/>
          <p:nvPr/>
        </p:nvSpPr>
        <p:spPr>
          <a:xfrm>
            <a:off x="2103120" y="5779008"/>
            <a:ext cx="1280160" cy="548640"/>
          </a:xfrm>
          <a:prstGeom prst="rect">
            <a:avLst/>
          </a:prstGeom>
          <a:noFill/>
          <a:ln/>
        </p:spPr>
        <p:txBody>
          <a:bodyPr wrap="square" lIns="0" tIns="0" rIns="0" bIns="0" rtlCol="0" anchor="ctr"/>
          <a:lstStyle/>
          <a:p>
            <a:pPr algn="ctr" indent="0" marL="0">
              <a:buNone/>
            </a:pPr>
            <a:r>
              <a:rPr lang="en-US" sz="1900" dirty="0">
                <a:solidFill>
                  <a:srgbClr val="17202E"/>
                </a:solidFill>
                <a:latin typeface="Cambria" pitchFamily="34" charset="0"/>
                <a:ea typeface="Cambria" pitchFamily="34" charset="-122"/>
                <a:cs typeface="Cambria" pitchFamily="34" charset="-120"/>
              </a:rPr>
              <a:t>x</a:t>
            </a:r>
            <a:pPr algn="ctr" indent="0" marL="0">
              <a:buNone/>
            </a:pPr>
            <a:r>
              <a:rPr lang="en-US" sz="1900" baseline="-40000" dirty="0">
                <a:solidFill>
                  <a:srgbClr val="17202E"/>
                </a:solidFill>
                <a:latin typeface="Cambria" pitchFamily="34" charset="0"/>
                <a:ea typeface="Cambria" pitchFamily="34" charset="-122"/>
                <a:cs typeface="Cambria" pitchFamily="34" charset="-120"/>
              </a:rPr>
              <a:t>l+1</a:t>
            </a:r>
            <a:endParaRPr lang="en-US" sz="1900" dirty="0"/>
          </a:p>
        </p:txBody>
      </p:sp>
      <p:sp>
        <p:nvSpPr>
          <p:cNvPr id="22" name="Shape 19"/>
          <p:cNvSpPr/>
          <p:nvPr/>
        </p:nvSpPr>
        <p:spPr>
          <a:xfrm>
            <a:off x="3355848" y="1691640"/>
            <a:ext cx="1170432" cy="91"/>
          </a:xfrm>
          <a:prstGeom prst="line">
            <a:avLst/>
          </a:prstGeom>
          <a:noFill/>
          <a:ln w="31750">
            <a:solidFill>
              <a:srgbClr val="C8571B"/>
            </a:solidFill>
            <a:prstDash val="solid"/>
          </a:ln>
        </p:spPr>
      </p:sp>
      <p:sp>
        <p:nvSpPr>
          <p:cNvPr id="23" name="Shape 20"/>
          <p:cNvSpPr/>
          <p:nvPr/>
        </p:nvSpPr>
        <p:spPr>
          <a:xfrm>
            <a:off x="4526280" y="1691640"/>
            <a:ext cx="91" cy="3511296"/>
          </a:xfrm>
          <a:prstGeom prst="line">
            <a:avLst/>
          </a:prstGeom>
          <a:noFill/>
          <a:ln w="31750">
            <a:solidFill>
              <a:srgbClr val="C8571B"/>
            </a:solidFill>
            <a:prstDash val="solid"/>
          </a:ln>
        </p:spPr>
      </p:sp>
      <p:sp>
        <p:nvSpPr>
          <p:cNvPr id="24" name="Shape 21"/>
          <p:cNvSpPr/>
          <p:nvPr/>
        </p:nvSpPr>
        <p:spPr>
          <a:xfrm flipH="1">
            <a:off x="3035808" y="5202936"/>
            <a:ext cx="1490472" cy="91"/>
          </a:xfrm>
          <a:prstGeom prst="line">
            <a:avLst/>
          </a:prstGeom>
          <a:noFill/>
          <a:ln w="31750">
            <a:solidFill>
              <a:srgbClr val="C8571B"/>
            </a:solidFill>
            <a:prstDash val="solid"/>
            <a:tailEnd type="triangle"/>
          </a:ln>
        </p:spPr>
      </p:sp>
      <p:sp>
        <p:nvSpPr>
          <p:cNvPr id="25" name="Text 22"/>
          <p:cNvSpPr txBox="1"/>
          <p:nvPr/>
        </p:nvSpPr>
        <p:spPr>
          <a:xfrm>
            <a:off x="4617720" y="3063240"/>
            <a:ext cx="1097280" cy="731520"/>
          </a:xfrm>
          <a:prstGeom prst="rect">
            <a:avLst/>
          </a:prstGeom>
          <a:noFill/>
          <a:ln/>
        </p:spPr>
        <p:txBody>
          <a:bodyPr wrap="square" lIns="0" tIns="0" rIns="0" bIns="0" rtlCol="0" anchor="t"/>
          <a:lstStyle/>
          <a:p>
            <a:pPr indent="0" marL="0">
              <a:buNone/>
            </a:pPr>
            <a:r>
              <a:rPr lang="en-US" sz="1700" b="1" dirty="0">
                <a:solidFill>
                  <a:srgbClr val="C8571B"/>
                </a:solidFill>
                <a:latin typeface="Calibri" pitchFamily="34" charset="0"/>
                <a:ea typeface="Calibri" pitchFamily="34" charset="-122"/>
                <a:cs typeface="Calibri" pitchFamily="34" charset="-120"/>
              </a:rPr>
              <a:t>identity</a:t>
            </a:r>
            <a:endParaRPr lang="en-US" sz="1700" dirty="0"/>
          </a:p>
          <a:p>
            <a:pPr indent="0" marL="0">
              <a:buNone/>
            </a:pPr>
            <a:r>
              <a:rPr lang="en-US" sz="1700" b="1" dirty="0">
                <a:solidFill>
                  <a:srgbClr val="C8571B"/>
                </a:solidFill>
                <a:latin typeface="Calibri" pitchFamily="34" charset="0"/>
                <a:ea typeface="Calibri" pitchFamily="34" charset="-122"/>
                <a:cs typeface="Calibri" pitchFamily="34" charset="-120"/>
              </a:rPr>
              <a:t>skip</a:t>
            </a:r>
            <a:endParaRPr lang="en-US" sz="1700" dirty="0"/>
          </a:p>
        </p:txBody>
      </p:sp>
      <p:sp>
        <p:nvSpPr>
          <p:cNvPr id="26" name="Shape 23"/>
          <p:cNvSpPr/>
          <p:nvPr/>
        </p:nvSpPr>
        <p:spPr>
          <a:xfrm>
            <a:off x="5669280" y="1417320"/>
            <a:ext cx="5971032" cy="1783080"/>
          </a:xfrm>
          <a:prstGeom prst="roundRect">
            <a:avLst>
              <a:gd name="adj" fmla="val 4103"/>
            </a:avLst>
          </a:prstGeom>
          <a:solidFill>
            <a:srgbClr val="F3F5F8"/>
          </a:solidFill>
          <a:ln/>
        </p:spPr>
      </p:sp>
      <p:sp>
        <p:nvSpPr>
          <p:cNvPr id="27" name="Text 24"/>
          <p:cNvSpPr txBox="1"/>
          <p:nvPr/>
        </p:nvSpPr>
        <p:spPr>
          <a:xfrm>
            <a:off x="5870448" y="1554480"/>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LEARN A CORRECTION, NOT THE WHOLE MAP</a:t>
            </a:r>
            <a:endParaRPr lang="en-US" sz="1300" dirty="0"/>
          </a:p>
        </p:txBody>
      </p:sp>
      <p:pic>
        <p:nvPicPr>
          <p:cNvPr id="28" name="Image 0" descr="LaTeX: $\displaystyle \x_{l+1} = \x_l + F(\x_l)$">    </p:cNvPr>
          <p:cNvPicPr>
            <a:picLocks noChangeAspect="1"/>
          </p:cNvPicPr>
          <p:nvPr/>
        </p:nvPicPr>
        <p:blipFill>
          <a:blip r:embed="rId1"/>
          <a:stretch>
            <a:fillRect/>
          </a:stretch>
        </p:blipFill>
        <p:spPr>
          <a:xfrm>
            <a:off x="5897880" y="1984248"/>
            <a:ext cx="1934261" cy="312725"/>
          </a:xfrm>
          <a:prstGeom prst="rect">
            <a:avLst/>
          </a:prstGeom>
        </p:spPr>
      </p:pic>
      <p:pic>
        <p:nvPicPr>
          <p:cNvPr id="29" name="Image 1" descr="LaTeX: $\displaystyle \frac{\partial \x_{l+1}}{\partial \x_l} = \mathbf{I} + \frac{\partial F}{\partial \x_l}$">    </p:cNvPr>
          <p:cNvPicPr>
            <a:picLocks noChangeAspect="1"/>
          </p:cNvPicPr>
          <p:nvPr/>
        </p:nvPicPr>
        <p:blipFill>
          <a:blip r:embed="rId2"/>
          <a:stretch>
            <a:fillRect/>
          </a:stretch>
        </p:blipFill>
        <p:spPr>
          <a:xfrm>
            <a:off x="8732520" y="1874520"/>
            <a:ext cx="1526438" cy="509626"/>
          </a:xfrm>
          <a:prstGeom prst="rect">
            <a:avLst/>
          </a:prstGeom>
        </p:spPr>
      </p:pic>
      <p:sp>
        <p:nvSpPr>
          <p:cNvPr id="30" name="Text 25"/>
          <p:cNvSpPr txBox="1"/>
          <p:nvPr/>
        </p:nvSpPr>
        <p:spPr>
          <a:xfrm>
            <a:off x="5870448" y="2715768"/>
            <a:ext cx="5669280" cy="4114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The identity I gives every gradient a path with factor 1.</a:t>
            </a:r>
            <a:endParaRPr lang="en-US" sz="1600" dirty="0"/>
          </a:p>
        </p:txBody>
      </p:sp>
      <p:sp>
        <p:nvSpPr>
          <p:cNvPr id="31" name="Shape 26"/>
          <p:cNvSpPr/>
          <p:nvPr/>
        </p:nvSpPr>
        <p:spPr>
          <a:xfrm>
            <a:off x="5669280" y="3520440"/>
            <a:ext cx="402336" cy="402336"/>
          </a:xfrm>
          <a:prstGeom prst="ellipse">
            <a:avLst/>
          </a:prstGeom>
          <a:solidFill>
            <a:srgbClr val="0F7C82"/>
          </a:solidFill>
          <a:ln/>
        </p:spPr>
      </p:sp>
      <p:sp>
        <p:nvSpPr>
          <p:cNvPr id="32" name="Text 27"/>
          <p:cNvSpPr txBox="1"/>
          <p:nvPr/>
        </p:nvSpPr>
        <p:spPr>
          <a:xfrm>
            <a:off x="5669280" y="35204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33" name="Text 28"/>
          <p:cNvSpPr txBox="1"/>
          <p:nvPr/>
        </p:nvSpPr>
        <p:spPr>
          <a:xfrm>
            <a:off x="6272784" y="3502152"/>
            <a:ext cx="53675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Gradients reach early layers</a:t>
            </a:r>
            <a:endParaRPr lang="en-US" sz="1800" dirty="0"/>
          </a:p>
        </p:txBody>
      </p:sp>
      <p:sp>
        <p:nvSpPr>
          <p:cNvPr id="34" name="Text 29"/>
          <p:cNvSpPr txBox="1"/>
          <p:nvPr/>
        </p:nvSpPr>
        <p:spPr>
          <a:xfrm>
            <a:off x="6272784" y="3867912"/>
            <a:ext cx="5367528"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Even when ∂F/∂x is small.</a:t>
            </a:r>
            <a:endParaRPr lang="en-US" sz="1600" dirty="0"/>
          </a:p>
        </p:txBody>
      </p:sp>
      <p:sp>
        <p:nvSpPr>
          <p:cNvPr id="35" name="Shape 30"/>
          <p:cNvSpPr/>
          <p:nvPr/>
        </p:nvSpPr>
        <p:spPr>
          <a:xfrm>
            <a:off x="5669280" y="4507992"/>
            <a:ext cx="402336" cy="402336"/>
          </a:xfrm>
          <a:prstGeom prst="ellipse">
            <a:avLst/>
          </a:prstGeom>
          <a:solidFill>
            <a:srgbClr val="0F7C82"/>
          </a:solidFill>
          <a:ln/>
        </p:spPr>
      </p:sp>
      <p:sp>
        <p:nvSpPr>
          <p:cNvPr id="36" name="Text 31"/>
          <p:cNvSpPr txBox="1"/>
          <p:nvPr/>
        </p:nvSpPr>
        <p:spPr>
          <a:xfrm>
            <a:off x="5669280" y="450799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37" name="Text 32"/>
          <p:cNvSpPr txBox="1"/>
          <p:nvPr/>
        </p:nvSpPr>
        <p:spPr>
          <a:xfrm>
            <a:off x="6272784" y="4489704"/>
            <a:ext cx="53675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Extra blocks are cheap to ignore</a:t>
            </a:r>
            <a:endParaRPr lang="en-US" sz="1800" dirty="0"/>
          </a:p>
        </p:txBody>
      </p:sp>
      <p:sp>
        <p:nvSpPr>
          <p:cNvPr id="38" name="Text 33"/>
          <p:cNvSpPr txBox="1"/>
          <p:nvPr/>
        </p:nvSpPr>
        <p:spPr>
          <a:xfrm>
            <a:off x="6272784" y="4855464"/>
            <a:ext cx="5367528"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F → 0 makes a block the identity.</a:t>
            </a:r>
            <a:endParaRPr lang="en-US" sz="1600" dirty="0"/>
          </a:p>
        </p:txBody>
      </p:sp>
      <p:sp>
        <p:nvSpPr>
          <p:cNvPr id="39" name="Shape 34"/>
          <p:cNvSpPr/>
          <p:nvPr/>
        </p:nvSpPr>
        <p:spPr>
          <a:xfrm>
            <a:off x="5669280" y="5495544"/>
            <a:ext cx="402336" cy="402336"/>
          </a:xfrm>
          <a:prstGeom prst="ellipse">
            <a:avLst/>
          </a:prstGeom>
          <a:solidFill>
            <a:srgbClr val="0F7C82"/>
          </a:solidFill>
          <a:ln/>
        </p:spPr>
      </p:sp>
      <p:sp>
        <p:nvSpPr>
          <p:cNvPr id="40" name="Text 35"/>
          <p:cNvSpPr txBox="1"/>
          <p:nvPr/>
        </p:nvSpPr>
        <p:spPr>
          <a:xfrm>
            <a:off x="5669280" y="549554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41" name="Text 36"/>
          <p:cNvSpPr txBox="1"/>
          <p:nvPr/>
        </p:nvSpPr>
        <p:spPr>
          <a:xfrm>
            <a:off x="6272784" y="5477256"/>
            <a:ext cx="53675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Everywhere since 2015</a:t>
            </a:r>
            <a:endParaRPr lang="en-US" sz="1800" dirty="0"/>
          </a:p>
        </p:txBody>
      </p:sp>
      <p:sp>
        <p:nvSpPr>
          <p:cNvPr id="42" name="Text 37"/>
          <p:cNvSpPr txBox="1"/>
          <p:nvPr/>
        </p:nvSpPr>
        <p:spPr>
          <a:xfrm>
            <a:off x="6272784" y="5843016"/>
            <a:ext cx="5367528"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ResNets; every Transformer block.</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OPTIMIZERS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Ravines defeat plain SGD; momentum and Adam help</a:t>
            </a:r>
            <a:endParaRPr lang="en-US" sz="3200" dirty="0"/>
          </a:p>
        </p:txBody>
      </p:sp>
      <p:pic>
        <p:nvPicPr>
          <p:cNvPr id="5" name="Image 0" descr="Trajectories of SGD, SGD with momentum and Adam on a rotated elongated quadratic, 40 steps each with tuned learning rates.">    </p:cNvPr>
          <p:cNvPicPr>
            <a:picLocks noChangeAspect="1"/>
          </p:cNvPicPr>
          <p:nvPr/>
        </p:nvPicPr>
        <p:blipFill>
          <a:blip r:embed="rId1"/>
          <a:stretch>
            <a:fillRect/>
          </a:stretch>
        </p:blipFill>
        <p:spPr>
          <a:xfrm>
            <a:off x="581283" y="1325880"/>
            <a:ext cx="11029129" cy="2514600"/>
          </a:xfrm>
          <a:prstGeom prst="rect">
            <a:avLst/>
          </a:prstGeom>
        </p:spPr>
      </p:pic>
      <p:sp>
        <p:nvSpPr>
          <p:cNvPr id="6" name="Shape 2"/>
          <p:cNvSpPr/>
          <p:nvPr/>
        </p:nvSpPr>
        <p:spPr>
          <a:xfrm>
            <a:off x="548640" y="4389120"/>
            <a:ext cx="3529584" cy="1737360"/>
          </a:xfrm>
          <a:prstGeom prst="roundRect">
            <a:avLst>
              <a:gd name="adj" fmla="val 4211"/>
            </a:avLst>
          </a:prstGeom>
          <a:solidFill>
            <a:srgbClr val="F3F5F8"/>
          </a:solidFill>
          <a:ln/>
        </p:spPr>
      </p:sp>
      <p:sp>
        <p:nvSpPr>
          <p:cNvPr id="7" name="Text 3"/>
          <p:cNvSpPr txBox="1"/>
          <p:nvPr/>
        </p:nvSpPr>
        <p:spPr>
          <a:xfrm>
            <a:off x="731520" y="4498848"/>
            <a:ext cx="3200400" cy="384048"/>
          </a:xfrm>
          <a:prstGeom prst="rect">
            <a:avLst/>
          </a:prstGeom>
          <a:noFill/>
          <a:ln/>
        </p:spPr>
        <p:txBody>
          <a:bodyPr wrap="square" lIns="0" tIns="0" rIns="0" bIns="0" rtlCol="0" anchor="t"/>
          <a:lstStyle/>
          <a:p>
            <a:pPr indent="0" marL="0">
              <a:buNone/>
            </a:pPr>
            <a:r>
              <a:rPr lang="en-US" sz="1900" b="1" dirty="0">
                <a:solidFill>
                  <a:srgbClr val="5B6675"/>
                </a:solidFill>
                <a:latin typeface="Calibri" pitchFamily="34" charset="0"/>
                <a:ea typeface="Calibri" pitchFamily="34" charset="-122"/>
                <a:cs typeface="Calibri" pitchFamily="34" charset="-120"/>
              </a:rPr>
              <a:t>SGD</a:t>
            </a:r>
            <a:endParaRPr lang="en-US" sz="1900" dirty="0"/>
          </a:p>
        </p:txBody>
      </p:sp>
      <p:sp>
        <p:nvSpPr>
          <p:cNvPr id="8" name="Text 4"/>
          <p:cNvSpPr txBox="1"/>
          <p:nvPr/>
        </p:nvSpPr>
        <p:spPr>
          <a:xfrm>
            <a:off x="731520" y="48920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One η for every direction: bounces across, creeps along.</a:t>
            </a:r>
            <a:endParaRPr lang="en-US" sz="1600" dirty="0"/>
          </a:p>
        </p:txBody>
      </p:sp>
      <p:sp>
        <p:nvSpPr>
          <p:cNvPr id="9" name="Text 5"/>
          <p:cNvSpPr txBox="1"/>
          <p:nvPr/>
        </p:nvSpPr>
        <p:spPr>
          <a:xfrm>
            <a:off x="731520" y="5715000"/>
            <a:ext cx="3200400"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loss after 40 steps: 2.1e-2</a:t>
            </a:r>
            <a:endParaRPr lang="en-US" sz="1500" dirty="0"/>
          </a:p>
        </p:txBody>
      </p:sp>
      <p:sp>
        <p:nvSpPr>
          <p:cNvPr id="10" name="Shape 6"/>
          <p:cNvSpPr/>
          <p:nvPr/>
        </p:nvSpPr>
        <p:spPr>
          <a:xfrm>
            <a:off x="4315968" y="4389120"/>
            <a:ext cx="3529584" cy="1737360"/>
          </a:xfrm>
          <a:prstGeom prst="roundRect">
            <a:avLst>
              <a:gd name="adj" fmla="val 4211"/>
            </a:avLst>
          </a:prstGeom>
          <a:solidFill>
            <a:srgbClr val="F3F5F8"/>
          </a:solidFill>
          <a:ln/>
        </p:spPr>
      </p:sp>
      <p:sp>
        <p:nvSpPr>
          <p:cNvPr id="11" name="Text 7"/>
          <p:cNvSpPr txBox="1"/>
          <p:nvPr/>
        </p:nvSpPr>
        <p:spPr>
          <a:xfrm>
            <a:off x="4498848" y="4498848"/>
            <a:ext cx="3200400" cy="384048"/>
          </a:xfrm>
          <a:prstGeom prst="rect">
            <a:avLst/>
          </a:prstGeom>
          <a:noFill/>
          <a:ln/>
        </p:spPr>
        <p:txBody>
          <a:bodyPr wrap="square" lIns="0" tIns="0" rIns="0" bIns="0" rtlCol="0" anchor="t"/>
          <a:lstStyle/>
          <a:p>
            <a:pPr indent="0" marL="0">
              <a:buNone/>
            </a:pPr>
            <a:r>
              <a:rPr lang="en-US" sz="1900" b="1" dirty="0">
                <a:solidFill>
                  <a:srgbClr val="0F7C82"/>
                </a:solidFill>
                <a:latin typeface="Calibri" pitchFamily="34" charset="0"/>
                <a:ea typeface="Calibri" pitchFamily="34" charset="-122"/>
                <a:cs typeface="Calibri" pitchFamily="34" charset="-120"/>
              </a:rPr>
              <a:t>SGD + momentum</a:t>
            </a:r>
            <a:endParaRPr lang="en-US" sz="1900" dirty="0"/>
          </a:p>
        </p:txBody>
      </p:sp>
      <p:sp>
        <p:nvSpPr>
          <p:cNvPr id="12" name="Text 8"/>
          <p:cNvSpPr txBox="1"/>
          <p:nvPr/>
        </p:nvSpPr>
        <p:spPr>
          <a:xfrm>
            <a:off x="4498848" y="48920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Averages gradients: oscillations cancel, speed builds.</a:t>
            </a:r>
            <a:endParaRPr lang="en-US" sz="1600" dirty="0"/>
          </a:p>
        </p:txBody>
      </p:sp>
      <p:sp>
        <p:nvSpPr>
          <p:cNvPr id="13" name="Text 9"/>
          <p:cNvSpPr txBox="1"/>
          <p:nvPr/>
        </p:nvSpPr>
        <p:spPr>
          <a:xfrm>
            <a:off x="4498848" y="5715000"/>
            <a:ext cx="3200400"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loss after 40 steps: 9.2e-3</a:t>
            </a:r>
            <a:endParaRPr lang="en-US" sz="1500" dirty="0"/>
          </a:p>
        </p:txBody>
      </p:sp>
      <p:sp>
        <p:nvSpPr>
          <p:cNvPr id="14" name="Shape 10"/>
          <p:cNvSpPr/>
          <p:nvPr/>
        </p:nvSpPr>
        <p:spPr>
          <a:xfrm>
            <a:off x="8083296" y="4389120"/>
            <a:ext cx="3529584" cy="1737360"/>
          </a:xfrm>
          <a:prstGeom prst="roundRect">
            <a:avLst>
              <a:gd name="adj" fmla="val 4211"/>
            </a:avLst>
          </a:prstGeom>
          <a:solidFill>
            <a:srgbClr val="F3F5F8"/>
          </a:solidFill>
          <a:ln/>
        </p:spPr>
      </p:sp>
      <p:sp>
        <p:nvSpPr>
          <p:cNvPr id="15" name="Text 11"/>
          <p:cNvSpPr txBox="1"/>
          <p:nvPr/>
        </p:nvSpPr>
        <p:spPr>
          <a:xfrm>
            <a:off x="8266176" y="4498848"/>
            <a:ext cx="3200400" cy="384048"/>
          </a:xfrm>
          <a:prstGeom prst="rect">
            <a:avLst/>
          </a:prstGeom>
          <a:noFill/>
          <a:ln/>
        </p:spPr>
        <p:txBody>
          <a:bodyPr wrap="square" lIns="0" tIns="0" rIns="0" bIns="0" rtlCol="0" anchor="t"/>
          <a:lstStyle/>
          <a:p>
            <a:pPr indent="0" marL="0">
              <a:buNone/>
            </a:pPr>
            <a:r>
              <a:rPr lang="en-US" sz="1900" b="1" dirty="0">
                <a:solidFill>
                  <a:srgbClr val="4C5BD4"/>
                </a:solidFill>
                <a:latin typeface="Calibri" pitchFamily="34" charset="0"/>
                <a:ea typeface="Calibri" pitchFamily="34" charset="-122"/>
                <a:cs typeface="Calibri" pitchFamily="34" charset="-120"/>
              </a:rPr>
              <a:t>Adam</a:t>
            </a:r>
            <a:endParaRPr lang="en-US" sz="1900" dirty="0"/>
          </a:p>
        </p:txBody>
      </p:sp>
      <p:sp>
        <p:nvSpPr>
          <p:cNvPr id="16" name="Text 12"/>
          <p:cNvSpPr txBox="1"/>
          <p:nvPr/>
        </p:nvSpPr>
        <p:spPr>
          <a:xfrm>
            <a:off x="8266176" y="48920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Per-parameter step sizes from gradient history.</a:t>
            </a:r>
            <a:endParaRPr lang="en-US" sz="1600" dirty="0"/>
          </a:p>
        </p:txBody>
      </p:sp>
      <p:sp>
        <p:nvSpPr>
          <p:cNvPr id="17" name="Text 13"/>
          <p:cNvSpPr txBox="1"/>
          <p:nvPr/>
        </p:nvSpPr>
        <p:spPr>
          <a:xfrm>
            <a:off x="8266176" y="5715000"/>
            <a:ext cx="3200400"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loss after 40 steps: 9.3e-4</a:t>
            </a:r>
            <a:endParaRPr lang="en-US" sz="1500" dirty="0"/>
          </a:p>
        </p:txBody>
      </p:sp>
      <p:sp>
        <p:nvSpPr>
          <p:cNvPr id="18" name="Text 14"/>
          <p:cNvSpPr txBox="1"/>
          <p:nvPr/>
        </p:nvSpPr>
        <p:spPr>
          <a:xfrm>
            <a:off x="548640" y="39319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Rotated ravine (curvatures 1 and 25), learning rates tuned per optimizer.</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OPTIMIZERS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Adam = momentum + per-parameter steps; use AdamW</a:t>
            </a:r>
            <a:endParaRPr lang="en-US" sz="3200" dirty="0"/>
          </a:p>
        </p:txBody>
      </p:sp>
      <p:sp>
        <p:nvSpPr>
          <p:cNvPr id="5" name="Shape 2"/>
          <p:cNvSpPr/>
          <p:nvPr/>
        </p:nvSpPr>
        <p:spPr>
          <a:xfrm>
            <a:off x="548640" y="1417320"/>
            <a:ext cx="6400800" cy="2926080"/>
          </a:xfrm>
          <a:prstGeom prst="roundRect">
            <a:avLst>
              <a:gd name="adj" fmla="val 2500"/>
            </a:avLst>
          </a:prstGeom>
          <a:solidFill>
            <a:srgbClr val="F3F5F8"/>
          </a:solidFill>
          <a:ln/>
        </p:spPr>
      </p:sp>
      <p:sp>
        <p:nvSpPr>
          <p:cNvPr id="6" name="Text 3"/>
          <p:cNvSpPr txBox="1"/>
          <p:nvPr/>
        </p:nvSpPr>
        <p:spPr>
          <a:xfrm>
            <a:off x="749808" y="1554480"/>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ADAM (KINGMA &amp; BA, 2015)</a:t>
            </a:r>
            <a:endParaRPr lang="en-US" sz="1300" dirty="0"/>
          </a:p>
        </p:txBody>
      </p:sp>
      <p:pic>
        <p:nvPicPr>
          <p:cNvPr id="7" name="Image 0" descr="LaTeX: \begin{align*} \mathbf{m}_t &amp;= \beta_1\mathbf{m}_{t-1} + (1-\beta_1)\,\mathbf{g}_t \qquad \textcolor{mu}{\text{mean (momentum)}}\\ \mathbf{v}_t &amp;= \beta_2\mathbf{v}_{t-1} + (1-\beta_2)\,\mathbf{g}_t^2 \qquad \textcolor{mu}{\text{scale (RMSProp)}}\\ \hat{\mathbf{m}}_t &amp;= \frac{\mathbf{m}_t}{1-\beta_1^t},\quad \hat{\mathbf{v}}_t = \frac{\mathbf{v}_t}{1-\beta_2^t} \qquad \textcolor{mu}{\text{bias correction}}\\ \bm\theta_t &amp;= \bm\theta_{t-1} - \eta\,\frac{\hat{\mathbf{m}}_t}{\sqrt{\hat{\mathbf{v}}_t} + \epsilon} \end{align*}">    </p:cNvPr>
          <p:cNvPicPr>
            <a:picLocks noChangeAspect="1"/>
          </p:cNvPicPr>
          <p:nvPr/>
        </p:nvPicPr>
        <p:blipFill>
          <a:blip r:embed="rId1"/>
          <a:stretch>
            <a:fillRect/>
          </a:stretch>
        </p:blipFill>
        <p:spPr>
          <a:xfrm>
            <a:off x="822960" y="1874520"/>
            <a:ext cx="4518355" cy="1665427"/>
          </a:xfrm>
          <a:prstGeom prst="rect">
            <a:avLst/>
          </a:prstGeom>
        </p:spPr>
      </p:pic>
      <p:sp>
        <p:nvSpPr>
          <p:cNvPr id="8" name="Text 4"/>
          <p:cNvSpPr txBox="1"/>
          <p:nvPr/>
        </p:nvSpPr>
        <p:spPr>
          <a:xfrm>
            <a:off x="749808" y="3931920"/>
            <a:ext cx="5943600" cy="365760"/>
          </a:xfrm>
          <a:prstGeom prst="rect">
            <a:avLst/>
          </a:prstGeom>
          <a:noFill/>
          <a:ln/>
        </p:spPr>
        <p:txBody>
          <a:bodyPr wrap="square" lIns="0" tIns="0" rIns="0" bIns="0" rtlCol="0" anchor="t"/>
          <a:lstStyle/>
          <a:p>
            <a:pPr indent="0" marL="0">
              <a:buNone/>
            </a:pPr>
            <a:r>
              <a:rPr lang="en-US" sz="1600" dirty="0">
                <a:solidFill>
                  <a:srgbClr val="5B6675"/>
                </a:solidFill>
                <a:latin typeface="Calibri" pitchFamily="34" charset="0"/>
                <a:ea typeface="Calibri" pitchFamily="34" charset="-122"/>
                <a:cs typeface="Calibri" pitchFamily="34" charset="-120"/>
              </a:rPr>
              <a:t>Defaults: β₁ = 0.9, β₂ = 0.999, ε = 10⁻⁸</a:t>
            </a:r>
            <a:endParaRPr lang="en-US" sz="1600" dirty="0"/>
          </a:p>
        </p:txBody>
      </p:sp>
      <p:sp>
        <p:nvSpPr>
          <p:cNvPr id="9" name="Shape 5"/>
          <p:cNvSpPr/>
          <p:nvPr/>
        </p:nvSpPr>
        <p:spPr>
          <a:xfrm>
            <a:off x="548640" y="4526280"/>
            <a:ext cx="6400800" cy="1600200"/>
          </a:xfrm>
          <a:prstGeom prst="roundRect">
            <a:avLst>
              <a:gd name="adj" fmla="val 4571"/>
            </a:avLst>
          </a:prstGeom>
          <a:solidFill>
            <a:srgbClr val="FBEADF"/>
          </a:solidFill>
          <a:ln/>
        </p:spPr>
      </p:sp>
      <p:sp>
        <p:nvSpPr>
          <p:cNvPr id="10" name="Text 6"/>
          <p:cNvSpPr txBox="1"/>
          <p:nvPr/>
        </p:nvSpPr>
        <p:spPr>
          <a:xfrm>
            <a:off x="749808" y="4663440"/>
            <a:ext cx="548640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ADAMW: DECAY THE WEIGHTS DIRECTLY</a:t>
            </a:r>
            <a:endParaRPr lang="en-US" sz="1300" dirty="0"/>
          </a:p>
        </p:txBody>
      </p:sp>
      <p:pic>
        <p:nvPicPr>
          <p:cNvPr id="11" name="Image 1" descr="LaTeX: $\displaystyle \bm\theta_t = \bm\theta_{t-1} - \eta\Bigl(\frac{\hat{\mathbf{m}}_t}{\sqrt{\hat{\mathbf{v}}_t}+\epsilon} + \textcolor{bw}{\lambda\,\bm\theta_{t-1}}\Bigr)$">    </p:cNvPr>
          <p:cNvPicPr>
            <a:picLocks noChangeAspect="1"/>
          </p:cNvPicPr>
          <p:nvPr/>
        </p:nvPicPr>
        <p:blipFill>
          <a:blip r:embed="rId2"/>
          <a:stretch>
            <a:fillRect/>
          </a:stretch>
        </p:blipFill>
        <p:spPr>
          <a:xfrm>
            <a:off x="822960" y="5029200"/>
            <a:ext cx="2991917" cy="529133"/>
          </a:xfrm>
          <a:prstGeom prst="rect">
            <a:avLst/>
          </a:prstGeom>
        </p:spPr>
      </p:pic>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7178040" y="1417320"/>
          <a:ext cx="4462272" cy="914400"/>
        </p:xfrm>
        <a:graphic>
          <a:graphicData uri="http://schemas.openxmlformats.org/drawingml/2006/table">
            <a:tbl>
              <a:tblPr/>
              <a:tblGrid>
                <a:gridCol w="1417320"/>
                <a:gridCol w="1783080"/>
                <a:gridCol w="1261872"/>
              </a:tblGrid>
              <a:tr h="6858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Optimizer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Good default for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Typical η</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68580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AdamW</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Most new work, Transformers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3 × 10⁻⁴</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68580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SGD + momentum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CNN image classifiers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0.1 (batch 256)</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13" name="Shape 7"/>
          <p:cNvSpPr/>
          <p:nvPr/>
        </p:nvSpPr>
        <p:spPr>
          <a:xfrm>
            <a:off x="7178040" y="3794760"/>
            <a:ext cx="4462272" cy="1188720"/>
          </a:xfrm>
          <a:prstGeom prst="roundRect">
            <a:avLst>
              <a:gd name="adj" fmla="val 6154"/>
            </a:avLst>
          </a:prstGeom>
          <a:solidFill>
            <a:srgbClr val="E2F1F1"/>
          </a:solidFill>
          <a:ln/>
        </p:spPr>
      </p:sp>
      <p:sp>
        <p:nvSpPr>
          <p:cNvPr id="14" name="Text 8"/>
          <p:cNvSpPr txBox="1"/>
          <p:nvPr/>
        </p:nvSpPr>
        <p:spPr>
          <a:xfrm>
            <a:off x="7379208" y="3840480"/>
            <a:ext cx="4059936" cy="1097280"/>
          </a:xfrm>
          <a:prstGeom prst="rect">
            <a:avLst/>
          </a:prstGeom>
          <a:noFill/>
          <a:ln/>
        </p:spPr>
        <p:txBody>
          <a:bodyPr wrap="square" lIns="0" tIns="0" rIns="0" bIns="0" rtlCol="0" anchor="ctr"/>
          <a:lstStyle/>
          <a:p>
            <a:pPr indent="0" marL="0">
              <a:buNone/>
            </a:pPr>
            <a:r>
              <a:rPr lang="en-US" sz="1700" b="1" dirty="0">
                <a:solidFill>
                  <a:srgbClr val="0A5559"/>
                </a:solidFill>
                <a:latin typeface="Calibri" pitchFamily="34" charset="0"/>
                <a:ea typeface="Calibri" pitchFamily="34" charset="-122"/>
                <a:cs typeface="Calibri" pitchFamily="34" charset="-120"/>
              </a:rPr>
              <a:t>Start with AdamW (weight decay 0.01 – 0.1). Do not decay biases or norm γ, β.</a:t>
            </a:r>
            <a:endParaRPr lang="en-US" sz="1700" dirty="0"/>
          </a:p>
        </p:txBody>
      </p:sp>
      <p:sp>
        <p:nvSpPr>
          <p:cNvPr id="15" name="Text 9"/>
          <p:cNvSpPr txBox="1"/>
          <p:nvPr/>
        </p:nvSpPr>
        <p:spPr>
          <a:xfrm>
            <a:off x="7178040" y="5212080"/>
            <a:ext cx="4462272" cy="731520"/>
          </a:xfrm>
          <a:prstGeom prst="rect">
            <a:avLst/>
          </a:prstGeom>
          <a:noFill/>
          <a:ln/>
        </p:spPr>
        <p:txBody>
          <a:bodyPr wrap="square" lIns="0" tIns="0" rIns="0" bIns="0" rtlCol="0" anchor="t"/>
          <a:lstStyle/>
          <a:p>
            <a:pPr indent="0" marL="0">
              <a:buNone/>
            </a:pPr>
            <a:r>
              <a:rPr lang="en-US" sz="1600" b="1" dirty="0">
                <a:solidFill>
                  <a:srgbClr val="C8571B"/>
                </a:solidFill>
                <a:latin typeface="Calibri" pitchFamily="34" charset="0"/>
                <a:ea typeface="Calibri" pitchFamily="34" charset="-122"/>
                <a:cs typeface="Calibri" pitchFamily="34" charset="-120"/>
              </a:rPr>
              <a:t>Adam(weight_decay=λ) is L2, not decoupled decay.</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6</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You switch from plain SGD (η = 0.1) to SGD with momentum β = 0.9, and training now diverges. Best first fix?</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sp>
      <p:sp>
        <p:nvSpPr>
          <p:cNvPr id="7" name="Shape 4"/>
          <p:cNvSpPr/>
          <p:nvPr/>
        </p:nvSpPr>
        <p:spPr>
          <a:xfrm>
            <a:off x="777240" y="3136392"/>
            <a:ext cx="548640" cy="548640"/>
          </a:xfrm>
          <a:prstGeom prst="ellipse">
            <a:avLst/>
          </a:prstGeom>
          <a:solidFill>
            <a:srgbClr val="4C5BD4"/>
          </a:solidFill>
          <a:ln/>
        </p:spPr>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Lower η to about 0.01</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sp>
      <p:sp>
        <p:nvSpPr>
          <p:cNvPr id="11" name="Shape 8"/>
          <p:cNvSpPr/>
          <p:nvPr/>
        </p:nvSpPr>
        <p:spPr>
          <a:xfrm>
            <a:off x="6419088" y="3136392"/>
            <a:ext cx="548640" cy="548640"/>
          </a:xfrm>
          <a:prstGeom prst="ellipse">
            <a:avLst/>
          </a:prstGeom>
          <a:solidFill>
            <a:srgbClr val="4C5BD4"/>
          </a:solidFill>
          <a:ln/>
        </p:spPr>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Raise β to 0.99</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sp>
      <p:sp>
        <p:nvSpPr>
          <p:cNvPr id="15" name="Shape 12"/>
          <p:cNvSpPr/>
          <p:nvPr/>
        </p:nvSpPr>
        <p:spPr>
          <a:xfrm>
            <a:off x="777240" y="4553712"/>
            <a:ext cx="548640" cy="548640"/>
          </a:xfrm>
          <a:prstGeom prst="ellipse">
            <a:avLst/>
          </a:prstGeom>
          <a:solidFill>
            <a:srgbClr val="4C5BD4"/>
          </a:solidFill>
          <a:ln/>
        </p:spPr>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Increase the batch size 10×</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sp>
      <p:sp>
        <p:nvSpPr>
          <p:cNvPr id="19" name="Shape 16"/>
          <p:cNvSpPr/>
          <p:nvPr/>
        </p:nvSpPr>
        <p:spPr>
          <a:xfrm>
            <a:off x="6419088" y="4553712"/>
            <a:ext cx="548640" cy="548640"/>
          </a:xfrm>
          <a:prstGeom prst="ellipse">
            <a:avLst/>
          </a:prstGeom>
          <a:solidFill>
            <a:srgbClr val="4C5BD4"/>
          </a:solidFill>
          <a:ln/>
        </p:spPr>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Turn off weight decay</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NORMALIZATION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Batch normalization: standardize, then rescale</a:t>
            </a:r>
            <a:endParaRPr lang="en-US" sz="3200" dirty="0"/>
          </a:p>
        </p:txBody>
      </p:sp>
      <p:sp>
        <p:nvSpPr>
          <p:cNvPr id="5" name="Shape 2"/>
          <p:cNvSpPr/>
          <p:nvPr/>
        </p:nvSpPr>
        <p:spPr>
          <a:xfrm>
            <a:off x="548640" y="1417320"/>
            <a:ext cx="5760720" cy="2651760"/>
          </a:xfrm>
          <a:prstGeom prst="roundRect">
            <a:avLst>
              <a:gd name="adj" fmla="val 2759"/>
            </a:avLst>
          </a:prstGeom>
          <a:solidFill>
            <a:srgbClr val="F3F5F8"/>
          </a:solidFill>
          <a:ln/>
        </p:spPr>
      </p:sp>
      <p:sp>
        <p:nvSpPr>
          <p:cNvPr id="6" name="Text 3"/>
          <p:cNvSpPr txBox="1"/>
          <p:nvPr/>
        </p:nvSpPr>
        <p:spPr>
          <a:xfrm>
            <a:off x="749808" y="1554480"/>
            <a:ext cx="530352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FOR EACH FEATURE, OVER A MINI-BATCH OF M</a:t>
            </a:r>
            <a:endParaRPr lang="en-US" sz="1300" dirty="0"/>
          </a:p>
        </p:txBody>
      </p:sp>
      <p:pic>
        <p:nvPicPr>
          <p:cNvPr id="7" name="Image 0" descr="LaTeX: \begin{align*} \mu &amp;= \tfrac1m\textstyle\sum_i x_i, \qquad \sigma^2 = \tfrac1m\sum_i (x_i - \mu)^2\\ \hat{x}_i &amp;= \frac{x_i - \mu}{\sqrt{\sigma^2 + \epsilon}}\\ y_i &amp;= \gamma\,\hat{x}_i + \beta \qquad \textcolor{mu}{\gamma,\beta \text{ learned}} \end{align*}">    </p:cNvPr>
          <p:cNvPicPr>
            <a:picLocks noChangeAspect="1"/>
          </p:cNvPicPr>
          <p:nvPr/>
        </p:nvPicPr>
        <p:blipFill>
          <a:blip r:embed="rId1"/>
          <a:stretch>
            <a:fillRect/>
          </a:stretch>
        </p:blipFill>
        <p:spPr>
          <a:xfrm>
            <a:off x="822960" y="1920240"/>
            <a:ext cx="3827145" cy="1232154"/>
          </a:xfrm>
          <a:prstGeom prst="rect">
            <a:avLst/>
          </a:prstGeom>
        </p:spPr>
      </p:pic>
      <p:sp>
        <p:nvSpPr>
          <p:cNvPr id="8" name="Shape 4"/>
          <p:cNvSpPr/>
          <p:nvPr/>
        </p:nvSpPr>
        <p:spPr>
          <a:xfrm>
            <a:off x="6492240" y="1417320"/>
            <a:ext cx="2496312" cy="2651760"/>
          </a:xfrm>
          <a:prstGeom prst="roundRect">
            <a:avLst>
              <a:gd name="adj" fmla="val 2930"/>
            </a:avLst>
          </a:prstGeom>
          <a:solidFill>
            <a:srgbClr val="F3F5F8"/>
          </a:solidFill>
          <a:ln/>
        </p:spPr>
      </p:sp>
      <p:sp>
        <p:nvSpPr>
          <p:cNvPr id="9" name="Text 5"/>
          <p:cNvSpPr txBox="1"/>
          <p:nvPr/>
        </p:nvSpPr>
        <p:spPr>
          <a:xfrm>
            <a:off x="6693408" y="1581912"/>
            <a:ext cx="2093976"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MODEL.TRAIN()</a:t>
            </a:r>
            <a:endParaRPr lang="en-US" sz="1300" dirty="0"/>
          </a:p>
        </p:txBody>
      </p:sp>
      <p:sp>
        <p:nvSpPr>
          <p:cNvPr id="10" name="Text 6"/>
          <p:cNvSpPr txBox="1"/>
          <p:nvPr/>
        </p:nvSpPr>
        <p:spPr>
          <a:xfrm>
            <a:off x="6693408" y="1947672"/>
            <a:ext cx="2093976" cy="2011680"/>
          </a:xfrm>
          <a:prstGeom prst="rect">
            <a:avLst/>
          </a:prstGeom>
          <a:noFill/>
          <a:ln/>
        </p:spPr>
        <p:txBody>
          <a:bodyPr wrap="square" lIns="0" tIns="0" rIns="0" bIns="0" rtlCol="0" anchor="t"/>
          <a:lstStyle/>
          <a:p>
            <a:pPr indent="0" marL="0">
              <a:spcAft>
                <a:spcPts val="600"/>
              </a:spcAft>
              <a:buNone/>
            </a:pPr>
            <a:r>
              <a:rPr lang="en-US" sz="1600" dirty="0">
                <a:solidFill>
                  <a:srgbClr val="17202E"/>
                </a:solidFill>
                <a:latin typeface="Calibri" pitchFamily="34" charset="0"/>
                <a:ea typeface="Calibri" pitchFamily="34" charset="-122"/>
                <a:cs typeface="Calibri" pitchFamily="34" charset="-120"/>
              </a:rPr>
              <a:t>Use this batch's μ and σ²; update running averages.</a:t>
            </a:r>
            <a:endParaRPr lang="en-US" sz="1600" dirty="0"/>
          </a:p>
        </p:txBody>
      </p:sp>
      <p:sp>
        <p:nvSpPr>
          <p:cNvPr id="11" name="Shape 7"/>
          <p:cNvSpPr/>
          <p:nvPr/>
        </p:nvSpPr>
        <p:spPr>
          <a:xfrm>
            <a:off x="9144000" y="1417320"/>
            <a:ext cx="2496312" cy="2651760"/>
          </a:xfrm>
          <a:prstGeom prst="roundRect">
            <a:avLst>
              <a:gd name="adj" fmla="val 2930"/>
            </a:avLst>
          </a:prstGeom>
          <a:solidFill>
            <a:srgbClr val="E2F1F1"/>
          </a:solidFill>
          <a:ln/>
        </p:spPr>
      </p:sp>
      <p:sp>
        <p:nvSpPr>
          <p:cNvPr id="12" name="Text 8"/>
          <p:cNvSpPr txBox="1"/>
          <p:nvPr/>
        </p:nvSpPr>
        <p:spPr>
          <a:xfrm>
            <a:off x="9345168" y="1581912"/>
            <a:ext cx="2093976"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MODEL.EVAL()</a:t>
            </a:r>
            <a:endParaRPr lang="en-US" sz="1300" dirty="0"/>
          </a:p>
        </p:txBody>
      </p:sp>
      <p:sp>
        <p:nvSpPr>
          <p:cNvPr id="13" name="Text 9"/>
          <p:cNvSpPr txBox="1"/>
          <p:nvPr/>
        </p:nvSpPr>
        <p:spPr>
          <a:xfrm>
            <a:off x="9345168" y="1947672"/>
            <a:ext cx="2093976" cy="2011680"/>
          </a:xfrm>
          <a:prstGeom prst="rect">
            <a:avLst/>
          </a:prstGeom>
          <a:noFill/>
          <a:ln/>
        </p:spPr>
        <p:txBody>
          <a:bodyPr wrap="square" lIns="0" tIns="0" rIns="0" bIns="0" rtlCol="0" anchor="t"/>
          <a:lstStyle/>
          <a:p>
            <a:pPr indent="0" marL="0">
              <a:spcAft>
                <a:spcPts val="600"/>
              </a:spcAft>
              <a:buNone/>
            </a:pPr>
            <a:r>
              <a:rPr lang="en-US" sz="1600" dirty="0">
                <a:solidFill>
                  <a:srgbClr val="17202E"/>
                </a:solidFill>
                <a:latin typeface="Calibri" pitchFamily="34" charset="0"/>
                <a:ea typeface="Calibri" pitchFamily="34" charset="-122"/>
                <a:cs typeface="Calibri" pitchFamily="34" charset="-120"/>
              </a:rPr>
              <a:t>Use the running averages: deterministic.</a:t>
            </a:r>
            <a:endParaRPr lang="en-US" sz="1600" dirty="0"/>
          </a:p>
        </p:txBody>
      </p:sp>
      <p:sp>
        <p:nvSpPr>
          <p:cNvPr id="14" name="Shape 10"/>
          <p:cNvSpPr/>
          <p:nvPr/>
        </p:nvSpPr>
        <p:spPr>
          <a:xfrm>
            <a:off x="548640" y="4343400"/>
            <a:ext cx="402336" cy="402336"/>
          </a:xfrm>
          <a:prstGeom prst="ellipse">
            <a:avLst/>
          </a:prstGeom>
          <a:solidFill>
            <a:srgbClr val="0F7C82"/>
          </a:solidFill>
          <a:ln/>
        </p:spPr>
      </p:sp>
      <p:sp>
        <p:nvSpPr>
          <p:cNvPr id="15" name="Text 11"/>
          <p:cNvSpPr txBox="1"/>
          <p:nvPr/>
        </p:nvSpPr>
        <p:spPr>
          <a:xfrm>
            <a:off x="548640" y="43434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6" name="Text 12"/>
          <p:cNvSpPr txBox="1"/>
          <p:nvPr/>
        </p:nvSpPr>
        <p:spPr>
          <a:xfrm>
            <a:off x="1152144" y="4325112"/>
            <a:ext cx="515721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Smoother loss landscape</a:t>
            </a:r>
            <a:endParaRPr lang="en-US" sz="1800" dirty="0"/>
          </a:p>
        </p:txBody>
      </p:sp>
      <p:sp>
        <p:nvSpPr>
          <p:cNvPr id="17" name="Text 13"/>
          <p:cNvSpPr txBox="1"/>
          <p:nvPr/>
        </p:nvSpPr>
        <p:spPr>
          <a:xfrm>
            <a:off x="1152144" y="4690872"/>
            <a:ext cx="5157216" cy="5486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Larger learning rates stay stable.</a:t>
            </a:r>
            <a:endParaRPr lang="en-US" sz="1600" dirty="0"/>
          </a:p>
        </p:txBody>
      </p:sp>
      <p:sp>
        <p:nvSpPr>
          <p:cNvPr id="18" name="Shape 14"/>
          <p:cNvSpPr/>
          <p:nvPr/>
        </p:nvSpPr>
        <p:spPr>
          <a:xfrm>
            <a:off x="548640" y="5257800"/>
            <a:ext cx="402336" cy="402336"/>
          </a:xfrm>
          <a:prstGeom prst="ellipse">
            <a:avLst/>
          </a:prstGeom>
          <a:solidFill>
            <a:srgbClr val="C8571B"/>
          </a:solidFill>
          <a:ln/>
        </p:spPr>
      </p:sp>
      <p:sp>
        <p:nvSpPr>
          <p:cNvPr id="19" name="Text 15"/>
          <p:cNvSpPr txBox="1"/>
          <p:nvPr/>
        </p:nvSpPr>
        <p:spPr>
          <a:xfrm>
            <a:off x="548640" y="52578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0" name="Text 16"/>
          <p:cNvSpPr txBox="1"/>
          <p:nvPr/>
        </p:nvSpPr>
        <p:spPr>
          <a:xfrm>
            <a:off x="1152144" y="5239512"/>
            <a:ext cx="515721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Not mainly “covariate shift”</a:t>
            </a:r>
            <a:endParaRPr lang="en-US" sz="1800" dirty="0"/>
          </a:p>
        </p:txBody>
      </p:sp>
      <p:sp>
        <p:nvSpPr>
          <p:cNvPr id="21" name="Text 17"/>
          <p:cNvSpPr txBox="1"/>
          <p:nvPr/>
        </p:nvSpPr>
        <p:spPr>
          <a:xfrm>
            <a:off x="1152144" y="5605272"/>
            <a:ext cx="5157216" cy="5486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The original motivation; later doubted.</a:t>
            </a:r>
            <a:endParaRPr lang="en-US" sz="1600" dirty="0"/>
          </a:p>
        </p:txBody>
      </p:sp>
      <p:sp>
        <p:nvSpPr>
          <p:cNvPr id="22" name="Shape 18"/>
          <p:cNvSpPr/>
          <p:nvPr/>
        </p:nvSpPr>
        <p:spPr>
          <a:xfrm>
            <a:off x="6492240" y="4206240"/>
            <a:ext cx="5148072" cy="1371600"/>
          </a:xfrm>
          <a:prstGeom prst="roundRect">
            <a:avLst>
              <a:gd name="adj" fmla="val 4000"/>
            </a:avLst>
          </a:prstGeom>
          <a:solidFill>
            <a:srgbClr val="1E2735"/>
          </a:solidFill>
          <a:ln/>
        </p:spPr>
      </p:sp>
      <p:sp>
        <p:nvSpPr>
          <p:cNvPr id="23" name="Text 19"/>
          <p:cNvSpPr txBox="1"/>
          <p:nvPr/>
        </p:nvSpPr>
        <p:spPr>
          <a:xfrm>
            <a:off x="6693408" y="4352544"/>
            <a:ext cx="4828032" cy="1115568"/>
          </a:xfrm>
          <a:prstGeom prst="rect">
            <a:avLst/>
          </a:prstGeom>
          <a:noFill/>
          <a:ln/>
        </p:spPr>
        <p:txBody>
          <a:bodyPr wrap="square" lIns="0" tIns="0" rIns="0" bIns="0" rtlCol="0" anchor="t"/>
          <a:lstStyle/>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nn.Conv2d(64, 128, 3, padding=1,</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bias=</a:t>
            </a:r>
            <a:pPr indent="0" marL="0">
              <a:lnSpc>
                <a:spcPct val="105000"/>
              </a:lnSpc>
              <a:buNone/>
            </a:pPr>
            <a:r>
              <a:rPr lang="en-US" sz="1500" dirty="0">
                <a:solidFill>
                  <a:srgbClr val="7FD1CF"/>
                </a:solidFill>
                <a:latin typeface="Consolas" pitchFamily="34" charset="0"/>
                <a:ea typeface="Consolas" pitchFamily="34" charset="-122"/>
                <a:cs typeface="Consolas" pitchFamily="34" charset="-120"/>
              </a:rPr>
              <a:t>False</a:t>
            </a:r>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nn.BatchNorm2d(128),   </a:t>
            </a:r>
            <a:pPr indent="0" marL="0">
              <a:lnSpc>
                <a:spcPct val="105000"/>
              </a:lnSpc>
              <a:buNone/>
            </a:pPr>
            <a:r>
              <a:rPr lang="en-US" sz="1500" i="1" dirty="0">
                <a:solidFill>
                  <a:srgbClr val="8D99AB"/>
                </a:solidFill>
                <a:latin typeface="Consolas" pitchFamily="34" charset="0"/>
                <a:ea typeface="Consolas" pitchFamily="34" charset="-122"/>
                <a:cs typeface="Consolas" pitchFamily="34" charset="-120"/>
              </a:rPr>
              <a:t># learns γ, β</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nn.ReLU()</a:t>
            </a:r>
            <a:endParaRPr lang="en-US" sz="1500" dirty="0"/>
          </a:p>
        </p:txBody>
      </p:sp>
      <p:sp>
        <p:nvSpPr>
          <p:cNvPr id="24" name="Text 20"/>
          <p:cNvSpPr txBox="1"/>
          <p:nvPr/>
        </p:nvSpPr>
        <p:spPr>
          <a:xfrm>
            <a:off x="6492240" y="5623560"/>
            <a:ext cx="5148072" cy="502920"/>
          </a:xfrm>
          <a:prstGeom prst="rect">
            <a:avLst/>
          </a:prstGeom>
          <a:noFill/>
          <a:ln/>
        </p:spPr>
        <p:txBody>
          <a:bodyPr wrap="square" lIns="0" tIns="0" rIns="0" bIns="0" rtlCol="0" anchor="t"/>
          <a:lstStyle/>
          <a:p>
            <a:pPr indent="0" marL="0">
              <a:buNone/>
            </a:pPr>
            <a:r>
              <a:rPr lang="en-US" sz="1600" i="1" dirty="0">
                <a:solidFill>
                  <a:srgbClr val="5B6675"/>
                </a:solidFill>
                <a:latin typeface="Calibri" pitchFamily="34" charset="0"/>
                <a:ea typeface="Calibri" pitchFamily="34" charset="-122"/>
                <a:cs typeface="Calibri" pitchFamily="34" charset="-120"/>
              </a:rPr>
              <a:t>Transformers: LayerNorm or RMSNorm.  Tiny batches: GroupNorm.</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RUNNING EXAMPLE</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Running example: 1,000 images overfit</a:t>
            </a:r>
            <a:endParaRPr lang="en-US" sz="3200" dirty="0"/>
          </a:p>
        </p:txBody>
      </p:sp>
      <p:graphicFrame>
        <p:nvGraphicFramePr>
          <p:cNvPr id="5" name="Chart 0" descr="Validation loss, 1,000 training images (real runs): no regularization, dropout 0.5, weight decay, both"/>
          <p:cNvGraphicFramePr/>
          <p:nvPr/>
        </p:nvGraphicFramePr>
        <p:xfrm>
          <a:off x="457200" y="1417320"/>
          <a:ext cx="6446520" cy="434340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Best validation accuracy: 1k, none = 80.74; 1k, both = 81.8; 55k, none = 89.42"/>
          <p:cNvGraphicFramePr/>
          <p:nvPr/>
        </p:nvGraphicFramePr>
        <p:xfrm>
          <a:off x="7086600" y="1325880"/>
          <a:ext cx="4572000" cy="2468880"/>
        </p:xfrm>
        <a:graphic xmlns:a="http://schemas.openxmlformats.org/drawingml/2006/main">
          <a:graphicData uri="http://schemas.openxmlformats.org/drawingml/2006/chart">
            <c:chart xmlns:c="http://schemas.openxmlformats.org/drawingml/2006/chart" r:id="rId2"/>
          </a:graphicData>
        </a:graphic>
      </p:graphicFrame>
      <p:sp>
        <p:nvSpPr>
          <p:cNvPr id="7" name="Shape 2"/>
          <p:cNvSpPr/>
          <p:nvPr/>
        </p:nvSpPr>
        <p:spPr>
          <a:xfrm>
            <a:off x="7086600" y="4023360"/>
            <a:ext cx="4553712" cy="1188720"/>
          </a:xfrm>
          <a:prstGeom prst="roundRect">
            <a:avLst>
              <a:gd name="adj" fmla="val 6154"/>
            </a:avLst>
          </a:prstGeom>
          <a:solidFill>
            <a:srgbClr val="17202E"/>
          </a:solidFill>
          <a:ln/>
        </p:spPr>
      </p:sp>
      <p:sp>
        <p:nvSpPr>
          <p:cNvPr id="8" name="Text 3"/>
          <p:cNvSpPr txBox="1"/>
          <p:nvPr/>
        </p:nvSpPr>
        <p:spPr>
          <a:xfrm>
            <a:off x="7287768" y="4069080"/>
            <a:ext cx="4151376" cy="10972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Regularization: +1 point.  55× more data: +8 points.  More data beats every regularizer.</a:t>
            </a:r>
            <a:endParaRPr lang="en-US" sz="1800" dirty="0"/>
          </a:p>
        </p:txBody>
      </p:sp>
      <p:sp>
        <p:nvSpPr>
          <p:cNvPr id="9" name="Text 4"/>
          <p:cNvSpPr txBox="1"/>
          <p:nvPr/>
        </p:nvSpPr>
        <p:spPr>
          <a:xfrm>
            <a:off x="7086600" y="5394960"/>
            <a:ext cx="4553712" cy="73152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Keep the best-validation checkpoint (early stopping).</a:t>
            </a:r>
            <a:endParaRPr lang="en-US" sz="1700" dirty="0"/>
          </a:p>
        </p:txBody>
      </p:sp>
      <p:sp>
        <p:nvSpPr>
          <p:cNvPr id="10" name="Text 5"/>
          <p:cNvSpPr txBox="1"/>
          <p:nvPr/>
        </p:nvSpPr>
        <p:spPr>
          <a:xfrm>
            <a:off x="548640" y="5852160"/>
            <a:ext cx="6400800" cy="320040"/>
          </a:xfrm>
          <a:prstGeom prst="rect">
            <a:avLst/>
          </a:prstGeom>
          <a:noFill/>
          <a:ln/>
        </p:spPr>
        <p:txBody>
          <a:bodyPr wrap="square" lIns="0" tIns="0" rIns="0" bIns="0" rtlCol="0" anchor="t"/>
          <a:lstStyle/>
          <a:p>
            <a:pPr indent="0" marL="0">
              <a:buNone/>
            </a:pPr>
            <a:r>
              <a:rPr lang="en-US" sz="1400" i="1" dirty="0">
                <a:solidFill>
                  <a:srgbClr val="5B6675"/>
                </a:solidFill>
                <a:latin typeface="Calibri" pitchFamily="34" charset="0"/>
                <a:ea typeface="Calibri" pitchFamily="34" charset="-122"/>
                <a:cs typeface="Calibri" pitchFamily="34" charset="-120"/>
              </a:rPr>
              <a:t>Dropout and weight-decay values chosen for this tiny dataset.</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GENERALIZATION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Past the interpolation threshold, test error falls again</a:t>
            </a:r>
            <a:endParaRPr lang="en-US" sz="3200" dirty="0"/>
          </a:p>
        </p:txBody>
      </p:sp>
      <p:graphicFrame>
        <p:nvGraphicFramePr>
          <p:cNvPr id="5" name="Chart 0" descr="Line chart: test error, no regularization, test error, ridge"/>
          <p:cNvGraphicFramePr/>
          <p:nvPr/>
        </p:nvGraphicFramePr>
        <p:xfrm>
          <a:off x="457200" y="1417320"/>
          <a:ext cx="6949440" cy="466344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4343400" y="1828800"/>
            <a:ext cx="1645920" cy="320040"/>
          </a:xfrm>
          <a:prstGeom prst="rect">
            <a:avLst/>
          </a:prstGeom>
          <a:noFill/>
          <a:ln/>
        </p:spPr>
        <p:txBody>
          <a:bodyPr wrap="square" lIns="0" tIns="0" rIns="0" bIns="0" rtlCol="0" anchor="t"/>
          <a:lstStyle/>
          <a:p>
            <a:pPr indent="0" marL="0">
              <a:buNone/>
            </a:pPr>
            <a:r>
              <a:rPr lang="en-US" sz="1600" b="1" dirty="0">
                <a:solidFill>
                  <a:srgbClr val="C8571B"/>
                </a:solidFill>
                <a:latin typeface="Calibri" pitchFamily="34" charset="0"/>
                <a:ea typeface="Calibri" pitchFamily="34" charset="-122"/>
                <a:cs typeface="Calibri" pitchFamily="34" charset="-120"/>
              </a:rPr>
              <a:t>p = n = 60</a:t>
            </a:r>
            <a:endParaRPr lang="en-US" sz="1600" dirty="0"/>
          </a:p>
        </p:txBody>
      </p:sp>
      <p:sp>
        <p:nvSpPr>
          <p:cNvPr id="7" name="Shape 3"/>
          <p:cNvSpPr/>
          <p:nvPr/>
        </p:nvSpPr>
        <p:spPr>
          <a:xfrm>
            <a:off x="7589520" y="1463040"/>
            <a:ext cx="402336" cy="402336"/>
          </a:xfrm>
          <a:prstGeom prst="ellipse">
            <a:avLst/>
          </a:prstGeom>
          <a:solidFill>
            <a:srgbClr val="0F7C82"/>
          </a:solidFill>
          <a:ln/>
        </p:spPr>
      </p:sp>
      <p:sp>
        <p:nvSpPr>
          <p:cNvPr id="8" name="Text 4"/>
          <p:cNvSpPr txBox="1"/>
          <p:nvPr/>
        </p:nvSpPr>
        <p:spPr>
          <a:xfrm>
            <a:off x="7589520" y="14630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5"/>
          <p:cNvSpPr txBox="1"/>
          <p:nvPr/>
        </p:nvSpPr>
        <p:spPr>
          <a:xfrm>
            <a:off x="8193024" y="1444752"/>
            <a:ext cx="344728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p &lt; n: the classical U</a:t>
            </a:r>
            <a:endParaRPr lang="en-US" sz="1800" dirty="0"/>
          </a:p>
        </p:txBody>
      </p:sp>
      <p:sp>
        <p:nvSpPr>
          <p:cNvPr id="10" name="Text 6"/>
          <p:cNvSpPr txBox="1"/>
          <p:nvPr/>
        </p:nvSpPr>
        <p:spPr>
          <a:xfrm>
            <a:off x="8193024" y="1810512"/>
            <a:ext cx="3447288" cy="658368"/>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Too simple, then too variable.</a:t>
            </a:r>
            <a:endParaRPr lang="en-US" sz="1600" dirty="0"/>
          </a:p>
        </p:txBody>
      </p:sp>
      <p:sp>
        <p:nvSpPr>
          <p:cNvPr id="11" name="Shape 7"/>
          <p:cNvSpPr/>
          <p:nvPr/>
        </p:nvSpPr>
        <p:spPr>
          <a:xfrm>
            <a:off x="7589520" y="2487168"/>
            <a:ext cx="402336" cy="402336"/>
          </a:xfrm>
          <a:prstGeom prst="ellipse">
            <a:avLst/>
          </a:prstGeom>
          <a:solidFill>
            <a:srgbClr val="C8571B"/>
          </a:solidFill>
          <a:ln/>
        </p:spPr>
      </p:sp>
      <p:sp>
        <p:nvSpPr>
          <p:cNvPr id="12" name="Text 8"/>
          <p:cNvSpPr txBox="1"/>
          <p:nvPr/>
        </p:nvSpPr>
        <p:spPr>
          <a:xfrm>
            <a:off x="7589520" y="248716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9"/>
          <p:cNvSpPr txBox="1"/>
          <p:nvPr/>
        </p:nvSpPr>
        <p:spPr>
          <a:xfrm>
            <a:off x="8193024" y="2468880"/>
            <a:ext cx="344728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p ≈ n: the peak</a:t>
            </a:r>
            <a:endParaRPr lang="en-US" sz="1800" dirty="0"/>
          </a:p>
        </p:txBody>
      </p:sp>
      <p:sp>
        <p:nvSpPr>
          <p:cNvPr id="14" name="Text 10"/>
          <p:cNvSpPr txBox="1"/>
          <p:nvPr/>
        </p:nvSpPr>
        <p:spPr>
          <a:xfrm>
            <a:off x="8193024" y="2834640"/>
            <a:ext cx="3447288" cy="658368"/>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Just enough capacity to fit the noise.</a:t>
            </a:r>
            <a:endParaRPr lang="en-US" sz="1600" dirty="0"/>
          </a:p>
        </p:txBody>
      </p:sp>
      <p:sp>
        <p:nvSpPr>
          <p:cNvPr id="15" name="Shape 11"/>
          <p:cNvSpPr/>
          <p:nvPr/>
        </p:nvSpPr>
        <p:spPr>
          <a:xfrm>
            <a:off x="7589520" y="3511296"/>
            <a:ext cx="402336" cy="402336"/>
          </a:xfrm>
          <a:prstGeom prst="ellipse">
            <a:avLst/>
          </a:prstGeom>
          <a:solidFill>
            <a:srgbClr val="0F7C82"/>
          </a:solidFill>
          <a:ln/>
        </p:spPr>
      </p:sp>
      <p:sp>
        <p:nvSpPr>
          <p:cNvPr id="16" name="Text 12"/>
          <p:cNvSpPr txBox="1"/>
          <p:nvPr/>
        </p:nvSpPr>
        <p:spPr>
          <a:xfrm>
            <a:off x="7589520" y="351129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3"/>
          <p:cNvSpPr txBox="1"/>
          <p:nvPr/>
        </p:nvSpPr>
        <p:spPr>
          <a:xfrm>
            <a:off x="8193024" y="3493008"/>
            <a:ext cx="344728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p ≫ n: second descent</a:t>
            </a:r>
            <a:endParaRPr lang="en-US" sz="1800" dirty="0"/>
          </a:p>
        </p:txBody>
      </p:sp>
      <p:sp>
        <p:nvSpPr>
          <p:cNvPr id="18" name="Text 14"/>
          <p:cNvSpPr txBox="1"/>
          <p:nvPr/>
        </p:nvSpPr>
        <p:spPr>
          <a:xfrm>
            <a:off x="8193024" y="3858768"/>
            <a:ext cx="3447288" cy="658368"/>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Many fits exist; the smooth one wins.</a:t>
            </a:r>
            <a:endParaRPr lang="en-US" sz="1600" dirty="0"/>
          </a:p>
        </p:txBody>
      </p:sp>
      <p:sp>
        <p:nvSpPr>
          <p:cNvPr id="19" name="Shape 15"/>
          <p:cNvSpPr/>
          <p:nvPr/>
        </p:nvSpPr>
        <p:spPr>
          <a:xfrm>
            <a:off x="7589520" y="4572000"/>
            <a:ext cx="4050792" cy="1097280"/>
          </a:xfrm>
          <a:prstGeom prst="roundRect">
            <a:avLst>
              <a:gd name="adj" fmla="val 6667"/>
            </a:avLst>
          </a:prstGeom>
          <a:solidFill>
            <a:srgbClr val="E2F1F1"/>
          </a:solidFill>
          <a:ln/>
        </p:spPr>
      </p:sp>
      <p:sp>
        <p:nvSpPr>
          <p:cNvPr id="20" name="Text 16"/>
          <p:cNvSpPr txBox="1"/>
          <p:nvPr/>
        </p:nvSpPr>
        <p:spPr>
          <a:xfrm>
            <a:off x="7790688" y="4617720"/>
            <a:ext cx="3648456" cy="100584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Large and regularized beats small here: ridge removes the peak.</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REGULARIZATION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Weight decay and dropout</a:t>
            </a:r>
            <a:endParaRPr lang="en-US" sz="3200" dirty="0"/>
          </a:p>
        </p:txBody>
      </p:sp>
      <p:sp>
        <p:nvSpPr>
          <p:cNvPr id="5" name="Shape 2"/>
          <p:cNvSpPr/>
          <p:nvPr/>
        </p:nvSpPr>
        <p:spPr>
          <a:xfrm>
            <a:off x="548640" y="1417320"/>
            <a:ext cx="5349240" cy="2011680"/>
          </a:xfrm>
          <a:prstGeom prst="roundRect">
            <a:avLst>
              <a:gd name="adj" fmla="val 3636"/>
            </a:avLst>
          </a:prstGeom>
          <a:solidFill>
            <a:srgbClr val="F3F5F8"/>
          </a:solidFill>
          <a:ln/>
        </p:spPr>
      </p:sp>
      <p:sp>
        <p:nvSpPr>
          <p:cNvPr id="6" name="Text 3"/>
          <p:cNvSpPr txBox="1"/>
          <p:nvPr/>
        </p:nvSpPr>
        <p:spPr>
          <a:xfrm>
            <a:off x="749808" y="1554480"/>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L2 WEIGHT DECAY</a:t>
            </a:r>
            <a:endParaRPr lang="en-US" sz="1300" dirty="0"/>
          </a:p>
        </p:txBody>
      </p:sp>
      <p:pic>
        <p:nvPicPr>
          <p:cNvPr id="7" name="Image 0" descr="LaTeX: \begin{align*} J' &amp;= J + \tfrac{\lambda}{2}\lVert\W\rVert^2\\ \W &amp;\leftarrow (1-\eta\lambda)\,\W - \eta\,\nabla_{\W} J \end{align*}">    </p:cNvPr>
          <p:cNvPicPr>
            <a:picLocks noChangeAspect="1"/>
          </p:cNvPicPr>
          <p:nvPr/>
        </p:nvPicPr>
        <p:blipFill>
          <a:blip r:embed="rId1"/>
          <a:stretch>
            <a:fillRect/>
          </a:stretch>
        </p:blipFill>
        <p:spPr>
          <a:xfrm>
            <a:off x="822960" y="1920240"/>
            <a:ext cx="3139440" cy="740664"/>
          </a:xfrm>
          <a:prstGeom prst="rect">
            <a:avLst/>
          </a:prstGeom>
        </p:spPr>
      </p:pic>
      <p:sp>
        <p:nvSpPr>
          <p:cNvPr id="8" name="Shape 4"/>
          <p:cNvSpPr/>
          <p:nvPr/>
        </p:nvSpPr>
        <p:spPr>
          <a:xfrm>
            <a:off x="548640" y="3657600"/>
            <a:ext cx="402336" cy="402336"/>
          </a:xfrm>
          <a:prstGeom prst="ellipse">
            <a:avLst/>
          </a:prstGeom>
          <a:solidFill>
            <a:srgbClr val="0F7C82"/>
          </a:solidFill>
          <a:ln/>
        </p:spPr>
      </p:sp>
      <p:sp>
        <p:nvSpPr>
          <p:cNvPr id="9" name="Text 5"/>
          <p:cNvSpPr txBox="1"/>
          <p:nvPr/>
        </p:nvSpPr>
        <p:spPr>
          <a:xfrm>
            <a:off x="548640" y="36576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6"/>
          <p:cNvSpPr txBox="1"/>
          <p:nvPr/>
        </p:nvSpPr>
        <p:spPr>
          <a:xfrm>
            <a:off x="1152144" y="3639312"/>
            <a:ext cx="474573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Shrink, then step</a:t>
            </a:r>
            <a:endParaRPr lang="en-US" sz="1800" dirty="0"/>
          </a:p>
        </p:txBody>
      </p:sp>
      <p:sp>
        <p:nvSpPr>
          <p:cNvPr id="11" name="Text 7"/>
          <p:cNvSpPr txBox="1"/>
          <p:nvPr/>
        </p:nvSpPr>
        <p:spPr>
          <a:xfrm>
            <a:off x="1152144" y="4005072"/>
            <a:ext cx="4745736" cy="53035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Each update multiplies W by (1 − ηλ).</a:t>
            </a:r>
            <a:endParaRPr lang="en-US" sz="1600" dirty="0"/>
          </a:p>
        </p:txBody>
      </p:sp>
      <p:sp>
        <p:nvSpPr>
          <p:cNvPr id="12" name="Shape 8"/>
          <p:cNvSpPr/>
          <p:nvPr/>
        </p:nvSpPr>
        <p:spPr>
          <a:xfrm>
            <a:off x="548640" y="4553712"/>
            <a:ext cx="402336" cy="402336"/>
          </a:xfrm>
          <a:prstGeom prst="ellipse">
            <a:avLst/>
          </a:prstGeom>
          <a:solidFill>
            <a:srgbClr val="0F7C82"/>
          </a:solidFill>
          <a:ln/>
        </p:spPr>
      </p:sp>
      <p:sp>
        <p:nvSpPr>
          <p:cNvPr id="13" name="Text 9"/>
          <p:cNvSpPr txBox="1"/>
          <p:nvPr/>
        </p:nvSpPr>
        <p:spPr>
          <a:xfrm>
            <a:off x="548640" y="455371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0"/>
          <p:cNvSpPr txBox="1"/>
          <p:nvPr/>
        </p:nvSpPr>
        <p:spPr>
          <a:xfrm>
            <a:off x="1152144" y="4535424"/>
            <a:ext cx="474573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Smoother functions</a:t>
            </a:r>
            <a:endParaRPr lang="en-US" sz="1800" dirty="0"/>
          </a:p>
        </p:txBody>
      </p:sp>
      <p:sp>
        <p:nvSpPr>
          <p:cNvPr id="15" name="Text 11"/>
          <p:cNvSpPr txBox="1"/>
          <p:nvPr/>
        </p:nvSpPr>
        <p:spPr>
          <a:xfrm>
            <a:off x="1152144" y="4901184"/>
            <a:ext cx="4745736" cy="53035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Small ‖w‖ means gentler switching.</a:t>
            </a:r>
            <a:endParaRPr lang="en-US" sz="1600" dirty="0"/>
          </a:p>
        </p:txBody>
      </p:sp>
      <p:sp>
        <p:nvSpPr>
          <p:cNvPr id="16" name="Shape 12"/>
          <p:cNvSpPr/>
          <p:nvPr/>
        </p:nvSpPr>
        <p:spPr>
          <a:xfrm>
            <a:off x="548640" y="5449824"/>
            <a:ext cx="402336" cy="402336"/>
          </a:xfrm>
          <a:prstGeom prst="ellipse">
            <a:avLst/>
          </a:prstGeom>
          <a:solidFill>
            <a:srgbClr val="0F7C82"/>
          </a:solidFill>
          <a:ln/>
        </p:spPr>
      </p:sp>
      <p:sp>
        <p:nvSpPr>
          <p:cNvPr id="17" name="Text 13"/>
          <p:cNvSpPr txBox="1"/>
          <p:nvPr/>
        </p:nvSpPr>
        <p:spPr>
          <a:xfrm>
            <a:off x="548640" y="544982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4"/>
          <p:cNvSpPr txBox="1"/>
          <p:nvPr/>
        </p:nvSpPr>
        <p:spPr>
          <a:xfrm>
            <a:off x="1152144" y="5431536"/>
            <a:ext cx="474573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Weights only</a:t>
            </a:r>
            <a:endParaRPr lang="en-US" sz="1800" dirty="0"/>
          </a:p>
        </p:txBody>
      </p:sp>
      <p:sp>
        <p:nvSpPr>
          <p:cNvPr id="19" name="Text 15"/>
          <p:cNvSpPr txBox="1"/>
          <p:nvPr/>
        </p:nvSpPr>
        <p:spPr>
          <a:xfrm>
            <a:off x="1152144" y="5797296"/>
            <a:ext cx="4745736" cy="53035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Not biases, not normalization γ, β.</a:t>
            </a:r>
            <a:endParaRPr lang="en-US" sz="1600" dirty="0"/>
          </a:p>
        </p:txBody>
      </p:sp>
      <p:pic>
        <p:nvPicPr>
          <p:cNvPr id="20" name="Image 1" descr="Network with several hidden units crossed out by dropout.">    </p:cNvPr>
          <p:cNvPicPr>
            <a:picLocks noChangeAspect="1"/>
          </p:cNvPicPr>
          <p:nvPr/>
        </p:nvPicPr>
        <p:blipFill>
          <a:blip r:embed="rId2"/>
          <a:stretch>
            <a:fillRect/>
          </a:stretch>
        </p:blipFill>
        <p:spPr>
          <a:xfrm>
            <a:off x="6172200" y="1346553"/>
            <a:ext cx="2788920" cy="2244654"/>
          </a:xfrm>
          <a:prstGeom prst="rect">
            <a:avLst/>
          </a:prstGeom>
        </p:spPr>
      </p:pic>
      <p:sp>
        <p:nvSpPr>
          <p:cNvPr id="21" name="Text 16"/>
          <p:cNvSpPr txBox="1"/>
          <p:nvPr/>
        </p:nvSpPr>
        <p:spPr>
          <a:xfrm>
            <a:off x="6172200" y="3566160"/>
            <a:ext cx="2788920" cy="320040"/>
          </a:xfrm>
          <a:prstGeom prst="rect">
            <a:avLst/>
          </a:prstGeom>
          <a:noFill/>
          <a:ln/>
        </p:spPr>
        <p:txBody>
          <a:bodyPr wrap="square" lIns="0" tIns="0" rIns="0" bIns="0" rtlCol="0" anchor="t"/>
          <a:lstStyle/>
          <a:p>
            <a:pPr algn="ctr" indent="0" marL="0">
              <a:buNone/>
            </a:pPr>
            <a:r>
              <a:rPr lang="en-US" sz="1400" i="1" dirty="0">
                <a:solidFill>
                  <a:srgbClr val="5B6675"/>
                </a:solidFill>
                <a:latin typeface="Calibri" pitchFamily="34" charset="0"/>
                <a:ea typeface="Calibri" pitchFamily="34" charset="-122"/>
                <a:cs typeface="Calibri" pitchFamily="34" charset="-120"/>
              </a:rPr>
              <a:t>one training step, p = 0.5</a:t>
            </a:r>
            <a:endParaRPr lang="en-US" sz="1400" dirty="0"/>
          </a:p>
        </p:txBody>
      </p:sp>
      <p:sp>
        <p:nvSpPr>
          <p:cNvPr id="22" name="Shape 17"/>
          <p:cNvSpPr/>
          <p:nvPr/>
        </p:nvSpPr>
        <p:spPr>
          <a:xfrm>
            <a:off x="9098280" y="1417320"/>
            <a:ext cx="2542032" cy="2468880"/>
          </a:xfrm>
          <a:prstGeom prst="roundRect">
            <a:avLst>
              <a:gd name="adj" fmla="val 2963"/>
            </a:avLst>
          </a:prstGeom>
          <a:solidFill>
            <a:srgbClr val="F3F5F8"/>
          </a:solidFill>
          <a:ln/>
        </p:spPr>
      </p:sp>
      <p:sp>
        <p:nvSpPr>
          <p:cNvPr id="23" name="Text 18"/>
          <p:cNvSpPr txBox="1"/>
          <p:nvPr/>
        </p:nvSpPr>
        <p:spPr>
          <a:xfrm>
            <a:off x="9299448" y="1581912"/>
            <a:ext cx="2139696"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TYPICAL P</a:t>
            </a:r>
            <a:endParaRPr lang="en-US" sz="1300" dirty="0"/>
          </a:p>
        </p:txBody>
      </p:sp>
      <p:sp>
        <p:nvSpPr>
          <p:cNvPr id="24" name="Text 19"/>
          <p:cNvSpPr txBox="1"/>
          <p:nvPr/>
        </p:nvSpPr>
        <p:spPr>
          <a:xfrm>
            <a:off x="9299448" y="1947672"/>
            <a:ext cx="2139696" cy="182880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Large FC layers: 0.5</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Transformers: 0.1</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Conv + BatchNorm: ≈ 0</a:t>
            </a:r>
            <a:endParaRPr lang="en-US" sz="1700" dirty="0"/>
          </a:p>
        </p:txBody>
      </p:sp>
      <p:sp>
        <p:nvSpPr>
          <p:cNvPr id="25" name="Shape 20"/>
          <p:cNvSpPr/>
          <p:nvPr/>
        </p:nvSpPr>
        <p:spPr>
          <a:xfrm>
            <a:off x="6172200" y="4114800"/>
            <a:ext cx="5468112" cy="1371600"/>
          </a:xfrm>
          <a:prstGeom prst="roundRect">
            <a:avLst>
              <a:gd name="adj" fmla="val 5333"/>
            </a:avLst>
          </a:prstGeom>
          <a:solidFill>
            <a:srgbClr val="E2F1F1"/>
          </a:solidFill>
          <a:ln/>
        </p:spPr>
      </p:sp>
      <p:sp>
        <p:nvSpPr>
          <p:cNvPr id="26" name="Text 21"/>
          <p:cNvSpPr txBox="1"/>
          <p:nvPr/>
        </p:nvSpPr>
        <p:spPr>
          <a:xfrm>
            <a:off x="6373368" y="4224528"/>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INVERTED DROPOUT</a:t>
            </a:r>
            <a:endParaRPr lang="en-US" sz="1300" dirty="0"/>
          </a:p>
        </p:txBody>
      </p:sp>
      <p:pic>
        <p:nvPicPr>
          <p:cNvPr id="27" name="Image 2" descr="LaTeX: \begin{align*} \text{train:}\quad &amp; \mathbf{m}\sim\text{Bernoulli}(1-p),\quad \av \leftarrow \frac{\av\odot\mathbf{m}}{1-p}\\ \text{test:}\quad &amp; \av \leftarrow \av \end{align*}">    </p:cNvPr>
          <p:cNvPicPr>
            <a:picLocks noChangeAspect="1"/>
          </p:cNvPicPr>
          <p:nvPr/>
        </p:nvPicPr>
        <p:blipFill>
          <a:blip r:embed="rId3"/>
          <a:stretch>
            <a:fillRect/>
          </a:stretch>
        </p:blipFill>
        <p:spPr>
          <a:xfrm>
            <a:off x="6373368" y="4498848"/>
            <a:ext cx="3800780" cy="725195"/>
          </a:xfrm>
          <a:prstGeom prst="rect">
            <a:avLst/>
          </a:prstGeom>
        </p:spPr>
      </p:pic>
      <p:sp>
        <p:nvSpPr>
          <p:cNvPr id="28" name="Text 22"/>
          <p:cNvSpPr txBox="1"/>
          <p:nvPr/>
        </p:nvSpPr>
        <p:spPr>
          <a:xfrm>
            <a:off x="6172200" y="5596128"/>
            <a:ext cx="5468112" cy="5486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E[a] is the same in training and testing; model.eval() turns dropout off.</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REGULARIZATION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Data augmentation: free data, if the label survives</a:t>
            </a:r>
            <a:endParaRPr lang="en-US" sz="32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577840" cy="914400"/>
        </p:xfrm>
        <a:graphic>
          <a:graphicData uri="http://schemas.openxmlformats.org/drawingml/2006/table">
            <a:tbl>
              <a:tblPr/>
              <a:tblGrid>
                <a:gridCol w="1737360"/>
                <a:gridCol w="2011680"/>
                <a:gridCol w="1828800"/>
              </a:tblGrid>
              <a:tr h="566928">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Transform</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Keeps the label for</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Breaks it for</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66928">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Horizontal flip</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clothes, photos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digits, text</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Vertical flip</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satellite, cells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street scenes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66928">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Rotation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microscopy</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6 vs 9</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Colour jitter</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most objects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colour = the class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6" name="Shape 2"/>
          <p:cNvSpPr/>
          <p:nvPr/>
        </p:nvSpPr>
        <p:spPr>
          <a:xfrm>
            <a:off x="548640" y="4572000"/>
            <a:ext cx="5577840" cy="731520"/>
          </a:xfrm>
          <a:prstGeom prst="roundRect">
            <a:avLst>
              <a:gd name="adj" fmla="val 10000"/>
            </a:avLst>
          </a:prstGeom>
          <a:solidFill>
            <a:srgbClr val="FBEADF"/>
          </a:solidFill>
          <a:ln/>
        </p:spPr>
      </p:sp>
      <p:sp>
        <p:nvSpPr>
          <p:cNvPr id="7" name="Text 3"/>
          <p:cNvSpPr txBox="1"/>
          <p:nvPr/>
        </p:nvSpPr>
        <p:spPr>
          <a:xfrm>
            <a:off x="749808" y="4617720"/>
            <a:ext cx="5175504" cy="640080"/>
          </a:xfrm>
          <a:prstGeom prst="rect">
            <a:avLst/>
          </a:prstGeom>
          <a:noFill/>
          <a:ln/>
        </p:spPr>
        <p:txBody>
          <a:bodyPr wrap="square" lIns="0" tIns="0" rIns="0" bIns="0" rtlCol="0" anchor="ctr"/>
          <a:lstStyle/>
          <a:p>
            <a:pPr indent="0" marL="0">
              <a:buNone/>
            </a:pPr>
            <a:r>
              <a:rPr lang="en-US" sz="1800" b="1" dirty="0">
                <a:solidFill>
                  <a:srgbClr val="8F3A0E"/>
                </a:solidFill>
                <a:latin typeface="Calibri" pitchFamily="34" charset="0"/>
                <a:ea typeface="Calibri" pitchFamily="34" charset="-122"/>
                <a:cs typeface="Calibri" pitchFamily="34" charset="-120"/>
              </a:rPr>
              <a:t>Never augment validation or test data.</a:t>
            </a:r>
            <a:endParaRPr lang="en-US" sz="1800" dirty="0"/>
          </a:p>
        </p:txBody>
      </p:sp>
      <p:sp>
        <p:nvSpPr>
          <p:cNvPr id="8" name="Text 4"/>
          <p:cNvSpPr txBox="1"/>
          <p:nvPr/>
        </p:nvSpPr>
        <p:spPr>
          <a:xfrm>
            <a:off x="548640" y="5486400"/>
            <a:ext cx="5577840" cy="5486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Stronger: Mixup, CutMix, RandAugment, label smoothing.</a:t>
            </a:r>
            <a:endParaRPr lang="en-US" sz="1700" dirty="0"/>
          </a:p>
        </p:txBody>
      </p:sp>
      <p:sp>
        <p:nvSpPr>
          <p:cNvPr id="9" name="Shape 5"/>
          <p:cNvSpPr/>
          <p:nvPr/>
        </p:nvSpPr>
        <p:spPr>
          <a:xfrm>
            <a:off x="6355080" y="1417320"/>
            <a:ext cx="5285232" cy="3291840"/>
          </a:xfrm>
          <a:prstGeom prst="roundRect">
            <a:avLst>
              <a:gd name="adj" fmla="val 1667"/>
            </a:avLst>
          </a:prstGeom>
          <a:solidFill>
            <a:srgbClr val="1E2735"/>
          </a:solidFill>
          <a:ln/>
        </p:spPr>
      </p:sp>
      <p:sp>
        <p:nvSpPr>
          <p:cNvPr id="10" name="Text 6"/>
          <p:cNvSpPr txBox="1"/>
          <p:nvPr/>
        </p:nvSpPr>
        <p:spPr>
          <a:xfrm>
            <a:off x="6556248" y="1563624"/>
            <a:ext cx="4965192" cy="3035808"/>
          </a:xfrm>
          <a:prstGeom prst="rect">
            <a:avLst/>
          </a:prstGeom>
          <a:noFill/>
          <a:ln/>
        </p:spPr>
        <p:txBody>
          <a:bodyPr wrap="square" lIns="0" tIns="0" rIns="0" bIns="0" rtlCol="0" anchor="t"/>
          <a:lstStyle/>
          <a:p>
            <a:pPr indent="0" marL="0">
              <a:lnSpc>
                <a:spcPct val="105000"/>
              </a:lnSpc>
              <a:buNone/>
            </a:pPr>
            <a:r>
              <a:rPr lang="en-US" sz="1400" dirty="0">
                <a:solidFill>
                  <a:srgbClr val="7FD1CF"/>
                </a:solidFill>
                <a:latin typeface="Consolas" pitchFamily="34" charset="0"/>
                <a:ea typeface="Consolas" pitchFamily="34" charset="-122"/>
                <a:cs typeface="Consolas" pitchFamily="34" charset="-120"/>
              </a:rPr>
              <a:t>from</a:t>
            </a:r>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torchvision.transforms </a:t>
            </a:r>
            <a:pPr indent="0" marL="0">
              <a:lnSpc>
                <a:spcPct val="105000"/>
              </a:lnSpc>
              <a:buNone/>
            </a:pPr>
            <a:r>
              <a:rPr lang="en-US" sz="1400" dirty="0">
                <a:solidFill>
                  <a:srgbClr val="7FD1CF"/>
                </a:solidFill>
                <a:latin typeface="Consolas" pitchFamily="34" charset="0"/>
                <a:ea typeface="Consolas" pitchFamily="34" charset="-122"/>
                <a:cs typeface="Consolas" pitchFamily="34" charset="-120"/>
              </a:rPr>
              <a:t>import</a:t>
            </a:r>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v2</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train_tf = v2.Compose([</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v2.RandomResizedCrop(28, scale=(0.8, 1)),</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v2.RandomHorizontalFlip(),</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v2.ToImage(),</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v2.ToDtype(torch.float32, scale=</a:t>
            </a:r>
            <a:pPr indent="0" marL="0">
              <a:lnSpc>
                <a:spcPct val="105000"/>
              </a:lnSpc>
              <a:buNone/>
            </a:pPr>
            <a:r>
              <a:rPr lang="en-US" sz="1400" dirty="0">
                <a:solidFill>
                  <a:srgbClr val="7FD1CF"/>
                </a:solidFill>
                <a:latin typeface="Consolas" pitchFamily="34" charset="0"/>
                <a:ea typeface="Consolas" pitchFamily="34" charset="-122"/>
                <a:cs typeface="Consolas" pitchFamily="34" charset="-120"/>
              </a:rPr>
              <a:t>True</a:t>
            </a:r>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v2.Normalize(mean=[0.286], std=[0.353]),</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a:t>
            </a:r>
            <a:endParaRPr lang="en-US" sz="1400" dirty="0"/>
          </a:p>
        </p:txBody>
      </p:sp>
      <p:sp>
        <p:nvSpPr>
          <p:cNvPr id="11" name="Text 7"/>
          <p:cNvSpPr txBox="1"/>
          <p:nvPr/>
        </p:nvSpPr>
        <p:spPr>
          <a:xfrm>
            <a:off x="6355080" y="4846320"/>
            <a:ext cx="5285232" cy="54864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Fashion-MNIST mean and std of the training pixels.</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DIAGNOSIS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Diagnose the gap first, then apply remedies in order</a:t>
            </a:r>
            <a:endParaRPr lang="en-US" sz="32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675120" cy="914400"/>
        </p:xfrm>
        <a:graphic>
          <a:graphicData uri="http://schemas.openxmlformats.org/drawingml/2006/table">
            <a:tbl>
              <a:tblPr/>
              <a:tblGrid>
                <a:gridCol w="2423160"/>
                <a:gridCol w="1600200"/>
                <a:gridCol w="2651760"/>
              </a:tblGrid>
              <a:tr h="65836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Symptom</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Diagnosis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Action</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Train high, val high</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Underfitting</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Bigger model, train longer</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Train low, val much higher</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Overfitting</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The ladder on the right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Train ≈ val, both good</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Good fit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Scale up; compare baselines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Loss flat from the start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A bug</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Overfit one small batch</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6" name="Shape 2"/>
          <p:cNvSpPr/>
          <p:nvPr/>
        </p:nvSpPr>
        <p:spPr>
          <a:xfrm>
            <a:off x="548640" y="5029200"/>
            <a:ext cx="6675120" cy="1051560"/>
          </a:xfrm>
          <a:prstGeom prst="roundRect">
            <a:avLst>
              <a:gd name="adj" fmla="val 6957"/>
            </a:avLst>
          </a:prstGeom>
          <a:solidFill>
            <a:srgbClr val="FBEADF"/>
          </a:solidFill>
          <a:ln/>
        </p:spPr>
      </p:sp>
      <p:sp>
        <p:nvSpPr>
          <p:cNvPr id="7" name="Text 3"/>
          <p:cNvSpPr txBox="1"/>
          <p:nvPr/>
        </p:nvSpPr>
        <p:spPr>
          <a:xfrm>
            <a:off x="749808" y="5074920"/>
            <a:ext cx="6272784" cy="960120"/>
          </a:xfrm>
          <a:prstGeom prst="rect">
            <a:avLst/>
          </a:prstGeom>
          <a:noFill/>
          <a:ln/>
        </p:spPr>
        <p:txBody>
          <a:bodyPr wrap="square" lIns="0" tIns="0" rIns="0" bIns="0" rtlCol="0" anchor="ctr"/>
          <a:lstStyle/>
          <a:p>
            <a:pPr indent="0" marL="0">
              <a:buNone/>
            </a:pPr>
            <a:r>
              <a:rPr lang="en-US" sz="1800" b="1" dirty="0">
                <a:solidFill>
                  <a:srgbClr val="8F3A0E"/>
                </a:solidFill>
                <a:latin typeface="Calibri" pitchFamily="34" charset="0"/>
                <a:ea typeface="Calibri" pitchFamily="34" charset="-122"/>
                <a:cs typeface="Calibri" pitchFamily="34" charset="-120"/>
              </a:rPr>
              <a:t>First check that the model can overfit 100 examples. If it cannot, you have a bug.</a:t>
            </a:r>
            <a:endParaRPr lang="en-US" sz="1800" dirty="0"/>
          </a:p>
        </p:txBody>
      </p:sp>
      <p:sp>
        <p:nvSpPr>
          <p:cNvPr id="8" name="Text 4"/>
          <p:cNvSpPr txBox="1"/>
          <p:nvPr/>
        </p:nvSpPr>
        <p:spPr>
          <a:xfrm>
            <a:off x="7543800" y="1417320"/>
            <a:ext cx="402336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WHEN OVERFITTING, IN ORDER</a:t>
            </a:r>
            <a:endParaRPr lang="en-US" sz="1300" dirty="0"/>
          </a:p>
        </p:txBody>
      </p:sp>
      <p:sp>
        <p:nvSpPr>
          <p:cNvPr id="9" name="Shape 5"/>
          <p:cNvSpPr/>
          <p:nvPr/>
        </p:nvSpPr>
        <p:spPr>
          <a:xfrm>
            <a:off x="7543800" y="1828800"/>
            <a:ext cx="438912" cy="438912"/>
          </a:xfrm>
          <a:prstGeom prst="ellipse">
            <a:avLst/>
          </a:prstGeom>
          <a:solidFill>
            <a:srgbClr val="0F7C82"/>
          </a:solidFill>
          <a:ln/>
        </p:spPr>
      </p:sp>
      <p:sp>
        <p:nvSpPr>
          <p:cNvPr id="10" name="Text 6"/>
          <p:cNvSpPr txBox="1"/>
          <p:nvPr/>
        </p:nvSpPr>
        <p:spPr>
          <a:xfrm>
            <a:off x="7543800" y="18288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1" name="Shape 7"/>
          <p:cNvSpPr/>
          <p:nvPr/>
        </p:nvSpPr>
        <p:spPr>
          <a:xfrm>
            <a:off x="8119872" y="1810512"/>
            <a:ext cx="3520440" cy="475488"/>
          </a:xfrm>
          <a:prstGeom prst="roundRect">
            <a:avLst>
              <a:gd name="adj" fmla="val 15385"/>
            </a:avLst>
          </a:prstGeom>
          <a:solidFill>
            <a:srgbClr val="E2F1F1"/>
          </a:solidFill>
          <a:ln/>
        </p:spPr>
      </p:sp>
      <p:sp>
        <p:nvSpPr>
          <p:cNvPr id="12" name="Text 8"/>
          <p:cNvSpPr txBox="1"/>
          <p:nvPr/>
        </p:nvSpPr>
        <p:spPr>
          <a:xfrm>
            <a:off x="8275320" y="1810512"/>
            <a:ext cx="3291840" cy="475488"/>
          </a:xfrm>
          <a:prstGeom prst="rect">
            <a:avLst/>
          </a:prstGeom>
          <a:noFill/>
          <a:ln/>
        </p:spPr>
        <p:txBody>
          <a:bodyPr wrap="square" lIns="0" tIns="0" rIns="0" bIns="0" rtlCol="0" anchor="ctr"/>
          <a:lstStyle/>
          <a:p>
            <a:pPr indent="0" marL="0">
              <a:buNone/>
            </a:pPr>
            <a:r>
              <a:rPr lang="en-US" sz="1700" b="1" dirty="0">
                <a:solidFill>
                  <a:srgbClr val="17202E"/>
                </a:solidFill>
                <a:latin typeface="Calibri" pitchFamily="34" charset="0"/>
                <a:ea typeface="Calibri" pitchFamily="34" charset="-122"/>
                <a:cs typeface="Calibri" pitchFamily="34" charset="-120"/>
              </a:rPr>
              <a:t>More data</a:t>
            </a:r>
            <a:endParaRPr lang="en-US" sz="1700" dirty="0"/>
          </a:p>
        </p:txBody>
      </p:sp>
      <p:sp>
        <p:nvSpPr>
          <p:cNvPr id="13" name="Shape 9"/>
          <p:cNvSpPr/>
          <p:nvPr/>
        </p:nvSpPr>
        <p:spPr>
          <a:xfrm>
            <a:off x="7543800" y="2432304"/>
            <a:ext cx="438912" cy="438912"/>
          </a:xfrm>
          <a:prstGeom prst="ellipse">
            <a:avLst/>
          </a:prstGeom>
          <a:solidFill>
            <a:srgbClr val="0F7C82"/>
          </a:solidFill>
          <a:ln/>
        </p:spPr>
      </p:sp>
      <p:sp>
        <p:nvSpPr>
          <p:cNvPr id="14" name="Text 10"/>
          <p:cNvSpPr txBox="1"/>
          <p:nvPr/>
        </p:nvSpPr>
        <p:spPr>
          <a:xfrm>
            <a:off x="7543800" y="243230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Shape 11"/>
          <p:cNvSpPr/>
          <p:nvPr/>
        </p:nvSpPr>
        <p:spPr>
          <a:xfrm>
            <a:off x="8119872" y="2414016"/>
            <a:ext cx="3520440" cy="475488"/>
          </a:xfrm>
          <a:prstGeom prst="roundRect">
            <a:avLst>
              <a:gd name="adj" fmla="val 15385"/>
            </a:avLst>
          </a:prstGeom>
          <a:solidFill>
            <a:srgbClr val="E2F1F1"/>
          </a:solidFill>
          <a:ln/>
        </p:spPr>
      </p:sp>
      <p:sp>
        <p:nvSpPr>
          <p:cNvPr id="16" name="Text 12"/>
          <p:cNvSpPr txBox="1"/>
          <p:nvPr/>
        </p:nvSpPr>
        <p:spPr>
          <a:xfrm>
            <a:off x="8275320" y="2414016"/>
            <a:ext cx="3291840" cy="475488"/>
          </a:xfrm>
          <a:prstGeom prst="rect">
            <a:avLst/>
          </a:prstGeom>
          <a:noFill/>
          <a:ln/>
        </p:spPr>
        <p:txBody>
          <a:bodyPr wrap="square" lIns="0" tIns="0" rIns="0" bIns="0" rtlCol="0" anchor="ctr"/>
          <a:lstStyle/>
          <a:p>
            <a:pPr indent="0" marL="0">
              <a:buNone/>
            </a:pPr>
            <a:r>
              <a:rPr lang="en-US" sz="1700" b="1" dirty="0">
                <a:solidFill>
                  <a:srgbClr val="17202E"/>
                </a:solidFill>
                <a:latin typeface="Calibri" pitchFamily="34" charset="0"/>
                <a:ea typeface="Calibri" pitchFamily="34" charset="-122"/>
                <a:cs typeface="Calibri" pitchFamily="34" charset="-120"/>
              </a:rPr>
              <a:t>Data augmentation</a:t>
            </a:r>
            <a:endParaRPr lang="en-US" sz="1700" dirty="0"/>
          </a:p>
        </p:txBody>
      </p:sp>
      <p:sp>
        <p:nvSpPr>
          <p:cNvPr id="17" name="Shape 13"/>
          <p:cNvSpPr/>
          <p:nvPr/>
        </p:nvSpPr>
        <p:spPr>
          <a:xfrm>
            <a:off x="7543800" y="3035808"/>
            <a:ext cx="438912" cy="438912"/>
          </a:xfrm>
          <a:prstGeom prst="ellipse">
            <a:avLst/>
          </a:prstGeom>
          <a:solidFill>
            <a:srgbClr val="0F7C82"/>
          </a:solidFill>
          <a:ln/>
        </p:spPr>
      </p:sp>
      <p:sp>
        <p:nvSpPr>
          <p:cNvPr id="18" name="Text 14"/>
          <p:cNvSpPr txBox="1"/>
          <p:nvPr/>
        </p:nvSpPr>
        <p:spPr>
          <a:xfrm>
            <a:off x="7543800" y="3035808"/>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Shape 15"/>
          <p:cNvSpPr/>
          <p:nvPr/>
        </p:nvSpPr>
        <p:spPr>
          <a:xfrm>
            <a:off x="8119872" y="3017520"/>
            <a:ext cx="3520440" cy="475488"/>
          </a:xfrm>
          <a:prstGeom prst="roundRect">
            <a:avLst>
              <a:gd name="adj" fmla="val 15385"/>
            </a:avLst>
          </a:prstGeom>
          <a:solidFill>
            <a:srgbClr val="E2F1F1"/>
          </a:solidFill>
          <a:ln/>
        </p:spPr>
      </p:sp>
      <p:sp>
        <p:nvSpPr>
          <p:cNvPr id="20" name="Text 16"/>
          <p:cNvSpPr txBox="1"/>
          <p:nvPr/>
        </p:nvSpPr>
        <p:spPr>
          <a:xfrm>
            <a:off x="8275320" y="3017520"/>
            <a:ext cx="3291840" cy="475488"/>
          </a:xfrm>
          <a:prstGeom prst="rect">
            <a:avLst/>
          </a:prstGeom>
          <a:noFill/>
          <a:ln/>
        </p:spPr>
        <p:txBody>
          <a:bodyPr wrap="square" lIns="0" tIns="0" rIns="0" bIns="0" rtlCol="0" anchor="ctr"/>
          <a:lstStyle/>
          <a:p>
            <a:pPr indent="0" marL="0">
              <a:buNone/>
            </a:pPr>
            <a:r>
              <a:rPr lang="en-US" sz="1700" b="1" dirty="0">
                <a:solidFill>
                  <a:srgbClr val="17202E"/>
                </a:solidFill>
                <a:latin typeface="Calibri" pitchFamily="34" charset="0"/>
                <a:ea typeface="Calibri" pitchFamily="34" charset="-122"/>
                <a:cs typeface="Calibri" pitchFamily="34" charset="-120"/>
              </a:rPr>
              <a:t>Transfer learning</a:t>
            </a:r>
            <a:endParaRPr lang="en-US" sz="1700" dirty="0"/>
          </a:p>
        </p:txBody>
      </p:sp>
      <p:sp>
        <p:nvSpPr>
          <p:cNvPr id="21" name="Shape 17"/>
          <p:cNvSpPr/>
          <p:nvPr/>
        </p:nvSpPr>
        <p:spPr>
          <a:xfrm>
            <a:off x="7543800" y="3639312"/>
            <a:ext cx="438912" cy="438912"/>
          </a:xfrm>
          <a:prstGeom prst="ellipse">
            <a:avLst/>
          </a:prstGeom>
          <a:solidFill>
            <a:srgbClr val="0F7C82"/>
          </a:solidFill>
          <a:ln/>
        </p:spPr>
      </p:sp>
      <p:sp>
        <p:nvSpPr>
          <p:cNvPr id="22" name="Text 18"/>
          <p:cNvSpPr txBox="1"/>
          <p:nvPr/>
        </p:nvSpPr>
        <p:spPr>
          <a:xfrm>
            <a:off x="7543800" y="363931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Shape 19"/>
          <p:cNvSpPr/>
          <p:nvPr/>
        </p:nvSpPr>
        <p:spPr>
          <a:xfrm>
            <a:off x="8119872" y="3621024"/>
            <a:ext cx="3520440" cy="475488"/>
          </a:xfrm>
          <a:prstGeom prst="roundRect">
            <a:avLst>
              <a:gd name="adj" fmla="val 15385"/>
            </a:avLst>
          </a:prstGeom>
          <a:solidFill>
            <a:srgbClr val="F3F5F8"/>
          </a:solidFill>
          <a:ln/>
        </p:spPr>
      </p:sp>
      <p:sp>
        <p:nvSpPr>
          <p:cNvPr id="24" name="Text 20"/>
          <p:cNvSpPr txBox="1"/>
          <p:nvPr/>
        </p:nvSpPr>
        <p:spPr>
          <a:xfrm>
            <a:off x="8275320" y="3621024"/>
            <a:ext cx="3291840" cy="475488"/>
          </a:xfrm>
          <a:prstGeom prst="rect">
            <a:avLst/>
          </a:prstGeom>
          <a:noFill/>
          <a:ln/>
        </p:spPr>
        <p:txBody>
          <a:bodyPr wrap="square" lIns="0" tIns="0" rIns="0" bIns="0" rtlCol="0" anchor="ctr"/>
          <a:lstStyle/>
          <a:p>
            <a:pPr indent="0" marL="0">
              <a:buNone/>
            </a:pPr>
            <a:r>
              <a:rPr lang="en-US" sz="1700" dirty="0">
                <a:solidFill>
                  <a:srgbClr val="17202E"/>
                </a:solidFill>
                <a:latin typeface="Calibri" pitchFamily="34" charset="0"/>
                <a:ea typeface="Calibri" pitchFamily="34" charset="-122"/>
                <a:cs typeface="Calibri" pitchFamily="34" charset="-120"/>
              </a:rPr>
              <a:t>Weight decay</a:t>
            </a:r>
            <a:endParaRPr lang="en-US" sz="1700" dirty="0"/>
          </a:p>
        </p:txBody>
      </p:sp>
      <p:sp>
        <p:nvSpPr>
          <p:cNvPr id="25" name="Shape 21"/>
          <p:cNvSpPr/>
          <p:nvPr/>
        </p:nvSpPr>
        <p:spPr>
          <a:xfrm>
            <a:off x="7543800" y="4242816"/>
            <a:ext cx="438912" cy="438912"/>
          </a:xfrm>
          <a:prstGeom prst="ellipse">
            <a:avLst/>
          </a:prstGeom>
          <a:solidFill>
            <a:srgbClr val="0F7C82"/>
          </a:solidFill>
          <a:ln/>
        </p:spPr>
      </p:sp>
      <p:sp>
        <p:nvSpPr>
          <p:cNvPr id="26" name="Text 22"/>
          <p:cNvSpPr txBox="1"/>
          <p:nvPr/>
        </p:nvSpPr>
        <p:spPr>
          <a:xfrm>
            <a:off x="7543800" y="424281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7" name="Shape 23"/>
          <p:cNvSpPr/>
          <p:nvPr/>
        </p:nvSpPr>
        <p:spPr>
          <a:xfrm>
            <a:off x="8119872" y="4224528"/>
            <a:ext cx="3520440" cy="475488"/>
          </a:xfrm>
          <a:prstGeom prst="roundRect">
            <a:avLst>
              <a:gd name="adj" fmla="val 15385"/>
            </a:avLst>
          </a:prstGeom>
          <a:solidFill>
            <a:srgbClr val="F3F5F8"/>
          </a:solidFill>
          <a:ln/>
        </p:spPr>
      </p:sp>
      <p:sp>
        <p:nvSpPr>
          <p:cNvPr id="28" name="Text 24"/>
          <p:cNvSpPr txBox="1"/>
          <p:nvPr/>
        </p:nvSpPr>
        <p:spPr>
          <a:xfrm>
            <a:off x="8275320" y="4224528"/>
            <a:ext cx="3291840" cy="475488"/>
          </a:xfrm>
          <a:prstGeom prst="rect">
            <a:avLst/>
          </a:prstGeom>
          <a:noFill/>
          <a:ln/>
        </p:spPr>
        <p:txBody>
          <a:bodyPr wrap="square" lIns="0" tIns="0" rIns="0" bIns="0" rtlCol="0" anchor="ctr"/>
          <a:lstStyle/>
          <a:p>
            <a:pPr indent="0" marL="0">
              <a:buNone/>
            </a:pPr>
            <a:r>
              <a:rPr lang="en-US" sz="1700" dirty="0">
                <a:solidFill>
                  <a:srgbClr val="17202E"/>
                </a:solidFill>
                <a:latin typeface="Calibri" pitchFamily="34" charset="0"/>
                <a:ea typeface="Calibri" pitchFamily="34" charset="-122"/>
                <a:cs typeface="Calibri" pitchFamily="34" charset="-120"/>
              </a:rPr>
              <a:t>Early stopping</a:t>
            </a:r>
            <a:endParaRPr lang="en-US" sz="1700" dirty="0"/>
          </a:p>
        </p:txBody>
      </p:sp>
      <p:sp>
        <p:nvSpPr>
          <p:cNvPr id="29" name="Shape 25"/>
          <p:cNvSpPr/>
          <p:nvPr/>
        </p:nvSpPr>
        <p:spPr>
          <a:xfrm>
            <a:off x="7543800" y="4846320"/>
            <a:ext cx="438912" cy="438912"/>
          </a:xfrm>
          <a:prstGeom prst="ellipse">
            <a:avLst/>
          </a:prstGeom>
          <a:solidFill>
            <a:srgbClr val="0F7C82"/>
          </a:solidFill>
          <a:ln/>
        </p:spPr>
      </p:sp>
      <p:sp>
        <p:nvSpPr>
          <p:cNvPr id="30" name="Text 26"/>
          <p:cNvSpPr txBox="1"/>
          <p:nvPr/>
        </p:nvSpPr>
        <p:spPr>
          <a:xfrm>
            <a:off x="7543800" y="484632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1" name="Shape 27"/>
          <p:cNvSpPr/>
          <p:nvPr/>
        </p:nvSpPr>
        <p:spPr>
          <a:xfrm>
            <a:off x="8119872" y="4828032"/>
            <a:ext cx="3520440" cy="475488"/>
          </a:xfrm>
          <a:prstGeom prst="roundRect">
            <a:avLst>
              <a:gd name="adj" fmla="val 15385"/>
            </a:avLst>
          </a:prstGeom>
          <a:solidFill>
            <a:srgbClr val="F3F5F8"/>
          </a:solidFill>
          <a:ln/>
        </p:spPr>
      </p:sp>
      <p:sp>
        <p:nvSpPr>
          <p:cNvPr id="32" name="Text 28"/>
          <p:cNvSpPr txBox="1"/>
          <p:nvPr/>
        </p:nvSpPr>
        <p:spPr>
          <a:xfrm>
            <a:off x="8275320" y="4828032"/>
            <a:ext cx="3291840" cy="475488"/>
          </a:xfrm>
          <a:prstGeom prst="rect">
            <a:avLst/>
          </a:prstGeom>
          <a:noFill/>
          <a:ln/>
        </p:spPr>
        <p:txBody>
          <a:bodyPr wrap="square" lIns="0" tIns="0" rIns="0" bIns="0" rtlCol="0" anchor="ctr"/>
          <a:lstStyle/>
          <a:p>
            <a:pPr indent="0" marL="0">
              <a:buNone/>
            </a:pPr>
            <a:r>
              <a:rPr lang="en-US" sz="1700" dirty="0">
                <a:solidFill>
                  <a:srgbClr val="17202E"/>
                </a:solidFill>
                <a:latin typeface="Calibri" pitchFamily="34" charset="0"/>
                <a:ea typeface="Calibri" pitchFamily="34" charset="-122"/>
                <a:cs typeface="Calibri" pitchFamily="34" charset="-120"/>
              </a:rPr>
              <a:t>Dropout</a:t>
            </a:r>
            <a:endParaRPr lang="en-US" sz="1700" dirty="0"/>
          </a:p>
        </p:txBody>
      </p:sp>
      <p:sp>
        <p:nvSpPr>
          <p:cNvPr id="33" name="Shape 29"/>
          <p:cNvSpPr/>
          <p:nvPr/>
        </p:nvSpPr>
        <p:spPr>
          <a:xfrm>
            <a:off x="7543800" y="5449824"/>
            <a:ext cx="438912" cy="438912"/>
          </a:xfrm>
          <a:prstGeom prst="ellipse">
            <a:avLst/>
          </a:prstGeom>
          <a:solidFill>
            <a:srgbClr val="8A94A3"/>
          </a:solidFill>
          <a:ln/>
        </p:spPr>
      </p:sp>
      <p:sp>
        <p:nvSpPr>
          <p:cNvPr id="34" name="Text 30"/>
          <p:cNvSpPr txBox="1"/>
          <p:nvPr/>
        </p:nvSpPr>
        <p:spPr>
          <a:xfrm>
            <a:off x="7543800" y="544982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5" name="Shape 31"/>
          <p:cNvSpPr/>
          <p:nvPr/>
        </p:nvSpPr>
        <p:spPr>
          <a:xfrm>
            <a:off x="8119872" y="5431536"/>
            <a:ext cx="3520440" cy="475488"/>
          </a:xfrm>
          <a:prstGeom prst="roundRect">
            <a:avLst>
              <a:gd name="adj" fmla="val 15385"/>
            </a:avLst>
          </a:prstGeom>
          <a:solidFill>
            <a:srgbClr val="F3F5F8"/>
          </a:solidFill>
          <a:ln/>
        </p:spPr>
      </p:sp>
      <p:sp>
        <p:nvSpPr>
          <p:cNvPr id="36" name="Text 32"/>
          <p:cNvSpPr txBox="1"/>
          <p:nvPr/>
        </p:nvSpPr>
        <p:spPr>
          <a:xfrm>
            <a:off x="8275320" y="5431536"/>
            <a:ext cx="3291840" cy="475488"/>
          </a:xfrm>
          <a:prstGeom prst="rect">
            <a:avLst/>
          </a:prstGeom>
          <a:noFill/>
          <a:ln/>
        </p:spPr>
        <p:txBody>
          <a:bodyPr wrap="square" lIns="0" tIns="0" rIns="0" bIns="0" rtlCol="0" anchor="ctr"/>
          <a:lstStyle/>
          <a:p>
            <a:pPr indent="0" marL="0">
              <a:buNone/>
            </a:pPr>
            <a:r>
              <a:rPr lang="en-US" sz="1700" dirty="0">
                <a:solidFill>
                  <a:srgbClr val="5B6675"/>
                </a:solidFill>
                <a:latin typeface="Calibri" pitchFamily="34" charset="0"/>
                <a:ea typeface="Calibri" pitchFamily="34" charset="-122"/>
                <a:cs typeface="Calibri" pitchFamily="34" charset="-120"/>
              </a:rPr>
              <a:t>Smaller model (last)</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7</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Training accuracy 99.8 %, validation 71 %, only 2,000 training images. Which first step will most likely help most?</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sp>
      <p:sp>
        <p:nvSpPr>
          <p:cNvPr id="7" name="Shape 4"/>
          <p:cNvSpPr/>
          <p:nvPr/>
        </p:nvSpPr>
        <p:spPr>
          <a:xfrm>
            <a:off x="777240" y="3136392"/>
            <a:ext cx="548640" cy="548640"/>
          </a:xfrm>
          <a:prstGeom prst="ellipse">
            <a:avLst/>
          </a:prstGeom>
          <a:solidFill>
            <a:srgbClr val="4C5BD4"/>
          </a:solidFill>
          <a:ln/>
        </p:spPr>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Use a smaller network</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sp>
      <p:sp>
        <p:nvSpPr>
          <p:cNvPr id="11" name="Shape 8"/>
          <p:cNvSpPr/>
          <p:nvPr/>
        </p:nvSpPr>
        <p:spPr>
          <a:xfrm>
            <a:off x="6419088" y="3136392"/>
            <a:ext cx="548640" cy="548640"/>
          </a:xfrm>
          <a:prstGeom prst="ellipse">
            <a:avLst/>
          </a:prstGeom>
          <a:solidFill>
            <a:srgbClr val="4C5BD4"/>
          </a:solidFill>
          <a:ln/>
        </p:spPr>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Start from a pretrained model and add augmentation</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sp>
      <p:sp>
        <p:nvSpPr>
          <p:cNvPr id="15" name="Shape 12"/>
          <p:cNvSpPr/>
          <p:nvPr/>
        </p:nvSpPr>
        <p:spPr>
          <a:xfrm>
            <a:off x="777240" y="4553712"/>
            <a:ext cx="548640" cy="548640"/>
          </a:xfrm>
          <a:prstGeom prst="ellipse">
            <a:avLst/>
          </a:prstGeom>
          <a:solidFill>
            <a:srgbClr val="4C5BD4"/>
          </a:solidFill>
          <a:ln/>
        </p:spPr>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Train for more epochs</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sp>
      <p:sp>
        <p:nvSpPr>
          <p:cNvPr id="19" name="Shape 16"/>
          <p:cNvSpPr/>
          <p:nvPr/>
        </p:nvSpPr>
        <p:spPr>
          <a:xfrm>
            <a:off x="6419088" y="4553712"/>
            <a:ext cx="548640" cy="548640"/>
          </a:xfrm>
          <a:prstGeom prst="ellipse">
            <a:avLst/>
          </a:prstGeom>
          <a:solidFill>
            <a:srgbClr val="4C5BD4"/>
          </a:solidFill>
          <a:ln/>
        </p:spPr>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Raise the learning rate</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PUTTING IT TOGETHER</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 complete, modern training recipe</a:t>
            </a:r>
            <a:endParaRPr lang="en-US" sz="3200" dirty="0"/>
          </a:p>
        </p:txBody>
      </p:sp>
      <p:sp>
        <p:nvSpPr>
          <p:cNvPr id="5" name="Shape 2"/>
          <p:cNvSpPr/>
          <p:nvPr/>
        </p:nvSpPr>
        <p:spPr>
          <a:xfrm>
            <a:off x="548640" y="1417320"/>
            <a:ext cx="7772400" cy="4754880"/>
          </a:xfrm>
          <a:prstGeom prst="roundRect">
            <a:avLst>
              <a:gd name="adj" fmla="val 1154"/>
            </a:avLst>
          </a:prstGeom>
          <a:solidFill>
            <a:srgbClr val="1E2735"/>
          </a:solidFill>
          <a:ln/>
        </p:spPr>
      </p:sp>
      <p:sp>
        <p:nvSpPr>
          <p:cNvPr id="6" name="Text 3"/>
          <p:cNvSpPr txBox="1"/>
          <p:nvPr/>
        </p:nvSpPr>
        <p:spPr>
          <a:xfrm>
            <a:off x="749808" y="1563624"/>
            <a:ext cx="7452360" cy="4498848"/>
          </a:xfrm>
          <a:prstGeom prst="rect">
            <a:avLst/>
          </a:prstGeom>
          <a:noFill/>
          <a:ln/>
        </p:spPr>
        <p:txBody>
          <a:bodyPr wrap="square" lIns="0" tIns="0" rIns="0" bIns="0" rtlCol="0" anchor="t"/>
          <a:lstStyle/>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opt = torch.optim.AdamW(model.parameters(), lr=3e-4,</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weight_decay=0.05)</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sched = torch.optim.lr_scheduler.OneCycleLR(opt, 3e-4,</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total_steps=EPOCHS * len(train_loader))</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loss_fn = nn.CrossEntropyLoss(label_smoothing=0.1)</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best = float("inf")</a:t>
            </a:r>
            <a:endParaRPr lang="en-US" sz="1500" dirty="0"/>
          </a:p>
          <a:p>
            <a:pPr indent="0" marL="0">
              <a:lnSpc>
                <a:spcPct val="105000"/>
              </a:lnSpc>
              <a:buNone/>
            </a:pPr>
            <a:r>
              <a:rPr lang="en-US" sz="1500" dirty="0">
                <a:solidFill>
                  <a:srgbClr val="7FD1CF"/>
                </a:solidFill>
                <a:latin typeface="Consolas" pitchFamily="34" charset="0"/>
                <a:ea typeface="Consolas" pitchFamily="34" charset="-122"/>
                <a:cs typeface="Consolas" pitchFamily="34" charset="-120"/>
              </a:rPr>
              <a:t>for</a:t>
            </a:r>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epoch </a:t>
            </a:r>
            <a:pPr indent="0" marL="0">
              <a:lnSpc>
                <a:spcPct val="105000"/>
              </a:lnSpc>
              <a:buNone/>
            </a:pPr>
            <a:r>
              <a:rPr lang="en-US" sz="1500" dirty="0">
                <a:solidFill>
                  <a:srgbClr val="7FD1CF"/>
                </a:solidFill>
                <a:latin typeface="Consolas" pitchFamily="34" charset="0"/>
                <a:ea typeface="Consolas" pitchFamily="34" charset="-122"/>
                <a:cs typeface="Consolas" pitchFamily="34" charset="-120"/>
              </a:rPr>
              <a:t>in</a:t>
            </a:r>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range(EPOCHS):</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model.train()</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a:t>
            </a:r>
            <a:pPr indent="0" marL="0">
              <a:lnSpc>
                <a:spcPct val="105000"/>
              </a:lnSpc>
              <a:buNone/>
            </a:pPr>
            <a:r>
              <a:rPr lang="en-US" sz="1500" dirty="0">
                <a:solidFill>
                  <a:srgbClr val="7FD1CF"/>
                </a:solidFill>
                <a:latin typeface="Consolas" pitchFamily="34" charset="0"/>
                <a:ea typeface="Consolas" pitchFamily="34" charset="-122"/>
                <a:cs typeface="Consolas" pitchFamily="34" charset="-120"/>
              </a:rPr>
              <a:t>for</a:t>
            </a:r>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 y </a:t>
            </a:r>
            <a:pPr indent="0" marL="0">
              <a:lnSpc>
                <a:spcPct val="105000"/>
              </a:lnSpc>
              <a:buNone/>
            </a:pPr>
            <a:r>
              <a:rPr lang="en-US" sz="1500" dirty="0">
                <a:solidFill>
                  <a:srgbClr val="7FD1CF"/>
                </a:solidFill>
                <a:latin typeface="Consolas" pitchFamily="34" charset="0"/>
                <a:ea typeface="Consolas" pitchFamily="34" charset="-122"/>
                <a:cs typeface="Consolas" pitchFamily="34" charset="-120"/>
              </a:rPr>
              <a:t>in</a:t>
            </a:r>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train_loader:</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opt.zero_grad()</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loss_fn(model(x), y).backward()</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nn.utils.clip_grad_norm_(model.parameters(), 1.0)</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opt.step(); sched.step()          </a:t>
            </a:r>
            <a:pPr indent="0" marL="0">
              <a:lnSpc>
                <a:spcPct val="105000"/>
              </a:lnSpc>
              <a:buNone/>
            </a:pPr>
            <a:r>
              <a:rPr lang="en-US" sz="1500" i="1" dirty="0">
                <a:solidFill>
                  <a:srgbClr val="8D99AB"/>
                </a:solidFill>
                <a:latin typeface="Consolas" pitchFamily="34" charset="0"/>
                <a:ea typeface="Consolas" pitchFamily="34" charset="-122"/>
                <a:cs typeface="Consolas" pitchFamily="34" charset="-120"/>
              </a:rPr>
              <a:t># every batch</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val = evaluate(model, val_loader)</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a:t>
            </a:r>
            <a:pPr indent="0" marL="0">
              <a:lnSpc>
                <a:spcPct val="105000"/>
              </a:lnSpc>
              <a:buNone/>
            </a:pPr>
            <a:r>
              <a:rPr lang="en-US" sz="1500" dirty="0">
                <a:solidFill>
                  <a:srgbClr val="7FD1CF"/>
                </a:solidFill>
                <a:latin typeface="Consolas" pitchFamily="34" charset="0"/>
                <a:ea typeface="Consolas" pitchFamily="34" charset="-122"/>
                <a:cs typeface="Consolas" pitchFamily="34" charset="-120"/>
              </a:rPr>
              <a:t>if</a:t>
            </a:r>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val &lt; best:</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best = val; torch.save(model.state_dict(), "best.pt")</a:t>
            </a:r>
            <a:endParaRPr lang="en-US" sz="1500" dirty="0"/>
          </a:p>
        </p:txBody>
      </p:sp>
      <p:graphicFrame>
        <p:nvGraphicFramePr>
          <p:cNvPr id="7" name="Chart 0" descr="Warmup + cosine (shape): warmup + cosine"/>
          <p:cNvGraphicFramePr/>
          <p:nvPr/>
        </p:nvGraphicFramePr>
        <p:xfrm>
          <a:off x="8321040" y="1325880"/>
          <a:ext cx="3383280" cy="246888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8321040" y="3657600"/>
            <a:ext cx="347472" cy="347472"/>
          </a:xfrm>
          <a:prstGeom prst="ellipse">
            <a:avLst/>
          </a:prstGeom>
          <a:solidFill>
            <a:srgbClr val="0F7C82"/>
          </a:solidFill>
          <a:ln/>
        </p:spPr>
      </p:sp>
      <p:sp>
        <p:nvSpPr>
          <p:cNvPr id="9" name="Text 5"/>
          <p:cNvSpPr txBox="1"/>
          <p:nvPr/>
        </p:nvSpPr>
        <p:spPr>
          <a:xfrm>
            <a:off x="8321040" y="365760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6"/>
          <p:cNvSpPr txBox="1"/>
          <p:nvPr/>
        </p:nvSpPr>
        <p:spPr>
          <a:xfrm>
            <a:off x="8869680" y="3639312"/>
            <a:ext cx="2770632" cy="365760"/>
          </a:xfrm>
          <a:prstGeom prst="rect">
            <a:avLst/>
          </a:prstGeom>
          <a:noFill/>
          <a:ln/>
        </p:spPr>
        <p:txBody>
          <a:bodyPr wrap="square" lIns="0" tIns="0" rIns="0" bIns="0" rtlCol="0" anchor="t"/>
          <a:lstStyle/>
          <a:p>
            <a:pPr indent="0" marL="0">
              <a:buNone/>
            </a:pPr>
            <a:r>
              <a:rPr lang="en-US" sz="1700" b="1" dirty="0">
                <a:solidFill>
                  <a:srgbClr val="17202E"/>
                </a:solidFill>
                <a:latin typeface="Calibri" pitchFamily="34" charset="0"/>
                <a:ea typeface="Calibri" pitchFamily="34" charset="-122"/>
                <a:cs typeface="Calibri" pitchFamily="34" charset="-120"/>
              </a:rPr>
              <a:t>Warm up, then decay</a:t>
            </a:r>
            <a:endParaRPr lang="en-US" sz="1700" dirty="0"/>
          </a:p>
        </p:txBody>
      </p:sp>
      <p:sp>
        <p:nvSpPr>
          <p:cNvPr id="11" name="Text 7"/>
          <p:cNvSpPr txBox="1"/>
          <p:nvPr/>
        </p:nvSpPr>
        <p:spPr>
          <a:xfrm>
            <a:off x="8869680" y="4005072"/>
            <a:ext cx="2770632" cy="47548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Stepped every batch.</a:t>
            </a:r>
            <a:endParaRPr lang="en-US" sz="1500" dirty="0"/>
          </a:p>
        </p:txBody>
      </p:sp>
      <p:sp>
        <p:nvSpPr>
          <p:cNvPr id="12" name="Shape 8"/>
          <p:cNvSpPr/>
          <p:nvPr/>
        </p:nvSpPr>
        <p:spPr>
          <a:xfrm>
            <a:off x="8321040" y="4498848"/>
            <a:ext cx="347472" cy="347472"/>
          </a:xfrm>
          <a:prstGeom prst="ellipse">
            <a:avLst/>
          </a:prstGeom>
          <a:solidFill>
            <a:srgbClr val="0F7C82"/>
          </a:solidFill>
          <a:ln/>
        </p:spPr>
      </p:sp>
      <p:sp>
        <p:nvSpPr>
          <p:cNvPr id="13" name="Text 9"/>
          <p:cNvSpPr txBox="1"/>
          <p:nvPr/>
        </p:nvSpPr>
        <p:spPr>
          <a:xfrm>
            <a:off x="8321040" y="44988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0"/>
          <p:cNvSpPr txBox="1"/>
          <p:nvPr/>
        </p:nvSpPr>
        <p:spPr>
          <a:xfrm>
            <a:off x="8869680" y="4480560"/>
            <a:ext cx="2770632" cy="365760"/>
          </a:xfrm>
          <a:prstGeom prst="rect">
            <a:avLst/>
          </a:prstGeom>
          <a:noFill/>
          <a:ln/>
        </p:spPr>
        <p:txBody>
          <a:bodyPr wrap="square" lIns="0" tIns="0" rIns="0" bIns="0" rtlCol="0" anchor="t"/>
          <a:lstStyle/>
          <a:p>
            <a:pPr indent="0" marL="0">
              <a:buNone/>
            </a:pPr>
            <a:r>
              <a:rPr lang="en-US" sz="1700" b="1" dirty="0">
                <a:solidFill>
                  <a:srgbClr val="17202E"/>
                </a:solidFill>
                <a:latin typeface="Calibri" pitchFamily="34" charset="0"/>
                <a:ea typeface="Calibri" pitchFamily="34" charset="-122"/>
                <a:cs typeface="Calibri" pitchFamily="34" charset="-120"/>
              </a:rPr>
              <a:t>Clip after backward</a:t>
            </a:r>
            <a:endParaRPr lang="en-US" sz="1700" dirty="0"/>
          </a:p>
        </p:txBody>
      </p:sp>
      <p:sp>
        <p:nvSpPr>
          <p:cNvPr id="15" name="Text 11"/>
          <p:cNvSpPr txBox="1"/>
          <p:nvPr/>
        </p:nvSpPr>
        <p:spPr>
          <a:xfrm>
            <a:off x="8869680" y="4846320"/>
            <a:ext cx="2770632" cy="47548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Caps rare gradient spikes.</a:t>
            </a:r>
            <a:endParaRPr lang="en-US" sz="1500" dirty="0"/>
          </a:p>
        </p:txBody>
      </p:sp>
      <p:sp>
        <p:nvSpPr>
          <p:cNvPr id="16" name="Shape 12"/>
          <p:cNvSpPr/>
          <p:nvPr/>
        </p:nvSpPr>
        <p:spPr>
          <a:xfrm>
            <a:off x="8321040" y="5340096"/>
            <a:ext cx="347472" cy="347472"/>
          </a:xfrm>
          <a:prstGeom prst="ellipse">
            <a:avLst/>
          </a:prstGeom>
          <a:solidFill>
            <a:srgbClr val="0F7C82"/>
          </a:solidFill>
          <a:ln/>
        </p:spPr>
      </p:sp>
      <p:sp>
        <p:nvSpPr>
          <p:cNvPr id="17" name="Text 13"/>
          <p:cNvSpPr txBox="1"/>
          <p:nvPr/>
        </p:nvSpPr>
        <p:spPr>
          <a:xfrm>
            <a:off x="8321040" y="534009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4"/>
          <p:cNvSpPr txBox="1"/>
          <p:nvPr/>
        </p:nvSpPr>
        <p:spPr>
          <a:xfrm>
            <a:off x="8869680" y="5321808"/>
            <a:ext cx="2770632" cy="365760"/>
          </a:xfrm>
          <a:prstGeom prst="rect">
            <a:avLst/>
          </a:prstGeom>
          <a:noFill/>
          <a:ln/>
        </p:spPr>
        <p:txBody>
          <a:bodyPr wrap="square" lIns="0" tIns="0" rIns="0" bIns="0" rtlCol="0" anchor="t"/>
          <a:lstStyle/>
          <a:p>
            <a:pPr indent="0" marL="0">
              <a:buNone/>
            </a:pPr>
            <a:r>
              <a:rPr lang="en-US" sz="1700" b="1" dirty="0">
                <a:solidFill>
                  <a:srgbClr val="17202E"/>
                </a:solidFill>
                <a:latin typeface="Calibri" pitchFamily="34" charset="0"/>
                <a:ea typeface="Calibri" pitchFamily="34" charset="-122"/>
                <a:cs typeface="Calibri" pitchFamily="34" charset="-120"/>
              </a:rPr>
              <a:t>Keep the best checkpoint</a:t>
            </a:r>
            <a:endParaRPr lang="en-US" sz="1700" dirty="0"/>
          </a:p>
        </p:txBody>
      </p:sp>
      <p:sp>
        <p:nvSpPr>
          <p:cNvPr id="19" name="Text 15"/>
          <p:cNvSpPr txBox="1"/>
          <p:nvPr/>
        </p:nvSpPr>
        <p:spPr>
          <a:xfrm>
            <a:off x="8869680" y="5687568"/>
            <a:ext cx="2770632" cy="47548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Chosen on validation.</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WRAP-UP</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Today in three sentences</a:t>
            </a:r>
            <a:endParaRPr lang="en-US" sz="3200" dirty="0"/>
          </a:p>
        </p:txBody>
      </p:sp>
      <p:sp>
        <p:nvSpPr>
          <p:cNvPr id="5" name="Shape 2"/>
          <p:cNvSpPr/>
          <p:nvPr/>
        </p:nvSpPr>
        <p:spPr>
          <a:xfrm>
            <a:off x="548640" y="1508760"/>
            <a:ext cx="502920" cy="502920"/>
          </a:xfrm>
          <a:prstGeom prst="ellipse">
            <a:avLst/>
          </a:prstGeom>
          <a:solidFill>
            <a:srgbClr val="0F7C82"/>
          </a:solidFill>
          <a:ln/>
        </p:spPr>
      </p:sp>
      <p:sp>
        <p:nvSpPr>
          <p:cNvPr id="6" name="Text 3"/>
          <p:cNvSpPr txBox="1"/>
          <p:nvPr/>
        </p:nvSpPr>
        <p:spPr>
          <a:xfrm>
            <a:off x="548640" y="15087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1280160" y="1417320"/>
            <a:ext cx="3657600" cy="384048"/>
          </a:xfrm>
          <a:prstGeom prst="rect">
            <a:avLst/>
          </a:prstGeom>
          <a:noFill/>
          <a:ln/>
        </p:spPr>
        <p:txBody>
          <a:bodyPr wrap="square" lIns="0" tIns="0" rIns="0" bIns="0" rtlCol="0" anchor="t"/>
          <a:lstStyle/>
          <a:p>
            <a:pPr indent="0" marL="0">
              <a:buNone/>
            </a:pPr>
            <a:r>
              <a:rPr lang="en-US" sz="1900" b="1" dirty="0">
                <a:solidFill>
                  <a:srgbClr val="0F7C82"/>
                </a:solidFill>
                <a:latin typeface="Calibri" pitchFamily="34" charset="0"/>
                <a:ea typeface="Calibri" pitchFamily="34" charset="-122"/>
                <a:cs typeface="Calibri" pitchFamily="34" charset="-120"/>
              </a:rPr>
              <a:t>Part 1 · Foundations</a:t>
            </a:r>
            <a:endParaRPr lang="en-US" sz="1900" dirty="0"/>
          </a:p>
        </p:txBody>
      </p:sp>
      <p:sp>
        <p:nvSpPr>
          <p:cNvPr id="8" name="Text 5"/>
          <p:cNvSpPr txBox="1"/>
          <p:nvPr/>
        </p:nvSpPr>
        <p:spPr>
          <a:xfrm>
            <a:off x="1280160" y="1801368"/>
            <a:ext cx="6583680" cy="77724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A network learns its own features: linear layers interleaved with nonlinearities. Without g, depth collapses.</a:t>
            </a:r>
            <a:endParaRPr lang="en-US" sz="1700" dirty="0"/>
          </a:p>
        </p:txBody>
      </p:sp>
      <p:sp>
        <p:nvSpPr>
          <p:cNvPr id="9" name="Shape 6"/>
          <p:cNvSpPr/>
          <p:nvPr/>
        </p:nvSpPr>
        <p:spPr>
          <a:xfrm>
            <a:off x="548640" y="2715768"/>
            <a:ext cx="502920" cy="502920"/>
          </a:xfrm>
          <a:prstGeom prst="ellipse">
            <a:avLst/>
          </a:prstGeom>
          <a:solidFill>
            <a:srgbClr val="C8571B"/>
          </a:solidFill>
          <a:ln/>
        </p:spPr>
      </p:sp>
      <p:sp>
        <p:nvSpPr>
          <p:cNvPr id="10" name="Text 7"/>
          <p:cNvSpPr txBox="1"/>
          <p:nvPr/>
        </p:nvSpPr>
        <p:spPr>
          <a:xfrm>
            <a:off x="548640" y="271576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8"/>
          <p:cNvSpPr txBox="1"/>
          <p:nvPr/>
        </p:nvSpPr>
        <p:spPr>
          <a:xfrm>
            <a:off x="1280160" y="2624328"/>
            <a:ext cx="3657600" cy="384048"/>
          </a:xfrm>
          <a:prstGeom prst="rect">
            <a:avLst/>
          </a:prstGeom>
          <a:noFill/>
          <a:ln/>
        </p:spPr>
        <p:txBody>
          <a:bodyPr wrap="square" lIns="0" tIns="0" rIns="0" bIns="0" rtlCol="0" anchor="t"/>
          <a:lstStyle/>
          <a:p>
            <a:pPr indent="0" marL="0">
              <a:buNone/>
            </a:pPr>
            <a:r>
              <a:rPr lang="en-US" sz="1900" b="1" dirty="0">
                <a:solidFill>
                  <a:srgbClr val="C8571B"/>
                </a:solidFill>
                <a:latin typeface="Calibri" pitchFamily="34" charset="0"/>
                <a:ea typeface="Calibri" pitchFamily="34" charset="-122"/>
                <a:cs typeface="Calibri" pitchFamily="34" charset="-120"/>
              </a:rPr>
              <a:t>Part 2 · Learning</a:t>
            </a:r>
            <a:endParaRPr lang="en-US" sz="1900" dirty="0"/>
          </a:p>
        </p:txBody>
      </p:sp>
      <p:sp>
        <p:nvSpPr>
          <p:cNvPr id="12" name="Text 9"/>
          <p:cNvSpPr txBox="1"/>
          <p:nvPr/>
        </p:nvSpPr>
        <p:spPr>
          <a:xfrm>
            <a:off x="1280160" y="3008376"/>
            <a:ext cx="6583680" cy="77724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Losses are negative log-likelihoods; backprop gets every gradient for ≈ 3× a forward pass; the sharpest curvature caps η.</a:t>
            </a:r>
            <a:endParaRPr lang="en-US" sz="1700" dirty="0"/>
          </a:p>
        </p:txBody>
      </p:sp>
      <p:sp>
        <p:nvSpPr>
          <p:cNvPr id="13" name="Shape 10"/>
          <p:cNvSpPr/>
          <p:nvPr/>
        </p:nvSpPr>
        <p:spPr>
          <a:xfrm>
            <a:off x="548640" y="3922776"/>
            <a:ext cx="502920" cy="502920"/>
          </a:xfrm>
          <a:prstGeom prst="ellipse">
            <a:avLst/>
          </a:prstGeom>
          <a:solidFill>
            <a:srgbClr val="4C5BD4"/>
          </a:solidFill>
          <a:ln/>
        </p:spPr>
      </p:sp>
      <p:sp>
        <p:nvSpPr>
          <p:cNvPr id="14" name="Text 11"/>
          <p:cNvSpPr txBox="1"/>
          <p:nvPr/>
        </p:nvSpPr>
        <p:spPr>
          <a:xfrm>
            <a:off x="548640" y="3922776"/>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2"/>
          <p:cNvSpPr txBox="1"/>
          <p:nvPr/>
        </p:nvSpPr>
        <p:spPr>
          <a:xfrm>
            <a:off x="1280160" y="3831336"/>
            <a:ext cx="3657600" cy="384048"/>
          </a:xfrm>
          <a:prstGeom prst="rect">
            <a:avLst/>
          </a:prstGeom>
          <a:noFill/>
          <a:ln/>
        </p:spPr>
        <p:txBody>
          <a:bodyPr wrap="square" lIns="0" tIns="0" rIns="0" bIns="0" rtlCol="0" anchor="t"/>
          <a:lstStyle/>
          <a:p>
            <a:pPr indent="0" marL="0">
              <a:buNone/>
            </a:pPr>
            <a:r>
              <a:rPr lang="en-US" sz="1900" b="1" dirty="0">
                <a:solidFill>
                  <a:srgbClr val="4C5BD4"/>
                </a:solidFill>
                <a:latin typeface="Calibri" pitchFamily="34" charset="0"/>
                <a:ea typeface="Calibri" pitchFamily="34" charset="-122"/>
                <a:cs typeface="Calibri" pitchFamily="34" charset="-120"/>
              </a:rPr>
              <a:t>Part 3 · Train &amp; generalize</a:t>
            </a:r>
            <a:endParaRPr lang="en-US" sz="1900" dirty="0"/>
          </a:p>
        </p:txBody>
      </p:sp>
      <p:sp>
        <p:nvSpPr>
          <p:cNvPr id="16" name="Text 13"/>
          <p:cNvSpPr txBox="1"/>
          <p:nvPr/>
        </p:nvSpPr>
        <p:spPr>
          <a:xfrm>
            <a:off x="1280160" y="4215384"/>
            <a:ext cx="6583680" cy="77724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He init and residuals keep gradients alive; AdamW with warmup; normalize; diagnose the gap, then add data before regularizers.</a:t>
            </a:r>
            <a:endParaRPr lang="en-US" sz="1700" dirty="0"/>
          </a:p>
        </p:txBody>
      </p:sp>
      <p:sp>
        <p:nvSpPr>
          <p:cNvPr id="17" name="Shape 14"/>
          <p:cNvSpPr/>
          <p:nvPr/>
        </p:nvSpPr>
        <p:spPr>
          <a:xfrm>
            <a:off x="8092440" y="1417320"/>
            <a:ext cx="3547872" cy="3520440"/>
          </a:xfrm>
          <a:prstGeom prst="roundRect">
            <a:avLst>
              <a:gd name="adj" fmla="val 2078"/>
            </a:avLst>
          </a:prstGeom>
          <a:solidFill>
            <a:srgbClr val="E2F1F1"/>
          </a:solidFill>
          <a:ln/>
        </p:spPr>
      </p:sp>
      <p:sp>
        <p:nvSpPr>
          <p:cNvPr id="18" name="Text 15"/>
          <p:cNvSpPr txBox="1"/>
          <p:nvPr/>
        </p:nvSpPr>
        <p:spPr>
          <a:xfrm>
            <a:off x="8293608" y="1581912"/>
            <a:ext cx="3200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BEFORE NEXT SESSION</a:t>
            </a:r>
            <a:endParaRPr lang="en-US" sz="1300" dirty="0"/>
          </a:p>
        </p:txBody>
      </p:sp>
      <p:sp>
        <p:nvSpPr>
          <p:cNvPr id="19" name="Text 16"/>
          <p:cNvSpPr txBox="1"/>
          <p:nvPr/>
        </p:nvSpPr>
        <p:spPr>
          <a:xfrm>
            <a:off x="8293608" y="1965960"/>
            <a:ext cx="3246120" cy="283464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17202E"/>
                </a:solidFill>
                <a:latin typeface="Calibri" pitchFamily="34" charset="0"/>
                <a:ea typeface="Calibri" pitchFamily="34" charset="-122"/>
                <a:cs typeface="Calibri" pitchFamily="34" charset="-120"/>
              </a:rPr>
              <a:t>Build the Fashion-MNIST MLP</a:t>
            </a:r>
            <a:endParaRPr lang="en-US" sz="1700" dirty="0"/>
          </a:p>
          <a:p>
            <a:pPr marL="342900" indent="-342900">
              <a:spcAft>
                <a:spcPts val="600"/>
              </a:spcAft>
              <a:buSzPct val="100000"/>
              <a:buChar char="•"/>
            </a:pPr>
            <a:r>
              <a:rPr lang="en-US" sz="1700" dirty="0">
                <a:solidFill>
                  <a:srgbClr val="17202E"/>
                </a:solidFill>
                <a:latin typeface="Calibri" pitchFamily="34" charset="0"/>
                <a:ea typeface="Calibri" pitchFamily="34" charset="-122"/>
                <a:cs typeface="Calibri" pitchFamily="34" charset="-120"/>
              </a:rPr>
              <a:t>Check: 109,386 parameters</a:t>
            </a:r>
            <a:endParaRPr lang="en-US" sz="1700" dirty="0"/>
          </a:p>
          <a:p>
            <a:pPr marL="342900" indent="-342900">
              <a:spcAft>
                <a:spcPts val="600"/>
              </a:spcAft>
              <a:buSzPct val="100000"/>
              <a:buChar char="•"/>
            </a:pPr>
            <a:r>
              <a:rPr lang="en-US" sz="1700" dirty="0">
                <a:solidFill>
                  <a:srgbClr val="17202E"/>
                </a:solidFill>
                <a:latin typeface="Calibri" pitchFamily="34" charset="0"/>
                <a:ea typeface="Calibri" pitchFamily="34" charset="-122"/>
                <a:cs typeface="Calibri" pitchFamily="34" charset="-120"/>
              </a:rPr>
              <a:t>Check: first loss ≈ 2.3 – 3</a:t>
            </a:r>
            <a:endParaRPr lang="en-US" sz="1700" dirty="0"/>
          </a:p>
          <a:p>
            <a:pPr marL="342900" indent="-342900">
              <a:spcAft>
                <a:spcPts val="600"/>
              </a:spcAft>
              <a:buSzPct val="100000"/>
              <a:buChar char="•"/>
            </a:pPr>
            <a:r>
              <a:rPr lang="en-US" sz="1700" dirty="0">
                <a:solidFill>
                  <a:srgbClr val="17202E"/>
                </a:solidFill>
                <a:latin typeface="Calibri" pitchFamily="34" charset="0"/>
                <a:ea typeface="Calibri" pitchFamily="34" charset="-122"/>
                <a:cs typeface="Calibri" pitchFamily="34" charset="-120"/>
              </a:rPr>
              <a:t>Overfit 100 images</a:t>
            </a:r>
            <a:endParaRPr lang="en-US" sz="1700" dirty="0"/>
          </a:p>
          <a:p>
            <a:pPr marL="342900" indent="-342900">
              <a:spcAft>
                <a:spcPts val="600"/>
              </a:spcAft>
              <a:buSzPct val="100000"/>
              <a:buChar char="•"/>
            </a:pPr>
            <a:r>
              <a:rPr lang="en-US" sz="1700" dirty="0">
                <a:solidFill>
                  <a:srgbClr val="17202E"/>
                </a:solidFill>
                <a:latin typeface="Calibri" pitchFamily="34" charset="0"/>
                <a:ea typeface="Calibri" pitchFamily="34" charset="-122"/>
                <a:cs typeface="Calibri" pitchFamily="34" charset="-120"/>
              </a:rPr>
              <a:t>Train fully; plot both curves</a:t>
            </a:r>
            <a:endParaRPr lang="en-US" sz="1700" dirty="0"/>
          </a:p>
        </p:txBody>
      </p:sp>
      <p:sp>
        <p:nvSpPr>
          <p:cNvPr id="20" name="Shape 17"/>
          <p:cNvSpPr/>
          <p:nvPr/>
        </p:nvSpPr>
        <p:spPr>
          <a:xfrm>
            <a:off x="548640" y="5257800"/>
            <a:ext cx="11094415" cy="868680"/>
          </a:xfrm>
          <a:prstGeom prst="roundRect">
            <a:avLst>
              <a:gd name="adj" fmla="val 8421"/>
            </a:avLst>
          </a:prstGeom>
          <a:solidFill>
            <a:srgbClr val="17202E"/>
          </a:solidFill>
          <a:ln/>
        </p:spPr>
      </p:sp>
      <p:sp>
        <p:nvSpPr>
          <p:cNvPr id="21" name="Text 18"/>
          <p:cNvSpPr txBox="1"/>
          <p:nvPr/>
        </p:nvSpPr>
        <p:spPr>
          <a:xfrm>
            <a:off x="749808" y="5303520"/>
            <a:ext cx="10692079" cy="7772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Exit ticket (1 minute): what was the muddiest point today?</a:t>
            </a:r>
            <a:endParaRPr lang="en-US" sz="2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APPENDIX  ·  FOR STUDY AND REFERENCE</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Appendix</a:t>
            </a:r>
            <a:endParaRPr lang="en-US" sz="3600" dirty="0"/>
          </a:p>
        </p:txBody>
      </p:sp>
      <p:sp>
        <p:nvSpPr>
          <p:cNvPr id="4" name="Text 2"/>
          <p:cNvSpPr txBox="1"/>
          <p:nvPr/>
        </p:nvSpPr>
        <p:spPr>
          <a:xfrm>
            <a:off x="548640" y="3566160"/>
            <a:ext cx="4937760" cy="2377440"/>
          </a:xfrm>
          <a:prstGeom prst="rect">
            <a:avLst/>
          </a:prstGeom>
          <a:noFill/>
          <a:ln/>
        </p:spPr>
        <p:txBody>
          <a:bodyPr wrap="square" lIns="0" tIns="0" rIns="0" bIns="0" rtlCol="0" anchor="t"/>
          <a:lstStyle/>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A1  Quick-check answers</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A2  Notation</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A3  Why deep? Depth separations</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A4  From 1943 to 2026</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A5  When not to use a neural network</a:t>
            </a:r>
            <a:endParaRPr lang="en-US" sz="1800" dirty="0"/>
          </a:p>
        </p:txBody>
      </p:sp>
      <p:sp>
        <p:nvSpPr>
          <p:cNvPr id="5" name="Text 3"/>
          <p:cNvSpPr txBox="1"/>
          <p:nvPr/>
        </p:nvSpPr>
        <p:spPr>
          <a:xfrm>
            <a:off x="5669280" y="3566160"/>
            <a:ext cx="4937760" cy="2377440"/>
          </a:xfrm>
          <a:prstGeom prst="rect">
            <a:avLst/>
          </a:prstGeom>
          <a:noFill/>
          <a:ln/>
        </p:spPr>
        <p:txBody>
          <a:bodyPr wrap="square" lIns="0" tIns="0" rIns="0" bIns="0" rtlCol="0" anchor="t"/>
          <a:lstStyle/>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A6  PyTorch loss and target formats</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A7  Normalization variants</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A8  Scheduler stepping</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A9  Gradient checking</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A10  References</a:t>
            </a:r>
            <a:endParaRPr lang="en-US" sz="1800" dirty="0"/>
          </a:p>
        </p:txBody>
      </p:sp>
      <p:sp>
        <p:nvSpPr>
          <p:cNvPr id="7"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A1 · QUICK-CHECK ANSWERS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Quick-check answers (1–4)</a:t>
            </a:r>
            <a:endParaRPr lang="en-US" sz="3200" dirty="0"/>
          </a:p>
        </p:txBody>
      </p:sp>
      <p:sp>
        <p:nvSpPr>
          <p:cNvPr id="5" name="Shape 2"/>
          <p:cNvSpPr/>
          <p:nvPr/>
        </p:nvSpPr>
        <p:spPr>
          <a:xfrm>
            <a:off x="548640" y="1463040"/>
            <a:ext cx="457200" cy="457200"/>
          </a:xfrm>
          <a:prstGeom prst="ellipse">
            <a:avLst/>
          </a:prstGeom>
          <a:solidFill>
            <a:srgbClr val="2B3A4F"/>
          </a:solidFill>
          <a:ln/>
        </p:spPr>
      </p:sp>
      <p:sp>
        <p:nvSpPr>
          <p:cNvPr id="6" name="Text 3"/>
          <p:cNvSpPr txBox="1"/>
          <p:nvPr/>
        </p:nvSpPr>
        <p:spPr>
          <a:xfrm>
            <a:off x="548640" y="1463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1234440" y="141732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C: </a:t>
            </a:r>
            <a:pPr indent="0" marL="0">
              <a:buNone/>
            </a:pPr>
            <a:r>
              <a:rPr lang="en-US" sz="1800" b="1" dirty="0">
                <a:solidFill>
                  <a:srgbClr val="17202E"/>
                </a:solidFill>
                <a:latin typeface="Calibri" pitchFamily="34" charset="0"/>
                <a:ea typeface="Calibri" pitchFamily="34" charset="-122"/>
                <a:cs typeface="Calibri" pitchFamily="34" charset="-120"/>
              </a:rPr>
              <a:t>Only a straight line (a hyperplane)</a:t>
            </a:r>
            <a:endParaRPr lang="en-US" sz="1800" dirty="0"/>
          </a:p>
        </p:txBody>
      </p:sp>
      <p:sp>
        <p:nvSpPr>
          <p:cNvPr id="8" name="Text 5"/>
          <p:cNvSpPr txBox="1"/>
          <p:nvPr/>
        </p:nvSpPr>
        <p:spPr>
          <a:xfrm>
            <a:off x="1234440" y="1801368"/>
            <a:ext cx="10408615" cy="74752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Compositions of linear maps are linear, so the whole network is ŷ = W′x + b′; its boundary is a hyperplane regardless of width or depth.</a:t>
            </a:r>
            <a:endParaRPr lang="en-US" sz="1500" dirty="0"/>
          </a:p>
        </p:txBody>
      </p:sp>
      <p:sp>
        <p:nvSpPr>
          <p:cNvPr id="9" name="Shape 6"/>
          <p:cNvSpPr/>
          <p:nvPr/>
        </p:nvSpPr>
        <p:spPr>
          <a:xfrm>
            <a:off x="548640" y="2640330"/>
            <a:ext cx="457200" cy="457200"/>
          </a:xfrm>
          <a:prstGeom prst="ellipse">
            <a:avLst/>
          </a:prstGeom>
          <a:solidFill>
            <a:srgbClr val="2B3A4F"/>
          </a:solidFill>
          <a:ln/>
        </p:spPr>
      </p:sp>
      <p:sp>
        <p:nvSpPr>
          <p:cNvPr id="10" name="Text 7"/>
          <p:cNvSpPr txBox="1"/>
          <p:nvPr/>
        </p:nvSpPr>
        <p:spPr>
          <a:xfrm>
            <a:off x="548640" y="264033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8"/>
          <p:cNvSpPr txBox="1"/>
          <p:nvPr/>
        </p:nvSpPr>
        <p:spPr>
          <a:xfrm>
            <a:off x="1234440" y="259461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B: </a:t>
            </a:r>
            <a:pPr indent="0" marL="0">
              <a:buNone/>
            </a:pPr>
            <a:r>
              <a:rPr lang="en-US" sz="1800" b="1" dirty="0">
                <a:solidFill>
                  <a:srgbClr val="17202E"/>
                </a:solidFill>
                <a:latin typeface="Calibri" pitchFamily="34" charset="0"/>
                <a:ea typeface="Calibri" pitchFamily="34" charset="-122"/>
                <a:cs typeface="Calibri" pitchFamily="34" charset="-120"/>
              </a:rPr>
              <a:t>(128, 784)</a:t>
            </a:r>
            <a:endParaRPr lang="en-US" sz="1800" dirty="0"/>
          </a:p>
        </p:txBody>
      </p:sp>
      <p:sp>
        <p:nvSpPr>
          <p:cNvPr id="12" name="Text 9"/>
          <p:cNvSpPr txBox="1"/>
          <p:nvPr/>
        </p:nvSpPr>
        <p:spPr>
          <a:xfrm>
            <a:off x="1234440" y="2978658"/>
            <a:ext cx="10408615" cy="74752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PyTorch stores weights as (out_features, in_features) — one row per output unit, the maths layout — and computes x @ W.T + b.</a:t>
            </a:r>
            <a:endParaRPr lang="en-US" sz="1500" dirty="0"/>
          </a:p>
        </p:txBody>
      </p:sp>
      <p:sp>
        <p:nvSpPr>
          <p:cNvPr id="13" name="Shape 10"/>
          <p:cNvSpPr/>
          <p:nvPr/>
        </p:nvSpPr>
        <p:spPr>
          <a:xfrm>
            <a:off x="548640" y="3817620"/>
            <a:ext cx="457200" cy="457200"/>
          </a:xfrm>
          <a:prstGeom prst="ellipse">
            <a:avLst/>
          </a:prstGeom>
          <a:solidFill>
            <a:srgbClr val="2B3A4F"/>
          </a:solidFill>
          <a:ln/>
        </p:spPr>
      </p:sp>
      <p:sp>
        <p:nvSpPr>
          <p:cNvPr id="14" name="Text 11"/>
          <p:cNvSpPr txBox="1"/>
          <p:nvPr/>
        </p:nvSpPr>
        <p:spPr>
          <a:xfrm>
            <a:off x="548640" y="38176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2"/>
          <p:cNvSpPr txBox="1"/>
          <p:nvPr/>
        </p:nvSpPr>
        <p:spPr>
          <a:xfrm>
            <a:off x="1234440" y="377190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B: </a:t>
            </a:r>
            <a:pPr indent="0" marL="0">
              <a:buNone/>
            </a:pPr>
            <a:r>
              <a:rPr lang="en-US" sz="1800" b="1" dirty="0">
                <a:solidFill>
                  <a:srgbClr val="17202E"/>
                </a:solidFill>
                <a:latin typeface="Calibri" pitchFamily="34" charset="0"/>
                <a:ea typeface="Calibri" pitchFamily="34" charset="-122"/>
                <a:cs typeface="Calibri" pitchFamily="34" charset="-120"/>
              </a:rPr>
              <a:t>Softmax is applied before nn.CrossEntropyLoss</a:t>
            </a:r>
            <a:endParaRPr lang="en-US" sz="1800" dirty="0"/>
          </a:p>
        </p:txBody>
      </p:sp>
      <p:sp>
        <p:nvSpPr>
          <p:cNvPr id="16" name="Text 13"/>
          <p:cNvSpPr txBox="1"/>
          <p:nvPr/>
        </p:nvSpPr>
        <p:spPr>
          <a:xfrm>
            <a:off x="1234440" y="4155948"/>
            <a:ext cx="10408615" cy="74752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CrossEntropyLoss already applies log-softmax. Feeding it probabilities bounds the loss between ln(K−1+e) − 1 ≈ 1.46 and ≈ 2.46 for K = 10, so it can never approach 0. Our real run plateaued at 1.56.</a:t>
            </a:r>
            <a:endParaRPr lang="en-US" sz="1500" dirty="0"/>
          </a:p>
        </p:txBody>
      </p:sp>
      <p:sp>
        <p:nvSpPr>
          <p:cNvPr id="17" name="Shape 14"/>
          <p:cNvSpPr/>
          <p:nvPr/>
        </p:nvSpPr>
        <p:spPr>
          <a:xfrm>
            <a:off x="548640" y="4994910"/>
            <a:ext cx="457200" cy="457200"/>
          </a:xfrm>
          <a:prstGeom prst="ellipse">
            <a:avLst/>
          </a:prstGeom>
          <a:solidFill>
            <a:srgbClr val="2B3A4F"/>
          </a:solidFill>
          <a:ln/>
        </p:spPr>
      </p:sp>
      <p:sp>
        <p:nvSpPr>
          <p:cNvPr id="18" name="Text 15"/>
          <p:cNvSpPr txBox="1"/>
          <p:nvPr/>
        </p:nvSpPr>
        <p:spPr>
          <a:xfrm>
            <a:off x="548640" y="499491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6"/>
          <p:cNvSpPr txBox="1"/>
          <p:nvPr/>
        </p:nvSpPr>
        <p:spPr>
          <a:xfrm>
            <a:off x="1234440" y="494919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B: </a:t>
            </a:r>
            <a:pPr indent="0" marL="0">
              <a:buNone/>
            </a:pPr>
            <a:r>
              <a:rPr lang="en-US" sz="1800" b="1" dirty="0">
                <a:solidFill>
                  <a:srgbClr val="17202E"/>
                </a:solidFill>
                <a:latin typeface="Calibri" pitchFamily="34" charset="0"/>
                <a:ea typeface="Calibri" pitchFamily="34" charset="-122"/>
                <a:cs typeface="Calibri" pitchFamily="34" charset="-120"/>
              </a:rPr>
              <a:t>Exactly 0</a:t>
            </a:r>
            <a:endParaRPr lang="en-US" sz="1800" dirty="0"/>
          </a:p>
        </p:txBody>
      </p:sp>
      <p:sp>
        <p:nvSpPr>
          <p:cNvPr id="20" name="Text 17"/>
          <p:cNvSpPr txBox="1"/>
          <p:nvPr/>
        </p:nvSpPr>
        <p:spPr>
          <a:xfrm>
            <a:off x="1234440" y="5333238"/>
            <a:ext cx="10408615" cy="74752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Layer 1's error arrives only through w₂: ∂L/∂a₁ = δ₂·w₂ = 0, so δ₁ = 0 and ∂L/∂w₁ = δ₁·x = 0. Vanishing gradients and dead units block learning by the same mechanism.</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A1 · QUICK-CHECK ANSWERS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Quick-check answers (5–7)</a:t>
            </a:r>
            <a:endParaRPr lang="en-US" sz="3200" dirty="0"/>
          </a:p>
        </p:txBody>
      </p:sp>
      <p:sp>
        <p:nvSpPr>
          <p:cNvPr id="5" name="Shape 2"/>
          <p:cNvSpPr/>
          <p:nvPr/>
        </p:nvSpPr>
        <p:spPr>
          <a:xfrm>
            <a:off x="548640" y="1463040"/>
            <a:ext cx="457200" cy="457200"/>
          </a:xfrm>
          <a:prstGeom prst="ellipse">
            <a:avLst/>
          </a:prstGeom>
          <a:solidFill>
            <a:srgbClr val="2B3A4F"/>
          </a:solidFill>
          <a:ln/>
        </p:spPr>
      </p:sp>
      <p:sp>
        <p:nvSpPr>
          <p:cNvPr id="6" name="Text 3"/>
          <p:cNvSpPr txBox="1"/>
          <p:nvPr/>
        </p:nvSpPr>
        <p:spPr>
          <a:xfrm>
            <a:off x="548640" y="1463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7" name="Text 4"/>
          <p:cNvSpPr txBox="1"/>
          <p:nvPr/>
        </p:nvSpPr>
        <p:spPr>
          <a:xfrm>
            <a:off x="1234440" y="141732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B: </a:t>
            </a:r>
            <a:pPr indent="0" marL="0">
              <a:buNone/>
            </a:pPr>
            <a:r>
              <a:rPr lang="en-US" sz="1800" b="1" dirty="0">
                <a:solidFill>
                  <a:srgbClr val="17202E"/>
                </a:solidFill>
                <a:latin typeface="Calibri" pitchFamily="34" charset="0"/>
                <a:ea typeface="Calibri" pitchFamily="34" charset="-122"/>
                <a:cs typeface="Calibri" pitchFamily="34" charset="-120"/>
              </a:rPr>
              <a:t>√(2/512) = 0.0625</a:t>
            </a:r>
            <a:endParaRPr lang="en-US" sz="1800" dirty="0"/>
          </a:p>
        </p:txBody>
      </p:sp>
      <p:sp>
        <p:nvSpPr>
          <p:cNvPr id="8" name="Text 5"/>
          <p:cNvSpPr txBox="1"/>
          <p:nvPr/>
        </p:nvSpPr>
        <p:spPr>
          <a:xfrm>
            <a:off x="1234440" y="1801368"/>
            <a:ext cx="10408615" cy="113995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He uses Var(w) = 2/n_in with n_in = 512 (fan-in, not fan-out): std = √(2/512) = 0.0625. A is LeCun (no ReLU correction); D wrongly uses fan-out.</a:t>
            </a:r>
            <a:endParaRPr lang="en-US" sz="1500" dirty="0"/>
          </a:p>
        </p:txBody>
      </p:sp>
      <p:sp>
        <p:nvSpPr>
          <p:cNvPr id="9" name="Shape 6"/>
          <p:cNvSpPr/>
          <p:nvPr/>
        </p:nvSpPr>
        <p:spPr>
          <a:xfrm>
            <a:off x="548640" y="3032760"/>
            <a:ext cx="457200" cy="457200"/>
          </a:xfrm>
          <a:prstGeom prst="ellipse">
            <a:avLst/>
          </a:prstGeom>
          <a:solidFill>
            <a:srgbClr val="2B3A4F"/>
          </a:solidFill>
          <a:ln/>
        </p:spPr>
      </p:sp>
      <p:sp>
        <p:nvSpPr>
          <p:cNvPr id="10" name="Text 7"/>
          <p:cNvSpPr txBox="1"/>
          <p:nvPr/>
        </p:nvSpPr>
        <p:spPr>
          <a:xfrm>
            <a:off x="548640" y="30327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1" name="Text 8"/>
          <p:cNvSpPr txBox="1"/>
          <p:nvPr/>
        </p:nvSpPr>
        <p:spPr>
          <a:xfrm>
            <a:off x="1234440" y="298704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A: </a:t>
            </a:r>
            <a:pPr indent="0" marL="0">
              <a:buNone/>
            </a:pPr>
            <a:r>
              <a:rPr lang="en-US" sz="1800" b="1" dirty="0">
                <a:solidFill>
                  <a:srgbClr val="17202E"/>
                </a:solidFill>
                <a:latin typeface="Calibri" pitchFamily="34" charset="0"/>
                <a:ea typeface="Calibri" pitchFamily="34" charset="-122"/>
                <a:cs typeface="Calibri" pitchFamily="34" charset="-120"/>
              </a:rPr>
              <a:t>Lower η to about 0.01</a:t>
            </a:r>
            <a:endParaRPr lang="en-US" sz="1800" dirty="0"/>
          </a:p>
        </p:txBody>
      </p:sp>
      <p:sp>
        <p:nvSpPr>
          <p:cNvPr id="12" name="Text 9"/>
          <p:cNvSpPr txBox="1"/>
          <p:nvPr/>
        </p:nvSpPr>
        <p:spPr>
          <a:xfrm>
            <a:off x="1234440" y="3371088"/>
            <a:ext cx="10408615" cy="113995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With consistent gradients the velocity grows to g/(1 − β) = 10g, so η = 0.1 now behaves like 1.0. Divide η by about 10. Raising β makes it worse.</a:t>
            </a:r>
            <a:endParaRPr lang="en-US" sz="1500" dirty="0"/>
          </a:p>
        </p:txBody>
      </p:sp>
      <p:sp>
        <p:nvSpPr>
          <p:cNvPr id="13" name="Shape 10"/>
          <p:cNvSpPr/>
          <p:nvPr/>
        </p:nvSpPr>
        <p:spPr>
          <a:xfrm>
            <a:off x="548640" y="4602480"/>
            <a:ext cx="457200" cy="457200"/>
          </a:xfrm>
          <a:prstGeom prst="ellipse">
            <a:avLst/>
          </a:prstGeom>
          <a:solidFill>
            <a:srgbClr val="2B3A4F"/>
          </a:solidFill>
          <a:ln/>
        </p:spPr>
      </p:sp>
      <p:sp>
        <p:nvSpPr>
          <p:cNvPr id="14" name="Text 11"/>
          <p:cNvSpPr txBox="1"/>
          <p:nvPr/>
        </p:nvSpPr>
        <p:spPr>
          <a:xfrm>
            <a:off x="548640" y="46024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15" name="Text 12"/>
          <p:cNvSpPr txBox="1"/>
          <p:nvPr/>
        </p:nvSpPr>
        <p:spPr>
          <a:xfrm>
            <a:off x="1234440" y="455676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B: </a:t>
            </a:r>
            <a:pPr indent="0" marL="0">
              <a:buNone/>
            </a:pPr>
            <a:r>
              <a:rPr lang="en-US" sz="1800" b="1" dirty="0">
                <a:solidFill>
                  <a:srgbClr val="17202E"/>
                </a:solidFill>
                <a:latin typeface="Calibri" pitchFamily="34" charset="0"/>
                <a:ea typeface="Calibri" pitchFamily="34" charset="-122"/>
                <a:cs typeface="Calibri" pitchFamily="34" charset="-120"/>
              </a:rPr>
              <a:t>Start from a pretrained model and add augmentation</a:t>
            </a:r>
            <a:endParaRPr lang="en-US" sz="1800" dirty="0"/>
          </a:p>
        </p:txBody>
      </p:sp>
      <p:sp>
        <p:nvSpPr>
          <p:cNvPr id="16" name="Text 13"/>
          <p:cNvSpPr txBox="1"/>
          <p:nvPr/>
        </p:nvSpPr>
        <p:spPr>
          <a:xfrm>
            <a:off x="1234440" y="4940808"/>
            <a:ext cx="10408615" cy="113995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Severe overfitting on a small dataset: transfer learning plus augmentation (effectively more data) usually gives the largest gain; then weight decay with early stopping. Training longer makes overfitting worse; shrinking the model is the last resort.</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A2 · NOTATION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Notation used all session</a:t>
            </a:r>
            <a:endParaRPr lang="en-US" sz="32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463040"/>
                <a:gridCol w="4023360"/>
                <a:gridCol w="1463040"/>
                <a:gridCol w="4142232"/>
              </a:tblGrid>
              <a:tr h="54864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Symbol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Meaning</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Symbol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Meaning</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x, 𝐱, 𝐖</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scalar, vector, matrix</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z[l]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pre-activation of layer 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x(i)</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the i-th training example</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a[l]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activation of layer l; a[0] = x</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W[l], b[l]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weights, bias of layer 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g, g′</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activation, its derivative</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n[l]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units in layer 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ŷ, y</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prediction, target</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m</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examples in a mini-batch</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δ[l]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error signal ∂L/∂z[l]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η</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learning rate</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L, J</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loss on one example; batch mean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6" name="Text 2"/>
          <p:cNvSpPr txBox="1"/>
          <p:nvPr/>
        </p:nvSpPr>
        <p:spPr>
          <a:xfrm>
            <a:off x="548640" y="5486400"/>
            <a:ext cx="11094415" cy="6400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Derivations: one example is a column vector. PyTorch: a batch stores examples as rows, so nn.Linear computes x @ W.T + b.</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A3 · WHY DEEP?</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Why deep? Composition multiplies what each layer can do</a:t>
            </a:r>
            <a:endParaRPr lang="en-US" sz="3200" dirty="0"/>
          </a:p>
        </p:txBody>
      </p:sp>
      <p:pic>
        <p:nvPicPr>
          <p:cNvPr id="5" name="Image 0" descr="Repeatedly composing a tent map: 1 to 4 layers give 2, 4, 8 and 16 linear pieces.">    </p:cNvPr>
          <p:cNvPicPr>
            <a:picLocks noChangeAspect="1"/>
          </p:cNvPicPr>
          <p:nvPr/>
        </p:nvPicPr>
        <p:blipFill>
          <a:blip r:embed="rId1"/>
          <a:stretch>
            <a:fillRect/>
          </a:stretch>
        </p:blipFill>
        <p:spPr>
          <a:xfrm>
            <a:off x="548640" y="1713597"/>
            <a:ext cx="5303520" cy="3888006"/>
          </a:xfrm>
          <a:prstGeom prst="rect">
            <a:avLst/>
          </a:prstGeom>
        </p:spPr>
      </p:pic>
      <p:sp>
        <p:nvSpPr>
          <p:cNvPr id="6" name="Shape 2"/>
          <p:cNvSpPr/>
          <p:nvPr/>
        </p:nvSpPr>
        <p:spPr>
          <a:xfrm>
            <a:off x="6126480" y="1463040"/>
            <a:ext cx="402336" cy="402336"/>
          </a:xfrm>
          <a:prstGeom prst="ellipse">
            <a:avLst/>
          </a:prstGeom>
          <a:solidFill>
            <a:srgbClr val="0F7C82"/>
          </a:solidFill>
          <a:ln/>
        </p:spPr>
      </p:sp>
      <p:sp>
        <p:nvSpPr>
          <p:cNvPr id="7" name="Text 3"/>
          <p:cNvSpPr txBox="1"/>
          <p:nvPr/>
        </p:nvSpPr>
        <p:spPr>
          <a:xfrm>
            <a:off x="6126480" y="14630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4"/>
          <p:cNvSpPr txBox="1"/>
          <p:nvPr/>
        </p:nvSpPr>
        <p:spPr>
          <a:xfrm>
            <a:off x="6729984" y="1444752"/>
            <a:ext cx="49103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Each layer can fold the input</a:t>
            </a:r>
            <a:endParaRPr lang="en-US" sz="1800" dirty="0"/>
          </a:p>
        </p:txBody>
      </p:sp>
      <p:sp>
        <p:nvSpPr>
          <p:cNvPr id="9" name="Text 5"/>
          <p:cNvSpPr txBox="1"/>
          <p:nvPr/>
        </p:nvSpPr>
        <p:spPr>
          <a:xfrm>
            <a:off x="6729984" y="1810512"/>
            <a:ext cx="4910328"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k layers, constant width: 2ᵏ pieces.</a:t>
            </a:r>
            <a:endParaRPr lang="en-US" sz="1600" dirty="0"/>
          </a:p>
        </p:txBody>
      </p:sp>
      <p:sp>
        <p:nvSpPr>
          <p:cNvPr id="10" name="Shape 6"/>
          <p:cNvSpPr/>
          <p:nvPr/>
        </p:nvSpPr>
        <p:spPr>
          <a:xfrm>
            <a:off x="6126480" y="2788920"/>
            <a:ext cx="402336" cy="402336"/>
          </a:xfrm>
          <a:prstGeom prst="ellipse">
            <a:avLst/>
          </a:prstGeom>
          <a:solidFill>
            <a:srgbClr val="0F7C82"/>
          </a:solidFill>
          <a:ln/>
        </p:spPr>
      </p:sp>
      <p:sp>
        <p:nvSpPr>
          <p:cNvPr id="11" name="Text 7"/>
          <p:cNvSpPr txBox="1"/>
          <p:nvPr/>
        </p:nvSpPr>
        <p:spPr>
          <a:xfrm>
            <a:off x="6126480" y="278892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8"/>
          <p:cNvSpPr txBox="1"/>
          <p:nvPr/>
        </p:nvSpPr>
        <p:spPr>
          <a:xfrm>
            <a:off x="6729984" y="2770632"/>
            <a:ext cx="49103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Proven separations</a:t>
            </a:r>
            <a:endParaRPr lang="en-US" sz="1800" dirty="0"/>
          </a:p>
        </p:txBody>
      </p:sp>
      <p:sp>
        <p:nvSpPr>
          <p:cNvPr id="13" name="Text 9"/>
          <p:cNvSpPr txBox="1"/>
          <p:nvPr/>
        </p:nvSpPr>
        <p:spPr>
          <a:xfrm>
            <a:off x="6729984" y="3136392"/>
            <a:ext cx="4910328"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Θ(k³) layers × Θ(1) width vs O(k) layers needing Ω(2ᵏ) nodes (Telgarsky, 2016).</a:t>
            </a:r>
            <a:endParaRPr lang="en-US" sz="1600" dirty="0"/>
          </a:p>
        </p:txBody>
      </p:sp>
      <p:sp>
        <p:nvSpPr>
          <p:cNvPr id="14" name="Shape 10"/>
          <p:cNvSpPr/>
          <p:nvPr/>
        </p:nvSpPr>
        <p:spPr>
          <a:xfrm>
            <a:off x="6126480" y="4114800"/>
            <a:ext cx="402336" cy="402336"/>
          </a:xfrm>
          <a:prstGeom prst="ellipse">
            <a:avLst/>
          </a:prstGeom>
          <a:solidFill>
            <a:srgbClr val="C8571B"/>
          </a:solidFill>
          <a:ln/>
        </p:spPr>
      </p:sp>
      <p:sp>
        <p:nvSpPr>
          <p:cNvPr id="15" name="Text 11"/>
          <p:cNvSpPr txBox="1"/>
          <p:nvPr/>
        </p:nvSpPr>
        <p:spPr>
          <a:xfrm>
            <a:off x="6126480" y="41148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2"/>
          <p:cNvSpPr txBox="1"/>
          <p:nvPr/>
        </p:nvSpPr>
        <p:spPr>
          <a:xfrm>
            <a:off x="6729984" y="4096512"/>
            <a:ext cx="49103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Honest caveat</a:t>
            </a:r>
            <a:endParaRPr lang="en-US" sz="1800" dirty="0"/>
          </a:p>
        </p:txBody>
      </p:sp>
      <p:sp>
        <p:nvSpPr>
          <p:cNvPr id="17" name="Text 13"/>
          <p:cNvSpPr txBox="1"/>
          <p:nvPr/>
        </p:nvSpPr>
        <p:spPr>
          <a:xfrm>
            <a:off x="6729984" y="4462272"/>
            <a:ext cx="4910328"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Worst-case constructions; the benefit on real data is empirical.</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A4 · HISTORY</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From 1943 to 2026: the algorithm was not the bottleneck</a:t>
            </a:r>
            <a:endParaRPr lang="en-US" sz="3200" dirty="0"/>
          </a:p>
        </p:txBody>
      </p:sp>
      <p:sp>
        <p:nvSpPr>
          <p:cNvPr id="5" name="Shape 2"/>
          <p:cNvSpPr/>
          <p:nvPr/>
        </p:nvSpPr>
        <p:spPr>
          <a:xfrm>
            <a:off x="1097280" y="3108960"/>
            <a:ext cx="9997135" cy="91"/>
          </a:xfrm>
          <a:prstGeom prst="line">
            <a:avLst/>
          </a:prstGeom>
          <a:noFill/>
          <a:ln w="25400">
            <a:solidFill>
              <a:srgbClr val="8A94A3"/>
            </a:solidFill>
            <a:prstDash val="solid"/>
          </a:ln>
        </p:spPr>
      </p:sp>
      <p:sp>
        <p:nvSpPr>
          <p:cNvPr id="6" name="Shape 3"/>
          <p:cNvSpPr/>
          <p:nvPr/>
        </p:nvSpPr>
        <p:spPr>
          <a:xfrm>
            <a:off x="969264" y="2980944"/>
            <a:ext cx="256032" cy="256032"/>
          </a:xfrm>
          <a:prstGeom prst="ellipse">
            <a:avLst/>
          </a:prstGeom>
          <a:solidFill>
            <a:srgbClr val="0F7C82"/>
          </a:solidFill>
          <a:ln/>
        </p:spPr>
      </p:sp>
      <p:sp>
        <p:nvSpPr>
          <p:cNvPr id="7" name="Text 4"/>
          <p:cNvSpPr txBox="1"/>
          <p:nvPr/>
        </p:nvSpPr>
        <p:spPr>
          <a:xfrm>
            <a:off x="457200"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1943</a:t>
            </a:r>
            <a:endParaRPr lang="en-US" sz="1800" dirty="0"/>
          </a:p>
        </p:txBody>
      </p:sp>
      <p:sp>
        <p:nvSpPr>
          <p:cNvPr id="8" name="Text 5"/>
          <p:cNvSpPr txBox="1"/>
          <p:nvPr/>
        </p:nvSpPr>
        <p:spPr>
          <a:xfrm>
            <a:off x="411480"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McCulloch &amp; Pitts</a:t>
            </a:r>
            <a:endParaRPr lang="en-US" sz="1400" dirty="0"/>
          </a:p>
        </p:txBody>
      </p:sp>
      <p:sp>
        <p:nvSpPr>
          <p:cNvPr id="9" name="Text 6"/>
          <p:cNvSpPr txBox="1"/>
          <p:nvPr/>
        </p:nvSpPr>
        <p:spPr>
          <a:xfrm>
            <a:off x="411480" y="269748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threshold neuron</a:t>
            </a:r>
            <a:endParaRPr lang="en-US" sz="1300" dirty="0"/>
          </a:p>
        </p:txBody>
      </p:sp>
      <p:sp>
        <p:nvSpPr>
          <p:cNvPr id="10" name="Shape 7"/>
          <p:cNvSpPr/>
          <p:nvPr/>
        </p:nvSpPr>
        <p:spPr>
          <a:xfrm>
            <a:off x="2080057" y="2980944"/>
            <a:ext cx="256032" cy="256032"/>
          </a:xfrm>
          <a:prstGeom prst="ellipse">
            <a:avLst/>
          </a:prstGeom>
          <a:solidFill>
            <a:srgbClr val="0F7C82"/>
          </a:solidFill>
          <a:ln/>
        </p:spPr>
      </p:sp>
      <p:sp>
        <p:nvSpPr>
          <p:cNvPr id="11" name="Text 8"/>
          <p:cNvSpPr txBox="1"/>
          <p:nvPr/>
        </p:nvSpPr>
        <p:spPr>
          <a:xfrm>
            <a:off x="1567993" y="338328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1958</a:t>
            </a:r>
            <a:endParaRPr lang="en-US" sz="1800" dirty="0"/>
          </a:p>
        </p:txBody>
      </p:sp>
      <p:sp>
        <p:nvSpPr>
          <p:cNvPr id="12" name="Text 9"/>
          <p:cNvSpPr txBox="1"/>
          <p:nvPr/>
        </p:nvSpPr>
        <p:spPr>
          <a:xfrm>
            <a:off x="1522273"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Rosenblatt</a:t>
            </a:r>
            <a:endParaRPr lang="en-US" sz="1400" dirty="0"/>
          </a:p>
        </p:txBody>
      </p:sp>
      <p:sp>
        <p:nvSpPr>
          <p:cNvPr id="13" name="Text 10"/>
          <p:cNvSpPr txBox="1"/>
          <p:nvPr/>
        </p:nvSpPr>
        <p:spPr>
          <a:xfrm>
            <a:off x="1522273"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perceptron</a:t>
            </a:r>
            <a:endParaRPr lang="en-US" sz="1300" dirty="0"/>
          </a:p>
        </p:txBody>
      </p:sp>
      <p:sp>
        <p:nvSpPr>
          <p:cNvPr id="14" name="Shape 11"/>
          <p:cNvSpPr/>
          <p:nvPr/>
        </p:nvSpPr>
        <p:spPr>
          <a:xfrm>
            <a:off x="3190850" y="2980944"/>
            <a:ext cx="256032" cy="256032"/>
          </a:xfrm>
          <a:prstGeom prst="ellipse">
            <a:avLst/>
          </a:prstGeom>
          <a:solidFill>
            <a:srgbClr val="0F7C82"/>
          </a:solidFill>
          <a:ln/>
        </p:spPr>
      </p:sp>
      <p:sp>
        <p:nvSpPr>
          <p:cNvPr id="15" name="Text 12"/>
          <p:cNvSpPr txBox="1"/>
          <p:nvPr/>
        </p:nvSpPr>
        <p:spPr>
          <a:xfrm>
            <a:off x="2678786"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1969</a:t>
            </a:r>
            <a:endParaRPr lang="en-US" sz="1800" dirty="0"/>
          </a:p>
        </p:txBody>
      </p:sp>
      <p:sp>
        <p:nvSpPr>
          <p:cNvPr id="16" name="Text 13"/>
          <p:cNvSpPr txBox="1"/>
          <p:nvPr/>
        </p:nvSpPr>
        <p:spPr>
          <a:xfrm>
            <a:off x="2633066"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Minsky &amp; Papert</a:t>
            </a:r>
            <a:endParaRPr lang="en-US" sz="1400" dirty="0"/>
          </a:p>
        </p:txBody>
      </p:sp>
      <p:sp>
        <p:nvSpPr>
          <p:cNvPr id="17" name="Text 14"/>
          <p:cNvSpPr txBox="1"/>
          <p:nvPr/>
        </p:nvSpPr>
        <p:spPr>
          <a:xfrm>
            <a:off x="2633066" y="269748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limits of 1 layer</a:t>
            </a:r>
            <a:endParaRPr lang="en-US" sz="1300" dirty="0"/>
          </a:p>
        </p:txBody>
      </p:sp>
      <p:sp>
        <p:nvSpPr>
          <p:cNvPr id="18" name="Shape 15"/>
          <p:cNvSpPr/>
          <p:nvPr/>
        </p:nvSpPr>
        <p:spPr>
          <a:xfrm>
            <a:off x="4301642" y="2980944"/>
            <a:ext cx="256032" cy="256032"/>
          </a:xfrm>
          <a:prstGeom prst="ellipse">
            <a:avLst/>
          </a:prstGeom>
          <a:solidFill>
            <a:srgbClr val="C8571B"/>
          </a:solidFill>
          <a:ln/>
        </p:spPr>
      </p:sp>
      <p:sp>
        <p:nvSpPr>
          <p:cNvPr id="19" name="Text 16"/>
          <p:cNvSpPr txBox="1"/>
          <p:nvPr/>
        </p:nvSpPr>
        <p:spPr>
          <a:xfrm>
            <a:off x="3789578" y="3383280"/>
            <a:ext cx="1280160" cy="365760"/>
          </a:xfrm>
          <a:prstGeom prst="rect">
            <a:avLst/>
          </a:prstGeom>
          <a:noFill/>
          <a:ln/>
        </p:spPr>
        <p:txBody>
          <a:bodyPr wrap="square" lIns="0" tIns="0" rIns="0" bIns="0" rtlCol="0" anchor="t"/>
          <a:lstStyle/>
          <a:p>
            <a:pPr algn="ctr" indent="0" marL="0">
              <a:buNone/>
            </a:pPr>
            <a:r>
              <a:rPr lang="en-US" sz="1800" b="1" dirty="0">
                <a:solidFill>
                  <a:srgbClr val="C8571B"/>
                </a:solidFill>
                <a:latin typeface="Calibri" pitchFamily="34" charset="0"/>
                <a:ea typeface="Calibri" pitchFamily="34" charset="-122"/>
                <a:cs typeface="Calibri" pitchFamily="34" charset="-120"/>
              </a:rPr>
              <a:t>1986</a:t>
            </a:r>
            <a:endParaRPr lang="en-US" sz="1800" dirty="0"/>
          </a:p>
        </p:txBody>
      </p:sp>
      <p:sp>
        <p:nvSpPr>
          <p:cNvPr id="20" name="Text 17"/>
          <p:cNvSpPr txBox="1"/>
          <p:nvPr/>
        </p:nvSpPr>
        <p:spPr>
          <a:xfrm>
            <a:off x="3743858"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Rumelhart et al.</a:t>
            </a:r>
            <a:endParaRPr lang="en-US" sz="1400" dirty="0"/>
          </a:p>
        </p:txBody>
      </p:sp>
      <p:sp>
        <p:nvSpPr>
          <p:cNvPr id="21" name="Text 18"/>
          <p:cNvSpPr txBox="1"/>
          <p:nvPr/>
        </p:nvSpPr>
        <p:spPr>
          <a:xfrm>
            <a:off x="3743858"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backprop popular</a:t>
            </a:r>
            <a:endParaRPr lang="en-US" sz="1300" dirty="0"/>
          </a:p>
        </p:txBody>
      </p:sp>
      <p:sp>
        <p:nvSpPr>
          <p:cNvPr id="22" name="Shape 19"/>
          <p:cNvSpPr/>
          <p:nvPr/>
        </p:nvSpPr>
        <p:spPr>
          <a:xfrm>
            <a:off x="5412435" y="2980944"/>
            <a:ext cx="256032" cy="256032"/>
          </a:xfrm>
          <a:prstGeom prst="ellipse">
            <a:avLst/>
          </a:prstGeom>
          <a:solidFill>
            <a:srgbClr val="0F7C82"/>
          </a:solidFill>
          <a:ln/>
        </p:spPr>
      </p:sp>
      <p:sp>
        <p:nvSpPr>
          <p:cNvPr id="23" name="Text 20"/>
          <p:cNvSpPr txBox="1"/>
          <p:nvPr/>
        </p:nvSpPr>
        <p:spPr>
          <a:xfrm>
            <a:off x="4900371"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1998</a:t>
            </a:r>
            <a:endParaRPr lang="en-US" sz="1800" dirty="0"/>
          </a:p>
        </p:txBody>
      </p:sp>
      <p:sp>
        <p:nvSpPr>
          <p:cNvPr id="24" name="Text 21"/>
          <p:cNvSpPr txBox="1"/>
          <p:nvPr/>
        </p:nvSpPr>
        <p:spPr>
          <a:xfrm>
            <a:off x="4854651"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LeCun et al.</a:t>
            </a:r>
            <a:endParaRPr lang="en-US" sz="1400" dirty="0"/>
          </a:p>
        </p:txBody>
      </p:sp>
      <p:sp>
        <p:nvSpPr>
          <p:cNvPr id="25" name="Text 22"/>
          <p:cNvSpPr txBox="1"/>
          <p:nvPr/>
        </p:nvSpPr>
        <p:spPr>
          <a:xfrm>
            <a:off x="4854651" y="269748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LeNet-5</a:t>
            </a:r>
            <a:endParaRPr lang="en-US" sz="1300" dirty="0"/>
          </a:p>
        </p:txBody>
      </p:sp>
      <p:sp>
        <p:nvSpPr>
          <p:cNvPr id="26" name="Shape 23"/>
          <p:cNvSpPr/>
          <p:nvPr/>
        </p:nvSpPr>
        <p:spPr>
          <a:xfrm>
            <a:off x="6523228" y="2980944"/>
            <a:ext cx="256032" cy="256032"/>
          </a:xfrm>
          <a:prstGeom prst="ellipse">
            <a:avLst/>
          </a:prstGeom>
          <a:solidFill>
            <a:srgbClr val="C8571B"/>
          </a:solidFill>
          <a:ln/>
        </p:spPr>
      </p:sp>
      <p:sp>
        <p:nvSpPr>
          <p:cNvPr id="27" name="Text 24"/>
          <p:cNvSpPr txBox="1"/>
          <p:nvPr/>
        </p:nvSpPr>
        <p:spPr>
          <a:xfrm>
            <a:off x="6011164" y="3383280"/>
            <a:ext cx="1280160" cy="365760"/>
          </a:xfrm>
          <a:prstGeom prst="rect">
            <a:avLst/>
          </a:prstGeom>
          <a:noFill/>
          <a:ln/>
        </p:spPr>
        <p:txBody>
          <a:bodyPr wrap="square" lIns="0" tIns="0" rIns="0" bIns="0" rtlCol="0" anchor="t"/>
          <a:lstStyle/>
          <a:p>
            <a:pPr algn="ctr" indent="0" marL="0">
              <a:buNone/>
            </a:pPr>
            <a:r>
              <a:rPr lang="en-US" sz="1800" b="1" dirty="0">
                <a:solidFill>
                  <a:srgbClr val="C8571B"/>
                </a:solidFill>
                <a:latin typeface="Calibri" pitchFamily="34" charset="0"/>
                <a:ea typeface="Calibri" pitchFamily="34" charset="-122"/>
                <a:cs typeface="Calibri" pitchFamily="34" charset="-120"/>
              </a:rPr>
              <a:t>2012</a:t>
            </a:r>
            <a:endParaRPr lang="en-US" sz="1800" dirty="0"/>
          </a:p>
        </p:txBody>
      </p:sp>
      <p:sp>
        <p:nvSpPr>
          <p:cNvPr id="28" name="Text 25"/>
          <p:cNvSpPr txBox="1"/>
          <p:nvPr/>
        </p:nvSpPr>
        <p:spPr>
          <a:xfrm>
            <a:off x="5965444"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AlexNet</a:t>
            </a:r>
            <a:endParaRPr lang="en-US" sz="1400" dirty="0"/>
          </a:p>
        </p:txBody>
      </p:sp>
      <p:sp>
        <p:nvSpPr>
          <p:cNvPr id="29" name="Text 26"/>
          <p:cNvSpPr txBox="1"/>
          <p:nvPr/>
        </p:nvSpPr>
        <p:spPr>
          <a:xfrm>
            <a:off x="5965444"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GPUs + ReLU</a:t>
            </a:r>
            <a:endParaRPr lang="en-US" sz="1300" dirty="0"/>
          </a:p>
        </p:txBody>
      </p:sp>
      <p:sp>
        <p:nvSpPr>
          <p:cNvPr id="30" name="Shape 27"/>
          <p:cNvSpPr/>
          <p:nvPr/>
        </p:nvSpPr>
        <p:spPr>
          <a:xfrm>
            <a:off x="7634021" y="2980944"/>
            <a:ext cx="256032" cy="256032"/>
          </a:xfrm>
          <a:prstGeom prst="ellipse">
            <a:avLst/>
          </a:prstGeom>
          <a:solidFill>
            <a:srgbClr val="0F7C82"/>
          </a:solidFill>
          <a:ln/>
        </p:spPr>
      </p:sp>
      <p:sp>
        <p:nvSpPr>
          <p:cNvPr id="31" name="Text 28"/>
          <p:cNvSpPr txBox="1"/>
          <p:nvPr/>
        </p:nvSpPr>
        <p:spPr>
          <a:xfrm>
            <a:off x="7121957"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2015</a:t>
            </a:r>
            <a:endParaRPr lang="en-US" sz="1800" dirty="0"/>
          </a:p>
        </p:txBody>
      </p:sp>
      <p:sp>
        <p:nvSpPr>
          <p:cNvPr id="32" name="Text 29"/>
          <p:cNvSpPr txBox="1"/>
          <p:nvPr/>
        </p:nvSpPr>
        <p:spPr>
          <a:xfrm>
            <a:off x="7076237"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ResNet</a:t>
            </a:r>
            <a:endParaRPr lang="en-US" sz="1400" dirty="0"/>
          </a:p>
        </p:txBody>
      </p:sp>
      <p:sp>
        <p:nvSpPr>
          <p:cNvPr id="33" name="Text 30"/>
          <p:cNvSpPr txBox="1"/>
          <p:nvPr/>
        </p:nvSpPr>
        <p:spPr>
          <a:xfrm>
            <a:off x="7076237" y="269748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152 layers</a:t>
            </a:r>
            <a:endParaRPr lang="en-US" sz="1300" dirty="0"/>
          </a:p>
        </p:txBody>
      </p:sp>
      <p:sp>
        <p:nvSpPr>
          <p:cNvPr id="34" name="Shape 31"/>
          <p:cNvSpPr/>
          <p:nvPr/>
        </p:nvSpPr>
        <p:spPr>
          <a:xfrm>
            <a:off x="8744814" y="2980944"/>
            <a:ext cx="256032" cy="256032"/>
          </a:xfrm>
          <a:prstGeom prst="ellipse">
            <a:avLst/>
          </a:prstGeom>
          <a:solidFill>
            <a:srgbClr val="0F7C82"/>
          </a:solidFill>
          <a:ln/>
        </p:spPr>
      </p:sp>
      <p:sp>
        <p:nvSpPr>
          <p:cNvPr id="35" name="Text 32"/>
          <p:cNvSpPr txBox="1"/>
          <p:nvPr/>
        </p:nvSpPr>
        <p:spPr>
          <a:xfrm>
            <a:off x="8232750" y="338328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2017</a:t>
            </a:r>
            <a:endParaRPr lang="en-US" sz="1800" dirty="0"/>
          </a:p>
        </p:txBody>
      </p:sp>
      <p:sp>
        <p:nvSpPr>
          <p:cNvPr id="36" name="Text 33"/>
          <p:cNvSpPr txBox="1"/>
          <p:nvPr/>
        </p:nvSpPr>
        <p:spPr>
          <a:xfrm>
            <a:off x="8187030"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Transformer</a:t>
            </a:r>
            <a:endParaRPr lang="en-US" sz="1400" dirty="0"/>
          </a:p>
        </p:txBody>
      </p:sp>
      <p:sp>
        <p:nvSpPr>
          <p:cNvPr id="37" name="Text 34"/>
          <p:cNvSpPr txBox="1"/>
          <p:nvPr/>
        </p:nvSpPr>
        <p:spPr>
          <a:xfrm>
            <a:off x="8187030"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attention</a:t>
            </a:r>
            <a:endParaRPr lang="en-US" sz="1300" dirty="0"/>
          </a:p>
        </p:txBody>
      </p:sp>
      <p:sp>
        <p:nvSpPr>
          <p:cNvPr id="38" name="Shape 35"/>
          <p:cNvSpPr/>
          <p:nvPr/>
        </p:nvSpPr>
        <p:spPr>
          <a:xfrm>
            <a:off x="9855606" y="2980944"/>
            <a:ext cx="256032" cy="256032"/>
          </a:xfrm>
          <a:prstGeom prst="ellipse">
            <a:avLst/>
          </a:prstGeom>
          <a:solidFill>
            <a:srgbClr val="0F7C82"/>
          </a:solidFill>
          <a:ln/>
        </p:spPr>
      </p:sp>
      <p:sp>
        <p:nvSpPr>
          <p:cNvPr id="39" name="Text 36"/>
          <p:cNvSpPr txBox="1"/>
          <p:nvPr/>
        </p:nvSpPr>
        <p:spPr>
          <a:xfrm>
            <a:off x="9343542"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2020–22</a:t>
            </a:r>
            <a:endParaRPr lang="en-US" sz="1800" dirty="0"/>
          </a:p>
        </p:txBody>
      </p:sp>
      <p:sp>
        <p:nvSpPr>
          <p:cNvPr id="40" name="Text 37"/>
          <p:cNvSpPr txBox="1"/>
          <p:nvPr/>
        </p:nvSpPr>
        <p:spPr>
          <a:xfrm>
            <a:off x="9297822"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AlphaFold 2, GPT-3, ChatGPT</a:t>
            </a:r>
            <a:endParaRPr lang="en-US" sz="1400" dirty="0"/>
          </a:p>
        </p:txBody>
      </p:sp>
      <p:sp>
        <p:nvSpPr>
          <p:cNvPr id="41" name="Shape 38"/>
          <p:cNvSpPr/>
          <p:nvPr/>
        </p:nvSpPr>
        <p:spPr>
          <a:xfrm>
            <a:off x="10966399" y="2980944"/>
            <a:ext cx="256032" cy="256032"/>
          </a:xfrm>
          <a:prstGeom prst="ellipse">
            <a:avLst/>
          </a:prstGeom>
          <a:solidFill>
            <a:srgbClr val="0F7C82"/>
          </a:solidFill>
          <a:ln/>
        </p:spPr>
      </p:sp>
      <p:sp>
        <p:nvSpPr>
          <p:cNvPr id="42" name="Text 39"/>
          <p:cNvSpPr txBox="1"/>
          <p:nvPr/>
        </p:nvSpPr>
        <p:spPr>
          <a:xfrm>
            <a:off x="10454335" y="338328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2024</a:t>
            </a:r>
            <a:endParaRPr lang="en-US" sz="1800" dirty="0"/>
          </a:p>
        </p:txBody>
      </p:sp>
      <p:sp>
        <p:nvSpPr>
          <p:cNvPr id="43" name="Text 40"/>
          <p:cNvSpPr txBox="1"/>
          <p:nvPr/>
        </p:nvSpPr>
        <p:spPr>
          <a:xfrm>
            <a:off x="10408615"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Nobel Prizes</a:t>
            </a:r>
            <a:endParaRPr lang="en-US" sz="1400" dirty="0"/>
          </a:p>
        </p:txBody>
      </p:sp>
      <p:sp>
        <p:nvSpPr>
          <p:cNvPr id="44" name="Text 41"/>
          <p:cNvSpPr txBox="1"/>
          <p:nvPr/>
        </p:nvSpPr>
        <p:spPr>
          <a:xfrm>
            <a:off x="10408615"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Physics, Chemistry</a:t>
            </a:r>
            <a:endParaRPr lang="en-US" sz="1300" dirty="0"/>
          </a:p>
        </p:txBody>
      </p:sp>
      <p:sp>
        <p:nvSpPr>
          <p:cNvPr id="45" name="Shape 42"/>
          <p:cNvSpPr/>
          <p:nvPr/>
        </p:nvSpPr>
        <p:spPr>
          <a:xfrm>
            <a:off x="548640" y="5120640"/>
            <a:ext cx="11094415" cy="960120"/>
          </a:xfrm>
          <a:prstGeom prst="roundRect">
            <a:avLst>
              <a:gd name="adj" fmla="val 7619"/>
            </a:avLst>
          </a:prstGeom>
          <a:solidFill>
            <a:srgbClr val="E2F1F1"/>
          </a:solidFill>
          <a:ln/>
        </p:spPr>
      </p:sp>
      <p:sp>
        <p:nvSpPr>
          <p:cNvPr id="46" name="Text 43"/>
          <p:cNvSpPr txBox="1"/>
          <p:nvPr/>
        </p:nvSpPr>
        <p:spPr>
          <a:xfrm>
            <a:off x="749808" y="5166360"/>
            <a:ext cx="10692079" cy="86868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Backprop was popularized in 1986; deep learning took over around 2012. Data, compute and training engineering were the bottleneck.</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A5 · JUDGMENT</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When not to reach for a neural network</a:t>
            </a:r>
            <a:endParaRPr lang="en-US" sz="3200" dirty="0"/>
          </a:p>
        </p:txBody>
      </p:sp>
      <p:sp>
        <p:nvSpPr>
          <p:cNvPr id="5" name="Shape 2"/>
          <p:cNvSpPr/>
          <p:nvPr/>
        </p:nvSpPr>
        <p:spPr>
          <a:xfrm>
            <a:off x="548640" y="1417320"/>
            <a:ext cx="5449824" cy="1737360"/>
          </a:xfrm>
          <a:prstGeom prst="roundRect">
            <a:avLst>
              <a:gd name="adj" fmla="val 4211"/>
            </a:avLst>
          </a:prstGeom>
          <a:solidFill>
            <a:srgbClr val="F3F5F8"/>
          </a:solidFill>
          <a:ln/>
        </p:spPr>
      </p:sp>
      <p:sp>
        <p:nvSpPr>
          <p:cNvPr id="6" name="Text 3"/>
          <p:cNvSpPr txBox="1"/>
          <p:nvPr/>
        </p:nvSpPr>
        <p:spPr>
          <a:xfrm>
            <a:off x="749808" y="1581912"/>
            <a:ext cx="5047488"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Small data</a:t>
            </a:r>
            <a:endParaRPr lang="en-US" sz="1900" dirty="0"/>
          </a:p>
        </p:txBody>
      </p:sp>
      <p:sp>
        <p:nvSpPr>
          <p:cNvPr id="7" name="Text 4"/>
          <p:cNvSpPr txBox="1"/>
          <p:nvPr/>
        </p:nvSpPr>
        <p:spPr>
          <a:xfrm>
            <a:off x="749808" y="2039112"/>
            <a:ext cx="5047488" cy="10058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A few hundred rows: regularized linear models, boosted trees or a Gaussian process.</a:t>
            </a:r>
            <a:endParaRPr lang="en-US" sz="1700" dirty="0"/>
          </a:p>
        </p:txBody>
      </p:sp>
      <p:sp>
        <p:nvSpPr>
          <p:cNvPr id="8" name="Shape 5"/>
          <p:cNvSpPr/>
          <p:nvPr/>
        </p:nvSpPr>
        <p:spPr>
          <a:xfrm>
            <a:off x="6190488" y="1417320"/>
            <a:ext cx="5449824" cy="1737360"/>
          </a:xfrm>
          <a:prstGeom prst="roundRect">
            <a:avLst>
              <a:gd name="adj" fmla="val 4211"/>
            </a:avLst>
          </a:prstGeom>
          <a:solidFill>
            <a:srgbClr val="F3F5F8"/>
          </a:solidFill>
          <a:ln/>
        </p:spPr>
      </p:sp>
      <p:sp>
        <p:nvSpPr>
          <p:cNvPr id="9" name="Text 6"/>
          <p:cNvSpPr txBox="1"/>
          <p:nvPr/>
        </p:nvSpPr>
        <p:spPr>
          <a:xfrm>
            <a:off x="6391656" y="1581912"/>
            <a:ext cx="5047488"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Tabular data</a:t>
            </a:r>
            <a:endParaRPr lang="en-US" sz="1900" dirty="0"/>
          </a:p>
        </p:txBody>
      </p:sp>
      <p:sp>
        <p:nvSpPr>
          <p:cNvPr id="10" name="Text 7"/>
          <p:cNvSpPr txBox="1"/>
          <p:nvPr/>
        </p:nvSpPr>
        <p:spPr>
          <a:xfrm>
            <a:off x="6391656" y="2039112"/>
            <a:ext cx="5047488" cy="10058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Boosted trees (XGBoost, LightGBM, CatBoost) are hard to beat; TabPFN (Nature, 2025) for ≤ 10k rows.</a:t>
            </a:r>
            <a:endParaRPr lang="en-US" sz="1700" dirty="0"/>
          </a:p>
        </p:txBody>
      </p:sp>
      <p:sp>
        <p:nvSpPr>
          <p:cNvPr id="11" name="Shape 8"/>
          <p:cNvSpPr/>
          <p:nvPr/>
        </p:nvSpPr>
        <p:spPr>
          <a:xfrm>
            <a:off x="548640" y="3337560"/>
            <a:ext cx="5449824" cy="1737360"/>
          </a:xfrm>
          <a:prstGeom prst="roundRect">
            <a:avLst>
              <a:gd name="adj" fmla="val 4211"/>
            </a:avLst>
          </a:prstGeom>
          <a:solidFill>
            <a:srgbClr val="F3F5F8"/>
          </a:solidFill>
          <a:ln/>
        </p:spPr>
      </p:sp>
      <p:sp>
        <p:nvSpPr>
          <p:cNvPr id="12" name="Text 9"/>
          <p:cNvSpPr txBox="1"/>
          <p:nvPr/>
        </p:nvSpPr>
        <p:spPr>
          <a:xfrm>
            <a:off x="749808" y="3502152"/>
            <a:ext cx="5047488"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Each decision must be audited</a:t>
            </a:r>
            <a:endParaRPr lang="en-US" sz="1900" dirty="0"/>
          </a:p>
        </p:txBody>
      </p:sp>
      <p:sp>
        <p:nvSpPr>
          <p:cNvPr id="13" name="Text 10"/>
          <p:cNvSpPr txBox="1"/>
          <p:nvPr/>
        </p:nvSpPr>
        <p:spPr>
          <a:xfrm>
            <a:off x="749808" y="3959352"/>
            <a:ext cx="5047488" cy="10058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A logistic regression or a small tree is easier to defend.</a:t>
            </a:r>
            <a:endParaRPr lang="en-US" sz="1700" dirty="0"/>
          </a:p>
        </p:txBody>
      </p:sp>
      <p:sp>
        <p:nvSpPr>
          <p:cNvPr id="14" name="Shape 11"/>
          <p:cNvSpPr/>
          <p:nvPr/>
        </p:nvSpPr>
        <p:spPr>
          <a:xfrm>
            <a:off x="6190488" y="3337560"/>
            <a:ext cx="5449824" cy="1737360"/>
          </a:xfrm>
          <a:prstGeom prst="roundRect">
            <a:avLst>
              <a:gd name="adj" fmla="val 4211"/>
            </a:avLst>
          </a:prstGeom>
          <a:solidFill>
            <a:srgbClr val="F3F5F8"/>
          </a:solidFill>
          <a:ln/>
        </p:spPr>
      </p:sp>
      <p:sp>
        <p:nvSpPr>
          <p:cNvPr id="15" name="Text 12"/>
          <p:cNvSpPr txBox="1"/>
          <p:nvPr/>
        </p:nvSpPr>
        <p:spPr>
          <a:xfrm>
            <a:off x="6391656" y="3502152"/>
            <a:ext cx="5047488"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No baseline yet</a:t>
            </a:r>
            <a:endParaRPr lang="en-US" sz="1900" dirty="0"/>
          </a:p>
        </p:txBody>
      </p:sp>
      <p:sp>
        <p:nvSpPr>
          <p:cNvPr id="16" name="Text 13"/>
          <p:cNvSpPr txBox="1"/>
          <p:nvPr/>
        </p:nvSpPr>
        <p:spPr>
          <a:xfrm>
            <a:off x="6391656" y="3959352"/>
            <a:ext cx="5047488" cy="10058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Fit the simple model first; it tells you what score is easy.</a:t>
            </a:r>
            <a:endParaRPr lang="en-US" sz="1700" dirty="0"/>
          </a:p>
        </p:txBody>
      </p:sp>
      <p:sp>
        <p:nvSpPr>
          <p:cNvPr id="17" name="Shape 14"/>
          <p:cNvSpPr/>
          <p:nvPr/>
        </p:nvSpPr>
        <p:spPr>
          <a:xfrm>
            <a:off x="548640" y="5440680"/>
            <a:ext cx="11094415" cy="731520"/>
          </a:xfrm>
          <a:prstGeom prst="roundRect">
            <a:avLst>
              <a:gd name="adj" fmla="val 10000"/>
            </a:avLst>
          </a:prstGeom>
          <a:solidFill>
            <a:srgbClr val="E2F1F1"/>
          </a:solidFill>
          <a:ln/>
        </p:spPr>
      </p:sp>
      <p:sp>
        <p:nvSpPr>
          <p:cNvPr id="18" name="Text 15"/>
          <p:cNvSpPr txBox="1"/>
          <p:nvPr/>
        </p:nvSpPr>
        <p:spPr>
          <a:xfrm>
            <a:off x="749808" y="5486400"/>
            <a:ext cx="10692079" cy="640080"/>
          </a:xfrm>
          <a:prstGeom prst="rect">
            <a:avLst/>
          </a:prstGeom>
          <a:noFill/>
          <a:ln/>
        </p:spPr>
        <p:txBody>
          <a:bodyPr wrap="square" lIns="0" tIns="0" rIns="0" bIns="0" rtlCol="0" anchor="ctr"/>
          <a:lstStyle/>
          <a:p>
            <a:pPr indent="0" marL="0">
              <a:buNone/>
            </a:pPr>
            <a:r>
              <a:rPr lang="en-US" sz="1700" b="1" dirty="0">
                <a:solidFill>
                  <a:srgbClr val="0A5559"/>
                </a:solidFill>
                <a:latin typeface="Calibri" pitchFamily="34" charset="0"/>
                <a:ea typeface="Calibri" pitchFamily="34" charset="-122"/>
                <a:cs typeface="Calibri" pitchFamily="34" charset="-120"/>
              </a:rPr>
              <a:t>Neural networks win on abundant data whose structure is hard to describe by hand: images, audio, text, molecules.</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A6 · PYTORCH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PyTorch loss functions and target formats</a:t>
            </a:r>
            <a:endParaRPr lang="en-US" sz="32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011680"/>
                <a:gridCol w="3611880"/>
                <a:gridCol w="1737360"/>
                <a:gridCol w="3730752"/>
              </a:tblGrid>
              <a:tr h="56692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Task</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Loss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Model output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Target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Regression</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nn.MSELoss()</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raw</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float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Robust regression</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nn.HuberLoss()</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raw</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float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Binary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nn.BCEWithLogitsLoss()</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logits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float 0/1</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Multi-class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nn.CrossEntropyLoss()</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K) logits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int64, or (m, K) float probabilities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Multi-label</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nn.BCEWithLogitsLoss()</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K) logits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K) float 0/1</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257800"/>
            <a:ext cx="11094415" cy="777240"/>
          </a:xfrm>
          <a:prstGeom prst="roundRect">
            <a:avLst>
              <a:gd name="adj" fmla="val 9412"/>
            </a:avLst>
          </a:prstGeom>
          <a:solidFill>
            <a:srgbClr val="FBEADF"/>
          </a:solidFill>
          <a:ln/>
        </p:spPr>
      </p:sp>
      <p:sp>
        <p:nvSpPr>
          <p:cNvPr id="7" name="Text 3"/>
          <p:cNvSpPr txBox="1"/>
          <p:nvPr/>
        </p:nvSpPr>
        <p:spPr>
          <a:xfrm>
            <a:off x="749808" y="5303520"/>
            <a:ext cx="10692079" cy="685800"/>
          </a:xfrm>
          <a:prstGeom prst="rect">
            <a:avLst/>
          </a:prstGeom>
          <a:noFill/>
          <a:ln/>
        </p:spPr>
        <p:txBody>
          <a:bodyPr wrap="square" lIns="0" tIns="0" rIns="0" bIns="0" rtlCol="0" anchor="ctr"/>
          <a:lstStyle/>
          <a:p>
            <a:pPr indent="0" marL="0">
              <a:buNone/>
            </a:pPr>
            <a:r>
              <a:rPr lang="en-US" sz="1900" b="1" dirty="0">
                <a:solidFill>
                  <a:srgbClr val="8F3A0E"/>
                </a:solidFill>
                <a:latin typeface="Calibri" pitchFamily="34" charset="0"/>
                <a:ea typeface="Calibri" pitchFamily="34" charset="-122"/>
                <a:cs typeface="Calibri" pitchFamily="34" charset="-120"/>
              </a:rPr>
              <a:t>Never put sigmoid or softmax before these losses.</a:t>
            </a:r>
            <a:endParaRPr lang="en-US" sz="1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A7 · NORMALIZATION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Normalization variants differ only in the axes they average</a:t>
            </a:r>
            <a:endParaRPr lang="en-US" sz="3200" dirty="0"/>
          </a:p>
        </p:txBody>
      </p:sp>
      <p:pic>
        <p:nvPicPr>
          <p:cNvPr id="5" name="Image 0" descr="Four normalization schemes drawn as N by C blocks; shaded cells share statistics.">    </p:cNvPr>
          <p:cNvPicPr>
            <a:picLocks noChangeAspect="1"/>
          </p:cNvPicPr>
          <p:nvPr/>
        </p:nvPicPr>
        <p:blipFill>
          <a:blip r:embed="rId1"/>
          <a:stretch>
            <a:fillRect/>
          </a:stretch>
        </p:blipFill>
        <p:spPr>
          <a:xfrm>
            <a:off x="1249046" y="1325880"/>
            <a:ext cx="9693603" cy="2468880"/>
          </a:xfrm>
          <a:prstGeom prst="rect">
            <a:avLst/>
          </a:prstGeom>
        </p:spPr>
      </p:pic>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548640" y="3977640"/>
          <a:ext cx="11094415" cy="914400"/>
        </p:xfrm>
        <a:graphic>
          <a:graphicData uri="http://schemas.openxmlformats.org/drawingml/2006/table">
            <a:tbl>
              <a:tblPr/>
              <a:tblGrid>
                <a:gridCol w="1828800"/>
                <a:gridCol w="3931920"/>
                <a:gridCol w="2103120"/>
                <a:gridCol w="3227832"/>
              </a:tblGrid>
              <a:tr h="36576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Layer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Statistics over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Batch-dependent?</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Typical use</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BatchNorm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 H, W per channel</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CNNs, decent batch size</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LayerNorm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all features of one example</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Transformers, RNNs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GroupNorm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H, W and a channel group</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Small-batch vision</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InstanceNorm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H, W per example and channel</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Style transfer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RMSNorm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like LayerNorm, no mean</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Many recent LLMs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A8 · SCHEDULERS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Step each scheduler at the right frequency</a:t>
            </a:r>
            <a:endParaRPr lang="en-US" sz="32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291840"/>
                <a:gridCol w="7799832"/>
              </a:tblGrid>
              <a:tr h="603504">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Scheduler</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Call .step()</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OneCycleLR</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every batch</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Linear warmup (LambdaLR)</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every batch; warmup counted in steps</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CosineAnnealingLR</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per epoch (T_max = epochs) or per batch (T_max = total steps)</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MultiStepLR</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per epoch (e.g. ×0.1 at epochs 30, 60, 90)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ReduceLROnPlateau</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per epoch, with the metric: sched.step(val_loss)</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349240"/>
            <a:ext cx="11094415" cy="731520"/>
          </a:xfrm>
          <a:prstGeom prst="roundRect">
            <a:avLst>
              <a:gd name="adj" fmla="val 10000"/>
            </a:avLst>
          </a:prstGeom>
          <a:solidFill>
            <a:srgbClr val="FBEADF"/>
          </a:solidFill>
          <a:ln/>
        </p:spPr>
      </p:sp>
      <p:sp>
        <p:nvSpPr>
          <p:cNvPr id="7" name="Text 3"/>
          <p:cNvSpPr txBox="1"/>
          <p:nvPr/>
        </p:nvSpPr>
        <p:spPr>
          <a:xfrm>
            <a:off x="749808" y="5394960"/>
            <a:ext cx="10692079" cy="640080"/>
          </a:xfrm>
          <a:prstGeom prst="rect">
            <a:avLst/>
          </a:prstGeom>
          <a:noFill/>
          <a:ln/>
        </p:spPr>
        <p:txBody>
          <a:bodyPr wrap="square" lIns="0" tIns="0" rIns="0" bIns="0" rtlCol="0" anchor="ctr"/>
          <a:lstStyle/>
          <a:p>
            <a:pPr indent="0" marL="0">
              <a:buNone/>
            </a:pPr>
            <a:r>
              <a:rPr lang="en-US" sz="1900" b="1" dirty="0">
                <a:solidFill>
                  <a:srgbClr val="8F3A0E"/>
                </a:solidFill>
                <a:latin typeface="Calibri" pitchFamily="34" charset="0"/>
                <a:ea typeface="Calibri" pitchFamily="34" charset="-122"/>
                <a:cs typeface="Calibri" pitchFamily="34" charset="-120"/>
              </a:rPr>
              <a:t>Print the learning rate every epoch.</a:t>
            </a:r>
            <a:endParaRPr lang="en-US" sz="1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A9 · GRADIENT CHECKING</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Verify hand-written gradients with centred differences</a:t>
            </a:r>
            <a:endParaRPr lang="en-US" sz="3200" dirty="0"/>
          </a:p>
        </p:txBody>
      </p:sp>
      <p:sp>
        <p:nvSpPr>
          <p:cNvPr id="5" name="Shape 2"/>
          <p:cNvSpPr/>
          <p:nvPr/>
        </p:nvSpPr>
        <p:spPr>
          <a:xfrm>
            <a:off x="548640" y="1417320"/>
            <a:ext cx="11094415" cy="1463040"/>
          </a:xfrm>
          <a:prstGeom prst="roundRect">
            <a:avLst>
              <a:gd name="adj" fmla="val 5000"/>
            </a:avLst>
          </a:prstGeom>
          <a:solidFill>
            <a:srgbClr val="F3F5F8"/>
          </a:solidFill>
          <a:ln/>
        </p:spPr>
      </p:sp>
      <p:pic>
        <p:nvPicPr>
          <p:cNvPr id="6" name="Image 0" descr="LaTeX: $\displaystyle \frac{\partial J}{\partial \theta} \approx \frac{J(\theta + \varepsilon) - J(\theta - \varepsilon)}{2\varepsilon}, \qquad \text{rel. err} = \frac{|g_{\text{bp}} - g_{\text{num}}|}{\max(|g_{\text{bp}}|, |g_{\text{num}}|)}$">    </p:cNvPr>
          <p:cNvPicPr>
            <a:picLocks noChangeAspect="1"/>
          </p:cNvPicPr>
          <p:nvPr/>
        </p:nvPicPr>
        <p:blipFill>
          <a:blip r:embed="rId1"/>
          <a:stretch>
            <a:fillRect/>
          </a:stretch>
        </p:blipFill>
        <p:spPr>
          <a:xfrm>
            <a:off x="822960" y="1737360"/>
            <a:ext cx="5323027" cy="543763"/>
          </a:xfrm>
          <a:prstGeom prst="rect">
            <a:avLst/>
          </a:prstGeom>
        </p:spPr>
      </p:pic>
      <p:sp>
        <p:nvSpPr>
          <p:cNvPr id="7" name="Shape 3"/>
          <p:cNvSpPr/>
          <p:nvPr/>
        </p:nvSpPr>
        <p:spPr>
          <a:xfrm>
            <a:off x="548640" y="3200400"/>
            <a:ext cx="3529584" cy="1371600"/>
          </a:xfrm>
          <a:prstGeom prst="roundRect">
            <a:avLst>
              <a:gd name="adj" fmla="val 5333"/>
            </a:avLst>
          </a:prstGeom>
          <a:solidFill>
            <a:srgbClr val="E2F1F1"/>
          </a:solidFill>
          <a:ln/>
        </p:spPr>
      </p:sp>
      <p:sp>
        <p:nvSpPr>
          <p:cNvPr id="8" name="Text 4"/>
          <p:cNvSpPr txBox="1"/>
          <p:nvPr/>
        </p:nvSpPr>
        <p:spPr>
          <a:xfrm>
            <a:off x="731520" y="3291840"/>
            <a:ext cx="3200400" cy="548640"/>
          </a:xfrm>
          <a:prstGeom prst="rect">
            <a:avLst/>
          </a:prstGeom>
          <a:noFill/>
          <a:ln/>
        </p:spPr>
        <p:txBody>
          <a:bodyPr wrap="square" lIns="0" tIns="0" rIns="0" bIns="0" rtlCol="0" anchor="t"/>
          <a:lstStyle/>
          <a:p>
            <a:pPr indent="0" marL="0">
              <a:buNone/>
            </a:pPr>
            <a:r>
              <a:rPr lang="en-US" sz="2600" b="1" dirty="0">
                <a:solidFill>
                  <a:srgbClr val="0F7C82"/>
                </a:solidFill>
                <a:latin typeface="Cambria" pitchFamily="34" charset="0"/>
                <a:ea typeface="Cambria" pitchFamily="34" charset="-122"/>
                <a:cs typeface="Cambria" pitchFamily="34" charset="-120"/>
              </a:rPr>
              <a:t>&lt; 10⁻⁷</a:t>
            </a:r>
            <a:endParaRPr lang="en-US" sz="2600" dirty="0"/>
          </a:p>
        </p:txBody>
      </p:sp>
      <p:sp>
        <p:nvSpPr>
          <p:cNvPr id="9" name="Text 5"/>
          <p:cNvSpPr txBox="1"/>
          <p:nvPr/>
        </p:nvSpPr>
        <p:spPr>
          <a:xfrm>
            <a:off x="731520" y="3931920"/>
            <a:ext cx="3200400" cy="457200"/>
          </a:xfrm>
          <a:prstGeom prst="rect">
            <a:avLst/>
          </a:prstGeom>
          <a:noFill/>
          <a:ln/>
        </p:spPr>
        <p:txBody>
          <a:bodyPr wrap="square" lIns="0" tIns="0" rIns="0" bIns="0" rtlCol="0" anchor="t"/>
          <a:lstStyle/>
          <a:p>
            <a:pPr indent="0" marL="0">
              <a:buNone/>
            </a:pPr>
            <a:r>
              <a:rPr lang="en-US" sz="1900" dirty="0">
                <a:solidFill>
                  <a:srgbClr val="17202E"/>
                </a:solidFill>
                <a:latin typeface="Calibri" pitchFamily="34" charset="0"/>
                <a:ea typeface="Calibri" pitchFamily="34" charset="-122"/>
                <a:cs typeface="Calibri" pitchFamily="34" charset="-120"/>
              </a:rPr>
              <a:t>correct</a:t>
            </a:r>
            <a:endParaRPr lang="en-US" sz="1900" dirty="0"/>
          </a:p>
        </p:txBody>
      </p:sp>
      <p:sp>
        <p:nvSpPr>
          <p:cNvPr id="10" name="Shape 6"/>
          <p:cNvSpPr/>
          <p:nvPr/>
        </p:nvSpPr>
        <p:spPr>
          <a:xfrm>
            <a:off x="4315968" y="3200400"/>
            <a:ext cx="3529584" cy="1371600"/>
          </a:xfrm>
          <a:prstGeom prst="roundRect">
            <a:avLst>
              <a:gd name="adj" fmla="val 5333"/>
            </a:avLst>
          </a:prstGeom>
          <a:solidFill>
            <a:srgbClr val="FFF3CC"/>
          </a:solidFill>
          <a:ln/>
        </p:spPr>
      </p:sp>
      <p:sp>
        <p:nvSpPr>
          <p:cNvPr id="11" name="Text 7"/>
          <p:cNvSpPr txBox="1"/>
          <p:nvPr/>
        </p:nvSpPr>
        <p:spPr>
          <a:xfrm>
            <a:off x="4498848" y="3291840"/>
            <a:ext cx="3200400" cy="548640"/>
          </a:xfrm>
          <a:prstGeom prst="rect">
            <a:avLst/>
          </a:prstGeom>
          <a:noFill/>
          <a:ln/>
        </p:spPr>
        <p:txBody>
          <a:bodyPr wrap="square" lIns="0" tIns="0" rIns="0" bIns="0" rtlCol="0" anchor="t"/>
          <a:lstStyle/>
          <a:p>
            <a:pPr indent="0" marL="0">
              <a:buNone/>
            </a:pPr>
            <a:r>
              <a:rPr lang="en-US" sz="2600" b="1" dirty="0">
                <a:solidFill>
                  <a:srgbClr val="8A6A00"/>
                </a:solidFill>
                <a:latin typeface="Cambria" pitchFamily="34" charset="0"/>
                <a:ea typeface="Cambria" pitchFamily="34" charset="-122"/>
                <a:cs typeface="Cambria" pitchFamily="34" charset="-120"/>
              </a:rPr>
              <a:t>10⁻⁷ – 10⁻⁴</a:t>
            </a:r>
            <a:endParaRPr lang="en-US" sz="2600" dirty="0"/>
          </a:p>
        </p:txBody>
      </p:sp>
      <p:sp>
        <p:nvSpPr>
          <p:cNvPr id="12" name="Text 8"/>
          <p:cNvSpPr txBox="1"/>
          <p:nvPr/>
        </p:nvSpPr>
        <p:spPr>
          <a:xfrm>
            <a:off x="4498848" y="3931920"/>
            <a:ext cx="3200400" cy="457200"/>
          </a:xfrm>
          <a:prstGeom prst="rect">
            <a:avLst/>
          </a:prstGeom>
          <a:noFill/>
          <a:ln/>
        </p:spPr>
        <p:txBody>
          <a:bodyPr wrap="square" lIns="0" tIns="0" rIns="0" bIns="0" rtlCol="0" anchor="t"/>
          <a:lstStyle/>
          <a:p>
            <a:pPr indent="0" marL="0">
              <a:buNone/>
            </a:pPr>
            <a:r>
              <a:rPr lang="en-US" sz="1900" dirty="0">
                <a:solidFill>
                  <a:srgbClr val="17202E"/>
                </a:solidFill>
                <a:latin typeface="Calibri" pitchFamily="34" charset="0"/>
                <a:ea typeface="Calibri" pitchFamily="34" charset="-122"/>
                <a:cs typeface="Calibri" pitchFamily="34" charset="-120"/>
              </a:rPr>
              <a:t>investigate</a:t>
            </a:r>
            <a:endParaRPr lang="en-US" sz="1900" dirty="0"/>
          </a:p>
        </p:txBody>
      </p:sp>
      <p:sp>
        <p:nvSpPr>
          <p:cNvPr id="13" name="Shape 9"/>
          <p:cNvSpPr/>
          <p:nvPr/>
        </p:nvSpPr>
        <p:spPr>
          <a:xfrm>
            <a:off x="8083296" y="3200400"/>
            <a:ext cx="3529584" cy="1371600"/>
          </a:xfrm>
          <a:prstGeom prst="roundRect">
            <a:avLst>
              <a:gd name="adj" fmla="val 5333"/>
            </a:avLst>
          </a:prstGeom>
          <a:solidFill>
            <a:srgbClr val="FBEADF"/>
          </a:solidFill>
          <a:ln/>
        </p:spPr>
      </p:sp>
      <p:sp>
        <p:nvSpPr>
          <p:cNvPr id="14" name="Text 10"/>
          <p:cNvSpPr txBox="1"/>
          <p:nvPr/>
        </p:nvSpPr>
        <p:spPr>
          <a:xfrm>
            <a:off x="8266176" y="3291840"/>
            <a:ext cx="3200400" cy="548640"/>
          </a:xfrm>
          <a:prstGeom prst="rect">
            <a:avLst/>
          </a:prstGeom>
          <a:noFill/>
          <a:ln/>
        </p:spPr>
        <p:txBody>
          <a:bodyPr wrap="square" lIns="0" tIns="0" rIns="0" bIns="0" rtlCol="0" anchor="t"/>
          <a:lstStyle/>
          <a:p>
            <a:pPr indent="0" marL="0">
              <a:buNone/>
            </a:pPr>
            <a:r>
              <a:rPr lang="en-US" sz="2600" b="1" dirty="0">
                <a:solidFill>
                  <a:srgbClr val="C8571B"/>
                </a:solidFill>
                <a:latin typeface="Cambria" pitchFamily="34" charset="0"/>
                <a:ea typeface="Cambria" pitchFamily="34" charset="-122"/>
                <a:cs typeface="Cambria" pitchFamily="34" charset="-120"/>
              </a:rPr>
              <a:t>&gt; 10⁻³</a:t>
            </a:r>
            <a:endParaRPr lang="en-US" sz="2600" dirty="0"/>
          </a:p>
        </p:txBody>
      </p:sp>
      <p:sp>
        <p:nvSpPr>
          <p:cNvPr id="15" name="Text 11"/>
          <p:cNvSpPr txBox="1"/>
          <p:nvPr/>
        </p:nvSpPr>
        <p:spPr>
          <a:xfrm>
            <a:off x="8266176" y="3931920"/>
            <a:ext cx="3200400" cy="457200"/>
          </a:xfrm>
          <a:prstGeom prst="rect">
            <a:avLst/>
          </a:prstGeom>
          <a:noFill/>
          <a:ln/>
        </p:spPr>
        <p:txBody>
          <a:bodyPr wrap="square" lIns="0" tIns="0" rIns="0" bIns="0" rtlCol="0" anchor="t"/>
          <a:lstStyle/>
          <a:p>
            <a:pPr indent="0" marL="0">
              <a:buNone/>
            </a:pPr>
            <a:r>
              <a:rPr lang="en-US" sz="1900" dirty="0">
                <a:solidFill>
                  <a:srgbClr val="17202E"/>
                </a:solidFill>
                <a:latin typeface="Calibri" pitchFamily="34" charset="0"/>
                <a:ea typeface="Calibri" pitchFamily="34" charset="-122"/>
                <a:cs typeface="Calibri" pitchFamily="34" charset="-120"/>
              </a:rPr>
              <a:t>bug</a:t>
            </a:r>
            <a:endParaRPr lang="en-US" sz="1900" dirty="0"/>
          </a:p>
        </p:txBody>
      </p:sp>
      <p:sp>
        <p:nvSpPr>
          <p:cNvPr id="16" name="Text 12"/>
          <p:cNvSpPr txBox="1"/>
          <p:nvPr/>
        </p:nvSpPr>
        <p:spPr>
          <a:xfrm>
            <a:off x="548640" y="4937760"/>
            <a:ext cx="11094415" cy="457200"/>
          </a:xfrm>
          <a:prstGeom prst="rect">
            <a:avLst/>
          </a:prstGeom>
          <a:noFill/>
          <a:ln/>
        </p:spPr>
        <p:txBody>
          <a:bodyPr wrap="square" lIns="0" tIns="0" rIns="0" bIns="0" rtlCol="0" anchor="t"/>
          <a:lstStyle/>
          <a:p>
            <a:pPr indent="0" marL="0">
              <a:buNone/>
            </a:pPr>
            <a:r>
              <a:rPr lang="en-US" sz="1800" dirty="0">
                <a:solidFill>
                  <a:srgbClr val="2B3A4F"/>
                </a:solidFill>
                <a:latin typeface="Calibri" pitchFamily="34" charset="0"/>
                <a:ea typeface="Calibri" pitchFamily="34" charset="-122"/>
                <a:cs typeface="Calibri" pitchFamily="34" charset="-120"/>
              </a:rPr>
              <a:t>float64 · dropout off · sample parameters · two forward passes per check</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A10 · REFERENCES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References and further reading (1/2)</a:t>
            </a:r>
            <a:endParaRPr lang="en-US" sz="3200" dirty="0"/>
          </a:p>
        </p:txBody>
      </p:sp>
      <p:sp>
        <p:nvSpPr>
          <p:cNvPr id="5" name="Text 2"/>
          <p:cNvSpPr txBox="1"/>
          <p:nvPr/>
        </p:nvSpPr>
        <p:spPr>
          <a:xfrm>
            <a:off x="548640" y="1417320"/>
            <a:ext cx="5440680" cy="4754880"/>
          </a:xfrm>
          <a:prstGeom prst="rect">
            <a:avLst/>
          </a:prstGeom>
          <a:noFill/>
          <a:ln/>
        </p:spPr>
        <p:txBody>
          <a:bodyPr wrap="square" lIns="0" tIns="0" rIns="0" bIns="0" rtlCol="0" anchor="t"/>
          <a:lstStyle/>
          <a:p>
            <a:pPr indent="0" marL="0">
              <a:spcAft>
                <a:spcPts val="400"/>
              </a:spcAft>
              <a:buNone/>
            </a:pPr>
            <a:r>
              <a:rPr lang="en-US" sz="1500" b="1" dirty="0">
                <a:solidFill>
                  <a:srgbClr val="0F7C82"/>
                </a:solidFill>
                <a:latin typeface="Calibri" pitchFamily="34" charset="0"/>
                <a:ea typeface="Calibri" pitchFamily="34" charset="-122"/>
                <a:cs typeface="Calibri" pitchFamily="34" charset="-120"/>
              </a:rPr>
              <a:t>Textbooks and courses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Goodfellow, Bengio &amp; Courville (2016). Deep Learning. MIT Press.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Prince, S. (2023). Understanding Deep Learning. MIT Press.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Zhang, Lipton, Li &amp; Smola (2023). Dive into Deep Learning. Cambridge UP.</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Stanford CS231n course notes. Karpathy, A. (2019). A recipe for training neural networks.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Mazur, E. (1997). Peer Instruction. Prentice Hall.</a:t>
            </a:r>
            <a:endParaRPr lang="en-US" sz="1400" dirty="0"/>
          </a:p>
          <a:p>
            <a:pPr indent="0" marL="0">
              <a:spcBef>
                <a:spcPts val="800"/>
              </a:spcBef>
              <a:spcAft>
                <a:spcPts val="400"/>
              </a:spcAft>
              <a:buNone/>
            </a:pPr>
            <a:r>
              <a:rPr lang="en-US" sz="1500" b="1" dirty="0">
                <a:solidFill>
                  <a:srgbClr val="0F7C82"/>
                </a:solidFill>
                <a:latin typeface="Calibri" pitchFamily="34" charset="0"/>
                <a:ea typeface="Calibri" pitchFamily="34" charset="-122"/>
                <a:cs typeface="Calibri" pitchFamily="34" charset="-120"/>
              </a:rPr>
              <a:t>Data</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Xiao, Rasul &amp; Vollgraf (2017). Fashion-MNIST. arXiv:1708.07747.</a:t>
            </a:r>
            <a:endParaRPr lang="en-US" sz="1400" dirty="0"/>
          </a:p>
        </p:txBody>
      </p:sp>
      <p:sp>
        <p:nvSpPr>
          <p:cNvPr id="6" name="Text 3"/>
          <p:cNvSpPr txBox="1"/>
          <p:nvPr/>
        </p:nvSpPr>
        <p:spPr>
          <a:xfrm>
            <a:off x="6217920" y="1417320"/>
            <a:ext cx="5440680" cy="4754880"/>
          </a:xfrm>
          <a:prstGeom prst="rect">
            <a:avLst/>
          </a:prstGeom>
          <a:noFill/>
          <a:ln/>
        </p:spPr>
        <p:txBody>
          <a:bodyPr wrap="square" lIns="0" tIns="0" rIns="0" bIns="0" rtlCol="0" anchor="t"/>
          <a:lstStyle/>
          <a:p>
            <a:pPr indent="0" marL="0">
              <a:spcAft>
                <a:spcPts val="400"/>
              </a:spcAft>
              <a:buNone/>
            </a:pPr>
            <a:r>
              <a:rPr lang="en-US" sz="1500" b="1" dirty="0">
                <a:solidFill>
                  <a:srgbClr val="0F7C82"/>
                </a:solidFill>
                <a:latin typeface="Calibri" pitchFamily="34" charset="0"/>
                <a:ea typeface="Calibri" pitchFamily="34" charset="-122"/>
                <a:cs typeface="Calibri" pitchFamily="34" charset="-120"/>
              </a:rPr>
              <a:t>Part 1</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McCulloch &amp; Pitts (1943); Rosenblatt (1958); Novikoff (1962); Minsky &amp; Papert (1969).</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Cybenko (1989); Hornik (1991); Leshno et al. (1993); Lu et al. (2017).</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Glorot, Bordes &amp; Bengio (2011). Deep sparse rectifier networks. AISTATS.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Hendrycks &amp; Gimpel (2016). GELUs. Shazeer (2020). GLU variants.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Grinsztajn et al. (2022). NeurIPS. Hollmann et al. (2025). Nature 637.</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A10 · REFERENCES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References and further reading (2/2)</a:t>
            </a:r>
            <a:endParaRPr lang="en-US" sz="3200" dirty="0"/>
          </a:p>
        </p:txBody>
      </p:sp>
      <p:sp>
        <p:nvSpPr>
          <p:cNvPr id="5" name="Text 2"/>
          <p:cNvSpPr txBox="1"/>
          <p:nvPr/>
        </p:nvSpPr>
        <p:spPr>
          <a:xfrm>
            <a:off x="548640" y="1417320"/>
            <a:ext cx="5440680" cy="4754880"/>
          </a:xfrm>
          <a:prstGeom prst="rect">
            <a:avLst/>
          </a:prstGeom>
          <a:noFill/>
          <a:ln/>
        </p:spPr>
        <p:txBody>
          <a:bodyPr wrap="square" lIns="0" tIns="0" rIns="0" bIns="0" rtlCol="0" anchor="t"/>
          <a:lstStyle/>
          <a:p>
            <a:pPr indent="0" marL="0">
              <a:spcAft>
                <a:spcPts val="400"/>
              </a:spcAft>
              <a:buNone/>
            </a:pPr>
            <a:r>
              <a:rPr lang="en-US" sz="1500" b="1" dirty="0">
                <a:solidFill>
                  <a:srgbClr val="0F7C82"/>
                </a:solidFill>
                <a:latin typeface="Calibri" pitchFamily="34" charset="0"/>
                <a:ea typeface="Calibri" pitchFamily="34" charset="-122"/>
                <a:cs typeface="Calibri" pitchFamily="34" charset="-120"/>
              </a:rPr>
              <a:t>Part 2</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Linnainmaa (1970); Werbos (1974); Rumelhart, Hinton &amp; Williams (1986). Nature 323; and PDP Vol. 1, Ch. 8.</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Chen et al. (2016). Sublinear memory cost (checkpointing).</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Smith (2017). Cyclical learning rates. WACV.</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Montúfar et al. (2014). NeurIPS. Telgarsky (2016). COLT. Zeiler &amp; Fergus (2014). ECCV.</a:t>
            </a:r>
            <a:endParaRPr lang="en-US" sz="1400" dirty="0"/>
          </a:p>
        </p:txBody>
      </p:sp>
      <p:sp>
        <p:nvSpPr>
          <p:cNvPr id="6" name="Text 3"/>
          <p:cNvSpPr txBox="1"/>
          <p:nvPr/>
        </p:nvSpPr>
        <p:spPr>
          <a:xfrm>
            <a:off x="6217920" y="1417320"/>
            <a:ext cx="5440680" cy="4754880"/>
          </a:xfrm>
          <a:prstGeom prst="rect">
            <a:avLst/>
          </a:prstGeom>
          <a:noFill/>
          <a:ln/>
        </p:spPr>
        <p:txBody>
          <a:bodyPr wrap="square" lIns="0" tIns="0" rIns="0" bIns="0" rtlCol="0" anchor="t"/>
          <a:lstStyle/>
          <a:p>
            <a:pPr indent="0" marL="0">
              <a:spcAft>
                <a:spcPts val="400"/>
              </a:spcAft>
              <a:buNone/>
            </a:pPr>
            <a:r>
              <a:rPr lang="en-US" sz="1500" b="1" dirty="0">
                <a:solidFill>
                  <a:srgbClr val="0F7C82"/>
                </a:solidFill>
                <a:latin typeface="Calibri" pitchFamily="34" charset="0"/>
                <a:ea typeface="Calibri" pitchFamily="34" charset="-122"/>
                <a:cs typeface="Calibri" pitchFamily="34" charset="-120"/>
              </a:rPr>
              <a:t>Part 3</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Glorot &amp; Bengio (2010). AISTATS. He et al. (2015). ICCV. He et al. (2016). CVPR.</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Kingma &amp; Ba (2015). Adam. Loshchilov &amp; Hutter (2017, 2019). SGDR; AdamW.</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Goyal et al. (2017). Large minibatch SGD. Ioffe &amp; Szegedy (2015). Batch norm.</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Santurkar et al. (2018). Ba et al. (2016). Wu &amp; He (2018). Zhang &amp; Sennrich (2019).</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Srivastava et al. (2014). Dropout. Belkin et al. (2019). PNAS.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Nakkiran et al. (2020). ICLR. Nakkiran et al. (2021). Optimal regularization can mitigate double descent. ICLR.</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Zhang et al. (2018). mixup. Yun et al. (2019). CutMix. Cubuk et al. (2020). RandAugment.</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71</a:t>
            </a:fld>
            <a:endParaRPr lang="en-US"/>
          </a:p>
        </p:txBody>
      </p:sp>
    </p:spTree>
  </p:cSld>
  <p:clrMapOvr>
    <a:masterClrMapping/>
  </p:clrMapOvr>
</p:sld>
</file>

<file path=ppt/theme/theme1.xml><?xml version="1.0" encoding="utf-8"?>
<a:theme xmlns:a="http://schemas.openxmlformats.org/drawingml/2006/main" name="Deep Networks">
  <a:themeElements>
    <a:clrScheme name="Deep Networks">
      <a:dk1>
        <a:srgbClr val="17202E"/>
      </a:dk1>
      <a:lt1>
        <a:srgbClr val="FFFFFF"/>
      </a:lt1>
      <a:dk2>
        <a:srgbClr val="2B3A4F"/>
      </a:dk2>
      <a:lt2>
        <a:srgbClr val="F3F5F8"/>
      </a:lt2>
      <a:accent1>
        <a:srgbClr val="0F7C82"/>
      </a:accent1>
      <a:accent2>
        <a:srgbClr val="C8571B"/>
      </a:accent2>
      <a:accent3>
        <a:srgbClr val="4C5BD4"/>
      </a:accent3>
      <a:accent4>
        <a:srgbClr val="5B6675"/>
      </a:accent4>
      <a:accent5>
        <a:srgbClr val="2E8B57"/>
      </a:accent5>
      <a:accent6>
        <a:srgbClr val="B8435A"/>
      </a:accent6>
      <a:hlink>
        <a:srgbClr val="0F7C82"/>
      </a:hlink>
      <a:folHlink>
        <a:srgbClr val="4C5BD4"/>
      </a:folHlink>
    </a:clrScheme>
    <a:fontScheme name="Deep Network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71</Slides>
  <Notes>71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Neural Networks — Session 1</dc:title>
  <dc:subject>PptxGenJS Presentation</dc:subject>
  <dc:creator>Deep Neural Networks course</dc:creator>
  <cp:lastModifiedBy>Deep Neural Networks course</cp:lastModifiedBy>
  <cp:revision>1</cp:revision>
  <dcterms:created xsi:type="dcterms:W3CDTF">2026-10-08T21:02:25Z</dcterms:created>
  <dcterms:modified xsi:type="dcterms:W3CDTF">2026-10-08T21:02:25Z</dcterms:modified>
</cp:coreProperties>
</file>