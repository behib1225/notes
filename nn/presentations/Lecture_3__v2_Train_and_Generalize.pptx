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3.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4.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charts/chart9.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charts/chart10.xml" ContentType="application/vnd.openxmlformats-officedocument.drawingml.chart+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charts/chart11.xml" ContentType="application/vnd.openxmlformats-officedocument.drawingml.chart+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charts/chart12.xml" ContentType="application/vnd.openxmlformats-officedocument.drawingml.chart+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99eebb5-150f-1e3b-82d6-7b615e064716}">
          <p14:sldIdLst>
            <p14:sldId id="256"/>
            <p14:sldId id="257"/>
            <p14:sldId id="258"/>
          </p14:sldIdLst>
        </p14:section>
        <p14:section name="§9 Vanishing gradients and initialization" id="{e11d7caf-cbb0-a8fd-b882-5ef52314d517}">
          <p14:sldIdLst>
            <p14:sldId id="259"/>
            <p14:sldId id="260"/>
            <p14:sldId id="261"/>
            <p14:sldId id="262"/>
            <p14:sldId id="263"/>
            <p14:sldId id="264"/>
            <p14:sldId id="265"/>
            <p14:sldId id="266"/>
            <p14:sldId id="267"/>
            <p14:sldId id="268"/>
            <p14:sldId id="269"/>
            <p14:sldId id="270"/>
          </p14:sldIdLst>
        </p14:section>
        <p14:section name="§10 Optimizers" id="{e6b40a0c-b5fa-3812-d846-ff992615d707}">
          <p14:sldIdLst>
            <p14:sldId id="271"/>
            <p14:sldId id="272"/>
            <p14:sldId id="273"/>
            <p14:sldId id="274"/>
            <p14:sldId id="275"/>
            <p14:sldId id="276"/>
            <p14:sldId id="277"/>
            <p14:sldId id="278"/>
            <p14:sldId id="279"/>
            <p14:sldId id="280"/>
            <p14:sldId id="281"/>
            <p14:sldId id="282"/>
            <p14:sldId id="283"/>
            <p14:sldId id="284"/>
          </p14:sldIdLst>
        </p14:section>
        <p14:section name="§11 Normalization layers" id="{45ff7fb7-0d22-ed1e-7d11-12b1418f4046}">
          <p14:sldIdLst>
            <p14:sldId id="285"/>
            <p14:sldId id="286"/>
            <p14:sldId id="287"/>
            <p14:sldId id="288"/>
            <p14:sldId id="289"/>
            <p14:sldId id="290"/>
            <p14:sldId id="291"/>
            <p14:sldId id="292"/>
            <p14:sldId id="293"/>
            <p14:sldId id="294"/>
          </p14:sldIdLst>
        </p14:section>
        <p14:section name="§12 Regularization and generalization" id="{084e58fd-e8bd-3325-075f-d75575fd9d36}">
          <p14:sldIdLst>
            <p14:sldId id="295"/>
            <p14:sldId id="296"/>
            <p14:sldId id="297"/>
            <p14:sldId id="298"/>
            <p14:sldId id="299"/>
            <p14:sldId id="300"/>
            <p14:sldId id="301"/>
            <p14:sldId id="302"/>
            <p14:sldId id="303"/>
            <p14:sldId id="304"/>
            <p14:sldId id="305"/>
            <p14:sldId id="306"/>
          </p14:sldIdLst>
        </p14:section>
        <p14:section name="Wrap-up" id="{81482086-6f3a-4553-4d5b-f9aa5960a268}">
          <p14:sldIdLst>
            <p14:sldId id="307"/>
            <p14:sldId id="30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factor 1.5</c:v>
                </c:pt>
              </c:strCache>
            </c:strRef>
          </c:tx>
          <c:spPr>
            <a:solidFill>
              <a:srgbClr val="B83227"/>
            </a:solidFill>
            <a:ln w="38100" cap="flat">
              <a:solidFill>
                <a:srgbClr val="B83227"/>
              </a:solidFill>
              <a:prstDash val="solid"/>
              <a:round/>
            </a:ln>
            <a:effectLst/>
          </c:spPr>
          <c:marker>
            <c:symbol val="none"/>
            <c:size val="7"/>
            <c:spPr>
              <a:solidFill>
                <a:srgbClr val="B83227"/>
              </a:solidFill>
              <a:ln w="9525" cap="flat">
                <a:solidFill>
                  <a:srgbClr val="B83227"/>
                </a:solidFill>
                <a:prstDash val="solid"/>
                <a:round/>
              </a:ln>
              <a:effectLst/>
            </c:spPr>
          </c:marker>
          <c:xVal>
            <c:numRef>
              <c:f>Sheet1!$A$2:$A$22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xVal>
          <c:yVal>
            <c:numRef>
              <c:f>Sheet1!$B$2:$B$22</c:f>
              <c:numCache>
                <c:formatCode>General</c:formatCode>
                <c:ptCount val="21"/>
                <c:pt idx="0">
                  <c:v>0</c:v>
                </c:pt>
                <c:pt idx="1">
                  <c:v>0.17609125905568124</c:v>
                </c:pt>
                <c:pt idx="2">
                  <c:v>0.3521825181113625</c:v>
                </c:pt>
                <c:pt idx="3">
                  <c:v>0.5282737771670437</c:v>
                </c:pt>
                <c:pt idx="4">
                  <c:v>0.704365036222725</c:v>
                </c:pt>
                <c:pt idx="5">
                  <c:v>0.8804562952784062</c:v>
                </c:pt>
                <c:pt idx="6">
                  <c:v>1.0565475543340874</c:v>
                </c:pt>
                <c:pt idx="7">
                  <c:v>1.2326388133897686</c:v>
                </c:pt>
                <c:pt idx="8">
                  <c:v>1.40873007244545</c:v>
                </c:pt>
                <c:pt idx="9">
                  <c:v>1.5848213315011312</c:v>
                </c:pt>
                <c:pt idx="10">
                  <c:v>1.7609125905568124</c:v>
                </c:pt>
                <c:pt idx="11">
                  <c:v>1.9370038496124935</c:v>
                </c:pt>
                <c:pt idx="12">
                  <c:v>2.113095108668175</c:v>
                </c:pt>
                <c:pt idx="13">
                  <c:v>2.289186367723856</c:v>
                </c:pt>
                <c:pt idx="14">
                  <c:v>2.465277626779537</c:v>
                </c:pt>
                <c:pt idx="15">
                  <c:v>2.6413688858352184</c:v>
                </c:pt>
                <c:pt idx="16">
                  <c:v>2.8174601448909</c:v>
                </c:pt>
                <c:pt idx="17">
                  <c:v>2.993551403946581</c:v>
                </c:pt>
                <c:pt idx="18">
                  <c:v>3.1696426630022625</c:v>
                </c:pt>
                <c:pt idx="19">
                  <c:v>3.3457339220579434</c:v>
                </c:pt>
                <c:pt idx="20">
                  <c:v>3.5218251811136247</c:v>
                </c:pt>
              </c:numCache>
            </c:numRef>
          </c:yVal>
          <c:smooth val="0"/>
        </c:ser>
        <c:ser>
          <c:idx val="1"/>
          <c:order val="1"/>
          <c:tx>
            <c:strRef>
              <c:f>Sheet1!$C$1</c:f>
              <c:strCache>
                <c:ptCount val="1"/>
                <c:pt idx="0">
                  <c:v>factor 1.0</c:v>
                </c:pt>
              </c:strCache>
            </c:strRef>
          </c:tx>
          <c:spPr>
            <a:solidFill>
              <a:srgbClr val="0F7B78"/>
            </a:solidFill>
            <a:ln w="38100" cap="flat">
              <a:solidFill>
                <a:srgbClr val="0F7B78"/>
              </a:solidFill>
              <a:prstDash val="solid"/>
              <a:round/>
            </a:ln>
            <a:effectLst/>
          </c:spPr>
          <c:marker>
            <c:symbol val="none"/>
            <c:size val="7"/>
            <c:spPr>
              <a:solidFill>
                <a:srgbClr val="0F7B78"/>
              </a:solidFill>
              <a:ln w="9525" cap="flat">
                <a:solidFill>
                  <a:srgbClr val="0F7B78"/>
                </a:solidFill>
                <a:prstDash val="solid"/>
                <a:round/>
              </a:ln>
              <a:effectLst/>
            </c:spPr>
          </c:marker>
          <c:xVal>
            <c:numRef>
              <c:f>Sheet1!$A$2:$A$22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xVal>
          <c:y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numCache>
            </c:numRef>
          </c:yVal>
          <c:smooth val="0"/>
        </c:ser>
        <c:ser>
          <c:idx val="2"/>
          <c:order val="2"/>
          <c:tx>
            <c:strRef>
              <c:f>Sheet1!$D$1</c:f>
              <c:strCache>
                <c:ptCount val="1"/>
                <c:pt idx="0">
                  <c:v>factor 0.9</c:v>
                </c:pt>
              </c:strCache>
            </c:strRef>
          </c:tx>
          <c:spPr>
            <a:solidFill>
              <a:srgbClr val="4C5FD5"/>
            </a:solidFill>
            <a:ln w="38100" cap="flat">
              <a:solidFill>
                <a:srgbClr val="4C5FD5"/>
              </a:solidFill>
              <a:prstDash val="solid"/>
              <a:round/>
            </a:ln>
            <a:effectLst/>
          </c:spPr>
          <c:marker>
            <c:symbol val="none"/>
            <c:size val="7"/>
            <c:spPr>
              <a:solidFill>
                <a:srgbClr val="4C5FD5"/>
              </a:solidFill>
              <a:ln w="9525" cap="flat">
                <a:solidFill>
                  <a:srgbClr val="4C5FD5"/>
                </a:solidFill>
                <a:prstDash val="solid"/>
                <a:round/>
              </a:ln>
              <a:effectLst/>
            </c:spPr>
          </c:marker>
          <c:xVal>
            <c:numRef>
              <c:f>Sheet1!$A$2:$A$22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xVal>
          <c:yVal>
            <c:numRef>
              <c:f>Sheet1!$D$2:$D$22</c:f>
              <c:numCache>
                <c:formatCode>General</c:formatCode>
                <c:ptCount val="21"/>
                <c:pt idx="0">
                  <c:v>0</c:v>
                </c:pt>
                <c:pt idx="1">
                  <c:v>-0.045757490560675115</c:v>
                </c:pt>
                <c:pt idx="2">
                  <c:v>-0.09151498112135023</c:v>
                </c:pt>
                <c:pt idx="3">
                  <c:v>-0.13727247168202533</c:v>
                </c:pt>
                <c:pt idx="4">
                  <c:v>-0.18302996224270046</c:v>
                </c:pt>
                <c:pt idx="5">
                  <c:v>-0.2287874528033756</c:v>
                </c:pt>
                <c:pt idx="6">
                  <c:v>-0.27454494336405066</c:v>
                </c:pt>
                <c:pt idx="7">
                  <c:v>-0.3203024339247258</c:v>
                </c:pt>
                <c:pt idx="8">
                  <c:v>-0.3660599244854009</c:v>
                </c:pt>
                <c:pt idx="9">
                  <c:v>-0.41181741504607605</c:v>
                </c:pt>
                <c:pt idx="10">
                  <c:v>-0.4575749056067512</c:v>
                </c:pt>
                <c:pt idx="11">
                  <c:v>-0.5033323961674263</c:v>
                </c:pt>
                <c:pt idx="12">
                  <c:v>-0.5490898867281013</c:v>
                </c:pt>
                <c:pt idx="13">
                  <c:v>-0.5948473772887765</c:v>
                </c:pt>
                <c:pt idx="14">
                  <c:v>-0.6406048678494516</c:v>
                </c:pt>
                <c:pt idx="15">
                  <c:v>-0.6863623584101267</c:v>
                </c:pt>
                <c:pt idx="16">
                  <c:v>-0.7321198489708018</c:v>
                </c:pt>
                <c:pt idx="17">
                  <c:v>-0.777877339531477</c:v>
                </c:pt>
                <c:pt idx="18">
                  <c:v>-0.8236348300921521</c:v>
                </c:pt>
                <c:pt idx="19">
                  <c:v>-0.8693923206528272</c:v>
                </c:pt>
                <c:pt idx="20">
                  <c:v>-0.9151498112135024</c:v>
                </c:pt>
              </c:numCache>
            </c:numRef>
          </c:yVal>
          <c:smooth val="0"/>
        </c:ser>
        <c:ser>
          <c:idx val="3"/>
          <c:order val="3"/>
          <c:tx>
            <c:strRef>
              <c:f>Sheet1!$E$1</c:f>
              <c:strCache>
                <c:ptCount val="1"/>
                <c:pt idx="0">
                  <c:v>factor 0.25 (sigmoid, best case)</c:v>
                </c:pt>
              </c:strCache>
            </c:strRef>
          </c:tx>
          <c:spPr>
            <a:solidFill>
              <a:srgbClr val="D45D27"/>
            </a:solidFill>
            <a:ln w="38100" cap="flat">
              <a:solidFill>
                <a:srgbClr val="D45D27"/>
              </a:solidFill>
              <a:prstDash val="solid"/>
              <a:round/>
            </a:ln>
            <a:effectLst/>
          </c:spPr>
          <c:marker>
            <c:symbol val="none"/>
            <c:size val="7"/>
            <c:spPr>
              <a:solidFill>
                <a:srgbClr val="D45D27"/>
              </a:solidFill>
              <a:ln w="9525" cap="flat">
                <a:solidFill>
                  <a:srgbClr val="D45D27"/>
                </a:solidFill>
                <a:prstDash val="solid"/>
                <a:round/>
              </a:ln>
              <a:effectLst/>
            </c:spPr>
          </c:marker>
          <c:xVal>
            <c:numRef>
              <c:f>Sheet1!$A$2:$A$22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xVal>
          <c:yVal>
            <c:numRef>
              <c:f>Sheet1!$E$2:$E$22</c:f>
              <c:numCache>
                <c:formatCode>General</c:formatCode>
                <c:ptCount val="21"/>
                <c:pt idx="0">
                  <c:v>0</c:v>
                </c:pt>
                <c:pt idx="1">
                  <c:v>-0.6020599913279624</c:v>
                </c:pt>
                <c:pt idx="2">
                  <c:v>-1.2041199826559248</c:v>
                </c:pt>
                <c:pt idx="3">
                  <c:v>-1.806179973983887</c:v>
                </c:pt>
                <c:pt idx="4">
                  <c:v>-2.4082399653118496</c:v>
                </c:pt>
                <c:pt idx="5">
                  <c:v>-3.010299956639812</c:v>
                </c:pt>
                <c:pt idx="6">
                  <c:v>-3.612359947967774</c:v>
                </c:pt>
                <c:pt idx="7">
                  <c:v>-4.214419939295737</c:v>
                </c:pt>
                <c:pt idx="8">
                  <c:v>-4.816479930623699</c:v>
                </c:pt>
                <c:pt idx="9">
                  <c:v>-5.418539921951662</c:v>
                </c:pt>
                <c:pt idx="10">
                  <c:v>-6.020599913279624</c:v>
                </c:pt>
                <c:pt idx="11">
                  <c:v>-6.622659904607587</c:v>
                </c:pt>
                <c:pt idx="12">
                  <c:v>-7.224719895935548</c:v>
                </c:pt>
                <c:pt idx="13">
                  <c:v>-7.826779887263511</c:v>
                </c:pt>
                <c:pt idx="14">
                  <c:v>-8.428839878591473</c:v>
                </c:pt>
                <c:pt idx="15">
                  <c:v>-9.030899869919436</c:v>
                </c:pt>
                <c:pt idx="16">
                  <c:v>-9.632959861247398</c:v>
                </c:pt>
                <c:pt idx="17">
                  <c:v>-10.23501985257536</c:v>
                </c:pt>
                <c:pt idx="18">
                  <c:v>-10.837079843903323</c:v>
                </c:pt>
                <c:pt idx="19">
                  <c:v>-11.439139835231286</c:v>
                </c:pt>
                <c:pt idx="20">
                  <c:v>-12.041199826559248</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20"/>
          <c:min val="0"/>
        </c:scaling>
        <c:delete val="0"/>
        <c:axPos val="b"/>
        <c:title>
          <c:tx>
            <c:rich>
              <a:bodyPr/>
              <a:lstStyle/>
              <a:p>
                <a:pPr>
                  <a:defRPr sz="1400" b="0" i="0" u="none" strike="noStrike">
                    <a:solidFill>
                      <a:srgbClr val="556270"/>
                    </a:solidFill>
                    <a:latin typeface="Arial"/>
                  </a:defRPr>
                </a:pPr>
                <a:r>
                  <a:rPr sz="1400" b="0" i="0" u="none" strike="noStrike">
                    <a:solidFill>
                      <a:srgbClr val="556270"/>
                    </a:solidFill>
                    <a:latin typeface="Arial"/>
                  </a:rPr>
                  <a:t>layers the gradient travels back through</a:t>
                </a:r>
              </a:p>
            </c:rich>
          </c:tx>
          <c:layout/>
          <c:overlay val="0"/>
        </c:title>
        <c:numFmt formatCode="General" sourceLinked="1"/>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2"/>
        <c:crossesAt val="autoZero"/>
        <c:auto val="1"/>
        <c:lblAlgn val="ctr"/>
        <c:noMultiLvlLbl val="1"/>
        <c:majorUnit val="5"/>
      </c:valAx>
      <c:valAx>
        <c:axId val="2094734552"/>
        <c:scaling>
          <c:orientation val="minMax"/>
          <c:max val="4"/>
          <c:min val="-12"/>
        </c:scaling>
        <c:delete val="0"/>
        <c:axPos val="l"/>
        <c:majorGridlines>
          <c:spPr>
            <a:ln w="9525" cap="flat">
              <a:solidFill>
                <a:srgbClr val="E1E6EA"/>
              </a:solidFill>
              <a:prstDash val="solid"/>
              <a:round/>
            </a:ln>
          </c:spPr>
        </c:majorGridlines>
        <c:title>
          <c:tx>
            <c:rich>
              <a:bodyPr/>
              <a:lstStyle/>
              <a:p>
                <a:pPr>
                  <a:defRPr sz="1400" b="0" i="0" u="none" strike="noStrike">
                    <a:solidFill>
                      <a:srgbClr val="556270"/>
                    </a:solidFill>
                    <a:latin typeface="Arial"/>
                  </a:defRPr>
                </a:pPr>
                <a:r>
                  <a:rPr sz="1400" b="0" i="0" u="none" strike="noStrike">
                    <a:solidFill>
                      <a:srgbClr val="556270"/>
                    </a:solidFill>
                    <a:latin typeface="Arial"/>
                  </a:rPr>
                  <a:t>log₁₀ gradient scale</a:t>
                </a:r>
              </a:p>
            </c:rich>
          </c:tx>
          <c:layout/>
          <c:overlay val="0"/>
        </c:title>
        <c:numFmt formatCode="General" sourceLinked="0"/>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4"/>
        <c:crossesAt val="-12"/>
        <c:crossBetween val="midCat"/>
        <c:majorUnit val="2"/>
      </c:valAx>
      <c:spPr>
        <a:noFill/>
        <a:ln>
          <a:noFill/>
        </a:ln>
        <a:effectLst/>
      </c:spPr>
    </c:plotArea>
    <c:legend>
      <c:legendPos val="b"/>
      <c:overlay val="0"/>
      <c:txPr>
        <a:bodyPr/>
        <a:lstStyle/>
        <a:p>
          <a:pPr>
            <a:defRPr sz="1400">
              <a:solidFill>
                <a:srgbClr val="15232D"/>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std = 1.0 (too large)</c:v>
                </c:pt>
              </c:strCache>
            </c:strRef>
          </c:tx>
          <c:spPr>
            <a:solidFill>
              <a:srgbClr val="B83227"/>
            </a:solidFill>
            <a:ln w="38100" cap="flat">
              <a:solidFill>
                <a:srgbClr val="B83227"/>
              </a:solidFill>
              <a:prstDash val="solid"/>
              <a:round/>
            </a:ln>
            <a:effectLst/>
          </c:spPr>
          <c:marker>
            <c:symbol val="circle"/>
            <c:size val="7"/>
            <c:spPr>
              <a:solidFill>
                <a:srgbClr val="B83227"/>
              </a:solidFill>
              <a:ln w="9525" cap="flat">
                <a:solidFill>
                  <a:srgbClr val="B83227"/>
                </a:solidFill>
                <a:prstDash val="solid"/>
                <a:round/>
              </a:ln>
              <a:effectLst/>
            </c:spPr>
          </c:marker>
          <c:xVal>
            <c:numRef>
              <c:f>Sheet1!$A$2:$A$21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xVal>
          <c:yVal>
            <c:numRef>
              <c:f>Sheet1!$B$2:$B$21</c:f>
              <c:numCache>
                <c:formatCode>General</c:formatCode>
                <c:ptCount val="20"/>
                <c:pt idx="0">
                  <c:v>0.9708116108725178</c:v>
                </c:pt>
                <c:pt idx="1">
                  <c:v>2.03342375548695</c:v>
                </c:pt>
                <c:pt idx="2">
                  <c:v>3.089905111439398</c:v>
                </c:pt>
                <c:pt idx="3">
                  <c:v>4.143014800254095</c:v>
                </c:pt>
                <c:pt idx="4">
                  <c:v>5.204119982655925</c:v>
                </c:pt>
                <c:pt idx="5">
                  <c:v>6.2576785748691846</c:v>
                </c:pt>
                <c:pt idx="6">
                  <c:v>7.305351369446623</c:v>
                </c:pt>
                <c:pt idx="7">
                  <c:v>8.330413773349191</c:v>
                </c:pt>
                <c:pt idx="8">
                  <c:v>9.32633586092875</c:v>
                </c:pt>
                <c:pt idx="9">
                  <c:v>10.401400540781545</c:v>
                </c:pt>
                <c:pt idx="10">
                  <c:v>11.482873583608754</c:v>
                </c:pt>
                <c:pt idx="11">
                  <c:v>12.53655844257153</c:v>
                </c:pt>
                <c:pt idx="12">
                  <c:v>13.55509444857832</c:v>
                </c:pt>
                <c:pt idx="13">
                  <c:v>14.600972895686748</c:v>
                </c:pt>
                <c:pt idx="14">
                  <c:v>15.641474110504099</c:v>
                </c:pt>
                <c:pt idx="15">
                  <c:v>16.699837725867244</c:v>
                </c:pt>
                <c:pt idx="16">
                  <c:v>17.792391689498253</c:v>
                </c:pt>
                <c:pt idx="17">
                  <c:v>18.841984804590115</c:v>
                </c:pt>
                <c:pt idx="18">
                  <c:v>19.898176483497675</c:v>
                </c:pt>
                <c:pt idx="19">
                  <c:v>20.896526217489555</c:v>
                </c:pt>
              </c:numCache>
            </c:numRef>
          </c:yVal>
          <c:smooth val="0"/>
        </c:ser>
        <c:ser>
          <c:idx val="1"/>
          <c:order val="1"/>
          <c:tx>
            <c:strRef>
              <c:f>Sheet1!$C$1</c:f>
              <c:strCache>
                <c:ptCount val="1"/>
                <c:pt idx="0">
                  <c:v>He</c:v>
                </c:pt>
              </c:strCache>
            </c:strRef>
          </c:tx>
          <c:spPr>
            <a:solidFill>
              <a:srgbClr val="0F7B78"/>
            </a:solidFill>
            <a:ln w="38100" cap="flat">
              <a:solidFill>
                <a:srgbClr val="0F7B78"/>
              </a:solidFill>
              <a:prstDash val="solid"/>
              <a:round/>
            </a:ln>
            <a:effectLst/>
          </c:spPr>
          <c:marker>
            <c:symbol val="circle"/>
            <c:size val="7"/>
            <c:spPr>
              <a:solidFill>
                <a:srgbClr val="0F7B78"/>
              </a:solidFill>
              <a:ln w="9525" cap="flat">
                <a:solidFill>
                  <a:srgbClr val="0F7B78"/>
                </a:solidFill>
                <a:prstDash val="solid"/>
                <a:round/>
              </a:ln>
              <a:effectLst/>
            </c:spPr>
          </c:marker>
          <c:xVal>
            <c:numRef>
              <c:f>Sheet1!$A$2:$A$21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xVal>
          <c:yVal>
            <c:numRef>
              <c:f>Sheet1!$C$2:$C$21</c:f>
              <c:numCache>
                <c:formatCode>General</c:formatCode>
                <c:ptCount val="20"/>
                <c:pt idx="0">
                  <c:v>-0.08460016478773018</c:v>
                </c:pt>
                <c:pt idx="1">
                  <c:v>-0.09044397075882465</c:v>
                </c:pt>
                <c:pt idx="2">
                  <c:v>-0.10734896612269966</c:v>
                </c:pt>
                <c:pt idx="3">
                  <c:v>-0.13430394008392949</c:v>
                </c:pt>
                <c:pt idx="4">
                  <c:v>-0.11125903931710739</c:v>
                </c:pt>
                <c:pt idx="5">
                  <c:v>-0.10017949757290372</c:v>
                </c:pt>
                <c:pt idx="6">
                  <c:v>-0.09420411963213146</c:v>
                </c:pt>
                <c:pt idx="7">
                  <c:v>-0.08144546944972647</c:v>
                </c:pt>
                <c:pt idx="8">
                  <c:v>-0.061480274823508096</c:v>
                </c:pt>
                <c:pt idx="9">
                  <c:v>-0.06248210798265336</c:v>
                </c:pt>
                <c:pt idx="10">
                  <c:v>-0.07779372256098363</c:v>
                </c:pt>
                <c:pt idx="11">
                  <c:v>-0.0830199526796178</c:v>
                </c:pt>
                <c:pt idx="12">
                  <c:v>-0.08884239126002341</c:v>
                </c:pt>
                <c:pt idx="13">
                  <c:v>-0.08407278830288423</c:v>
                </c:pt>
                <c:pt idx="14">
                  <c:v>-0.12205304837081175</c:v>
                </c:pt>
                <c:pt idx="15">
                  <c:v>-0.11013827874181153</c:v>
                </c:pt>
                <c:pt idx="16">
                  <c:v>-0.07623803917129975</c:v>
                </c:pt>
                <c:pt idx="17">
                  <c:v>-0.03526907894637064</c:v>
                </c:pt>
                <c:pt idx="18">
                  <c:v>-0.027334407733889104</c:v>
                </c:pt>
                <c:pt idx="19">
                  <c:v>-0.017276612331454656</c:v>
                </c:pt>
              </c:numCache>
            </c:numRef>
          </c:yVal>
          <c:smooth val="0"/>
        </c:ser>
        <c:ser>
          <c:idx val="2"/>
          <c:order val="2"/>
          <c:tx>
            <c:strRef>
              <c:f>Sheet1!$D$1</c:f>
              <c:strCache>
                <c:ptCount val="1"/>
                <c:pt idx="0">
                  <c:v>Xavier</c:v>
                </c:pt>
              </c:strCache>
            </c:strRef>
          </c:tx>
          <c:spPr>
            <a:solidFill>
              <a:srgbClr val="4C5FD5"/>
            </a:solidFill>
            <a:ln w="38100" cap="flat">
              <a:solidFill>
                <a:srgbClr val="4C5FD5"/>
              </a:solidFill>
              <a:prstDash val="solid"/>
              <a:round/>
            </a:ln>
            <a:effectLst/>
          </c:spPr>
          <c:marker>
            <c:symbol val="circle"/>
            <c:size val="7"/>
            <c:spPr>
              <a:solidFill>
                <a:srgbClr val="4C5FD5"/>
              </a:solidFill>
              <a:ln w="9525" cap="flat">
                <a:solidFill>
                  <a:srgbClr val="4C5FD5"/>
                </a:solidFill>
                <a:prstDash val="solid"/>
                <a:round/>
              </a:ln>
              <a:effectLst/>
            </c:spPr>
          </c:marker>
          <c:xVal>
            <c:numRef>
              <c:f>Sheet1!$A$2:$A$21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xVal>
          <c:yVal>
            <c:numRef>
              <c:f>Sheet1!$D$2:$D$21</c:f>
              <c:numCache>
                <c:formatCode>General</c:formatCode>
                <c:ptCount val="20"/>
                <c:pt idx="0">
                  <c:v>-0.23358715288760057</c:v>
                </c:pt>
                <c:pt idx="1">
                  <c:v>-0.36957212497497616</c:v>
                </c:pt>
                <c:pt idx="2">
                  <c:v>-0.518557371497695</c:v>
                </c:pt>
                <c:pt idx="3">
                  <c:v>-0.6736641390712486</c:v>
                </c:pt>
                <c:pt idx="4">
                  <c:v>-0.8386319977650252</c:v>
                </c:pt>
                <c:pt idx="5">
                  <c:v>-0.9706162223147904</c:v>
                </c:pt>
                <c:pt idx="6">
                  <c:v>-1.136677139879544</c:v>
                </c:pt>
                <c:pt idx="7">
                  <c:v>-1.3233063903751334</c:v>
                </c:pt>
                <c:pt idx="8">
                  <c:v>-1.4788619162959638</c:v>
                </c:pt>
                <c:pt idx="9">
                  <c:v>-1.6439741428068773</c:v>
                </c:pt>
                <c:pt idx="10">
                  <c:v>-1.8153085691824011</c:v>
                </c:pt>
                <c:pt idx="11">
                  <c:v>-1.9546770212133424</c:v>
                </c:pt>
                <c:pt idx="12">
                  <c:v>-2.089375595110799</c:v>
                </c:pt>
                <c:pt idx="13">
                  <c:v>-2.2898826348881838</c:v>
                </c:pt>
                <c:pt idx="14">
                  <c:v>-2.43297363384094</c:v>
                </c:pt>
                <c:pt idx="15">
                  <c:v>-2.6055483191737836</c:v>
                </c:pt>
                <c:pt idx="16">
                  <c:v>-2.696803942579511</c:v>
                </c:pt>
                <c:pt idx="17">
                  <c:v>-2.8210230527068307</c:v>
                </c:pt>
                <c:pt idx="18">
                  <c:v>-3.0186344909214555</c:v>
                </c:pt>
                <c:pt idx="19">
                  <c:v>-3.1884249941294067</c:v>
                </c:pt>
              </c:numCache>
            </c:numRef>
          </c:yVal>
          <c:smooth val="0"/>
        </c:ser>
        <c:ser>
          <c:idx val="3"/>
          <c:order val="3"/>
          <c:tx>
            <c:strRef>
              <c:f>Sheet1!$E$1</c:f>
              <c:strCache>
                <c:ptCount val="1"/>
                <c:pt idx="0">
                  <c:v>std = 0.01 (too small)</c:v>
                </c:pt>
              </c:strCache>
            </c:strRef>
          </c:tx>
          <c:spPr>
            <a:solidFill>
              <a:srgbClr val="D45D27"/>
            </a:solidFill>
            <a:ln w="38100" cap="flat">
              <a:solidFill>
                <a:srgbClr val="D45D27"/>
              </a:solidFill>
              <a:prstDash val="solid"/>
              <a:round/>
            </a:ln>
            <a:effectLst/>
          </c:spPr>
          <c:marker>
            <c:symbol val="circle"/>
            <c:size val="7"/>
            <c:spPr>
              <a:solidFill>
                <a:srgbClr val="D45D27"/>
              </a:solidFill>
              <a:ln w="9525" cap="flat">
                <a:solidFill>
                  <a:srgbClr val="D45D27"/>
                </a:solidFill>
                <a:prstDash val="solid"/>
                <a:round/>
              </a:ln>
              <a:effectLst/>
            </c:spPr>
          </c:marker>
          <c:xVal>
            <c:numRef>
              <c:f>Sheet1!$A$2:$A$21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xVal>
          <c:yVal>
            <c:numRef>
              <c:f>Sheet1!$E$2:$E$21</c:f>
              <c:numCache>
                <c:formatCode>General</c:formatCode>
                <c:ptCount val="20"/>
                <c:pt idx="0">
                  <c:v>-1.026410376572743</c:v>
                </c:pt>
                <c:pt idx="1">
                  <c:v>-1.978810700930062</c:v>
                </c:pt>
                <c:pt idx="2">
                  <c:v>-2.91721462968355</c:v>
                </c:pt>
                <c:pt idx="3">
                  <c:v>-3.853871964321762</c:v>
                </c:pt>
                <c:pt idx="4">
                  <c:v>-4.826813731587726</c:v>
                </c:pt>
                <c:pt idx="5">
                  <c:v>-5.806875401645538</c:v>
                </c:pt>
                <c:pt idx="6">
                  <c:v>-6.723538195826756</c:v>
                </c:pt>
                <c:pt idx="7">
                  <c:v>-7.6777807052660805</c:v>
                </c:pt>
                <c:pt idx="8">
                  <c:v>-8.610833915635467</c:v>
                </c:pt>
                <c:pt idx="9">
                  <c:v>-9.554395796726402</c:v>
                </c:pt>
                <c:pt idx="10">
                  <c:v>-10.5016894462104</c:v>
                </c:pt>
                <c:pt idx="11">
                  <c:v>-11.467245621007502</c:v>
                </c:pt>
                <c:pt idx="12">
                  <c:v>-12.435333935747911</c:v>
                </c:pt>
                <c:pt idx="13">
                  <c:v>-13.355561410532161</c:v>
                </c:pt>
                <c:pt idx="14">
                  <c:v>-14.288192770958808</c:v>
                </c:pt>
                <c:pt idx="15">
                  <c:v>-15.2518119729938</c:v>
                </c:pt>
                <c:pt idx="16">
                  <c:v>-16.216096420727265</c:v>
                </c:pt>
                <c:pt idx="17">
                  <c:v>-17.196542884351587</c:v>
                </c:pt>
                <c:pt idx="18">
                  <c:v>-18.154901959985743</c:v>
                </c:pt>
                <c:pt idx="19">
                  <c:v>-19.104025267640935</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20"/>
          <c:min val="1"/>
        </c:scaling>
        <c:delete val="0"/>
        <c:axPos val="b"/>
        <c:title>
          <c:tx>
            <c:rich>
              <a:bodyPr/>
              <a:lstStyle/>
              <a:p>
                <a:pPr>
                  <a:defRPr sz="1400" b="0" i="0" u="none" strike="noStrike">
                    <a:solidFill>
                      <a:srgbClr val="556270"/>
                    </a:solidFill>
                    <a:latin typeface="Arial"/>
                  </a:defRPr>
                </a:pPr>
                <a:r>
                  <a:rPr sz="1400" b="0" i="0" u="none" strike="noStrike">
                    <a:solidFill>
                      <a:srgbClr val="556270"/>
                    </a:solidFill>
                    <a:latin typeface="Arial"/>
                  </a:rPr>
                  <a:t>layer</a:t>
                </a:r>
              </a:p>
            </c:rich>
          </c:tx>
          <c:layout/>
          <c:overlay val="0"/>
        </c:title>
        <c:numFmt formatCode="General" sourceLinked="1"/>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2"/>
        <c:crossesAt val="1"/>
        <c:auto val="1"/>
        <c:lblAlgn val="ctr"/>
        <c:noMultiLvlLbl val="1"/>
        <c:majorUnit val="1"/>
      </c:valAx>
      <c:valAx>
        <c:axId val="2094734552"/>
        <c:scaling>
          <c:orientation val="minMax"/>
          <c:max val="21"/>
          <c:min val="-20"/>
        </c:scaling>
        <c:delete val="0"/>
        <c:axPos val="l"/>
        <c:majorGridlines>
          <c:spPr>
            <a:ln w="9525" cap="flat">
              <a:solidFill>
                <a:srgbClr val="E1E6EA"/>
              </a:solidFill>
              <a:prstDash val="solid"/>
              <a:round/>
            </a:ln>
          </c:spPr>
        </c:majorGridlines>
        <c:title>
          <c:tx>
            <c:rich>
              <a:bodyPr/>
              <a:lstStyle/>
              <a:p>
                <a:pPr>
                  <a:defRPr sz="1400" b="0" i="0" u="none" strike="noStrike">
                    <a:solidFill>
                      <a:srgbClr val="556270"/>
                    </a:solidFill>
                    <a:latin typeface="Arial"/>
                  </a:defRPr>
                </a:pPr>
                <a:r>
                  <a:rPr sz="1400" b="0" i="0" u="none" strike="noStrike">
                    <a:solidFill>
                      <a:srgbClr val="556270"/>
                    </a:solidFill>
                    <a:latin typeface="Arial"/>
                  </a:rPr>
                  <a:t>log₁₀ activation std</a:t>
                </a:r>
              </a:p>
            </c:rich>
          </c:tx>
          <c:layout/>
          <c:overlay val="0"/>
        </c:title>
        <c:numFmt formatCode="General" sourceLinked="0"/>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4"/>
        <c:crossesAt val="-20"/>
        <c:crossBetween val="midCat"/>
        <c:majorUnit val="5"/>
      </c:valAx>
      <c:spPr>
        <a:noFill/>
        <a:ln>
          <a:noFill/>
        </a:ln>
        <a:effectLst/>
      </c:spPr>
    </c:plotArea>
    <c:legend>
      <c:legendPos val="b"/>
      <c:overlay val="0"/>
      <c:txPr>
        <a:bodyPr/>
        <a:lstStyle/>
        <a:p>
          <a:pPr>
            <a:defRPr sz="1400">
              <a:solidFill>
                <a:srgbClr val="15232D"/>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AdaGrad</c:v>
                </c:pt>
              </c:strCache>
            </c:strRef>
          </c:tx>
          <c:spPr>
            <a:solidFill>
              <a:srgbClr val="D45D27"/>
            </a:solidFill>
            <a:ln w="38100" cap="flat">
              <a:solidFill>
                <a:srgbClr val="D45D27"/>
              </a:solidFill>
              <a:prstDash val="solid"/>
              <a:round/>
            </a:ln>
            <a:effectLst/>
          </c:spPr>
          <c:marker>
            <c:symbol val="none"/>
            <c:size val="7"/>
            <c:spPr>
              <a:solidFill>
                <a:srgbClr val="D45D27"/>
              </a:solidFill>
              <a:ln w="9525" cap="flat">
                <a:solidFill>
                  <a:srgbClr val="D45D27"/>
                </a:solidFill>
                <a:prstDash val="solid"/>
                <a:round/>
              </a:ln>
              <a:effectLst/>
            </c:spPr>
          </c:marker>
          <c:xVal>
            <c:numRef>
              <c:f>Sheet1!$A$2:$A$201</c:f>
              <c:numCache>
                <c:formatCode>General</c:formatCode>
                <c:ptCount val="2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numCache>
            </c:numRef>
          </c:xVal>
          <c:yVal>
            <c:numRef>
              <c:f>Sheet1!$B$2:$B$201</c:f>
              <c:numCache>
                <c:formatCode>General</c:formatCode>
                <c:ptCount val="200"/>
                <c:pt idx="0">
                  <c:v>1</c:v>
                </c:pt>
                <c:pt idx="1">
                  <c:v>0.7071067811865475</c:v>
                </c:pt>
                <c:pt idx="2">
                  <c:v>0.5773502691896258</c:v>
                </c:pt>
                <c:pt idx="3">
                  <c:v>0.5</c:v>
                </c:pt>
                <c:pt idx="4">
                  <c:v>0.4472135954999579</c:v>
                </c:pt>
                <c:pt idx="5">
                  <c:v>0.4082482904638631</c:v>
                </c:pt>
                <c:pt idx="6">
                  <c:v>0.3779644730092272</c:v>
                </c:pt>
                <c:pt idx="7">
                  <c:v>0.35355339059327373</c:v>
                </c:pt>
                <c:pt idx="8">
                  <c:v>0.3333333333333333</c:v>
                </c:pt>
                <c:pt idx="9">
                  <c:v>0.31622776601683794</c:v>
                </c:pt>
                <c:pt idx="10">
                  <c:v>0.30151134457776363</c:v>
                </c:pt>
                <c:pt idx="11">
                  <c:v>0.2886751345948129</c:v>
                </c:pt>
                <c:pt idx="12">
                  <c:v>0.2773500981126146</c:v>
                </c:pt>
                <c:pt idx="13">
                  <c:v>0.2672612419124244</c:v>
                </c:pt>
                <c:pt idx="14">
                  <c:v>0.2581988897471611</c:v>
                </c:pt>
                <c:pt idx="15">
                  <c:v>0.25</c:v>
                </c:pt>
                <c:pt idx="16">
                  <c:v>0.24253562503633297</c:v>
                </c:pt>
                <c:pt idx="17">
                  <c:v>0.23570226039551587</c:v>
                </c:pt>
                <c:pt idx="18">
                  <c:v>0.22941573387056174</c:v>
                </c:pt>
                <c:pt idx="19">
                  <c:v>0.22360679774997896</c:v>
                </c:pt>
                <c:pt idx="20">
                  <c:v>0.2182178902359924</c:v>
                </c:pt>
                <c:pt idx="21">
                  <c:v>0.21320071635561041</c:v>
                </c:pt>
                <c:pt idx="22">
                  <c:v>0.20851441405707477</c:v>
                </c:pt>
                <c:pt idx="23">
                  <c:v>0.20412414523193154</c:v>
                </c:pt>
                <c:pt idx="24">
                  <c:v>0.2</c:v>
                </c:pt>
                <c:pt idx="25">
                  <c:v>0.19611613513818404</c:v>
                </c:pt>
                <c:pt idx="26">
                  <c:v>0.19245008972987526</c:v>
                </c:pt>
                <c:pt idx="27">
                  <c:v>0.1889822365046136</c:v>
                </c:pt>
                <c:pt idx="28">
                  <c:v>0.18569533817705186</c:v>
                </c:pt>
                <c:pt idx="29">
                  <c:v>0.18257418583505536</c:v>
                </c:pt>
                <c:pt idx="30">
                  <c:v>0.1796053020267749</c:v>
                </c:pt>
                <c:pt idx="31">
                  <c:v>0.17677669529663687</c:v>
                </c:pt>
                <c:pt idx="32">
                  <c:v>0.17407765595569785</c:v>
                </c:pt>
                <c:pt idx="33">
                  <c:v>0.17149858514250882</c:v>
                </c:pt>
                <c:pt idx="34">
                  <c:v>0.1690308509457033</c:v>
                </c:pt>
                <c:pt idx="35">
                  <c:v>0.16666666666666666</c:v>
                </c:pt>
                <c:pt idx="36">
                  <c:v>0.1643989873053573</c:v>
                </c:pt>
                <c:pt idx="37">
                  <c:v>0.16222142113076254</c:v>
                </c:pt>
                <c:pt idx="38">
                  <c:v>0.16012815380508713</c:v>
                </c:pt>
                <c:pt idx="39">
                  <c:v>0.15811388300841897</c:v>
                </c:pt>
                <c:pt idx="40">
                  <c:v>0.15617376188860607</c:v>
                </c:pt>
                <c:pt idx="41">
                  <c:v>0.1543033499620919</c:v>
                </c:pt>
                <c:pt idx="42">
                  <c:v>0.15249857033260467</c:v>
                </c:pt>
                <c:pt idx="43">
                  <c:v>0.15075567228888181</c:v>
                </c:pt>
                <c:pt idx="44">
                  <c:v>0.14907119849998599</c:v>
                </c:pt>
                <c:pt idx="45">
                  <c:v>0.14744195615489714</c:v>
                </c:pt>
                <c:pt idx="46">
                  <c:v>0.14586499149789456</c:v>
                </c:pt>
                <c:pt idx="47">
                  <c:v>0.14433756729740646</c:v>
                </c:pt>
                <c:pt idx="48">
                  <c:v>0.14285714285714285</c:v>
                </c:pt>
                <c:pt idx="49">
                  <c:v>0.1414213562373095</c:v>
                </c:pt>
                <c:pt idx="50">
                  <c:v>0.14002800840280097</c:v>
                </c:pt>
                <c:pt idx="51">
                  <c:v>0.1386750490563073</c:v>
                </c:pt>
                <c:pt idx="52">
                  <c:v>0.13736056394868904</c:v>
                </c:pt>
                <c:pt idx="53">
                  <c:v>0.13608276348795434</c:v>
                </c:pt>
                <c:pt idx="54">
                  <c:v>0.13483997249264842</c:v>
                </c:pt>
                <c:pt idx="55">
                  <c:v>0.1336306209562122</c:v>
                </c:pt>
                <c:pt idx="56">
                  <c:v>0.13245323570650439</c:v>
                </c:pt>
                <c:pt idx="57">
                  <c:v>0.13130643285972254</c:v>
                </c:pt>
                <c:pt idx="58">
                  <c:v>0.13018891098082389</c:v>
                </c:pt>
                <c:pt idx="59">
                  <c:v>0.12909944487358055</c:v>
                </c:pt>
                <c:pt idx="60">
                  <c:v>0.12803687993289598</c:v>
                </c:pt>
                <c:pt idx="61">
                  <c:v>0.1270001270001905</c:v>
                </c:pt>
                <c:pt idx="62">
                  <c:v>0.1259881576697424</c:v>
                </c:pt>
                <c:pt idx="63">
                  <c:v>0.125</c:v>
                </c:pt>
                <c:pt idx="64">
                  <c:v>0.12403473458920847</c:v>
                </c:pt>
                <c:pt idx="65">
                  <c:v>0.12309149097933272</c:v>
                </c:pt>
                <c:pt idx="66">
                  <c:v>0.12216944435630522</c:v>
                </c:pt>
                <c:pt idx="67">
                  <c:v>0.12126781251816648</c:v>
                </c:pt>
                <c:pt idx="68">
                  <c:v>0.1203858530857692</c:v>
                </c:pt>
                <c:pt idx="69">
                  <c:v>0.11952286093343936</c:v>
                </c:pt>
                <c:pt idx="70">
                  <c:v>0.11867816581938533</c:v>
                </c:pt>
                <c:pt idx="71">
                  <c:v>0.11785113019775793</c:v>
                </c:pt>
                <c:pt idx="72">
                  <c:v>0.11704114719613057</c:v>
                </c:pt>
                <c:pt idx="73">
                  <c:v>0.11624763874381928</c:v>
                </c:pt>
                <c:pt idx="74">
                  <c:v>0.11547005383792514</c:v>
                </c:pt>
                <c:pt idx="75">
                  <c:v>0.11470786693528087</c:v>
                </c:pt>
                <c:pt idx="76">
                  <c:v>0.11396057645963795</c:v>
                </c:pt>
                <c:pt idx="77">
                  <c:v>0.11322770341445956</c:v>
                </c:pt>
                <c:pt idx="78">
                  <c:v>0.1125087900926024</c:v>
                </c:pt>
                <c:pt idx="79">
                  <c:v>0.11180339887498948</c:v>
                </c:pt>
                <c:pt idx="80">
                  <c:v>0.1111111111111111</c:v>
                </c:pt>
                <c:pt idx="81">
                  <c:v>0.11043152607484653</c:v>
                </c:pt>
                <c:pt idx="82">
                  <c:v>0.10976425998969035</c:v>
                </c:pt>
                <c:pt idx="83">
                  <c:v>0.1091089451179962</c:v>
                </c:pt>
                <c:pt idx="84">
                  <c:v>0.10846522890932808</c:v>
                </c:pt>
                <c:pt idx="85">
                  <c:v>0.10783277320343841</c:v>
                </c:pt>
                <c:pt idx="86">
                  <c:v>0.10721125348377948</c:v>
                </c:pt>
                <c:pt idx="87">
                  <c:v>0.10660035817780521</c:v>
                </c:pt>
                <c:pt idx="88">
                  <c:v>0.105999788000636</c:v>
                </c:pt>
                <c:pt idx="89">
                  <c:v>0.10540925533894598</c:v>
                </c:pt>
                <c:pt idx="90">
                  <c:v>0.10482848367219183</c:v>
                </c:pt>
                <c:pt idx="91">
                  <c:v>0.10425720702853739</c:v>
                </c:pt>
                <c:pt idx="92">
                  <c:v>0.10369516947304253</c:v>
                </c:pt>
                <c:pt idx="93">
                  <c:v>0.10314212462587934</c:v>
                </c:pt>
                <c:pt idx="94">
                  <c:v>0.10259783520851541</c:v>
                </c:pt>
                <c:pt idx="95">
                  <c:v>0.10206207261596577</c:v>
                </c:pt>
                <c:pt idx="96">
                  <c:v>0.10153461651336192</c:v>
                </c:pt>
                <c:pt idx="97">
                  <c:v>0.10101525445522107</c:v>
                </c:pt>
                <c:pt idx="98">
                  <c:v>0.10050378152592121</c:v>
                </c:pt>
                <c:pt idx="99">
                  <c:v>0.1</c:v>
                </c:pt>
                <c:pt idx="100">
                  <c:v>0.09950371902099892</c:v>
                </c:pt>
                <c:pt idx="101">
                  <c:v>0.09901475429766744</c:v>
                </c:pt>
                <c:pt idx="102">
                  <c:v>0.09853292781642932</c:v>
                </c:pt>
                <c:pt idx="103">
                  <c:v>0.09805806756909202</c:v>
                </c:pt>
                <c:pt idx="104">
                  <c:v>0.09759000729485333</c:v>
                </c:pt>
                <c:pt idx="105">
                  <c:v>0.09712858623572641</c:v>
                </c:pt>
                <c:pt idx="106">
                  <c:v>0.09667364890456635</c:v>
                </c:pt>
                <c:pt idx="107">
                  <c:v>0.09622504486493763</c:v>
                </c:pt>
                <c:pt idx="108">
                  <c:v>0.09578262852211514</c:v>
                </c:pt>
                <c:pt idx="109">
                  <c:v>0.09534625892455924</c:v>
                </c:pt>
                <c:pt idx="110">
                  <c:v>0.0949157995752499</c:v>
                </c:pt>
                <c:pt idx="111">
                  <c:v>0.0944911182523068</c:v>
                </c:pt>
                <c:pt idx="112">
                  <c:v>0.09407208683835973</c:v>
                </c:pt>
                <c:pt idx="113">
                  <c:v>0.0936585811581694</c:v>
                </c:pt>
                <c:pt idx="114">
                  <c:v>0.09325048082403138</c:v>
                </c:pt>
                <c:pt idx="115">
                  <c:v>0.09284766908852593</c:v>
                </c:pt>
                <c:pt idx="116">
                  <c:v>0.09245003270420485</c:v>
                </c:pt>
                <c:pt idx="117">
                  <c:v>0.09205746178983235</c:v>
                </c:pt>
                <c:pt idx="118">
                  <c:v>0.09166984970282113</c:v>
                </c:pt>
                <c:pt idx="119">
                  <c:v>0.09128709291752768</c:v>
                </c:pt>
                <c:pt idx="120">
                  <c:v>0.09090909090909091</c:v>
                </c:pt>
                <c:pt idx="121">
                  <c:v>0.09053574604251853</c:v>
                </c:pt>
                <c:pt idx="122">
                  <c:v>0.09016696346674323</c:v>
                </c:pt>
                <c:pt idx="123">
                  <c:v>0.08980265101338746</c:v>
                </c:pt>
                <c:pt idx="124">
                  <c:v>0.08944271909999159</c:v>
                </c:pt>
                <c:pt idx="125">
                  <c:v>0.0890870806374748</c:v>
                </c:pt>
                <c:pt idx="126">
                  <c:v>0.08873565094161139</c:v>
                </c:pt>
                <c:pt idx="127">
                  <c:v>0.08838834764831843</c:v>
                </c:pt>
                <c:pt idx="128">
                  <c:v>0.08804509063256238</c:v>
                </c:pt>
                <c:pt idx="129">
                  <c:v>0.08770580193070293</c:v>
                </c:pt>
                <c:pt idx="130">
                  <c:v>0.0873704056661038</c:v>
                </c:pt>
                <c:pt idx="131">
                  <c:v>0.08703882797784893</c:v>
                </c:pt>
                <c:pt idx="132">
                  <c:v>0.086710996952412</c:v>
                </c:pt>
                <c:pt idx="133">
                  <c:v>0.08638684255813601</c:v>
                </c:pt>
                <c:pt idx="134">
                  <c:v>0.08606629658238704</c:v>
                </c:pt>
                <c:pt idx="135">
                  <c:v>0.08574929257125441</c:v>
                </c:pt>
                <c:pt idx="136">
                  <c:v>0.0854357657716761</c:v>
                </c:pt>
                <c:pt idx="137">
                  <c:v>0.08512565307587486</c:v>
                </c:pt>
                <c:pt idx="138">
                  <c:v>0.08481889296799709</c:v>
                </c:pt>
                <c:pt idx="139">
                  <c:v>0.08451542547285165</c:v>
                </c:pt>
                <c:pt idx="140">
                  <c:v>0.0842151921066519</c:v>
                </c:pt>
                <c:pt idx="141">
                  <c:v>0.08391813582966891</c:v>
                </c:pt>
                <c:pt idx="142">
                  <c:v>0.08362420100070908</c:v>
                </c:pt>
                <c:pt idx="143">
                  <c:v>0.08333333333333333</c:v>
                </c:pt>
                <c:pt idx="144">
                  <c:v>0.08304547985373997</c:v>
                </c:pt>
                <c:pt idx="145">
                  <c:v>0.0827605888602368</c:v>
                </c:pt>
                <c:pt idx="146">
                  <c:v>0.08247860988423225</c:v>
                </c:pt>
                <c:pt idx="147">
                  <c:v>0.08219949365267865</c:v>
                </c:pt>
                <c:pt idx="148">
                  <c:v>0.08192319205190406</c:v>
                </c:pt>
                <c:pt idx="149">
                  <c:v>0.08164965809277261</c:v>
                </c:pt>
                <c:pt idx="150">
                  <c:v>0.08137884587711594</c:v>
                </c:pt>
                <c:pt idx="151">
                  <c:v>0.08111071056538127</c:v>
                </c:pt>
                <c:pt idx="152">
                  <c:v>0.08084520834544433</c:v>
                </c:pt>
                <c:pt idx="153">
                  <c:v>0.08058229640253803</c:v>
                </c:pt>
                <c:pt idx="154">
                  <c:v>0.08032193289024989</c:v>
                </c:pt>
                <c:pt idx="155">
                  <c:v>0.08006407690254357</c:v>
                </c:pt>
                <c:pt idx="156">
                  <c:v>0.07980868844676221</c:v>
                </c:pt>
                <c:pt idx="157">
                  <c:v>0.079555728417573</c:v>
                </c:pt>
                <c:pt idx="158">
                  <c:v>0.07930515857181442</c:v>
                </c:pt>
                <c:pt idx="159">
                  <c:v>0.07905694150420949</c:v>
                </c:pt>
                <c:pt idx="160">
                  <c:v>0.07881104062391006</c:v>
                </c:pt>
                <c:pt idx="161">
                  <c:v>0.07856742013183861</c:v>
                </c:pt>
                <c:pt idx="162">
                  <c:v>0.07832604499879574</c:v>
                </c:pt>
                <c:pt idx="163">
                  <c:v>0.07808688094430304</c:v>
                </c:pt>
                <c:pt idx="164">
                  <c:v>0.0778498944161523</c:v>
                </c:pt>
                <c:pt idx="165">
                  <c:v>0.07761505257063328</c:v>
                </c:pt>
                <c:pt idx="166">
                  <c:v>0.07738232325341368</c:v>
                </c:pt>
                <c:pt idx="167">
                  <c:v>0.07715167498104596</c:v>
                </c:pt>
                <c:pt idx="168">
                  <c:v>0.07692307692307693</c:v>
                </c:pt>
                <c:pt idx="169">
                  <c:v>0.07669649888473704</c:v>
                </c:pt>
                <c:pt idx="170">
                  <c:v>0.07647191129018725</c:v>
                </c:pt>
                <c:pt idx="171">
                  <c:v>0.07624928516630233</c:v>
                </c:pt>
                <c:pt idx="172">
                  <c:v>0.07602859212697055</c:v>
                </c:pt>
                <c:pt idx="173">
                  <c:v>0.07580980435789034</c:v>
                </c:pt>
                <c:pt idx="174">
                  <c:v>0.07559289460184544</c:v>
                </c:pt>
                <c:pt idx="175">
                  <c:v>0.07537783614444091</c:v>
                </c:pt>
                <c:pt idx="176">
                  <c:v>0.07516460280028289</c:v>
                </c:pt>
                <c:pt idx="177">
                  <c:v>0.07495316889958614</c:v>
                </c:pt>
                <c:pt idx="178">
                  <c:v>0.07474350927519359</c:v>
                </c:pt>
                <c:pt idx="179">
                  <c:v>0.07453559924999299</c:v>
                </c:pt>
                <c:pt idx="180">
                  <c:v>0.07432941462471664</c:v>
                </c:pt>
                <c:pt idx="181">
                  <c:v>0.07412493166611012</c:v>
                </c:pt>
                <c:pt idx="182">
                  <c:v>0.07392212709545729</c:v>
                </c:pt>
                <c:pt idx="183">
                  <c:v>0.07372097807744857</c:v>
                </c:pt>
                <c:pt idx="184">
                  <c:v>0.07352146220938077</c:v>
                </c:pt>
                <c:pt idx="185">
                  <c:v>0.07332355751067665</c:v>
                </c:pt>
                <c:pt idx="186">
                  <c:v>0.07312724241271307</c:v>
                </c:pt>
                <c:pt idx="187">
                  <c:v>0.07293249574894728</c:v>
                </c:pt>
                <c:pt idx="188">
                  <c:v>0.07273929674533079</c:v>
                </c:pt>
                <c:pt idx="189">
                  <c:v>0.07254762501100116</c:v>
                </c:pt>
                <c:pt idx="190">
                  <c:v>0.07235746052924216</c:v>
                </c:pt>
                <c:pt idx="191">
                  <c:v>0.07216878364870323</c:v>
                </c:pt>
                <c:pt idx="192">
                  <c:v>0.07198157507486945</c:v>
                </c:pt>
                <c:pt idx="193">
                  <c:v>0.07179581586177382</c:v>
                </c:pt>
                <c:pt idx="194">
                  <c:v>0.0716114874039433</c:v>
                </c:pt>
                <c:pt idx="195">
                  <c:v>0.07142857142857142</c:v>
                </c:pt>
                <c:pt idx="196">
                  <c:v>0.07124704998790965</c:v>
                </c:pt>
                <c:pt idx="197">
                  <c:v>0.07106690545187015</c:v>
                </c:pt>
                <c:pt idx="198">
                  <c:v>0.07088812050083358</c:v>
                </c:pt>
                <c:pt idx="199">
                  <c:v>0.07071067811865475</c:v>
                </c:pt>
              </c:numCache>
            </c:numRef>
          </c:yVal>
          <c:smooth val="0"/>
        </c:ser>
        <c:ser>
          <c:idx val="1"/>
          <c:order val="1"/>
          <c:tx>
            <c:strRef>
              <c:f>Sheet1!$C$1</c:f>
              <c:strCache>
                <c:ptCount val="1"/>
                <c:pt idx="0">
                  <c:v>RMSProp (ρ = 0.9)</c:v>
                </c:pt>
              </c:strCache>
            </c:strRef>
          </c:tx>
          <c:spPr>
            <a:solidFill>
              <a:srgbClr val="0F7B78"/>
            </a:solidFill>
            <a:ln w="38100" cap="flat">
              <a:solidFill>
                <a:srgbClr val="0F7B78"/>
              </a:solidFill>
              <a:prstDash val="solid"/>
              <a:round/>
            </a:ln>
            <a:effectLst/>
          </c:spPr>
          <c:marker>
            <c:symbol val="none"/>
            <c:size val="7"/>
            <c:spPr>
              <a:solidFill>
                <a:srgbClr val="0F7B78"/>
              </a:solidFill>
              <a:ln w="9525" cap="flat">
                <a:solidFill>
                  <a:srgbClr val="0F7B78"/>
                </a:solidFill>
                <a:prstDash val="solid"/>
                <a:round/>
              </a:ln>
              <a:effectLst/>
            </c:spPr>
          </c:marker>
          <c:xVal>
            <c:numRef>
              <c:f>Sheet1!$A$2:$A$201</c:f>
              <c:numCache>
                <c:formatCode>General</c:formatCode>
                <c:ptCount val="2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numCache>
            </c:numRef>
          </c:xVal>
          <c:yVal>
            <c:numRef>
              <c:f>Sheet1!$C$2:$C$201</c:f>
              <c:numCache>
                <c:formatCode>General</c:formatCode>
                <c:ptCount val="200"/>
                <c:pt idx="0">
                  <c:v>1.0000878115649525</c:v>
                </c:pt>
                <c:pt idx="1">
                  <c:v>0.7255399553148697</c:v>
                </c:pt>
                <c:pt idx="2">
                  <c:v>0.6075100809576998</c:v>
                </c:pt>
                <c:pt idx="3">
                  <c:v>0.5392896016539733</c:v>
                </c:pt>
                <c:pt idx="4">
                  <c:v>0.49420357042095425</c:v>
                </c:pt>
                <c:pt idx="5">
                  <c:v>0.4620149112045837</c:v>
                </c:pt>
                <c:pt idx="6">
                  <c:v>0.43785108046459287</c:v>
                </c:pt>
                <c:pt idx="7">
                  <c:v>0.41906246948561454</c:v>
                </c:pt>
                <c:pt idx="8">
                  <c:v>0.4040702729378296</c:v>
                </c:pt>
                <c:pt idx="9">
                  <c:v>0.39186854758080564</c:v>
                </c:pt>
                <c:pt idx="10">
                  <c:v>0.38178259951347854</c:v>
                </c:pt>
                <c:pt idx="11">
                  <c:v>0.3733411469687043</c:v>
                </c:pt>
                <c:pt idx="12">
                  <c:v>0.36620396175728537</c:v>
                </c:pt>
                <c:pt idx="13">
                  <c:v>0.360118632779806</c:v>
                </c:pt>
                <c:pt idx="14">
                  <c:v>0.3548935541851662</c:v>
                </c:pt>
                <c:pt idx="15">
                  <c:v>0.3503804082831401</c:v>
                </c:pt>
                <c:pt idx="16">
                  <c:v>0.34646243940564325</c:v>
                </c:pt>
                <c:pt idx="17">
                  <c:v>0.34304638657998354</c:v>
                </c:pt>
                <c:pt idx="18">
                  <c:v>0.34005679945537376</c:v>
                </c:pt>
                <c:pt idx="19">
                  <c:v>0.3374319484929086</c:v>
                </c:pt>
                <c:pt idx="20">
                  <c:v>0.3351208269368697</c:v>
                </c:pt>
                <c:pt idx="21">
                  <c:v>0.3330809161974453</c:v>
                </c:pt>
                <c:pt idx="22">
                  <c:v>0.3312764950794836</c:v>
                </c:pt>
                <c:pt idx="23">
                  <c:v>0.3296773429984998</c:v>
                </c:pt>
                <c:pt idx="24">
                  <c:v>0.3282577329918413</c:v>
                </c:pt>
                <c:pt idx="25">
                  <c:v>0.3269956408594453</c:v>
                </c:pt>
                <c:pt idx="26">
                  <c:v>0.3258721175509181</c:v>
                </c:pt>
                <c:pt idx="27">
                  <c:v>0.32487078630174787</c:v>
                </c:pt>
                <c:pt idx="28">
                  <c:v>0.3239774361328025</c:v>
                </c:pt>
                <c:pt idx="29">
                  <c:v>0.3231796905342097</c:v>
                </c:pt>
                <c:pt idx="30">
                  <c:v>0.3224667353581961</c:v>
                </c:pt>
                <c:pt idx="31">
                  <c:v>0.3218290937474621</c:v>
                </c:pt>
                <c:pt idx="32">
                  <c:v>0.3212584387345395</c:v>
                </c:pt>
                <c:pt idx="33">
                  <c:v>0.3207474362441751</c:v>
                </c:pt>
                <c:pt idx="34">
                  <c:v>0.3202896128108086</c:v>
                </c:pt>
                <c:pt idx="35">
                  <c:v>0.31987924352466507</c:v>
                </c:pt>
                <c:pt idx="36">
                  <c:v>0.31951125664130137</c:v>
                </c:pt>
                <c:pt idx="37">
                  <c:v>0.319181152001555</c:v>
                </c:pt>
                <c:pt idx="38">
                  <c:v>0.3188849309633917</c:v>
                </c:pt>
                <c:pt idx="39">
                  <c:v>0.31861903598206104</c:v>
                </c:pt>
                <c:pt idx="40">
                  <c:v>0.31838029831835846</c:v>
                </c:pt>
                <c:pt idx="41">
                  <c:v>0.31816589262766864</c:v>
                </c:pt>
                <c:pt idx="42">
                  <c:v>0.3179732974006291</c:v>
                </c:pt>
                <c:pt idx="43">
                  <c:v>0.3178002604017171</c:v>
                </c:pt>
                <c:pt idx="44">
                  <c:v>0.317644768393969</c:v>
                </c:pt>
                <c:pt idx="45">
                  <c:v>0.3175050205534468</c:v>
                </c:pt>
                <c:pt idx="46">
                  <c:v>0.31737940507140305</c:v>
                </c:pt>
                <c:pt idx="47">
                  <c:v>0.31726647851961204</c:v>
                </c:pt>
                <c:pt idx="48">
                  <c:v>0.3171649476183373</c:v>
                </c:pt>
                <c:pt idx="49">
                  <c:v>0.31707365309950714</c:v>
                </c:pt>
                <c:pt idx="50">
                  <c:v>0.3169915554019281</c:v>
                </c:pt>
                <c:pt idx="51">
                  <c:v>0.3169177219724207</c:v>
                </c:pt>
                <c:pt idx="52">
                  <c:v>0.31685131597792004</c:v>
                </c:pt>
                <c:pt idx="53">
                  <c:v>0.31679158625989295</c:v>
                </c:pt>
                <c:pt idx="54">
                  <c:v>0.3167378583847278</c:v>
                </c:pt>
                <c:pt idx="55">
                  <c:v>0.31668952666273875</c:v>
                </c:pt>
                <c:pt idx="56">
                  <c:v>0.3166460470246437</c:v>
                </c:pt>
                <c:pt idx="57">
                  <c:v>0.31660693065827905</c:v>
                </c:pt>
                <c:pt idx="58">
                  <c:v>0.3165717383202815</c:v>
                </c:pt>
                <c:pt idx="59">
                  <c:v>0.3165400752477874</c:v>
                </c:pt>
                <c:pt idx="60">
                  <c:v>0.31651158660414497</c:v>
                </c:pt>
                <c:pt idx="61">
                  <c:v>0.31648595340039365</c:v>
                </c:pt>
                <c:pt idx="62">
                  <c:v>0.31646288884102985</c:v>
                </c:pt>
                <c:pt idx="63">
                  <c:v>0.3164421350484755</c:v>
                </c:pt>
                <c:pt idx="64">
                  <c:v>0.3164234601258347</c:v>
                </c:pt>
                <c:pt idx="65">
                  <c:v>0.31640665552205366</c:v>
                </c:pt>
                <c:pt idx="66">
                  <c:v>0.31639153366758327</c:v>
                </c:pt>
                <c:pt idx="67">
                  <c:v>0.31637792585215035</c:v>
                </c:pt>
                <c:pt idx="68">
                  <c:v>0.31636568031934514</c:v>
                </c:pt>
                <c:pt idx="69">
                  <c:v>0.3163546605554625</c:v>
                </c:pt>
                <c:pt idx="70">
                  <c:v>0.31634474375246624</c:v>
                </c:pt>
                <c:pt idx="71">
                  <c:v>0.31633581942708755</c:v>
                </c:pt>
                <c:pt idx="72">
                  <c:v>0.31632778817998286</c:v>
                </c:pt>
                <c:pt idx="73">
                  <c:v>0.31632056058056823</c:v>
                </c:pt>
                <c:pt idx="74">
                  <c:v>0.31631405616466</c:v>
                </c:pt>
                <c:pt idx="75">
                  <c:v>0.31630820253339476</c:v>
                </c:pt>
                <c:pt idx="76">
                  <c:v>0.3163029345431025</c:v>
                </c:pt>
                <c:pt idx="77">
                  <c:v>0.31629819357687633</c:v>
                </c:pt>
                <c:pt idx="78">
                  <c:v>0.31629392688953883</c:v>
                </c:pt>
                <c:pt idx="79">
                  <c:v>0.3162900870185607</c:v>
                </c:pt>
                <c:pt idx="80">
                  <c:v>0.3162866312542498</c:v>
                </c:pt>
                <c:pt idx="81">
                  <c:v>0.3162835211632158</c:v>
                </c:pt>
                <c:pt idx="82">
                  <c:v>0.31628072215972663</c:v>
                </c:pt>
                <c:pt idx="83">
                  <c:v>0.316278203120121</c:v>
                </c:pt>
                <c:pt idx="84">
                  <c:v>0.31627593603593696</c:v>
                </c:pt>
                <c:pt idx="85">
                  <c:v>0.31627389570185316</c:v>
                </c:pt>
                <c:pt idx="86">
                  <c:v>0.3162720594349391</c:v>
                </c:pt>
                <c:pt idx="87">
                  <c:v>0.31627040682206226</c:v>
                </c:pt>
                <c:pt idx="88">
                  <c:v>0.3162689194926226</c:v>
                </c:pt>
                <c:pt idx="89">
                  <c:v>0.3162675809140676</c:v>
                </c:pt>
                <c:pt idx="90">
                  <c:v>0.31626637620789977</c:v>
                </c:pt>
                <c:pt idx="91">
                  <c:v>0.3162652919841191</c:v>
                </c:pt>
                <c:pt idx="92">
                  <c:v>0.3162643161922504</c:v>
                </c:pt>
                <c:pt idx="93">
                  <c:v>0.316263437987291</c:v>
                </c:pt>
                <c:pt idx="94">
                  <c:v>0.3162626476090824</c:v>
                </c:pt>
                <c:pt idx="95">
                  <c:v>0.31626193627376115</c:v>
                </c:pt>
                <c:pt idx="96">
                  <c:v>0.3162612960760759</c:v>
                </c:pt>
                <c:pt idx="97">
                  <c:v>0.3162607199014832</c:v>
                </c:pt>
                <c:pt idx="98">
                  <c:v>0.3162602013470422</c:v>
                </c:pt>
                <c:pt idx="99">
                  <c:v>0.3162597346502261</c:v>
                </c:pt>
                <c:pt idx="100">
                  <c:v>0.3162593146248583</c:v>
                </c:pt>
                <c:pt idx="101">
                  <c:v>0.31625893660345794</c:v>
                </c:pt>
                <c:pt idx="102">
                  <c:v>0.3162585963853567</c:v>
                </c:pt>
                <c:pt idx="103">
                  <c:v>0.3162582901900043</c:v>
                </c:pt>
                <c:pt idx="104">
                  <c:v>0.3162580146149475</c:v>
                </c:pt>
                <c:pt idx="105">
                  <c:v>0.31625776659801236</c:v>
                </c:pt>
                <c:pt idx="106">
                  <c:v>0.3162575433832696</c:v>
                </c:pt>
                <c:pt idx="107">
                  <c:v>0.31625734249040527</c:v>
                </c:pt>
                <c:pt idx="108">
                  <c:v>0.3162571616871546</c:v>
                </c:pt>
                <c:pt idx="109">
                  <c:v>0.3162569989644943</c:v>
                </c:pt>
                <c:pt idx="110">
                  <c:v>0.3162568525143146</c:v>
                </c:pt>
                <c:pt idx="111">
                  <c:v>0.3162567207093269</c:v>
                </c:pt>
                <c:pt idx="112">
                  <c:v>0.31625660208497886</c:v>
                </c:pt>
                <c:pt idx="113">
                  <c:v>0.31625649532317973</c:v>
                </c:pt>
                <c:pt idx="114">
                  <c:v>0.31625639923765303</c:v>
                </c:pt>
                <c:pt idx="115">
                  <c:v>0.31625631276075383</c:v>
                </c:pt>
                <c:pt idx="116">
                  <c:v>0.31625623493160515</c:v>
                </c:pt>
                <c:pt idx="117">
                  <c:v>0.3162561648854206</c:v>
                </c:pt>
                <c:pt idx="118">
                  <c:v>0.3162561018438942</c:v>
                </c:pt>
                <c:pt idx="119">
                  <c:v>0.31625604510655264</c:v>
                </c:pt>
                <c:pt idx="120">
                  <c:v>0.31625599404297144</c:v>
                </c:pt>
                <c:pt idx="121">
                  <c:v>0.31625594808576946</c:v>
                </c:pt>
                <c:pt idx="122">
                  <c:v>0.31625590672430487</c:v>
                </c:pt>
                <c:pt idx="123">
                  <c:v>0.31625586949900053</c:v>
                </c:pt>
                <c:pt idx="124">
                  <c:v>0.3162558359962378</c:v>
                </c:pt>
                <c:pt idx="125">
                  <c:v>0.31625580584376056</c:v>
                </c:pt>
                <c:pt idx="126">
                  <c:v>0.31625577870653837</c:v>
                </c:pt>
                <c:pt idx="127">
                  <c:v>0.3162557542830444</c:v>
                </c:pt>
                <c:pt idx="128">
                  <c:v>0.31625573230190474</c:v>
                </c:pt>
                <c:pt idx="129">
                  <c:v>0.31625571251888285</c:v>
                </c:pt>
                <c:pt idx="130">
                  <c:v>0.31625569471416637</c:v>
                </c:pt>
                <c:pt idx="131">
                  <c:v>0.3162556786899241</c:v>
                </c:pt>
                <c:pt idx="132">
                  <c:v>0.3162556642681082</c:v>
                </c:pt>
                <c:pt idx="133">
                  <c:v>0.31625565128847544</c:v>
                </c:pt>
                <c:pt idx="134">
                  <c:v>0.3162556396068074</c:v>
                </c:pt>
                <c:pt idx="135">
                  <c:v>0.3162556290933073</c:v>
                </c:pt>
                <c:pt idx="136">
                  <c:v>0.31625561963115806</c:v>
                </c:pt>
                <c:pt idx="137">
                  <c:v>0.3162556111152245</c:v>
                </c:pt>
                <c:pt idx="138">
                  <c:v>0.3162556034508848</c:v>
                </c:pt>
                <c:pt idx="139">
                  <c:v>0.3162555965529797</c:v>
                </c:pt>
                <c:pt idx="140">
                  <c:v>0.3162555903448654</c:v>
                </c:pt>
                <c:pt idx="141">
                  <c:v>0.3162555847575628</c:v>
                </c:pt>
                <c:pt idx="142">
                  <c:v>0.3162555797289908</c:v>
                </c:pt>
                <c:pt idx="143">
                  <c:v>0.31625557520327613</c:v>
                </c:pt>
                <c:pt idx="144">
                  <c:v>0.31625557113013314</c:v>
                </c:pt>
                <c:pt idx="145">
                  <c:v>0.3162555674643046</c:v>
                </c:pt>
                <c:pt idx="146">
                  <c:v>0.316255564165059</c:v>
                </c:pt>
                <c:pt idx="147">
                  <c:v>0.3162555611957381</c:v>
                </c:pt>
                <c:pt idx="148">
                  <c:v>0.3162555585233493</c:v>
                </c:pt>
                <c:pt idx="149">
                  <c:v>0.31625555611819944</c:v>
                </c:pt>
                <c:pt idx="150">
                  <c:v>0.3162555539535646</c:v>
                </c:pt>
                <c:pt idx="151">
                  <c:v>0.3162555520053933</c:v>
                </c:pt>
                <c:pt idx="152">
                  <c:v>0.3162555502520392</c:v>
                </c:pt>
                <c:pt idx="153">
                  <c:v>0.3162555486740205</c:v>
                </c:pt>
                <c:pt idx="154">
                  <c:v>0.31625554725380367</c:v>
                </c:pt>
                <c:pt idx="155">
                  <c:v>0.31625554597560857</c:v>
                </c:pt>
                <c:pt idx="156">
                  <c:v>0.31625554482523294</c:v>
                </c:pt>
                <c:pt idx="157">
                  <c:v>0.31625554378989496</c:v>
                </c:pt>
                <c:pt idx="158">
                  <c:v>0.31625554285809077</c:v>
                </c:pt>
                <c:pt idx="159">
                  <c:v>0.316255542019467</c:v>
                </c:pt>
                <c:pt idx="160">
                  <c:v>0.31625554126470556</c:v>
                </c:pt>
                <c:pt idx="161">
                  <c:v>0.3162555405854204</c:v>
                </c:pt>
                <c:pt idx="162">
                  <c:v>0.3162555399740636</c:v>
                </c:pt>
                <c:pt idx="163">
                  <c:v>0.3162555394238426</c:v>
                </c:pt>
                <c:pt idx="164">
                  <c:v>0.3162555389286436</c:v>
                </c:pt>
                <c:pt idx="165">
                  <c:v>0.31625553848296456</c:v>
                </c:pt>
                <c:pt idx="166">
                  <c:v>0.31625553808185347</c:v>
                </c:pt>
                <c:pt idx="167">
                  <c:v>0.3162555377208534</c:v>
                </c:pt>
                <c:pt idx="168">
                  <c:v>0.3162555373959534</c:v>
                </c:pt>
                <c:pt idx="169">
                  <c:v>0.3162555371035433</c:v>
                </c:pt>
                <c:pt idx="170">
                  <c:v>0.31625553684037433</c:v>
                </c:pt>
                <c:pt idx="171">
                  <c:v>0.3162555366035223</c:v>
                </c:pt>
                <c:pt idx="172">
                  <c:v>0.31625553639035536</c:v>
                </c:pt>
                <c:pt idx="173">
                  <c:v>0.31625553619850516</c:v>
                </c:pt>
                <c:pt idx="174">
                  <c:v>0.31625553602583995</c:v>
                </c:pt>
                <c:pt idx="175">
                  <c:v>0.3162555358704413</c:v>
                </c:pt>
                <c:pt idx="176">
                  <c:v>0.3162555357305825</c:v>
                </c:pt>
                <c:pt idx="177">
                  <c:v>0.3162555356047096</c:v>
                </c:pt>
                <c:pt idx="178">
                  <c:v>0.31625553549142393</c:v>
                </c:pt>
                <c:pt idx="179">
                  <c:v>0.3162555353894668</c:v>
                </c:pt>
                <c:pt idx="180">
                  <c:v>0.31625553529770556</c:v>
                </c:pt>
                <c:pt idx="181">
                  <c:v>0.31625553521512034</c:v>
                </c:pt>
                <c:pt idx="182">
                  <c:v>0.31625553514079363</c:v>
                </c:pt>
                <c:pt idx="183">
                  <c:v>0.31625553507389953</c:v>
                </c:pt>
                <c:pt idx="184">
                  <c:v>0.3162555350136949</c:v>
                </c:pt>
                <c:pt idx="185">
                  <c:v>0.31625553495951075</c:v>
                </c:pt>
                <c:pt idx="186">
                  <c:v>0.316255534910745</c:v>
                </c:pt>
                <c:pt idx="187">
                  <c:v>0.31625553486685587</c:v>
                </c:pt>
                <c:pt idx="188">
                  <c:v>0.3162555348273556</c:v>
                </c:pt>
                <c:pt idx="189">
                  <c:v>0.31625553479180535</c:v>
                </c:pt>
                <c:pt idx="190">
                  <c:v>0.31625553475981016</c:v>
                </c:pt>
                <c:pt idx="191">
                  <c:v>0.3162555347310145</c:v>
                </c:pt>
                <c:pt idx="192">
                  <c:v>0.3162555347050983</c:v>
                </c:pt>
                <c:pt idx="193">
                  <c:v>0.3162555346817738</c:v>
                </c:pt>
                <c:pt idx="194">
                  <c:v>0.31625553466078177</c:v>
                </c:pt>
                <c:pt idx="195">
                  <c:v>0.31625553464188894</c:v>
                </c:pt>
                <c:pt idx="196">
                  <c:v>0.31625553462488537</c:v>
                </c:pt>
                <c:pt idx="197">
                  <c:v>0.31625553460958217</c:v>
                </c:pt>
                <c:pt idx="198">
                  <c:v>0.3162555345958093</c:v>
                </c:pt>
                <c:pt idx="199">
                  <c:v>0.3162555345834137</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200"/>
          <c:min val="0"/>
        </c:scaling>
        <c:delete val="0"/>
        <c:axPos val="b"/>
        <c:title>
          <c:tx>
            <c:rich>
              <a:bodyPr/>
              <a:lstStyle/>
              <a:p>
                <a:pPr>
                  <a:defRPr sz="1400" b="0" i="0" u="none" strike="noStrike">
                    <a:solidFill>
                      <a:srgbClr val="556270"/>
                    </a:solidFill>
                    <a:latin typeface="Arial"/>
                  </a:defRPr>
                </a:pPr>
                <a:r>
                  <a:rPr sz="1400" b="0" i="0" u="none" strike="noStrike">
                    <a:solidFill>
                      <a:srgbClr val="556270"/>
                    </a:solidFill>
                    <a:latin typeface="Arial"/>
                  </a:rPr>
                  <a:t>step t</a:t>
                </a:r>
              </a:p>
            </c:rich>
          </c:tx>
          <c:layout/>
          <c:overlay val="0"/>
        </c:title>
        <c:numFmt formatCode="General" sourceLinked="1"/>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2"/>
        <c:crossesAt val="autoZero"/>
        <c:auto val="1"/>
        <c:lblAlgn val="ctr"/>
        <c:noMultiLvlLbl val="1"/>
        <c:majorUnit val="50"/>
      </c:valAx>
      <c:valAx>
        <c:axId val="2094734552"/>
        <c:scaling>
          <c:orientation val="minMax"/>
          <c:max val="1.05"/>
          <c:min val="0"/>
        </c:scaling>
        <c:delete val="0"/>
        <c:axPos val="l"/>
        <c:majorGridlines>
          <c:spPr>
            <a:ln w="9525" cap="flat">
              <a:solidFill>
                <a:srgbClr val="E1E6EA"/>
              </a:solidFill>
              <a:prstDash val="solid"/>
              <a:round/>
            </a:ln>
          </c:spPr>
        </c:majorGridlines>
        <c:title>
          <c:tx>
            <c:rich>
              <a:bodyPr/>
              <a:lstStyle/>
              <a:p>
                <a:pPr>
                  <a:defRPr sz="1400" b="0" i="0" u="none" strike="noStrike">
                    <a:solidFill>
                      <a:srgbClr val="556270"/>
                    </a:solidFill>
                    <a:latin typeface="Arial"/>
                  </a:defRPr>
                </a:pPr>
                <a:r>
                  <a:rPr sz="1400" b="0" i="0" u="none" strike="noStrike">
                    <a:solidFill>
                      <a:srgbClr val="556270"/>
                    </a:solidFill>
                    <a:latin typeface="Arial"/>
                  </a:rPr>
                  <a:t>relative step size</a:t>
                </a:r>
              </a:p>
            </c:rich>
          </c:tx>
          <c:layout/>
          <c:overlay val="0"/>
        </c:title>
        <c:numFmt formatCode="General" sourceLinked="0"/>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4"/>
        <c:crossesAt val="0"/>
        <c:crossBetween val="midCat"/>
        <c:majorUnit val="0.25"/>
      </c:valAx>
      <c:spPr>
        <a:noFill/>
        <a:ln>
          <a:noFill/>
        </a:ln>
        <a:effectLst/>
      </c:spPr>
    </c:plotArea>
    <c:legend>
      <c:legendPos val="b"/>
      <c:overlay val="0"/>
      <c:txPr>
        <a:bodyPr/>
        <a:lstStyle/>
        <a:p>
          <a:pPr>
            <a:defRPr sz="1400">
              <a:solidFill>
                <a:srgbClr val="15232D"/>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1 − β₁ᵗ  (β₁ = 0.9)</c:v>
                </c:pt>
              </c:strCache>
            </c:strRef>
          </c:tx>
          <c:spPr>
            <a:solidFill>
              <a:srgbClr val="0F7B78"/>
            </a:solidFill>
            <a:ln w="38100" cap="flat">
              <a:solidFill>
                <a:srgbClr val="0F7B78"/>
              </a:solidFill>
              <a:prstDash val="solid"/>
              <a:round/>
            </a:ln>
            <a:effectLst/>
          </c:spPr>
          <c:marker>
            <c:symbol val="none"/>
            <c:size val="7"/>
            <c:spPr>
              <a:solidFill>
                <a:srgbClr val="0F7B78"/>
              </a:solidFill>
              <a:ln w="9525" cap="flat">
                <a:solidFill>
                  <a:srgbClr val="0F7B78"/>
                </a:solidFill>
                <a:prstDash val="solid"/>
                <a:round/>
              </a:ln>
              <a:effectLst/>
            </c:spPr>
          </c:marker>
          <c:xVal>
            <c:numRef>
              <c:f>Sheet1!$A$2:$A$82</c:f>
              <c:numCache>
                <c:formatCode>General</c:formatCode>
                <c:ptCount val="81"/>
                <c:pt idx="0">
                  <c:v>0</c:v>
                </c:pt>
                <c:pt idx="1">
                  <c:v>0.05</c:v>
                </c:pt>
                <c:pt idx="2">
                  <c:v>0.1</c:v>
                </c:pt>
                <c:pt idx="3">
                  <c:v>0.15</c:v>
                </c:pt>
                <c:pt idx="4">
                  <c:v>0.2</c:v>
                </c:pt>
                <c:pt idx="5">
                  <c:v>0.25</c:v>
                </c:pt>
                <c:pt idx="6">
                  <c:v>0.3</c:v>
                </c:pt>
                <c:pt idx="7">
                  <c:v>0.35</c:v>
                </c:pt>
                <c:pt idx="8">
                  <c:v>0.4</c:v>
                </c:pt>
                <c:pt idx="9">
                  <c:v>0.45</c:v>
                </c:pt>
                <c:pt idx="10">
                  <c:v>0.5</c:v>
                </c:pt>
                <c:pt idx="11">
                  <c:v>0.55</c:v>
                </c:pt>
                <c:pt idx="12">
                  <c:v>0.6</c:v>
                </c:pt>
                <c:pt idx="13">
                  <c:v>0.65</c:v>
                </c:pt>
                <c:pt idx="14">
                  <c:v>0.7</c:v>
                </c:pt>
                <c:pt idx="15">
                  <c:v>0.75</c:v>
                </c:pt>
                <c:pt idx="16">
                  <c:v>0.8</c:v>
                </c:pt>
                <c:pt idx="17">
                  <c:v>0.85</c:v>
                </c:pt>
                <c:pt idx="18">
                  <c:v>0.9</c:v>
                </c:pt>
                <c:pt idx="19">
                  <c:v>0.95</c:v>
                </c:pt>
                <c:pt idx="20">
                  <c:v>1</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c:v>
                </c:pt>
              </c:numCache>
            </c:numRef>
          </c:xVal>
          <c:yVal>
            <c:numRef>
              <c:f>Sheet1!$B$2:$B$82</c:f>
              <c:numCache>
                <c:formatCode>General</c:formatCode>
                <c:ptCount val="81"/>
                <c:pt idx="0">
                  <c:v>0.09999999999999998</c:v>
                </c:pt>
                <c:pt idx="1">
                  <c:v>0.11149627854142796</c:v>
                </c:pt>
                <c:pt idx="2">
                  <c:v>0.12422058626602517</c:v>
                </c:pt>
                <c:pt idx="3">
                  <c:v>0.1382806868039942</c:v>
                </c:pt>
                <c:pt idx="4">
                  <c:v>0.15378783436941268</c:v>
                </c:pt>
                <c:pt idx="5">
                  <c:v>0.17085517081481316</c:v>
                </c:pt>
                <c:pt idx="6">
                  <c:v>0.18959557547142336</c:v>
                </c:pt>
                <c:pt idx="7">
                  <c:v>0.21011887029749876</c:v>
                </c:pt>
                <c:pt idx="8">
                  <c:v>0.23252828198971676</c:v>
                </c:pt>
                <c:pt idx="9">
                  <c:v>0.25691606946817147</c:v>
                </c:pt>
                <c:pt idx="10">
                  <c:v>0.2833582430871049</c:v>
                </c:pt>
                <c:pt idx="11">
                  <c:v>0.3119083354180001</c:v>
                </c:pt>
                <c:pt idx="12">
                  <c:v>0.34259023754667073</c:v>
                </c:pt>
                <c:pt idx="13">
                  <c:v>0.37539019489977166</c:v>
                </c:pt>
                <c:pt idx="14">
                  <c:v>0.4102481676831431</c:v>
                </c:pt>
                <c:pt idx="15">
                  <c:v>0.44704890654960416</c:v>
                </c:pt>
                <c:pt idx="16">
                  <c:v>0.48561327426358747</c:v>
                </c:pt>
                <c:pt idx="17">
                  <c:v>0.5256905532284153</c:v>
                </c:pt>
                <c:pt idx="18">
                  <c:v>0.5669527021872487</c:v>
                </c:pt>
                <c:pt idx="19">
                  <c:v>0.6089917362161011</c:v>
                </c:pt>
                <c:pt idx="20">
                  <c:v>0.6513215599</c:v>
                </c:pt>
                <c:pt idx="21">
                  <c:v>0.6933856252383785</c:v>
                </c:pt>
                <c:pt idx="22">
                  <c:v>0.7345716401046658</c:v>
                </c:pt>
                <c:pt idx="23">
                  <c:v>0.7742341414513758</c:v>
                </c:pt>
                <c:pt idx="24">
                  <c:v>0.8117250039929536</c:v>
                </c:pt>
                <c:pt idx="25">
                  <c:v>0.8464308548311161</c:v>
                </c:pt>
                <c:pt idx="26">
                  <c:v>0.8778149602174946</c:v>
                </c:pt>
                <c:pt idx="27">
                  <c:v>0.9054596106947586</c:v>
                </c:pt>
                <c:pt idx="28">
                  <c:v>0.929103661999144</c:v>
                </c:pt>
                <c:pt idx="29">
                  <c:v>0.9486691215915598</c:v>
                </c:pt>
                <c:pt idx="30">
                  <c:v>0.9642709805013127</c:v>
                </c:pt>
                <c:pt idx="31">
                  <c:v>0.9762062458922844</c:v>
                </c:pt>
                <c:pt idx="32">
                  <c:v>0.9849213836962718</c:v>
                </c:pt>
                <c:pt idx="33">
                  <c:v>0.9909616745583424</c:v>
                </c:pt>
                <c:pt idx="34">
                  <c:v>0.9949102905756785</c:v>
                </c:pt>
                <c:pt idx="35">
                  <c:v>0.9973278107528218</c:v>
                </c:pt>
                <c:pt idx="36">
                  <c:v>0.9987031267672599</c:v>
                </c:pt>
                <c:pt idx="37">
                  <c:v>0.9994237409680151</c:v>
                </c:pt>
                <c:pt idx="38">
                  <c:v>0.9997680719215897</c:v>
                </c:pt>
                <c:pt idx="39">
                  <c:v>0.9999164667533791</c:v>
                </c:pt>
                <c:pt idx="40">
                  <c:v>0.9999734386011124</c:v>
                </c:pt>
                <c:pt idx="41">
                  <c:v>0.9999926561276937</c:v>
                </c:pt>
                <c:pt idx="42">
                  <c:v>0.9999982643057077</c:v>
                </c:pt>
                <c:pt idx="43">
                  <c:v>0.9999996559808143</c:v>
                </c:pt>
                <c:pt idx="44">
                  <c:v>0.9999999440337162</c:v>
                </c:pt>
                <c:pt idx="45">
                  <c:v>0.9999999927047586</c:v>
                </c:pt>
                <c:pt idx="46">
                  <c:v>0.9999999992583819</c:v>
                </c:pt>
                <c:pt idx="47">
                  <c:v>0.9999999999429607</c:v>
                </c:pt>
                <c:pt idx="48">
                  <c:v>0.999999999996792</c:v>
                </c:pt>
                <c:pt idx="49">
                  <c:v>0.999999999999873</c:v>
                </c:pt>
                <c:pt idx="50">
                  <c:v>0.9999999999999966</c:v>
                </c:pt>
                <c:pt idx="51">
                  <c:v>0.9999999999999999</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pt idx="80">
                  <c:v>1</c:v>
                </c:pt>
              </c:numCache>
            </c:numRef>
          </c:yVal>
          <c:smooth val="0"/>
        </c:ser>
        <c:ser>
          <c:idx val="1"/>
          <c:order val="1"/>
          <c:tx>
            <c:strRef>
              <c:f>Sheet1!$C$1</c:f>
              <c:strCache>
                <c:ptCount val="1"/>
                <c:pt idx="0">
                  <c:v>1 − β₂ᵗ  (β₂ = 0.999)</c:v>
                </c:pt>
              </c:strCache>
            </c:strRef>
          </c:tx>
          <c:spPr>
            <a:solidFill>
              <a:srgbClr val="D45D27"/>
            </a:solidFill>
            <a:ln w="38100" cap="flat">
              <a:solidFill>
                <a:srgbClr val="D45D27"/>
              </a:solidFill>
              <a:prstDash val="solid"/>
              <a:round/>
            </a:ln>
            <a:effectLst/>
          </c:spPr>
          <c:marker>
            <c:symbol val="none"/>
            <c:size val="7"/>
            <c:spPr>
              <a:solidFill>
                <a:srgbClr val="D45D27"/>
              </a:solidFill>
              <a:ln w="9525" cap="flat">
                <a:solidFill>
                  <a:srgbClr val="D45D27"/>
                </a:solidFill>
                <a:prstDash val="solid"/>
                <a:round/>
              </a:ln>
              <a:effectLst/>
            </c:spPr>
          </c:marker>
          <c:xVal>
            <c:numRef>
              <c:f>Sheet1!$A$2:$A$82</c:f>
              <c:numCache>
                <c:formatCode>General</c:formatCode>
                <c:ptCount val="81"/>
                <c:pt idx="0">
                  <c:v>0</c:v>
                </c:pt>
                <c:pt idx="1">
                  <c:v>0.05</c:v>
                </c:pt>
                <c:pt idx="2">
                  <c:v>0.1</c:v>
                </c:pt>
                <c:pt idx="3">
                  <c:v>0.15</c:v>
                </c:pt>
                <c:pt idx="4">
                  <c:v>0.2</c:v>
                </c:pt>
                <c:pt idx="5">
                  <c:v>0.25</c:v>
                </c:pt>
                <c:pt idx="6">
                  <c:v>0.3</c:v>
                </c:pt>
                <c:pt idx="7">
                  <c:v>0.35</c:v>
                </c:pt>
                <c:pt idx="8">
                  <c:v>0.4</c:v>
                </c:pt>
                <c:pt idx="9">
                  <c:v>0.45</c:v>
                </c:pt>
                <c:pt idx="10">
                  <c:v>0.5</c:v>
                </c:pt>
                <c:pt idx="11">
                  <c:v>0.55</c:v>
                </c:pt>
                <c:pt idx="12">
                  <c:v>0.6</c:v>
                </c:pt>
                <c:pt idx="13">
                  <c:v>0.65</c:v>
                </c:pt>
                <c:pt idx="14">
                  <c:v>0.7</c:v>
                </c:pt>
                <c:pt idx="15">
                  <c:v>0.75</c:v>
                </c:pt>
                <c:pt idx="16">
                  <c:v>0.8</c:v>
                </c:pt>
                <c:pt idx="17">
                  <c:v>0.85</c:v>
                </c:pt>
                <c:pt idx="18">
                  <c:v>0.9</c:v>
                </c:pt>
                <c:pt idx="19">
                  <c:v>0.95</c:v>
                </c:pt>
                <c:pt idx="20">
                  <c:v>1</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c:v>
                </c:pt>
              </c:numCache>
            </c:numRef>
          </c:xVal>
          <c:yVal>
            <c:numRef>
              <c:f>Sheet1!$C$2:$C$82</c:f>
              <c:numCache>
                <c:formatCode>General</c:formatCode>
                <c:ptCount val="81"/>
                <c:pt idx="0">
                  <c:v>0.0010000000000000009</c:v>
                </c:pt>
                <c:pt idx="1">
                  <c:v>0.0011219499807801903</c:v>
                </c:pt>
                <c:pt idx="2">
                  <c:v>0.001258762387625234</c:v>
                </c:pt>
                <c:pt idx="3">
                  <c:v>0.0014122461251601104</c:v>
                </c:pt>
                <c:pt idx="4">
                  <c:v>0.001584429631685369</c:v>
                </c:pt>
                <c:pt idx="5">
                  <c:v>0.001777587359754751</c:v>
                </c:pt>
                <c:pt idx="6">
                  <c:v>0.0019942694087051738</c:v>
                </c:pt>
                <c:pt idx="7">
                  <c:v>0.0022373346733254307</c:v>
                </c:pt>
                <c:pt idx="8">
                  <c:v>0.002509987912039935</c:v>
                </c:pt>
                <c:pt idx="9">
                  <c:v>0.0028158211806099676</c:v>
                </c:pt>
                <c:pt idx="10">
                  <c:v>0.0031588601235000846</c:v>
                </c:pt>
                <c:pt idx="11">
                  <c:v>0.0035436156647140615</c:v>
                </c:pt>
                <c:pt idx="12">
                  <c:v>0.003975141692978079</c:v>
                </c:pt>
                <c:pt idx="13">
                  <c:v>0.004459099392376986</c:v>
                </c:pt>
                <c:pt idx="14">
                  <c:v>0.005001828928489882</c:v>
                </c:pt>
                <c:pt idx="15">
                  <c:v>0.005610429261007299</c:v>
                </c:pt>
                <c:pt idx="16">
                  <c:v>0.0062928469157030875</c:v>
                </c:pt>
                <c:pt idx="17">
                  <c:v>0.007057974609967488</c:v>
                </c:pt>
                <c:pt idx="18">
                  <c:v>0.007915760684830575</c:v>
                </c:pt>
                <c:pt idx="19">
                  <c:v>0.008877330349707613</c:v>
                </c:pt>
                <c:pt idx="20">
                  <c:v>0.009955119790251765</c:v>
                </c:pt>
                <c:pt idx="21">
                  <c:v>0.011163024219805417</c:v>
                </c:pt>
                <c:pt idx="22">
                  <c:v>0.01251656096461684</c:v>
                </c:pt>
                <c:pt idx="23">
                  <c:v>0.014033048654038316</c:v>
                </c:pt>
                <c:pt idx="24">
                  <c:v>0.01573180352884529</c:v>
                </c:pt>
                <c:pt idx="25">
                  <c:v>0.017634353770363265</c:v>
                </c:pt>
                <c:pt idx="26">
                  <c:v>0.0197646725735503</c:v>
                </c:pt>
                <c:pt idx="27">
                  <c:v>0.022149430417759186</c:v>
                </c:pt>
                <c:pt idx="28">
                  <c:v>0.024818266603815142</c:v>
                </c:pt>
                <c:pt idx="29">
                  <c:v>0.027804079593643394</c:v>
                </c:pt>
                <c:pt idx="30">
                  <c:v>0.031143334970444192</c:v>
                </c:pt>
                <c:pt idx="31">
                  <c:v>0.03487638888688971</c:v>
                </c:pt>
                <c:pt idx="32">
                  <c:v>0.039047823630627754</c:v>
                </c:pt>
                <c:pt idx="33">
                  <c:v>0.04370679034536307</c:v>
                </c:pt>
                <c:pt idx="34">
                  <c:v>0.0489073519264519</c:v>
                </c:pt>
                <c:pt idx="35">
                  <c:v>0.05470881657656923</c:v>
                </c:pt>
                <c:pt idx="36">
                  <c:v>0.06117604936467458</c:v>
                </c:pt>
                <c:pt idx="37">
                  <c:v>0.06837974527878643</c:v>
                </c:pt>
                <c:pt idx="38">
                  <c:v>0.0763966425969268</c:v>
                </c:pt>
                <c:pt idx="39">
                  <c:v>0.08530964982474787</c:v>
                </c:pt>
                <c:pt idx="40">
                  <c:v>0.09520785288629108</c:v>
                </c:pt>
                <c:pt idx="41">
                  <c:v>0.10618636166882833</c:v>
                </c:pt>
                <c:pt idx="42">
                  <c:v>0.1183459464438884</c:v>
                </c:pt>
                <c:pt idx="43">
                  <c:v>0.1317924052507916</c:v>
                </c:pt>
                <c:pt idx="44">
                  <c:v>0.14663559333166698</c:v>
                </c:pt>
                <c:pt idx="45">
                  <c:v>0.162988035670936</c:v>
                </c:pt>
                <c:pt idx="46">
                  <c:v>0.18096303445439543</c:v>
                </c:pt>
                <c:pt idx="47">
                  <c:v>0.2006721760774801</c:v>
                </c:pt>
                <c:pt idx="48">
                  <c:v>0.22222213898756882</c:v>
                </c:pt>
                <c:pt idx="49">
                  <c:v>0.24571070658423577</c:v>
                </c:pt>
                <c:pt idx="50">
                  <c:v>0.271221901824914</c:v>
                </c:pt>
                <c:pt idx="51">
                  <c:v>0.2988201861025872</c:v>
                </c:pt>
                <c:pt idx="52">
                  <c:v>0.3285437091459582</c:v>
                </c:pt>
                <c:pt idx="53">
                  <c:v>0.36039666443316487</c:v>
                </c:pt>
                <c:pt idx="54">
                  <c:v>0.39434090119875154</c:v>
                </c:pt>
                <c:pt idx="55">
                  <c:v>0.4302870738987059</c:v>
                </c:pt>
                <c:pt idx="56">
                  <c:v>0.468085774886578</c:v>
                </c:pt>
                <c:pt idx="57">
                  <c:v>0.5075192933417949</c:v>
                </c:pt>
                <c:pt idx="58">
                  <c:v>0.5482948630102293</c:v>
                </c:pt>
                <c:pt idx="59">
                  <c:v>0.590040482067858</c:v>
                </c:pt>
                <c:pt idx="60">
                  <c:v>0.6323045752290363</c:v>
                </c:pt>
                <c:pt idx="61">
                  <c:v>0.6745608694749513</c:v>
                </c:pt>
                <c:pt idx="62">
                  <c:v>0.7162198029300125</c:v>
                </c:pt>
                <c:pt idx="63">
                  <c:v>0.7566475036765312</c:v>
                </c:pt>
                <c:pt idx="64">
                  <c:v>0.7951927872132444</c:v>
                </c:pt>
                <c:pt idx="65">
                  <c:v>0.8312216803140666</c:v>
                </c:pt>
                <c:pt idx="66">
                  <c:v>0.8641576982116244</c:v>
                </c:pt>
                <c:pt idx="67">
                  <c:v>0.8935245935591568</c:v>
                </c:pt>
                <c:pt idx="68">
                  <c:v>0.9189868030805699</c:v>
                </c:pt>
                <c:pt idx="69">
                  <c:v>0.9403817213335691</c:v>
                </c:pt>
                <c:pt idx="70">
                  <c:v>0.9577377004477766</c:v>
                </c:pt>
                <c:pt idx="71">
                  <c:v>0.9712727503891915</c:v>
                </c:pt>
                <c:pt idx="72">
                  <c:v>0.9813715178181449</c:v>
                </c:pt>
                <c:pt idx="73">
                  <c:v>0.9885420426985877</c:v>
                </c:pt>
                <c:pt idx="74">
                  <c:v>0.9933582509850891</c:v>
                </c:pt>
                <c:pt idx="75">
                  <c:v>0.9963978588066821</c:v>
                </c:pt>
                <c:pt idx="76">
                  <c:v>0.9981869238326107</c:v>
                </c:pt>
                <c:pt idx="77">
                  <c:v>0.9991607483317789</c:v>
                </c:pt>
                <c:pt idx="78">
                  <c:v>0.9996463690271604</c:v>
                </c:pt>
                <c:pt idx="79">
                  <c:v>0.9998659058790053</c:v>
                </c:pt>
                <c:pt idx="80">
                  <c:v>0.9999548266540229</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4"/>
          <c:min val="0"/>
        </c:scaling>
        <c:delete val="0"/>
        <c:axPos val="b"/>
        <c:title>
          <c:tx>
            <c:rich>
              <a:bodyPr/>
              <a:lstStyle/>
              <a:p>
                <a:pPr>
                  <a:defRPr sz="1400" b="0" i="0" u="none" strike="noStrike">
                    <a:solidFill>
                      <a:srgbClr val="556270"/>
                    </a:solidFill>
                    <a:latin typeface="Arial"/>
                  </a:defRPr>
                </a:pPr>
                <a:r>
                  <a:rPr sz="1400" b="0" i="0" u="none" strike="noStrike">
                    <a:solidFill>
                      <a:srgbClr val="556270"/>
                    </a:solidFill>
                    <a:latin typeface="Arial"/>
                  </a:rPr>
                  <a:t>log₁₀ step t</a:t>
                </a:r>
              </a:p>
            </c:rich>
          </c:tx>
          <c:layout/>
          <c:overlay val="0"/>
        </c:title>
        <c:numFmt formatCode="General" sourceLinked="1"/>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2"/>
        <c:crossesAt val="autoZero"/>
        <c:auto val="1"/>
        <c:lblAlgn val="ctr"/>
        <c:noMultiLvlLbl val="1"/>
        <c:majorUnit val="1"/>
      </c:valAx>
      <c:valAx>
        <c:axId val="2094734552"/>
        <c:scaling>
          <c:orientation val="minMax"/>
          <c:max val="1"/>
          <c:min val="0"/>
        </c:scaling>
        <c:delete val="0"/>
        <c:axPos val="l"/>
        <c:majorGridlines>
          <c:spPr>
            <a:ln w="9525" cap="flat">
              <a:solidFill>
                <a:srgbClr val="E1E6EA"/>
              </a:solidFill>
              <a:prstDash val="solid"/>
              <a:round/>
            </a:ln>
          </c:spPr>
        </c:majorGridlines>
        <c:title>
          <c:tx>
            <c:rich>
              <a:bodyPr/>
              <a:lstStyle/>
              <a:p>
                <a:pPr>
                  <a:defRPr sz="1400" b="0" i="0" u="none" strike="noStrike">
                    <a:solidFill>
                      <a:srgbClr val="556270"/>
                    </a:solidFill>
                    <a:latin typeface="Arial"/>
                  </a:defRPr>
                </a:pPr>
                <a:r>
                  <a:rPr sz="1400" b="0" i="0" u="none" strike="noStrike">
                    <a:solidFill>
                      <a:srgbClr val="556270"/>
                    </a:solidFill>
                    <a:latin typeface="Arial"/>
                  </a:rPr>
                  <a:t>correction factor</a:t>
                </a:r>
              </a:p>
            </c:rich>
          </c:tx>
          <c:layout/>
          <c:overlay val="0"/>
        </c:title>
        <c:numFmt formatCode="General" sourceLinked="0"/>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4"/>
        <c:crossesAt val="0"/>
        <c:crossBetween val="midCat"/>
        <c:majorUnit val="0.25"/>
      </c:valAx>
      <c:spPr>
        <a:noFill/>
        <a:ln>
          <a:noFill/>
        </a:ln>
        <a:effectLst/>
      </c:spPr>
    </c:plotArea>
    <c:legend>
      <c:legendPos val="b"/>
      <c:overlay val="0"/>
      <c:txPr>
        <a:bodyPr/>
        <a:lstStyle/>
        <a:p>
          <a:pPr>
            <a:defRPr sz="1400">
              <a:solidFill>
                <a:srgbClr val="15232D"/>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Step decay</c:v>
                </c:pt>
              </c:strCache>
            </c:strRef>
          </c:tx>
          <c:spPr>
            <a:solidFill>
              <a:srgbClr val="0F7B78"/>
            </a:solidFill>
            <a:ln w="34925" cap="flat">
              <a:solidFill>
                <a:srgbClr val="0F7B78"/>
              </a:solidFill>
              <a:prstDash val="solid"/>
              <a:round/>
            </a:ln>
            <a:effectLst/>
          </c:spPr>
          <c:marker>
            <c:symbol val="none"/>
            <c:size val="7"/>
            <c:spPr>
              <a:solidFill>
                <a:srgbClr val="0F7B78"/>
              </a:solidFill>
              <a:ln w="9525" cap="flat">
                <a:solidFill>
                  <a:srgbClr val="0F7B78"/>
                </a:solidFill>
                <a:prstDash val="solid"/>
                <a:round/>
              </a:ln>
              <a:effectLst/>
            </c:spPr>
          </c:marker>
          <c:xVal>
            <c:numRef>
              <c:f>Sheet1!$A$2:$A$102</c:f>
              <c:numCache>
                <c:formatCode>General</c:formatCode>
                <c:ptCount val="1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numCache>
            </c:numRef>
          </c:xVal>
          <c:yVal>
            <c:numRef>
              <c:f>Sheet1!$B$2:$B$102</c:f>
              <c:numCache>
                <c:formatCode>General</c:formatCode>
                <c:ptCount val="10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0.1</c:v>
                </c:pt>
                <c:pt idx="31">
                  <c:v>0.1</c:v>
                </c:pt>
                <c:pt idx="32">
                  <c:v>0.1</c:v>
                </c:pt>
                <c:pt idx="33">
                  <c:v>0.1</c:v>
                </c:pt>
                <c:pt idx="34">
                  <c:v>0.1</c:v>
                </c:pt>
                <c:pt idx="35">
                  <c:v>0.1</c:v>
                </c:pt>
                <c:pt idx="36">
                  <c:v>0.1</c:v>
                </c:pt>
                <c:pt idx="37">
                  <c:v>0.1</c:v>
                </c:pt>
                <c:pt idx="38">
                  <c:v>0.1</c:v>
                </c:pt>
                <c:pt idx="39">
                  <c:v>0.1</c:v>
                </c:pt>
                <c:pt idx="40">
                  <c:v>0.1</c:v>
                </c:pt>
                <c:pt idx="41">
                  <c:v>0.1</c:v>
                </c:pt>
                <c:pt idx="42">
                  <c:v>0.1</c:v>
                </c:pt>
                <c:pt idx="43">
                  <c:v>0.1</c:v>
                </c:pt>
                <c:pt idx="44">
                  <c:v>0.1</c:v>
                </c:pt>
                <c:pt idx="45">
                  <c:v>0.1</c:v>
                </c:pt>
                <c:pt idx="46">
                  <c:v>0.1</c:v>
                </c:pt>
                <c:pt idx="47">
                  <c:v>0.1</c:v>
                </c:pt>
                <c:pt idx="48">
                  <c:v>0.1</c:v>
                </c:pt>
                <c:pt idx="49">
                  <c:v>0.1</c:v>
                </c:pt>
                <c:pt idx="50">
                  <c:v>0.1</c:v>
                </c:pt>
                <c:pt idx="51">
                  <c:v>0.1</c:v>
                </c:pt>
                <c:pt idx="52">
                  <c:v>0.1</c:v>
                </c:pt>
                <c:pt idx="53">
                  <c:v>0.1</c:v>
                </c:pt>
                <c:pt idx="54">
                  <c:v>0.1</c:v>
                </c:pt>
                <c:pt idx="55">
                  <c:v>0.1</c:v>
                </c:pt>
                <c:pt idx="56">
                  <c:v>0.1</c:v>
                </c:pt>
                <c:pt idx="57">
                  <c:v>0.1</c:v>
                </c:pt>
                <c:pt idx="58">
                  <c:v>0.1</c:v>
                </c:pt>
                <c:pt idx="59">
                  <c:v>0.1</c:v>
                </c:pt>
                <c:pt idx="60">
                  <c:v>0.01</c:v>
                </c:pt>
                <c:pt idx="61">
                  <c:v>0.01</c:v>
                </c:pt>
                <c:pt idx="62">
                  <c:v>0.01</c:v>
                </c:pt>
                <c:pt idx="63">
                  <c:v>0.01</c:v>
                </c:pt>
                <c:pt idx="64">
                  <c:v>0.01</c:v>
                </c:pt>
                <c:pt idx="65">
                  <c:v>0.01</c:v>
                </c:pt>
                <c:pt idx="66">
                  <c:v>0.01</c:v>
                </c:pt>
                <c:pt idx="67">
                  <c:v>0.01</c:v>
                </c:pt>
                <c:pt idx="68">
                  <c:v>0.01</c:v>
                </c:pt>
                <c:pt idx="69">
                  <c:v>0.01</c:v>
                </c:pt>
                <c:pt idx="70">
                  <c:v>0.01</c:v>
                </c:pt>
                <c:pt idx="71">
                  <c:v>0.01</c:v>
                </c:pt>
                <c:pt idx="72">
                  <c:v>0.01</c:v>
                </c:pt>
                <c:pt idx="73">
                  <c:v>0.01</c:v>
                </c:pt>
                <c:pt idx="74">
                  <c:v>0.01</c:v>
                </c:pt>
                <c:pt idx="75">
                  <c:v>0.01</c:v>
                </c:pt>
                <c:pt idx="76">
                  <c:v>0.01</c:v>
                </c:pt>
                <c:pt idx="77">
                  <c:v>0.01</c:v>
                </c:pt>
                <c:pt idx="78">
                  <c:v>0.01</c:v>
                </c:pt>
                <c:pt idx="79">
                  <c:v>0.01</c:v>
                </c:pt>
                <c:pt idx="80">
                  <c:v>0.001</c:v>
                </c:pt>
                <c:pt idx="81">
                  <c:v>0.001</c:v>
                </c:pt>
                <c:pt idx="82">
                  <c:v>0.001</c:v>
                </c:pt>
                <c:pt idx="83">
                  <c:v>0.001</c:v>
                </c:pt>
                <c:pt idx="84">
                  <c:v>0.001</c:v>
                </c:pt>
                <c:pt idx="85">
                  <c:v>0.001</c:v>
                </c:pt>
                <c:pt idx="86">
                  <c:v>0.001</c:v>
                </c:pt>
                <c:pt idx="87">
                  <c:v>0.001</c:v>
                </c:pt>
                <c:pt idx="88">
                  <c:v>0.001</c:v>
                </c:pt>
                <c:pt idx="89">
                  <c:v>0.001</c:v>
                </c:pt>
                <c:pt idx="90">
                  <c:v>0.001</c:v>
                </c:pt>
                <c:pt idx="91">
                  <c:v>0.001</c:v>
                </c:pt>
                <c:pt idx="92">
                  <c:v>0.001</c:v>
                </c:pt>
                <c:pt idx="93">
                  <c:v>0.001</c:v>
                </c:pt>
                <c:pt idx="94">
                  <c:v>0.001</c:v>
                </c:pt>
                <c:pt idx="95">
                  <c:v>0.001</c:v>
                </c:pt>
                <c:pt idx="96">
                  <c:v>0.001</c:v>
                </c:pt>
                <c:pt idx="97">
                  <c:v>0.001</c:v>
                </c:pt>
                <c:pt idx="98">
                  <c:v>0.001</c:v>
                </c:pt>
                <c:pt idx="99">
                  <c:v>0.001</c:v>
                </c:pt>
                <c:pt idx="100">
                  <c:v>0.001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00"/>
          <c:min val="0"/>
        </c:scaling>
        <c:delete val="1"/>
        <c:axPos val="b"/>
        <c:numFmt formatCode="General" sourceLinked="1"/>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2"/>
        <c:crossesAt val="autoZero"/>
        <c:auto val="1"/>
        <c:lblAlgn val="ctr"/>
        <c:noMultiLvlLbl val="1"/>
      </c:valAx>
      <c:valAx>
        <c:axId val="2094734552"/>
        <c:scaling>
          <c:orientation val="minMax"/>
          <c:max val="1.05"/>
          <c:min val="0"/>
        </c:scaling>
        <c:delete val="1"/>
        <c:axPos val="l"/>
        <c:majorGridlines>
          <c:spPr>
            <a:ln w="9525" cap="flat">
              <a:solidFill>
                <a:srgbClr val="E1E6EA"/>
              </a:solidFill>
              <a:prstDash val="solid"/>
              <a:round/>
            </a:ln>
          </c:spPr>
        </c:majorGridlines>
        <c:numFmt formatCode="General" sourceLinked="0"/>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4"/>
        <c:crossesAt val="0"/>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Cosine annealing</c:v>
                </c:pt>
              </c:strCache>
            </c:strRef>
          </c:tx>
          <c:spPr>
            <a:solidFill>
              <a:srgbClr val="0F7B78"/>
            </a:solidFill>
            <a:ln w="34925" cap="flat">
              <a:solidFill>
                <a:srgbClr val="0F7B78"/>
              </a:solidFill>
              <a:prstDash val="solid"/>
              <a:round/>
            </a:ln>
            <a:effectLst/>
          </c:spPr>
          <c:marker>
            <c:symbol val="none"/>
            <c:size val="7"/>
            <c:spPr>
              <a:solidFill>
                <a:srgbClr val="0F7B78"/>
              </a:solidFill>
              <a:ln w="9525" cap="flat">
                <a:solidFill>
                  <a:srgbClr val="0F7B78"/>
                </a:solidFill>
                <a:prstDash val="solid"/>
                <a:round/>
              </a:ln>
              <a:effectLst/>
            </c:spPr>
          </c:marker>
          <c:xVal>
            <c:numRef>
              <c:f>Sheet1!$A$2:$A$102</c:f>
              <c:numCache>
                <c:formatCode>General</c:formatCode>
                <c:ptCount val="1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numCache>
            </c:numRef>
          </c:xVal>
          <c:yVal>
            <c:numRef>
              <c:f>Sheet1!$B$2:$B$102</c:f>
              <c:numCache>
                <c:formatCode>General</c:formatCode>
                <c:ptCount val="101"/>
                <c:pt idx="0">
                  <c:v>1</c:v>
                </c:pt>
                <c:pt idx="1">
                  <c:v>0.9997532801828658</c:v>
                </c:pt>
                <c:pt idx="2">
                  <c:v>0.9990133642141358</c:v>
                </c:pt>
                <c:pt idx="3">
                  <c:v>0.99778098230154</c:v>
                </c:pt>
                <c:pt idx="4">
                  <c:v>0.996057350657239</c:v>
                </c:pt>
                <c:pt idx="5">
                  <c:v>0.9938441702975689</c:v>
                </c:pt>
                <c:pt idx="6">
                  <c:v>0.9911436253643444</c:v>
                </c:pt>
                <c:pt idx="7">
                  <c:v>0.9879583809693737</c:v>
                </c:pt>
                <c:pt idx="8">
                  <c:v>0.9842915805643155</c:v>
                </c:pt>
                <c:pt idx="9">
                  <c:v>0.9801468428384715</c:v>
                </c:pt>
                <c:pt idx="10">
                  <c:v>0.9755282581475768</c:v>
                </c:pt>
                <c:pt idx="11">
                  <c:v>0.9704403844771128</c:v>
                </c:pt>
                <c:pt idx="12">
                  <c:v>0.9648882429441257</c:v>
                </c:pt>
                <c:pt idx="13">
                  <c:v>0.9588773128419905</c:v>
                </c:pt>
                <c:pt idx="14">
                  <c:v>0.9524135262330098</c:v>
                </c:pt>
                <c:pt idx="15">
                  <c:v>0.9455032620941839</c:v>
                </c:pt>
                <c:pt idx="16">
                  <c:v>0.9381533400219317</c:v>
                </c:pt>
                <c:pt idx="17">
                  <c:v>0.9303710135019718</c:v>
                </c:pt>
                <c:pt idx="18">
                  <c:v>0.9221639627510075</c:v>
                </c:pt>
                <c:pt idx="19">
                  <c:v>0.9135402871372809</c:v>
                </c:pt>
                <c:pt idx="20">
                  <c:v>0.9045084971874737</c:v>
                </c:pt>
                <c:pt idx="21">
                  <c:v>0.8950775061878452</c:v>
                </c:pt>
                <c:pt idx="22">
                  <c:v>0.8852566213878946</c:v>
                </c:pt>
                <c:pt idx="23">
                  <c:v>0.8750555348152298</c:v>
                </c:pt>
                <c:pt idx="24">
                  <c:v>0.8644843137107058</c:v>
                </c:pt>
                <c:pt idx="25">
                  <c:v>0.8535533905932737</c:v>
                </c:pt>
                <c:pt idx="26">
                  <c:v>0.8422735529643444</c:v>
                </c:pt>
                <c:pt idx="27">
                  <c:v>0.8306559326618259</c:v>
                </c:pt>
                <c:pt idx="28">
                  <c:v>0.8187119948743449</c:v>
                </c:pt>
                <c:pt idx="29">
                  <c:v>0.8064535268264883</c:v>
                </c:pt>
                <c:pt idx="30">
                  <c:v>0.7938926261462367</c:v>
                </c:pt>
                <c:pt idx="31">
                  <c:v>0.7810416889260654</c:v>
                </c:pt>
                <c:pt idx="32">
                  <c:v>0.7679133974894983</c:v>
                </c:pt>
                <c:pt idx="33">
                  <c:v>0.7545207078751857</c:v>
                </c:pt>
                <c:pt idx="34">
                  <c:v>0.7408768370508576</c:v>
                </c:pt>
                <c:pt idx="35">
                  <c:v>0.7269952498697734</c:v>
                </c:pt>
                <c:pt idx="36">
                  <c:v>0.7128896457825363</c:v>
                </c:pt>
                <c:pt idx="37">
                  <c:v>0.6985739453173903</c:v>
                </c:pt>
                <c:pt idx="38">
                  <c:v>0.6840622763423391</c:v>
                </c:pt>
                <c:pt idx="39">
                  <c:v>0.6693689601226458</c:v>
                </c:pt>
                <c:pt idx="40">
                  <c:v>0.6545084971874737</c:v>
                </c:pt>
                <c:pt idx="41">
                  <c:v>0.6394955530196147</c:v>
                </c:pt>
                <c:pt idx="42">
                  <c:v>0.6243449435824273</c:v>
                </c:pt>
                <c:pt idx="43">
                  <c:v>0.6090716206982714</c:v>
                </c:pt>
                <c:pt idx="44">
                  <c:v>0.5936906572928624</c:v>
                </c:pt>
                <c:pt idx="45">
                  <c:v>0.5782172325201155</c:v>
                </c:pt>
                <c:pt idx="46">
                  <c:v>0.5626666167821522</c:v>
                </c:pt>
                <c:pt idx="47">
                  <c:v>0.5470541566592572</c:v>
                </c:pt>
                <c:pt idx="48">
                  <c:v>0.5313952597646567</c:v>
                </c:pt>
                <c:pt idx="49">
                  <c:v>0.5157053795390641</c:v>
                </c:pt>
                <c:pt idx="50">
                  <c:v>0.5</c:v>
                </c:pt>
                <c:pt idx="51">
                  <c:v>0.48429462046093585</c:v>
                </c:pt>
                <c:pt idx="52">
                  <c:v>0.4686047402353433</c:v>
                </c:pt>
                <c:pt idx="53">
                  <c:v>0.45294584334074284</c:v>
                </c:pt>
                <c:pt idx="54">
                  <c:v>0.4373333832178479</c:v>
                </c:pt>
                <c:pt idx="55">
                  <c:v>0.4217827674798846</c:v>
                </c:pt>
                <c:pt idx="56">
                  <c:v>0.4063093427071377</c:v>
                </c:pt>
                <c:pt idx="57">
                  <c:v>0.39092837930172886</c:v>
                </c:pt>
                <c:pt idx="58">
                  <c:v>0.3756550564175726</c:v>
                </c:pt>
                <c:pt idx="59">
                  <c:v>0.3605044469803854</c:v>
                </c:pt>
                <c:pt idx="60">
                  <c:v>0.34549150281252644</c:v>
                </c:pt>
                <c:pt idx="61">
                  <c:v>0.3306310398773543</c:v>
                </c:pt>
                <c:pt idx="62">
                  <c:v>0.31593772365766115</c:v>
                </c:pt>
                <c:pt idx="63">
                  <c:v>0.30142605468260963</c:v>
                </c:pt>
                <c:pt idx="64">
                  <c:v>0.28711035421746367</c:v>
                </c:pt>
                <c:pt idx="65">
                  <c:v>0.2730047501302266</c:v>
                </c:pt>
                <c:pt idx="66">
                  <c:v>0.2591231629491423</c:v>
                </c:pt>
                <c:pt idx="67">
                  <c:v>0.24547929212481434</c:v>
                </c:pt>
                <c:pt idx="68">
                  <c:v>0.23208660251050156</c:v>
                </c:pt>
                <c:pt idx="69">
                  <c:v>0.21895831107393465</c:v>
                </c:pt>
                <c:pt idx="70">
                  <c:v>0.2061073738537635</c:v>
                </c:pt>
                <c:pt idx="71">
                  <c:v>0.1935464731735117</c:v>
                </c:pt>
                <c:pt idx="72">
                  <c:v>0.18128800512565513</c:v>
                </c:pt>
                <c:pt idx="73">
                  <c:v>0.16934406733817414</c:v>
                </c:pt>
                <c:pt idx="74">
                  <c:v>0.15772644703565564</c:v>
                </c:pt>
                <c:pt idx="75">
                  <c:v>0.14644660940672627</c:v>
                </c:pt>
                <c:pt idx="76">
                  <c:v>0.13551568628929433</c:v>
                </c:pt>
                <c:pt idx="77">
                  <c:v>0.12494446518477026</c:v>
                </c:pt>
                <c:pt idx="78">
                  <c:v>0.11474337861210543</c:v>
                </c:pt>
                <c:pt idx="79">
                  <c:v>0.1049224938121548</c:v>
                </c:pt>
                <c:pt idx="80">
                  <c:v>0.09549150281252633</c:v>
                </c:pt>
                <c:pt idx="81">
                  <c:v>0.08645971286271914</c:v>
                </c:pt>
                <c:pt idx="82">
                  <c:v>0.07783603724899257</c:v>
                </c:pt>
                <c:pt idx="83">
                  <c:v>0.06962898649802812</c:v>
                </c:pt>
                <c:pt idx="84">
                  <c:v>0.06184665997806821</c:v>
                </c:pt>
                <c:pt idx="85">
                  <c:v>0.054496737905816106</c:v>
                </c:pt>
                <c:pt idx="86">
                  <c:v>0.04758647376699032</c:v>
                </c:pt>
                <c:pt idx="87">
                  <c:v>0.04112268715800954</c:v>
                </c:pt>
                <c:pt idx="88">
                  <c:v>0.035111757055874326</c:v>
                </c:pt>
                <c:pt idx="89">
                  <c:v>0.029559615522887273</c:v>
                </c:pt>
                <c:pt idx="90">
                  <c:v>0.024471741852423234</c:v>
                </c:pt>
                <c:pt idx="91">
                  <c:v>0.019853157161528523</c:v>
                </c:pt>
                <c:pt idx="92">
                  <c:v>0.015708419435684517</c:v>
                </c:pt>
                <c:pt idx="93">
                  <c:v>0.012041619030626338</c:v>
                </c:pt>
                <c:pt idx="94">
                  <c:v>0.00885637463565564</c:v>
                </c:pt>
                <c:pt idx="95">
                  <c:v>0.00615582970243117</c:v>
                </c:pt>
                <c:pt idx="96">
                  <c:v>0.0039426493427611176</c:v>
                </c:pt>
                <c:pt idx="97">
                  <c:v>0.002219017698460002</c:v>
                </c:pt>
                <c:pt idx="98">
                  <c:v>0.0009866357858642205</c:v>
                </c:pt>
                <c:pt idx="99">
                  <c:v>0.0002467198171342</c:v>
                </c:pt>
                <c:pt idx="100">
                  <c:v>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00"/>
          <c:min val="0"/>
        </c:scaling>
        <c:delete val="1"/>
        <c:axPos val="b"/>
        <c:numFmt formatCode="General" sourceLinked="1"/>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2"/>
        <c:crossesAt val="autoZero"/>
        <c:auto val="1"/>
        <c:lblAlgn val="ctr"/>
        <c:noMultiLvlLbl val="1"/>
      </c:valAx>
      <c:valAx>
        <c:axId val="2094734552"/>
        <c:scaling>
          <c:orientation val="minMax"/>
          <c:max val="1.05"/>
          <c:min val="0"/>
        </c:scaling>
        <c:delete val="1"/>
        <c:axPos val="l"/>
        <c:majorGridlines>
          <c:spPr>
            <a:ln w="9525" cap="flat">
              <a:solidFill>
                <a:srgbClr val="E1E6EA"/>
              </a:solidFill>
              <a:prstDash val="solid"/>
              <a:round/>
            </a:ln>
          </c:spPr>
        </c:majorGridlines>
        <c:numFmt formatCode="General" sourceLinked="0"/>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4"/>
        <c:crossesAt val="0"/>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Warmup + cosine</c:v>
                </c:pt>
              </c:strCache>
            </c:strRef>
          </c:tx>
          <c:spPr>
            <a:solidFill>
              <a:srgbClr val="0F7B78"/>
            </a:solidFill>
            <a:ln w="34925" cap="flat">
              <a:solidFill>
                <a:srgbClr val="0F7B78"/>
              </a:solidFill>
              <a:prstDash val="solid"/>
              <a:round/>
            </a:ln>
            <a:effectLst/>
          </c:spPr>
          <c:marker>
            <c:symbol val="none"/>
            <c:size val="7"/>
            <c:spPr>
              <a:solidFill>
                <a:srgbClr val="0F7B78"/>
              </a:solidFill>
              <a:ln w="9525" cap="flat">
                <a:solidFill>
                  <a:srgbClr val="0F7B78"/>
                </a:solidFill>
                <a:prstDash val="solid"/>
                <a:round/>
              </a:ln>
              <a:effectLst/>
            </c:spPr>
          </c:marker>
          <c:xVal>
            <c:numRef>
              <c:f>Sheet1!$A$2:$A$102</c:f>
              <c:numCache>
                <c:formatCode>General</c:formatCode>
                <c:ptCount val="1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numCache>
            </c:numRef>
          </c:xVal>
          <c:yVal>
            <c:numRef>
              <c:f>Sheet1!$B$2:$B$102</c:f>
              <c:numCache>
                <c:formatCode>General</c:formatCode>
                <c:ptCount val="101"/>
                <c:pt idx="0">
                  <c:v>0</c:v>
                </c:pt>
                <c:pt idx="1">
                  <c:v>0.1</c:v>
                </c:pt>
                <c:pt idx="2">
                  <c:v>0.2</c:v>
                </c:pt>
                <c:pt idx="3">
                  <c:v>0.3</c:v>
                </c:pt>
                <c:pt idx="4">
                  <c:v>0.4</c:v>
                </c:pt>
                <c:pt idx="5">
                  <c:v>0.5</c:v>
                </c:pt>
                <c:pt idx="6">
                  <c:v>0.6</c:v>
                </c:pt>
                <c:pt idx="7">
                  <c:v>0.7</c:v>
                </c:pt>
                <c:pt idx="8">
                  <c:v>0.8</c:v>
                </c:pt>
                <c:pt idx="9">
                  <c:v>0.9</c:v>
                </c:pt>
                <c:pt idx="10">
                  <c:v>1</c:v>
                </c:pt>
                <c:pt idx="11">
                  <c:v>0.9996954135095479</c:v>
                </c:pt>
                <c:pt idx="12">
                  <c:v>0.9987820251299121</c:v>
                </c:pt>
                <c:pt idx="13">
                  <c:v>0.9972609476841366</c:v>
                </c:pt>
                <c:pt idx="14">
                  <c:v>0.9951340343707852</c:v>
                </c:pt>
                <c:pt idx="15">
                  <c:v>0.9924038765061041</c:v>
                </c:pt>
                <c:pt idx="16">
                  <c:v>0.9890738003669028</c:v>
                </c:pt>
                <c:pt idx="17">
                  <c:v>0.9851478631379982</c:v>
                </c:pt>
                <c:pt idx="18">
                  <c:v>0.9806308479691594</c:v>
                </c:pt>
                <c:pt idx="19">
                  <c:v>0.9755282581475768</c:v>
                </c:pt>
                <c:pt idx="20">
                  <c:v>0.9698463103929542</c:v>
                </c:pt>
                <c:pt idx="21">
                  <c:v>0.9635919272833937</c:v>
                </c:pt>
                <c:pt idx="22">
                  <c:v>0.9567727288213004</c:v>
                </c:pt>
                <c:pt idx="23">
                  <c:v>0.9493970231495835</c:v>
                </c:pt>
                <c:pt idx="24">
                  <c:v>0.9414737964294635</c:v>
                </c:pt>
                <c:pt idx="25">
                  <c:v>0.9330127018922194</c:v>
                </c:pt>
                <c:pt idx="26">
                  <c:v>0.9240240480782129</c:v>
                </c:pt>
                <c:pt idx="27">
                  <c:v>0.9145187862775208</c:v>
                </c:pt>
                <c:pt idx="28">
                  <c:v>0.9045084971874737</c:v>
                </c:pt>
                <c:pt idx="29">
                  <c:v>0.894005376803361</c:v>
                </c:pt>
                <c:pt idx="30">
                  <c:v>0.883022221559489</c:v>
                </c:pt>
                <c:pt idx="31">
                  <c:v>0.8715724127386971</c:v>
                </c:pt>
                <c:pt idx="32">
                  <c:v>0.8596699001693255</c:v>
                </c:pt>
                <c:pt idx="33">
                  <c:v>0.8473291852294986</c:v>
                </c:pt>
                <c:pt idx="34">
                  <c:v>0.8345653031794291</c:v>
                </c:pt>
                <c:pt idx="35">
                  <c:v>0.8213938048432696</c:v>
                </c:pt>
                <c:pt idx="36">
                  <c:v>0.8078307376628291</c:v>
                </c:pt>
                <c:pt idx="37">
                  <c:v>0.7938926261462366</c:v>
                </c:pt>
                <c:pt idx="38">
                  <c:v>0.7795964517353734</c:v>
                </c:pt>
                <c:pt idx="39">
                  <c:v>0.7649596321166025</c:v>
                </c:pt>
                <c:pt idx="40">
                  <c:v>0.75</c:v>
                </c:pt>
                <c:pt idx="41">
                  <c:v>0.7347357813929454</c:v>
                </c:pt>
                <c:pt idx="42">
                  <c:v>0.7191855733945387</c:v>
                </c:pt>
                <c:pt idx="43">
                  <c:v>0.7033683215379001</c:v>
                </c:pt>
                <c:pt idx="44">
                  <c:v>0.687303296707956</c:v>
                </c:pt>
                <c:pt idx="45">
                  <c:v>0.6710100716628344</c:v>
                </c:pt>
                <c:pt idx="46">
                  <c:v>0.6545084971874737</c:v>
                </c:pt>
                <c:pt idx="47">
                  <c:v>0.6378186779084996</c:v>
                </c:pt>
                <c:pt idx="48">
                  <c:v>0.6209609477998339</c:v>
                </c:pt>
                <c:pt idx="49">
                  <c:v>0.6039558454088797</c:v>
                </c:pt>
                <c:pt idx="50">
                  <c:v>0.5868240888334653</c:v>
                </c:pt>
                <c:pt idx="51">
                  <c:v>0.5695865504800328</c:v>
                </c:pt>
                <c:pt idx="52">
                  <c:v>0.5522642316338268</c:v>
                </c:pt>
                <c:pt idx="53">
                  <c:v>0.5348782368720627</c:v>
                </c:pt>
                <c:pt idx="54">
                  <c:v>0.5174497483512506</c:v>
                </c:pt>
                <c:pt idx="55">
                  <c:v>0.5</c:v>
                </c:pt>
                <c:pt idx="56">
                  <c:v>0.48255025164874965</c:v>
                </c:pt>
                <c:pt idx="57">
                  <c:v>0.46512176312793735</c:v>
                </c:pt>
                <c:pt idx="58">
                  <c:v>0.44773576836617335</c:v>
                </c:pt>
                <c:pt idx="59">
                  <c:v>0.4304134495199673</c:v>
                </c:pt>
                <c:pt idx="60">
                  <c:v>0.41317591116653485</c:v>
                </c:pt>
                <c:pt idx="61">
                  <c:v>0.3960441545911204</c:v>
                </c:pt>
                <c:pt idx="62">
                  <c:v>0.3790390522001661</c:v>
                </c:pt>
                <c:pt idx="63">
                  <c:v>0.36218132209150045</c:v>
                </c:pt>
                <c:pt idx="64">
                  <c:v>0.34549150281252633</c:v>
                </c:pt>
                <c:pt idx="65">
                  <c:v>0.32898992833716567</c:v>
                </c:pt>
                <c:pt idx="66">
                  <c:v>0.31269670329204396</c:v>
                </c:pt>
                <c:pt idx="67">
                  <c:v>0.2966316784620999</c:v>
                </c:pt>
                <c:pt idx="68">
                  <c:v>0.28081442660546124</c:v>
                </c:pt>
                <c:pt idx="69">
                  <c:v>0.26526421860705474</c:v>
                </c:pt>
                <c:pt idx="70">
                  <c:v>0.2500000000000001</c:v>
                </c:pt>
                <c:pt idx="71">
                  <c:v>0.2350403678833976</c:v>
                </c:pt>
                <c:pt idx="72">
                  <c:v>0.22040354826462666</c:v>
                </c:pt>
                <c:pt idx="73">
                  <c:v>0.2061073738537635</c:v>
                </c:pt>
                <c:pt idx="74">
                  <c:v>0.19216926233717085</c:v>
                </c:pt>
                <c:pt idx="75">
                  <c:v>0.17860619515673032</c:v>
                </c:pt>
                <c:pt idx="76">
                  <c:v>0.16543469682057088</c:v>
                </c:pt>
                <c:pt idx="77">
                  <c:v>0.15267081477050148</c:v>
                </c:pt>
                <c:pt idx="78">
                  <c:v>0.14033009983067435</c:v>
                </c:pt>
                <c:pt idx="79">
                  <c:v>0.12842758726130293</c:v>
                </c:pt>
                <c:pt idx="80">
                  <c:v>0.11697777844051105</c:v>
                </c:pt>
                <c:pt idx="81">
                  <c:v>0.10599462319663905</c:v>
                </c:pt>
                <c:pt idx="82">
                  <c:v>0.09549150281252633</c:v>
                </c:pt>
                <c:pt idx="83">
                  <c:v>0.08548121372247919</c:v>
                </c:pt>
                <c:pt idx="84">
                  <c:v>0.07597595192178702</c:v>
                </c:pt>
                <c:pt idx="85">
                  <c:v>0.06698729810778065</c:v>
                </c:pt>
                <c:pt idx="86">
                  <c:v>0.05852620357053662</c:v>
                </c:pt>
                <c:pt idx="87">
                  <c:v>0.05060297685041648</c:v>
                </c:pt>
                <c:pt idx="88">
                  <c:v>0.04322727117869962</c:v>
                </c:pt>
                <c:pt idx="89">
                  <c:v>0.03640807271660634</c:v>
                </c:pt>
                <c:pt idx="90">
                  <c:v>0.03015368960704584</c:v>
                </c:pt>
                <c:pt idx="91">
                  <c:v>0.024471741852423234</c:v>
                </c:pt>
                <c:pt idx="92">
                  <c:v>0.019369152030840664</c:v>
                </c:pt>
                <c:pt idx="93">
                  <c:v>0.014852136862001764</c:v>
                </c:pt>
                <c:pt idx="94">
                  <c:v>0.010926199633097156</c:v>
                </c:pt>
                <c:pt idx="95">
                  <c:v>0.00759612349389599</c:v>
                </c:pt>
                <c:pt idx="96">
                  <c:v>0.0048659656292148745</c:v>
                </c:pt>
                <c:pt idx="97">
                  <c:v>0.002739052315863355</c:v>
                </c:pt>
                <c:pt idx="98">
                  <c:v>0.0012179748700879012</c:v>
                </c:pt>
                <c:pt idx="99">
                  <c:v>0.00030458649045211894</c:v>
                </c:pt>
                <c:pt idx="100">
                  <c:v>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00"/>
          <c:min val="0"/>
        </c:scaling>
        <c:delete val="1"/>
        <c:axPos val="b"/>
        <c:numFmt formatCode="General" sourceLinked="1"/>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2"/>
        <c:crossesAt val="autoZero"/>
        <c:auto val="1"/>
        <c:lblAlgn val="ctr"/>
        <c:noMultiLvlLbl val="1"/>
      </c:valAx>
      <c:valAx>
        <c:axId val="2094734552"/>
        <c:scaling>
          <c:orientation val="minMax"/>
          <c:max val="1.05"/>
          <c:min val="0"/>
        </c:scaling>
        <c:delete val="1"/>
        <c:axPos val="l"/>
        <c:majorGridlines>
          <c:spPr>
            <a:ln w="9525" cap="flat">
              <a:solidFill>
                <a:srgbClr val="E1E6EA"/>
              </a:solidFill>
              <a:prstDash val="solid"/>
              <a:round/>
            </a:ln>
          </c:spPr>
        </c:majorGridlines>
        <c:numFmt formatCode="General" sourceLinked="0"/>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4"/>
        <c:crossesAt val="0"/>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One-cycle</c:v>
                </c:pt>
              </c:strCache>
            </c:strRef>
          </c:tx>
          <c:spPr>
            <a:solidFill>
              <a:srgbClr val="0F7B78"/>
            </a:solidFill>
            <a:ln w="34925" cap="flat">
              <a:solidFill>
                <a:srgbClr val="0F7B78"/>
              </a:solidFill>
              <a:prstDash val="solid"/>
              <a:round/>
            </a:ln>
            <a:effectLst/>
          </c:spPr>
          <c:marker>
            <c:symbol val="none"/>
            <c:size val="7"/>
            <c:spPr>
              <a:solidFill>
                <a:srgbClr val="0F7B78"/>
              </a:solidFill>
              <a:ln w="9525" cap="flat">
                <a:solidFill>
                  <a:srgbClr val="0F7B78"/>
                </a:solidFill>
                <a:prstDash val="solid"/>
                <a:round/>
              </a:ln>
              <a:effectLst/>
            </c:spPr>
          </c:marker>
          <c:xVal>
            <c:numRef>
              <c:f>Sheet1!$A$2:$A$102</c:f>
              <c:numCache>
                <c:formatCode>General</c:formatCode>
                <c:ptCount val="1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numCache>
            </c:numRef>
          </c:xVal>
          <c:yVal>
            <c:numRef>
              <c:f>Sheet1!$B$2:$B$102</c:f>
              <c:numCache>
                <c:formatCode>General</c:formatCode>
                <c:ptCount val="101"/>
                <c:pt idx="0">
                  <c:v>0.04</c:v>
                </c:pt>
                <c:pt idx="1">
                  <c:v>0.07200000000000001</c:v>
                </c:pt>
                <c:pt idx="2">
                  <c:v>0.10400000000000001</c:v>
                </c:pt>
                <c:pt idx="3">
                  <c:v>0.136</c:v>
                </c:pt>
                <c:pt idx="4">
                  <c:v>0.168</c:v>
                </c:pt>
                <c:pt idx="5">
                  <c:v>0.2</c:v>
                </c:pt>
                <c:pt idx="6">
                  <c:v>0.232</c:v>
                </c:pt>
                <c:pt idx="7">
                  <c:v>0.264</c:v>
                </c:pt>
                <c:pt idx="8">
                  <c:v>0.296</c:v>
                </c:pt>
                <c:pt idx="9">
                  <c:v>0.328</c:v>
                </c:pt>
                <c:pt idx="10">
                  <c:v>0.36</c:v>
                </c:pt>
                <c:pt idx="11">
                  <c:v>0.39199999999999996</c:v>
                </c:pt>
                <c:pt idx="12">
                  <c:v>0.424</c:v>
                </c:pt>
                <c:pt idx="13">
                  <c:v>0.456</c:v>
                </c:pt>
                <c:pt idx="14">
                  <c:v>0.488</c:v>
                </c:pt>
                <c:pt idx="15">
                  <c:v>0.5199999999999999</c:v>
                </c:pt>
                <c:pt idx="16">
                  <c:v>0.552</c:v>
                </c:pt>
                <c:pt idx="17">
                  <c:v>0.5840000000000001</c:v>
                </c:pt>
                <c:pt idx="18">
                  <c:v>0.6160000000000001</c:v>
                </c:pt>
                <c:pt idx="19">
                  <c:v>0.648</c:v>
                </c:pt>
                <c:pt idx="20">
                  <c:v>0.68</c:v>
                </c:pt>
                <c:pt idx="21">
                  <c:v>0.7120000000000001</c:v>
                </c:pt>
                <c:pt idx="22">
                  <c:v>0.744</c:v>
                </c:pt>
                <c:pt idx="23">
                  <c:v>0.776</c:v>
                </c:pt>
                <c:pt idx="24">
                  <c:v>0.808</c:v>
                </c:pt>
                <c:pt idx="25">
                  <c:v>0.8400000000000001</c:v>
                </c:pt>
                <c:pt idx="26">
                  <c:v>0.8720000000000001</c:v>
                </c:pt>
                <c:pt idx="27">
                  <c:v>0.904</c:v>
                </c:pt>
                <c:pt idx="28">
                  <c:v>0.936</c:v>
                </c:pt>
                <c:pt idx="29">
                  <c:v>0.9680000000000001</c:v>
                </c:pt>
                <c:pt idx="30">
                  <c:v>1</c:v>
                </c:pt>
                <c:pt idx="31">
                  <c:v>0.98572</c:v>
                </c:pt>
                <c:pt idx="32">
                  <c:v>0.97144</c:v>
                </c:pt>
                <c:pt idx="33">
                  <c:v>0.95716</c:v>
                </c:pt>
                <c:pt idx="34">
                  <c:v>0.9428799999999999</c:v>
                </c:pt>
                <c:pt idx="35">
                  <c:v>0.9286</c:v>
                </c:pt>
                <c:pt idx="36">
                  <c:v>0.91432</c:v>
                </c:pt>
                <c:pt idx="37">
                  <c:v>0.90004</c:v>
                </c:pt>
                <c:pt idx="38">
                  <c:v>0.88576</c:v>
                </c:pt>
                <c:pt idx="39">
                  <c:v>0.87148</c:v>
                </c:pt>
                <c:pt idx="40">
                  <c:v>0.8572</c:v>
                </c:pt>
                <c:pt idx="41">
                  <c:v>0.84292</c:v>
                </c:pt>
                <c:pt idx="42">
                  <c:v>0.82864</c:v>
                </c:pt>
                <c:pt idx="43">
                  <c:v>0.81436</c:v>
                </c:pt>
                <c:pt idx="44">
                  <c:v>0.80008</c:v>
                </c:pt>
                <c:pt idx="45">
                  <c:v>0.7858</c:v>
                </c:pt>
                <c:pt idx="46">
                  <c:v>0.77152</c:v>
                </c:pt>
                <c:pt idx="47">
                  <c:v>0.7572399999999999</c:v>
                </c:pt>
                <c:pt idx="48">
                  <c:v>0.74296</c:v>
                </c:pt>
                <c:pt idx="49">
                  <c:v>0.72868</c:v>
                </c:pt>
                <c:pt idx="50">
                  <c:v>0.7143999999999999</c:v>
                </c:pt>
                <c:pt idx="51">
                  <c:v>0.70012</c:v>
                </c:pt>
                <c:pt idx="52">
                  <c:v>0.68584</c:v>
                </c:pt>
                <c:pt idx="53">
                  <c:v>0.6715599999999999</c:v>
                </c:pt>
                <c:pt idx="54">
                  <c:v>0.65728</c:v>
                </c:pt>
                <c:pt idx="55">
                  <c:v>0.643</c:v>
                </c:pt>
                <c:pt idx="56">
                  <c:v>0.62872</c:v>
                </c:pt>
                <c:pt idx="57">
                  <c:v>0.61444</c:v>
                </c:pt>
                <c:pt idx="58">
                  <c:v>0.60016</c:v>
                </c:pt>
                <c:pt idx="59">
                  <c:v>0.58588</c:v>
                </c:pt>
                <c:pt idx="60">
                  <c:v>0.5716</c:v>
                </c:pt>
                <c:pt idx="61">
                  <c:v>0.55732</c:v>
                </c:pt>
                <c:pt idx="62">
                  <c:v>0.54304</c:v>
                </c:pt>
                <c:pt idx="63">
                  <c:v>0.5287599999999999</c:v>
                </c:pt>
                <c:pt idx="64">
                  <c:v>0.5144799999999999</c:v>
                </c:pt>
                <c:pt idx="65">
                  <c:v>0.5002</c:v>
                </c:pt>
                <c:pt idx="66">
                  <c:v>0.4859199999999999</c:v>
                </c:pt>
                <c:pt idx="67">
                  <c:v>0.47164000000000006</c:v>
                </c:pt>
                <c:pt idx="68">
                  <c:v>0.45736</c:v>
                </c:pt>
                <c:pt idx="69">
                  <c:v>0.44308000000000003</c:v>
                </c:pt>
                <c:pt idx="70">
                  <c:v>0.42879999999999996</c:v>
                </c:pt>
                <c:pt idx="71">
                  <c:v>0.41452</c:v>
                </c:pt>
                <c:pt idx="72">
                  <c:v>0.40023999999999993</c:v>
                </c:pt>
                <c:pt idx="73">
                  <c:v>0.38595999999999997</c:v>
                </c:pt>
                <c:pt idx="74">
                  <c:v>0.37168</c:v>
                </c:pt>
                <c:pt idx="75">
                  <c:v>0.35740000000000005</c:v>
                </c:pt>
                <c:pt idx="76">
                  <c:v>0.34312</c:v>
                </c:pt>
                <c:pt idx="77">
                  <c:v>0.32884</c:v>
                </c:pt>
                <c:pt idx="78">
                  <c:v>0.31455999999999995</c:v>
                </c:pt>
                <c:pt idx="79">
                  <c:v>0.30028</c:v>
                </c:pt>
                <c:pt idx="80">
                  <c:v>0.2859999999999999</c:v>
                </c:pt>
                <c:pt idx="81">
                  <c:v>0.27171999999999996</c:v>
                </c:pt>
                <c:pt idx="82">
                  <c:v>0.2574399999999999</c:v>
                </c:pt>
                <c:pt idx="83">
                  <c:v>0.24316000000000004</c:v>
                </c:pt>
                <c:pt idx="84">
                  <c:v>0.22887999999999997</c:v>
                </c:pt>
                <c:pt idx="85">
                  <c:v>0.2146</c:v>
                </c:pt>
                <c:pt idx="86">
                  <c:v>0.20031999999999994</c:v>
                </c:pt>
                <c:pt idx="87">
                  <c:v>0.18603999999999998</c:v>
                </c:pt>
                <c:pt idx="88">
                  <c:v>0.1717599999999999</c:v>
                </c:pt>
                <c:pt idx="89">
                  <c:v>0.15747999999999995</c:v>
                </c:pt>
                <c:pt idx="90">
                  <c:v>0.1432</c:v>
                </c:pt>
                <c:pt idx="91">
                  <c:v>0.12892000000000003</c:v>
                </c:pt>
                <c:pt idx="92">
                  <c:v>0.11463999999999996</c:v>
                </c:pt>
                <c:pt idx="93">
                  <c:v>0.10036</c:v>
                </c:pt>
                <c:pt idx="94">
                  <c:v>0.08607999999999993</c:v>
                </c:pt>
                <c:pt idx="95">
                  <c:v>0.07179999999999997</c:v>
                </c:pt>
                <c:pt idx="96">
                  <c:v>0.057519999999999905</c:v>
                </c:pt>
                <c:pt idx="97">
                  <c:v>0.043239999999999945</c:v>
                </c:pt>
                <c:pt idx="98">
                  <c:v>0.028959999999999875</c:v>
                </c:pt>
                <c:pt idx="99">
                  <c:v>0.014679999999999915</c:v>
                </c:pt>
                <c:pt idx="100">
                  <c:v>0.0003999999999998449</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00"/>
          <c:min val="0"/>
        </c:scaling>
        <c:delete val="1"/>
        <c:axPos val="b"/>
        <c:numFmt formatCode="General" sourceLinked="1"/>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2"/>
        <c:crossesAt val="autoZero"/>
        <c:auto val="1"/>
        <c:lblAlgn val="ctr"/>
        <c:noMultiLvlLbl val="1"/>
      </c:valAx>
      <c:valAx>
        <c:axId val="2094734552"/>
        <c:scaling>
          <c:orientation val="minMax"/>
          <c:max val="1.05"/>
          <c:min val="0"/>
        </c:scaling>
        <c:delete val="1"/>
        <c:axPos val="l"/>
        <c:majorGridlines>
          <c:spPr>
            <a:ln w="9525" cap="flat">
              <a:solidFill>
                <a:srgbClr val="E1E6EA"/>
              </a:solidFill>
              <a:prstDash val="solid"/>
              <a:round/>
            </a:ln>
          </c:spPr>
        </c:majorGridlines>
        <c:numFmt formatCode="General" sourceLinked="0"/>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4"/>
        <c:crossesAt val="0"/>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raw x</c:v>
                </c:pt>
              </c:strCache>
            </c:strRef>
          </c:tx>
          <c:spPr>
            <a:solidFill>
              <a:srgbClr val="556270"/>
            </a:solidFill>
            <a:ln w="38100" cap="flat">
              <a:solidFill>
                <a:srgbClr val="556270"/>
              </a:solidFill>
              <a:prstDash val="solid"/>
              <a:round/>
            </a:ln>
            <a:effectLst/>
          </c:spPr>
          <c:marker>
            <c:symbol val="none"/>
            <c:size val="7"/>
            <c:spPr>
              <a:solidFill>
                <a:srgbClr val="556270"/>
              </a:solidFill>
              <a:ln w="9525" cap="flat">
                <a:solidFill>
                  <a:srgbClr val="556270"/>
                </a:solidFill>
                <a:prstDash val="solid"/>
                <a:round/>
              </a:ln>
              <a:effectLst/>
            </c:spPr>
          </c:marker>
          <c:xVal>
            <c:numRef>
              <c:f>Sheet1!$A$2:$A$102</c:f>
              <c:numCache>
                <c:formatCode>General</c:formatCode>
                <c:ptCount val="10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-2.3</c:v>
                </c:pt>
                <c:pt idx="18">
                  <c:v>-2.2</c:v>
                </c:pt>
                <c:pt idx="19">
                  <c:v>-2.1</c:v>
                </c:pt>
                <c:pt idx="20">
                  <c:v>-2</c:v>
                </c:pt>
                <c:pt idx="21">
                  <c:v>-1.9</c:v>
                </c:pt>
                <c:pt idx="22">
                  <c:v>-1.8</c:v>
                </c:pt>
                <c:pt idx="23">
                  <c:v>-1.7</c:v>
                </c:pt>
                <c:pt idx="24">
                  <c:v>-1.6</c:v>
                </c:pt>
                <c:pt idx="25">
                  <c:v>-1.5</c:v>
                </c:pt>
                <c:pt idx="26">
                  <c:v>-1.4</c:v>
                </c:pt>
                <c:pt idx="27">
                  <c:v>-1.3</c:v>
                </c:pt>
                <c:pt idx="28">
                  <c:v>-1.2</c:v>
                </c:pt>
                <c:pt idx="29">
                  <c:v>-1.1</c:v>
                </c:pt>
                <c:pt idx="30">
                  <c:v>-1</c:v>
                </c:pt>
                <c:pt idx="31">
                  <c:v>-0.9</c:v>
                </c:pt>
                <c:pt idx="32">
                  <c:v>-0.8</c:v>
                </c:pt>
                <c:pt idx="33">
                  <c:v>-0.7</c:v>
                </c:pt>
                <c:pt idx="34">
                  <c:v>-0.6</c:v>
                </c:pt>
                <c:pt idx="35">
                  <c:v>-0.5</c:v>
                </c:pt>
                <c:pt idx="36">
                  <c:v>-0.4</c:v>
                </c:pt>
                <c:pt idx="37">
                  <c:v>-0.3</c:v>
                </c:pt>
                <c:pt idx="38">
                  <c:v>-0.2</c:v>
                </c:pt>
                <c:pt idx="39">
                  <c:v>-0.1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pt idx="71">
                  <c:v>3.1</c:v>
                </c:pt>
                <c:pt idx="72">
                  <c:v>3.2</c:v>
                </c:pt>
                <c:pt idx="73">
                  <c:v>3.3</c:v>
                </c:pt>
                <c:pt idx="74">
                  <c:v>3.4</c:v>
                </c:pt>
                <c:pt idx="75">
                  <c:v>3.5</c:v>
                </c:pt>
                <c:pt idx="76">
                  <c:v>3.6</c:v>
                </c:pt>
                <c:pt idx="77">
                  <c:v>3.7</c:v>
                </c:pt>
                <c:pt idx="78">
                  <c:v>3.8</c:v>
                </c:pt>
                <c:pt idx="79">
                  <c:v>3.9</c:v>
                </c:pt>
                <c:pt idx="80">
                  <c:v>4</c:v>
                </c:pt>
                <c:pt idx="81">
                  <c:v>4.1</c:v>
                </c:pt>
                <c:pt idx="82">
                  <c:v>4.2</c:v>
                </c:pt>
                <c:pt idx="83">
                  <c:v>4.3</c:v>
                </c:pt>
                <c:pt idx="84">
                  <c:v>4.4</c:v>
                </c:pt>
                <c:pt idx="85">
                  <c:v>4.5</c:v>
                </c:pt>
                <c:pt idx="86">
                  <c:v>4.6</c:v>
                </c:pt>
                <c:pt idx="87">
                  <c:v>4.7</c:v>
                </c:pt>
                <c:pt idx="88">
                  <c:v>4.8</c:v>
                </c:pt>
                <c:pt idx="89">
                  <c:v>4.9</c:v>
                </c:pt>
                <c:pt idx="90">
                  <c:v>5</c:v>
                </c:pt>
                <c:pt idx="91">
                  <c:v>5.1</c:v>
                </c:pt>
                <c:pt idx="92">
                  <c:v>5.2</c:v>
                </c:pt>
                <c:pt idx="93">
                  <c:v>5.3</c:v>
                </c:pt>
                <c:pt idx="94">
                  <c:v>5.4</c:v>
                </c:pt>
                <c:pt idx="95">
                  <c:v>5.5</c:v>
                </c:pt>
                <c:pt idx="96">
                  <c:v>5.6</c:v>
                </c:pt>
                <c:pt idx="97">
                  <c:v>5.7</c:v>
                </c:pt>
                <c:pt idx="98">
                  <c:v>5.8</c:v>
                </c:pt>
                <c:pt idx="99">
                  <c:v>5.9</c:v>
                </c:pt>
                <c:pt idx="100">
                  <c:v>6</c:v>
                </c:pt>
              </c:numCache>
            </c:numRef>
          </c:xVal>
          <c:yVal>
            <c:numRef>
              <c:f>Sheet1!$B$2:$B$102</c:f>
              <c:numCache>
                <c:formatCode>General</c:formatCode>
                <c:ptCount val="101"/>
                <c:pt idx="0">
                  <c:v>0.000022247241597092283</c:v>
                </c:pt>
                <c:pt idx="1">
                  <c:v>0.000029632884112517206</c:v>
                </c:pt>
                <c:pt idx="2">
                  <c:v>0.0000392953785043599</c:v>
                </c:pt>
                <c:pt idx="3">
                  <c:v>0.000051877475320245035</c:v>
                </c:pt>
                <c:pt idx="4">
                  <c:v>0.00006818455192052316</c:v>
                </c:pt>
                <c:pt idx="5">
                  <c:v>0.00008922015050992358</c:v>
                </c:pt>
                <c:pt idx="6">
                  <c:v>0.00011622771894357542</c:v>
                </c:pt>
                <c:pt idx="7">
                  <c:v>0.00015073922560245647</c:v>
                </c:pt>
                <c:pt idx="8">
                  <c:v>0.00019463128386097334</c:v>
                </c:pt>
                <c:pt idx="9">
                  <c:v>0.0002501893491450871</c:v>
                </c:pt>
                <c:pt idx="10">
                  <c:v>0.00032018043441388045</c:v>
                </c:pt>
                <c:pt idx="11">
                  <c:v>0.0004079346200758479</c:v>
                </c:pt>
                <c:pt idx="12">
                  <c:v>0.0005174354041392726</c:v>
                </c:pt>
                <c:pt idx="13">
                  <c:v>0.0006534186408502479</c:v>
                </c:pt>
                <c:pt idx="14">
                  <c:v>0.0008214794456486799</c:v>
                </c:pt>
                <c:pt idx="15">
                  <c:v>0.0010281859975274034</c:v>
                </c:pt>
                <c:pt idx="16">
                  <c:v>0.0012811986462346713</c:v>
                </c:pt>
                <c:pt idx="17">
                  <c:v>0.0015893921343098963</c:v>
                </c:pt>
                <c:pt idx="18">
                  <c:v>0.001962978080255573</c:v>
                </c:pt>
                <c:pt idx="19">
                  <c:v>0.00241362415201286</c:v>
                </c:pt>
                <c:pt idx="20">
                  <c:v>0.0029545656079586714</c:v>
                </c:pt>
                <c:pt idx="21">
                  <c:v>0.003600704120796247</c:v>
                </c:pt>
                <c:pt idx="22">
                  <c:v>0.004368688059342348</c:v>
                </c:pt>
                <c:pt idx="23">
                  <c:v>0.005276967721986638</c:v>
                </c:pt>
                <c:pt idx="24">
                  <c:v>0.006345818436891465</c:v>
                </c:pt>
                <c:pt idx="25">
                  <c:v>0.007597324015864961</c:v>
                </c:pt>
                <c:pt idx="26">
                  <c:v>0.009055312822457076</c:v>
                </c:pt>
                <c:pt idx="27">
                  <c:v>0.01074523874243266</c:v>
                </c:pt>
                <c:pt idx="28">
                  <c:v>0.012693999677100175</c:v>
                </c:pt>
                <c:pt idx="29">
                  <c:v>0.014929686863228599</c:v>
                </c:pt>
                <c:pt idx="30">
                  <c:v>0.01748125939580632</c:v>
                </c:pt>
                <c:pt idx="31">
                  <c:v>0.020378139818590324</c:v>
                </c:pt>
                <c:pt idx="32">
                  <c:v>0.023649728564154305</c:v>
                </c:pt>
                <c:pt idx="33">
                  <c:v>0.02732483736348146</c:v>
                </c:pt>
                <c:pt idx="34">
                  <c:v>0.03143104447724771</c:v>
                </c:pt>
                <c:pt idx="35">
                  <c:v>0.035993977675458706</c:v>
                </c:pt>
                <c:pt idx="36">
                  <c:v>0.04103653423289818</c:v>
                </c:pt>
                <c:pt idx="37">
                  <c:v>0.04657805071394347</c:v>
                </c:pt>
                <c:pt idx="38">
                  <c:v>0.052633438867262766</c:v>
                </c:pt>
                <c:pt idx="39">
                  <c:v>0.0592123073937279</c:v>
                </c:pt>
                <c:pt idx="40">
                  <c:v>0.06631809252849911</c:v>
                </c:pt>
                <c:pt idx="41">
                  <c:v>0.07394722311963706</c:v>
                </c:pt>
                <c:pt idx="42">
                  <c:v>0.08208834801723304</c:v>
                </c:pt>
                <c:pt idx="43">
                  <c:v>0.09072165494151868</c:v>
                </c:pt>
                <c:pt idx="44">
                  <c:v>0.09981831042382988</c:v>
                </c:pt>
                <c:pt idx="45">
                  <c:v>0.10934004978399575</c:v>
                </c:pt>
                <c:pt idx="46">
                  <c:v>0.1192389443296937</c:v>
                </c:pt>
                <c:pt idx="47">
                  <c:v>0.12945736998880863</c:v>
                </c:pt>
                <c:pt idx="48">
                  <c:v>0.13992819741648282</c:v>
                </c:pt>
                <c:pt idx="49">
                  <c:v>0.15057521831141632</c:v>
                </c:pt>
                <c:pt idx="50">
                  <c:v>0.16131381634609557</c:v>
                </c:pt>
                <c:pt idx="51">
                  <c:v>0.1720518839354918</c:v>
                </c:pt>
                <c:pt idx="52">
                  <c:v>0.1826909782646856</c:v>
                </c:pt>
                <c:pt idx="53">
                  <c:v>0.1931277018409885</c:v>
                </c:pt>
                <c:pt idx="54">
                  <c:v>0.20325528464034476</c:v>
                </c:pt>
                <c:pt idx="55">
                  <c:v>0.2129653370149015</c:v>
                </c:pt>
                <c:pt idx="56">
                  <c:v>0.22214973526119977</c:v>
                </c:pt>
                <c:pt idx="57">
                  <c:v>0.23070259545128194</c:v>
                </c:pt>
                <c:pt idx="58">
                  <c:v>0.23852228611197931</c:v>
                </c:pt>
                <c:pt idx="59">
                  <c:v>0.2455134268688822</c:v>
                </c:pt>
                <c:pt idx="60">
                  <c:v>0.25158881846199543</c:v>
                </c:pt>
                <c:pt idx="61">
                  <c:v>0.25667124973067595</c:v>
                </c:pt>
                <c:pt idx="62">
                  <c:v>0.2606951293169706</c:v>
                </c:pt>
                <c:pt idx="63">
                  <c:v>0.26360789392387846</c:v>
                </c:pt>
                <c:pt idx="64">
                  <c:v>0.26537115087596813</c:v>
                </c:pt>
                <c:pt idx="65">
                  <c:v>0.2659615202676218</c:v>
                </c:pt>
                <c:pt idx="66">
                  <c:v>0.26537115087596813</c:v>
                </c:pt>
                <c:pt idx="67">
                  <c:v>0.26360789392387846</c:v>
                </c:pt>
                <c:pt idx="68">
                  <c:v>0.2606951293169706</c:v>
                </c:pt>
                <c:pt idx="69">
                  <c:v>0.25667124973067595</c:v>
                </c:pt>
                <c:pt idx="70">
                  <c:v>0.25158881846199543</c:v>
                </c:pt>
                <c:pt idx="71">
                  <c:v>0.2455134268688822</c:v>
                </c:pt>
                <c:pt idx="72">
                  <c:v>0.2385222861119793</c:v>
                </c:pt>
                <c:pt idx="73">
                  <c:v>0.23070259545128197</c:v>
                </c:pt>
                <c:pt idx="74">
                  <c:v>0.22214973526119977</c:v>
                </c:pt>
                <c:pt idx="75">
                  <c:v>0.2129653370149015</c:v>
                </c:pt>
                <c:pt idx="76">
                  <c:v>0.20325528464034476</c:v>
                </c:pt>
                <c:pt idx="77">
                  <c:v>0.19312770184098849</c:v>
                </c:pt>
                <c:pt idx="78">
                  <c:v>0.18269097826468564</c:v>
                </c:pt>
                <c:pt idx="79">
                  <c:v>0.1720518839354918</c:v>
                </c:pt>
                <c:pt idx="80">
                  <c:v>0.16131381634609557</c:v>
                </c:pt>
                <c:pt idx="81">
                  <c:v>0.15057521831141635</c:v>
                </c:pt>
                <c:pt idx="82">
                  <c:v>0.13992819741648277</c:v>
                </c:pt>
                <c:pt idx="83">
                  <c:v>0.12945736998880863</c:v>
                </c:pt>
                <c:pt idx="84">
                  <c:v>0.11923894432969367</c:v>
                </c:pt>
                <c:pt idx="85">
                  <c:v>0.10934004978399575</c:v>
                </c:pt>
                <c:pt idx="86">
                  <c:v>0.09981831042382995</c:v>
                </c:pt>
                <c:pt idx="87">
                  <c:v>0.09072165494151868</c:v>
                </c:pt>
                <c:pt idx="88">
                  <c:v>0.08208834801723304</c:v>
                </c:pt>
                <c:pt idx="89">
                  <c:v>0.07394722311963701</c:v>
                </c:pt>
                <c:pt idx="90">
                  <c:v>0.06631809252849911</c:v>
                </c:pt>
                <c:pt idx="91">
                  <c:v>0.05921230739372793</c:v>
                </c:pt>
                <c:pt idx="92">
                  <c:v>0.052633438867262766</c:v>
                </c:pt>
                <c:pt idx="93">
                  <c:v>0.04657805071394347</c:v>
                </c:pt>
                <c:pt idx="94">
                  <c:v>0.04103653423289816</c:v>
                </c:pt>
                <c:pt idx="95">
                  <c:v>0.035993977675458706</c:v>
                </c:pt>
                <c:pt idx="96">
                  <c:v>0.03143104447724774</c:v>
                </c:pt>
                <c:pt idx="97">
                  <c:v>0.02732483736348146</c:v>
                </c:pt>
                <c:pt idx="98">
                  <c:v>0.023649728564154305</c:v>
                </c:pt>
                <c:pt idx="99">
                  <c:v>0.020378139818590296</c:v>
                </c:pt>
                <c:pt idx="100">
                  <c:v>0.01748125939580632</c:v>
                </c:pt>
              </c:numCache>
            </c:numRef>
          </c:yVal>
          <c:smooth val="0"/>
        </c:ser>
        <c:ser>
          <c:idx val="1"/>
          <c:order val="1"/>
          <c:tx>
            <c:strRef>
              <c:f>Sheet1!$C$1</c:f>
              <c:strCache>
                <c:ptCount val="1"/>
                <c:pt idx="0">
                  <c:v>x̂: mean 0, var 1</c:v>
                </c:pt>
              </c:strCache>
            </c:strRef>
          </c:tx>
          <c:spPr>
            <a:solidFill>
              <a:srgbClr val="0F7B78"/>
            </a:solidFill>
            <a:ln w="38100" cap="flat">
              <a:solidFill>
                <a:srgbClr val="0F7B78"/>
              </a:solidFill>
              <a:prstDash val="solid"/>
              <a:round/>
            </a:ln>
            <a:effectLst/>
          </c:spPr>
          <c:marker>
            <c:symbol val="none"/>
            <c:size val="7"/>
            <c:spPr>
              <a:solidFill>
                <a:srgbClr val="0F7B78"/>
              </a:solidFill>
              <a:ln w="9525" cap="flat">
                <a:solidFill>
                  <a:srgbClr val="0F7B78"/>
                </a:solidFill>
                <a:prstDash val="solid"/>
                <a:round/>
              </a:ln>
              <a:effectLst/>
            </c:spPr>
          </c:marker>
          <c:xVal>
            <c:numRef>
              <c:f>Sheet1!$A$2:$A$102</c:f>
              <c:numCache>
                <c:formatCode>General</c:formatCode>
                <c:ptCount val="10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-2.3</c:v>
                </c:pt>
                <c:pt idx="18">
                  <c:v>-2.2</c:v>
                </c:pt>
                <c:pt idx="19">
                  <c:v>-2.1</c:v>
                </c:pt>
                <c:pt idx="20">
                  <c:v>-2</c:v>
                </c:pt>
                <c:pt idx="21">
                  <c:v>-1.9</c:v>
                </c:pt>
                <c:pt idx="22">
                  <c:v>-1.8</c:v>
                </c:pt>
                <c:pt idx="23">
                  <c:v>-1.7</c:v>
                </c:pt>
                <c:pt idx="24">
                  <c:v>-1.6</c:v>
                </c:pt>
                <c:pt idx="25">
                  <c:v>-1.5</c:v>
                </c:pt>
                <c:pt idx="26">
                  <c:v>-1.4</c:v>
                </c:pt>
                <c:pt idx="27">
                  <c:v>-1.3</c:v>
                </c:pt>
                <c:pt idx="28">
                  <c:v>-1.2</c:v>
                </c:pt>
                <c:pt idx="29">
                  <c:v>-1.1</c:v>
                </c:pt>
                <c:pt idx="30">
                  <c:v>-1</c:v>
                </c:pt>
                <c:pt idx="31">
                  <c:v>-0.9</c:v>
                </c:pt>
                <c:pt idx="32">
                  <c:v>-0.8</c:v>
                </c:pt>
                <c:pt idx="33">
                  <c:v>-0.7</c:v>
                </c:pt>
                <c:pt idx="34">
                  <c:v>-0.6</c:v>
                </c:pt>
                <c:pt idx="35">
                  <c:v>-0.5</c:v>
                </c:pt>
                <c:pt idx="36">
                  <c:v>-0.4</c:v>
                </c:pt>
                <c:pt idx="37">
                  <c:v>-0.3</c:v>
                </c:pt>
                <c:pt idx="38">
                  <c:v>-0.2</c:v>
                </c:pt>
                <c:pt idx="39">
                  <c:v>-0.1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pt idx="71">
                  <c:v>3.1</c:v>
                </c:pt>
                <c:pt idx="72">
                  <c:v>3.2</c:v>
                </c:pt>
                <c:pt idx="73">
                  <c:v>3.3</c:v>
                </c:pt>
                <c:pt idx="74">
                  <c:v>3.4</c:v>
                </c:pt>
                <c:pt idx="75">
                  <c:v>3.5</c:v>
                </c:pt>
                <c:pt idx="76">
                  <c:v>3.6</c:v>
                </c:pt>
                <c:pt idx="77">
                  <c:v>3.7</c:v>
                </c:pt>
                <c:pt idx="78">
                  <c:v>3.8</c:v>
                </c:pt>
                <c:pt idx="79">
                  <c:v>3.9</c:v>
                </c:pt>
                <c:pt idx="80">
                  <c:v>4</c:v>
                </c:pt>
                <c:pt idx="81">
                  <c:v>4.1</c:v>
                </c:pt>
                <c:pt idx="82">
                  <c:v>4.2</c:v>
                </c:pt>
                <c:pt idx="83">
                  <c:v>4.3</c:v>
                </c:pt>
                <c:pt idx="84">
                  <c:v>4.4</c:v>
                </c:pt>
                <c:pt idx="85">
                  <c:v>4.5</c:v>
                </c:pt>
                <c:pt idx="86">
                  <c:v>4.6</c:v>
                </c:pt>
                <c:pt idx="87">
                  <c:v>4.7</c:v>
                </c:pt>
                <c:pt idx="88">
                  <c:v>4.8</c:v>
                </c:pt>
                <c:pt idx="89">
                  <c:v>4.9</c:v>
                </c:pt>
                <c:pt idx="90">
                  <c:v>5</c:v>
                </c:pt>
                <c:pt idx="91">
                  <c:v>5.1</c:v>
                </c:pt>
                <c:pt idx="92">
                  <c:v>5.2</c:v>
                </c:pt>
                <c:pt idx="93">
                  <c:v>5.3</c:v>
                </c:pt>
                <c:pt idx="94">
                  <c:v>5.4</c:v>
                </c:pt>
                <c:pt idx="95">
                  <c:v>5.5</c:v>
                </c:pt>
                <c:pt idx="96">
                  <c:v>5.6</c:v>
                </c:pt>
                <c:pt idx="97">
                  <c:v>5.7</c:v>
                </c:pt>
                <c:pt idx="98">
                  <c:v>5.8</c:v>
                </c:pt>
                <c:pt idx="99">
                  <c:v>5.9</c:v>
                </c:pt>
                <c:pt idx="100">
                  <c:v>6</c:v>
                </c:pt>
              </c:numCache>
            </c:numRef>
          </c:xVal>
          <c:yVal>
            <c:numRef>
              <c:f>Sheet1!$C$2:$C$102</c:f>
              <c:numCache>
                <c:formatCode>General</c:formatCode>
                <c:ptCount val="101"/>
                <c:pt idx="0">
                  <c:v>0.00013383022576488537</c:v>
                </c:pt>
                <c:pt idx="1">
                  <c:v>0.00019865547139277272</c:v>
                </c:pt>
                <c:pt idx="2">
                  <c:v>0.00029194692579146027</c:v>
                </c:pt>
                <c:pt idx="3">
                  <c:v>0.00042478027055075143</c:v>
                </c:pt>
                <c:pt idx="4">
                  <c:v>0.0006119019301137719</c:v>
                </c:pt>
                <c:pt idx="5">
                  <c:v>0.0008726826950457602</c:v>
                </c:pt>
                <c:pt idx="6">
                  <c:v>0.00123221916847302</c:v>
                </c:pt>
                <c:pt idx="7">
                  <c:v>0.0017225689390536812</c:v>
                </c:pt>
                <c:pt idx="8">
                  <c:v>0.0023840882014648404</c:v>
                </c:pt>
                <c:pt idx="9">
                  <c:v>0.0032668190561999186</c:v>
                </c:pt>
                <c:pt idx="10">
                  <c:v>0.0044318484119380075</c:v>
                </c:pt>
                <c:pt idx="11">
                  <c:v>0.005952532419775854</c:v>
                </c:pt>
                <c:pt idx="12">
                  <c:v>0.007915451582979969</c:v>
                </c:pt>
                <c:pt idx="13">
                  <c:v>0.010420934814422592</c:v>
                </c:pt>
                <c:pt idx="14">
                  <c:v>0.013582969233685615</c:v>
                </c:pt>
                <c:pt idx="15">
                  <c:v>0.01752830049356854</c:v>
                </c:pt>
                <c:pt idx="16">
                  <c:v>0.0223945302948429</c:v>
                </c:pt>
                <c:pt idx="17">
                  <c:v>0.02832703774160119</c:v>
                </c:pt>
                <c:pt idx="18">
                  <c:v>0.035474592846231424</c:v>
                </c:pt>
                <c:pt idx="19">
                  <c:v>0.0439835959804272</c:v>
                </c:pt>
                <c:pt idx="20">
                  <c:v>0.05399096651318806</c:v>
                </c:pt>
                <c:pt idx="21">
                  <c:v>0.0656158147746766</c:v>
                </c:pt>
                <c:pt idx="22">
                  <c:v>0.07895015830089415</c:v>
                </c:pt>
                <c:pt idx="23">
                  <c:v>0.09404907737688695</c:v>
                </c:pt>
                <c:pt idx="24">
                  <c:v>0.11092083467945554</c:v>
                </c:pt>
                <c:pt idx="25">
                  <c:v>0.12951759566589174</c:v>
                </c:pt>
                <c:pt idx="26">
                  <c:v>0.14972746563574488</c:v>
                </c:pt>
                <c:pt idx="27">
                  <c:v>0.17136859204780736</c:v>
                </c:pt>
                <c:pt idx="28">
                  <c:v>0.19418605498321298</c:v>
                </c:pt>
                <c:pt idx="29">
                  <c:v>0.21785217703255055</c:v>
                </c:pt>
                <c:pt idx="30">
                  <c:v>0.24197072451914337</c:v>
                </c:pt>
                <c:pt idx="31">
                  <c:v>0.2660852498987548</c:v>
                </c:pt>
                <c:pt idx="32">
                  <c:v>0.2896915527614828</c:v>
                </c:pt>
                <c:pt idx="33">
                  <c:v>0.3122539333667613</c:v>
                </c:pt>
                <c:pt idx="34">
                  <c:v>0.33322460289179967</c:v>
                </c:pt>
                <c:pt idx="35">
                  <c:v>0.3520653267642995</c:v>
                </c:pt>
                <c:pt idx="36">
                  <c:v>0.36827014030332333</c:v>
                </c:pt>
                <c:pt idx="37">
                  <c:v>0.38138781546052414</c:v>
                </c:pt>
                <c:pt idx="38">
                  <c:v>0.3910426939754559</c:v>
                </c:pt>
                <c:pt idx="39">
                  <c:v>0.3969525474770118</c:v>
                </c:pt>
                <c:pt idx="40">
                  <c:v>0.3989422804014327</c:v>
                </c:pt>
                <c:pt idx="41">
                  <c:v>0.3969525474770118</c:v>
                </c:pt>
                <c:pt idx="42">
                  <c:v>0.3910426939754559</c:v>
                </c:pt>
                <c:pt idx="43">
                  <c:v>0.38138781546052414</c:v>
                </c:pt>
                <c:pt idx="44">
                  <c:v>0.36827014030332333</c:v>
                </c:pt>
                <c:pt idx="45">
                  <c:v>0.3520653267642995</c:v>
                </c:pt>
                <c:pt idx="46">
                  <c:v>0.33322460289179967</c:v>
                </c:pt>
                <c:pt idx="47">
                  <c:v>0.3122539333667613</c:v>
                </c:pt>
                <c:pt idx="48">
                  <c:v>0.2896915527614828</c:v>
                </c:pt>
                <c:pt idx="49">
                  <c:v>0.2660852498987548</c:v>
                </c:pt>
                <c:pt idx="50">
                  <c:v>0.24197072451914337</c:v>
                </c:pt>
                <c:pt idx="51">
                  <c:v>0.21785217703255055</c:v>
                </c:pt>
                <c:pt idx="52">
                  <c:v>0.19418605498321298</c:v>
                </c:pt>
                <c:pt idx="53">
                  <c:v>0.17136859204780736</c:v>
                </c:pt>
                <c:pt idx="54">
                  <c:v>0.14972746563574488</c:v>
                </c:pt>
                <c:pt idx="55">
                  <c:v>0.12951759566589174</c:v>
                </c:pt>
                <c:pt idx="56">
                  <c:v>0.11092083467945554</c:v>
                </c:pt>
                <c:pt idx="57">
                  <c:v>0.09404907737688695</c:v>
                </c:pt>
                <c:pt idx="58">
                  <c:v>0.07895015830089415</c:v>
                </c:pt>
                <c:pt idx="59">
                  <c:v>0.0656158147746766</c:v>
                </c:pt>
                <c:pt idx="60">
                  <c:v>0.05399096651318806</c:v>
                </c:pt>
                <c:pt idx="61">
                  <c:v>0.0439835959804272</c:v>
                </c:pt>
                <c:pt idx="62">
                  <c:v>0.035474592846231424</c:v>
                </c:pt>
                <c:pt idx="63">
                  <c:v>0.02832703774160119</c:v>
                </c:pt>
                <c:pt idx="64">
                  <c:v>0.0223945302948429</c:v>
                </c:pt>
                <c:pt idx="65">
                  <c:v>0.01752830049356854</c:v>
                </c:pt>
                <c:pt idx="66">
                  <c:v>0.013582969233685615</c:v>
                </c:pt>
                <c:pt idx="67">
                  <c:v>0.010420934814422592</c:v>
                </c:pt>
                <c:pt idx="68">
                  <c:v>0.007915451582979969</c:v>
                </c:pt>
                <c:pt idx="69">
                  <c:v>0.005952532419775854</c:v>
                </c:pt>
                <c:pt idx="70">
                  <c:v>0.0044318484119380075</c:v>
                </c:pt>
                <c:pt idx="71">
                  <c:v>0.0032668190561999186</c:v>
                </c:pt>
                <c:pt idx="72">
                  <c:v>0.0023840882014648404</c:v>
                </c:pt>
                <c:pt idx="73">
                  <c:v>0.0017225689390536812</c:v>
                </c:pt>
                <c:pt idx="74">
                  <c:v>0.00123221916847302</c:v>
                </c:pt>
                <c:pt idx="75">
                  <c:v>0.0008726826950457602</c:v>
                </c:pt>
                <c:pt idx="76">
                  <c:v>0.0006119019301137719</c:v>
                </c:pt>
                <c:pt idx="77">
                  <c:v>0.00042478027055075143</c:v>
                </c:pt>
                <c:pt idx="78">
                  <c:v>0.00029194692579146027</c:v>
                </c:pt>
                <c:pt idx="79">
                  <c:v>0.00019865547139277272</c:v>
                </c:pt>
                <c:pt idx="80">
                  <c:v>0.00013383022576488537</c:v>
                </c:pt>
                <c:pt idx="81">
                  <c:v>0.00008926165717713293</c:v>
                </c:pt>
                <c:pt idx="82">
                  <c:v>0.000058943067756539855</c:v>
                </c:pt>
                <c:pt idx="83">
                  <c:v>0.00003853519674208713</c:v>
                </c:pt>
                <c:pt idx="84">
                  <c:v>0.000024942471290053535</c:v>
                </c:pt>
                <c:pt idx="85">
                  <c:v>0.000015983741106905478</c:v>
                </c:pt>
                <c:pt idx="86">
                  <c:v>0.00001014085206548676</c:v>
                </c:pt>
                <c:pt idx="87">
                  <c:v>0.00000636982517886709</c:v>
                </c:pt>
                <c:pt idx="88">
                  <c:v>0.000003961299091032075</c:v>
                </c:pt>
                <c:pt idx="89">
                  <c:v>0.000002438960745893352</c:v>
                </c:pt>
                <c:pt idx="90">
                  <c:v>0.0000014867195147342979</c:v>
                </c:pt>
                <c:pt idx="91">
                  <c:v>8.972435162383338e-7</c:v>
                </c:pt>
                <c:pt idx="92">
                  <c:v>5.361035344697615e-7</c:v>
                </c:pt>
                <c:pt idx="93">
                  <c:v>3.1713492167159754e-7</c:v>
                </c:pt>
                <c:pt idx="94">
                  <c:v>1.8573618445552897e-7</c:v>
                </c:pt>
                <c:pt idx="95">
                  <c:v>1.0769760042543279e-7</c:v>
                </c:pt>
                <c:pt idx="96">
                  <c:v>6.182620500165857e-8</c:v>
                </c:pt>
                <c:pt idx="97">
                  <c:v>3.513955094820434e-8</c:v>
                </c:pt>
                <c:pt idx="98">
                  <c:v>1.9773196406244675e-8</c:v>
                </c:pt>
                <c:pt idx="99">
                  <c:v>1.1015763624682308e-8</c:v>
                </c:pt>
                <c:pt idx="100">
                  <c:v>6.075882849823286e-9</c:v>
                </c:pt>
              </c:numCache>
            </c:numRef>
          </c:yVal>
          <c:smooth val="0"/>
        </c:ser>
        <c:ser>
          <c:idx val="2"/>
          <c:order val="2"/>
          <c:tx>
            <c:strRef>
              <c:f>Sheet1!$D$1</c:f>
              <c:strCache>
                <c:ptCount val="1"/>
                <c:pt idx="0">
                  <c:v>γx̂ + β (learned)</c:v>
                </c:pt>
              </c:strCache>
            </c:strRef>
          </c:tx>
          <c:spPr>
            <a:solidFill>
              <a:srgbClr val="D45D27"/>
            </a:solidFill>
            <a:ln w="38100" cap="flat">
              <a:solidFill>
                <a:srgbClr val="D45D27"/>
              </a:solidFill>
              <a:prstDash val="solid"/>
              <a:round/>
            </a:ln>
            <a:effectLst/>
          </c:spPr>
          <c:marker>
            <c:symbol val="none"/>
            <c:size val="7"/>
            <c:spPr>
              <a:solidFill>
                <a:srgbClr val="D45D27"/>
              </a:solidFill>
              <a:ln w="9525" cap="flat">
                <a:solidFill>
                  <a:srgbClr val="D45D27"/>
                </a:solidFill>
                <a:prstDash val="solid"/>
                <a:round/>
              </a:ln>
              <a:effectLst/>
            </c:spPr>
          </c:marker>
          <c:xVal>
            <c:numRef>
              <c:f>Sheet1!$A$2:$A$102</c:f>
              <c:numCache>
                <c:formatCode>General</c:formatCode>
                <c:ptCount val="10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-2.3</c:v>
                </c:pt>
                <c:pt idx="18">
                  <c:v>-2.2</c:v>
                </c:pt>
                <c:pt idx="19">
                  <c:v>-2.1</c:v>
                </c:pt>
                <c:pt idx="20">
                  <c:v>-2</c:v>
                </c:pt>
                <c:pt idx="21">
                  <c:v>-1.9</c:v>
                </c:pt>
                <c:pt idx="22">
                  <c:v>-1.8</c:v>
                </c:pt>
                <c:pt idx="23">
                  <c:v>-1.7</c:v>
                </c:pt>
                <c:pt idx="24">
                  <c:v>-1.6</c:v>
                </c:pt>
                <c:pt idx="25">
                  <c:v>-1.5</c:v>
                </c:pt>
                <c:pt idx="26">
                  <c:v>-1.4</c:v>
                </c:pt>
                <c:pt idx="27">
                  <c:v>-1.3</c:v>
                </c:pt>
                <c:pt idx="28">
                  <c:v>-1.2</c:v>
                </c:pt>
                <c:pt idx="29">
                  <c:v>-1.1</c:v>
                </c:pt>
                <c:pt idx="30">
                  <c:v>-1</c:v>
                </c:pt>
                <c:pt idx="31">
                  <c:v>-0.9</c:v>
                </c:pt>
                <c:pt idx="32">
                  <c:v>-0.8</c:v>
                </c:pt>
                <c:pt idx="33">
                  <c:v>-0.7</c:v>
                </c:pt>
                <c:pt idx="34">
                  <c:v>-0.6</c:v>
                </c:pt>
                <c:pt idx="35">
                  <c:v>-0.5</c:v>
                </c:pt>
                <c:pt idx="36">
                  <c:v>-0.4</c:v>
                </c:pt>
                <c:pt idx="37">
                  <c:v>-0.3</c:v>
                </c:pt>
                <c:pt idx="38">
                  <c:v>-0.2</c:v>
                </c:pt>
                <c:pt idx="39">
                  <c:v>-0.1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pt idx="71">
                  <c:v>3.1</c:v>
                </c:pt>
                <c:pt idx="72">
                  <c:v>3.2</c:v>
                </c:pt>
                <c:pt idx="73">
                  <c:v>3.3</c:v>
                </c:pt>
                <c:pt idx="74">
                  <c:v>3.4</c:v>
                </c:pt>
                <c:pt idx="75">
                  <c:v>3.5</c:v>
                </c:pt>
                <c:pt idx="76">
                  <c:v>3.6</c:v>
                </c:pt>
                <c:pt idx="77">
                  <c:v>3.7</c:v>
                </c:pt>
                <c:pt idx="78">
                  <c:v>3.8</c:v>
                </c:pt>
                <c:pt idx="79">
                  <c:v>3.9</c:v>
                </c:pt>
                <c:pt idx="80">
                  <c:v>4</c:v>
                </c:pt>
                <c:pt idx="81">
                  <c:v>4.1</c:v>
                </c:pt>
                <c:pt idx="82">
                  <c:v>4.2</c:v>
                </c:pt>
                <c:pt idx="83">
                  <c:v>4.3</c:v>
                </c:pt>
                <c:pt idx="84">
                  <c:v>4.4</c:v>
                </c:pt>
                <c:pt idx="85">
                  <c:v>4.5</c:v>
                </c:pt>
                <c:pt idx="86">
                  <c:v>4.6</c:v>
                </c:pt>
                <c:pt idx="87">
                  <c:v>4.7</c:v>
                </c:pt>
                <c:pt idx="88">
                  <c:v>4.8</c:v>
                </c:pt>
                <c:pt idx="89">
                  <c:v>4.9</c:v>
                </c:pt>
                <c:pt idx="90">
                  <c:v>5</c:v>
                </c:pt>
                <c:pt idx="91">
                  <c:v>5.1</c:v>
                </c:pt>
                <c:pt idx="92">
                  <c:v>5.2</c:v>
                </c:pt>
                <c:pt idx="93">
                  <c:v>5.3</c:v>
                </c:pt>
                <c:pt idx="94">
                  <c:v>5.4</c:v>
                </c:pt>
                <c:pt idx="95">
                  <c:v>5.5</c:v>
                </c:pt>
                <c:pt idx="96">
                  <c:v>5.6</c:v>
                </c:pt>
                <c:pt idx="97">
                  <c:v>5.7</c:v>
                </c:pt>
                <c:pt idx="98">
                  <c:v>5.8</c:v>
                </c:pt>
                <c:pt idx="99">
                  <c:v>5.9</c:v>
                </c:pt>
                <c:pt idx="100">
                  <c:v>6</c:v>
                </c:pt>
              </c:numCache>
            </c:numRef>
          </c:xVal>
          <c:yVal>
            <c:numRef>
              <c:f>Sheet1!$D$2:$D$102</c:f>
              <c:numCache>
                <c:formatCode>General</c:formatCode>
                <c:ptCount val="101"/>
                <c:pt idx="0">
                  <c:v>0.00033617764074732586</c:v>
                </c:pt>
                <c:pt idx="1">
                  <c:v>0.00044528066967252375</c:v>
                </c:pt>
                <c:pt idx="2">
                  <c:v>0.0005863123867362466</c:v>
                </c:pt>
                <c:pt idx="3">
                  <c:v>0.000767457804375081</c:v>
                </c:pt>
                <c:pt idx="4">
                  <c:v>0.0009986427523172897</c:v>
                </c:pt>
                <c:pt idx="5">
                  <c:v>0.0012918021773440486</c:v>
                </c:pt>
                <c:pt idx="6">
                  <c:v>0.00166116235313757</c:v>
                </c:pt>
                <c:pt idx="7">
                  <c:v>0.0021235297917963783</c:v>
                </c:pt>
                <c:pt idx="8">
                  <c:v>0.0026985771986656744</c:v>
                </c:pt>
                <c:pt idx="9">
                  <c:v>0.0034091141630292364</c:v>
                </c:pt>
                <c:pt idx="10">
                  <c:v>0.0042813275305824275</c:v>
                </c:pt>
                <c:pt idx="11">
                  <c:v>0.005344973696490171</c:v>
                </c:pt>
                <c:pt idx="12">
                  <c:v>0.00663350256257409</c:v>
                </c:pt>
                <c:pt idx="13">
                  <c:v>0.008184090823516578</c:v>
                </c:pt>
                <c:pt idx="14">
                  <c:v>0.010037560815809072</c:v>
                </c:pt>
                <c:pt idx="15">
                  <c:v>0.012238160626583092</c:v>
                </c:pt>
                <c:pt idx="16">
                  <c:v>0.014833181766949267</c:v>
                </c:pt>
                <c:pt idx="17">
                  <c:v>0.01787239270060426</c:v>
                </c:pt>
                <c:pt idx="18">
                  <c:v>0.021407270082557613</c:v>
                </c:pt>
                <c:pt idx="19">
                  <c:v>0.025490014846618538</c:v>
                </c:pt>
                <c:pt idx="20">
                  <c:v>0.030172347345070093</c:v>
                </c:pt>
                <c:pt idx="21">
                  <c:v>0.03550408454903954</c:v>
                </c:pt>
                <c:pt idx="22">
                  <c:v>0.04153151270245235</c:v>
                </c:pt>
                <c:pt idx="23">
                  <c:v>0.04829558049215755</c:v>
                </c:pt>
                <c:pt idx="24">
                  <c:v>0.05582995031988555</c:v>
                </c:pt>
                <c:pt idx="25">
                  <c:v>0.0641589580728541</c:v>
                </c:pt>
                <c:pt idx="26">
                  <c:v>0.07329554420611414</c:v>
                </c:pt>
                <c:pt idx="27">
                  <c:v>0.08323923019786607</c:v>
                </c:pt>
                <c:pt idx="28">
                  <c:v>0.09397422369424545</c:v>
                </c:pt>
                <c:pt idx="29">
                  <c:v>0.10546774209533945</c:v>
                </c:pt>
                <c:pt idx="30">
                  <c:v>0.11766864717665315</c:v>
                </c:pt>
                <c:pt idx="31">
                  <c:v>0.13050648193264072</c:v>
                </c:pt>
                <c:pt idx="32">
                  <c:v>0.14389099469061942</c:v>
                </c:pt>
                <c:pt idx="33">
                  <c:v>0.15771222442656088</c:v>
                </c:pt>
                <c:pt idx="34">
                  <c:v>0.17184120514989162</c:v>
                </c:pt>
                <c:pt idx="35">
                  <c:v>0.1861313265531872</c:v>
                </c:pt>
                <c:pt idx="36">
                  <c:v>0.20042036350633463</c:v>
                </c:pt>
                <c:pt idx="37">
                  <c:v>0.21453315938535383</c:v>
                </c:pt>
                <c:pt idx="38">
                  <c:v>0.2282849189107672</c:v>
                </c:pt>
                <c:pt idx="39">
                  <c:v>0.24148503659304701</c:v>
                </c:pt>
                <c:pt idx="40">
                  <c:v>0.2539413586441623</c:v>
                </c:pt>
                <c:pt idx="41">
                  <c:v>0.2654647509564369</c:v>
                </c:pt>
                <c:pt idx="42">
                  <c:v>0.275873825049064</c:v>
                </c:pt>
                <c:pt idx="43">
                  <c:v>0.28499965914017605</c:v>
                </c:pt>
                <c:pt idx="44">
                  <c:v>0.29269034384157777</c:v>
                </c:pt>
                <c:pt idx="45">
                  <c:v>0.2988151821496728</c:v>
                </c:pt>
                <c:pt idx="46">
                  <c:v>0.3032683817402127</c:v>
                </c:pt>
                <c:pt idx="47">
                  <c:v>0.3059720939121806</c:v>
                </c:pt>
                <c:pt idx="48">
                  <c:v>0.3068786772318713</c:v>
                </c:pt>
                <c:pt idx="49">
                  <c:v>0.3059720939121806</c:v>
                </c:pt>
                <c:pt idx="50">
                  <c:v>0.3032683817402127</c:v>
                </c:pt>
                <c:pt idx="51">
                  <c:v>0.2988151821496728</c:v>
                </c:pt>
                <c:pt idx="52">
                  <c:v>0.2926903438415778</c:v>
                </c:pt>
                <c:pt idx="53">
                  <c:v>0.28499965914017605</c:v>
                </c:pt>
                <c:pt idx="54">
                  <c:v>0.275873825049064</c:v>
                </c:pt>
                <c:pt idx="55">
                  <c:v>0.2654647509564369</c:v>
                </c:pt>
                <c:pt idx="56">
                  <c:v>0.2539413586441623</c:v>
                </c:pt>
                <c:pt idx="57">
                  <c:v>0.24148503659304701</c:v>
                </c:pt>
                <c:pt idx="58">
                  <c:v>0.2282849189107672</c:v>
                </c:pt>
                <c:pt idx="59">
                  <c:v>0.21453315938535383</c:v>
                </c:pt>
                <c:pt idx="60">
                  <c:v>0.2004203635063347</c:v>
                </c:pt>
                <c:pt idx="61">
                  <c:v>0.1861313265531872</c:v>
                </c:pt>
                <c:pt idx="62">
                  <c:v>0.1718412051498916</c:v>
                </c:pt>
                <c:pt idx="63">
                  <c:v>0.15771222442656088</c:v>
                </c:pt>
                <c:pt idx="64">
                  <c:v>0.14389099469061947</c:v>
                </c:pt>
                <c:pt idx="65">
                  <c:v>0.13050648193264072</c:v>
                </c:pt>
                <c:pt idx="66">
                  <c:v>0.11766864717665315</c:v>
                </c:pt>
                <c:pt idx="67">
                  <c:v>0.10546774209533945</c:v>
                </c:pt>
                <c:pt idx="68">
                  <c:v>0.09397422369424545</c:v>
                </c:pt>
                <c:pt idx="69">
                  <c:v>0.08323923019786612</c:v>
                </c:pt>
                <c:pt idx="70">
                  <c:v>0.07329554420611414</c:v>
                </c:pt>
                <c:pt idx="71">
                  <c:v>0.0641589580728541</c:v>
                </c:pt>
                <c:pt idx="72">
                  <c:v>0.05582995031988555</c:v>
                </c:pt>
                <c:pt idx="73">
                  <c:v>0.04829558049215755</c:v>
                </c:pt>
                <c:pt idx="74">
                  <c:v>0.04153151270245239</c:v>
                </c:pt>
                <c:pt idx="75">
                  <c:v>0.03550408454903954</c:v>
                </c:pt>
                <c:pt idx="76">
                  <c:v>0.030172347345070093</c:v>
                </c:pt>
                <c:pt idx="77">
                  <c:v>0.025490014846618538</c:v>
                </c:pt>
                <c:pt idx="78">
                  <c:v>0.021407270082557613</c:v>
                </c:pt>
                <c:pt idx="79">
                  <c:v>0.01787239270060426</c:v>
                </c:pt>
                <c:pt idx="80">
                  <c:v>0.014833181766949267</c:v>
                </c:pt>
                <c:pt idx="81">
                  <c:v>0.012238160626583092</c:v>
                </c:pt>
                <c:pt idx="82">
                  <c:v>0.010037560815809072</c:v>
                </c:pt>
                <c:pt idx="83">
                  <c:v>0.008184090823516578</c:v>
                </c:pt>
                <c:pt idx="84">
                  <c:v>0.006633502562574075</c:v>
                </c:pt>
                <c:pt idx="85">
                  <c:v>0.005344973696490171</c:v>
                </c:pt>
                <c:pt idx="86">
                  <c:v>0.0042813275305824275</c:v>
                </c:pt>
                <c:pt idx="87">
                  <c:v>0.0034091141630292364</c:v>
                </c:pt>
                <c:pt idx="88">
                  <c:v>0.0026985771986656744</c:v>
                </c:pt>
                <c:pt idx="89">
                  <c:v>0.0021235297917963727</c:v>
                </c:pt>
                <c:pt idx="90">
                  <c:v>0.00166116235313757</c:v>
                </c:pt>
                <c:pt idx="91">
                  <c:v>0.0012918021773440486</c:v>
                </c:pt>
                <c:pt idx="92">
                  <c:v>0.0009986427523172897</c:v>
                </c:pt>
                <c:pt idx="93">
                  <c:v>0.000767457804375081</c:v>
                </c:pt>
                <c:pt idx="94">
                  <c:v>0.0005863123867362446</c:v>
                </c:pt>
                <c:pt idx="95">
                  <c:v>0.00044528066967252375</c:v>
                </c:pt>
                <c:pt idx="96">
                  <c:v>0.00033617764074732586</c:v>
                </c:pt>
                <c:pt idx="97">
                  <c:v>0.00025230974118503434</c:v>
                </c:pt>
                <c:pt idx="98">
                  <c:v>0.00018824758843319255</c:v>
                </c:pt>
                <c:pt idx="99">
                  <c:v>0.00013962237936295164</c:v>
                </c:pt>
                <c:pt idx="100">
                  <c:v>0.00010294632751145028</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
          <c:min val="-4"/>
        </c:scaling>
        <c:delete val="0"/>
        <c:axPos val="b"/>
        <c:numFmt formatCode="General" sourceLinked="1"/>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2"/>
        <c:crossesAt val="-4"/>
        <c:auto val="1"/>
        <c:lblAlgn val="ctr"/>
        <c:noMultiLvlLbl val="1"/>
        <c:majorUnit val="2"/>
      </c:valAx>
      <c:valAx>
        <c:axId val="2094734552"/>
        <c:scaling>
          <c:orientation val="minMax"/>
          <c:max val="0.42"/>
          <c:min val="0"/>
        </c:scaling>
        <c:delete val="0"/>
        <c:axPos val="l"/>
        <c:majorGridlines>
          <c:spPr>
            <a:ln w="9525" cap="flat">
              <a:solidFill>
                <a:srgbClr val="E1E6EA"/>
              </a:solidFill>
              <a:prstDash val="solid"/>
              <a:round/>
            </a:ln>
          </c:spPr>
        </c:majorGridlines>
        <c:numFmt formatCode="General" sourceLinked="0"/>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4"/>
        <c:crossesAt val="0"/>
        <c:crossBetween val="midCat"/>
        <c:majorUnit val="0.1"/>
      </c:valAx>
      <c:spPr>
        <a:noFill/>
        <a:ln>
          <a:noFill/>
        </a:ln>
        <a:effectLst/>
      </c:spPr>
    </c:plotArea>
    <c:legend>
      <c:legendPos val="b"/>
      <c:overlay val="0"/>
      <c:txPr>
        <a:bodyPr/>
        <a:lstStyle/>
        <a:p>
          <a:pPr>
            <a:defRPr sz="1400">
              <a:solidFill>
                <a:srgbClr val="15232D"/>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test error</c:v>
                </c:pt>
              </c:strCache>
            </c:strRef>
          </c:tx>
          <c:spPr>
            <a:solidFill>
              <a:srgbClr val="0F7B78"/>
            </a:solidFill>
            <a:ln w="38100" cap="flat">
              <a:solidFill>
                <a:srgbClr val="0F7B78"/>
              </a:solidFill>
              <a:prstDash val="solid"/>
              <a:round/>
            </a:ln>
            <a:effectLst/>
          </c:spPr>
          <c:marker>
            <c:symbol val="none"/>
            <c:size val="7"/>
            <c:spPr>
              <a:solidFill>
                <a:srgbClr val="0F7B78"/>
              </a:solidFill>
              <a:ln w="9525" cap="flat">
                <a:solidFill>
                  <a:srgbClr val="0F7B78"/>
                </a:solidFill>
                <a:prstDash val="solid"/>
                <a:round/>
              </a:ln>
              <a:effectLst/>
            </c:spPr>
          </c:marker>
          <c:xVal>
            <c:numRef>
              <c:f>Sheet1!$A$2:$A$102</c:f>
              <c:numCache>
                <c:formatCode>General</c:formatCode>
                <c:ptCount val="101"/>
                <c:pt idx="0">
                  <c:v>0.2</c:v>
                </c:pt>
                <c:pt idx="1">
                  <c:v>0.3</c:v>
                </c:pt>
                <c:pt idx="2">
                  <c:v>0.4</c:v>
                </c:pt>
                <c:pt idx="3">
                  <c:v>0.5</c:v>
                </c:pt>
                <c:pt idx="4">
                  <c:v>0.6</c:v>
                </c:pt>
                <c:pt idx="5">
                  <c:v>0.7</c:v>
                </c:pt>
                <c:pt idx="6">
                  <c:v>0.8</c:v>
                </c:pt>
                <c:pt idx="7">
                  <c:v>0.9</c:v>
                </c:pt>
                <c:pt idx="8">
                  <c:v>1</c:v>
                </c:pt>
                <c:pt idx="9">
                  <c:v>1.1</c:v>
                </c:pt>
                <c:pt idx="10">
                  <c:v>1.2</c:v>
                </c:pt>
                <c:pt idx="11">
                  <c:v>1.3</c:v>
                </c:pt>
                <c:pt idx="12">
                  <c:v>1.4</c:v>
                </c:pt>
                <c:pt idx="13">
                  <c:v>1.5</c:v>
                </c:pt>
                <c:pt idx="14">
                  <c:v>1.6</c:v>
                </c:pt>
                <c:pt idx="15">
                  <c:v>1.7</c:v>
                </c:pt>
                <c:pt idx="16">
                  <c:v>1.8</c:v>
                </c:pt>
                <c:pt idx="17">
                  <c:v>1.9</c:v>
                </c:pt>
                <c:pt idx="18">
                  <c:v>2</c:v>
                </c:pt>
                <c:pt idx="19">
                  <c:v>2.1</c:v>
                </c:pt>
                <c:pt idx="20">
                  <c:v>2.2</c:v>
                </c:pt>
                <c:pt idx="21">
                  <c:v>2.3</c:v>
                </c:pt>
                <c:pt idx="22">
                  <c:v>2.4</c:v>
                </c:pt>
                <c:pt idx="23">
                  <c:v>2.5</c:v>
                </c:pt>
                <c:pt idx="24">
                  <c:v>2.6</c:v>
                </c:pt>
                <c:pt idx="25">
                  <c:v>2.7</c:v>
                </c:pt>
                <c:pt idx="26">
                  <c:v>2.8</c:v>
                </c:pt>
                <c:pt idx="27">
                  <c:v>2.9</c:v>
                </c:pt>
                <c:pt idx="28">
                  <c:v>3</c:v>
                </c:pt>
                <c:pt idx="29">
                  <c:v>3.1</c:v>
                </c:pt>
                <c:pt idx="30">
                  <c:v>3.2</c:v>
                </c:pt>
                <c:pt idx="31">
                  <c:v>3.3</c:v>
                </c:pt>
                <c:pt idx="32">
                  <c:v>3.4</c:v>
                </c:pt>
                <c:pt idx="33">
                  <c:v>3.5</c:v>
                </c:pt>
                <c:pt idx="34">
                  <c:v>3.6</c:v>
                </c:pt>
                <c:pt idx="35">
                  <c:v>3.7</c:v>
                </c:pt>
                <c:pt idx="36">
                  <c:v>3.8</c:v>
                </c:pt>
                <c:pt idx="37">
                  <c:v>3.9</c:v>
                </c:pt>
                <c:pt idx="38">
                  <c:v>4</c:v>
                </c:pt>
                <c:pt idx="39">
                  <c:v>4.1</c:v>
                </c:pt>
                <c:pt idx="40">
                  <c:v>4.2</c:v>
                </c:pt>
                <c:pt idx="41">
                  <c:v>4.3</c:v>
                </c:pt>
                <c:pt idx="42">
                  <c:v>4.4</c:v>
                </c:pt>
                <c:pt idx="43">
                  <c:v>4.5</c:v>
                </c:pt>
                <c:pt idx="44">
                  <c:v>4.6</c:v>
                </c:pt>
                <c:pt idx="45">
                  <c:v>4.7</c:v>
                </c:pt>
                <c:pt idx="46">
                  <c:v>4.8</c:v>
                </c:pt>
                <c:pt idx="47">
                  <c:v>4.9</c:v>
                </c:pt>
                <c:pt idx="48">
                  <c:v>5</c:v>
                </c:pt>
                <c:pt idx="49">
                  <c:v>5.1</c:v>
                </c:pt>
                <c:pt idx="50">
                  <c:v>5.2</c:v>
                </c:pt>
                <c:pt idx="51">
                  <c:v>5.3</c:v>
                </c:pt>
                <c:pt idx="52">
                  <c:v>5.4</c:v>
                </c:pt>
                <c:pt idx="53">
                  <c:v>5.5</c:v>
                </c:pt>
                <c:pt idx="54">
                  <c:v>5.6</c:v>
                </c:pt>
                <c:pt idx="55">
                  <c:v>5.7</c:v>
                </c:pt>
                <c:pt idx="56">
                  <c:v>5.8</c:v>
                </c:pt>
                <c:pt idx="57">
                  <c:v>5.9</c:v>
                </c:pt>
                <c:pt idx="58">
                  <c:v>6</c:v>
                </c:pt>
                <c:pt idx="59">
                  <c:v>6.1</c:v>
                </c:pt>
                <c:pt idx="60">
                  <c:v>6.2</c:v>
                </c:pt>
                <c:pt idx="61">
                  <c:v>6.3</c:v>
                </c:pt>
                <c:pt idx="62">
                  <c:v>6.4</c:v>
                </c:pt>
                <c:pt idx="63">
                  <c:v>6.5</c:v>
                </c:pt>
                <c:pt idx="64">
                  <c:v>6.6</c:v>
                </c:pt>
                <c:pt idx="65">
                  <c:v>6.7</c:v>
                </c:pt>
                <c:pt idx="66">
                  <c:v>6.8</c:v>
                </c:pt>
                <c:pt idx="67">
                  <c:v>6.9</c:v>
                </c:pt>
                <c:pt idx="68">
                  <c:v>7</c:v>
                </c:pt>
                <c:pt idx="69">
                  <c:v>7.1</c:v>
                </c:pt>
                <c:pt idx="70">
                  <c:v>7.2</c:v>
                </c:pt>
                <c:pt idx="71">
                  <c:v>7.3</c:v>
                </c:pt>
                <c:pt idx="72">
                  <c:v>7.4</c:v>
                </c:pt>
                <c:pt idx="73">
                  <c:v>7.5</c:v>
                </c:pt>
                <c:pt idx="74">
                  <c:v>7.6</c:v>
                </c:pt>
                <c:pt idx="75">
                  <c:v>7.7</c:v>
                </c:pt>
                <c:pt idx="76">
                  <c:v>7.8</c:v>
                </c:pt>
                <c:pt idx="77">
                  <c:v>7.9</c:v>
                </c:pt>
                <c:pt idx="78">
                  <c:v>8</c:v>
                </c:pt>
                <c:pt idx="79">
                  <c:v>8.1</c:v>
                </c:pt>
                <c:pt idx="80">
                  <c:v>8.2</c:v>
                </c:pt>
                <c:pt idx="81">
                  <c:v>8.3</c:v>
                </c:pt>
                <c:pt idx="82">
                  <c:v>8.4</c:v>
                </c:pt>
                <c:pt idx="83">
                  <c:v>8.5</c:v>
                </c:pt>
                <c:pt idx="84">
                  <c:v>8.6</c:v>
                </c:pt>
                <c:pt idx="85">
                  <c:v>8.7</c:v>
                </c:pt>
                <c:pt idx="86">
                  <c:v>8.8</c:v>
                </c:pt>
                <c:pt idx="87">
                  <c:v>8.9</c:v>
                </c:pt>
                <c:pt idx="88">
                  <c:v>9</c:v>
                </c:pt>
                <c:pt idx="89">
                  <c:v>9.1</c:v>
                </c:pt>
                <c:pt idx="90">
                  <c:v>9.2</c:v>
                </c:pt>
                <c:pt idx="91">
                  <c:v>9.3</c:v>
                </c:pt>
                <c:pt idx="92">
                  <c:v>9.4</c:v>
                </c:pt>
                <c:pt idx="93">
                  <c:v>9.5</c:v>
                </c:pt>
                <c:pt idx="94">
                  <c:v>9.6</c:v>
                </c:pt>
                <c:pt idx="95">
                  <c:v>9.7</c:v>
                </c:pt>
                <c:pt idx="96">
                  <c:v>9.8</c:v>
                </c:pt>
                <c:pt idx="97">
                  <c:v>9.9</c:v>
                </c:pt>
                <c:pt idx="98">
                  <c:v>10</c:v>
                </c:pt>
                <c:pt idx="99">
                  <c:v>3</c:v>
                </c:pt>
                <c:pt idx="100">
                  <c:v>3</c:v>
                </c:pt>
              </c:numCache>
            </c:numRef>
          </c:xVal>
          <c:yVal>
            <c:numRef>
              <c:f>Sheet1!$B$2:$B$102</c:f>
              <c:numCache>
                <c:formatCode>General</c:formatCode>
                <c:ptCount val="101"/>
                <c:pt idx="0">
                  <c:v>0.7593654617754134</c:v>
                </c:pt>
                <c:pt idx="1">
                  <c:v>0.7204093664052234</c:v>
                </c:pt>
                <c:pt idx="2">
                  <c:v>0.6851607621145723</c:v>
                </c:pt>
                <c:pt idx="3">
                  <c:v>0.6532673795155614</c:v>
                </c:pt>
                <c:pt idx="4">
                  <c:v>0.6244112792743814</c:v>
                </c:pt>
                <c:pt idx="5">
                  <c:v>0.5983066325362887</c:v>
                </c:pt>
                <c:pt idx="6">
                  <c:v>0.5746988688856869</c:v>
                </c:pt>
                <c:pt idx="7">
                  <c:v>0.5533660914684271</c:v>
                </c:pt>
                <c:pt idx="8">
                  <c:v>0.5341242250310675</c:v>
                </c:pt>
                <c:pt idx="9">
                  <c:v>0.516838033179424</c:v>
                </c:pt>
                <c:pt idx="10">
                  <c:v>0.5014407018297294</c:v>
                </c:pt>
                <c:pt idx="11">
                  <c:v>0.48796468999153647</c:v>
                </c:pt>
                <c:pt idx="12">
                  <c:v>0.4765852945630565</c:v>
                </c:pt>
                <c:pt idx="13">
                  <c:v>0.46767502817024814</c:v>
                </c:pt>
                <c:pt idx="14">
                  <c:v>0.4618608611067313</c:v>
                </c:pt>
                <c:pt idx="15">
                  <c:v>0.46006786213039697</c:v>
                </c:pt>
                <c:pt idx="16">
                  <c:v>0.4635235636695668</c:v>
                </c:pt>
                <c:pt idx="17">
                  <c:v>0.47369119921398</c:v>
                </c:pt>
                <c:pt idx="18">
                  <c:v>0.4921020473984433</c:v>
                </c:pt>
                <c:pt idx="19">
                  <c:v>0.5200724986224791</c:v>
                </c:pt>
                <c:pt idx="20">
                  <c:v>0.5583220944304238</c:v>
                </c:pt>
                <c:pt idx="21">
                  <c:v>0.6065505262296715</c:v>
                </c:pt>
                <c:pt idx="22">
                  <c:v>0.6630727174226906</c:v>
                </c:pt>
                <c:pt idx="23">
                  <c:v>0.7246343621538978</c:v>
                </c:pt>
                <c:pt idx="24">
                  <c:v>0.786518759497697</c:v>
                </c:pt>
                <c:pt idx="25">
                  <c:v>0.8430013726460746</c:v>
                </c:pt>
                <c:pt idx="26">
                  <c:v>0.8881190218252586</c:v>
                </c:pt>
                <c:pt idx="27">
                  <c:v>0.9166208803469191</c:v>
                </c:pt>
                <c:pt idx="28">
                  <c:v>0.9248935341839319</c:v>
                </c:pt>
                <c:pt idx="29">
                  <c:v>0.9104338715154944</c:v>
                </c:pt>
                <c:pt idx="30">
                  <c:v>0.8756950925018328</c:v>
                </c:pt>
                <c:pt idx="31">
                  <c:v>0.8242401999768196</c:v>
                </c:pt>
                <c:pt idx="32">
                  <c:v>0.7612686053706931</c:v>
                </c:pt>
                <c:pt idx="33">
                  <c:v>0.6926905545531077</c:v>
                </c:pt>
                <c:pt idx="34">
                  <c:v>0.6241756020016306</c:v>
                </c:pt>
                <c:pt idx="35">
                  <c:v>0.5603828676034394</c:v>
                </c:pt>
                <c:pt idx="36">
                  <c:v>0.5045059011773396</c:v>
                </c:pt>
                <c:pt idx="37">
                  <c:v>0.45816524021889027</c:v>
                </c:pt>
                <c:pt idx="38">
                  <c:v>0.42159222522450407</c:v>
                </c:pt>
                <c:pt idx="39">
                  <c:v>0.39399322730354314</c:v>
                </c:pt>
                <c:pt idx="40">
                  <c:v>0.3739719079690123</c:v>
                </c:pt>
                <c:pt idx="41">
                  <c:v>0.35991037961013006</c:v>
                </c:pt>
                <c:pt idx="42">
                  <c:v>0.35025127206093787</c:v>
                </c:pt>
                <c:pt idx="43">
                  <c:v>0.34366444636515436</c:v>
                </c:pt>
                <c:pt idx="44">
                  <c:v>0.33911273046457</c:v>
                </c:pt>
                <c:pt idx="45">
                  <c:v>0.3358464320253781</c:v>
                </c:pt>
                <c:pt idx="46">
                  <c:v>0.33335846939813846</c:v>
                </c:pt>
                <c:pt idx="47">
                  <c:v>0.33132578286584646</c:v>
                </c:pt>
                <c:pt idx="48">
                  <c:v>0.3295534779448891</c:v>
                </c:pt>
                <c:pt idx="49">
                  <c:v>0.3279296348808854</c:v>
                </c:pt>
                <c:pt idx="50">
                  <c:v>0.3263926690374565</c:v>
                </c:pt>
                <c:pt idx="51">
                  <c:v>0.32490977759403894</c:v>
                </c:pt>
                <c:pt idx="52">
                  <c:v>0.32346375169867453</c:v>
                </c:pt>
                <c:pt idx="53">
                  <c:v>0.32204543537847663</c:v>
                </c:pt>
                <c:pt idx="54">
                  <c:v>0.32064967095499414</c:v>
                </c:pt>
                <c:pt idx="55">
                  <c:v>0.3192732387931</c:v>
                </c:pt>
                <c:pt idx="56">
                  <c:v>0.31791386260911036</c:v>
                </c:pt>
                <c:pt idx="57">
                  <c:v>0.31656974966961343</c:v>
                </c:pt>
                <c:pt idx="58">
                  <c:v>0.315239384464822</c:v>
                </c:pt>
                <c:pt idx="59">
                  <c:v>0.31392143633273506</c:v>
                </c:pt>
                <c:pt idx="60">
                  <c:v>0.31261471601962204</c:v>
                </c:pt>
                <c:pt idx="61">
                  <c:v>0.3113181525796884</c:v>
                </c:pt>
                <c:pt idx="62">
                  <c:v>0.310030778686645</c:v>
                </c:pt>
                <c:pt idx="63">
                  <c:v>0.3087517196090823</c:v>
                </c:pt>
                <c:pt idx="64">
                  <c:v>0.3074801840218179</c:v>
                </c:pt>
                <c:pt idx="65">
                  <c:v>0.30621545595204364</c:v>
                </c:pt>
                <c:pt idx="66">
                  <c:v>0.3049568875740801</c:v>
                </c:pt>
                <c:pt idx="67">
                  <c:v>0.30370389271455805</c:v>
                </c:pt>
                <c:pt idx="68">
                  <c:v>0.30245594098278417</c:v>
                </c:pt>
                <c:pt idx="69">
                  <c:v>0.30121255246163436</c:v>
                </c:pt>
                <c:pt idx="70">
                  <c:v>0.2999732929041886</c:v>
                </c:pt>
                <c:pt idx="71">
                  <c:v>0.298737769387597</c:v>
                </c:pt>
                <c:pt idx="72">
                  <c:v>0.29750562638056477</c:v>
                </c:pt>
                <c:pt idx="73">
                  <c:v>0.2962765421850739</c:v>
                </c:pt>
                <c:pt idx="74">
                  <c:v>0.29505022571672024</c:v>
                </c:pt>
                <c:pt idx="75">
                  <c:v>0.29382641359144335</c:v>
                </c:pt>
                <c:pt idx="76">
                  <c:v>0.2926048674894899</c:v>
                </c:pt>
                <c:pt idx="77">
                  <c:v>0.2913853717702295</c:v>
                </c:pt>
                <c:pt idx="78">
                  <c:v>0.29016773131395124</c:v>
                </c:pt>
                <c:pt idx="79">
                  <c:v>0.28895176956903945</c:v>
                </c:pt>
                <c:pt idx="80">
                  <c:v>0.28773732678498604</c:v>
                </c:pt>
                <c:pt idx="81">
                  <c:v>0.28652425841355394</c:v>
                </c:pt>
                <c:pt idx="82">
                  <c:v>0.28531243366208936</c:v>
                </c:pt>
                <c:pt idx="83">
                  <c:v>0.2841017341845053</c:v>
                </c:pt>
                <c:pt idx="84">
                  <c:v>0.2828920528968338</c:v>
                </c:pt>
                <c:pt idx="85">
                  <c:v>0.28168329290549377</c:v>
                </c:pt>
                <c:pt idx="86">
                  <c:v>0.28047536653754773</c:v>
                </c:pt>
                <c:pt idx="87">
                  <c:v>0.279268194463241</c:v>
                </c:pt>
                <c:pt idx="88">
                  <c:v>0.2780617049020433</c:v>
                </c:pt>
                <c:pt idx="89">
                  <c:v>0.27685583290424504</c:v>
                </c:pt>
                <c:pt idx="90">
                  <c:v>0.2756505197009186</c:v>
                </c:pt>
                <c:pt idx="91">
                  <c:v>0.27444571211573904</c:v>
                </c:pt>
                <c:pt idx="92">
                  <c:v>0.27324136203277827</c:v>
                </c:pt>
                <c:pt idx="93">
                  <c:v>0.2720374259149438</c:v>
                </c:pt>
                <c:pt idx="94">
                  <c:v>0.2708338643682454</c:v>
                </c:pt>
                <c:pt idx="95">
                  <c:v>0.2696306417475266</c:v>
                </c:pt>
                <c:pt idx="96">
                  <c:v>0.2684277257997161</c:v>
                </c:pt>
                <c:pt idx="97">
                  <c:v>0.267225087341028</c:v>
                </c:pt>
                <c:pt idx="98">
                  <c:v>0.2660226999648812</c:v>
                </c:pt>
              </c:numCache>
            </c:numRef>
          </c:yVal>
          <c:smooth val="0"/>
        </c:ser>
        <c:ser>
          <c:idx val="1"/>
          <c:order val="1"/>
          <c:tx>
            <c:strRef>
              <c:f>Sheet1!$C$1</c:f>
              <c:strCache>
                <c:ptCount val="1"/>
                <c:pt idx="0">
                  <c:v>training error</c:v>
                </c:pt>
              </c:strCache>
            </c:strRef>
          </c:tx>
          <c:spPr>
            <a:solidFill>
              <a:srgbClr val="556270"/>
            </a:solidFill>
            <a:ln w="38100" cap="flat">
              <a:solidFill>
                <a:srgbClr val="556270"/>
              </a:solidFill>
              <a:prstDash val="solid"/>
              <a:round/>
            </a:ln>
            <a:effectLst/>
          </c:spPr>
          <c:marker>
            <c:symbol val="none"/>
            <c:size val="7"/>
            <c:spPr>
              <a:solidFill>
                <a:srgbClr val="556270"/>
              </a:solidFill>
              <a:ln w="9525" cap="flat">
                <a:solidFill>
                  <a:srgbClr val="556270"/>
                </a:solidFill>
                <a:prstDash val="solid"/>
                <a:round/>
              </a:ln>
              <a:effectLst/>
            </c:spPr>
          </c:marker>
          <c:xVal>
            <c:numRef>
              <c:f>Sheet1!$A$2:$A$102</c:f>
              <c:numCache>
                <c:formatCode>General</c:formatCode>
                <c:ptCount val="101"/>
                <c:pt idx="0">
                  <c:v>0.2</c:v>
                </c:pt>
                <c:pt idx="1">
                  <c:v>0.3</c:v>
                </c:pt>
                <c:pt idx="2">
                  <c:v>0.4</c:v>
                </c:pt>
                <c:pt idx="3">
                  <c:v>0.5</c:v>
                </c:pt>
                <c:pt idx="4">
                  <c:v>0.6</c:v>
                </c:pt>
                <c:pt idx="5">
                  <c:v>0.7</c:v>
                </c:pt>
                <c:pt idx="6">
                  <c:v>0.8</c:v>
                </c:pt>
                <c:pt idx="7">
                  <c:v>0.9</c:v>
                </c:pt>
                <c:pt idx="8">
                  <c:v>1</c:v>
                </c:pt>
                <c:pt idx="9">
                  <c:v>1.1</c:v>
                </c:pt>
                <c:pt idx="10">
                  <c:v>1.2</c:v>
                </c:pt>
                <c:pt idx="11">
                  <c:v>1.3</c:v>
                </c:pt>
                <c:pt idx="12">
                  <c:v>1.4</c:v>
                </c:pt>
                <c:pt idx="13">
                  <c:v>1.5</c:v>
                </c:pt>
                <c:pt idx="14">
                  <c:v>1.6</c:v>
                </c:pt>
                <c:pt idx="15">
                  <c:v>1.7</c:v>
                </c:pt>
                <c:pt idx="16">
                  <c:v>1.8</c:v>
                </c:pt>
                <c:pt idx="17">
                  <c:v>1.9</c:v>
                </c:pt>
                <c:pt idx="18">
                  <c:v>2</c:v>
                </c:pt>
                <c:pt idx="19">
                  <c:v>2.1</c:v>
                </c:pt>
                <c:pt idx="20">
                  <c:v>2.2</c:v>
                </c:pt>
                <c:pt idx="21">
                  <c:v>2.3</c:v>
                </c:pt>
                <c:pt idx="22">
                  <c:v>2.4</c:v>
                </c:pt>
                <c:pt idx="23">
                  <c:v>2.5</c:v>
                </c:pt>
                <c:pt idx="24">
                  <c:v>2.6</c:v>
                </c:pt>
                <c:pt idx="25">
                  <c:v>2.7</c:v>
                </c:pt>
                <c:pt idx="26">
                  <c:v>2.8</c:v>
                </c:pt>
                <c:pt idx="27">
                  <c:v>2.9</c:v>
                </c:pt>
                <c:pt idx="28">
                  <c:v>3</c:v>
                </c:pt>
                <c:pt idx="29">
                  <c:v>3.1</c:v>
                </c:pt>
                <c:pt idx="30">
                  <c:v>3.2</c:v>
                </c:pt>
                <c:pt idx="31">
                  <c:v>3.3</c:v>
                </c:pt>
                <c:pt idx="32">
                  <c:v>3.4</c:v>
                </c:pt>
                <c:pt idx="33">
                  <c:v>3.5</c:v>
                </c:pt>
                <c:pt idx="34">
                  <c:v>3.6</c:v>
                </c:pt>
                <c:pt idx="35">
                  <c:v>3.7</c:v>
                </c:pt>
                <c:pt idx="36">
                  <c:v>3.8</c:v>
                </c:pt>
                <c:pt idx="37">
                  <c:v>3.9</c:v>
                </c:pt>
                <c:pt idx="38">
                  <c:v>4</c:v>
                </c:pt>
                <c:pt idx="39">
                  <c:v>4.1</c:v>
                </c:pt>
                <c:pt idx="40">
                  <c:v>4.2</c:v>
                </c:pt>
                <c:pt idx="41">
                  <c:v>4.3</c:v>
                </c:pt>
                <c:pt idx="42">
                  <c:v>4.4</c:v>
                </c:pt>
                <c:pt idx="43">
                  <c:v>4.5</c:v>
                </c:pt>
                <c:pt idx="44">
                  <c:v>4.6</c:v>
                </c:pt>
                <c:pt idx="45">
                  <c:v>4.7</c:v>
                </c:pt>
                <c:pt idx="46">
                  <c:v>4.8</c:v>
                </c:pt>
                <c:pt idx="47">
                  <c:v>4.9</c:v>
                </c:pt>
                <c:pt idx="48">
                  <c:v>5</c:v>
                </c:pt>
                <c:pt idx="49">
                  <c:v>5.1</c:v>
                </c:pt>
                <c:pt idx="50">
                  <c:v>5.2</c:v>
                </c:pt>
                <c:pt idx="51">
                  <c:v>5.3</c:v>
                </c:pt>
                <c:pt idx="52">
                  <c:v>5.4</c:v>
                </c:pt>
                <c:pt idx="53">
                  <c:v>5.5</c:v>
                </c:pt>
                <c:pt idx="54">
                  <c:v>5.6</c:v>
                </c:pt>
                <c:pt idx="55">
                  <c:v>5.7</c:v>
                </c:pt>
                <c:pt idx="56">
                  <c:v>5.8</c:v>
                </c:pt>
                <c:pt idx="57">
                  <c:v>5.9</c:v>
                </c:pt>
                <c:pt idx="58">
                  <c:v>6</c:v>
                </c:pt>
                <c:pt idx="59">
                  <c:v>6.1</c:v>
                </c:pt>
                <c:pt idx="60">
                  <c:v>6.2</c:v>
                </c:pt>
                <c:pt idx="61">
                  <c:v>6.3</c:v>
                </c:pt>
                <c:pt idx="62">
                  <c:v>6.4</c:v>
                </c:pt>
                <c:pt idx="63">
                  <c:v>6.5</c:v>
                </c:pt>
                <c:pt idx="64">
                  <c:v>6.6</c:v>
                </c:pt>
                <c:pt idx="65">
                  <c:v>6.7</c:v>
                </c:pt>
                <c:pt idx="66">
                  <c:v>6.8</c:v>
                </c:pt>
                <c:pt idx="67">
                  <c:v>6.9</c:v>
                </c:pt>
                <c:pt idx="68">
                  <c:v>7</c:v>
                </c:pt>
                <c:pt idx="69">
                  <c:v>7.1</c:v>
                </c:pt>
                <c:pt idx="70">
                  <c:v>7.2</c:v>
                </c:pt>
                <c:pt idx="71">
                  <c:v>7.3</c:v>
                </c:pt>
                <c:pt idx="72">
                  <c:v>7.4</c:v>
                </c:pt>
                <c:pt idx="73">
                  <c:v>7.5</c:v>
                </c:pt>
                <c:pt idx="74">
                  <c:v>7.6</c:v>
                </c:pt>
                <c:pt idx="75">
                  <c:v>7.7</c:v>
                </c:pt>
                <c:pt idx="76">
                  <c:v>7.8</c:v>
                </c:pt>
                <c:pt idx="77">
                  <c:v>7.9</c:v>
                </c:pt>
                <c:pt idx="78">
                  <c:v>8</c:v>
                </c:pt>
                <c:pt idx="79">
                  <c:v>8.1</c:v>
                </c:pt>
                <c:pt idx="80">
                  <c:v>8.2</c:v>
                </c:pt>
                <c:pt idx="81">
                  <c:v>8.3</c:v>
                </c:pt>
                <c:pt idx="82">
                  <c:v>8.4</c:v>
                </c:pt>
                <c:pt idx="83">
                  <c:v>8.5</c:v>
                </c:pt>
                <c:pt idx="84">
                  <c:v>8.6</c:v>
                </c:pt>
                <c:pt idx="85">
                  <c:v>8.7</c:v>
                </c:pt>
                <c:pt idx="86">
                  <c:v>8.8</c:v>
                </c:pt>
                <c:pt idx="87">
                  <c:v>8.9</c:v>
                </c:pt>
                <c:pt idx="88">
                  <c:v>9</c:v>
                </c:pt>
                <c:pt idx="89">
                  <c:v>9.1</c:v>
                </c:pt>
                <c:pt idx="90">
                  <c:v>9.2</c:v>
                </c:pt>
                <c:pt idx="91">
                  <c:v>9.3</c:v>
                </c:pt>
                <c:pt idx="92">
                  <c:v>9.4</c:v>
                </c:pt>
                <c:pt idx="93">
                  <c:v>9.5</c:v>
                </c:pt>
                <c:pt idx="94">
                  <c:v>9.6</c:v>
                </c:pt>
                <c:pt idx="95">
                  <c:v>9.7</c:v>
                </c:pt>
                <c:pt idx="96">
                  <c:v>9.8</c:v>
                </c:pt>
                <c:pt idx="97">
                  <c:v>9.9</c:v>
                </c:pt>
                <c:pt idx="98">
                  <c:v>10</c:v>
                </c:pt>
                <c:pt idx="99">
                  <c:v>3</c:v>
                </c:pt>
                <c:pt idx="100">
                  <c:v>3</c:v>
                </c:pt>
              </c:numCache>
            </c:numRef>
          </c:xVal>
          <c:yVal>
            <c:numRef>
              <c:f>Sheet1!$C$2:$C$102</c:f>
              <c:numCache>
                <c:formatCode>General</c:formatCode>
                <c:ptCount val="101"/>
                <c:pt idx="0">
                  <c:v>0.659509466157022</c:v>
                </c:pt>
                <c:pt idx="1">
                  <c:v>0.6019806656106941</c:v>
                </c:pt>
                <c:pt idx="2">
                  <c:v>0.5490516139877208</c:v>
                </c:pt>
                <c:pt idx="3">
                  <c:v>0.5003545356703771</c:v>
                </c:pt>
                <c:pt idx="4">
                  <c:v>0.4555510607557384</c:v>
                </c:pt>
                <c:pt idx="5">
                  <c:v>0.41432987390454</c:v>
                </c:pt>
                <c:pt idx="6">
                  <c:v>0.3764045511777032</c:v>
                </c:pt>
                <c:pt idx="7">
                  <c:v>0.34151156982986247</c:v>
                </c:pt>
                <c:pt idx="8">
                  <c:v>0.30940847723101644</c:v>
                </c:pt>
                <c:pt idx="9">
                  <c:v>0.2798722061931202</c:v>
                </c:pt>
                <c:pt idx="10">
                  <c:v>0.25269752499572595</c:v>
                </c:pt>
                <c:pt idx="11">
                  <c:v>0.22769561134073085</c:v>
                </c:pt>
                <c:pt idx="12">
                  <c:v>0.20469274032740803</c:v>
                </c:pt>
                <c:pt idx="13">
                  <c:v>0.18352907733116158</c:v>
                </c:pt>
                <c:pt idx="14">
                  <c:v>0.16405756739836772</c:v>
                </c:pt>
                <c:pt idx="15">
                  <c:v>0.1461429134403014</c:v>
                </c:pt>
                <c:pt idx="16">
                  <c:v>0.12966063612616535</c:v>
                </c:pt>
                <c:pt idx="17">
                  <c:v>0.1144962089429229</c:v>
                </c:pt>
                <c:pt idx="18">
                  <c:v>0.10054426241192754</c:v>
                </c:pt>
                <c:pt idx="19">
                  <c:v>0.08770785193287833</c:v>
                </c:pt>
                <c:pt idx="20">
                  <c:v>0.07589778416773979</c:v>
                </c:pt>
                <c:pt idx="21">
                  <c:v>0.06503199728403031</c:v>
                </c:pt>
                <c:pt idx="22">
                  <c:v>0.055034990751120796</c:v>
                </c:pt>
                <c:pt idx="23">
                  <c:v>0.04583730072750451</c:v>
                </c:pt>
                <c:pt idx="24">
                  <c:v>0.03737501739378453</c:v>
                </c:pt>
                <c:pt idx="25">
                  <c:v>0.02958934087758465</c:v>
                </c:pt>
                <c:pt idx="26">
                  <c:v>0.022426172684744297</c:v>
                </c:pt>
                <c:pt idx="27">
                  <c:v>0.02</c:v>
                </c:pt>
                <c:pt idx="28">
                  <c:v>0.02</c:v>
                </c:pt>
                <c:pt idx="29">
                  <c:v>0.02</c:v>
                </c:pt>
                <c:pt idx="30">
                  <c:v>0.02</c:v>
                </c:pt>
                <c:pt idx="31">
                  <c:v>0.02</c:v>
                </c:pt>
                <c:pt idx="32">
                  <c:v>0.02</c:v>
                </c:pt>
                <c:pt idx="33">
                  <c:v>0.02</c:v>
                </c:pt>
                <c:pt idx="34">
                  <c:v>0.02</c:v>
                </c:pt>
                <c:pt idx="35">
                  <c:v>0.02</c:v>
                </c:pt>
                <c:pt idx="36">
                  <c:v>0.02</c:v>
                </c:pt>
                <c:pt idx="37">
                  <c:v>0.02</c:v>
                </c:pt>
                <c:pt idx="38">
                  <c:v>0.02</c:v>
                </c:pt>
                <c:pt idx="39">
                  <c:v>0.02</c:v>
                </c:pt>
                <c:pt idx="40">
                  <c:v>0.02</c:v>
                </c:pt>
                <c:pt idx="41">
                  <c:v>0.02</c:v>
                </c:pt>
                <c:pt idx="42">
                  <c:v>0.02</c:v>
                </c:pt>
                <c:pt idx="43">
                  <c:v>0.02</c:v>
                </c:pt>
                <c:pt idx="44">
                  <c:v>0.02</c:v>
                </c:pt>
                <c:pt idx="45">
                  <c:v>0.02</c:v>
                </c:pt>
                <c:pt idx="46">
                  <c:v>0.02</c:v>
                </c:pt>
                <c:pt idx="47">
                  <c:v>0.02</c:v>
                </c:pt>
                <c:pt idx="48">
                  <c:v>0.02</c:v>
                </c:pt>
                <c:pt idx="49">
                  <c:v>0.02</c:v>
                </c:pt>
                <c:pt idx="50">
                  <c:v>0.02</c:v>
                </c:pt>
                <c:pt idx="51">
                  <c:v>0.02</c:v>
                </c:pt>
                <c:pt idx="52">
                  <c:v>0.02</c:v>
                </c:pt>
                <c:pt idx="53">
                  <c:v>0.02</c:v>
                </c:pt>
                <c:pt idx="54">
                  <c:v>0.02</c:v>
                </c:pt>
                <c:pt idx="55">
                  <c:v>0.02</c:v>
                </c:pt>
                <c:pt idx="56">
                  <c:v>0.02</c:v>
                </c:pt>
                <c:pt idx="57">
                  <c:v>0.02</c:v>
                </c:pt>
                <c:pt idx="58">
                  <c:v>0.02</c:v>
                </c:pt>
                <c:pt idx="59">
                  <c:v>0.02</c:v>
                </c:pt>
                <c:pt idx="60">
                  <c:v>0.02</c:v>
                </c:pt>
                <c:pt idx="61">
                  <c:v>0.02</c:v>
                </c:pt>
                <c:pt idx="62">
                  <c:v>0.02</c:v>
                </c:pt>
                <c:pt idx="63">
                  <c:v>0.02</c:v>
                </c:pt>
                <c:pt idx="64">
                  <c:v>0.02</c:v>
                </c:pt>
                <c:pt idx="65">
                  <c:v>0.02</c:v>
                </c:pt>
                <c:pt idx="66">
                  <c:v>0.02</c:v>
                </c:pt>
                <c:pt idx="67">
                  <c:v>0.02</c:v>
                </c:pt>
                <c:pt idx="68">
                  <c:v>0.02</c:v>
                </c:pt>
                <c:pt idx="69">
                  <c:v>0.02</c:v>
                </c:pt>
                <c:pt idx="70">
                  <c:v>0.02</c:v>
                </c:pt>
                <c:pt idx="71">
                  <c:v>0.02</c:v>
                </c:pt>
                <c:pt idx="72">
                  <c:v>0.02</c:v>
                </c:pt>
                <c:pt idx="73">
                  <c:v>0.02</c:v>
                </c:pt>
                <c:pt idx="74">
                  <c:v>0.02</c:v>
                </c:pt>
                <c:pt idx="75">
                  <c:v>0.02</c:v>
                </c:pt>
                <c:pt idx="76">
                  <c:v>0.02</c:v>
                </c:pt>
                <c:pt idx="77">
                  <c:v>0.02</c:v>
                </c:pt>
                <c:pt idx="78">
                  <c:v>0.02</c:v>
                </c:pt>
                <c:pt idx="79">
                  <c:v>0.02</c:v>
                </c:pt>
                <c:pt idx="80">
                  <c:v>0.02</c:v>
                </c:pt>
                <c:pt idx="81">
                  <c:v>0.02</c:v>
                </c:pt>
                <c:pt idx="82">
                  <c:v>0.02</c:v>
                </c:pt>
                <c:pt idx="83">
                  <c:v>0.02</c:v>
                </c:pt>
                <c:pt idx="84">
                  <c:v>0.02</c:v>
                </c:pt>
                <c:pt idx="85">
                  <c:v>0.02</c:v>
                </c:pt>
                <c:pt idx="86">
                  <c:v>0.02</c:v>
                </c:pt>
                <c:pt idx="87">
                  <c:v>0.02</c:v>
                </c:pt>
                <c:pt idx="88">
                  <c:v>0.02</c:v>
                </c:pt>
                <c:pt idx="89">
                  <c:v>0.02</c:v>
                </c:pt>
                <c:pt idx="90">
                  <c:v>0.02</c:v>
                </c:pt>
                <c:pt idx="91">
                  <c:v>0.02</c:v>
                </c:pt>
                <c:pt idx="92">
                  <c:v>0.02</c:v>
                </c:pt>
                <c:pt idx="93">
                  <c:v>0.02</c:v>
                </c:pt>
                <c:pt idx="94">
                  <c:v>0.02</c:v>
                </c:pt>
                <c:pt idx="95">
                  <c:v>0.02</c:v>
                </c:pt>
                <c:pt idx="96">
                  <c:v>0.02</c:v>
                </c:pt>
                <c:pt idx="97">
                  <c:v>0.02</c:v>
                </c:pt>
                <c:pt idx="98">
                  <c:v>0.02</c:v>
                </c:pt>
              </c:numCache>
            </c:numRef>
          </c:yVal>
          <c:smooth val="0"/>
        </c:ser>
        <c:ser>
          <c:idx val="2"/>
          <c:order val="2"/>
          <c:tx>
            <c:strRef>
              <c:f>Sheet1!$D$1</c:f>
              <c:strCache>
                <c:ptCount val="1"/>
                <c:pt idx="0">
                  <c:v>interpolation threshold</c:v>
                </c:pt>
              </c:strCache>
            </c:strRef>
          </c:tx>
          <c:spPr>
            <a:solidFill>
              <a:srgbClr val="D45D27"/>
            </a:solidFill>
            <a:ln w="38100" cap="flat">
              <a:solidFill>
                <a:srgbClr val="D45D27"/>
              </a:solidFill>
              <a:prstDash val="solid"/>
              <a:round/>
            </a:ln>
            <a:effectLst/>
          </c:spPr>
          <c:marker>
            <c:symbol val="none"/>
            <c:size val="7"/>
            <c:spPr>
              <a:solidFill>
                <a:srgbClr val="D45D27"/>
              </a:solidFill>
              <a:ln w="9525" cap="flat">
                <a:solidFill>
                  <a:srgbClr val="D45D27"/>
                </a:solidFill>
                <a:prstDash val="solid"/>
                <a:round/>
              </a:ln>
              <a:effectLst/>
            </c:spPr>
          </c:marker>
          <c:xVal>
            <c:numRef>
              <c:f>Sheet1!$A$2:$A$102</c:f>
              <c:numCache>
                <c:formatCode>General</c:formatCode>
                <c:ptCount val="101"/>
                <c:pt idx="0">
                  <c:v>0.2</c:v>
                </c:pt>
                <c:pt idx="1">
                  <c:v>0.3</c:v>
                </c:pt>
                <c:pt idx="2">
                  <c:v>0.4</c:v>
                </c:pt>
                <c:pt idx="3">
                  <c:v>0.5</c:v>
                </c:pt>
                <c:pt idx="4">
                  <c:v>0.6</c:v>
                </c:pt>
                <c:pt idx="5">
                  <c:v>0.7</c:v>
                </c:pt>
                <c:pt idx="6">
                  <c:v>0.8</c:v>
                </c:pt>
                <c:pt idx="7">
                  <c:v>0.9</c:v>
                </c:pt>
                <c:pt idx="8">
                  <c:v>1</c:v>
                </c:pt>
                <c:pt idx="9">
                  <c:v>1.1</c:v>
                </c:pt>
                <c:pt idx="10">
                  <c:v>1.2</c:v>
                </c:pt>
                <c:pt idx="11">
                  <c:v>1.3</c:v>
                </c:pt>
                <c:pt idx="12">
                  <c:v>1.4</c:v>
                </c:pt>
                <c:pt idx="13">
                  <c:v>1.5</c:v>
                </c:pt>
                <c:pt idx="14">
                  <c:v>1.6</c:v>
                </c:pt>
                <c:pt idx="15">
                  <c:v>1.7</c:v>
                </c:pt>
                <c:pt idx="16">
                  <c:v>1.8</c:v>
                </c:pt>
                <c:pt idx="17">
                  <c:v>1.9</c:v>
                </c:pt>
                <c:pt idx="18">
                  <c:v>2</c:v>
                </c:pt>
                <c:pt idx="19">
                  <c:v>2.1</c:v>
                </c:pt>
                <c:pt idx="20">
                  <c:v>2.2</c:v>
                </c:pt>
                <c:pt idx="21">
                  <c:v>2.3</c:v>
                </c:pt>
                <c:pt idx="22">
                  <c:v>2.4</c:v>
                </c:pt>
                <c:pt idx="23">
                  <c:v>2.5</c:v>
                </c:pt>
                <c:pt idx="24">
                  <c:v>2.6</c:v>
                </c:pt>
                <c:pt idx="25">
                  <c:v>2.7</c:v>
                </c:pt>
                <c:pt idx="26">
                  <c:v>2.8</c:v>
                </c:pt>
                <c:pt idx="27">
                  <c:v>2.9</c:v>
                </c:pt>
                <c:pt idx="28">
                  <c:v>3</c:v>
                </c:pt>
                <c:pt idx="29">
                  <c:v>3.1</c:v>
                </c:pt>
                <c:pt idx="30">
                  <c:v>3.2</c:v>
                </c:pt>
                <c:pt idx="31">
                  <c:v>3.3</c:v>
                </c:pt>
                <c:pt idx="32">
                  <c:v>3.4</c:v>
                </c:pt>
                <c:pt idx="33">
                  <c:v>3.5</c:v>
                </c:pt>
                <c:pt idx="34">
                  <c:v>3.6</c:v>
                </c:pt>
                <c:pt idx="35">
                  <c:v>3.7</c:v>
                </c:pt>
                <c:pt idx="36">
                  <c:v>3.8</c:v>
                </c:pt>
                <c:pt idx="37">
                  <c:v>3.9</c:v>
                </c:pt>
                <c:pt idx="38">
                  <c:v>4</c:v>
                </c:pt>
                <c:pt idx="39">
                  <c:v>4.1</c:v>
                </c:pt>
                <c:pt idx="40">
                  <c:v>4.2</c:v>
                </c:pt>
                <c:pt idx="41">
                  <c:v>4.3</c:v>
                </c:pt>
                <c:pt idx="42">
                  <c:v>4.4</c:v>
                </c:pt>
                <c:pt idx="43">
                  <c:v>4.5</c:v>
                </c:pt>
                <c:pt idx="44">
                  <c:v>4.6</c:v>
                </c:pt>
                <c:pt idx="45">
                  <c:v>4.7</c:v>
                </c:pt>
                <c:pt idx="46">
                  <c:v>4.8</c:v>
                </c:pt>
                <c:pt idx="47">
                  <c:v>4.9</c:v>
                </c:pt>
                <c:pt idx="48">
                  <c:v>5</c:v>
                </c:pt>
                <c:pt idx="49">
                  <c:v>5.1</c:v>
                </c:pt>
                <c:pt idx="50">
                  <c:v>5.2</c:v>
                </c:pt>
                <c:pt idx="51">
                  <c:v>5.3</c:v>
                </c:pt>
                <c:pt idx="52">
                  <c:v>5.4</c:v>
                </c:pt>
                <c:pt idx="53">
                  <c:v>5.5</c:v>
                </c:pt>
                <c:pt idx="54">
                  <c:v>5.6</c:v>
                </c:pt>
                <c:pt idx="55">
                  <c:v>5.7</c:v>
                </c:pt>
                <c:pt idx="56">
                  <c:v>5.8</c:v>
                </c:pt>
                <c:pt idx="57">
                  <c:v>5.9</c:v>
                </c:pt>
                <c:pt idx="58">
                  <c:v>6</c:v>
                </c:pt>
                <c:pt idx="59">
                  <c:v>6.1</c:v>
                </c:pt>
                <c:pt idx="60">
                  <c:v>6.2</c:v>
                </c:pt>
                <c:pt idx="61">
                  <c:v>6.3</c:v>
                </c:pt>
                <c:pt idx="62">
                  <c:v>6.4</c:v>
                </c:pt>
                <c:pt idx="63">
                  <c:v>6.5</c:v>
                </c:pt>
                <c:pt idx="64">
                  <c:v>6.6</c:v>
                </c:pt>
                <c:pt idx="65">
                  <c:v>6.7</c:v>
                </c:pt>
                <c:pt idx="66">
                  <c:v>6.8</c:v>
                </c:pt>
                <c:pt idx="67">
                  <c:v>6.9</c:v>
                </c:pt>
                <c:pt idx="68">
                  <c:v>7</c:v>
                </c:pt>
                <c:pt idx="69">
                  <c:v>7.1</c:v>
                </c:pt>
                <c:pt idx="70">
                  <c:v>7.2</c:v>
                </c:pt>
                <c:pt idx="71">
                  <c:v>7.3</c:v>
                </c:pt>
                <c:pt idx="72">
                  <c:v>7.4</c:v>
                </c:pt>
                <c:pt idx="73">
                  <c:v>7.5</c:v>
                </c:pt>
                <c:pt idx="74">
                  <c:v>7.6</c:v>
                </c:pt>
                <c:pt idx="75">
                  <c:v>7.7</c:v>
                </c:pt>
                <c:pt idx="76">
                  <c:v>7.8</c:v>
                </c:pt>
                <c:pt idx="77">
                  <c:v>7.9</c:v>
                </c:pt>
                <c:pt idx="78">
                  <c:v>8</c:v>
                </c:pt>
                <c:pt idx="79">
                  <c:v>8.1</c:v>
                </c:pt>
                <c:pt idx="80">
                  <c:v>8.2</c:v>
                </c:pt>
                <c:pt idx="81">
                  <c:v>8.3</c:v>
                </c:pt>
                <c:pt idx="82">
                  <c:v>8.4</c:v>
                </c:pt>
                <c:pt idx="83">
                  <c:v>8.5</c:v>
                </c:pt>
                <c:pt idx="84">
                  <c:v>8.6</c:v>
                </c:pt>
                <c:pt idx="85">
                  <c:v>8.7</c:v>
                </c:pt>
                <c:pt idx="86">
                  <c:v>8.8</c:v>
                </c:pt>
                <c:pt idx="87">
                  <c:v>8.9</c:v>
                </c:pt>
                <c:pt idx="88">
                  <c:v>9</c:v>
                </c:pt>
                <c:pt idx="89">
                  <c:v>9.1</c:v>
                </c:pt>
                <c:pt idx="90">
                  <c:v>9.2</c:v>
                </c:pt>
                <c:pt idx="91">
                  <c:v>9.3</c:v>
                </c:pt>
                <c:pt idx="92">
                  <c:v>9.4</c:v>
                </c:pt>
                <c:pt idx="93">
                  <c:v>9.5</c:v>
                </c:pt>
                <c:pt idx="94">
                  <c:v>9.6</c:v>
                </c:pt>
                <c:pt idx="95">
                  <c:v>9.7</c:v>
                </c:pt>
                <c:pt idx="96">
                  <c:v>9.8</c:v>
                </c:pt>
                <c:pt idx="97">
                  <c:v>9.9</c:v>
                </c:pt>
                <c:pt idx="98">
                  <c:v>10</c:v>
                </c:pt>
                <c:pt idx="99">
                  <c:v>3</c:v>
                </c:pt>
                <c:pt idx="100">
                  <c:v>3</c:v>
                </c:pt>
              </c:numCache>
            </c:numRef>
          </c:xVal>
          <c:yVal>
            <c:numRef>
              <c:f>Sheet1!$D$2:$D$102</c:f>
              <c:numCache>
                <c:formatCode>General</c:formatCode>
                <c:ptCount val="101"/>
                <c:pt idx="99">
                  <c:v>0</c:v>
                </c:pt>
                <c:pt idx="100">
                  <c:v>1.2</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0"/>
          <c:min val="0"/>
        </c:scaling>
        <c:delete val="0"/>
        <c:axPos val="b"/>
        <c:title>
          <c:tx>
            <c:rich>
              <a:bodyPr/>
              <a:lstStyle/>
              <a:p>
                <a:pPr>
                  <a:defRPr sz="1400" b="0" i="0" u="none" strike="noStrike">
                    <a:solidFill>
                      <a:srgbClr val="556270"/>
                    </a:solidFill>
                    <a:latin typeface="Arial"/>
                  </a:defRPr>
                </a:pPr>
                <a:r>
                  <a:rPr sz="1400" b="0" i="0" u="none" strike="noStrike">
                    <a:solidFill>
                      <a:srgbClr val="556270"/>
                    </a:solidFill>
                    <a:latin typeface="Arial"/>
                  </a:rPr>
                  <a:t>model capacity</a:t>
                </a:r>
              </a:p>
            </c:rich>
          </c:tx>
          <c:layout/>
          <c:overlay val="0"/>
        </c:title>
        <c:numFmt formatCode="General" sourceLinked="1"/>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2"/>
        <c:crossesAt val="autoZero"/>
        <c:auto val="1"/>
        <c:lblAlgn val="ctr"/>
        <c:noMultiLvlLbl val="1"/>
        <c:majorUnit val="1"/>
      </c:valAx>
      <c:valAx>
        <c:axId val="2094734552"/>
        <c:scaling>
          <c:orientation val="minMax"/>
          <c:max val="1.2"/>
          <c:min val="0"/>
        </c:scaling>
        <c:delete val="0"/>
        <c:axPos val="l"/>
        <c:majorGridlines>
          <c:spPr>
            <a:ln w="9525" cap="flat">
              <a:solidFill>
                <a:srgbClr val="E1E6EA"/>
              </a:solidFill>
              <a:prstDash val="solid"/>
              <a:round/>
            </a:ln>
          </c:spPr>
        </c:majorGridlines>
        <c:title>
          <c:tx>
            <c:rich>
              <a:bodyPr/>
              <a:lstStyle/>
              <a:p>
                <a:pPr>
                  <a:defRPr sz="1400" b="0" i="0" u="none" strike="noStrike">
                    <a:solidFill>
                      <a:srgbClr val="556270"/>
                    </a:solidFill>
                    <a:latin typeface="Arial"/>
                  </a:defRPr>
                </a:pPr>
                <a:r>
                  <a:rPr sz="1400" b="0" i="0" u="none" strike="noStrike">
                    <a:solidFill>
                      <a:srgbClr val="556270"/>
                    </a:solidFill>
                    <a:latin typeface="Arial"/>
                  </a:rPr>
                  <a:t>error</a:t>
                </a:r>
              </a:p>
            </c:rich>
          </c:tx>
          <c:layout/>
          <c:overlay val="0"/>
        </c:title>
        <c:numFmt formatCode="General" sourceLinked="0"/>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4"/>
        <c:crossesAt val="0"/>
        <c:crossBetween val="midCat"/>
        <c:majorUnit val="0.2"/>
      </c:valAx>
      <c:spPr>
        <a:noFill/>
        <a:ln>
          <a:noFill/>
        </a:ln>
        <a:effectLst/>
      </c:spPr>
    </c:plotArea>
    <c:legend>
      <c:legendPos val="b"/>
      <c:overlay val="0"/>
      <c:txPr>
        <a:bodyPr/>
        <a:lstStyle/>
        <a:p>
          <a:pPr>
            <a:defRPr sz="1400">
              <a:solidFill>
                <a:srgbClr val="15232D"/>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L2 push:  λw</c:v>
                </c:pt>
              </c:strCache>
            </c:strRef>
          </c:tx>
          <c:spPr>
            <a:solidFill>
              <a:srgbClr val="0F7B78"/>
            </a:solidFill>
            <a:ln w="38100" cap="flat">
              <a:solidFill>
                <a:srgbClr val="0F7B78"/>
              </a:solidFill>
              <a:prstDash val="solid"/>
              <a:round/>
            </a:ln>
            <a:effectLst/>
          </c:spPr>
          <c:marker>
            <c:symbol val="none"/>
            <c:size val="7"/>
            <c:spPr>
              <a:solidFill>
                <a:srgbClr val="0F7B78"/>
              </a:solidFill>
              <a:ln w="9525" cap="flat">
                <a:solidFill>
                  <a:srgbClr val="0F7B78"/>
                </a:solidFill>
                <a:prstDash val="solid"/>
                <a:round/>
              </a:ln>
              <a:effectLst/>
            </c:spPr>
          </c:marker>
          <c:xVal>
            <c:numRef>
              <c:f>Sheet1!$A$2:$A$162</c:f>
              <c:numCache>
                <c:formatCode>General</c:formatCode>
                <c:ptCount val="161"/>
                <c:pt idx="0">
                  <c:v>-2</c:v>
                </c:pt>
                <c:pt idx="1">
                  <c:v>-1.975</c:v>
                </c:pt>
                <c:pt idx="2">
                  <c:v>-1.95</c:v>
                </c:pt>
                <c:pt idx="3">
                  <c:v>-1.925</c:v>
                </c:pt>
                <c:pt idx="4">
                  <c:v>-1.9</c:v>
                </c:pt>
                <c:pt idx="5">
                  <c:v>-1.875</c:v>
                </c:pt>
                <c:pt idx="6">
                  <c:v>-1.85</c:v>
                </c:pt>
                <c:pt idx="7">
                  <c:v>-1.825</c:v>
                </c:pt>
                <c:pt idx="8">
                  <c:v>-1.8</c:v>
                </c:pt>
                <c:pt idx="9">
                  <c:v>-1.775</c:v>
                </c:pt>
                <c:pt idx="10">
                  <c:v>-1.75</c:v>
                </c:pt>
                <c:pt idx="11">
                  <c:v>-1.725</c:v>
                </c:pt>
                <c:pt idx="12">
                  <c:v>-1.7</c:v>
                </c:pt>
                <c:pt idx="13">
                  <c:v>-1.675</c:v>
                </c:pt>
                <c:pt idx="14">
                  <c:v>-1.65</c:v>
                </c:pt>
                <c:pt idx="15">
                  <c:v>-1.625</c:v>
                </c:pt>
                <c:pt idx="16">
                  <c:v>-1.6</c:v>
                </c:pt>
                <c:pt idx="17">
                  <c:v>-1.575</c:v>
                </c:pt>
                <c:pt idx="18">
                  <c:v>-1.55</c:v>
                </c:pt>
                <c:pt idx="19">
                  <c:v>-1.525</c:v>
                </c:pt>
                <c:pt idx="20">
                  <c:v>-1.5</c:v>
                </c:pt>
                <c:pt idx="21">
                  <c:v>-1.475</c:v>
                </c:pt>
                <c:pt idx="22">
                  <c:v>-1.45</c:v>
                </c:pt>
                <c:pt idx="23">
                  <c:v>-1.425</c:v>
                </c:pt>
                <c:pt idx="24">
                  <c:v>-1.4</c:v>
                </c:pt>
                <c:pt idx="25">
                  <c:v>-1.375</c:v>
                </c:pt>
                <c:pt idx="26">
                  <c:v>-1.35</c:v>
                </c:pt>
                <c:pt idx="27">
                  <c:v>-1.325</c:v>
                </c:pt>
                <c:pt idx="28">
                  <c:v>-1.3</c:v>
                </c:pt>
                <c:pt idx="29">
                  <c:v>-1.275</c:v>
                </c:pt>
                <c:pt idx="30">
                  <c:v>-1.25</c:v>
                </c:pt>
                <c:pt idx="31">
                  <c:v>-1.225</c:v>
                </c:pt>
                <c:pt idx="32">
                  <c:v>-1.2</c:v>
                </c:pt>
                <c:pt idx="33">
                  <c:v>-1.175</c:v>
                </c:pt>
                <c:pt idx="34">
                  <c:v>-1.15</c:v>
                </c:pt>
                <c:pt idx="35">
                  <c:v>-1.125</c:v>
                </c:pt>
                <c:pt idx="36">
                  <c:v>-1.1</c:v>
                </c:pt>
                <c:pt idx="37">
                  <c:v>-1.075</c:v>
                </c:pt>
                <c:pt idx="38">
                  <c:v>-1.05</c:v>
                </c:pt>
                <c:pt idx="39">
                  <c:v>-1.025</c:v>
                </c:pt>
                <c:pt idx="40">
                  <c:v>-1</c:v>
                </c:pt>
                <c:pt idx="41">
                  <c:v>-0.975</c:v>
                </c:pt>
                <c:pt idx="42">
                  <c:v>-0.95</c:v>
                </c:pt>
                <c:pt idx="43">
                  <c:v>-0.925</c:v>
                </c:pt>
                <c:pt idx="44">
                  <c:v>-0.9</c:v>
                </c:pt>
                <c:pt idx="45">
                  <c:v>-0.875</c:v>
                </c:pt>
                <c:pt idx="46">
                  <c:v>-0.85</c:v>
                </c:pt>
                <c:pt idx="47">
                  <c:v>-0.825</c:v>
                </c:pt>
                <c:pt idx="48">
                  <c:v>-0.8</c:v>
                </c:pt>
                <c:pt idx="49">
                  <c:v>-0.775</c:v>
                </c:pt>
                <c:pt idx="50">
                  <c:v>-0.75</c:v>
                </c:pt>
                <c:pt idx="51">
                  <c:v>-0.725</c:v>
                </c:pt>
                <c:pt idx="52">
                  <c:v>-0.7</c:v>
                </c:pt>
                <c:pt idx="53">
                  <c:v>-0.675</c:v>
                </c:pt>
                <c:pt idx="54">
                  <c:v>-0.65</c:v>
                </c:pt>
                <c:pt idx="55">
                  <c:v>-0.625</c:v>
                </c:pt>
                <c:pt idx="56">
                  <c:v>-0.6</c:v>
                </c:pt>
                <c:pt idx="57">
                  <c:v>-0.575</c:v>
                </c:pt>
                <c:pt idx="58">
                  <c:v>-0.55</c:v>
                </c:pt>
                <c:pt idx="59">
                  <c:v>-0.525</c:v>
                </c:pt>
                <c:pt idx="60">
                  <c:v>-0.5</c:v>
                </c:pt>
                <c:pt idx="61">
                  <c:v>-0.475</c:v>
                </c:pt>
                <c:pt idx="62">
                  <c:v>-0.45</c:v>
                </c:pt>
                <c:pt idx="63">
                  <c:v>-0.425</c:v>
                </c:pt>
                <c:pt idx="64">
                  <c:v>-0.4</c:v>
                </c:pt>
                <c:pt idx="65">
                  <c:v>-0.375</c:v>
                </c:pt>
                <c:pt idx="66">
                  <c:v>-0.35</c:v>
                </c:pt>
                <c:pt idx="67">
                  <c:v>-0.325</c:v>
                </c:pt>
                <c:pt idx="68">
                  <c:v>-0.3</c:v>
                </c:pt>
                <c:pt idx="69">
                  <c:v>-0.275</c:v>
                </c:pt>
                <c:pt idx="70">
                  <c:v>-0.25</c:v>
                </c:pt>
                <c:pt idx="71">
                  <c:v>-0.225</c:v>
                </c:pt>
                <c:pt idx="72">
                  <c:v>-0.2</c:v>
                </c:pt>
                <c:pt idx="73">
                  <c:v>-0.175</c:v>
                </c:pt>
                <c:pt idx="74">
                  <c:v>-0.15</c:v>
                </c:pt>
                <c:pt idx="75">
                  <c:v>-0.125</c:v>
                </c:pt>
                <c:pt idx="76">
                  <c:v>-0.1</c:v>
                </c:pt>
                <c:pt idx="77">
                  <c:v>-0.075</c:v>
                </c:pt>
                <c:pt idx="78">
                  <c:v>-0.05</c:v>
                </c:pt>
                <c:pt idx="79">
                  <c:v>-0.025</c:v>
                </c:pt>
                <c:pt idx="80">
                  <c:v>0</c:v>
                </c:pt>
                <c:pt idx="81">
                  <c:v>0.025</c:v>
                </c:pt>
                <c:pt idx="82">
                  <c:v>0.05</c:v>
                </c:pt>
                <c:pt idx="83">
                  <c:v>0.075</c:v>
                </c:pt>
                <c:pt idx="84">
                  <c:v>0.1</c:v>
                </c:pt>
                <c:pt idx="85">
                  <c:v>0.125</c:v>
                </c:pt>
                <c:pt idx="86">
                  <c:v>0.15</c:v>
                </c:pt>
                <c:pt idx="87">
                  <c:v>0.175</c:v>
                </c:pt>
                <c:pt idx="88">
                  <c:v>0.2</c:v>
                </c:pt>
                <c:pt idx="89">
                  <c:v>0.225</c:v>
                </c:pt>
                <c:pt idx="90">
                  <c:v>0.25</c:v>
                </c:pt>
                <c:pt idx="91">
                  <c:v>0.275</c:v>
                </c:pt>
                <c:pt idx="92">
                  <c:v>0.3</c:v>
                </c:pt>
                <c:pt idx="93">
                  <c:v>0.325</c:v>
                </c:pt>
                <c:pt idx="94">
                  <c:v>0.35</c:v>
                </c:pt>
                <c:pt idx="95">
                  <c:v>0.375</c:v>
                </c:pt>
                <c:pt idx="96">
                  <c:v>0.4</c:v>
                </c:pt>
                <c:pt idx="97">
                  <c:v>0.425</c:v>
                </c:pt>
                <c:pt idx="98">
                  <c:v>0.45</c:v>
                </c:pt>
                <c:pt idx="99">
                  <c:v>0.475</c:v>
                </c:pt>
                <c:pt idx="100">
                  <c:v>0.5</c:v>
                </c:pt>
                <c:pt idx="101">
                  <c:v>0.525</c:v>
                </c:pt>
                <c:pt idx="102">
                  <c:v>0.55</c:v>
                </c:pt>
                <c:pt idx="103">
                  <c:v>0.575</c:v>
                </c:pt>
                <c:pt idx="104">
                  <c:v>0.6</c:v>
                </c:pt>
                <c:pt idx="105">
                  <c:v>0.625</c:v>
                </c:pt>
                <c:pt idx="106">
                  <c:v>0.65</c:v>
                </c:pt>
                <c:pt idx="107">
                  <c:v>0.675</c:v>
                </c:pt>
                <c:pt idx="108">
                  <c:v>0.7</c:v>
                </c:pt>
                <c:pt idx="109">
                  <c:v>0.725</c:v>
                </c:pt>
                <c:pt idx="110">
                  <c:v>0.75</c:v>
                </c:pt>
                <c:pt idx="111">
                  <c:v>0.775</c:v>
                </c:pt>
                <c:pt idx="112">
                  <c:v>0.8</c:v>
                </c:pt>
                <c:pt idx="113">
                  <c:v>0.825</c:v>
                </c:pt>
                <c:pt idx="114">
                  <c:v>0.85</c:v>
                </c:pt>
                <c:pt idx="115">
                  <c:v>0.875</c:v>
                </c:pt>
                <c:pt idx="116">
                  <c:v>0.9</c:v>
                </c:pt>
                <c:pt idx="117">
                  <c:v>0.925</c:v>
                </c:pt>
                <c:pt idx="118">
                  <c:v>0.95</c:v>
                </c:pt>
                <c:pt idx="119">
                  <c:v>0.975</c:v>
                </c:pt>
                <c:pt idx="120">
                  <c:v>1</c:v>
                </c:pt>
                <c:pt idx="121">
                  <c:v>1.025</c:v>
                </c:pt>
                <c:pt idx="122">
                  <c:v>1.05</c:v>
                </c:pt>
                <c:pt idx="123">
                  <c:v>1.075</c:v>
                </c:pt>
                <c:pt idx="124">
                  <c:v>1.1</c:v>
                </c:pt>
                <c:pt idx="125">
                  <c:v>1.125</c:v>
                </c:pt>
                <c:pt idx="126">
                  <c:v>1.15</c:v>
                </c:pt>
                <c:pt idx="127">
                  <c:v>1.175</c:v>
                </c:pt>
                <c:pt idx="128">
                  <c:v>1.2</c:v>
                </c:pt>
                <c:pt idx="129">
                  <c:v>1.225</c:v>
                </c:pt>
                <c:pt idx="130">
                  <c:v>1.25</c:v>
                </c:pt>
                <c:pt idx="131">
                  <c:v>1.275</c:v>
                </c:pt>
                <c:pt idx="132">
                  <c:v>1.3</c:v>
                </c:pt>
                <c:pt idx="133">
                  <c:v>1.325</c:v>
                </c:pt>
                <c:pt idx="134">
                  <c:v>1.35</c:v>
                </c:pt>
                <c:pt idx="135">
                  <c:v>1.375</c:v>
                </c:pt>
                <c:pt idx="136">
                  <c:v>1.4</c:v>
                </c:pt>
                <c:pt idx="137">
                  <c:v>1.425</c:v>
                </c:pt>
                <c:pt idx="138">
                  <c:v>1.45</c:v>
                </c:pt>
                <c:pt idx="139">
                  <c:v>1.475</c:v>
                </c:pt>
                <c:pt idx="140">
                  <c:v>1.5</c:v>
                </c:pt>
                <c:pt idx="141">
                  <c:v>1.525</c:v>
                </c:pt>
                <c:pt idx="142">
                  <c:v>1.55</c:v>
                </c:pt>
                <c:pt idx="143">
                  <c:v>1.575</c:v>
                </c:pt>
                <c:pt idx="144">
                  <c:v>1.6</c:v>
                </c:pt>
                <c:pt idx="145">
                  <c:v>1.625</c:v>
                </c:pt>
                <c:pt idx="146">
                  <c:v>1.65</c:v>
                </c:pt>
                <c:pt idx="147">
                  <c:v>1.675</c:v>
                </c:pt>
                <c:pt idx="148">
                  <c:v>1.7</c:v>
                </c:pt>
                <c:pt idx="149">
                  <c:v>1.725</c:v>
                </c:pt>
                <c:pt idx="150">
                  <c:v>1.75</c:v>
                </c:pt>
                <c:pt idx="151">
                  <c:v>1.775</c:v>
                </c:pt>
                <c:pt idx="152">
                  <c:v>1.8</c:v>
                </c:pt>
                <c:pt idx="153">
                  <c:v>1.825</c:v>
                </c:pt>
                <c:pt idx="154">
                  <c:v>1.85</c:v>
                </c:pt>
                <c:pt idx="155">
                  <c:v>1.875</c:v>
                </c:pt>
                <c:pt idx="156">
                  <c:v>1.9</c:v>
                </c:pt>
                <c:pt idx="157">
                  <c:v>1.925</c:v>
                </c:pt>
                <c:pt idx="158">
                  <c:v>1.95</c:v>
                </c:pt>
                <c:pt idx="159">
                  <c:v>1.975</c:v>
                </c:pt>
                <c:pt idx="160">
                  <c:v>2</c:v>
                </c:pt>
              </c:numCache>
            </c:numRef>
          </c:xVal>
          <c:yVal>
            <c:numRef>
              <c:f>Sheet1!$B$2:$B$162</c:f>
              <c:numCache>
                <c:formatCode>General</c:formatCode>
                <c:ptCount val="161"/>
                <c:pt idx="0">
                  <c:v>-2</c:v>
                </c:pt>
                <c:pt idx="1">
                  <c:v>-1.975</c:v>
                </c:pt>
                <c:pt idx="2">
                  <c:v>-1.95</c:v>
                </c:pt>
                <c:pt idx="3">
                  <c:v>-1.925</c:v>
                </c:pt>
                <c:pt idx="4">
                  <c:v>-1.9</c:v>
                </c:pt>
                <c:pt idx="5">
                  <c:v>-1.875</c:v>
                </c:pt>
                <c:pt idx="6">
                  <c:v>-1.85</c:v>
                </c:pt>
                <c:pt idx="7">
                  <c:v>-1.825</c:v>
                </c:pt>
                <c:pt idx="8">
                  <c:v>-1.8</c:v>
                </c:pt>
                <c:pt idx="9">
                  <c:v>-1.775</c:v>
                </c:pt>
                <c:pt idx="10">
                  <c:v>-1.75</c:v>
                </c:pt>
                <c:pt idx="11">
                  <c:v>-1.725</c:v>
                </c:pt>
                <c:pt idx="12">
                  <c:v>-1.7</c:v>
                </c:pt>
                <c:pt idx="13">
                  <c:v>-1.675</c:v>
                </c:pt>
                <c:pt idx="14">
                  <c:v>-1.65</c:v>
                </c:pt>
                <c:pt idx="15">
                  <c:v>-1.625</c:v>
                </c:pt>
                <c:pt idx="16">
                  <c:v>-1.6</c:v>
                </c:pt>
                <c:pt idx="17">
                  <c:v>-1.575</c:v>
                </c:pt>
                <c:pt idx="18">
                  <c:v>-1.55</c:v>
                </c:pt>
                <c:pt idx="19">
                  <c:v>-1.525</c:v>
                </c:pt>
                <c:pt idx="20">
                  <c:v>-1.5</c:v>
                </c:pt>
                <c:pt idx="21">
                  <c:v>-1.475</c:v>
                </c:pt>
                <c:pt idx="22">
                  <c:v>-1.45</c:v>
                </c:pt>
                <c:pt idx="23">
                  <c:v>-1.425</c:v>
                </c:pt>
                <c:pt idx="24">
                  <c:v>-1.4</c:v>
                </c:pt>
                <c:pt idx="25">
                  <c:v>-1.375</c:v>
                </c:pt>
                <c:pt idx="26">
                  <c:v>-1.35</c:v>
                </c:pt>
                <c:pt idx="27">
                  <c:v>-1.325</c:v>
                </c:pt>
                <c:pt idx="28">
                  <c:v>-1.3</c:v>
                </c:pt>
                <c:pt idx="29">
                  <c:v>-1.275</c:v>
                </c:pt>
                <c:pt idx="30">
                  <c:v>-1.25</c:v>
                </c:pt>
                <c:pt idx="31">
                  <c:v>-1.225</c:v>
                </c:pt>
                <c:pt idx="32">
                  <c:v>-1.2</c:v>
                </c:pt>
                <c:pt idx="33">
                  <c:v>-1.175</c:v>
                </c:pt>
                <c:pt idx="34">
                  <c:v>-1.15</c:v>
                </c:pt>
                <c:pt idx="35">
                  <c:v>-1.125</c:v>
                </c:pt>
                <c:pt idx="36">
                  <c:v>-1.1</c:v>
                </c:pt>
                <c:pt idx="37">
                  <c:v>-1.075</c:v>
                </c:pt>
                <c:pt idx="38">
                  <c:v>-1.05</c:v>
                </c:pt>
                <c:pt idx="39">
                  <c:v>-1.025</c:v>
                </c:pt>
                <c:pt idx="40">
                  <c:v>-1</c:v>
                </c:pt>
                <c:pt idx="41">
                  <c:v>-0.975</c:v>
                </c:pt>
                <c:pt idx="42">
                  <c:v>-0.95</c:v>
                </c:pt>
                <c:pt idx="43">
                  <c:v>-0.925</c:v>
                </c:pt>
                <c:pt idx="44">
                  <c:v>-0.9</c:v>
                </c:pt>
                <c:pt idx="45">
                  <c:v>-0.875</c:v>
                </c:pt>
                <c:pt idx="46">
                  <c:v>-0.85</c:v>
                </c:pt>
                <c:pt idx="47">
                  <c:v>-0.825</c:v>
                </c:pt>
                <c:pt idx="48">
                  <c:v>-0.8</c:v>
                </c:pt>
                <c:pt idx="49">
                  <c:v>-0.775</c:v>
                </c:pt>
                <c:pt idx="50">
                  <c:v>-0.75</c:v>
                </c:pt>
                <c:pt idx="51">
                  <c:v>-0.725</c:v>
                </c:pt>
                <c:pt idx="52">
                  <c:v>-0.7</c:v>
                </c:pt>
                <c:pt idx="53">
                  <c:v>-0.675</c:v>
                </c:pt>
                <c:pt idx="54">
                  <c:v>-0.65</c:v>
                </c:pt>
                <c:pt idx="55">
                  <c:v>-0.625</c:v>
                </c:pt>
                <c:pt idx="56">
                  <c:v>-0.6</c:v>
                </c:pt>
                <c:pt idx="57">
                  <c:v>-0.575</c:v>
                </c:pt>
                <c:pt idx="58">
                  <c:v>-0.55</c:v>
                </c:pt>
                <c:pt idx="59">
                  <c:v>-0.525</c:v>
                </c:pt>
                <c:pt idx="60">
                  <c:v>-0.5</c:v>
                </c:pt>
                <c:pt idx="61">
                  <c:v>-0.475</c:v>
                </c:pt>
                <c:pt idx="62">
                  <c:v>-0.45</c:v>
                </c:pt>
                <c:pt idx="63">
                  <c:v>-0.425</c:v>
                </c:pt>
                <c:pt idx="64">
                  <c:v>-0.4</c:v>
                </c:pt>
                <c:pt idx="65">
                  <c:v>-0.375</c:v>
                </c:pt>
                <c:pt idx="66">
                  <c:v>-0.35</c:v>
                </c:pt>
                <c:pt idx="67">
                  <c:v>-0.325</c:v>
                </c:pt>
                <c:pt idx="68">
                  <c:v>-0.3</c:v>
                </c:pt>
                <c:pt idx="69">
                  <c:v>-0.275</c:v>
                </c:pt>
                <c:pt idx="70">
                  <c:v>-0.25</c:v>
                </c:pt>
                <c:pt idx="71">
                  <c:v>-0.225</c:v>
                </c:pt>
                <c:pt idx="72">
                  <c:v>-0.2</c:v>
                </c:pt>
                <c:pt idx="73">
                  <c:v>-0.175</c:v>
                </c:pt>
                <c:pt idx="74">
                  <c:v>-0.15</c:v>
                </c:pt>
                <c:pt idx="75">
                  <c:v>-0.125</c:v>
                </c:pt>
                <c:pt idx="76">
                  <c:v>-0.1</c:v>
                </c:pt>
                <c:pt idx="77">
                  <c:v>-0.075</c:v>
                </c:pt>
                <c:pt idx="78">
                  <c:v>-0.05</c:v>
                </c:pt>
                <c:pt idx="79">
                  <c:v>-0.025</c:v>
                </c:pt>
                <c:pt idx="80">
                  <c:v>0</c:v>
                </c:pt>
                <c:pt idx="81">
                  <c:v>0.025</c:v>
                </c:pt>
                <c:pt idx="82">
                  <c:v>0.05</c:v>
                </c:pt>
                <c:pt idx="83">
                  <c:v>0.075</c:v>
                </c:pt>
                <c:pt idx="84">
                  <c:v>0.1</c:v>
                </c:pt>
                <c:pt idx="85">
                  <c:v>0.125</c:v>
                </c:pt>
                <c:pt idx="86">
                  <c:v>0.15</c:v>
                </c:pt>
                <c:pt idx="87">
                  <c:v>0.175</c:v>
                </c:pt>
                <c:pt idx="88">
                  <c:v>0.2</c:v>
                </c:pt>
                <c:pt idx="89">
                  <c:v>0.225</c:v>
                </c:pt>
                <c:pt idx="90">
                  <c:v>0.25</c:v>
                </c:pt>
                <c:pt idx="91">
                  <c:v>0.275</c:v>
                </c:pt>
                <c:pt idx="92">
                  <c:v>0.3</c:v>
                </c:pt>
                <c:pt idx="93">
                  <c:v>0.325</c:v>
                </c:pt>
                <c:pt idx="94">
                  <c:v>0.35</c:v>
                </c:pt>
                <c:pt idx="95">
                  <c:v>0.375</c:v>
                </c:pt>
                <c:pt idx="96">
                  <c:v>0.4</c:v>
                </c:pt>
                <c:pt idx="97">
                  <c:v>0.425</c:v>
                </c:pt>
                <c:pt idx="98">
                  <c:v>0.45</c:v>
                </c:pt>
                <c:pt idx="99">
                  <c:v>0.475</c:v>
                </c:pt>
                <c:pt idx="100">
                  <c:v>0.5</c:v>
                </c:pt>
                <c:pt idx="101">
                  <c:v>0.525</c:v>
                </c:pt>
                <c:pt idx="102">
                  <c:v>0.55</c:v>
                </c:pt>
                <c:pt idx="103">
                  <c:v>0.575</c:v>
                </c:pt>
                <c:pt idx="104">
                  <c:v>0.6</c:v>
                </c:pt>
                <c:pt idx="105">
                  <c:v>0.625</c:v>
                </c:pt>
                <c:pt idx="106">
                  <c:v>0.65</c:v>
                </c:pt>
                <c:pt idx="107">
                  <c:v>0.675</c:v>
                </c:pt>
                <c:pt idx="108">
                  <c:v>0.7</c:v>
                </c:pt>
                <c:pt idx="109">
                  <c:v>0.725</c:v>
                </c:pt>
                <c:pt idx="110">
                  <c:v>0.75</c:v>
                </c:pt>
                <c:pt idx="111">
                  <c:v>0.775</c:v>
                </c:pt>
                <c:pt idx="112">
                  <c:v>0.8</c:v>
                </c:pt>
                <c:pt idx="113">
                  <c:v>0.825</c:v>
                </c:pt>
                <c:pt idx="114">
                  <c:v>0.85</c:v>
                </c:pt>
                <c:pt idx="115">
                  <c:v>0.875</c:v>
                </c:pt>
                <c:pt idx="116">
                  <c:v>0.9</c:v>
                </c:pt>
                <c:pt idx="117">
                  <c:v>0.925</c:v>
                </c:pt>
                <c:pt idx="118">
                  <c:v>0.95</c:v>
                </c:pt>
                <c:pt idx="119">
                  <c:v>0.975</c:v>
                </c:pt>
                <c:pt idx="120">
                  <c:v>1</c:v>
                </c:pt>
                <c:pt idx="121">
                  <c:v>1.025</c:v>
                </c:pt>
                <c:pt idx="122">
                  <c:v>1.05</c:v>
                </c:pt>
                <c:pt idx="123">
                  <c:v>1.075</c:v>
                </c:pt>
                <c:pt idx="124">
                  <c:v>1.1</c:v>
                </c:pt>
                <c:pt idx="125">
                  <c:v>1.125</c:v>
                </c:pt>
                <c:pt idx="126">
                  <c:v>1.15</c:v>
                </c:pt>
                <c:pt idx="127">
                  <c:v>1.175</c:v>
                </c:pt>
                <c:pt idx="128">
                  <c:v>1.2</c:v>
                </c:pt>
                <c:pt idx="129">
                  <c:v>1.225</c:v>
                </c:pt>
                <c:pt idx="130">
                  <c:v>1.25</c:v>
                </c:pt>
                <c:pt idx="131">
                  <c:v>1.275</c:v>
                </c:pt>
                <c:pt idx="132">
                  <c:v>1.3</c:v>
                </c:pt>
                <c:pt idx="133">
                  <c:v>1.325</c:v>
                </c:pt>
                <c:pt idx="134">
                  <c:v>1.35</c:v>
                </c:pt>
                <c:pt idx="135">
                  <c:v>1.375</c:v>
                </c:pt>
                <c:pt idx="136">
                  <c:v>1.4</c:v>
                </c:pt>
                <c:pt idx="137">
                  <c:v>1.425</c:v>
                </c:pt>
                <c:pt idx="138">
                  <c:v>1.45</c:v>
                </c:pt>
                <c:pt idx="139">
                  <c:v>1.475</c:v>
                </c:pt>
                <c:pt idx="140">
                  <c:v>1.5</c:v>
                </c:pt>
                <c:pt idx="141">
                  <c:v>1.525</c:v>
                </c:pt>
                <c:pt idx="142">
                  <c:v>1.55</c:v>
                </c:pt>
                <c:pt idx="143">
                  <c:v>1.575</c:v>
                </c:pt>
                <c:pt idx="144">
                  <c:v>1.6</c:v>
                </c:pt>
                <c:pt idx="145">
                  <c:v>1.625</c:v>
                </c:pt>
                <c:pt idx="146">
                  <c:v>1.65</c:v>
                </c:pt>
                <c:pt idx="147">
                  <c:v>1.675</c:v>
                </c:pt>
                <c:pt idx="148">
                  <c:v>1.7</c:v>
                </c:pt>
                <c:pt idx="149">
                  <c:v>1.725</c:v>
                </c:pt>
                <c:pt idx="150">
                  <c:v>1.75</c:v>
                </c:pt>
                <c:pt idx="151">
                  <c:v>1.775</c:v>
                </c:pt>
                <c:pt idx="152">
                  <c:v>1.8</c:v>
                </c:pt>
                <c:pt idx="153">
                  <c:v>1.825</c:v>
                </c:pt>
                <c:pt idx="154">
                  <c:v>1.85</c:v>
                </c:pt>
                <c:pt idx="155">
                  <c:v>1.875</c:v>
                </c:pt>
                <c:pt idx="156">
                  <c:v>1.9</c:v>
                </c:pt>
                <c:pt idx="157">
                  <c:v>1.925</c:v>
                </c:pt>
                <c:pt idx="158">
                  <c:v>1.95</c:v>
                </c:pt>
                <c:pt idx="159">
                  <c:v>1.975</c:v>
                </c:pt>
                <c:pt idx="160">
                  <c:v>2</c:v>
                </c:pt>
              </c:numCache>
            </c:numRef>
          </c:yVal>
          <c:smooth val="0"/>
        </c:ser>
        <c:ser>
          <c:idx val="1"/>
          <c:order val="1"/>
          <c:tx>
            <c:strRef>
              <c:f>Sheet1!$C$1</c:f>
              <c:strCache>
                <c:ptCount val="1"/>
                <c:pt idx="0">
                  <c:v>L1 push:  λ·sign(w)</c:v>
                </c:pt>
              </c:strCache>
            </c:strRef>
          </c:tx>
          <c:spPr>
            <a:solidFill>
              <a:srgbClr val="D45D27"/>
            </a:solidFill>
            <a:ln w="38100" cap="flat">
              <a:solidFill>
                <a:srgbClr val="D45D27"/>
              </a:solidFill>
              <a:prstDash val="solid"/>
              <a:round/>
            </a:ln>
            <a:effectLst/>
          </c:spPr>
          <c:marker>
            <c:symbol val="none"/>
            <c:size val="7"/>
            <c:spPr>
              <a:solidFill>
                <a:srgbClr val="D45D27"/>
              </a:solidFill>
              <a:ln w="9525" cap="flat">
                <a:solidFill>
                  <a:srgbClr val="D45D27"/>
                </a:solidFill>
                <a:prstDash val="solid"/>
                <a:round/>
              </a:ln>
              <a:effectLst/>
            </c:spPr>
          </c:marker>
          <c:xVal>
            <c:numRef>
              <c:f>Sheet1!$A$2:$A$162</c:f>
              <c:numCache>
                <c:formatCode>General</c:formatCode>
                <c:ptCount val="161"/>
                <c:pt idx="0">
                  <c:v>-2</c:v>
                </c:pt>
                <c:pt idx="1">
                  <c:v>-1.975</c:v>
                </c:pt>
                <c:pt idx="2">
                  <c:v>-1.95</c:v>
                </c:pt>
                <c:pt idx="3">
                  <c:v>-1.925</c:v>
                </c:pt>
                <c:pt idx="4">
                  <c:v>-1.9</c:v>
                </c:pt>
                <c:pt idx="5">
                  <c:v>-1.875</c:v>
                </c:pt>
                <c:pt idx="6">
                  <c:v>-1.85</c:v>
                </c:pt>
                <c:pt idx="7">
                  <c:v>-1.825</c:v>
                </c:pt>
                <c:pt idx="8">
                  <c:v>-1.8</c:v>
                </c:pt>
                <c:pt idx="9">
                  <c:v>-1.775</c:v>
                </c:pt>
                <c:pt idx="10">
                  <c:v>-1.75</c:v>
                </c:pt>
                <c:pt idx="11">
                  <c:v>-1.725</c:v>
                </c:pt>
                <c:pt idx="12">
                  <c:v>-1.7</c:v>
                </c:pt>
                <c:pt idx="13">
                  <c:v>-1.675</c:v>
                </c:pt>
                <c:pt idx="14">
                  <c:v>-1.65</c:v>
                </c:pt>
                <c:pt idx="15">
                  <c:v>-1.625</c:v>
                </c:pt>
                <c:pt idx="16">
                  <c:v>-1.6</c:v>
                </c:pt>
                <c:pt idx="17">
                  <c:v>-1.575</c:v>
                </c:pt>
                <c:pt idx="18">
                  <c:v>-1.55</c:v>
                </c:pt>
                <c:pt idx="19">
                  <c:v>-1.525</c:v>
                </c:pt>
                <c:pt idx="20">
                  <c:v>-1.5</c:v>
                </c:pt>
                <c:pt idx="21">
                  <c:v>-1.475</c:v>
                </c:pt>
                <c:pt idx="22">
                  <c:v>-1.45</c:v>
                </c:pt>
                <c:pt idx="23">
                  <c:v>-1.425</c:v>
                </c:pt>
                <c:pt idx="24">
                  <c:v>-1.4</c:v>
                </c:pt>
                <c:pt idx="25">
                  <c:v>-1.375</c:v>
                </c:pt>
                <c:pt idx="26">
                  <c:v>-1.35</c:v>
                </c:pt>
                <c:pt idx="27">
                  <c:v>-1.325</c:v>
                </c:pt>
                <c:pt idx="28">
                  <c:v>-1.3</c:v>
                </c:pt>
                <c:pt idx="29">
                  <c:v>-1.275</c:v>
                </c:pt>
                <c:pt idx="30">
                  <c:v>-1.25</c:v>
                </c:pt>
                <c:pt idx="31">
                  <c:v>-1.225</c:v>
                </c:pt>
                <c:pt idx="32">
                  <c:v>-1.2</c:v>
                </c:pt>
                <c:pt idx="33">
                  <c:v>-1.175</c:v>
                </c:pt>
                <c:pt idx="34">
                  <c:v>-1.15</c:v>
                </c:pt>
                <c:pt idx="35">
                  <c:v>-1.125</c:v>
                </c:pt>
                <c:pt idx="36">
                  <c:v>-1.1</c:v>
                </c:pt>
                <c:pt idx="37">
                  <c:v>-1.075</c:v>
                </c:pt>
                <c:pt idx="38">
                  <c:v>-1.05</c:v>
                </c:pt>
                <c:pt idx="39">
                  <c:v>-1.025</c:v>
                </c:pt>
                <c:pt idx="40">
                  <c:v>-1</c:v>
                </c:pt>
                <c:pt idx="41">
                  <c:v>-0.975</c:v>
                </c:pt>
                <c:pt idx="42">
                  <c:v>-0.95</c:v>
                </c:pt>
                <c:pt idx="43">
                  <c:v>-0.925</c:v>
                </c:pt>
                <c:pt idx="44">
                  <c:v>-0.9</c:v>
                </c:pt>
                <c:pt idx="45">
                  <c:v>-0.875</c:v>
                </c:pt>
                <c:pt idx="46">
                  <c:v>-0.85</c:v>
                </c:pt>
                <c:pt idx="47">
                  <c:v>-0.825</c:v>
                </c:pt>
                <c:pt idx="48">
                  <c:v>-0.8</c:v>
                </c:pt>
                <c:pt idx="49">
                  <c:v>-0.775</c:v>
                </c:pt>
                <c:pt idx="50">
                  <c:v>-0.75</c:v>
                </c:pt>
                <c:pt idx="51">
                  <c:v>-0.725</c:v>
                </c:pt>
                <c:pt idx="52">
                  <c:v>-0.7</c:v>
                </c:pt>
                <c:pt idx="53">
                  <c:v>-0.675</c:v>
                </c:pt>
                <c:pt idx="54">
                  <c:v>-0.65</c:v>
                </c:pt>
                <c:pt idx="55">
                  <c:v>-0.625</c:v>
                </c:pt>
                <c:pt idx="56">
                  <c:v>-0.6</c:v>
                </c:pt>
                <c:pt idx="57">
                  <c:v>-0.575</c:v>
                </c:pt>
                <c:pt idx="58">
                  <c:v>-0.55</c:v>
                </c:pt>
                <c:pt idx="59">
                  <c:v>-0.525</c:v>
                </c:pt>
                <c:pt idx="60">
                  <c:v>-0.5</c:v>
                </c:pt>
                <c:pt idx="61">
                  <c:v>-0.475</c:v>
                </c:pt>
                <c:pt idx="62">
                  <c:v>-0.45</c:v>
                </c:pt>
                <c:pt idx="63">
                  <c:v>-0.425</c:v>
                </c:pt>
                <c:pt idx="64">
                  <c:v>-0.4</c:v>
                </c:pt>
                <c:pt idx="65">
                  <c:v>-0.375</c:v>
                </c:pt>
                <c:pt idx="66">
                  <c:v>-0.35</c:v>
                </c:pt>
                <c:pt idx="67">
                  <c:v>-0.325</c:v>
                </c:pt>
                <c:pt idx="68">
                  <c:v>-0.3</c:v>
                </c:pt>
                <c:pt idx="69">
                  <c:v>-0.275</c:v>
                </c:pt>
                <c:pt idx="70">
                  <c:v>-0.25</c:v>
                </c:pt>
                <c:pt idx="71">
                  <c:v>-0.225</c:v>
                </c:pt>
                <c:pt idx="72">
                  <c:v>-0.2</c:v>
                </c:pt>
                <c:pt idx="73">
                  <c:v>-0.175</c:v>
                </c:pt>
                <c:pt idx="74">
                  <c:v>-0.15</c:v>
                </c:pt>
                <c:pt idx="75">
                  <c:v>-0.125</c:v>
                </c:pt>
                <c:pt idx="76">
                  <c:v>-0.1</c:v>
                </c:pt>
                <c:pt idx="77">
                  <c:v>-0.075</c:v>
                </c:pt>
                <c:pt idx="78">
                  <c:v>-0.05</c:v>
                </c:pt>
                <c:pt idx="79">
                  <c:v>-0.025</c:v>
                </c:pt>
                <c:pt idx="80">
                  <c:v>0</c:v>
                </c:pt>
                <c:pt idx="81">
                  <c:v>0.025</c:v>
                </c:pt>
                <c:pt idx="82">
                  <c:v>0.05</c:v>
                </c:pt>
                <c:pt idx="83">
                  <c:v>0.075</c:v>
                </c:pt>
                <c:pt idx="84">
                  <c:v>0.1</c:v>
                </c:pt>
                <c:pt idx="85">
                  <c:v>0.125</c:v>
                </c:pt>
                <c:pt idx="86">
                  <c:v>0.15</c:v>
                </c:pt>
                <c:pt idx="87">
                  <c:v>0.175</c:v>
                </c:pt>
                <c:pt idx="88">
                  <c:v>0.2</c:v>
                </c:pt>
                <c:pt idx="89">
                  <c:v>0.225</c:v>
                </c:pt>
                <c:pt idx="90">
                  <c:v>0.25</c:v>
                </c:pt>
                <c:pt idx="91">
                  <c:v>0.275</c:v>
                </c:pt>
                <c:pt idx="92">
                  <c:v>0.3</c:v>
                </c:pt>
                <c:pt idx="93">
                  <c:v>0.325</c:v>
                </c:pt>
                <c:pt idx="94">
                  <c:v>0.35</c:v>
                </c:pt>
                <c:pt idx="95">
                  <c:v>0.375</c:v>
                </c:pt>
                <c:pt idx="96">
                  <c:v>0.4</c:v>
                </c:pt>
                <c:pt idx="97">
                  <c:v>0.425</c:v>
                </c:pt>
                <c:pt idx="98">
                  <c:v>0.45</c:v>
                </c:pt>
                <c:pt idx="99">
                  <c:v>0.475</c:v>
                </c:pt>
                <c:pt idx="100">
                  <c:v>0.5</c:v>
                </c:pt>
                <c:pt idx="101">
                  <c:v>0.525</c:v>
                </c:pt>
                <c:pt idx="102">
                  <c:v>0.55</c:v>
                </c:pt>
                <c:pt idx="103">
                  <c:v>0.575</c:v>
                </c:pt>
                <c:pt idx="104">
                  <c:v>0.6</c:v>
                </c:pt>
                <c:pt idx="105">
                  <c:v>0.625</c:v>
                </c:pt>
                <c:pt idx="106">
                  <c:v>0.65</c:v>
                </c:pt>
                <c:pt idx="107">
                  <c:v>0.675</c:v>
                </c:pt>
                <c:pt idx="108">
                  <c:v>0.7</c:v>
                </c:pt>
                <c:pt idx="109">
                  <c:v>0.725</c:v>
                </c:pt>
                <c:pt idx="110">
                  <c:v>0.75</c:v>
                </c:pt>
                <c:pt idx="111">
                  <c:v>0.775</c:v>
                </c:pt>
                <c:pt idx="112">
                  <c:v>0.8</c:v>
                </c:pt>
                <c:pt idx="113">
                  <c:v>0.825</c:v>
                </c:pt>
                <c:pt idx="114">
                  <c:v>0.85</c:v>
                </c:pt>
                <c:pt idx="115">
                  <c:v>0.875</c:v>
                </c:pt>
                <c:pt idx="116">
                  <c:v>0.9</c:v>
                </c:pt>
                <c:pt idx="117">
                  <c:v>0.925</c:v>
                </c:pt>
                <c:pt idx="118">
                  <c:v>0.95</c:v>
                </c:pt>
                <c:pt idx="119">
                  <c:v>0.975</c:v>
                </c:pt>
                <c:pt idx="120">
                  <c:v>1</c:v>
                </c:pt>
                <c:pt idx="121">
                  <c:v>1.025</c:v>
                </c:pt>
                <c:pt idx="122">
                  <c:v>1.05</c:v>
                </c:pt>
                <c:pt idx="123">
                  <c:v>1.075</c:v>
                </c:pt>
                <c:pt idx="124">
                  <c:v>1.1</c:v>
                </c:pt>
                <c:pt idx="125">
                  <c:v>1.125</c:v>
                </c:pt>
                <c:pt idx="126">
                  <c:v>1.15</c:v>
                </c:pt>
                <c:pt idx="127">
                  <c:v>1.175</c:v>
                </c:pt>
                <c:pt idx="128">
                  <c:v>1.2</c:v>
                </c:pt>
                <c:pt idx="129">
                  <c:v>1.225</c:v>
                </c:pt>
                <c:pt idx="130">
                  <c:v>1.25</c:v>
                </c:pt>
                <c:pt idx="131">
                  <c:v>1.275</c:v>
                </c:pt>
                <c:pt idx="132">
                  <c:v>1.3</c:v>
                </c:pt>
                <c:pt idx="133">
                  <c:v>1.325</c:v>
                </c:pt>
                <c:pt idx="134">
                  <c:v>1.35</c:v>
                </c:pt>
                <c:pt idx="135">
                  <c:v>1.375</c:v>
                </c:pt>
                <c:pt idx="136">
                  <c:v>1.4</c:v>
                </c:pt>
                <c:pt idx="137">
                  <c:v>1.425</c:v>
                </c:pt>
                <c:pt idx="138">
                  <c:v>1.45</c:v>
                </c:pt>
                <c:pt idx="139">
                  <c:v>1.475</c:v>
                </c:pt>
                <c:pt idx="140">
                  <c:v>1.5</c:v>
                </c:pt>
                <c:pt idx="141">
                  <c:v>1.525</c:v>
                </c:pt>
                <c:pt idx="142">
                  <c:v>1.55</c:v>
                </c:pt>
                <c:pt idx="143">
                  <c:v>1.575</c:v>
                </c:pt>
                <c:pt idx="144">
                  <c:v>1.6</c:v>
                </c:pt>
                <c:pt idx="145">
                  <c:v>1.625</c:v>
                </c:pt>
                <c:pt idx="146">
                  <c:v>1.65</c:v>
                </c:pt>
                <c:pt idx="147">
                  <c:v>1.675</c:v>
                </c:pt>
                <c:pt idx="148">
                  <c:v>1.7</c:v>
                </c:pt>
                <c:pt idx="149">
                  <c:v>1.725</c:v>
                </c:pt>
                <c:pt idx="150">
                  <c:v>1.75</c:v>
                </c:pt>
                <c:pt idx="151">
                  <c:v>1.775</c:v>
                </c:pt>
                <c:pt idx="152">
                  <c:v>1.8</c:v>
                </c:pt>
                <c:pt idx="153">
                  <c:v>1.825</c:v>
                </c:pt>
                <c:pt idx="154">
                  <c:v>1.85</c:v>
                </c:pt>
                <c:pt idx="155">
                  <c:v>1.875</c:v>
                </c:pt>
                <c:pt idx="156">
                  <c:v>1.9</c:v>
                </c:pt>
                <c:pt idx="157">
                  <c:v>1.925</c:v>
                </c:pt>
                <c:pt idx="158">
                  <c:v>1.95</c:v>
                </c:pt>
                <c:pt idx="159">
                  <c:v>1.975</c:v>
                </c:pt>
                <c:pt idx="160">
                  <c:v>2</c:v>
                </c:pt>
              </c:numCache>
            </c:numRef>
          </c:xVal>
          <c:yVal>
            <c:numRef>
              <c:f>Sheet1!$C$2:$C$162</c:f>
              <c:numCache>
                <c:formatCode>General</c:formatCode>
                <c:ptCount val="16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pt idx="80">
                  <c:v>0</c:v>
                </c:pt>
                <c:pt idx="81">
                  <c:v>1</c:v>
                </c:pt>
                <c:pt idx="82">
                  <c:v>1</c:v>
                </c:pt>
                <c:pt idx="83">
                  <c:v>1</c:v>
                </c:pt>
                <c:pt idx="84">
                  <c:v>1</c:v>
                </c:pt>
                <c:pt idx="85">
                  <c:v>1</c:v>
                </c:pt>
                <c:pt idx="86">
                  <c:v>1</c:v>
                </c:pt>
                <c:pt idx="87">
                  <c:v>1</c:v>
                </c:pt>
                <c:pt idx="88">
                  <c:v>1</c:v>
                </c:pt>
                <c:pt idx="89">
                  <c:v>1</c:v>
                </c:pt>
                <c:pt idx="90">
                  <c:v>1</c:v>
                </c:pt>
                <c:pt idx="91">
                  <c:v>1</c:v>
                </c:pt>
                <c:pt idx="92">
                  <c:v>1</c:v>
                </c:pt>
                <c:pt idx="93">
                  <c:v>1</c:v>
                </c:pt>
                <c:pt idx="94">
                  <c:v>1</c:v>
                </c:pt>
                <c:pt idx="95">
                  <c:v>1</c:v>
                </c:pt>
                <c:pt idx="96">
                  <c:v>1</c:v>
                </c:pt>
                <c:pt idx="97">
                  <c:v>1</c:v>
                </c:pt>
                <c:pt idx="98">
                  <c:v>1</c:v>
                </c:pt>
                <c:pt idx="99">
                  <c:v>1</c:v>
                </c:pt>
                <c:pt idx="100">
                  <c:v>1</c:v>
                </c:pt>
                <c:pt idx="101">
                  <c:v>1</c:v>
                </c:pt>
                <c:pt idx="102">
                  <c:v>1</c:v>
                </c:pt>
                <c:pt idx="103">
                  <c:v>1</c:v>
                </c:pt>
                <c:pt idx="104">
                  <c:v>1</c:v>
                </c:pt>
                <c:pt idx="105">
                  <c:v>1</c:v>
                </c:pt>
                <c:pt idx="106">
                  <c:v>1</c:v>
                </c:pt>
                <c:pt idx="107">
                  <c:v>1</c:v>
                </c:pt>
                <c:pt idx="108">
                  <c:v>1</c:v>
                </c:pt>
                <c:pt idx="109">
                  <c:v>1</c:v>
                </c:pt>
                <c:pt idx="110">
                  <c:v>1</c:v>
                </c:pt>
                <c:pt idx="111">
                  <c:v>1</c:v>
                </c:pt>
                <c:pt idx="112">
                  <c:v>1</c:v>
                </c:pt>
                <c:pt idx="113">
                  <c:v>1</c:v>
                </c:pt>
                <c:pt idx="114">
                  <c:v>1</c:v>
                </c:pt>
                <c:pt idx="115">
                  <c:v>1</c:v>
                </c:pt>
                <c:pt idx="116">
                  <c:v>1</c:v>
                </c:pt>
                <c:pt idx="117">
                  <c:v>1</c:v>
                </c:pt>
                <c:pt idx="118">
                  <c:v>1</c:v>
                </c:pt>
                <c:pt idx="119">
                  <c:v>1</c:v>
                </c:pt>
                <c:pt idx="120">
                  <c:v>1</c:v>
                </c:pt>
                <c:pt idx="121">
                  <c:v>1</c:v>
                </c:pt>
                <c:pt idx="122">
                  <c:v>1</c:v>
                </c:pt>
                <c:pt idx="123">
                  <c:v>1</c:v>
                </c:pt>
                <c:pt idx="124">
                  <c:v>1</c:v>
                </c:pt>
                <c:pt idx="125">
                  <c:v>1</c:v>
                </c:pt>
                <c:pt idx="126">
                  <c:v>1</c:v>
                </c:pt>
                <c:pt idx="127">
                  <c:v>1</c:v>
                </c:pt>
                <c:pt idx="128">
                  <c:v>1</c:v>
                </c:pt>
                <c:pt idx="129">
                  <c:v>1</c:v>
                </c:pt>
                <c:pt idx="130">
                  <c:v>1</c:v>
                </c:pt>
                <c:pt idx="131">
                  <c:v>1</c:v>
                </c:pt>
                <c:pt idx="132">
                  <c:v>1</c:v>
                </c:pt>
                <c:pt idx="133">
                  <c:v>1</c:v>
                </c:pt>
                <c:pt idx="134">
                  <c:v>1</c:v>
                </c:pt>
                <c:pt idx="135">
                  <c:v>1</c:v>
                </c:pt>
                <c:pt idx="136">
                  <c:v>1</c:v>
                </c:pt>
                <c:pt idx="137">
                  <c:v>1</c:v>
                </c:pt>
                <c:pt idx="138">
                  <c:v>1</c:v>
                </c:pt>
                <c:pt idx="139">
                  <c:v>1</c:v>
                </c:pt>
                <c:pt idx="140">
                  <c:v>1</c:v>
                </c:pt>
                <c:pt idx="141">
                  <c:v>1</c:v>
                </c:pt>
                <c:pt idx="142">
                  <c:v>1</c:v>
                </c:pt>
                <c:pt idx="143">
                  <c:v>1</c:v>
                </c:pt>
                <c:pt idx="144">
                  <c:v>1</c:v>
                </c:pt>
                <c:pt idx="145">
                  <c:v>1</c:v>
                </c:pt>
                <c:pt idx="146">
                  <c:v>1</c:v>
                </c:pt>
                <c:pt idx="147">
                  <c:v>1</c:v>
                </c:pt>
                <c:pt idx="148">
                  <c:v>1</c:v>
                </c:pt>
                <c:pt idx="149">
                  <c:v>1</c:v>
                </c:pt>
                <c:pt idx="150">
                  <c:v>1</c:v>
                </c:pt>
                <c:pt idx="151">
                  <c:v>1</c:v>
                </c:pt>
                <c:pt idx="152">
                  <c:v>1</c:v>
                </c:pt>
                <c:pt idx="153">
                  <c:v>1</c:v>
                </c:pt>
                <c:pt idx="154">
                  <c:v>1</c:v>
                </c:pt>
                <c:pt idx="155">
                  <c:v>1</c:v>
                </c:pt>
                <c:pt idx="156">
                  <c:v>1</c:v>
                </c:pt>
                <c:pt idx="157">
                  <c:v>1</c:v>
                </c:pt>
                <c:pt idx="158">
                  <c:v>1</c:v>
                </c:pt>
                <c:pt idx="159">
                  <c:v>1</c:v>
                </c:pt>
                <c:pt idx="160">
                  <c:v>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2"/>
          <c:min val="-2"/>
        </c:scaling>
        <c:delete val="0"/>
        <c:axPos val="b"/>
        <c:title>
          <c:tx>
            <c:rich>
              <a:bodyPr/>
              <a:lstStyle/>
              <a:p>
                <a:pPr>
                  <a:defRPr sz="1400" b="0" i="0" u="none" strike="noStrike">
                    <a:solidFill>
                      <a:srgbClr val="556270"/>
                    </a:solidFill>
                    <a:latin typeface="Arial"/>
                  </a:defRPr>
                </a:pPr>
                <a:r>
                  <a:rPr sz="1400" b="0" i="0" u="none" strike="noStrike">
                    <a:solidFill>
                      <a:srgbClr val="556270"/>
                    </a:solidFill>
                    <a:latin typeface="Arial"/>
                  </a:rPr>
                  <a:t>weight w</a:t>
                </a:r>
              </a:p>
            </c:rich>
          </c:tx>
          <c:layout/>
          <c:overlay val="0"/>
        </c:title>
        <c:numFmt formatCode="General" sourceLinked="1"/>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2"/>
        <c:crossesAt val="-2"/>
        <c:auto val="1"/>
        <c:lblAlgn val="ctr"/>
        <c:noMultiLvlLbl val="1"/>
        <c:majorUnit val="1"/>
      </c:valAx>
      <c:valAx>
        <c:axId val="2094734552"/>
        <c:scaling>
          <c:orientation val="minMax"/>
          <c:max val="2"/>
          <c:min val="-2"/>
        </c:scaling>
        <c:delete val="0"/>
        <c:axPos val="l"/>
        <c:majorGridlines>
          <c:spPr>
            <a:ln w="9525" cap="flat">
              <a:solidFill>
                <a:srgbClr val="E1E6EA"/>
              </a:solidFill>
              <a:prstDash val="solid"/>
              <a:round/>
            </a:ln>
          </c:spPr>
        </c:majorGridlines>
        <c:title>
          <c:tx>
            <c:rich>
              <a:bodyPr/>
              <a:lstStyle/>
              <a:p>
                <a:pPr>
                  <a:defRPr sz="1400" b="0" i="0" u="none" strike="noStrike">
                    <a:solidFill>
                      <a:srgbClr val="556270"/>
                    </a:solidFill>
                    <a:latin typeface="Arial"/>
                  </a:defRPr>
                </a:pPr>
                <a:r>
                  <a:rPr sz="1400" b="0" i="0" u="none" strike="noStrike">
                    <a:solidFill>
                      <a:srgbClr val="556270"/>
                    </a:solidFill>
                    <a:latin typeface="Arial"/>
                  </a:rPr>
                  <a:t>penalty gradient (λ = 1)</a:t>
                </a:r>
              </a:p>
            </c:rich>
          </c:tx>
          <c:layout/>
          <c:overlay val="0"/>
        </c:title>
        <c:numFmt formatCode="General" sourceLinked="0"/>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4"/>
        <c:crossesAt val="-2"/>
        <c:crossBetween val="midCat"/>
        <c:majorUnit val="1"/>
      </c:valAx>
      <c:spPr>
        <a:noFill/>
        <a:ln>
          <a:noFill/>
        </a:ln>
        <a:effectLst/>
      </c:spPr>
    </c:plotArea>
    <c:legend>
      <c:legendPos val="b"/>
      <c:overlay val="0"/>
      <c:txPr>
        <a:bodyPr/>
        <a:lstStyle/>
        <a:p>
          <a:pPr>
            <a:defRPr sz="1400">
              <a:solidFill>
                <a:srgbClr val="15232D"/>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training</c:v>
                </c:pt>
              </c:strCache>
            </c:strRef>
          </c:tx>
          <c:spPr>
            <a:solidFill>
              <a:srgbClr val="0F7B78"/>
            </a:solidFill>
            <a:ln w="38100" cap="flat">
              <a:solidFill>
                <a:srgbClr val="0F7B78"/>
              </a:solidFill>
              <a:prstDash val="solid"/>
              <a:round/>
            </a:ln>
            <a:effectLst/>
          </c:spPr>
          <c:marker>
            <c:symbol val="none"/>
            <c:size val="7"/>
            <c:spPr>
              <a:solidFill>
                <a:srgbClr val="0F7B78"/>
              </a:solidFill>
              <a:ln w="9525" cap="flat">
                <a:solidFill>
                  <a:srgbClr val="0F7B78"/>
                </a:solidFill>
                <a:prstDash val="solid"/>
                <a:round/>
              </a:ln>
              <a:effectLst/>
            </c:spPr>
          </c:marker>
          <c:xVal>
            <c:numRef>
              <c:f>Sheet1!$A$2:$A$84</c:f>
              <c:numCache>
                <c:formatCode>General</c:formatCode>
                <c:ptCount val="83"/>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30</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40</c:v>
                </c:pt>
                <c:pt idx="81">
                  <c:v>16</c:v>
                </c:pt>
                <c:pt idx="82">
                  <c:v>16</c:v>
                </c:pt>
              </c:numCache>
            </c:numRef>
          </c:xVal>
          <c:yVal>
            <c:numRef>
              <c:f>Sheet1!$B$2:$B$84</c:f>
              <c:numCache>
                <c:formatCode>General</c:formatCode>
                <c:ptCount val="83"/>
                <c:pt idx="0">
                  <c:v>1.58</c:v>
                </c:pt>
                <c:pt idx="1">
                  <c:v>1.476594169556034</c:v>
                </c:pt>
                <c:pt idx="2">
                  <c:v>1.3803168496252725</c:v>
                </c:pt>
                <c:pt idx="3">
                  <c:v>1.290676620508084</c:v>
                </c:pt>
                <c:pt idx="4">
                  <c:v>1.207215939612929</c:v>
                </c:pt>
                <c:pt idx="5">
                  <c:v>1.1295088060626954</c:v>
                </c:pt>
                <c:pt idx="6">
                  <c:v>1.0571585862965833</c:v>
                </c:pt>
                <c:pt idx="7">
                  <c:v>0.9897959895689501</c:v>
                </c:pt>
                <c:pt idx="8">
                  <c:v>0.9270771830116389</c:v>
                </c:pt>
                <c:pt idx="9">
                  <c:v>0.8686820366386696</c:v>
                </c:pt>
                <c:pt idx="10">
                  <c:v>0.8143124893354297</c:v>
                </c:pt>
                <c:pt idx="11">
                  <c:v>0.7636910274920257</c:v>
                </c:pt>
                <c:pt idx="12">
                  <c:v>0.716559268515425</c:v>
                </c:pt>
                <c:pt idx="13">
                  <c:v>0.672676641990331</c:v>
                </c:pt>
                <c:pt idx="14">
                  <c:v>0.6318191617571635</c:v>
                </c:pt>
                <c:pt idx="15">
                  <c:v>0.5937782826395684</c:v>
                </c:pt>
                <c:pt idx="16">
                  <c:v>0.5583598359859556</c:v>
                </c:pt>
                <c:pt idx="17">
                  <c:v>0.5253830385918443</c:v>
                </c:pt>
                <c:pt idx="18">
                  <c:v>0.49467956994434653</c:v>
                </c:pt>
                <c:pt idx="19">
                  <c:v>0.4660927130788521</c:v>
                </c:pt>
                <c:pt idx="20">
                  <c:v>0.4394765546626637</c:v>
                </c:pt>
                <c:pt idx="21">
                  <c:v>0.41469524022264476</c:v>
                </c:pt>
                <c:pt idx="22">
                  <c:v>0.3916222807154013</c:v>
                </c:pt>
                <c:pt idx="23">
                  <c:v>0.37013990690058884</c:v>
                </c:pt>
                <c:pt idx="24">
                  <c:v>0.3501384682219286</c:v>
                </c:pt>
                <c:pt idx="25">
                  <c:v>0.33151587312769565</c:v>
                </c:pt>
                <c:pt idx="26">
                  <c:v>0.3141770679739566</c:v>
                </c:pt>
                <c:pt idx="27">
                  <c:v>0.2980335518507699</c:v>
                </c:pt>
                <c:pt idx="28">
                  <c:v>0.28300292485491907</c:v>
                </c:pt>
                <c:pt idx="29">
                  <c:v>0.26900846750346774</c:v>
                </c:pt>
                <c:pt idx="30">
                  <c:v>0.2559787491413762</c:v>
                </c:pt>
                <c:pt idx="31">
                  <c:v>0.2438472633444066</c:v>
                </c:pt>
                <c:pt idx="32">
                  <c:v>0.2325520884563403</c:v>
                </c:pt>
                <c:pt idx="33">
                  <c:v>0.2220355715278141</c:v>
                </c:pt>
                <c:pt idx="34">
                  <c:v>0.2122440340435362</c:v>
                </c:pt>
                <c:pt idx="35">
                  <c:v>0.20312749793584822</c:v>
                </c:pt>
                <c:pt idx="36">
                  <c:v>0.19463943048615212</c:v>
                </c:pt>
                <c:pt idx="37">
                  <c:v>0.18673650681212292</c:v>
                </c:pt>
                <c:pt idx="38">
                  <c:v>0.1793783887283925</c:v>
                </c:pt>
                <c:pt idx="39">
                  <c:v>0.17252751885196407</c:v>
                </c:pt>
                <c:pt idx="40">
                  <c:v>0.16614892890142602</c:v>
                </c:pt>
                <c:pt idx="41">
                  <c:v>0.16021006121148595</c:v>
                </c:pt>
                <c:pt idx="42">
                  <c:v>0.15468060255179591</c:v>
                </c:pt>
                <c:pt idx="43">
                  <c:v>0.1495323294018464</c:v>
                </c:pt>
                <c:pt idx="44">
                  <c:v>0.14473896389217888</c:v>
                </c:pt>
                <c:pt idx="45">
                  <c:v>0.14027603967661043</c:v>
                </c:pt>
                <c:pt idx="46">
                  <c:v>0.1361207770508549</c:v>
                </c:pt>
                <c:pt idx="47">
                  <c:v>0.13225196668011868</c:v>
                </c:pt>
                <c:pt idx="48">
                  <c:v>0.1286498613421933</c:v>
                </c:pt>
                <c:pt idx="49">
                  <c:v>0.12529607513347774</c:v>
                </c:pt>
                <c:pt idx="50">
                  <c:v>0.12217348962345806</c:v>
                </c:pt>
                <c:pt idx="51">
                  <c:v>0.11926616647863562</c:v>
                </c:pt>
                <c:pt idx="52">
                  <c:v>0.1165592661099194</c:v>
                </c:pt>
                <c:pt idx="53">
                  <c:v>0.11403897192824064</c:v>
                </c:pt>
                <c:pt idx="54">
                  <c:v>0.11169241982177491</c:v>
                </c:pt>
                <c:pt idx="55">
                  <c:v>0.10950763249480863</c:v>
                </c:pt>
                <c:pt idx="56">
                  <c:v>0.10747345833310126</c:v>
                </c:pt>
                <c:pt idx="57">
                  <c:v>0.10557951448369993</c:v>
                </c:pt>
                <c:pt idx="58">
                  <c:v>0.10381613385867294</c:v>
                </c:pt>
                <c:pt idx="59">
                  <c:v>0.10217431579225913</c:v>
                </c:pt>
                <c:pt idx="60">
                  <c:v>0.10064568009957561</c:v>
                </c:pt>
                <c:pt idx="61">
                  <c:v>0.0992224243023909</c:v>
                </c:pt>
                <c:pt idx="62">
                  <c:v>0.09789728380363422</c:v>
                </c:pt>
                <c:pt idx="63">
                  <c:v>0.09666349480736346</c:v>
                </c:pt>
                <c:pt idx="64">
                  <c:v>0.09551475979492738</c:v>
                </c:pt>
                <c:pt idx="65">
                  <c:v>0.09444521538110529</c:v>
                </c:pt>
                <c:pt idx="66">
                  <c:v>0.0934494023861552</c:v>
                </c:pt>
                <c:pt idx="67">
                  <c:v>0.09252223797101158</c:v>
                </c:pt>
                <c:pt idx="68">
                  <c:v>0.0916589896934053</c:v>
                </c:pt>
                <c:pt idx="69">
                  <c:v>0.09085525135248249</c:v>
                </c:pt>
                <c:pt idx="70">
                  <c:v>0.0901069204986282</c:v>
                </c:pt>
                <c:pt idx="71">
                  <c:v>0.08941017749370034</c:v>
                </c:pt>
                <c:pt idx="72">
                  <c:v>0.08876146601479287</c:v>
                </c:pt>
                <c:pt idx="73">
                  <c:v>0.08815747490201538</c:v>
                </c:pt>
                <c:pt idx="74">
                  <c:v>0.08759512125763624</c:v>
                </c:pt>
                <c:pt idx="75">
                  <c:v>0.08707153471032392</c:v>
                </c:pt>
                <c:pt idx="76">
                  <c:v>0.08658404276416766</c:v>
                </c:pt>
                <c:pt idx="77">
                  <c:v>0.0861301571576961</c:v>
                </c:pt>
                <c:pt idx="78">
                  <c:v>0.08570756116326704</c:v>
                </c:pt>
                <c:pt idx="79">
                  <c:v>0.08531409776200213</c:v>
                </c:pt>
                <c:pt idx="80">
                  <c:v>0.08494775863390863</c:v>
                </c:pt>
              </c:numCache>
            </c:numRef>
          </c:yVal>
          <c:smooth val="0"/>
        </c:ser>
        <c:ser>
          <c:idx val="1"/>
          <c:order val="1"/>
          <c:tx>
            <c:strRef>
              <c:f>Sheet1!$C$1</c:f>
              <c:strCache>
                <c:ptCount val="1"/>
                <c:pt idx="0">
                  <c:v>validation</c:v>
                </c:pt>
              </c:strCache>
            </c:strRef>
          </c:tx>
          <c:spPr>
            <a:solidFill>
              <a:srgbClr val="D45D27"/>
            </a:solidFill>
            <a:ln w="38100" cap="flat">
              <a:solidFill>
                <a:srgbClr val="D45D27"/>
              </a:solidFill>
              <a:prstDash val="solid"/>
              <a:round/>
            </a:ln>
            <a:effectLst/>
          </c:spPr>
          <c:marker>
            <c:symbol val="none"/>
            <c:size val="7"/>
            <c:spPr>
              <a:solidFill>
                <a:srgbClr val="D45D27"/>
              </a:solidFill>
              <a:ln w="9525" cap="flat">
                <a:solidFill>
                  <a:srgbClr val="D45D27"/>
                </a:solidFill>
                <a:prstDash val="solid"/>
                <a:round/>
              </a:ln>
              <a:effectLst/>
            </c:spPr>
          </c:marker>
          <c:xVal>
            <c:numRef>
              <c:f>Sheet1!$A$2:$A$84</c:f>
              <c:numCache>
                <c:formatCode>General</c:formatCode>
                <c:ptCount val="83"/>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30</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40</c:v>
                </c:pt>
                <c:pt idx="81">
                  <c:v>16</c:v>
                </c:pt>
                <c:pt idx="82">
                  <c:v>16</c:v>
                </c:pt>
              </c:numCache>
            </c:numRef>
          </c:xVal>
          <c:yVal>
            <c:numRef>
              <c:f>Sheet1!$C$2:$C$84</c:f>
              <c:numCache>
                <c:formatCode>General</c:formatCode>
                <c:ptCount val="83"/>
                <c:pt idx="0">
                  <c:v>1.6199999999999999</c:v>
                </c:pt>
                <c:pt idx="1">
                  <c:v>1.5372753356448272</c:v>
                </c:pt>
                <c:pt idx="2">
                  <c:v>1.4602534797002178</c:v>
                </c:pt>
                <c:pt idx="3">
                  <c:v>1.3885412964064672</c:v>
                </c:pt>
                <c:pt idx="4">
                  <c:v>1.321772751690343</c:v>
                </c:pt>
                <c:pt idx="5">
                  <c:v>1.2596070448501562</c:v>
                </c:pt>
                <c:pt idx="6">
                  <c:v>1.2017268690372667</c:v>
                </c:pt>
                <c:pt idx="7">
                  <c:v>1.1478367916551602</c:v>
                </c:pt>
                <c:pt idx="8">
                  <c:v>1.097661746409311</c:v>
                </c:pt>
                <c:pt idx="9">
                  <c:v>1.0509456293109356</c:v>
                </c:pt>
                <c:pt idx="10">
                  <c:v>1.0074499914683437</c:v>
                </c:pt>
                <c:pt idx="11">
                  <c:v>0.9669528219936205</c:v>
                </c:pt>
                <c:pt idx="12">
                  <c:v>0.92924741481234</c:v>
                </c:pt>
                <c:pt idx="13">
                  <c:v>0.8941413135922647</c:v>
                </c:pt>
                <c:pt idx="14">
                  <c:v>0.8614553294057308</c:v>
                </c:pt>
                <c:pt idx="15">
                  <c:v>0.8310226261116547</c:v>
                </c:pt>
                <c:pt idx="16">
                  <c:v>0.8026878687887645</c:v>
                </c:pt>
                <c:pt idx="17">
                  <c:v>0.7763064308734755</c:v>
                </c:pt>
                <c:pt idx="18">
                  <c:v>0.7517436559554771</c:v>
                </c:pt>
                <c:pt idx="19">
                  <c:v>0.7288741704630817</c:v>
                </c:pt>
                <c:pt idx="20">
                  <c:v>0.707581243730131</c:v>
                </c:pt>
                <c:pt idx="21">
                  <c:v>0.6877561921781157</c:v>
                </c:pt>
                <c:pt idx="22">
                  <c:v>0.669297824572321</c:v>
                </c:pt>
                <c:pt idx="23">
                  <c:v>0.652111925520471</c:v>
                </c:pt>
                <c:pt idx="24">
                  <c:v>0.6361107745775428</c:v>
                </c:pt>
                <c:pt idx="25">
                  <c:v>0.6212126985021564</c:v>
                </c:pt>
                <c:pt idx="26">
                  <c:v>0.6073416543791652</c:v>
                </c:pt>
                <c:pt idx="27">
                  <c:v>0.594426841480616</c:v>
                </c:pt>
                <c:pt idx="28">
                  <c:v>0.5824023398839352</c:v>
                </c:pt>
                <c:pt idx="29">
                  <c:v>0.5772067740027742</c:v>
                </c:pt>
                <c:pt idx="30">
                  <c:v>0.572782999313101</c:v>
                </c:pt>
                <c:pt idx="31">
                  <c:v>0.5690778106755252</c:v>
                </c:pt>
                <c:pt idx="32">
                  <c:v>0.5660416707650722</c:v>
                </c:pt>
                <c:pt idx="33">
                  <c:v>0.5636284572222513</c:v>
                </c:pt>
                <c:pt idx="34">
                  <c:v>0.561795227234829</c:v>
                </c:pt>
                <c:pt idx="35">
                  <c:v>0.5605019983486785</c:v>
                </c:pt>
                <c:pt idx="36">
                  <c:v>0.5597115443889218</c:v>
                </c:pt>
                <c:pt idx="37">
                  <c:v>0.5593892054496984</c:v>
                </c:pt>
                <c:pt idx="38">
                  <c:v>0.559502710982714</c:v>
                </c:pt>
                <c:pt idx="39">
                  <c:v>0.5600220150815712</c:v>
                </c:pt>
                <c:pt idx="40">
                  <c:v>0.5609191431211409</c:v>
                </c:pt>
                <c:pt idx="41">
                  <c:v>0.5621680489691887</c:v>
                </c:pt>
                <c:pt idx="42">
                  <c:v>0.5637444820414367</c:v>
                </c:pt>
                <c:pt idx="43">
                  <c:v>0.5656258635214771</c:v>
                </c:pt>
                <c:pt idx="44">
                  <c:v>0.5677911711137431</c:v>
                </c:pt>
                <c:pt idx="45">
                  <c:v>0.5702208317412883</c:v>
                </c:pt>
                <c:pt idx="46">
                  <c:v>0.5728966216406839</c:v>
                </c:pt>
                <c:pt idx="47">
                  <c:v>0.575801573344095</c:v>
                </c:pt>
                <c:pt idx="48">
                  <c:v>0.5789198890737546</c:v>
                </c:pt>
                <c:pt idx="49">
                  <c:v>0.5822368601067822</c:v>
                </c:pt>
                <c:pt idx="50">
                  <c:v>0.5857387916987664</c:v>
                </c:pt>
                <c:pt idx="51">
                  <c:v>0.5894129331829085</c:v>
                </c:pt>
                <c:pt idx="52">
                  <c:v>0.5932474128879355</c:v>
                </c:pt>
                <c:pt idx="53">
                  <c:v>0.5972311775425925</c:v>
                </c:pt>
                <c:pt idx="54">
                  <c:v>0.6013539358574199</c:v>
                </c:pt>
                <c:pt idx="55">
                  <c:v>0.6056061059958469</c:v>
                </c:pt>
                <c:pt idx="56">
                  <c:v>0.609978766666481</c:v>
                </c:pt>
                <c:pt idx="57">
                  <c:v>0.61446361158696</c:v>
                </c:pt>
                <c:pt idx="58">
                  <c:v>0.6190529070869384</c:v>
                </c:pt>
                <c:pt idx="59">
                  <c:v>0.6237394526338074</c:v>
                </c:pt>
                <c:pt idx="60">
                  <c:v>0.6285165440796605</c:v>
                </c:pt>
                <c:pt idx="61">
                  <c:v>0.6333779394419128</c:v>
                </c:pt>
                <c:pt idx="62">
                  <c:v>0.6383178270429073</c:v>
                </c:pt>
                <c:pt idx="63">
                  <c:v>0.6433307958458907</c:v>
                </c:pt>
                <c:pt idx="64">
                  <c:v>0.6484118078359419</c:v>
                </c:pt>
                <c:pt idx="65">
                  <c:v>0.6535561723048842</c:v>
                </c:pt>
                <c:pt idx="66">
                  <c:v>0.6587595219089242</c:v>
                </c:pt>
                <c:pt idx="67">
                  <c:v>0.6640177903768093</c:v>
                </c:pt>
                <c:pt idx="68">
                  <c:v>0.6693271917547242</c:v>
                </c:pt>
                <c:pt idx="69">
                  <c:v>0.674684201081986</c:v>
                </c:pt>
                <c:pt idx="70">
                  <c:v>0.6800855363989026</c:v>
                </c:pt>
                <c:pt idx="71">
                  <c:v>0.6855281419949603</c:v>
                </c:pt>
                <c:pt idx="72">
                  <c:v>0.6910091728118343</c:v>
                </c:pt>
                <c:pt idx="73">
                  <c:v>0.6965259799216124</c:v>
                </c:pt>
                <c:pt idx="74">
                  <c:v>0.7020760970061091</c:v>
                </c:pt>
                <c:pt idx="75">
                  <c:v>0.7076572277682591</c:v>
                </c:pt>
                <c:pt idx="76">
                  <c:v>0.7132672342113342</c:v>
                </c:pt>
                <c:pt idx="77">
                  <c:v>0.7189041257261568</c:v>
                </c:pt>
                <c:pt idx="78">
                  <c:v>0.7245660489306136</c:v>
                </c:pt>
                <c:pt idx="79">
                  <c:v>0.7302512782096017</c:v>
                </c:pt>
                <c:pt idx="80">
                  <c:v>0.7359582069071269</c:v>
                </c:pt>
              </c:numCache>
            </c:numRef>
          </c:yVal>
          <c:smooth val="0"/>
        </c:ser>
        <c:ser>
          <c:idx val="2"/>
          <c:order val="2"/>
          <c:tx>
            <c:strRef>
              <c:f>Sheet1!$D$1</c:f>
              <c:strCache>
                <c:ptCount val="1"/>
                <c:pt idx="0">
                  <c:v>best checkpoint</c:v>
                </c:pt>
              </c:strCache>
            </c:strRef>
          </c:tx>
          <c:spPr>
            <a:solidFill>
              <a:srgbClr val="15232D"/>
            </a:solidFill>
            <a:ln w="38100" cap="flat">
              <a:solidFill>
                <a:srgbClr val="15232D"/>
              </a:solidFill>
              <a:prstDash val="solid"/>
              <a:round/>
            </a:ln>
            <a:effectLst/>
          </c:spPr>
          <c:marker>
            <c:symbol val="none"/>
            <c:size val="7"/>
            <c:spPr>
              <a:solidFill>
                <a:srgbClr val="15232D"/>
              </a:solidFill>
              <a:ln w="9525" cap="flat">
                <a:solidFill>
                  <a:srgbClr val="15232D"/>
                </a:solidFill>
                <a:prstDash val="solid"/>
                <a:round/>
              </a:ln>
              <a:effectLst/>
            </c:spPr>
          </c:marker>
          <c:xVal>
            <c:numRef>
              <c:f>Sheet1!$A$2:$A$84</c:f>
              <c:numCache>
                <c:formatCode>General</c:formatCode>
                <c:ptCount val="83"/>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30</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40</c:v>
                </c:pt>
                <c:pt idx="81">
                  <c:v>16</c:v>
                </c:pt>
                <c:pt idx="82">
                  <c:v>16</c:v>
                </c:pt>
              </c:numCache>
            </c:numRef>
          </c:xVal>
          <c:yVal>
            <c:numRef>
              <c:f>Sheet1!$D$2:$D$84</c:f>
              <c:numCache>
                <c:formatCode>General</c:formatCode>
                <c:ptCount val="83"/>
                <c:pt idx="81">
                  <c:v>0</c:v>
                </c:pt>
                <c:pt idx="82">
                  <c:v>1.8</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40"/>
          <c:min val="0"/>
        </c:scaling>
        <c:delete val="0"/>
        <c:axPos val="b"/>
        <c:title>
          <c:tx>
            <c:rich>
              <a:bodyPr/>
              <a:lstStyle/>
              <a:p>
                <a:pPr>
                  <a:defRPr sz="1400" b="0" i="0" u="none" strike="noStrike">
                    <a:solidFill>
                      <a:srgbClr val="556270"/>
                    </a:solidFill>
                    <a:latin typeface="Arial"/>
                  </a:defRPr>
                </a:pPr>
                <a:r>
                  <a:rPr sz="1400" b="0" i="0" u="none" strike="noStrike">
                    <a:solidFill>
                      <a:srgbClr val="556270"/>
                    </a:solidFill>
                    <a:latin typeface="Arial"/>
                  </a:rPr>
                  <a:t>epoch</a:t>
                </a:r>
              </a:p>
            </c:rich>
          </c:tx>
          <c:layout/>
          <c:overlay val="0"/>
        </c:title>
        <c:numFmt formatCode="General" sourceLinked="1"/>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2"/>
        <c:crossesAt val="autoZero"/>
        <c:auto val="1"/>
        <c:lblAlgn val="ctr"/>
        <c:noMultiLvlLbl val="1"/>
        <c:majorUnit val="10"/>
      </c:valAx>
      <c:valAx>
        <c:axId val="2094734552"/>
        <c:scaling>
          <c:orientation val="minMax"/>
          <c:max val="1.8"/>
          <c:min val="0"/>
        </c:scaling>
        <c:delete val="0"/>
        <c:axPos val="l"/>
        <c:majorGridlines>
          <c:spPr>
            <a:ln w="9525" cap="flat">
              <a:solidFill>
                <a:srgbClr val="E1E6EA"/>
              </a:solidFill>
              <a:prstDash val="solid"/>
              <a:round/>
            </a:ln>
          </c:spPr>
        </c:majorGridlines>
        <c:title>
          <c:tx>
            <c:rich>
              <a:bodyPr/>
              <a:lstStyle/>
              <a:p>
                <a:pPr>
                  <a:defRPr sz="1400" b="0" i="0" u="none" strike="noStrike">
                    <a:solidFill>
                      <a:srgbClr val="556270"/>
                    </a:solidFill>
                    <a:latin typeface="Arial"/>
                  </a:defRPr>
                </a:pPr>
                <a:r>
                  <a:rPr sz="1400" b="0" i="0" u="none" strike="noStrike">
                    <a:solidFill>
                      <a:srgbClr val="556270"/>
                    </a:solidFill>
                    <a:latin typeface="Arial"/>
                  </a:rPr>
                  <a:t>loss</a:t>
                </a:r>
              </a:p>
            </c:rich>
          </c:tx>
          <c:layout/>
          <c:overlay val="0"/>
        </c:title>
        <c:numFmt formatCode="General" sourceLinked="0"/>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4"/>
        <c:crossesAt val="0"/>
        <c:crossBetween val="midCat"/>
        <c:majorUnit val="0.5"/>
      </c:valAx>
      <c:spPr>
        <a:noFill/>
        <a:ln>
          <a:noFill/>
        </a:ln>
        <a:effectLst/>
      </c:spPr>
    </c:plotArea>
    <c:legend>
      <c:legendPos val="b"/>
      <c:overlay val="0"/>
      <c:txPr>
        <a:bodyPr/>
        <a:lstStyle/>
        <a:p>
          <a:pPr>
            <a:defRPr sz="1400">
              <a:solidFill>
                <a:srgbClr val="15232D"/>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1 built the forward pass; lecture 2 made it learn. Today is about making deep networks actually train, and then generalize. Recall the 26-year gap: these four tools are most of why deep learning worked when it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sections, each one tool. Initialization keeps signals alive at the start. Optimizers handle ill-conditioned loss surfaces. Normalization keeps activations healthy throughout training. Regularization closes the gap between training and test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new symbols. Fan-in and fan-out are the number of inputs and outputs per unit. Beta appears twice — as an optimizer decay rate and as BatchNorm’s learned shift — so I always say which.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explains why deep networks did not train for two decades, and how a variance argument leads to initializations that fix much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Unroll BP2 from the output back to layer 1: the gradient is a product of L factors. Products of many numbers do one of three things: collapse if the typical factor is below one, explode if above, and stay useful only near one. With sigmoid, ten layers scale the gradient by at most 0.25 to the tenth. Here is what makes it insidious: the model still trains. The last layers learn, the loss falls, and then plateaus far too high, and nothing tells you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 comes from a question: what initial weight scale keeps the variance of activations constant as we go deeper? Take one unit with zero bias. Assume weights and inputs are independent, zero mean, identically distributed. Variances of independent products multiply and variances of independent sums add, so the variance of z is n-in times Var(w) times Var(x). To keep it equal to Var(x), Var(w) must be one over n-in.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Glorot and Bengio, 2010, also considered the backward pass, where the same argument gives one over n-out. You cannot satisfy both unless the layer is square, so they compromised with two over n-in plus n-out. In uniform form the bound is root six over n-in plus n-out; the six appears because a uniform distribution on minus a to a has variance a squared over three. The argument assumes an activation that is roughly linear and symmetric near zero — true for tanh, not for ReLU.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ReLU zeroes the negative half of its input. For a symmetric input, half the mass maps to zero and half passes unchanged, so the mean square halves. Strictly, ReLU output is not zero-mean, so this is an approximation, but it is the right one. Each ReLU layer halves the variance, so after L layers the signal shrinks by two to the minus L. Compensate by doubling: Var(w) equals two over n-in. That is He initialization; the paper trained a 30-layer network that failed completely with Xavier.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convolutional layer, n-in is not the channel count: each output unit sees a K by K patch over all input channels. So Conv2d 64 to 128 with a 3 by 3 kernel has n-in of 576, and He standard deviation 0.0589 — not 0.177, which would be three times too large. PyTorch’s kaiming_normal_ computes this for you; the point is to know what two over n-in means. Biases start at zero; the weights already break symmetry. One exception: for a heavily imbalanced binary classifier, set the output bias to the log-odds of the positive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failure modes. All-zero or identical weights: every unit computes the same thing, gets the same gradient, and stays identical forever, so a 512-unit layer has the power of one unit — the symmetry-breaking problem. Large weights push pre-activations into flat tails or explode with ReLU. Small weights let the signal die layer by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convincing five seconds in the course. Twenty ReLU layers of width 256, a thousand random inputs, and the standard deviation of activations after each layer for four initializations. Note the axis is log ten. He holds the signal between about 0.8 and 0.96. Xavier halves it roughly every three layers because it ignores ReLU’s halving. Standard deviation 0.01 vanishes to ten to the minus twenty; 1.0 explodes to ten to the twenty. The backward gradient behaves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nn.Linear and nn.Conv2d default to Kaiming-uniform with a equals root five, which works out to a variance of one over three n-in — a historical default, a bit conservative for ReLU, but acceptable. For a deep network trained from scratch, set initialization explicitly with a function applied recursively. Fan-out mode preserves variance in the backward pass; it is what the original ResNet used. And a modern trick: initialize the last BatchNorm gamma in each residual block to zero, so each block starts as an identity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Initialization is the first line of defence. Four more, each covered elsewhere: non-saturating activations; batch normalization, which re-normalizes at every layer and makes results far less sensitive to initialization; residual connections, which give the gradient a path with derivative exactly one — the single most effective fix for depth; and gradient clipping, which rescales the whole gradient vector when its norm exceeds a threshold. Clipping goes after backward and before step. It is standard for RNNs and Transformers, rarely needed for CNNs.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two to three minutes per question. Ask them to commit to an answer on paper before discussing with a neighbour.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answer and ask who got it; spend the most time on the one most people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gradient descent treats every parameter identically and has no memory. Both are fixable, and the fixes are what modern optimizers are. Throughout, g sub t is the gradient at step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a long narrow ravine: the loss drops steeply across it and gently along it. The gradient is dominated by the steep direction, so steps bounce back and forth across the walls while making tiny progress along the floor. Raise the learning rate and it diverges across; lower it and progress along the floor stops. Formally this is ill-conditioning: a large ratio between the largest and smallest Hessian eigenvalues. Every optimizer in this section tries to move in flat directions without exploding in steep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Momentum keeps an exponentially decaying sum of past gradients and steps along it. Think of a ball: velocity, force, friction. Along the consistent downhill direction it accelerates; the alternating cross-ravine forces cancel. If the gradient were constant, the velocity converges to g over one minus beta: with beta 0.9 that is ten times g. So momentum multiplies the effective learning rate by ten in consistent directions, which is why switching to momentum usually means cutting eta by about ten. Nesterov evaluates the gradient at the look-ahead point and brakes earlier; free to enable.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AdaGrad divides each parameter’s step by the root of its accumulated squared gradients: parameters with big gradients get small steps and vice versa — good for sparse features such as rare word embeddings. Its flaw: the sum only grows, so the effective learning rate decays toward zero and training grinds to a halt. RMSProp replaces the sum with a decaying average, so old gradients fade and the step can recover; each parameter moves by roughly plus or minus eta regardless of gradient scale. RMSProp was never formally published; everyone cites Hinton’s Coursera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Kingma and Ba 2015, keeps a running mean of the gradient, which is momentum, and a running mean of its square, which is RMSProp, corrects both for starting at zero, and steps by their ratio. Defaults: 0.9, 0.999, ten to the minus eight. Why it works: m-hat over root v-hat is roughly a signal-to-noise ratio. Consistent gradients give steps near plus or minus eta; noisy, inconsistent gradients shrink the step automatically. The optimizer becomes cautious exactly when it should.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Derive this once. With m starting at zero, m-t is a weighted sum of past gradients whose weights sum to one minus beta-one to the t. So m underestimates the mean by exactly that factor; dividing fixes it. Both moments are biased at step one, and they partly cancel: uncorrected, the first step is 0.1 g over root of 0.001 g squared, about 3.2 times the intended size — a real error, not a catastrophe. The two biases decay at different rates: about 40 steps for beta-one, about 4,000 for beta-two. That slow second-moment estimate is part of why warmup helps Adam.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distinction appears in interviews and in every modern training script. In plain SGD, adding L2 to the loss is identical to weight decay. In Adam it is not: the lambda-theta term enters the gradient, flows into m and v, and is divided by root v-hat. Parameters with large gradient history get their decay divided down; small ones get it amplified. AdamW, Loshchilov and Hutter 2019, applies decay directly to the parameters, outside the adaptive machinery. In PyTorch, Adam with weight_decay is the coupled L2 version; AdamW is the decoupled one, and the right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related practice: no weight decay on biases or normalization parameters. They have too few parameters to overfit, and shrinking BatchNorm’s gamma toward zero directly suppresses the layer’s output. The usual implementation splits parameters into two groups by dimension: anything one-dimensional — biases, norm weights — goes in the no-decay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useful summary: Adam and AdamW get you to a good result fast with little tuning. SGD with momentum, a well-tuned schedule and patience often reaches slightly better final accuracy on image classification. So: coursework, prototypes, interviews — AdamW. A leaderboard result on CIFAR or ImageNet — tuned SGD is still competitive. Whether Adam generalizes slightly worse than SGD is real but small and heavily dependent on schedule and regularization; do not treat it as settled.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fixed learning rate is almost never optimal: you want to travel early and settle late. Step decay multiplies by 0.1 at fixed epochs — the classic ResNet recipe. Cosine annealing follows a half cosine down to near zero — the modern default, no milestones to tune. Warmup ramps up linearly over the first few hundred to few thousand steps — essential for Transformers and large batches, because early gradients and Adam’s variance estimates are unreliable. One-cycle ramps up to a high peak then down well below the start, and trains remarkably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common scheduler bug is calling step in the wrong place. Most schedulers step once per epoch, but OneCycleLR and warmup schedules step once per batch, and ReduceLROnPlateau needs the validation metric passed in. Getting it wrong silently changes the entire schedule. The defence is trivial: print the learning rate each epoch and confirm it does what you expect.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together: label-smoothed cross-entropy, AdamW with weight decay, a one-cycle schedule stepped per batch, gradient clipping after backward and before step. zero_grad with set_to_none is the default since PyTorch 2.0, so a plain call already does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two to three minutes per question. Ask them to commit to an answer on paper before discussing with a neighbour.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answer and ask who got it; spend the most time on the one most people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standardize input features so none dominates. Normalization layers do the same to hidden activations, at every layer, during training. It is one of the highest-value-per-line techniques in deep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feature, or each channel in a CNN, BatchNorm computes the batch mean and variance, standardizes, then scales by gamma and shifts by beta, both learned. The fourth step is essential: forcing every layer to mean zero, variance one would pin sigmoid activations to their near-linear region. Gamma and beta let the network choose its own scale; it can even learn to undo the normalization exactly. Normalization never removes representational power — it only changes the parameterization. That is what makes it safe to insert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training time BatchNorm uses the current batch’s statistics. At inference that would be wrong: predictions would depend on the other examples in the batch, and a batch of one has zero variance. So BatchNorm keeps running averages during training and uses them at evaluation, making inference deterministic and batch-size independent. PyTorch’s momentum of 0.1 means the new batch gets weight 0.1 — the opposite convention from optimizer momentum. Forgetting model.eval is the classic bug: validation accuracy that changes with validation batch size, or single-image inference that is wildly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paper attributed BatchNorm’s success to reducing internal covariate shift. That explanation is now widely doubted: Santurkar and colleagues injected noise after BatchNorm to increase covariate shift, and networks still trained well. Current best explanations: it smooths the loss landscape, so larger learning rates are stable; it decouples weight magnitude from the function, since scaling W by c leaves the output unchanged and scales the gradient by one over c; and it regularizes through batch noise. In interviews, say covariate shift was the original motivation and the evidence now points to landscape smoothing.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placement, still dominant and used by ResNet, is between the linear operation and the activation. Pre-activation order, from ResNet version 2, works slightly better for very deep networks. One detail worth spotting in code: omit the bias of a layer immediately followed by BatchNorm. BatchNorm subtracts the mean, cancelling any constant bias, then adds its own beta. The conv bias is exactly redundant.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them compute x minus mean over standard deviation, then scale and shift. They differ only in which axes the statistics cover, for an activation of shape N, C, H, W. In each grid, rows are examples and columns are channels; highlighted cells share one mean and variance, with height and width always pooled. BatchNorm depends on the batch, which is its weakness with batches of two or four — common in detection and segmentation; GroupNorm fixes that. LayerNorm normalizes each example independently, which sequence models need; many recent LLMs use RMSNorm, a simplification that drops the mean subtraction.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interactions. BatchNorm and dropout together can hurt: dropout changes activation variance between training and inference, so BatchNorm’s running statistics mismatch at test time; modern CNNs use little or no dropout in conv layers. No weight decay on gamma and beta. Always shuffle, or batch statistics swing wildly from batch to batch. And when fine-tuning on a small dataset, the pretrained running statistics may beat noisy small-batch estimates, so freeze BatchNorm in eval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Inspect what BatchNorm holds: gamma and beta are parameters, one per channel; the running mean and variance are buffers. Buffers are saved in the state dict and moved by .to(device), but the optimizer never updates them and they get no gradient. If you load a checkpoint and accuracy is terrible, check that the buffers loaded — a common casualty of strict=False. The last lines show train and eval outputs differ on the same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two to three minutes per question. Ask them to commit to an answer on paper before discussing with a neighbour.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answer and ask who got it; spend the most time on the one most people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 that fits its training data perfectly and fails on new data is useless. Regularization is everything we do to close that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Classical statistics splits expected test error into bias squared, variance and irreducible noise, and predicts a U-shaped curve against model complexity. Deep learning does not follow it. Modern networks have far more parameters than examples and still generalize. Belkin and colleagues named it double descent: test error peaks at the interpolation threshold, where the model can just fit the training data, then descends again, often below the classical minimum. The working explanation is implicit regularization — gradient descent tends to find small-norm, simple solutions — still an active research area. The practical consequence is firm: regularize large models; do not shrink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 penalty on weight magnitude. The gradient gains a lambda W term, so every step first shrinks W by a factor one minus eta lambda — hence weight decay. Why smaller weights generalize: from lecture 1, the norm of w sets how sharply a neuron switches, not where its boundary is; small weights mean a smoother function that cannot contort around noisy points. Bayesian reading: L2 is the MAP estimate under a zero-mean Gaussian prior. Typical lambda: ten to the minus four for SGD on CNNs; 0.01 to 0.1 for AdamW on Transformers, because AdamW decouples it. Weights only — not biases or normalization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L1’s gradient is lambda times the sign of W: a constant push toward zero regardless of size. L2’s push is proportional to W, so it shrinks large weights hard and small ones gently, never reaching zero. L1’s constant push drives small weights exactly to zero, giving sparse models — useful for feature selection and compression. It is much less common in deep learning, partly because sparsity in a dense matrix does not speed anything up without specialized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training, zero each unit’s output with probability p, independently per example and per forward pass. Divide the survivors by one minus p — inverted dropout — so the expected activation matches inference, where nothing happens. Without the division, training activations would average one minus p times a, and every downstream layer would be miscalibrated at test time. All frameworks implement the inverted form, which keeps inference free of special handling.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complementary explanations. It prevents co-adaptation: no unit can rely on a particular other unit being present. It is an implicit ensemble: n units give two to the n masks, trained with shared weights and approximately averaged at inference. And it is noise injection, forcing a locally smooth function. Practical guidance: p 0.5 for fully connected layers; 0.1 to 0.3 for conv layers if at all; after the activation. Modern CNNs often skip dropout in conv layers and use it only before the classifier; Transformers use 0.1 throughout. Dropout2d drops whole channels; DropPath, or stochastic depth, drops whole residual branches.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Monitor validation loss and keep the parameters from the best epoch. It costs nothing beyond a patience setting, and it approximately implements L2: starting from small weights, stopping after T steps bounds how far the weights can travel, which bounds their norm. The correspondence is exact for linear models with quadratic loss. Never early-stop on the test set: choosing a checkpoint by test score makes that score optimistic.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augmentation creates new examples with label-preserving transformations, and for images it is usually the highest-leverage option: a cat is still a cat after a flip, a crop or a brightness change, while every pixel value changes. But think about each transform. Horizontal flip is fine for cats, wrong for digits and text. Vertical flip suits satellite images, not street scenes. Rotation suits microscopy but confuses 6 and 9. Colour jitter is wrong when colour is the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standard pipeline with the current torchvision v2 API, which replaces ToTensor with ToImage plus ToDtype. Stronger modern methods: Mixup trains on convex combinations of image pairs with the same mix applied to the labels; CutMix pastes a patch and mixes labels by area — both are batch-level transforms in v2. RandAugment and TrivialAugment apply random operations with essentially no tuning. Test-time augmentation averages predictions over augmented copies: a fraction of a percent for several times the inference cost. Label smoothing, from lecture 2, completes the toolkit.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Diagnose first, then act: the training–validation gap tells you which problem you have. If overfitting, here is the priority order by impact per unit of effort. More data beats everything. Augmentation is the cheapest substitute. Transfer learning is often transformative on small datasets. Then weight decay, early stopping, dropout, and only last, a smaller model — the double-descent results suggest that instinct is often wrong. Validation loss below training loss is usually normal, because dropout and augmentation penalize training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two to three minutes per question. Ask them to commit to an answer on paper before discussing with a neighbour.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answer and ask who got it; spend the most time on the one most people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per section. Together with lectures 1 and 2 this completes the foundations; next comes PyTorch essentials and your first complete project, section 13 of the tutorial.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sources for today’s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rtlCol="0"/>
          <a:lstStyle>
            <a:lvl1pPr indent="0" marL="0">
              <a:buNone/>
              <a:defRPr lang="en-US" sz="1300" b="1" spc="150" kern="0" dirty="0">
                <a:solidFill>
                  <a:schemeClr val="accent1"/>
                </a:solidFill>
              </a:defRPr>
            </a:lvl1pPr>
          </a:lstStyle>
          <a:p>
            <a:pPr indent="0" marL="0">
              <a:buNone/>
            </a:pP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4"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200" dirty="0">
                <a:solidFill>
                  <a:schemeClr val="tx2"/>
                </a:solidFill>
              </a:rPr>
              <a:t>Lecture 3 · Making deep networks train and generalize</a:t>
            </a:r>
            <a:endParaRPr lang="en-US" sz="12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7315200" cy="411480"/>
          </a:xfrm>
          <a:prstGeom prst="rect">
            <a:avLst/>
          </a:prstGeom>
          <a:noFill/>
          <a:ln/>
        </p:spPr>
        <p:txBody>
          <a:bodyPr wrap="square" rtlCol="0"/>
          <a:lstStyle>
            <a:lvl1pPr indent="0" marL="0">
              <a:buNone/>
              <a:defRPr lang="en-US" sz="1600" b="1" spc="200" kern="0" dirty="0">
                <a:solidFill>
                  <a:schemeClr val="accent6"/>
                </a:solidFill>
              </a:defRPr>
            </a:lvl1pPr>
          </a:lstStyle>
          <a:p>
            <a:pPr indent="0" marL="0">
              <a:buNone/>
            </a:pPr>
            <a:endParaRPr lang="en-US" sz="1600" dirty="0"/>
          </a:p>
        </p:txBody>
      </p:sp>
      <p:sp>
        <p:nvSpPr>
          <p:cNvPr id="3" name="Text 0"/>
          <p:cNvSpPr/>
          <p:nvPr>
            <p:ph idx="101" type="title" hasCustomPrompt="1"/>
          </p:nvPr>
        </p:nvSpPr>
        <p:spPr>
          <a:xfrm>
            <a:off x="731520" y="1920240"/>
            <a:ext cx="694944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731520" y="4160520"/>
            <a:ext cx="6766560" cy="12801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chart" Target="/ppt/charts/chart7.xml"/><Relationship Id="rId4" Type="http://schemas.openxmlformats.org/officeDocument/2006/relationships/chart" Target="/ppt/charts/chart8.xml"/><Relationship Id="rId5" Type="http://schemas.openxmlformats.org/officeDocument/2006/relationships/slideLayout" Target="../slideLayouts/slideLayout2.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7315200" cy="411480"/>
          </a:xfrm>
          <a:prstGeom prst="rect">
            <a:avLst/>
          </a:prstGeom>
          <a:noFill/>
          <a:ln/>
        </p:spPr>
        <p:txBody>
          <a:bodyPr wrap="square" lIns="0" tIns="0" rIns="0" bIns="0" rtlCol="0"/>
          <a:lstStyle/>
          <a:p>
            <a:pPr indent="0" marL="0">
              <a:buNone/>
            </a:pPr>
            <a:r>
              <a:rPr lang="en-US" sz="1600" b="1" spc="200" kern="0" dirty="0">
                <a:solidFill>
                  <a:schemeClr val="accent6"/>
                </a:solidFill>
              </a:rPr>
              <a:t>LECTURE 3 OF 3</a:t>
            </a:r>
            <a:endParaRPr lang="en-US" sz="1600" dirty="0"/>
          </a:p>
        </p:txBody>
      </p:sp>
      <p:sp>
        <p:nvSpPr>
          <p:cNvPr id="3" name="Text 0"/>
          <p:cNvSpPr/>
          <p:nvPr>
            <p:ph idx="101" type="title" hasCustomPrompt="1"/>
          </p:nvPr>
        </p:nvSpPr>
        <p:spPr>
          <a:xfrm>
            <a:off x="731520" y="1920240"/>
            <a:ext cx="6949440" cy="2103120"/>
          </a:xfrm>
          <a:prstGeom prst="rect">
            <a:avLst/>
          </a:prstGeom>
          <a:noFill/>
          <a:ln/>
        </p:spPr>
        <p:txBody>
          <a:bodyPr wrap="square" lIns="0" tIns="0" rIns="0" bIns="0" rtlCol="0" anchor="t"/>
          <a:lstStyle/>
          <a:p>
            <a:pPr algn="l" indent="0" marL="0">
              <a:buNone/>
            </a:pPr>
            <a:r>
              <a:rPr lang="en-US" sz="4400" b="1" dirty="0">
                <a:solidFill>
                  <a:schemeClr val="bg1"/>
                </a:solidFill>
              </a:rPr>
              <a:t>Making deep networks train and generalize</a:t>
            </a:r>
            <a:endParaRPr lang="en-US" sz="4400" dirty="0"/>
          </a:p>
        </p:txBody>
      </p:sp>
      <p:sp>
        <p:nvSpPr>
          <p:cNvPr id="4" name="Text 0"/>
          <p:cNvSpPr/>
          <p:nvPr>
            <p:ph idx="102" type="body" hasCustomPrompt="1"/>
          </p:nvPr>
        </p:nvSpPr>
        <p:spPr>
          <a:xfrm>
            <a:off x="731520" y="4160520"/>
            <a:ext cx="6766560" cy="1280160"/>
          </a:xfrm>
          <a:prstGeom prst="rect">
            <a:avLst/>
          </a:prstGeom>
          <a:noFill/>
          <a:ln/>
        </p:spPr>
        <p:txBody>
          <a:bodyPr wrap="square" lIns="0" tIns="0" rIns="0" bIns="0" rtlCol="0" anchor="t"/>
          <a:lstStyle/>
          <a:p>
            <a:pPr algn="l" indent="0" marL="0">
              <a:buNone/>
            </a:pPr>
            <a:r>
              <a:rPr lang="en-US" sz="2000" dirty="0">
                <a:solidFill>
                  <a:schemeClr val="bg2"/>
                </a:solidFill>
              </a:rPr>
              <a:t>Why deep networks are hard to train, and the four tools that fix it: initialization, optimizers, normalization and regularization.</a:t>
            </a:r>
            <a:endParaRPr lang="en-US" sz="2000" dirty="0"/>
          </a:p>
        </p:txBody>
      </p:sp>
      <p:sp>
        <p:nvSpPr>
          <p:cNvPr id="5" name="Text 3"/>
          <p:cNvSpPr txBox="1"/>
          <p:nvPr/>
        </p:nvSpPr>
        <p:spPr>
          <a:xfrm>
            <a:off x="731520" y="5989320"/>
            <a:ext cx="7315200" cy="365760"/>
          </a:xfrm>
          <a:prstGeom prst="rect">
            <a:avLst/>
          </a:prstGeom>
          <a:noFill/>
          <a:ln/>
        </p:spPr>
        <p:txBody>
          <a:bodyPr wrap="square" lIns="0" tIns="0" rIns="0" bIns="0" rtlCol="0" anchor="t"/>
          <a:lstStyle/>
          <a:p>
            <a:pPr algn="l" indent="0" marL="0">
              <a:lnSpc>
                <a:spcPct val="105000"/>
              </a:lnSpc>
              <a:buNone/>
            </a:pPr>
            <a:r>
              <a:rPr lang="en-US" sz="1500" dirty="0">
                <a:solidFill>
                  <a:schemeClr val="accent6"/>
                </a:solidFill>
              </a:rPr>
              <a:t>Neural Networks &amp; Deep Learning  ·  Undergraduate Engineering</a:t>
            </a:r>
            <a:endParaRPr lang="en-US" sz="1500" dirty="0"/>
          </a:p>
        </p:txBody>
      </p:sp>
      <p:sp>
        <p:nvSpPr>
          <p:cNvPr id="6" name="Shape 4"/>
          <p:cNvSpPr/>
          <p:nvPr/>
        </p:nvSpPr>
        <p:spPr>
          <a:xfrm flipV="1">
            <a:off x="8449056" y="1956816"/>
            <a:ext cx="713232" cy="713232"/>
          </a:xfrm>
          <a:prstGeom prst="line">
            <a:avLst/>
          </a:prstGeom>
          <a:noFill/>
          <a:ln w="12700">
            <a:solidFill>
              <a:srgbClr val="3A4E5B"/>
            </a:solidFill>
            <a:prstDash val="solid"/>
          </a:ln>
        </p:spPr>
      </p:sp>
      <p:sp>
        <p:nvSpPr>
          <p:cNvPr id="7" name="Shape 5"/>
          <p:cNvSpPr/>
          <p:nvPr/>
        </p:nvSpPr>
        <p:spPr>
          <a:xfrm>
            <a:off x="8449056" y="2670048"/>
            <a:ext cx="713232" cy="0"/>
          </a:xfrm>
          <a:prstGeom prst="line">
            <a:avLst/>
          </a:prstGeom>
          <a:noFill/>
          <a:ln w="31750">
            <a:solidFill>
              <a:srgbClr val="7CCFC6"/>
            </a:solidFill>
            <a:prstDash val="solid"/>
          </a:ln>
        </p:spPr>
      </p:sp>
      <p:sp>
        <p:nvSpPr>
          <p:cNvPr id="8" name="Shape 6"/>
          <p:cNvSpPr/>
          <p:nvPr/>
        </p:nvSpPr>
        <p:spPr>
          <a:xfrm>
            <a:off x="8449056" y="2670048"/>
            <a:ext cx="713232" cy="713232"/>
          </a:xfrm>
          <a:prstGeom prst="line">
            <a:avLst/>
          </a:prstGeom>
          <a:noFill/>
          <a:ln w="12700">
            <a:solidFill>
              <a:srgbClr val="3A4E5B"/>
            </a:solidFill>
            <a:prstDash val="solid"/>
          </a:ln>
        </p:spPr>
      </p:sp>
      <p:sp>
        <p:nvSpPr>
          <p:cNvPr id="9" name="Shape 7"/>
          <p:cNvSpPr/>
          <p:nvPr/>
        </p:nvSpPr>
        <p:spPr>
          <a:xfrm>
            <a:off x="8449056" y="2670048"/>
            <a:ext cx="713232" cy="1426464"/>
          </a:xfrm>
          <a:prstGeom prst="line">
            <a:avLst/>
          </a:prstGeom>
          <a:noFill/>
          <a:ln w="12700">
            <a:solidFill>
              <a:srgbClr val="3A4E5B"/>
            </a:solidFill>
            <a:prstDash val="solid"/>
          </a:ln>
        </p:spPr>
      </p:sp>
      <p:sp>
        <p:nvSpPr>
          <p:cNvPr id="10" name="Shape 8"/>
          <p:cNvSpPr/>
          <p:nvPr/>
        </p:nvSpPr>
        <p:spPr>
          <a:xfrm>
            <a:off x="8449056" y="2670048"/>
            <a:ext cx="713232" cy="2139696"/>
          </a:xfrm>
          <a:prstGeom prst="line">
            <a:avLst/>
          </a:prstGeom>
          <a:noFill/>
          <a:ln w="12700">
            <a:solidFill>
              <a:srgbClr val="3A4E5B"/>
            </a:solidFill>
            <a:prstDash val="solid"/>
          </a:ln>
        </p:spPr>
      </p:sp>
      <p:sp>
        <p:nvSpPr>
          <p:cNvPr id="11" name="Shape 9"/>
          <p:cNvSpPr/>
          <p:nvPr/>
        </p:nvSpPr>
        <p:spPr>
          <a:xfrm flipV="1">
            <a:off x="8449056" y="1956816"/>
            <a:ext cx="713232" cy="1426464"/>
          </a:xfrm>
          <a:prstGeom prst="line">
            <a:avLst/>
          </a:prstGeom>
          <a:noFill/>
          <a:ln w="12700">
            <a:solidFill>
              <a:srgbClr val="3A4E5B"/>
            </a:solidFill>
            <a:prstDash val="solid"/>
          </a:ln>
        </p:spPr>
      </p:sp>
      <p:sp>
        <p:nvSpPr>
          <p:cNvPr id="12" name="Shape 10"/>
          <p:cNvSpPr/>
          <p:nvPr/>
        </p:nvSpPr>
        <p:spPr>
          <a:xfrm flipV="1">
            <a:off x="8449056" y="2670048"/>
            <a:ext cx="713232" cy="713232"/>
          </a:xfrm>
          <a:prstGeom prst="line">
            <a:avLst/>
          </a:prstGeom>
          <a:noFill/>
          <a:ln w="12700">
            <a:solidFill>
              <a:srgbClr val="3A4E5B"/>
            </a:solidFill>
            <a:prstDash val="solid"/>
          </a:ln>
        </p:spPr>
      </p:sp>
      <p:sp>
        <p:nvSpPr>
          <p:cNvPr id="13" name="Shape 11"/>
          <p:cNvSpPr/>
          <p:nvPr/>
        </p:nvSpPr>
        <p:spPr>
          <a:xfrm>
            <a:off x="8449056" y="3383280"/>
            <a:ext cx="713232" cy="0"/>
          </a:xfrm>
          <a:prstGeom prst="line">
            <a:avLst/>
          </a:prstGeom>
          <a:noFill/>
          <a:ln w="12700">
            <a:solidFill>
              <a:srgbClr val="3A4E5B"/>
            </a:solidFill>
            <a:prstDash val="solid"/>
          </a:ln>
        </p:spPr>
      </p:sp>
      <p:sp>
        <p:nvSpPr>
          <p:cNvPr id="14" name="Shape 12"/>
          <p:cNvSpPr/>
          <p:nvPr/>
        </p:nvSpPr>
        <p:spPr>
          <a:xfrm>
            <a:off x="8449056" y="3383280"/>
            <a:ext cx="713232" cy="713232"/>
          </a:xfrm>
          <a:prstGeom prst="line">
            <a:avLst/>
          </a:prstGeom>
          <a:noFill/>
          <a:ln w="12700">
            <a:solidFill>
              <a:srgbClr val="3A4E5B"/>
            </a:solidFill>
            <a:prstDash val="solid"/>
          </a:ln>
        </p:spPr>
      </p:sp>
      <p:sp>
        <p:nvSpPr>
          <p:cNvPr id="15" name="Shape 13"/>
          <p:cNvSpPr/>
          <p:nvPr/>
        </p:nvSpPr>
        <p:spPr>
          <a:xfrm>
            <a:off x="8449056" y="3383280"/>
            <a:ext cx="713232" cy="1426464"/>
          </a:xfrm>
          <a:prstGeom prst="line">
            <a:avLst/>
          </a:prstGeom>
          <a:noFill/>
          <a:ln w="12700">
            <a:solidFill>
              <a:srgbClr val="3A4E5B"/>
            </a:solidFill>
            <a:prstDash val="solid"/>
          </a:ln>
        </p:spPr>
      </p:sp>
      <p:sp>
        <p:nvSpPr>
          <p:cNvPr id="16" name="Shape 14"/>
          <p:cNvSpPr/>
          <p:nvPr/>
        </p:nvSpPr>
        <p:spPr>
          <a:xfrm flipV="1">
            <a:off x="8449056" y="1956816"/>
            <a:ext cx="713232" cy="2139696"/>
          </a:xfrm>
          <a:prstGeom prst="line">
            <a:avLst/>
          </a:prstGeom>
          <a:noFill/>
          <a:ln w="12700">
            <a:solidFill>
              <a:srgbClr val="3A4E5B"/>
            </a:solidFill>
            <a:prstDash val="solid"/>
          </a:ln>
        </p:spPr>
      </p:sp>
      <p:sp>
        <p:nvSpPr>
          <p:cNvPr id="17" name="Shape 15"/>
          <p:cNvSpPr/>
          <p:nvPr/>
        </p:nvSpPr>
        <p:spPr>
          <a:xfrm flipV="1">
            <a:off x="8449056" y="2670048"/>
            <a:ext cx="713232" cy="1426464"/>
          </a:xfrm>
          <a:prstGeom prst="line">
            <a:avLst/>
          </a:prstGeom>
          <a:noFill/>
          <a:ln w="12700">
            <a:solidFill>
              <a:srgbClr val="3A4E5B"/>
            </a:solidFill>
            <a:prstDash val="solid"/>
          </a:ln>
        </p:spPr>
      </p:sp>
      <p:sp>
        <p:nvSpPr>
          <p:cNvPr id="18" name="Shape 16"/>
          <p:cNvSpPr/>
          <p:nvPr/>
        </p:nvSpPr>
        <p:spPr>
          <a:xfrm flipV="1">
            <a:off x="8449056" y="3383280"/>
            <a:ext cx="713232" cy="713232"/>
          </a:xfrm>
          <a:prstGeom prst="line">
            <a:avLst/>
          </a:prstGeom>
          <a:noFill/>
          <a:ln w="12700">
            <a:solidFill>
              <a:srgbClr val="3A4E5B"/>
            </a:solidFill>
            <a:prstDash val="solid"/>
          </a:ln>
        </p:spPr>
      </p:sp>
      <p:sp>
        <p:nvSpPr>
          <p:cNvPr id="19" name="Shape 17"/>
          <p:cNvSpPr/>
          <p:nvPr/>
        </p:nvSpPr>
        <p:spPr>
          <a:xfrm>
            <a:off x="8449056" y="4096512"/>
            <a:ext cx="713232" cy="0"/>
          </a:xfrm>
          <a:prstGeom prst="line">
            <a:avLst/>
          </a:prstGeom>
          <a:noFill/>
          <a:ln w="12700">
            <a:solidFill>
              <a:srgbClr val="3A4E5B"/>
            </a:solidFill>
            <a:prstDash val="solid"/>
          </a:ln>
        </p:spPr>
      </p:sp>
      <p:sp>
        <p:nvSpPr>
          <p:cNvPr id="20" name="Shape 18"/>
          <p:cNvSpPr/>
          <p:nvPr/>
        </p:nvSpPr>
        <p:spPr>
          <a:xfrm>
            <a:off x="8449056" y="4096512"/>
            <a:ext cx="713232" cy="713232"/>
          </a:xfrm>
          <a:prstGeom prst="line">
            <a:avLst/>
          </a:prstGeom>
          <a:noFill/>
          <a:ln w="12700">
            <a:solidFill>
              <a:srgbClr val="3A4E5B"/>
            </a:solidFill>
            <a:prstDash val="solid"/>
          </a:ln>
        </p:spPr>
      </p:sp>
      <p:sp>
        <p:nvSpPr>
          <p:cNvPr id="21" name="Shape 19"/>
          <p:cNvSpPr/>
          <p:nvPr/>
        </p:nvSpPr>
        <p:spPr>
          <a:xfrm>
            <a:off x="9473184" y="1956816"/>
            <a:ext cx="713232" cy="0"/>
          </a:xfrm>
          <a:prstGeom prst="line">
            <a:avLst/>
          </a:prstGeom>
          <a:noFill/>
          <a:ln w="12700">
            <a:solidFill>
              <a:srgbClr val="3A4E5B"/>
            </a:solidFill>
            <a:prstDash val="solid"/>
          </a:ln>
        </p:spPr>
      </p:sp>
      <p:sp>
        <p:nvSpPr>
          <p:cNvPr id="22" name="Shape 20"/>
          <p:cNvSpPr/>
          <p:nvPr/>
        </p:nvSpPr>
        <p:spPr>
          <a:xfrm>
            <a:off x="9473184" y="1956816"/>
            <a:ext cx="713232" cy="713232"/>
          </a:xfrm>
          <a:prstGeom prst="line">
            <a:avLst/>
          </a:prstGeom>
          <a:noFill/>
          <a:ln w="12700">
            <a:solidFill>
              <a:srgbClr val="3A4E5B"/>
            </a:solidFill>
            <a:prstDash val="solid"/>
          </a:ln>
        </p:spPr>
      </p:sp>
      <p:sp>
        <p:nvSpPr>
          <p:cNvPr id="23" name="Shape 21"/>
          <p:cNvSpPr/>
          <p:nvPr/>
        </p:nvSpPr>
        <p:spPr>
          <a:xfrm>
            <a:off x="9473184" y="1956816"/>
            <a:ext cx="713232" cy="1426464"/>
          </a:xfrm>
          <a:prstGeom prst="line">
            <a:avLst/>
          </a:prstGeom>
          <a:noFill/>
          <a:ln w="12700">
            <a:solidFill>
              <a:srgbClr val="3A4E5B"/>
            </a:solidFill>
            <a:prstDash val="solid"/>
          </a:ln>
        </p:spPr>
      </p:sp>
      <p:sp>
        <p:nvSpPr>
          <p:cNvPr id="24" name="Shape 22"/>
          <p:cNvSpPr/>
          <p:nvPr/>
        </p:nvSpPr>
        <p:spPr>
          <a:xfrm>
            <a:off x="9473184" y="1956816"/>
            <a:ext cx="713232" cy="2139696"/>
          </a:xfrm>
          <a:prstGeom prst="line">
            <a:avLst/>
          </a:prstGeom>
          <a:noFill/>
          <a:ln w="12700">
            <a:solidFill>
              <a:srgbClr val="3A4E5B"/>
            </a:solidFill>
            <a:prstDash val="solid"/>
          </a:ln>
        </p:spPr>
      </p:sp>
      <p:sp>
        <p:nvSpPr>
          <p:cNvPr id="25" name="Shape 23"/>
          <p:cNvSpPr/>
          <p:nvPr/>
        </p:nvSpPr>
        <p:spPr>
          <a:xfrm>
            <a:off x="9473184" y="1956816"/>
            <a:ext cx="713232" cy="2852928"/>
          </a:xfrm>
          <a:prstGeom prst="line">
            <a:avLst/>
          </a:prstGeom>
          <a:noFill/>
          <a:ln w="12700">
            <a:solidFill>
              <a:srgbClr val="3A4E5B"/>
            </a:solidFill>
            <a:prstDash val="solid"/>
          </a:ln>
        </p:spPr>
      </p:sp>
      <p:sp>
        <p:nvSpPr>
          <p:cNvPr id="26" name="Shape 24"/>
          <p:cNvSpPr/>
          <p:nvPr/>
        </p:nvSpPr>
        <p:spPr>
          <a:xfrm flipV="1">
            <a:off x="9473184" y="1956816"/>
            <a:ext cx="713232" cy="713232"/>
          </a:xfrm>
          <a:prstGeom prst="line">
            <a:avLst/>
          </a:prstGeom>
          <a:noFill/>
          <a:ln w="12700">
            <a:solidFill>
              <a:srgbClr val="3A4E5B"/>
            </a:solidFill>
            <a:prstDash val="solid"/>
          </a:ln>
        </p:spPr>
      </p:sp>
      <p:sp>
        <p:nvSpPr>
          <p:cNvPr id="27" name="Shape 25"/>
          <p:cNvSpPr/>
          <p:nvPr/>
        </p:nvSpPr>
        <p:spPr>
          <a:xfrm>
            <a:off x="9473184" y="2670048"/>
            <a:ext cx="713232" cy="0"/>
          </a:xfrm>
          <a:prstGeom prst="line">
            <a:avLst/>
          </a:prstGeom>
          <a:noFill/>
          <a:ln w="31750">
            <a:solidFill>
              <a:srgbClr val="7CCFC6"/>
            </a:solidFill>
            <a:prstDash val="solid"/>
          </a:ln>
        </p:spPr>
      </p:sp>
      <p:sp>
        <p:nvSpPr>
          <p:cNvPr id="28" name="Shape 26"/>
          <p:cNvSpPr/>
          <p:nvPr/>
        </p:nvSpPr>
        <p:spPr>
          <a:xfrm>
            <a:off x="9473184" y="2670048"/>
            <a:ext cx="713232" cy="713232"/>
          </a:xfrm>
          <a:prstGeom prst="line">
            <a:avLst/>
          </a:prstGeom>
          <a:noFill/>
          <a:ln w="31750">
            <a:solidFill>
              <a:srgbClr val="7CCFC6"/>
            </a:solidFill>
            <a:prstDash val="solid"/>
          </a:ln>
        </p:spPr>
      </p:sp>
      <p:sp>
        <p:nvSpPr>
          <p:cNvPr id="29" name="Shape 27"/>
          <p:cNvSpPr/>
          <p:nvPr/>
        </p:nvSpPr>
        <p:spPr>
          <a:xfrm>
            <a:off x="9473184" y="2670048"/>
            <a:ext cx="713232" cy="1426464"/>
          </a:xfrm>
          <a:prstGeom prst="line">
            <a:avLst/>
          </a:prstGeom>
          <a:noFill/>
          <a:ln w="12700">
            <a:solidFill>
              <a:srgbClr val="3A4E5B"/>
            </a:solidFill>
            <a:prstDash val="solid"/>
          </a:ln>
        </p:spPr>
      </p:sp>
      <p:sp>
        <p:nvSpPr>
          <p:cNvPr id="30" name="Shape 28"/>
          <p:cNvSpPr/>
          <p:nvPr/>
        </p:nvSpPr>
        <p:spPr>
          <a:xfrm>
            <a:off x="9473184" y="2670048"/>
            <a:ext cx="713232" cy="2139696"/>
          </a:xfrm>
          <a:prstGeom prst="line">
            <a:avLst/>
          </a:prstGeom>
          <a:noFill/>
          <a:ln w="12700">
            <a:solidFill>
              <a:srgbClr val="3A4E5B"/>
            </a:solidFill>
            <a:prstDash val="solid"/>
          </a:ln>
        </p:spPr>
      </p:sp>
      <p:sp>
        <p:nvSpPr>
          <p:cNvPr id="31" name="Shape 29"/>
          <p:cNvSpPr/>
          <p:nvPr/>
        </p:nvSpPr>
        <p:spPr>
          <a:xfrm flipV="1">
            <a:off x="9473184" y="1956816"/>
            <a:ext cx="713232" cy="1426464"/>
          </a:xfrm>
          <a:prstGeom prst="line">
            <a:avLst/>
          </a:prstGeom>
          <a:noFill/>
          <a:ln w="12700">
            <a:solidFill>
              <a:srgbClr val="3A4E5B"/>
            </a:solidFill>
            <a:prstDash val="solid"/>
          </a:ln>
        </p:spPr>
      </p:sp>
      <p:sp>
        <p:nvSpPr>
          <p:cNvPr id="32" name="Shape 30"/>
          <p:cNvSpPr/>
          <p:nvPr/>
        </p:nvSpPr>
        <p:spPr>
          <a:xfrm flipV="1">
            <a:off x="9473184" y="2670048"/>
            <a:ext cx="713232" cy="713232"/>
          </a:xfrm>
          <a:prstGeom prst="line">
            <a:avLst/>
          </a:prstGeom>
          <a:noFill/>
          <a:ln w="12700">
            <a:solidFill>
              <a:srgbClr val="3A4E5B"/>
            </a:solidFill>
            <a:prstDash val="solid"/>
          </a:ln>
        </p:spPr>
      </p:sp>
      <p:sp>
        <p:nvSpPr>
          <p:cNvPr id="33" name="Shape 31"/>
          <p:cNvSpPr/>
          <p:nvPr/>
        </p:nvSpPr>
        <p:spPr>
          <a:xfrm>
            <a:off x="9473184" y="3383280"/>
            <a:ext cx="713232" cy="0"/>
          </a:xfrm>
          <a:prstGeom prst="line">
            <a:avLst/>
          </a:prstGeom>
          <a:noFill/>
          <a:ln w="12700">
            <a:solidFill>
              <a:srgbClr val="3A4E5B"/>
            </a:solidFill>
            <a:prstDash val="solid"/>
          </a:ln>
        </p:spPr>
      </p:sp>
      <p:sp>
        <p:nvSpPr>
          <p:cNvPr id="34" name="Shape 32"/>
          <p:cNvSpPr/>
          <p:nvPr/>
        </p:nvSpPr>
        <p:spPr>
          <a:xfrm>
            <a:off x="9473184" y="3383280"/>
            <a:ext cx="713232" cy="713232"/>
          </a:xfrm>
          <a:prstGeom prst="line">
            <a:avLst/>
          </a:prstGeom>
          <a:noFill/>
          <a:ln w="12700">
            <a:solidFill>
              <a:srgbClr val="3A4E5B"/>
            </a:solidFill>
            <a:prstDash val="solid"/>
          </a:ln>
        </p:spPr>
      </p:sp>
      <p:sp>
        <p:nvSpPr>
          <p:cNvPr id="35" name="Shape 33"/>
          <p:cNvSpPr/>
          <p:nvPr/>
        </p:nvSpPr>
        <p:spPr>
          <a:xfrm>
            <a:off x="9473184" y="3383280"/>
            <a:ext cx="713232" cy="1426464"/>
          </a:xfrm>
          <a:prstGeom prst="line">
            <a:avLst/>
          </a:prstGeom>
          <a:noFill/>
          <a:ln w="12700">
            <a:solidFill>
              <a:srgbClr val="3A4E5B"/>
            </a:solidFill>
            <a:prstDash val="solid"/>
          </a:ln>
        </p:spPr>
      </p:sp>
      <p:sp>
        <p:nvSpPr>
          <p:cNvPr id="36" name="Shape 34"/>
          <p:cNvSpPr/>
          <p:nvPr/>
        </p:nvSpPr>
        <p:spPr>
          <a:xfrm flipV="1">
            <a:off x="9473184" y="1956816"/>
            <a:ext cx="713232" cy="2139696"/>
          </a:xfrm>
          <a:prstGeom prst="line">
            <a:avLst/>
          </a:prstGeom>
          <a:noFill/>
          <a:ln w="12700">
            <a:solidFill>
              <a:srgbClr val="3A4E5B"/>
            </a:solidFill>
            <a:prstDash val="solid"/>
          </a:ln>
        </p:spPr>
      </p:sp>
      <p:sp>
        <p:nvSpPr>
          <p:cNvPr id="37" name="Shape 35"/>
          <p:cNvSpPr/>
          <p:nvPr/>
        </p:nvSpPr>
        <p:spPr>
          <a:xfrm flipV="1">
            <a:off x="9473184" y="2670048"/>
            <a:ext cx="713232" cy="1426464"/>
          </a:xfrm>
          <a:prstGeom prst="line">
            <a:avLst/>
          </a:prstGeom>
          <a:noFill/>
          <a:ln w="12700">
            <a:solidFill>
              <a:srgbClr val="3A4E5B"/>
            </a:solidFill>
            <a:prstDash val="solid"/>
          </a:ln>
        </p:spPr>
      </p:sp>
      <p:sp>
        <p:nvSpPr>
          <p:cNvPr id="38" name="Shape 36"/>
          <p:cNvSpPr/>
          <p:nvPr/>
        </p:nvSpPr>
        <p:spPr>
          <a:xfrm flipV="1">
            <a:off x="9473184" y="3383280"/>
            <a:ext cx="713232" cy="713232"/>
          </a:xfrm>
          <a:prstGeom prst="line">
            <a:avLst/>
          </a:prstGeom>
          <a:noFill/>
          <a:ln w="12700">
            <a:solidFill>
              <a:srgbClr val="3A4E5B"/>
            </a:solidFill>
            <a:prstDash val="solid"/>
          </a:ln>
        </p:spPr>
      </p:sp>
      <p:sp>
        <p:nvSpPr>
          <p:cNvPr id="39" name="Shape 37"/>
          <p:cNvSpPr/>
          <p:nvPr/>
        </p:nvSpPr>
        <p:spPr>
          <a:xfrm>
            <a:off x="9473184" y="4096512"/>
            <a:ext cx="713232" cy="0"/>
          </a:xfrm>
          <a:prstGeom prst="line">
            <a:avLst/>
          </a:prstGeom>
          <a:noFill/>
          <a:ln w="12700">
            <a:solidFill>
              <a:srgbClr val="3A4E5B"/>
            </a:solidFill>
            <a:prstDash val="solid"/>
          </a:ln>
        </p:spPr>
      </p:sp>
      <p:sp>
        <p:nvSpPr>
          <p:cNvPr id="40" name="Shape 38"/>
          <p:cNvSpPr/>
          <p:nvPr/>
        </p:nvSpPr>
        <p:spPr>
          <a:xfrm>
            <a:off x="9473184" y="4096512"/>
            <a:ext cx="713232" cy="713232"/>
          </a:xfrm>
          <a:prstGeom prst="line">
            <a:avLst/>
          </a:prstGeom>
          <a:noFill/>
          <a:ln w="12700">
            <a:solidFill>
              <a:srgbClr val="3A4E5B"/>
            </a:solidFill>
            <a:prstDash val="solid"/>
          </a:ln>
        </p:spPr>
      </p:sp>
      <p:sp>
        <p:nvSpPr>
          <p:cNvPr id="41" name="Shape 39"/>
          <p:cNvSpPr/>
          <p:nvPr/>
        </p:nvSpPr>
        <p:spPr>
          <a:xfrm flipV="1">
            <a:off x="9473184" y="1956816"/>
            <a:ext cx="713232" cy="2852928"/>
          </a:xfrm>
          <a:prstGeom prst="line">
            <a:avLst/>
          </a:prstGeom>
          <a:noFill/>
          <a:ln w="12700">
            <a:solidFill>
              <a:srgbClr val="3A4E5B"/>
            </a:solidFill>
            <a:prstDash val="solid"/>
          </a:ln>
        </p:spPr>
      </p:sp>
      <p:sp>
        <p:nvSpPr>
          <p:cNvPr id="42" name="Shape 40"/>
          <p:cNvSpPr/>
          <p:nvPr/>
        </p:nvSpPr>
        <p:spPr>
          <a:xfrm flipV="1">
            <a:off x="9473184" y="2670048"/>
            <a:ext cx="713232" cy="2139696"/>
          </a:xfrm>
          <a:prstGeom prst="line">
            <a:avLst/>
          </a:prstGeom>
          <a:noFill/>
          <a:ln w="12700">
            <a:solidFill>
              <a:srgbClr val="3A4E5B"/>
            </a:solidFill>
            <a:prstDash val="solid"/>
          </a:ln>
        </p:spPr>
      </p:sp>
      <p:sp>
        <p:nvSpPr>
          <p:cNvPr id="43" name="Shape 41"/>
          <p:cNvSpPr/>
          <p:nvPr/>
        </p:nvSpPr>
        <p:spPr>
          <a:xfrm flipV="1">
            <a:off x="9473184" y="3383280"/>
            <a:ext cx="713232" cy="1426464"/>
          </a:xfrm>
          <a:prstGeom prst="line">
            <a:avLst/>
          </a:prstGeom>
          <a:noFill/>
          <a:ln w="12700">
            <a:solidFill>
              <a:srgbClr val="3A4E5B"/>
            </a:solidFill>
            <a:prstDash val="solid"/>
          </a:ln>
        </p:spPr>
      </p:sp>
      <p:sp>
        <p:nvSpPr>
          <p:cNvPr id="44" name="Shape 42"/>
          <p:cNvSpPr/>
          <p:nvPr/>
        </p:nvSpPr>
        <p:spPr>
          <a:xfrm flipV="1">
            <a:off x="9473184" y="4096512"/>
            <a:ext cx="713232" cy="713232"/>
          </a:xfrm>
          <a:prstGeom prst="line">
            <a:avLst/>
          </a:prstGeom>
          <a:noFill/>
          <a:ln w="12700">
            <a:solidFill>
              <a:srgbClr val="3A4E5B"/>
            </a:solidFill>
            <a:prstDash val="solid"/>
          </a:ln>
        </p:spPr>
      </p:sp>
      <p:sp>
        <p:nvSpPr>
          <p:cNvPr id="45" name="Shape 43"/>
          <p:cNvSpPr/>
          <p:nvPr/>
        </p:nvSpPr>
        <p:spPr>
          <a:xfrm>
            <a:off x="9473184" y="4809744"/>
            <a:ext cx="713232" cy="0"/>
          </a:xfrm>
          <a:prstGeom prst="line">
            <a:avLst/>
          </a:prstGeom>
          <a:noFill/>
          <a:ln w="12700">
            <a:solidFill>
              <a:srgbClr val="3A4E5B"/>
            </a:solidFill>
            <a:prstDash val="solid"/>
          </a:ln>
        </p:spPr>
      </p:sp>
      <p:sp>
        <p:nvSpPr>
          <p:cNvPr id="46" name="Shape 44"/>
          <p:cNvSpPr/>
          <p:nvPr/>
        </p:nvSpPr>
        <p:spPr>
          <a:xfrm>
            <a:off x="10497312" y="1956816"/>
            <a:ext cx="713232" cy="1069848"/>
          </a:xfrm>
          <a:prstGeom prst="line">
            <a:avLst/>
          </a:prstGeom>
          <a:noFill/>
          <a:ln w="12700">
            <a:solidFill>
              <a:srgbClr val="3A4E5B"/>
            </a:solidFill>
            <a:prstDash val="solid"/>
          </a:ln>
        </p:spPr>
      </p:sp>
      <p:sp>
        <p:nvSpPr>
          <p:cNvPr id="47" name="Shape 45"/>
          <p:cNvSpPr/>
          <p:nvPr/>
        </p:nvSpPr>
        <p:spPr>
          <a:xfrm>
            <a:off x="10497312" y="1956816"/>
            <a:ext cx="713232" cy="1783080"/>
          </a:xfrm>
          <a:prstGeom prst="line">
            <a:avLst/>
          </a:prstGeom>
          <a:noFill/>
          <a:ln w="12700">
            <a:solidFill>
              <a:srgbClr val="3A4E5B"/>
            </a:solidFill>
            <a:prstDash val="solid"/>
          </a:ln>
        </p:spPr>
      </p:sp>
      <p:sp>
        <p:nvSpPr>
          <p:cNvPr id="48" name="Shape 46"/>
          <p:cNvSpPr/>
          <p:nvPr/>
        </p:nvSpPr>
        <p:spPr>
          <a:xfrm>
            <a:off x="10497312" y="2670048"/>
            <a:ext cx="713232" cy="356616"/>
          </a:xfrm>
          <a:prstGeom prst="line">
            <a:avLst/>
          </a:prstGeom>
          <a:noFill/>
          <a:ln w="12700">
            <a:solidFill>
              <a:srgbClr val="3A4E5B"/>
            </a:solidFill>
            <a:prstDash val="solid"/>
          </a:ln>
        </p:spPr>
      </p:sp>
      <p:sp>
        <p:nvSpPr>
          <p:cNvPr id="49" name="Shape 47"/>
          <p:cNvSpPr/>
          <p:nvPr/>
        </p:nvSpPr>
        <p:spPr>
          <a:xfrm>
            <a:off x="10497312" y="2670048"/>
            <a:ext cx="713232" cy="1069848"/>
          </a:xfrm>
          <a:prstGeom prst="line">
            <a:avLst/>
          </a:prstGeom>
          <a:noFill/>
          <a:ln w="12700">
            <a:solidFill>
              <a:srgbClr val="3A4E5B"/>
            </a:solidFill>
            <a:prstDash val="solid"/>
          </a:ln>
        </p:spPr>
      </p:sp>
      <p:sp>
        <p:nvSpPr>
          <p:cNvPr id="50" name="Shape 48"/>
          <p:cNvSpPr/>
          <p:nvPr/>
        </p:nvSpPr>
        <p:spPr>
          <a:xfrm flipV="1">
            <a:off x="10497312" y="3026664"/>
            <a:ext cx="713232" cy="356616"/>
          </a:xfrm>
          <a:prstGeom prst="line">
            <a:avLst/>
          </a:prstGeom>
          <a:noFill/>
          <a:ln w="31750">
            <a:solidFill>
              <a:srgbClr val="7CCFC6"/>
            </a:solidFill>
            <a:prstDash val="solid"/>
          </a:ln>
        </p:spPr>
      </p:sp>
      <p:sp>
        <p:nvSpPr>
          <p:cNvPr id="51" name="Shape 49"/>
          <p:cNvSpPr/>
          <p:nvPr/>
        </p:nvSpPr>
        <p:spPr>
          <a:xfrm>
            <a:off x="10497312" y="3383280"/>
            <a:ext cx="713232" cy="356616"/>
          </a:xfrm>
          <a:prstGeom prst="line">
            <a:avLst/>
          </a:prstGeom>
          <a:noFill/>
          <a:ln w="12700">
            <a:solidFill>
              <a:srgbClr val="3A4E5B"/>
            </a:solidFill>
            <a:prstDash val="solid"/>
          </a:ln>
        </p:spPr>
      </p:sp>
      <p:sp>
        <p:nvSpPr>
          <p:cNvPr id="52" name="Shape 50"/>
          <p:cNvSpPr/>
          <p:nvPr/>
        </p:nvSpPr>
        <p:spPr>
          <a:xfrm flipV="1">
            <a:off x="10497312" y="3026664"/>
            <a:ext cx="713232" cy="1069848"/>
          </a:xfrm>
          <a:prstGeom prst="line">
            <a:avLst/>
          </a:prstGeom>
          <a:noFill/>
          <a:ln w="12700">
            <a:solidFill>
              <a:srgbClr val="3A4E5B"/>
            </a:solidFill>
            <a:prstDash val="solid"/>
          </a:ln>
        </p:spPr>
      </p:sp>
      <p:sp>
        <p:nvSpPr>
          <p:cNvPr id="53" name="Shape 51"/>
          <p:cNvSpPr/>
          <p:nvPr/>
        </p:nvSpPr>
        <p:spPr>
          <a:xfrm flipV="1">
            <a:off x="10497312" y="3739896"/>
            <a:ext cx="713232" cy="356616"/>
          </a:xfrm>
          <a:prstGeom prst="line">
            <a:avLst/>
          </a:prstGeom>
          <a:noFill/>
          <a:ln w="12700">
            <a:solidFill>
              <a:srgbClr val="3A4E5B"/>
            </a:solidFill>
            <a:prstDash val="solid"/>
          </a:ln>
        </p:spPr>
      </p:sp>
      <p:sp>
        <p:nvSpPr>
          <p:cNvPr id="54" name="Shape 52"/>
          <p:cNvSpPr/>
          <p:nvPr/>
        </p:nvSpPr>
        <p:spPr>
          <a:xfrm flipV="1">
            <a:off x="10497312" y="3026664"/>
            <a:ext cx="713232" cy="1783080"/>
          </a:xfrm>
          <a:prstGeom prst="line">
            <a:avLst/>
          </a:prstGeom>
          <a:noFill/>
          <a:ln w="12700">
            <a:solidFill>
              <a:srgbClr val="3A4E5B"/>
            </a:solidFill>
            <a:prstDash val="solid"/>
          </a:ln>
        </p:spPr>
      </p:sp>
      <p:sp>
        <p:nvSpPr>
          <p:cNvPr id="55" name="Shape 53"/>
          <p:cNvSpPr/>
          <p:nvPr/>
        </p:nvSpPr>
        <p:spPr>
          <a:xfrm flipV="1">
            <a:off x="10497312" y="3739896"/>
            <a:ext cx="713232" cy="1069848"/>
          </a:xfrm>
          <a:prstGeom prst="line">
            <a:avLst/>
          </a:prstGeom>
          <a:noFill/>
          <a:ln w="12700">
            <a:solidFill>
              <a:srgbClr val="3A4E5B"/>
            </a:solidFill>
            <a:prstDash val="solid"/>
          </a:ln>
        </p:spPr>
      </p:sp>
      <p:sp>
        <p:nvSpPr>
          <p:cNvPr id="56" name="Shape 54"/>
          <p:cNvSpPr/>
          <p:nvPr/>
        </p:nvSpPr>
        <p:spPr>
          <a:xfrm flipH="1">
            <a:off x="10497312" y="3739896"/>
            <a:ext cx="713232" cy="356616"/>
          </a:xfrm>
          <a:prstGeom prst="line">
            <a:avLst/>
          </a:prstGeom>
          <a:noFill/>
          <a:ln w="31750">
            <a:solidFill>
              <a:srgbClr val="D45D27"/>
            </a:solidFill>
            <a:prstDash val="solid"/>
          </a:ln>
        </p:spPr>
      </p:sp>
      <p:sp>
        <p:nvSpPr>
          <p:cNvPr id="57" name="Shape 55"/>
          <p:cNvSpPr/>
          <p:nvPr/>
        </p:nvSpPr>
        <p:spPr>
          <a:xfrm flipH="1">
            <a:off x="9473184" y="4096512"/>
            <a:ext cx="713232" cy="0"/>
          </a:xfrm>
          <a:prstGeom prst="line">
            <a:avLst/>
          </a:prstGeom>
          <a:noFill/>
          <a:ln w="31750">
            <a:solidFill>
              <a:srgbClr val="D45D27"/>
            </a:solidFill>
            <a:prstDash val="solid"/>
          </a:ln>
        </p:spPr>
      </p:sp>
      <p:sp>
        <p:nvSpPr>
          <p:cNvPr id="58" name="Shape 56"/>
          <p:cNvSpPr/>
          <p:nvPr/>
        </p:nvSpPr>
        <p:spPr>
          <a:xfrm>
            <a:off x="8138160" y="2514600"/>
            <a:ext cx="310896" cy="310896"/>
          </a:xfrm>
          <a:prstGeom prst="ellipse">
            <a:avLst/>
          </a:prstGeom>
          <a:solidFill>
            <a:srgbClr val="1F3440"/>
          </a:solidFill>
          <a:ln w="19050">
            <a:solidFill>
              <a:srgbClr val="7CCFC6"/>
            </a:solidFill>
            <a:prstDash val="solid"/>
          </a:ln>
        </p:spPr>
      </p:sp>
      <p:sp>
        <p:nvSpPr>
          <p:cNvPr id="59" name="Shape 57"/>
          <p:cNvSpPr/>
          <p:nvPr/>
        </p:nvSpPr>
        <p:spPr>
          <a:xfrm>
            <a:off x="8138160" y="3227832"/>
            <a:ext cx="310896" cy="310896"/>
          </a:xfrm>
          <a:prstGeom prst="ellipse">
            <a:avLst/>
          </a:prstGeom>
          <a:solidFill>
            <a:srgbClr val="1F3440"/>
          </a:solidFill>
          <a:ln w="19050">
            <a:solidFill>
              <a:srgbClr val="7CCFC6"/>
            </a:solidFill>
            <a:prstDash val="solid"/>
          </a:ln>
        </p:spPr>
      </p:sp>
      <p:sp>
        <p:nvSpPr>
          <p:cNvPr id="60" name="Shape 58"/>
          <p:cNvSpPr/>
          <p:nvPr/>
        </p:nvSpPr>
        <p:spPr>
          <a:xfrm>
            <a:off x="8138160" y="3941064"/>
            <a:ext cx="310896" cy="310896"/>
          </a:xfrm>
          <a:prstGeom prst="ellipse">
            <a:avLst/>
          </a:prstGeom>
          <a:solidFill>
            <a:srgbClr val="1F3440"/>
          </a:solidFill>
          <a:ln w="19050">
            <a:solidFill>
              <a:srgbClr val="7CCFC6"/>
            </a:solidFill>
            <a:prstDash val="solid"/>
          </a:ln>
        </p:spPr>
      </p:sp>
      <p:sp>
        <p:nvSpPr>
          <p:cNvPr id="61" name="Shape 59"/>
          <p:cNvSpPr/>
          <p:nvPr/>
        </p:nvSpPr>
        <p:spPr>
          <a:xfrm>
            <a:off x="9162288" y="1801368"/>
            <a:ext cx="310896" cy="310896"/>
          </a:xfrm>
          <a:prstGeom prst="ellipse">
            <a:avLst/>
          </a:prstGeom>
          <a:solidFill>
            <a:srgbClr val="1F3440"/>
          </a:solidFill>
          <a:ln w="19050">
            <a:solidFill>
              <a:srgbClr val="7CCFC6"/>
            </a:solidFill>
            <a:prstDash val="solid"/>
          </a:ln>
        </p:spPr>
      </p:sp>
      <p:sp>
        <p:nvSpPr>
          <p:cNvPr id="62" name="Shape 60"/>
          <p:cNvSpPr/>
          <p:nvPr/>
        </p:nvSpPr>
        <p:spPr>
          <a:xfrm>
            <a:off x="9162288" y="2514600"/>
            <a:ext cx="310896" cy="310896"/>
          </a:xfrm>
          <a:prstGeom prst="ellipse">
            <a:avLst/>
          </a:prstGeom>
          <a:solidFill>
            <a:srgbClr val="1F3440"/>
          </a:solidFill>
          <a:ln w="19050">
            <a:solidFill>
              <a:srgbClr val="7CCFC6"/>
            </a:solidFill>
            <a:prstDash val="solid"/>
          </a:ln>
        </p:spPr>
      </p:sp>
      <p:sp>
        <p:nvSpPr>
          <p:cNvPr id="63" name="Shape 61"/>
          <p:cNvSpPr/>
          <p:nvPr/>
        </p:nvSpPr>
        <p:spPr>
          <a:xfrm>
            <a:off x="9162288" y="3227832"/>
            <a:ext cx="310896" cy="310896"/>
          </a:xfrm>
          <a:prstGeom prst="ellipse">
            <a:avLst/>
          </a:prstGeom>
          <a:solidFill>
            <a:srgbClr val="1F3440"/>
          </a:solidFill>
          <a:ln w="19050">
            <a:solidFill>
              <a:srgbClr val="7CCFC6"/>
            </a:solidFill>
            <a:prstDash val="solid"/>
          </a:ln>
        </p:spPr>
      </p:sp>
      <p:sp>
        <p:nvSpPr>
          <p:cNvPr id="64" name="Shape 62"/>
          <p:cNvSpPr/>
          <p:nvPr/>
        </p:nvSpPr>
        <p:spPr>
          <a:xfrm>
            <a:off x="9162288" y="3941064"/>
            <a:ext cx="310896" cy="310896"/>
          </a:xfrm>
          <a:prstGeom prst="ellipse">
            <a:avLst/>
          </a:prstGeom>
          <a:solidFill>
            <a:srgbClr val="1F3440"/>
          </a:solidFill>
          <a:ln w="19050">
            <a:solidFill>
              <a:srgbClr val="7CCFC6"/>
            </a:solidFill>
            <a:prstDash val="solid"/>
          </a:ln>
        </p:spPr>
      </p:sp>
      <p:sp>
        <p:nvSpPr>
          <p:cNvPr id="65" name="Shape 63"/>
          <p:cNvSpPr/>
          <p:nvPr/>
        </p:nvSpPr>
        <p:spPr>
          <a:xfrm>
            <a:off x="9162288" y="4654296"/>
            <a:ext cx="310896" cy="310896"/>
          </a:xfrm>
          <a:prstGeom prst="ellipse">
            <a:avLst/>
          </a:prstGeom>
          <a:solidFill>
            <a:srgbClr val="1F3440"/>
          </a:solidFill>
          <a:ln w="19050">
            <a:solidFill>
              <a:srgbClr val="7CCFC6"/>
            </a:solidFill>
            <a:prstDash val="solid"/>
          </a:ln>
        </p:spPr>
      </p:sp>
      <p:sp>
        <p:nvSpPr>
          <p:cNvPr id="66" name="Shape 64"/>
          <p:cNvSpPr/>
          <p:nvPr/>
        </p:nvSpPr>
        <p:spPr>
          <a:xfrm>
            <a:off x="10186416" y="1801368"/>
            <a:ext cx="310896" cy="310896"/>
          </a:xfrm>
          <a:prstGeom prst="ellipse">
            <a:avLst/>
          </a:prstGeom>
          <a:solidFill>
            <a:srgbClr val="1F3440"/>
          </a:solidFill>
          <a:ln w="19050">
            <a:solidFill>
              <a:srgbClr val="7CCFC6"/>
            </a:solidFill>
            <a:prstDash val="solid"/>
          </a:ln>
        </p:spPr>
      </p:sp>
      <p:sp>
        <p:nvSpPr>
          <p:cNvPr id="67" name="Shape 65"/>
          <p:cNvSpPr/>
          <p:nvPr/>
        </p:nvSpPr>
        <p:spPr>
          <a:xfrm>
            <a:off x="10186416" y="2514600"/>
            <a:ext cx="310896" cy="310896"/>
          </a:xfrm>
          <a:prstGeom prst="ellipse">
            <a:avLst/>
          </a:prstGeom>
          <a:solidFill>
            <a:srgbClr val="1F3440"/>
          </a:solidFill>
          <a:ln w="19050">
            <a:solidFill>
              <a:srgbClr val="7CCFC6"/>
            </a:solidFill>
            <a:prstDash val="solid"/>
          </a:ln>
        </p:spPr>
      </p:sp>
      <p:sp>
        <p:nvSpPr>
          <p:cNvPr id="68" name="Shape 66"/>
          <p:cNvSpPr/>
          <p:nvPr/>
        </p:nvSpPr>
        <p:spPr>
          <a:xfrm>
            <a:off x="10186416" y="3227832"/>
            <a:ext cx="310896" cy="310896"/>
          </a:xfrm>
          <a:prstGeom prst="ellipse">
            <a:avLst/>
          </a:prstGeom>
          <a:solidFill>
            <a:srgbClr val="1F3440"/>
          </a:solidFill>
          <a:ln w="19050">
            <a:solidFill>
              <a:srgbClr val="7CCFC6"/>
            </a:solidFill>
            <a:prstDash val="solid"/>
          </a:ln>
        </p:spPr>
      </p:sp>
      <p:sp>
        <p:nvSpPr>
          <p:cNvPr id="69" name="Shape 67"/>
          <p:cNvSpPr/>
          <p:nvPr/>
        </p:nvSpPr>
        <p:spPr>
          <a:xfrm>
            <a:off x="10186416" y="3941064"/>
            <a:ext cx="310896" cy="310896"/>
          </a:xfrm>
          <a:prstGeom prst="ellipse">
            <a:avLst/>
          </a:prstGeom>
          <a:solidFill>
            <a:srgbClr val="1F3440"/>
          </a:solidFill>
          <a:ln w="19050">
            <a:solidFill>
              <a:srgbClr val="7CCFC6"/>
            </a:solidFill>
            <a:prstDash val="solid"/>
          </a:ln>
        </p:spPr>
      </p:sp>
      <p:sp>
        <p:nvSpPr>
          <p:cNvPr id="70" name="Shape 68"/>
          <p:cNvSpPr/>
          <p:nvPr/>
        </p:nvSpPr>
        <p:spPr>
          <a:xfrm>
            <a:off x="10186416" y="4654296"/>
            <a:ext cx="310896" cy="310896"/>
          </a:xfrm>
          <a:prstGeom prst="ellipse">
            <a:avLst/>
          </a:prstGeom>
          <a:solidFill>
            <a:srgbClr val="1F3440"/>
          </a:solidFill>
          <a:ln w="19050">
            <a:solidFill>
              <a:srgbClr val="7CCFC6"/>
            </a:solidFill>
            <a:prstDash val="solid"/>
          </a:ln>
        </p:spPr>
      </p:sp>
      <p:sp>
        <p:nvSpPr>
          <p:cNvPr id="71" name="Shape 69"/>
          <p:cNvSpPr/>
          <p:nvPr/>
        </p:nvSpPr>
        <p:spPr>
          <a:xfrm>
            <a:off x="11210544" y="2871216"/>
            <a:ext cx="310896" cy="310896"/>
          </a:xfrm>
          <a:prstGeom prst="ellipse">
            <a:avLst/>
          </a:prstGeom>
          <a:solidFill>
            <a:srgbClr val="1F3440"/>
          </a:solidFill>
          <a:ln w="19050">
            <a:solidFill>
              <a:srgbClr val="7CCFC6"/>
            </a:solidFill>
            <a:prstDash val="solid"/>
          </a:ln>
        </p:spPr>
      </p:sp>
      <p:sp>
        <p:nvSpPr>
          <p:cNvPr id="72" name="Shape 70"/>
          <p:cNvSpPr/>
          <p:nvPr/>
        </p:nvSpPr>
        <p:spPr>
          <a:xfrm>
            <a:off x="11210544" y="3584448"/>
            <a:ext cx="310896" cy="310896"/>
          </a:xfrm>
          <a:prstGeom prst="ellipse">
            <a:avLst/>
          </a:prstGeom>
          <a:solidFill>
            <a:srgbClr val="1F3440"/>
          </a:solidFill>
          <a:ln w="19050">
            <a:solidFill>
              <a:srgbClr val="7CCFC6"/>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LECTURE 3 · ROADMAP</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Today: four tools that make depth work</a:t>
            </a:r>
            <a:endParaRPr lang="en-US" sz="3000" dirty="0"/>
          </a:p>
        </p:txBody>
      </p:sp>
      <p:sp>
        <p:nvSpPr>
          <p:cNvPr id="5" name="Shape 2"/>
          <p:cNvSpPr/>
          <p:nvPr/>
        </p:nvSpPr>
        <p:spPr>
          <a:xfrm>
            <a:off x="822960" y="1920240"/>
            <a:ext cx="0" cy="3346704"/>
          </a:xfrm>
          <a:prstGeom prst="line">
            <a:avLst/>
          </a:prstGeom>
          <a:noFill/>
          <a:ln w="25400">
            <a:solidFill>
              <a:schemeClr val="accent1">
                <a:alpha val="50000"/>
              </a:schemeClr>
            </a:solidFill>
            <a:prstDash val="solid"/>
          </a:ln>
        </p:spPr>
      </p:sp>
      <p:sp>
        <p:nvSpPr>
          <p:cNvPr id="6" name="Shape 3"/>
          <p:cNvSpPr/>
          <p:nvPr/>
        </p:nvSpPr>
        <p:spPr>
          <a:xfrm>
            <a:off x="548640" y="1645920"/>
            <a:ext cx="548640" cy="548640"/>
          </a:xfrm>
          <a:prstGeom prst="ellipse">
            <a:avLst/>
          </a:prstGeom>
          <a:solidFill>
            <a:schemeClr val="accent1"/>
          </a:solidFill>
          <a:ln w="25400">
            <a:solidFill>
              <a:schemeClr val="bg1"/>
            </a:solidFill>
            <a:prstDash val="solid"/>
          </a:ln>
        </p:spPr>
      </p:sp>
      <p:sp>
        <p:nvSpPr>
          <p:cNvPr id="7" name="Text 4"/>
          <p:cNvSpPr txBox="1"/>
          <p:nvPr/>
        </p:nvSpPr>
        <p:spPr>
          <a:xfrm>
            <a:off x="548640" y="164592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§9</a:t>
            </a:r>
            <a:endParaRPr lang="en-US" sz="1400" dirty="0"/>
          </a:p>
        </p:txBody>
      </p:sp>
      <p:sp>
        <p:nvSpPr>
          <p:cNvPr id="8" name="Text 5"/>
          <p:cNvSpPr txBox="1"/>
          <p:nvPr/>
        </p:nvSpPr>
        <p:spPr>
          <a:xfrm>
            <a:off x="1325880" y="1682496"/>
            <a:ext cx="5989320"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Vanishing gradients and initialization</a:t>
            </a:r>
            <a:endParaRPr lang="en-US" sz="1900" dirty="0"/>
          </a:p>
        </p:txBody>
      </p:sp>
      <p:sp>
        <p:nvSpPr>
          <p:cNvPr id="9" name="Text 6"/>
          <p:cNvSpPr txBox="1"/>
          <p:nvPr/>
        </p:nvSpPr>
        <p:spPr>
          <a:xfrm>
            <a:off x="1325880" y="1985518"/>
            <a:ext cx="5989320" cy="739394"/>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Derive Xavier and He initialization from a variance argument.</a:t>
            </a:r>
            <a:endParaRPr lang="en-US" sz="1600" dirty="0"/>
          </a:p>
        </p:txBody>
      </p:sp>
      <p:sp>
        <p:nvSpPr>
          <p:cNvPr id="10" name="Shape 7"/>
          <p:cNvSpPr/>
          <p:nvPr/>
        </p:nvSpPr>
        <p:spPr>
          <a:xfrm>
            <a:off x="548640" y="2761488"/>
            <a:ext cx="548640" cy="548640"/>
          </a:xfrm>
          <a:prstGeom prst="ellipse">
            <a:avLst/>
          </a:prstGeom>
          <a:solidFill>
            <a:schemeClr val="accent1"/>
          </a:solidFill>
          <a:ln w="25400">
            <a:solidFill>
              <a:schemeClr val="bg1"/>
            </a:solidFill>
            <a:prstDash val="solid"/>
          </a:ln>
        </p:spPr>
      </p:sp>
      <p:sp>
        <p:nvSpPr>
          <p:cNvPr id="11" name="Text 8"/>
          <p:cNvSpPr txBox="1"/>
          <p:nvPr/>
        </p:nvSpPr>
        <p:spPr>
          <a:xfrm>
            <a:off x="548640" y="2761488"/>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§10</a:t>
            </a:r>
            <a:endParaRPr lang="en-US" sz="1400" dirty="0"/>
          </a:p>
        </p:txBody>
      </p:sp>
      <p:sp>
        <p:nvSpPr>
          <p:cNvPr id="12" name="Text 9"/>
          <p:cNvSpPr txBox="1"/>
          <p:nvPr/>
        </p:nvSpPr>
        <p:spPr>
          <a:xfrm>
            <a:off x="1325880" y="2798064"/>
            <a:ext cx="5989320"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Optimizers</a:t>
            </a:r>
            <a:endParaRPr lang="en-US" sz="1900" dirty="0"/>
          </a:p>
        </p:txBody>
      </p:sp>
      <p:sp>
        <p:nvSpPr>
          <p:cNvPr id="13" name="Text 10"/>
          <p:cNvSpPr txBox="1"/>
          <p:nvPr/>
        </p:nvSpPr>
        <p:spPr>
          <a:xfrm>
            <a:off x="1325880" y="3101086"/>
            <a:ext cx="5989320" cy="739394"/>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Momentum, RMSProp, Adam’s bias correction, AdamW, schedules.</a:t>
            </a:r>
            <a:endParaRPr lang="en-US" sz="1600" dirty="0"/>
          </a:p>
        </p:txBody>
      </p:sp>
      <p:sp>
        <p:nvSpPr>
          <p:cNvPr id="14" name="Shape 11"/>
          <p:cNvSpPr/>
          <p:nvPr/>
        </p:nvSpPr>
        <p:spPr>
          <a:xfrm>
            <a:off x="548640" y="3877056"/>
            <a:ext cx="548640" cy="548640"/>
          </a:xfrm>
          <a:prstGeom prst="ellipse">
            <a:avLst/>
          </a:prstGeom>
          <a:solidFill>
            <a:schemeClr val="accent1"/>
          </a:solidFill>
          <a:ln w="25400">
            <a:solidFill>
              <a:schemeClr val="bg1"/>
            </a:solidFill>
            <a:prstDash val="solid"/>
          </a:ln>
        </p:spPr>
      </p:sp>
      <p:sp>
        <p:nvSpPr>
          <p:cNvPr id="15" name="Text 12"/>
          <p:cNvSpPr txBox="1"/>
          <p:nvPr/>
        </p:nvSpPr>
        <p:spPr>
          <a:xfrm>
            <a:off x="548640" y="3877056"/>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§11</a:t>
            </a:r>
            <a:endParaRPr lang="en-US" sz="1400" dirty="0"/>
          </a:p>
        </p:txBody>
      </p:sp>
      <p:sp>
        <p:nvSpPr>
          <p:cNvPr id="16" name="Text 13"/>
          <p:cNvSpPr txBox="1"/>
          <p:nvPr/>
        </p:nvSpPr>
        <p:spPr>
          <a:xfrm>
            <a:off x="1325880" y="3913632"/>
            <a:ext cx="5989320"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Normalization layers</a:t>
            </a:r>
            <a:endParaRPr lang="en-US" sz="1900" dirty="0"/>
          </a:p>
        </p:txBody>
      </p:sp>
      <p:sp>
        <p:nvSpPr>
          <p:cNvPr id="17" name="Text 14"/>
          <p:cNvSpPr txBox="1"/>
          <p:nvPr/>
        </p:nvSpPr>
        <p:spPr>
          <a:xfrm>
            <a:off x="1325880" y="4216654"/>
            <a:ext cx="5989320" cy="739394"/>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BatchNorm in train and eval modes; when to use LayerNorm or GroupNorm.</a:t>
            </a:r>
            <a:endParaRPr lang="en-US" sz="1600" dirty="0"/>
          </a:p>
        </p:txBody>
      </p:sp>
      <p:sp>
        <p:nvSpPr>
          <p:cNvPr id="18" name="Shape 15"/>
          <p:cNvSpPr/>
          <p:nvPr/>
        </p:nvSpPr>
        <p:spPr>
          <a:xfrm>
            <a:off x="548640" y="4992624"/>
            <a:ext cx="548640" cy="548640"/>
          </a:xfrm>
          <a:prstGeom prst="ellipse">
            <a:avLst/>
          </a:prstGeom>
          <a:solidFill>
            <a:schemeClr val="accent1"/>
          </a:solidFill>
          <a:ln w="25400">
            <a:solidFill>
              <a:schemeClr val="bg1"/>
            </a:solidFill>
            <a:prstDash val="solid"/>
          </a:ln>
        </p:spPr>
      </p:sp>
      <p:sp>
        <p:nvSpPr>
          <p:cNvPr id="19" name="Text 16"/>
          <p:cNvSpPr txBox="1"/>
          <p:nvPr/>
        </p:nvSpPr>
        <p:spPr>
          <a:xfrm>
            <a:off x="548640" y="4992624"/>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§12</a:t>
            </a:r>
            <a:endParaRPr lang="en-US" sz="1400" dirty="0"/>
          </a:p>
        </p:txBody>
      </p:sp>
      <p:sp>
        <p:nvSpPr>
          <p:cNvPr id="20" name="Text 17"/>
          <p:cNvSpPr txBox="1"/>
          <p:nvPr/>
        </p:nvSpPr>
        <p:spPr>
          <a:xfrm>
            <a:off x="1325880" y="5029200"/>
            <a:ext cx="5989320"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Regularization and generalization</a:t>
            </a:r>
            <a:endParaRPr lang="en-US" sz="1900" dirty="0"/>
          </a:p>
        </p:txBody>
      </p:sp>
      <p:sp>
        <p:nvSpPr>
          <p:cNvPr id="21" name="Text 18"/>
          <p:cNvSpPr txBox="1"/>
          <p:nvPr/>
        </p:nvSpPr>
        <p:spPr>
          <a:xfrm>
            <a:off x="1325880" y="5332222"/>
            <a:ext cx="5989320" cy="739394"/>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Diagnose overfitting and choose remedies in order of impact.</a:t>
            </a:r>
            <a:endParaRPr lang="en-US" sz="1600" dirty="0"/>
          </a:p>
        </p:txBody>
      </p:sp>
      <p:sp>
        <p:nvSpPr>
          <p:cNvPr id="22" name="Shape 19"/>
          <p:cNvSpPr/>
          <p:nvPr/>
        </p:nvSpPr>
        <p:spPr>
          <a:xfrm>
            <a:off x="7818120" y="1645920"/>
            <a:ext cx="3822192" cy="1349248"/>
          </a:xfrm>
          <a:prstGeom prst="roundRect">
            <a:avLst>
              <a:gd name="adj" fmla="val 5422"/>
            </a:avLst>
          </a:prstGeom>
          <a:solidFill>
            <a:schemeClr val="accent1">
              <a:alpha val="10000"/>
            </a:schemeClr>
          </a:solidFill>
          <a:ln w="12700">
            <a:solidFill>
              <a:schemeClr val="accent1">
                <a:alpha val="10000"/>
              </a:schemeClr>
            </a:solidFill>
            <a:prstDash val="solid"/>
          </a:ln>
        </p:spPr>
      </p:sp>
      <p:sp>
        <p:nvSpPr>
          <p:cNvPr id="23" name="Text 20"/>
          <p:cNvSpPr txBox="1"/>
          <p:nvPr/>
        </p:nvSpPr>
        <p:spPr>
          <a:xfrm>
            <a:off x="8046720" y="1792224"/>
            <a:ext cx="3364992"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RECALL FROM LECTURE 2</a:t>
            </a:r>
            <a:endParaRPr lang="en-US" sz="1200" dirty="0"/>
          </a:p>
        </p:txBody>
      </p:sp>
      <p:sp>
        <p:nvSpPr>
          <p:cNvPr id="24" name="Text 21"/>
          <p:cNvSpPr txBox="1"/>
          <p:nvPr/>
        </p:nvSpPr>
        <p:spPr>
          <a:xfrm>
            <a:off x="8046720" y="2221992"/>
            <a:ext cx="3364992" cy="581152"/>
          </a:xfrm>
          <a:prstGeom prst="rect">
            <a:avLst/>
          </a:prstGeom>
          <a:noFill/>
          <a:ln/>
        </p:spPr>
        <p:txBody>
          <a:bodyPr wrap="square" lIns="0" tIns="0" rIns="0" bIns="0" rtlCol="0" anchor="t"/>
          <a:lstStyle/>
          <a:p>
            <a:pPr algn="l" indent="0" marL="0">
              <a:lnSpc>
                <a:spcPct val="112000"/>
              </a:lnSpc>
              <a:buNone/>
            </a:pPr>
            <a:r>
              <a:rPr lang="en-US" sz="1600" dirty="0">
                <a:solidFill>
                  <a:schemeClr val="tx1"/>
                </a:solidFill>
                <a:latin typeface="Cambria Math" pitchFamily="34" charset="0"/>
                <a:ea typeface="Cambria Math" pitchFamily="34" charset="-122"/>
                <a:cs typeface="Cambria Math" pitchFamily="34" charset="-120"/>
              </a:rPr>
              <a:t>δ[l] = ( W[l+1]ᵀ δ[l+1] ) ⊙ g′(z[l])</a:t>
            </a:r>
            <a:endParaRPr lang="en-US" sz="1600" dirty="0"/>
          </a:p>
          <a:p>
            <a:pPr algn="l" indent="0" marL="0">
              <a:lnSpc>
                <a:spcPct val="112000"/>
              </a:lnSpc>
              <a:buNone/>
            </a:pPr>
            <a:r>
              <a:rPr lang="en-US" sz="1600" dirty="0">
                <a:solidFill>
                  <a:schemeClr val="tx1"/>
                </a:solidFill>
                <a:latin typeface="Cambria Math" pitchFamily="34" charset="0"/>
                <a:ea typeface="Cambria Math" pitchFamily="34" charset="-122"/>
                <a:cs typeface="Cambria Math" pitchFamily="34" charset="-120"/>
              </a:rPr>
              <a:t>η &lt; 2 / λₘₐₓ</a:t>
            </a:r>
            <a:endParaRPr lang="en-US" sz="1600" dirty="0"/>
          </a:p>
        </p:txBody>
      </p:sp>
      <p:sp>
        <p:nvSpPr>
          <p:cNvPr id="25" name="Shape 22"/>
          <p:cNvSpPr/>
          <p:nvPr/>
        </p:nvSpPr>
        <p:spPr>
          <a:xfrm>
            <a:off x="7818120" y="3429000"/>
            <a:ext cx="3822192" cy="2468880"/>
          </a:xfrm>
          <a:prstGeom prst="roundRect">
            <a:avLst>
              <a:gd name="adj" fmla="val 2963"/>
            </a:avLst>
          </a:prstGeom>
          <a:solidFill>
            <a:schemeClr val="accent2">
              <a:alpha val="12000"/>
            </a:schemeClr>
          </a:solidFill>
          <a:ln w="12700">
            <a:solidFill>
              <a:schemeClr val="accent2">
                <a:alpha val="12000"/>
              </a:schemeClr>
            </a:solidFill>
            <a:prstDash val="solid"/>
          </a:ln>
        </p:spPr>
      </p:sp>
      <p:sp>
        <p:nvSpPr>
          <p:cNvPr id="26" name="Text 23"/>
          <p:cNvSpPr txBox="1"/>
          <p:nvPr/>
        </p:nvSpPr>
        <p:spPr>
          <a:xfrm>
            <a:off x="8019288" y="3630168"/>
            <a:ext cx="341985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accent2"/>
                </a:solidFill>
              </a:rPr>
              <a:t>Two problems to fix</a:t>
            </a:r>
            <a:endParaRPr lang="en-US" sz="1900" dirty="0"/>
          </a:p>
        </p:txBody>
      </p:sp>
      <p:sp>
        <p:nvSpPr>
          <p:cNvPr id="27" name="Text 24"/>
          <p:cNvSpPr txBox="1"/>
          <p:nvPr/>
        </p:nvSpPr>
        <p:spPr>
          <a:xfrm>
            <a:off x="8019288" y="3988054"/>
            <a:ext cx="3419856" cy="1708658"/>
          </a:xfrm>
          <a:prstGeom prst="rect">
            <a:avLst/>
          </a:prstGeom>
          <a:noFill/>
          <a:ln/>
        </p:spPr>
        <p:txBody>
          <a:bodyPr wrap="square" lIns="0" tIns="0" rIns="0" bIns="0" rtlCol="0" anchor="t"/>
          <a:lstStyle/>
          <a:p>
            <a:pPr algn="l" indent="0" marL="0">
              <a:lnSpc>
                <a:spcPct val="105000"/>
              </a:lnSpc>
              <a:spcAft>
                <a:spcPts val="600"/>
              </a:spcAft>
              <a:buNone/>
            </a:pPr>
            <a:r>
              <a:rPr lang="en-US" sz="1600" b="1" dirty="0">
                <a:solidFill>
                  <a:schemeClr val="tx1"/>
                </a:solidFill>
              </a:rPr>
              <a:t>BP2 is a product:</a:t>
            </a:r>
            <a:r>
              <a:rPr lang="en-US" sz="1600" dirty="0">
                <a:solidFill>
                  <a:schemeClr val="tx1"/>
                </a:solidFill>
              </a:rPr>
              <a:t> repeated over many layers, it vanishes or explodes.</a:t>
            </a:r>
            <a:endParaRPr lang="en-US" sz="1600" dirty="0"/>
          </a:p>
          <a:p>
            <a:pPr algn="l" indent="0" marL="0">
              <a:lnSpc>
                <a:spcPct val="105000"/>
              </a:lnSpc>
              <a:buNone/>
            </a:pPr>
            <a:r>
              <a:rPr lang="en-US" sz="1600" b="1" dirty="0">
                <a:solidFill>
                  <a:schemeClr val="tx1"/>
                </a:solidFill>
              </a:rPr>
              <a:t>One η for all directions:</a:t>
            </a:r>
            <a:r>
              <a:rPr lang="en-US" sz="1600" dirty="0">
                <a:solidFill>
                  <a:schemeClr val="tx1"/>
                </a:solidFill>
              </a:rPr>
              <a:t> a ravine is hard for plain SGD.</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LECTURE 3 · NOTATION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New symbols: variances, moments and normalization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498080" cy="914400"/>
        </p:xfrm>
        <a:graphic>
          <a:graphicData uri="http://schemas.openxmlformats.org/drawingml/2006/table">
            <a:tbl>
              <a:tblPr/>
              <a:tblGrid>
                <a:gridCol w="2194560"/>
                <a:gridCol w="5303520"/>
              </a:tblGrid>
              <a:tr h="429768">
                <a:tc>
                  <a:txBody>
                    <a:bodyPr/>
                    <a:lstStyle/>
                    <a:p>
                      <a:pPr indent="0" marL="0">
                        <a:buNone/>
                      </a:pPr>
                      <a:r>
                        <a:rPr lang="en-US" sz="1700" b="1" dirty="0">
                          <a:solidFill>
                            <a:schemeClr val="bg1"/>
                          </a:solidFill>
                        </a:rPr>
                        <a:t>Symbol</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700" b="1" dirty="0">
                          <a:solidFill>
                            <a:schemeClr val="bg1"/>
                          </a:solidFill>
                        </a:rPr>
                        <a:t>Meaning</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r>
              <a:tr h="429768">
                <a:tc>
                  <a:txBody>
                    <a:bodyPr/>
                    <a:lstStyle/>
                    <a:p>
                      <a:pPr indent="0" marL="0">
                        <a:buNone/>
                      </a:pPr>
                      <a:r>
                        <a:rPr lang="en-US" sz="1700" dirty="0">
                          <a:solidFill>
                            <a:schemeClr val="tx1"/>
                          </a:solidFill>
                          <a:latin typeface="Cambria Math" pitchFamily="34" charset="0"/>
                          <a:ea typeface="Cambria Math" pitchFamily="34" charset="-122"/>
                          <a:cs typeface="Cambria Math" pitchFamily="34" charset="-120"/>
                        </a:rPr>
                        <a:t>nᵢₙ, nₒᵤₜ</a:t>
                      </a:r>
                      <a:endParaRPr lang="en-US" sz="17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Inputs and outputs per unit (fan-in, fan-out)</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429768">
                <a:tc>
                  <a:txBody>
                    <a:bodyPr/>
                    <a:lstStyle/>
                    <a:p>
                      <a:pPr indent="0" marL="0">
                        <a:buNone/>
                      </a:pPr>
                      <a:r>
                        <a:rPr lang="en-US" sz="1700" dirty="0">
                          <a:solidFill>
                            <a:schemeClr val="tx1"/>
                          </a:solidFill>
                          <a:latin typeface="Cambria Math" pitchFamily="34" charset="0"/>
                          <a:ea typeface="Cambria Math" pitchFamily="34" charset="-122"/>
                          <a:cs typeface="Cambria Math" pitchFamily="34" charset="-120"/>
                        </a:rPr>
                        <a:t>Var(·), E[·]</a:t>
                      </a:r>
                      <a:endParaRPr lang="en-US" sz="17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Variance and expectation</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429768">
                <a:tc>
                  <a:txBody>
                    <a:bodyPr/>
                    <a:lstStyle/>
                    <a:p>
                      <a:pPr indent="0" marL="0">
                        <a:buNone/>
                      </a:pPr>
                      <a:r>
                        <a:rPr lang="en-US" sz="1700" dirty="0">
                          <a:solidFill>
                            <a:schemeClr val="tx1"/>
                          </a:solidFill>
                          <a:latin typeface="Cambria Math" pitchFamily="34" charset="0"/>
                          <a:ea typeface="Cambria Math" pitchFamily="34" charset="-122"/>
                          <a:cs typeface="Cambria Math" pitchFamily="34" charset="-120"/>
                        </a:rPr>
                        <a:t>gₜ</a:t>
                      </a:r>
                      <a:endParaRPr lang="en-US" sz="17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Gradient at step t</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429768">
                <a:tc>
                  <a:txBody>
                    <a:bodyPr/>
                    <a:lstStyle/>
                    <a:p>
                      <a:pPr indent="0" marL="0">
                        <a:buNone/>
                      </a:pPr>
                      <a:r>
                        <a:rPr lang="en-US" sz="1700" dirty="0">
                          <a:solidFill>
                            <a:schemeClr val="tx1"/>
                          </a:solidFill>
                          <a:latin typeface="Cambria Math" pitchFamily="34" charset="0"/>
                          <a:ea typeface="Cambria Math" pitchFamily="34" charset="-122"/>
                          <a:cs typeface="Cambria Math" pitchFamily="34" charset="-120"/>
                        </a:rPr>
                        <a:t>β, β₁, β₂</a:t>
                      </a:r>
                      <a:endParaRPr lang="en-US" sz="17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Decay rates of running averages (optimizers)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429768">
                <a:tc>
                  <a:txBody>
                    <a:bodyPr/>
                    <a:lstStyle/>
                    <a:p>
                      <a:pPr indent="0" marL="0">
                        <a:buNone/>
                      </a:pPr>
                      <a:r>
                        <a:rPr lang="en-US" sz="1700" dirty="0">
                          <a:solidFill>
                            <a:schemeClr val="tx1"/>
                          </a:solidFill>
                          <a:latin typeface="Cambria Math" pitchFamily="34" charset="0"/>
                          <a:ea typeface="Cambria Math" pitchFamily="34" charset="-122"/>
                          <a:cs typeface="Cambria Math" pitchFamily="34" charset="-120"/>
                        </a:rPr>
                        <a:t>mₜ, vₜ</a:t>
                      </a:r>
                      <a:endParaRPr lang="en-US" sz="17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Adam’s first and second moment estimates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429768">
                <a:tc>
                  <a:txBody>
                    <a:bodyPr/>
                    <a:lstStyle/>
                    <a:p>
                      <a:pPr indent="0" marL="0">
                        <a:buNone/>
                      </a:pPr>
                      <a:r>
                        <a:rPr lang="en-US" sz="1700" dirty="0">
                          <a:solidFill>
                            <a:schemeClr val="tx1"/>
                          </a:solidFill>
                          <a:latin typeface="Cambria Math" pitchFamily="34" charset="0"/>
                          <a:ea typeface="Cambria Math" pitchFamily="34" charset="-122"/>
                          <a:cs typeface="Cambria Math" pitchFamily="34" charset="-120"/>
                        </a:rPr>
                        <a:t>μ, σ²</a:t>
                      </a:r>
                      <a:endParaRPr lang="en-US" sz="17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Batch mean and variance (BatchNorm)</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429768">
                <a:tc>
                  <a:txBody>
                    <a:bodyPr/>
                    <a:lstStyle/>
                    <a:p>
                      <a:pPr indent="0" marL="0">
                        <a:buNone/>
                      </a:pPr>
                      <a:r>
                        <a:rPr lang="en-US" sz="1700" dirty="0">
                          <a:solidFill>
                            <a:schemeClr val="tx1"/>
                          </a:solidFill>
                          <a:latin typeface="Cambria Math" pitchFamily="34" charset="0"/>
                          <a:ea typeface="Cambria Math" pitchFamily="34" charset="-122"/>
                          <a:cs typeface="Cambria Math" pitchFamily="34" charset="-120"/>
                        </a:rPr>
                        <a:t>γ, β</a:t>
                      </a:r>
                      <a:endParaRPr lang="en-US" sz="17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BatchNorm’s learned scale and shift</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429768">
                <a:tc>
                  <a:txBody>
                    <a:bodyPr/>
                    <a:lstStyle/>
                    <a:p>
                      <a:pPr indent="0" marL="0">
                        <a:buNone/>
                      </a:pPr>
                      <a:r>
                        <a:rPr lang="en-US" sz="1700" dirty="0">
                          <a:solidFill>
                            <a:schemeClr val="tx1"/>
                          </a:solidFill>
                          <a:latin typeface="Cambria Math" pitchFamily="34" charset="0"/>
                          <a:ea typeface="Cambria Math" pitchFamily="34" charset="-122"/>
                          <a:cs typeface="Cambria Math" pitchFamily="34" charset="-120"/>
                        </a:rPr>
                        <a:t>λ</a:t>
                      </a:r>
                      <a:endParaRPr lang="en-US" sz="17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Weight-decay strength</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429768">
                <a:tc>
                  <a:txBody>
                    <a:bodyPr/>
                    <a:lstStyle/>
                    <a:p>
                      <a:pPr indent="0" marL="0">
                        <a:buNone/>
                      </a:pPr>
                      <a:r>
                        <a:rPr lang="en-US" sz="1700" dirty="0">
                          <a:solidFill>
                            <a:schemeClr val="tx1"/>
                          </a:solidFill>
                          <a:latin typeface="Cambria Math" pitchFamily="34" charset="0"/>
                          <a:ea typeface="Cambria Math" pitchFamily="34" charset="-122"/>
                          <a:cs typeface="Cambria Math" pitchFamily="34" charset="-120"/>
                        </a:rPr>
                        <a:t>p</a:t>
                      </a:r>
                      <a:endParaRPr lang="en-US" sz="17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Dropout probability</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bl>
          </a:graphicData>
        </a:graphic>
      </p:graphicFrame>
      <p:sp>
        <p:nvSpPr>
          <p:cNvPr id="6" name="Shape 2"/>
          <p:cNvSpPr/>
          <p:nvPr/>
        </p:nvSpPr>
        <p:spPr>
          <a:xfrm>
            <a:off x="8503920" y="1645920"/>
            <a:ext cx="3136392" cy="2194560"/>
          </a:xfrm>
          <a:prstGeom prst="roundRect">
            <a:avLst>
              <a:gd name="adj" fmla="val 3333"/>
            </a:avLst>
          </a:prstGeom>
          <a:solidFill>
            <a:schemeClr val="accent2">
              <a:alpha val="12000"/>
            </a:schemeClr>
          </a:solidFill>
          <a:ln w="12700">
            <a:solidFill>
              <a:schemeClr val="accent2">
                <a:alpha val="12000"/>
              </a:schemeClr>
            </a:solidFill>
            <a:prstDash val="solid"/>
          </a:ln>
        </p:spPr>
      </p:sp>
      <p:sp>
        <p:nvSpPr>
          <p:cNvPr id="7" name="Text 3"/>
          <p:cNvSpPr txBox="1"/>
          <p:nvPr/>
        </p:nvSpPr>
        <p:spPr>
          <a:xfrm>
            <a:off x="8705088" y="1847088"/>
            <a:ext cx="273405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accent2"/>
                </a:solidFill>
              </a:rPr>
              <a:t>Watch out: β twice</a:t>
            </a:r>
            <a:endParaRPr lang="en-US" sz="1900" dirty="0"/>
          </a:p>
        </p:txBody>
      </p:sp>
      <p:sp>
        <p:nvSpPr>
          <p:cNvPr id="8" name="Text 4"/>
          <p:cNvSpPr txBox="1"/>
          <p:nvPr/>
        </p:nvSpPr>
        <p:spPr>
          <a:xfrm>
            <a:off x="8705088" y="2204974"/>
            <a:ext cx="2734056" cy="1434338"/>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Optimizer decay rate and BatchNorm shift share a letter. Context tells them apart.</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7315200" cy="411480"/>
          </a:xfrm>
          <a:prstGeom prst="rect">
            <a:avLst/>
          </a:prstGeom>
          <a:noFill/>
          <a:ln/>
        </p:spPr>
        <p:txBody>
          <a:bodyPr wrap="square" lIns="0" tIns="0" rIns="0" bIns="0" rtlCol="0"/>
          <a:lstStyle/>
          <a:p>
            <a:pPr indent="0" marL="0">
              <a:buNone/>
            </a:pPr>
            <a:r>
              <a:rPr lang="en-US" sz="1600" b="1" spc="200" kern="0" dirty="0">
                <a:solidFill>
                  <a:schemeClr val="accent6"/>
                </a:solidFill>
              </a:rPr>
              <a:t>SECTION 9</a:t>
            </a:r>
            <a:endParaRPr lang="en-US" sz="1600" dirty="0"/>
          </a:p>
        </p:txBody>
      </p:sp>
      <p:sp>
        <p:nvSpPr>
          <p:cNvPr id="3" name="Text 0"/>
          <p:cNvSpPr/>
          <p:nvPr>
            <p:ph idx="101" type="title" hasCustomPrompt="1"/>
          </p:nvPr>
        </p:nvSpPr>
        <p:spPr>
          <a:xfrm>
            <a:off x="731520" y="1920240"/>
            <a:ext cx="6949440" cy="2103120"/>
          </a:xfrm>
          <a:prstGeom prst="rect">
            <a:avLst/>
          </a:prstGeom>
          <a:noFill/>
          <a:ln/>
        </p:spPr>
        <p:txBody>
          <a:bodyPr wrap="square" lIns="0" tIns="0" rIns="0" bIns="0" rtlCol="0" anchor="t"/>
          <a:lstStyle/>
          <a:p>
            <a:pPr algn="l" indent="0" marL="0">
              <a:buNone/>
            </a:pPr>
            <a:r>
              <a:rPr lang="en-US" sz="4400" b="1" dirty="0">
                <a:solidFill>
                  <a:schemeClr val="bg1"/>
                </a:solidFill>
              </a:rPr>
              <a:t>Vanishing gradients and initialization</a:t>
            </a:r>
            <a:endParaRPr lang="en-US" sz="4400" dirty="0"/>
          </a:p>
        </p:txBody>
      </p:sp>
      <p:sp>
        <p:nvSpPr>
          <p:cNvPr id="4" name="Text 0"/>
          <p:cNvSpPr/>
          <p:nvPr>
            <p:ph idx="102" type="body" hasCustomPrompt="1"/>
          </p:nvPr>
        </p:nvSpPr>
        <p:spPr>
          <a:xfrm>
            <a:off x="731520" y="4160520"/>
            <a:ext cx="6766560" cy="1280160"/>
          </a:xfrm>
          <a:prstGeom prst="rect">
            <a:avLst/>
          </a:prstGeom>
          <a:noFill/>
          <a:ln/>
        </p:spPr>
        <p:txBody>
          <a:bodyPr wrap="square" lIns="0" tIns="0" rIns="0" bIns="0" rtlCol="0" anchor="t"/>
          <a:lstStyle/>
          <a:p>
            <a:pPr algn="l" indent="0" marL="0">
              <a:buNone/>
            </a:pPr>
            <a:r>
              <a:rPr lang="en-US" sz="2000" dirty="0">
                <a:solidFill>
                  <a:schemeClr val="bg2"/>
                </a:solidFill>
              </a:rPr>
              <a:t>For twenty years deep networks did not train. A few lines of initialization code fixed much of it.</a:t>
            </a:r>
            <a:endParaRPr lang="en-US" sz="2000" dirty="0"/>
          </a:p>
        </p:txBody>
      </p:sp>
      <p:sp>
        <p:nvSpPr>
          <p:cNvPr id="5" name="Text 3"/>
          <p:cNvSpPr txBox="1"/>
          <p:nvPr/>
        </p:nvSpPr>
        <p:spPr>
          <a:xfrm>
            <a:off x="8138160" y="1737360"/>
            <a:ext cx="3474720" cy="2377440"/>
          </a:xfrm>
          <a:prstGeom prst="rect">
            <a:avLst/>
          </a:prstGeom>
          <a:noFill/>
          <a:ln/>
        </p:spPr>
        <p:txBody>
          <a:bodyPr wrap="square" lIns="0" tIns="0" rIns="0" bIns="0" rtlCol="0" anchor="t"/>
          <a:lstStyle/>
          <a:p>
            <a:pPr algn="r" indent="0" marL="0">
              <a:lnSpc>
                <a:spcPct val="105000"/>
              </a:lnSpc>
              <a:buNone/>
            </a:pPr>
            <a:r>
              <a:rPr lang="en-US" sz="15000" b="1" dirty="0">
                <a:solidFill>
                  <a:schemeClr val="accent6"/>
                </a:solidFill>
              </a:rPr>
              <a:t>§9</a:t>
            </a:r>
            <a:endParaRPr lang="en-US" sz="15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§9 · VANISHING GRADIENTS AND INITIALIZATION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Layer 1’s gradient is a product of L factors</a:t>
            </a:r>
            <a:endParaRPr lang="en-US" sz="3000" dirty="0"/>
          </a:p>
        </p:txBody>
      </p:sp>
      <p:graphicFrame>
        <p:nvGraphicFramePr>
          <p:cNvPr id="5" name="Chart 0" descr=""/>
          <p:cNvGraphicFramePr/>
          <p:nvPr/>
        </p:nvGraphicFramePr>
        <p:xfrm>
          <a:off x="457200" y="1600200"/>
          <a:ext cx="6217920" cy="452628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132320" y="1645920"/>
            <a:ext cx="4507992" cy="1444498"/>
          </a:xfrm>
          <a:prstGeom prst="roundRect">
            <a:avLst>
              <a:gd name="adj" fmla="val 5064"/>
            </a:avLst>
          </a:prstGeom>
          <a:solidFill>
            <a:schemeClr val="accent1">
              <a:alpha val="10000"/>
            </a:schemeClr>
          </a:solidFill>
          <a:ln w="12700">
            <a:solidFill>
              <a:schemeClr val="accent1">
                <a:alpha val="10000"/>
              </a:schemeClr>
            </a:solidFill>
            <a:prstDash val="solid"/>
          </a:ln>
        </p:spPr>
      </p:sp>
      <p:sp>
        <p:nvSpPr>
          <p:cNvPr id="7" name="Text 3"/>
          <p:cNvSpPr txBox="1"/>
          <p:nvPr/>
        </p:nvSpPr>
        <p:spPr>
          <a:xfrm>
            <a:off x="7360920" y="1792224"/>
            <a:ext cx="4050792"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UNROLL BP2 TO LAYER 1</a:t>
            </a:r>
            <a:endParaRPr lang="en-US" sz="1200" dirty="0"/>
          </a:p>
        </p:txBody>
      </p:sp>
      <p:sp>
        <p:nvSpPr>
          <p:cNvPr id="8" name="Text 4"/>
          <p:cNvSpPr txBox="1"/>
          <p:nvPr/>
        </p:nvSpPr>
        <p:spPr>
          <a:xfrm>
            <a:off x="7360920" y="2221992"/>
            <a:ext cx="4050792" cy="676402"/>
          </a:xfrm>
          <a:prstGeom prst="rect">
            <a:avLst/>
          </a:prstGeom>
          <a:noFill/>
          <a:ln/>
        </p:spPr>
        <p:txBody>
          <a:bodyPr wrap="square" lIns="0" tIns="0" rIns="0" bIns="0" rtlCol="0" anchor="t"/>
          <a:lstStyle/>
          <a:p>
            <a:pPr algn="l" indent="0" marL="0">
              <a:lnSpc>
                <a:spcPct val="112000"/>
              </a:lnSpc>
              <a:buNone/>
            </a:pPr>
            <a:r>
              <a:rPr lang="en-US" sz="1900" dirty="0">
                <a:solidFill>
                  <a:schemeClr val="tx1"/>
                </a:solidFill>
                <a:latin typeface="Cambria Math" pitchFamily="34" charset="0"/>
                <a:ea typeface="Cambria Math" pitchFamily="34" charset="-122"/>
                <a:cs typeface="Cambria Math" pitchFamily="34" charset="-120"/>
              </a:rPr>
              <a:t>δ[1] = W[2]ᵀ ⋯ W[L]ᵀ δ[L],</a:t>
            </a:r>
            <a:endParaRPr lang="en-US" sz="1900" dirty="0"/>
          </a:p>
          <a:p>
            <a:pPr algn="l" indent="0" marL="0">
              <a:lnSpc>
                <a:spcPct val="112000"/>
              </a:lnSpc>
              <a:buNone/>
            </a:pPr>
            <a:r>
              <a:rPr lang="en-US" sz="1900" dirty="0">
                <a:solidFill>
                  <a:schemeClr val="tx1"/>
                </a:solidFill>
                <a:latin typeface="Cambria Math" pitchFamily="34" charset="0"/>
                <a:ea typeface="Cambria Math" pitchFamily="34" charset="-122"/>
                <a:cs typeface="Cambria Math" pitchFamily="34" charset="-120"/>
              </a:rPr>
              <a:t>      gated by g′(z) at every layer</a:t>
            </a:r>
            <a:endParaRPr lang="en-US" sz="1900" dirty="0"/>
          </a:p>
        </p:txBody>
      </p:sp>
      <p:sp>
        <p:nvSpPr>
          <p:cNvPr id="9" name="Shape 5"/>
          <p:cNvSpPr/>
          <p:nvPr/>
        </p:nvSpPr>
        <p:spPr>
          <a:xfrm>
            <a:off x="7342632" y="3456432"/>
            <a:ext cx="0" cy="1920240"/>
          </a:xfrm>
          <a:prstGeom prst="line">
            <a:avLst/>
          </a:prstGeom>
          <a:noFill/>
          <a:ln w="25400">
            <a:solidFill>
              <a:schemeClr val="accent1">
                <a:alpha val="50000"/>
              </a:schemeClr>
            </a:solidFill>
            <a:prstDash val="solid"/>
          </a:ln>
        </p:spPr>
      </p:sp>
      <p:sp>
        <p:nvSpPr>
          <p:cNvPr id="10" name="Shape 6"/>
          <p:cNvSpPr/>
          <p:nvPr/>
        </p:nvSpPr>
        <p:spPr>
          <a:xfrm>
            <a:off x="7132320" y="3246120"/>
            <a:ext cx="420624" cy="420624"/>
          </a:xfrm>
          <a:prstGeom prst="ellipse">
            <a:avLst/>
          </a:prstGeom>
          <a:solidFill>
            <a:schemeClr val="accent1"/>
          </a:solidFill>
          <a:ln w="25400">
            <a:solidFill>
              <a:schemeClr val="bg1"/>
            </a:solidFill>
            <a:prstDash val="solid"/>
          </a:ln>
        </p:spPr>
      </p:sp>
      <p:sp>
        <p:nvSpPr>
          <p:cNvPr id="11" name="Text 7"/>
          <p:cNvSpPr txBox="1"/>
          <p:nvPr/>
        </p:nvSpPr>
        <p:spPr>
          <a:xfrm>
            <a:off x="7132320" y="324612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2" name="Text 8"/>
          <p:cNvSpPr txBox="1"/>
          <p:nvPr/>
        </p:nvSpPr>
        <p:spPr>
          <a:xfrm>
            <a:off x="7781544" y="3282696"/>
            <a:ext cx="3858768" cy="269748"/>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Vanishing</a:t>
            </a:r>
            <a:endParaRPr lang="en-US" sz="1800" dirty="0"/>
          </a:p>
        </p:txBody>
      </p:sp>
      <p:sp>
        <p:nvSpPr>
          <p:cNvPr id="13" name="Text 9"/>
          <p:cNvSpPr txBox="1"/>
          <p:nvPr/>
        </p:nvSpPr>
        <p:spPr>
          <a:xfrm>
            <a:off x="7781544" y="3570732"/>
            <a:ext cx="3858768" cy="598932"/>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Early layers stay near random while late layers learn.</a:t>
            </a:r>
            <a:endParaRPr lang="en-US" sz="1600" dirty="0"/>
          </a:p>
        </p:txBody>
      </p:sp>
      <p:sp>
        <p:nvSpPr>
          <p:cNvPr id="14" name="Shape 10"/>
          <p:cNvSpPr/>
          <p:nvPr/>
        </p:nvSpPr>
        <p:spPr>
          <a:xfrm>
            <a:off x="7132320" y="4206240"/>
            <a:ext cx="420624" cy="420624"/>
          </a:xfrm>
          <a:prstGeom prst="ellipse">
            <a:avLst/>
          </a:prstGeom>
          <a:solidFill>
            <a:schemeClr val="accent1"/>
          </a:solidFill>
          <a:ln w="25400">
            <a:solidFill>
              <a:schemeClr val="bg1"/>
            </a:solidFill>
            <a:prstDash val="solid"/>
          </a:ln>
        </p:spPr>
      </p:sp>
      <p:sp>
        <p:nvSpPr>
          <p:cNvPr id="15" name="Text 11"/>
          <p:cNvSpPr txBox="1"/>
          <p:nvPr/>
        </p:nvSpPr>
        <p:spPr>
          <a:xfrm>
            <a:off x="7132320" y="42062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6" name="Text 12"/>
          <p:cNvSpPr txBox="1"/>
          <p:nvPr/>
        </p:nvSpPr>
        <p:spPr>
          <a:xfrm>
            <a:off x="7781544" y="4242816"/>
            <a:ext cx="3858768" cy="269748"/>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Exploding</a:t>
            </a:r>
            <a:endParaRPr lang="en-US" sz="1800" dirty="0"/>
          </a:p>
        </p:txBody>
      </p:sp>
      <p:sp>
        <p:nvSpPr>
          <p:cNvPr id="17" name="Text 13"/>
          <p:cNvSpPr txBox="1"/>
          <p:nvPr/>
        </p:nvSpPr>
        <p:spPr>
          <a:xfrm>
            <a:off x="7781544" y="4530852"/>
            <a:ext cx="3858768" cy="598932"/>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Loss hits nan within a few steps. Typical of RNNs.</a:t>
            </a:r>
            <a:endParaRPr lang="en-US" sz="1600" dirty="0"/>
          </a:p>
        </p:txBody>
      </p:sp>
      <p:sp>
        <p:nvSpPr>
          <p:cNvPr id="18" name="Shape 14"/>
          <p:cNvSpPr/>
          <p:nvPr/>
        </p:nvSpPr>
        <p:spPr>
          <a:xfrm>
            <a:off x="7132320" y="5166360"/>
            <a:ext cx="420624" cy="420624"/>
          </a:xfrm>
          <a:prstGeom prst="ellipse">
            <a:avLst/>
          </a:prstGeom>
          <a:solidFill>
            <a:schemeClr val="accent2"/>
          </a:solidFill>
          <a:ln w="25400">
            <a:solidFill>
              <a:schemeClr val="bg1"/>
            </a:solidFill>
            <a:prstDash val="solid"/>
          </a:ln>
        </p:spPr>
      </p:sp>
      <p:sp>
        <p:nvSpPr>
          <p:cNvPr id="19" name="Text 15"/>
          <p:cNvSpPr txBox="1"/>
          <p:nvPr/>
        </p:nvSpPr>
        <p:spPr>
          <a:xfrm>
            <a:off x="7132320" y="51663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0" name="Text 16"/>
          <p:cNvSpPr txBox="1"/>
          <p:nvPr/>
        </p:nvSpPr>
        <p:spPr>
          <a:xfrm>
            <a:off x="7781544" y="5202936"/>
            <a:ext cx="3858768" cy="269748"/>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Insidious</a:t>
            </a:r>
            <a:endParaRPr lang="en-US" sz="1800" dirty="0"/>
          </a:p>
        </p:txBody>
      </p:sp>
      <p:sp>
        <p:nvSpPr>
          <p:cNvPr id="21" name="Text 17"/>
          <p:cNvSpPr txBox="1"/>
          <p:nvPr/>
        </p:nvSpPr>
        <p:spPr>
          <a:xfrm>
            <a:off x="7781544" y="5490972"/>
            <a:ext cx="3858768" cy="598932"/>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The loss still falls, then plateaus too high, with no error.</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§9 · VANISHING GRADIENTS AND INITIALIZATION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Keep Var(z) = Var(x), and Var(w) = 1/nᵢₙ follows</a:t>
            </a:r>
            <a:endParaRPr lang="en-US" sz="3000" dirty="0"/>
          </a:p>
        </p:txBody>
      </p:sp>
      <p:sp>
        <p:nvSpPr>
          <p:cNvPr id="5" name="Shape 2"/>
          <p:cNvSpPr/>
          <p:nvPr/>
        </p:nvSpPr>
        <p:spPr>
          <a:xfrm>
            <a:off x="548640" y="1645920"/>
            <a:ext cx="7132320" cy="2174748"/>
          </a:xfrm>
          <a:prstGeom prst="roundRect">
            <a:avLst>
              <a:gd name="adj" fmla="val 3364"/>
            </a:avLst>
          </a:prstGeom>
          <a:solidFill>
            <a:schemeClr val="accent1">
              <a:alpha val="10000"/>
            </a:schemeClr>
          </a:solidFill>
          <a:ln w="12700">
            <a:solidFill>
              <a:schemeClr val="accent1">
                <a:alpha val="10000"/>
              </a:schemeClr>
            </a:solidFill>
            <a:prstDash val="solid"/>
          </a:ln>
        </p:spPr>
      </p:sp>
      <p:sp>
        <p:nvSpPr>
          <p:cNvPr id="6" name="Text 3"/>
          <p:cNvSpPr txBox="1"/>
          <p:nvPr/>
        </p:nvSpPr>
        <p:spPr>
          <a:xfrm>
            <a:off x="777240" y="1792224"/>
            <a:ext cx="6675120"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KEEP THE VARIANCE CONSTANT</a:t>
            </a:r>
            <a:endParaRPr lang="en-US" sz="1200" dirty="0"/>
          </a:p>
        </p:txBody>
      </p:sp>
      <p:sp>
        <p:nvSpPr>
          <p:cNvPr id="7" name="Text 4"/>
          <p:cNvSpPr txBox="1"/>
          <p:nvPr/>
        </p:nvSpPr>
        <p:spPr>
          <a:xfrm>
            <a:off x="777240" y="2221992"/>
            <a:ext cx="6675120" cy="1406652"/>
          </a:xfrm>
          <a:prstGeom prst="rect">
            <a:avLst/>
          </a:prstGeom>
          <a:noFill/>
          <a:ln/>
        </p:spPr>
        <p:txBody>
          <a:bodyPr wrap="square" lIns="0" tIns="0" rIns="0" bIns="0" rtlCol="0" anchor="t"/>
          <a:lstStyle/>
          <a:p>
            <a:pPr algn="l" indent="0" marL="0">
              <a:lnSpc>
                <a:spcPct val="112000"/>
              </a:lnSpc>
              <a:buNone/>
            </a:pPr>
            <a:r>
              <a:rPr lang="en-US" sz="2100" dirty="0">
                <a:solidFill>
                  <a:schemeClr val="tx1"/>
                </a:solidFill>
                <a:latin typeface="Cambria Math" pitchFamily="34" charset="0"/>
                <a:ea typeface="Cambria Math" pitchFamily="34" charset="-122"/>
                <a:cs typeface="Cambria Math" pitchFamily="34" charset="-120"/>
              </a:rPr>
              <a:t>z = Σᵢ wᵢ xᵢ</a:t>
            </a:r>
            <a:r>
              <a:rPr lang="en-US" sz="1700" dirty="0">
                <a:solidFill>
                  <a:schemeClr val="tx2"/>
                </a:solidFill>
                <a:latin typeface="Calibri" pitchFamily="34" charset="0"/>
                <a:ea typeface="Calibri" pitchFamily="34" charset="-122"/>
                <a:cs typeface="Calibri" pitchFamily="34" charset="-120"/>
              </a:rPr>
              <a:t>    nᵢₙ terms, bias 0</a:t>
            </a:r>
            <a:endParaRPr lang="en-US" sz="2100" dirty="0"/>
          </a:p>
          <a:p>
            <a:pPr algn="l" indent="0" marL="0">
              <a:lnSpc>
                <a:spcPct val="112000"/>
              </a:lnSpc>
              <a:buNone/>
            </a:pPr>
            <a:r>
              <a:rPr lang="en-US" sz="2100" dirty="0">
                <a:solidFill>
                  <a:schemeClr val="tx1"/>
                </a:solidFill>
                <a:latin typeface="Cambria Math" pitchFamily="34" charset="0"/>
                <a:ea typeface="Cambria Math" pitchFamily="34" charset="-122"/>
                <a:cs typeface="Cambria Math" pitchFamily="34" charset="-120"/>
              </a:rPr>
              <a:t>Var(wᵢ xᵢ) = Var(w) · Var(x)</a:t>
            </a:r>
            <a:r>
              <a:rPr lang="en-US" sz="1700" dirty="0">
                <a:solidFill>
                  <a:schemeClr val="tx2"/>
                </a:solidFill>
                <a:latin typeface="Calibri" pitchFamily="34" charset="0"/>
                <a:ea typeface="Calibri" pitchFamily="34" charset="-122"/>
                <a:cs typeface="Calibri" pitchFamily="34" charset="-120"/>
              </a:rPr>
              <a:t>    independent, zero mean</a:t>
            </a:r>
            <a:endParaRPr lang="en-US" sz="2100" dirty="0"/>
          </a:p>
          <a:p>
            <a:pPr algn="l" indent="0" marL="0">
              <a:lnSpc>
                <a:spcPct val="112000"/>
              </a:lnSpc>
              <a:buNone/>
            </a:pPr>
            <a:r>
              <a:rPr lang="en-US" sz="2100" dirty="0">
                <a:solidFill>
                  <a:schemeClr val="tx1"/>
                </a:solidFill>
                <a:latin typeface="Cambria Math" pitchFamily="34" charset="0"/>
                <a:ea typeface="Cambria Math" pitchFamily="34" charset="-122"/>
                <a:cs typeface="Cambria Math" pitchFamily="34" charset="-120"/>
              </a:rPr>
              <a:t>Var(z) = nᵢₙ · Var(w) · Var(x)</a:t>
            </a:r>
            <a:endParaRPr lang="en-US" sz="2100" dirty="0"/>
          </a:p>
          <a:p>
            <a:pPr algn="l" indent="0" marL="0">
              <a:lnSpc>
                <a:spcPct val="112000"/>
              </a:lnSpc>
              <a:buNone/>
            </a:pPr>
            <a:r>
              <a:rPr lang="en-US" sz="2100" dirty="0">
                <a:solidFill>
                  <a:schemeClr val="tx1"/>
                </a:solidFill>
                <a:latin typeface="Cambria Math" pitchFamily="34" charset="0"/>
                <a:ea typeface="Cambria Math" pitchFamily="34" charset="-122"/>
                <a:cs typeface="Cambria Math" pitchFamily="34" charset="-120"/>
              </a:rPr>
              <a:t>Var(z) = Var(x)   ⇔   Var(w) = 1 / nᵢₙ</a:t>
            </a:r>
            <a:endParaRPr lang="en-US" sz="2100" dirty="0"/>
          </a:p>
        </p:txBody>
      </p:sp>
      <p:sp>
        <p:nvSpPr>
          <p:cNvPr id="8" name="Shape 5"/>
          <p:cNvSpPr/>
          <p:nvPr/>
        </p:nvSpPr>
        <p:spPr>
          <a:xfrm>
            <a:off x="8138160" y="1645920"/>
            <a:ext cx="3502152" cy="2148840"/>
          </a:xfrm>
          <a:prstGeom prst="roundRect">
            <a:avLst>
              <a:gd name="adj" fmla="val 3404"/>
            </a:avLst>
          </a:prstGeom>
          <a:solidFill>
            <a:schemeClr val="bg2"/>
          </a:solidFill>
          <a:ln w="12700">
            <a:solidFill>
              <a:schemeClr val="bg2"/>
            </a:solidFill>
            <a:prstDash val="solid"/>
          </a:ln>
        </p:spPr>
      </p:sp>
      <p:sp>
        <p:nvSpPr>
          <p:cNvPr id="9" name="Text 6"/>
          <p:cNvSpPr txBox="1"/>
          <p:nvPr/>
        </p:nvSpPr>
        <p:spPr>
          <a:xfrm>
            <a:off x="8339328" y="1847088"/>
            <a:ext cx="309981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Assumptions</a:t>
            </a:r>
            <a:endParaRPr lang="en-US" sz="1900" dirty="0"/>
          </a:p>
        </p:txBody>
      </p:sp>
      <p:sp>
        <p:nvSpPr>
          <p:cNvPr id="10" name="Text 7"/>
          <p:cNvSpPr txBox="1"/>
          <p:nvPr/>
        </p:nvSpPr>
        <p:spPr>
          <a:xfrm>
            <a:off x="8339328" y="2204974"/>
            <a:ext cx="3099816" cy="1388618"/>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w and x i.i.d., zero mean, independent of each other.</a:t>
            </a:r>
            <a:endParaRPr lang="en-US" sz="1600" dirty="0"/>
          </a:p>
        </p:txBody>
      </p:sp>
      <p:sp>
        <p:nvSpPr>
          <p:cNvPr id="11" name="Shape 8"/>
          <p:cNvSpPr/>
          <p:nvPr/>
        </p:nvSpPr>
        <p:spPr>
          <a:xfrm>
            <a:off x="548640" y="4206240"/>
            <a:ext cx="11091672" cy="777240"/>
          </a:xfrm>
          <a:prstGeom prst="roundRect">
            <a:avLst>
              <a:gd name="adj" fmla="val 9412"/>
            </a:avLst>
          </a:prstGeom>
          <a:solidFill>
            <a:schemeClr val="accent1">
              <a:alpha val="10000"/>
            </a:schemeClr>
          </a:solidFill>
          <a:ln w="12700">
            <a:solidFill>
              <a:schemeClr val="accent1">
                <a:alpha val="10000"/>
              </a:schemeClr>
            </a:solidFill>
            <a:prstDash val="solid"/>
          </a:ln>
        </p:spPr>
      </p:sp>
      <p:sp>
        <p:nvSpPr>
          <p:cNvPr id="12" name="Text 9"/>
          <p:cNvSpPr txBox="1"/>
          <p:nvPr/>
        </p:nvSpPr>
        <p:spPr>
          <a:xfrm>
            <a:off x="777240" y="4206240"/>
            <a:ext cx="10634472" cy="777240"/>
          </a:xfrm>
          <a:prstGeom prst="rect">
            <a:avLst/>
          </a:prstGeom>
          <a:noFill/>
          <a:ln/>
        </p:spPr>
        <p:txBody>
          <a:bodyPr wrap="square" lIns="0" tIns="0" rIns="0" bIns="0" rtlCol="0" anchor="ctr"/>
          <a:lstStyle/>
          <a:p>
            <a:pPr algn="l" indent="0" marL="0">
              <a:lnSpc>
                <a:spcPct val="105000"/>
              </a:lnSpc>
              <a:buNone/>
            </a:pPr>
            <a:r>
              <a:rPr lang="en-US" sz="2100" b="1" dirty="0">
                <a:solidFill>
                  <a:schemeClr val="accent1"/>
                </a:solidFill>
              </a:rPr>
              <a:t>Var(w) = 1 / nᵢₙ keeps the signal’s scale from layer to layer.</a:t>
            </a:r>
            <a:endParaRPr lang="en-US" sz="21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§9 · VANISHING GRADIENTS AND INITIALIZATION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Xavier initialization balances forward and backward</a:t>
            </a:r>
            <a:endParaRPr lang="en-US" sz="3000" dirty="0"/>
          </a:p>
        </p:txBody>
      </p:sp>
      <p:sp>
        <p:nvSpPr>
          <p:cNvPr id="5" name="Shape 2"/>
          <p:cNvSpPr/>
          <p:nvPr/>
        </p:nvSpPr>
        <p:spPr>
          <a:xfrm>
            <a:off x="548640" y="1645920"/>
            <a:ext cx="6035040" cy="1841373"/>
          </a:xfrm>
          <a:prstGeom prst="roundRect">
            <a:avLst>
              <a:gd name="adj" fmla="val 3973"/>
            </a:avLst>
          </a:prstGeom>
          <a:solidFill>
            <a:schemeClr val="accent1">
              <a:alpha val="10000"/>
            </a:schemeClr>
          </a:solidFill>
          <a:ln w="12700">
            <a:solidFill>
              <a:schemeClr val="accent1">
                <a:alpha val="10000"/>
              </a:schemeClr>
            </a:solidFill>
            <a:prstDash val="solid"/>
          </a:ln>
        </p:spPr>
      </p:sp>
      <p:sp>
        <p:nvSpPr>
          <p:cNvPr id="6" name="Text 3"/>
          <p:cNvSpPr txBox="1"/>
          <p:nvPr/>
        </p:nvSpPr>
        <p:spPr>
          <a:xfrm>
            <a:off x="777240" y="1792224"/>
            <a:ext cx="5577840"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XAVIER / GLOROT (2010)</a:t>
            </a:r>
            <a:endParaRPr lang="en-US" sz="1200" dirty="0"/>
          </a:p>
        </p:txBody>
      </p:sp>
      <p:sp>
        <p:nvSpPr>
          <p:cNvPr id="7" name="Text 4"/>
          <p:cNvSpPr txBox="1"/>
          <p:nvPr/>
        </p:nvSpPr>
        <p:spPr>
          <a:xfrm>
            <a:off x="777240" y="2221992"/>
            <a:ext cx="5577840" cy="1073277"/>
          </a:xfrm>
          <a:prstGeom prst="rect">
            <a:avLst/>
          </a:prstGeom>
          <a:noFill/>
          <a:ln/>
        </p:spPr>
        <p:txBody>
          <a:bodyPr wrap="square" lIns="0" tIns="0" rIns="0" bIns="0" rtlCol="0" anchor="t"/>
          <a:lstStyle/>
          <a:p>
            <a:pPr algn="l" indent="0" marL="0">
              <a:lnSpc>
                <a:spcPct val="112000"/>
              </a:lnSpc>
              <a:buNone/>
            </a:pPr>
            <a:r>
              <a:rPr lang="en-US" sz="2100" dirty="0">
                <a:solidFill>
                  <a:schemeClr val="tx1"/>
                </a:solidFill>
                <a:latin typeface="Cambria Math" pitchFamily="34" charset="0"/>
                <a:ea typeface="Cambria Math" pitchFamily="34" charset="-122"/>
                <a:cs typeface="Cambria Math" pitchFamily="34" charset="-120"/>
              </a:rPr>
              <a:t>forward:   Var(w) = 1 / nᵢₙ</a:t>
            </a:r>
            <a:endParaRPr lang="en-US" sz="2100" dirty="0"/>
          </a:p>
          <a:p>
            <a:pPr algn="l" indent="0" marL="0">
              <a:lnSpc>
                <a:spcPct val="112000"/>
              </a:lnSpc>
              <a:buNone/>
            </a:pPr>
            <a:r>
              <a:rPr lang="en-US" sz="2100" dirty="0">
                <a:solidFill>
                  <a:schemeClr val="tx1"/>
                </a:solidFill>
                <a:latin typeface="Cambria Math" pitchFamily="34" charset="0"/>
                <a:ea typeface="Cambria Math" pitchFamily="34" charset="-122"/>
                <a:cs typeface="Cambria Math" pitchFamily="34" charset="-120"/>
              </a:rPr>
              <a:t>backward:  Var(w) = 1 / nₒᵤₜ</a:t>
            </a:r>
            <a:endParaRPr lang="en-US" sz="2100" dirty="0"/>
          </a:p>
          <a:p>
            <a:pPr algn="l" indent="0" marL="0">
              <a:lnSpc>
                <a:spcPct val="112000"/>
              </a:lnSpc>
              <a:buNone/>
            </a:pPr>
            <a:r>
              <a:rPr lang="en-US" sz="2100" dirty="0">
                <a:solidFill>
                  <a:schemeClr val="tx1"/>
                </a:solidFill>
                <a:latin typeface="Cambria Math" pitchFamily="34" charset="0"/>
                <a:ea typeface="Cambria Math" pitchFamily="34" charset="-122"/>
                <a:cs typeface="Cambria Math" pitchFamily="34" charset="-120"/>
              </a:rPr>
              <a:t>compromise:  Var(w) = 2 / (nᵢₙ + nₒᵤₜ)</a:t>
            </a:r>
            <a:endParaRPr lang="en-US" sz="2100" dirty="0"/>
          </a:p>
        </p:txBody>
      </p:sp>
      <p:sp>
        <p:nvSpPr>
          <p:cNvPr id="8" name="Shape 5"/>
          <p:cNvSpPr/>
          <p:nvPr/>
        </p:nvSpPr>
        <p:spPr>
          <a:xfrm>
            <a:off x="548640" y="3840480"/>
            <a:ext cx="6035040" cy="1476248"/>
          </a:xfrm>
          <a:prstGeom prst="roundRect">
            <a:avLst>
              <a:gd name="adj" fmla="val 4955"/>
            </a:avLst>
          </a:prstGeom>
          <a:solidFill>
            <a:schemeClr val="bg2"/>
          </a:solidFill>
          <a:ln w="12700">
            <a:solidFill>
              <a:schemeClr val="bg2"/>
            </a:solidFill>
            <a:prstDash val="solid"/>
          </a:ln>
        </p:spPr>
      </p:sp>
      <p:sp>
        <p:nvSpPr>
          <p:cNvPr id="9" name="Text 6"/>
          <p:cNvSpPr txBox="1"/>
          <p:nvPr/>
        </p:nvSpPr>
        <p:spPr>
          <a:xfrm>
            <a:off x="777240" y="3986784"/>
            <a:ext cx="5577840" cy="274320"/>
          </a:xfrm>
          <a:prstGeom prst="rect">
            <a:avLst/>
          </a:prstGeom>
          <a:noFill/>
          <a:ln/>
        </p:spPr>
        <p:txBody>
          <a:bodyPr wrap="square" lIns="0" tIns="0" rIns="0" bIns="0" rtlCol="0" anchor="ctr"/>
          <a:lstStyle/>
          <a:p>
            <a:pPr indent="0" marL="0">
              <a:buNone/>
            </a:pPr>
            <a:r>
              <a:rPr lang="en-US" sz="1200" b="1" spc="120" kern="0" dirty="0">
                <a:solidFill>
                  <a:schemeClr val="tx2"/>
                </a:solidFill>
              </a:rPr>
              <a:t>UNIFORM FORM</a:t>
            </a:r>
            <a:endParaRPr lang="en-US" sz="1200" dirty="0"/>
          </a:p>
        </p:txBody>
      </p:sp>
      <p:sp>
        <p:nvSpPr>
          <p:cNvPr id="10" name="Text 7"/>
          <p:cNvSpPr txBox="1"/>
          <p:nvPr/>
        </p:nvSpPr>
        <p:spPr>
          <a:xfrm>
            <a:off x="777240" y="4416552"/>
            <a:ext cx="5577840" cy="708152"/>
          </a:xfrm>
          <a:prstGeom prst="rect">
            <a:avLst/>
          </a:prstGeom>
          <a:noFill/>
          <a:ln/>
        </p:spPr>
        <p:txBody>
          <a:bodyPr wrap="square" lIns="0" tIns="0" rIns="0" bIns="0" rtlCol="0" anchor="t"/>
          <a:lstStyle/>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w ~ U[−a, a],   a = </a:t>
            </a:r>
            <a:r>
              <a:rPr lang="en-US" sz="2000" dirty="0">
                <a:solidFill>
                  <a:schemeClr val="tx1"/>
                </a:solidFill>
                <a:latin typeface="Calibri" pitchFamily="34" charset="0"/>
                <a:ea typeface="Calibri" pitchFamily="34" charset="-122"/>
                <a:cs typeface="Calibri" pitchFamily="34" charset="-120"/>
              </a:rPr>
              <a:t>√</a:t>
            </a:r>
            <a:r>
              <a:rPr lang="en-US" sz="2000" dirty="0">
                <a:solidFill>
                  <a:schemeClr val="tx1"/>
                </a:solidFill>
                <a:latin typeface="Cambria Math" pitchFamily="34" charset="0"/>
                <a:ea typeface="Cambria Math" pitchFamily="34" charset="-122"/>
                <a:cs typeface="Cambria Math" pitchFamily="34" charset="-120"/>
              </a:rPr>
              <a:t>( 6 / (nᵢₙ + nₒᵤₜ) )</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because Var(U[−a, a]) = a² / 3</a:t>
            </a:r>
            <a:endParaRPr lang="en-US" sz="2000" dirty="0"/>
          </a:p>
        </p:txBody>
      </p:sp>
      <p:sp>
        <p:nvSpPr>
          <p:cNvPr id="11" name="Shape 8"/>
          <p:cNvSpPr/>
          <p:nvPr/>
        </p:nvSpPr>
        <p:spPr>
          <a:xfrm>
            <a:off x="7040880" y="1645920"/>
            <a:ext cx="4599432" cy="2011680"/>
          </a:xfrm>
          <a:prstGeom prst="roundRect">
            <a:avLst>
              <a:gd name="adj" fmla="val 3636"/>
            </a:avLst>
          </a:prstGeom>
          <a:solidFill>
            <a:schemeClr val="accent1">
              <a:alpha val="10000"/>
            </a:schemeClr>
          </a:solidFill>
          <a:ln w="12700">
            <a:solidFill>
              <a:schemeClr val="accent1">
                <a:alpha val="10000"/>
              </a:schemeClr>
            </a:solidFill>
            <a:prstDash val="solid"/>
          </a:ln>
        </p:spPr>
      </p:sp>
      <p:sp>
        <p:nvSpPr>
          <p:cNvPr id="12" name="Text 9"/>
          <p:cNvSpPr txBox="1"/>
          <p:nvPr/>
        </p:nvSpPr>
        <p:spPr>
          <a:xfrm>
            <a:off x="7242048" y="1847088"/>
            <a:ext cx="419709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accent1"/>
                </a:solidFill>
              </a:rPr>
              <a:t>Good for tanh and sigmoid</a:t>
            </a:r>
            <a:endParaRPr lang="en-US" sz="1900" dirty="0"/>
          </a:p>
        </p:txBody>
      </p:sp>
      <p:sp>
        <p:nvSpPr>
          <p:cNvPr id="13" name="Text 10"/>
          <p:cNvSpPr txBox="1"/>
          <p:nvPr/>
        </p:nvSpPr>
        <p:spPr>
          <a:xfrm>
            <a:off x="7242048" y="2204974"/>
            <a:ext cx="4197096" cy="1251458"/>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Assumes an activation that is roughly linear and symmetric near zero.</a:t>
            </a:r>
            <a:endParaRPr lang="en-US" sz="1600" dirty="0"/>
          </a:p>
        </p:txBody>
      </p:sp>
      <p:sp>
        <p:nvSpPr>
          <p:cNvPr id="14" name="Shape 11"/>
          <p:cNvSpPr/>
          <p:nvPr/>
        </p:nvSpPr>
        <p:spPr>
          <a:xfrm>
            <a:off x="7040880" y="3886200"/>
            <a:ext cx="4599432" cy="1828800"/>
          </a:xfrm>
          <a:prstGeom prst="roundRect">
            <a:avLst>
              <a:gd name="adj" fmla="val 4000"/>
            </a:avLst>
          </a:prstGeom>
          <a:solidFill>
            <a:schemeClr val="accent2">
              <a:alpha val="12000"/>
            </a:schemeClr>
          </a:solidFill>
          <a:ln w="12700">
            <a:solidFill>
              <a:schemeClr val="accent2">
                <a:alpha val="12000"/>
              </a:schemeClr>
            </a:solidFill>
            <a:prstDash val="solid"/>
          </a:ln>
        </p:spPr>
      </p:sp>
      <p:sp>
        <p:nvSpPr>
          <p:cNvPr id="15" name="Text 12"/>
          <p:cNvSpPr txBox="1"/>
          <p:nvPr/>
        </p:nvSpPr>
        <p:spPr>
          <a:xfrm>
            <a:off x="7242048" y="4087368"/>
            <a:ext cx="419709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accent2"/>
                </a:solidFill>
              </a:rPr>
              <a:t>Not right for ReLU</a:t>
            </a:r>
            <a:endParaRPr lang="en-US" sz="1900" dirty="0"/>
          </a:p>
        </p:txBody>
      </p:sp>
      <p:sp>
        <p:nvSpPr>
          <p:cNvPr id="16" name="Text 13"/>
          <p:cNvSpPr txBox="1"/>
          <p:nvPr/>
        </p:nvSpPr>
        <p:spPr>
          <a:xfrm>
            <a:off x="7242048" y="4445254"/>
            <a:ext cx="4197096" cy="1068578"/>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ReLU zeroes half its inputs. Next slide.</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§9 · VANISHING GRADIENTS AND INITIALIZATION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ReLU halves the variance, so He doubles it: 2/nᵢₙ</a:t>
            </a:r>
            <a:endParaRPr lang="en-US" sz="3000" dirty="0"/>
          </a:p>
        </p:txBody>
      </p:sp>
      <p:sp>
        <p:nvSpPr>
          <p:cNvPr id="5" name="Shape 2"/>
          <p:cNvSpPr/>
          <p:nvPr/>
        </p:nvSpPr>
        <p:spPr>
          <a:xfrm>
            <a:off x="548640" y="1645920"/>
            <a:ext cx="5486400" cy="1507998"/>
          </a:xfrm>
          <a:prstGeom prst="roundRect">
            <a:avLst>
              <a:gd name="adj" fmla="val 4851"/>
            </a:avLst>
          </a:prstGeom>
          <a:solidFill>
            <a:schemeClr val="accent1">
              <a:alpha val="10000"/>
            </a:schemeClr>
          </a:solidFill>
          <a:ln w="12700">
            <a:solidFill>
              <a:schemeClr val="accent1">
                <a:alpha val="10000"/>
              </a:schemeClr>
            </a:solidFill>
            <a:prstDash val="solid"/>
          </a:ln>
        </p:spPr>
      </p:sp>
      <p:sp>
        <p:nvSpPr>
          <p:cNvPr id="6" name="Text 3"/>
          <p:cNvSpPr txBox="1"/>
          <p:nvPr/>
        </p:nvSpPr>
        <p:spPr>
          <a:xfrm>
            <a:off x="777240" y="1792224"/>
            <a:ext cx="5029200"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HE / KAIMING (2015)</a:t>
            </a:r>
            <a:endParaRPr lang="en-US" sz="1200" dirty="0"/>
          </a:p>
        </p:txBody>
      </p:sp>
      <p:sp>
        <p:nvSpPr>
          <p:cNvPr id="7" name="Text 4"/>
          <p:cNvSpPr txBox="1"/>
          <p:nvPr/>
        </p:nvSpPr>
        <p:spPr>
          <a:xfrm>
            <a:off x="777240" y="2221992"/>
            <a:ext cx="5029200" cy="739902"/>
          </a:xfrm>
          <a:prstGeom prst="rect">
            <a:avLst/>
          </a:prstGeom>
          <a:noFill/>
          <a:ln/>
        </p:spPr>
        <p:txBody>
          <a:bodyPr wrap="square" lIns="0" tIns="0" rIns="0" bIns="0" rtlCol="0" anchor="t"/>
          <a:lstStyle/>
          <a:p>
            <a:pPr algn="l" indent="0" marL="0">
              <a:lnSpc>
                <a:spcPct val="112000"/>
              </a:lnSpc>
              <a:buNone/>
            </a:pPr>
            <a:r>
              <a:rPr lang="en-US" sz="2100" dirty="0">
                <a:solidFill>
                  <a:schemeClr val="tx1"/>
                </a:solidFill>
                <a:latin typeface="Cambria Math" pitchFamily="34" charset="0"/>
                <a:ea typeface="Cambria Math" pitchFamily="34" charset="-122"/>
                <a:cs typeface="Cambria Math" pitchFamily="34" charset="-120"/>
              </a:rPr>
              <a:t>E[ReLU(z)²] = ½ E[z²]</a:t>
            </a:r>
            <a:r>
              <a:rPr lang="en-US" sz="1700" dirty="0">
                <a:solidFill>
                  <a:schemeClr val="tx2"/>
                </a:solidFill>
                <a:latin typeface="Calibri" pitchFamily="34" charset="0"/>
                <a:ea typeface="Calibri" pitchFamily="34" charset="-122"/>
                <a:cs typeface="Calibri" pitchFamily="34" charset="-120"/>
              </a:rPr>
              <a:t>    z symmetric</a:t>
            </a:r>
            <a:endParaRPr lang="en-US" sz="2100" dirty="0"/>
          </a:p>
          <a:p>
            <a:pPr algn="l" indent="0" marL="0">
              <a:lnSpc>
                <a:spcPct val="112000"/>
              </a:lnSpc>
              <a:buNone/>
            </a:pPr>
            <a:r>
              <a:rPr lang="en-US" sz="2100" dirty="0">
                <a:solidFill>
                  <a:schemeClr val="tx1"/>
                </a:solidFill>
                <a:latin typeface="Cambria Math" pitchFamily="34" charset="0"/>
                <a:ea typeface="Cambria Math" pitchFamily="34" charset="-122"/>
                <a:cs typeface="Cambria Math" pitchFamily="34" charset="-120"/>
              </a:rPr>
              <a:t>⇒  Var(w) = 2 / nᵢₙ</a:t>
            </a:r>
            <a:endParaRPr lang="en-US" sz="2100" dirty="0"/>
          </a:p>
        </p:txBody>
      </p:sp>
      <p:sp>
        <p:nvSpPr>
          <p:cNvPr id="8" name="Text 5"/>
          <p:cNvSpPr txBox="1"/>
          <p:nvPr/>
        </p:nvSpPr>
        <p:spPr>
          <a:xfrm>
            <a:off x="548640" y="3200400"/>
            <a:ext cx="5486400" cy="731520"/>
          </a:xfrm>
          <a:prstGeom prst="rect">
            <a:avLst/>
          </a:prstGeom>
          <a:noFill/>
          <a:ln/>
        </p:spPr>
        <p:txBody>
          <a:bodyPr wrap="square" lIns="0" tIns="0" rIns="0" bIns="0" rtlCol="0" anchor="t"/>
          <a:lstStyle/>
          <a:p>
            <a:pPr algn="l" indent="0" marL="0">
              <a:lnSpc>
                <a:spcPct val="105000"/>
              </a:lnSpc>
              <a:buNone/>
            </a:pPr>
            <a:r>
              <a:rPr lang="en-US" sz="1700" dirty="0">
                <a:solidFill>
                  <a:schemeClr val="tx2"/>
                </a:solidFill>
              </a:rPr>
              <a:t>He et al. trained a 30-layer ReLU network that failed completely with Xavier.</a:t>
            </a:r>
            <a:endParaRPr lang="en-US" sz="17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4023360"/>
          <a:ext cx="11091672" cy="914400"/>
        </p:xfrm>
        <a:graphic>
          <a:graphicData uri="http://schemas.openxmlformats.org/drawingml/2006/table">
            <a:tbl>
              <a:tblPr/>
              <a:tblGrid>
                <a:gridCol w="2286000"/>
                <a:gridCol w="1737360"/>
                <a:gridCol w="1737360"/>
                <a:gridCol w="5330952"/>
              </a:tblGrid>
              <a:tr h="475488">
                <a:tc>
                  <a:txBody>
                    <a:bodyPr/>
                    <a:lstStyle/>
                    <a:p>
                      <a:pPr indent="0" marL="0">
                        <a:buNone/>
                      </a:pPr>
                      <a:r>
                        <a:rPr lang="en-US" sz="1600" b="1" dirty="0">
                          <a:solidFill>
                            <a:schemeClr val="bg1"/>
                          </a:solidFill>
                        </a:rPr>
                        <a:t>Activation</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Initialization</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Var(w)</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PyTorch</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r>
              <a:tr h="475488">
                <a:tc>
                  <a:txBody>
                    <a:bodyPr/>
                    <a:lstStyle/>
                    <a:p>
                      <a:pPr indent="0" marL="0">
                        <a:buNone/>
                      </a:pPr>
                      <a:r>
                        <a:rPr lang="en-US" sz="1600" b="1" dirty="0">
                          <a:solidFill>
                            <a:schemeClr val="accent1"/>
                          </a:solidFill>
                        </a:rPr>
                        <a:t>ReLU, Leaky ReLU, GELU</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600" dirty="0">
                          <a:solidFill>
                            <a:schemeClr val="accent1"/>
                          </a:solidFill>
                        </a:rPr>
                        <a:t>He / Kaiming</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600" dirty="0">
                          <a:solidFill>
                            <a:schemeClr val="accent1"/>
                          </a:solidFill>
                          <a:latin typeface="Cambria Math" pitchFamily="34" charset="0"/>
                          <a:ea typeface="Cambria Math" pitchFamily="34" charset="-122"/>
                          <a:cs typeface="Cambria Math" pitchFamily="34" charset="-120"/>
                        </a:rPr>
                        <a:t>2 / nᵢₙ</a:t>
                      </a:r>
                      <a:endParaRPr lang="en-US" sz="16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600" dirty="0">
                          <a:solidFill>
                            <a:schemeClr val="accent1"/>
                          </a:solidFill>
                          <a:latin typeface="Consolas" pitchFamily="34" charset="0"/>
                          <a:ea typeface="Consolas" pitchFamily="34" charset="-122"/>
                          <a:cs typeface="Consolas" pitchFamily="34" charset="-120"/>
                        </a:rPr>
                        <a:t>kaiming_normal_(w, nonlinearity="relu")</a:t>
                      </a:r>
                      <a:endParaRPr lang="en-US" sz="1600" dirty="0">
                        <a:latin typeface="Consolas" charset="0"/>
                        <a:ea typeface="Consolas" charset="0"/>
                        <a:cs typeface="Consolas"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r>
              <a:tr h="475488">
                <a:tc>
                  <a:txBody>
                    <a:bodyPr/>
                    <a:lstStyle/>
                    <a:p>
                      <a:pPr indent="0" marL="0">
                        <a:buNone/>
                      </a:pPr>
                      <a:r>
                        <a:rPr lang="en-US" sz="1600" dirty="0">
                          <a:solidFill>
                            <a:schemeClr val="tx1"/>
                          </a:solidFill>
                        </a:rPr>
                        <a:t>tanh, sigmoid</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rPr>
                        <a:t>Xavier / Glorot</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latin typeface="Cambria Math" pitchFamily="34" charset="0"/>
                          <a:ea typeface="Cambria Math" pitchFamily="34" charset="-122"/>
                          <a:cs typeface="Cambria Math" pitchFamily="34" charset="-120"/>
                        </a:rPr>
                        <a:t>2 / (nᵢₙ + nₒᵤₜ)</a:t>
                      </a:r>
                      <a:endParaRPr lang="en-US" sz="16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latin typeface="Consolas" pitchFamily="34" charset="0"/>
                          <a:ea typeface="Consolas" pitchFamily="34" charset="-122"/>
                          <a:cs typeface="Consolas" pitchFamily="34" charset="-120"/>
                        </a:rPr>
                        <a:t>xavier_normal_(w)</a:t>
                      </a:r>
                      <a:endParaRPr lang="en-US" sz="1600" dirty="0">
                        <a:latin typeface="Consolas" charset="0"/>
                        <a:ea typeface="Consolas" charset="0"/>
                        <a:cs typeface="Consolas"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475488">
                <a:tc>
                  <a:txBody>
                    <a:bodyPr/>
                    <a:lstStyle/>
                    <a:p>
                      <a:pPr indent="0" marL="0">
                        <a:buNone/>
                      </a:pPr>
                      <a:r>
                        <a:rPr lang="en-US" sz="1600" dirty="0">
                          <a:solidFill>
                            <a:schemeClr val="tx1"/>
                          </a:solidFill>
                        </a:rPr>
                        <a:t>SELU</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LeCun</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Math" pitchFamily="34" charset="0"/>
                          <a:ea typeface="Cambria Math" pitchFamily="34" charset="-122"/>
                          <a:cs typeface="Cambria Math" pitchFamily="34" charset="-120"/>
                        </a:rPr>
                        <a:t>1 / nᵢₙ</a:t>
                      </a:r>
                      <a:endParaRPr lang="en-US" sz="16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onsolas" pitchFamily="34" charset="0"/>
                          <a:ea typeface="Consolas" pitchFamily="34" charset="-122"/>
                          <a:cs typeface="Consolas" pitchFamily="34" charset="-120"/>
                        </a:rPr>
                        <a:t>normal_(w, std=(1/n_in)**0.5)</a:t>
                      </a:r>
                      <a:endParaRPr lang="en-US" sz="1600" dirty="0">
                        <a:latin typeface="Consolas" charset="0"/>
                        <a:ea typeface="Consolas" charset="0"/>
                        <a:cs typeface="Consolas"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bl>
          </a:graphicData>
        </a:graphic>
      </p:graphicFrame>
      <p:sp>
        <p:nvSpPr>
          <p:cNvPr id="10" name="Shape 6"/>
          <p:cNvSpPr/>
          <p:nvPr/>
        </p:nvSpPr>
        <p:spPr>
          <a:xfrm>
            <a:off x="6492240" y="1645920"/>
            <a:ext cx="5148072" cy="2148840"/>
          </a:xfrm>
          <a:prstGeom prst="roundRect">
            <a:avLst>
              <a:gd name="adj" fmla="val 3404"/>
            </a:avLst>
          </a:prstGeom>
          <a:solidFill>
            <a:schemeClr val="accent1">
              <a:alpha val="10000"/>
            </a:schemeClr>
          </a:solidFill>
          <a:ln w="12700">
            <a:solidFill>
              <a:schemeClr val="accent1">
                <a:alpha val="10000"/>
              </a:schemeClr>
            </a:solidFill>
            <a:prstDash val="solid"/>
          </a:ln>
        </p:spPr>
      </p:sp>
      <p:sp>
        <p:nvSpPr>
          <p:cNvPr id="11" name="Text 7"/>
          <p:cNvSpPr txBox="1"/>
          <p:nvPr/>
        </p:nvSpPr>
        <p:spPr>
          <a:xfrm>
            <a:off x="6720840" y="1783080"/>
            <a:ext cx="1828800" cy="1005840"/>
          </a:xfrm>
          <a:prstGeom prst="rect">
            <a:avLst/>
          </a:prstGeom>
          <a:noFill/>
          <a:ln/>
        </p:spPr>
        <p:txBody>
          <a:bodyPr wrap="square" lIns="0" tIns="0" rIns="0" bIns="0" rtlCol="0" anchor="t"/>
          <a:lstStyle/>
          <a:p>
            <a:pPr algn="l" indent="0" marL="0">
              <a:lnSpc>
                <a:spcPct val="105000"/>
              </a:lnSpc>
              <a:buNone/>
            </a:pPr>
            <a:r>
              <a:rPr lang="en-US" sz="5400" b="1" dirty="0">
                <a:solidFill>
                  <a:schemeClr val="accent1"/>
                </a:solidFill>
              </a:rPr>
              <a:t>2⁻ᴸ</a:t>
            </a:r>
            <a:endParaRPr lang="en-US" sz="5400" dirty="0"/>
          </a:p>
        </p:txBody>
      </p:sp>
      <p:sp>
        <p:nvSpPr>
          <p:cNvPr id="12" name="Text 8"/>
          <p:cNvSpPr txBox="1"/>
          <p:nvPr/>
        </p:nvSpPr>
        <p:spPr>
          <a:xfrm>
            <a:off x="8412480" y="1874520"/>
            <a:ext cx="3063240" cy="1737360"/>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Signal scale after L ReLU layers under Xavier-like scaling. He initialization cancels it.</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§9 · VANISHING GRADIENTS AND INITIALIZATION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For convolutions, nᵢₙ counts the whole kernel</a:t>
            </a:r>
            <a:endParaRPr lang="en-US" sz="3000" dirty="0"/>
          </a:p>
        </p:txBody>
      </p:sp>
      <p:sp>
        <p:nvSpPr>
          <p:cNvPr id="5" name="Shape 2"/>
          <p:cNvSpPr/>
          <p:nvPr/>
        </p:nvSpPr>
        <p:spPr>
          <a:xfrm>
            <a:off x="548640" y="1645920"/>
            <a:ext cx="6035040" cy="1793748"/>
          </a:xfrm>
          <a:prstGeom prst="roundRect">
            <a:avLst>
              <a:gd name="adj" fmla="val 4078"/>
            </a:avLst>
          </a:prstGeom>
          <a:solidFill>
            <a:schemeClr val="accent1">
              <a:alpha val="10000"/>
            </a:schemeClr>
          </a:solidFill>
          <a:ln w="12700">
            <a:solidFill>
              <a:schemeClr val="accent1">
                <a:alpha val="10000"/>
              </a:schemeClr>
            </a:solidFill>
            <a:prstDash val="solid"/>
          </a:ln>
        </p:spPr>
      </p:sp>
      <p:sp>
        <p:nvSpPr>
          <p:cNvPr id="6" name="Text 3"/>
          <p:cNvSpPr txBox="1"/>
          <p:nvPr/>
        </p:nvSpPr>
        <p:spPr>
          <a:xfrm>
            <a:off x="777240" y="1792224"/>
            <a:ext cx="5577840"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FAN-IN OF A CONV LAYER</a:t>
            </a:r>
            <a:endParaRPr lang="en-US" sz="1200" dirty="0"/>
          </a:p>
        </p:txBody>
      </p:sp>
      <p:sp>
        <p:nvSpPr>
          <p:cNvPr id="7" name="Text 4"/>
          <p:cNvSpPr txBox="1"/>
          <p:nvPr/>
        </p:nvSpPr>
        <p:spPr>
          <a:xfrm>
            <a:off x="777240" y="2221992"/>
            <a:ext cx="5577840" cy="1025652"/>
          </a:xfrm>
          <a:prstGeom prst="rect">
            <a:avLst/>
          </a:prstGeom>
          <a:noFill/>
          <a:ln/>
        </p:spPr>
        <p:txBody>
          <a:bodyPr wrap="square" lIns="0" tIns="0" rIns="0" bIns="0" rtlCol="0" anchor="t"/>
          <a:lstStyle/>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nᵢₙ = K · K · Cᵢₙ</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Conv2d(64, 128, 3):   nᵢₙ = 3 · 3 · 64 = 576</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He std = </a:t>
            </a:r>
            <a:r>
              <a:rPr lang="en-US" sz="2000" dirty="0">
                <a:solidFill>
                  <a:schemeClr val="tx1"/>
                </a:solidFill>
                <a:latin typeface="Calibri" pitchFamily="34" charset="0"/>
                <a:ea typeface="Calibri" pitchFamily="34" charset="-122"/>
                <a:cs typeface="Calibri" pitchFamily="34" charset="-120"/>
              </a:rPr>
              <a:t>√</a:t>
            </a:r>
            <a:r>
              <a:rPr lang="en-US" sz="2000" dirty="0">
                <a:solidFill>
                  <a:schemeClr val="tx1"/>
                </a:solidFill>
                <a:latin typeface="Cambria Math" pitchFamily="34" charset="0"/>
                <a:ea typeface="Cambria Math" pitchFamily="34" charset="-122"/>
                <a:cs typeface="Cambria Math" pitchFamily="34" charset="-120"/>
              </a:rPr>
              <a:t>(2/576) = 0.0589</a:t>
            </a:r>
            <a:endParaRPr lang="en-US" sz="2000" dirty="0"/>
          </a:p>
        </p:txBody>
      </p:sp>
      <p:sp>
        <p:nvSpPr>
          <p:cNvPr id="8" name="Shape 5"/>
          <p:cNvSpPr/>
          <p:nvPr/>
        </p:nvSpPr>
        <p:spPr>
          <a:xfrm>
            <a:off x="548640" y="3657600"/>
            <a:ext cx="6035040" cy="868680"/>
          </a:xfrm>
          <a:prstGeom prst="roundRect">
            <a:avLst>
              <a:gd name="adj" fmla="val 8421"/>
            </a:avLst>
          </a:prstGeom>
          <a:solidFill>
            <a:schemeClr val="accent2">
              <a:alpha val="12000"/>
            </a:schemeClr>
          </a:solidFill>
          <a:ln w="12700">
            <a:solidFill>
              <a:schemeClr val="accent2">
                <a:alpha val="12000"/>
              </a:schemeClr>
            </a:solidFill>
            <a:prstDash val="solid"/>
          </a:ln>
        </p:spPr>
      </p:sp>
      <p:sp>
        <p:nvSpPr>
          <p:cNvPr id="9" name="Text 6"/>
          <p:cNvSpPr txBox="1"/>
          <p:nvPr/>
        </p:nvSpPr>
        <p:spPr>
          <a:xfrm>
            <a:off x="777240" y="3657600"/>
            <a:ext cx="5577840" cy="868680"/>
          </a:xfrm>
          <a:prstGeom prst="rect">
            <a:avLst/>
          </a:prstGeom>
          <a:noFill/>
          <a:ln/>
        </p:spPr>
        <p:txBody>
          <a:bodyPr wrap="square" lIns="0" tIns="0" rIns="0" bIns="0" rtlCol="0" anchor="ctr"/>
          <a:lstStyle/>
          <a:p>
            <a:pPr algn="l" indent="0" marL="0">
              <a:lnSpc>
                <a:spcPct val="105000"/>
              </a:lnSpc>
              <a:buNone/>
            </a:pPr>
            <a:r>
              <a:rPr lang="en-US" sz="1800" b="1" dirty="0">
                <a:solidFill>
                  <a:schemeClr val="accent2"/>
                </a:solidFill>
              </a:rPr>
              <a:t>Using the channel count instead gives √(2/64) = 0.177: three times too large.</a:t>
            </a:r>
            <a:endParaRPr lang="en-US" sz="1800" dirty="0"/>
          </a:p>
        </p:txBody>
      </p:sp>
      <p:sp>
        <p:nvSpPr>
          <p:cNvPr id="10" name="Shape 7"/>
          <p:cNvSpPr/>
          <p:nvPr/>
        </p:nvSpPr>
        <p:spPr>
          <a:xfrm>
            <a:off x="7040880" y="1645920"/>
            <a:ext cx="4599432" cy="1920240"/>
          </a:xfrm>
          <a:prstGeom prst="roundRect">
            <a:avLst>
              <a:gd name="adj" fmla="val 3810"/>
            </a:avLst>
          </a:prstGeom>
          <a:solidFill>
            <a:schemeClr val="accent1">
              <a:alpha val="10000"/>
            </a:schemeClr>
          </a:solidFill>
          <a:ln w="12700">
            <a:solidFill>
              <a:schemeClr val="accent1">
                <a:alpha val="10000"/>
              </a:schemeClr>
            </a:solidFill>
            <a:prstDash val="solid"/>
          </a:ln>
        </p:spPr>
      </p:sp>
      <p:sp>
        <p:nvSpPr>
          <p:cNvPr id="11" name="Text 8"/>
          <p:cNvSpPr txBox="1"/>
          <p:nvPr/>
        </p:nvSpPr>
        <p:spPr>
          <a:xfrm>
            <a:off x="7242048" y="1847088"/>
            <a:ext cx="419709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accent1"/>
                </a:solidFill>
              </a:rPr>
              <a:t>Biases start at zero</a:t>
            </a:r>
            <a:endParaRPr lang="en-US" sz="1900" dirty="0"/>
          </a:p>
        </p:txBody>
      </p:sp>
      <p:sp>
        <p:nvSpPr>
          <p:cNvPr id="12" name="Text 9"/>
          <p:cNvSpPr txBox="1"/>
          <p:nvPr/>
        </p:nvSpPr>
        <p:spPr>
          <a:xfrm>
            <a:off x="7242048" y="2204974"/>
            <a:ext cx="4197096" cy="1160018"/>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Random weights already break the symmetry between units.</a:t>
            </a:r>
            <a:endParaRPr lang="en-US" sz="1600" dirty="0"/>
          </a:p>
        </p:txBody>
      </p:sp>
      <p:sp>
        <p:nvSpPr>
          <p:cNvPr id="13" name="Shape 10"/>
          <p:cNvSpPr/>
          <p:nvPr/>
        </p:nvSpPr>
        <p:spPr>
          <a:xfrm>
            <a:off x="7040880" y="3794760"/>
            <a:ext cx="4599432" cy="2103120"/>
          </a:xfrm>
          <a:prstGeom prst="roundRect">
            <a:avLst>
              <a:gd name="adj" fmla="val 3478"/>
            </a:avLst>
          </a:prstGeom>
          <a:solidFill>
            <a:schemeClr val="bg2"/>
          </a:solidFill>
          <a:ln w="12700">
            <a:solidFill>
              <a:schemeClr val="bg2"/>
            </a:solidFill>
            <a:prstDash val="solid"/>
          </a:ln>
        </p:spPr>
      </p:sp>
      <p:sp>
        <p:nvSpPr>
          <p:cNvPr id="14" name="Text 11"/>
          <p:cNvSpPr txBox="1"/>
          <p:nvPr/>
        </p:nvSpPr>
        <p:spPr>
          <a:xfrm>
            <a:off x="7242048" y="3995928"/>
            <a:ext cx="419709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One exception</a:t>
            </a:r>
            <a:endParaRPr lang="en-US" sz="1900" dirty="0"/>
          </a:p>
        </p:txBody>
      </p:sp>
      <p:sp>
        <p:nvSpPr>
          <p:cNvPr id="15" name="Text 12"/>
          <p:cNvSpPr txBox="1"/>
          <p:nvPr/>
        </p:nvSpPr>
        <p:spPr>
          <a:xfrm>
            <a:off x="7242048" y="4353814"/>
            <a:ext cx="4197096" cy="1342898"/>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Imbalanced binary classifier: set the output bias to log(p / (1 − p)), p = positive rate. It saves epochs of learning the base rate.</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§9 · VANISHING GRADIENTS AND INITIALIZATION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Zero, too-large and too-small weights all fail</a:t>
            </a:r>
            <a:endParaRPr lang="en-US" sz="3000" dirty="0"/>
          </a:p>
        </p:txBody>
      </p:sp>
      <p:sp>
        <p:nvSpPr>
          <p:cNvPr id="5" name="Shape 2"/>
          <p:cNvSpPr/>
          <p:nvPr/>
        </p:nvSpPr>
        <p:spPr>
          <a:xfrm>
            <a:off x="758952" y="1901952"/>
            <a:ext cx="0" cy="2743200"/>
          </a:xfrm>
          <a:prstGeom prst="line">
            <a:avLst/>
          </a:prstGeom>
          <a:noFill/>
          <a:ln w="25400">
            <a:solidFill>
              <a:schemeClr val="accent1">
                <a:alpha val="50000"/>
              </a:schemeClr>
            </a:solidFill>
            <a:prstDash val="solid"/>
          </a:ln>
        </p:spPr>
      </p:sp>
      <p:sp>
        <p:nvSpPr>
          <p:cNvPr id="6" name="Shape 3"/>
          <p:cNvSpPr/>
          <p:nvPr/>
        </p:nvSpPr>
        <p:spPr>
          <a:xfrm>
            <a:off x="548640" y="1691640"/>
            <a:ext cx="420624" cy="420624"/>
          </a:xfrm>
          <a:prstGeom prst="ellipse">
            <a:avLst/>
          </a:prstGeom>
          <a:solidFill>
            <a:schemeClr val="accent2"/>
          </a:solidFill>
          <a:ln w="25400">
            <a:solidFill>
              <a:schemeClr val="bg1"/>
            </a:solidFill>
            <a:prstDash val="solid"/>
          </a:ln>
        </p:spPr>
      </p:sp>
      <p:sp>
        <p:nvSpPr>
          <p:cNvPr id="7" name="Text 4"/>
          <p:cNvSpPr txBox="1"/>
          <p:nvPr/>
        </p:nvSpPr>
        <p:spPr>
          <a:xfrm>
            <a:off x="548640" y="16916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1197864" y="1728216"/>
            <a:ext cx="648309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Zero or identical</a:t>
            </a:r>
            <a:endParaRPr lang="en-US" sz="1900" dirty="0"/>
          </a:p>
        </p:txBody>
      </p:sp>
      <p:sp>
        <p:nvSpPr>
          <p:cNvPr id="9" name="Text 6"/>
          <p:cNvSpPr txBox="1"/>
          <p:nvPr/>
        </p:nvSpPr>
        <p:spPr>
          <a:xfrm>
            <a:off x="1197864" y="2031238"/>
            <a:ext cx="6483096" cy="99542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Every unit gets the same gradient and stays identical forever. A 512-unit layer acts like one unit: initialization must be random.</a:t>
            </a:r>
            <a:endParaRPr lang="en-US" sz="1600" dirty="0"/>
          </a:p>
        </p:txBody>
      </p:sp>
      <p:sp>
        <p:nvSpPr>
          <p:cNvPr id="10" name="Shape 7"/>
          <p:cNvSpPr/>
          <p:nvPr/>
        </p:nvSpPr>
        <p:spPr>
          <a:xfrm>
            <a:off x="548640" y="3063240"/>
            <a:ext cx="420624" cy="420624"/>
          </a:xfrm>
          <a:prstGeom prst="ellipse">
            <a:avLst/>
          </a:prstGeom>
          <a:solidFill>
            <a:schemeClr val="accent2"/>
          </a:solidFill>
          <a:ln w="25400">
            <a:solidFill>
              <a:schemeClr val="bg1"/>
            </a:solidFill>
            <a:prstDash val="solid"/>
          </a:ln>
        </p:spPr>
      </p:sp>
      <p:sp>
        <p:nvSpPr>
          <p:cNvPr id="11" name="Text 8"/>
          <p:cNvSpPr txBox="1"/>
          <p:nvPr/>
        </p:nvSpPr>
        <p:spPr>
          <a:xfrm>
            <a:off x="548640" y="30632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1197864" y="3099816"/>
            <a:ext cx="648309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Too large</a:t>
            </a:r>
            <a:endParaRPr lang="en-US" sz="1900" dirty="0"/>
          </a:p>
        </p:txBody>
      </p:sp>
      <p:sp>
        <p:nvSpPr>
          <p:cNvPr id="13" name="Text 10"/>
          <p:cNvSpPr txBox="1"/>
          <p:nvPr/>
        </p:nvSpPr>
        <p:spPr>
          <a:xfrm>
            <a:off x="1197864" y="3402838"/>
            <a:ext cx="6483096" cy="99542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Pre-activations land in the flat tails of sigmoid or tanh (g′ ≈ 0); with ReLU activations explode, often to nan.</a:t>
            </a:r>
            <a:endParaRPr lang="en-US" sz="1600" dirty="0"/>
          </a:p>
        </p:txBody>
      </p:sp>
      <p:sp>
        <p:nvSpPr>
          <p:cNvPr id="14" name="Shape 11"/>
          <p:cNvSpPr/>
          <p:nvPr/>
        </p:nvSpPr>
        <p:spPr>
          <a:xfrm>
            <a:off x="548640" y="4434840"/>
            <a:ext cx="420624" cy="420624"/>
          </a:xfrm>
          <a:prstGeom prst="ellipse">
            <a:avLst/>
          </a:prstGeom>
          <a:solidFill>
            <a:schemeClr val="accent2"/>
          </a:solidFill>
          <a:ln w="25400">
            <a:solidFill>
              <a:schemeClr val="bg1"/>
            </a:solidFill>
            <a:prstDash val="solid"/>
          </a:ln>
        </p:spPr>
      </p:sp>
      <p:sp>
        <p:nvSpPr>
          <p:cNvPr id="15" name="Text 12"/>
          <p:cNvSpPr txBox="1"/>
          <p:nvPr/>
        </p:nvSpPr>
        <p:spPr>
          <a:xfrm>
            <a:off x="548640" y="44348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3"/>
          <p:cNvSpPr txBox="1"/>
          <p:nvPr/>
        </p:nvSpPr>
        <p:spPr>
          <a:xfrm>
            <a:off x="1197864" y="4471416"/>
            <a:ext cx="648309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Too small</a:t>
            </a:r>
            <a:endParaRPr lang="en-US" sz="1900" dirty="0"/>
          </a:p>
        </p:txBody>
      </p:sp>
      <p:sp>
        <p:nvSpPr>
          <p:cNvPr id="17" name="Text 14"/>
          <p:cNvSpPr txBox="1"/>
          <p:nvPr/>
        </p:nvSpPr>
        <p:spPr>
          <a:xfrm>
            <a:off x="1197864" y="4774438"/>
            <a:ext cx="6483096" cy="99542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The signal shrinks layer by layer and vanishes.</a:t>
            </a:r>
            <a:endParaRPr lang="en-US" sz="1600" dirty="0"/>
          </a:p>
        </p:txBody>
      </p:sp>
      <p:sp>
        <p:nvSpPr>
          <p:cNvPr id="18" name="Shape 15"/>
          <p:cNvSpPr/>
          <p:nvPr/>
        </p:nvSpPr>
        <p:spPr>
          <a:xfrm>
            <a:off x="8138160" y="1691640"/>
            <a:ext cx="3502152" cy="2194560"/>
          </a:xfrm>
          <a:prstGeom prst="roundRect">
            <a:avLst>
              <a:gd name="adj" fmla="val 3333"/>
            </a:avLst>
          </a:prstGeom>
          <a:solidFill>
            <a:schemeClr val="accent1">
              <a:alpha val="10000"/>
            </a:schemeClr>
          </a:solidFill>
          <a:ln w="12700">
            <a:solidFill>
              <a:schemeClr val="accent1">
                <a:alpha val="10000"/>
              </a:schemeClr>
            </a:solidFill>
            <a:prstDash val="solid"/>
          </a:ln>
        </p:spPr>
      </p:sp>
      <p:sp>
        <p:nvSpPr>
          <p:cNvPr id="19" name="Text 16"/>
          <p:cNvSpPr txBox="1"/>
          <p:nvPr/>
        </p:nvSpPr>
        <p:spPr>
          <a:xfrm>
            <a:off x="8366760" y="1691640"/>
            <a:ext cx="3044952" cy="2194560"/>
          </a:xfrm>
          <a:prstGeom prst="rect">
            <a:avLst/>
          </a:prstGeom>
          <a:noFill/>
          <a:ln/>
        </p:spPr>
        <p:txBody>
          <a:bodyPr wrap="square" lIns="0" tIns="0" rIns="0" bIns="0" rtlCol="0" anchor="ctr"/>
          <a:lstStyle/>
          <a:p>
            <a:pPr algn="l" indent="0" marL="0">
              <a:lnSpc>
                <a:spcPct val="105000"/>
              </a:lnSpc>
              <a:buNone/>
            </a:pPr>
            <a:r>
              <a:rPr lang="en-US" sz="2100" b="1" dirty="0">
                <a:solidFill>
                  <a:schemeClr val="accent1"/>
                </a:solidFill>
              </a:rPr>
              <a:t>Random, and scaled to the layer: He for ReLU, Xavier for tanh.</a:t>
            </a:r>
            <a:endParaRPr lang="en-US" sz="21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§9 · VANISHING GRADIENTS AND INITIALIZATION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Across 20 ReLU layers, only He keeps the signal alive</a:t>
            </a:r>
            <a:endParaRPr lang="en-US" sz="3000" dirty="0"/>
          </a:p>
        </p:txBody>
      </p:sp>
      <p:graphicFrame>
        <p:nvGraphicFramePr>
          <p:cNvPr id="5" name="Chart 0" descr=""/>
          <p:cNvGraphicFramePr/>
          <p:nvPr/>
        </p:nvGraphicFramePr>
        <p:xfrm>
          <a:off x="457200" y="1600200"/>
          <a:ext cx="6766560" cy="4526280"/>
        </p:xfrm>
        <a:graphic xmlns:a="http://schemas.openxmlformats.org/drawingml/2006/main">
          <a:graphicData uri="http://schemas.openxmlformats.org/drawingml/2006/chart">
            <c:chart xmlns:c="http://schemas.openxmlformats.org/drawingml/2006/chart" r:id="rId1"/>
          </a:graphicData>
        </a:graphic>
      </p:graphicFrame>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589520" y="1645920"/>
          <a:ext cx="4050792" cy="914400"/>
        </p:xfrm>
        <a:graphic>
          <a:graphicData uri="http://schemas.openxmlformats.org/drawingml/2006/table">
            <a:tbl>
              <a:tblPr/>
              <a:tblGrid>
                <a:gridCol w="1097280"/>
                <a:gridCol w="868680"/>
                <a:gridCol w="1042416"/>
                <a:gridCol w="1042416"/>
              </a:tblGrid>
              <a:tr h="457200">
                <a:tc>
                  <a:txBody>
                    <a:bodyPr/>
                    <a:lstStyle/>
                    <a:p>
                      <a:pPr indent="0" marL="0">
                        <a:buNone/>
                      </a:pPr>
                      <a:r>
                        <a:rPr lang="en-US" sz="1400" b="1" dirty="0">
                          <a:solidFill>
                            <a:schemeClr val="bg1"/>
                          </a:solidFill>
                        </a:rPr>
                        <a:t>Init</a:t>
                      </a:r>
                      <a:endParaRPr lang="en-US" sz="14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Layer 1</a:t>
                      </a:r>
                      <a:endParaRPr lang="en-US" sz="14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Layer 10</a:t>
                      </a:r>
                      <a:endParaRPr lang="en-US" sz="14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Layer 20</a:t>
                      </a:r>
                      <a:endParaRPr lang="en-US" sz="14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r>
              <a:tr h="457200">
                <a:tc>
                  <a:txBody>
                    <a:bodyPr/>
                    <a:lstStyle/>
                    <a:p>
                      <a:pPr indent="0" marL="0">
                        <a:buNone/>
                      </a:pPr>
                      <a:r>
                        <a:rPr lang="en-US" sz="1400" b="1" dirty="0">
                          <a:solidFill>
                            <a:schemeClr val="accent1"/>
                          </a:solidFill>
                        </a:rPr>
                        <a:t>He</a:t>
                      </a:r>
                      <a:endParaRPr lang="en-US" sz="14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400" dirty="0">
                          <a:solidFill>
                            <a:schemeClr val="accent1"/>
                          </a:solidFill>
                        </a:rPr>
                        <a:t>0.82</a:t>
                      </a:r>
                      <a:endParaRPr lang="en-US" sz="14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400" dirty="0">
                          <a:solidFill>
                            <a:schemeClr val="accent1"/>
                          </a:solidFill>
                        </a:rPr>
                        <a:t>0.87</a:t>
                      </a:r>
                      <a:endParaRPr lang="en-US" sz="14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400" dirty="0">
                          <a:solidFill>
                            <a:schemeClr val="accent1"/>
                          </a:solidFill>
                        </a:rPr>
                        <a:t>0.96</a:t>
                      </a:r>
                      <a:endParaRPr lang="en-US" sz="14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r>
              <a:tr h="457200">
                <a:tc>
                  <a:txBody>
                    <a:bodyPr/>
                    <a:lstStyle/>
                    <a:p>
                      <a:pPr indent="0" marL="0">
                        <a:buNone/>
                      </a:pPr>
                      <a:r>
                        <a:rPr lang="en-US" sz="1400" dirty="0">
                          <a:solidFill>
                            <a:schemeClr val="tx1"/>
                          </a:solidFill>
                        </a:rPr>
                        <a:t>Xavier</a:t>
                      </a:r>
                      <a:endParaRPr lang="en-US" sz="14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400" dirty="0">
                          <a:solidFill>
                            <a:schemeClr val="tx1"/>
                          </a:solidFill>
                        </a:rPr>
                        <a:t>0.58</a:t>
                      </a:r>
                      <a:endParaRPr lang="en-US" sz="14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400" dirty="0">
                          <a:solidFill>
                            <a:schemeClr val="tx1"/>
                          </a:solidFill>
                        </a:rPr>
                        <a:t>0.023</a:t>
                      </a:r>
                      <a:endParaRPr lang="en-US" sz="14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400" dirty="0">
                          <a:solidFill>
                            <a:schemeClr val="tx1"/>
                          </a:solidFill>
                        </a:rPr>
                        <a:t>6.5 × 10⁻⁴</a:t>
                      </a:r>
                      <a:endParaRPr lang="en-US" sz="14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457200">
                <a:tc>
                  <a:txBody>
                    <a:bodyPr/>
                    <a:lstStyle/>
                    <a:p>
                      <a:pPr indent="0" marL="0">
                        <a:buNone/>
                      </a:pPr>
                      <a:r>
                        <a:rPr lang="en-US" sz="1400" dirty="0">
                          <a:solidFill>
                            <a:schemeClr val="tx1"/>
                          </a:solidFill>
                        </a:rPr>
                        <a:t>std 0.01</a:t>
                      </a:r>
                      <a:endParaRPr lang="en-US" sz="14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0.094</a:t>
                      </a:r>
                      <a:endParaRPr lang="en-US" sz="14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2.8 × 10⁻¹⁰</a:t>
                      </a:r>
                      <a:endParaRPr lang="en-US" sz="14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7.9 × 10⁻²⁰</a:t>
                      </a:r>
                      <a:endParaRPr lang="en-US" sz="14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457200">
                <a:tc>
                  <a:txBody>
                    <a:bodyPr/>
                    <a:lstStyle/>
                    <a:p>
                      <a:pPr indent="0" marL="0">
                        <a:buNone/>
                      </a:pPr>
                      <a:r>
                        <a:rPr lang="en-US" sz="1400" dirty="0">
                          <a:solidFill>
                            <a:schemeClr val="tx1"/>
                          </a:solidFill>
                        </a:rPr>
                        <a:t>std 1.0</a:t>
                      </a:r>
                      <a:endParaRPr lang="en-US" sz="14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400" dirty="0">
                          <a:solidFill>
                            <a:schemeClr val="tx1"/>
                          </a:solidFill>
                        </a:rPr>
                        <a:t>9.4</a:t>
                      </a:r>
                      <a:endParaRPr lang="en-US" sz="14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400" dirty="0">
                          <a:solidFill>
                            <a:schemeClr val="tx1"/>
                          </a:solidFill>
                        </a:rPr>
                        <a:t>2.5 × 10¹⁰</a:t>
                      </a:r>
                      <a:endParaRPr lang="en-US" sz="14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400" dirty="0">
                          <a:solidFill>
                            <a:schemeClr val="tx1"/>
                          </a:solidFill>
                        </a:rPr>
                        <a:t>7.9 × 10²⁰</a:t>
                      </a:r>
                      <a:endParaRPr lang="en-US" sz="14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bl>
          </a:graphicData>
        </a:graphic>
      </p:graphicFrame>
      <p:sp>
        <p:nvSpPr>
          <p:cNvPr id="7" name="Text 2"/>
          <p:cNvSpPr txBox="1"/>
          <p:nvPr/>
        </p:nvSpPr>
        <p:spPr>
          <a:xfrm>
            <a:off x="7589520" y="4114800"/>
            <a:ext cx="4050792" cy="822960"/>
          </a:xfrm>
          <a:prstGeom prst="rect">
            <a:avLst/>
          </a:prstGeom>
          <a:noFill/>
          <a:ln/>
        </p:spPr>
        <p:txBody>
          <a:bodyPr wrap="square" lIns="0" tIns="0" rIns="0" bIns="0" rtlCol="0" anchor="t"/>
          <a:lstStyle/>
          <a:p>
            <a:pPr algn="l" indent="0" marL="0">
              <a:lnSpc>
                <a:spcPct val="105000"/>
              </a:lnSpc>
              <a:buNone/>
            </a:pPr>
            <a:r>
              <a:rPr lang="en-US" sz="1400" dirty="0">
                <a:solidFill>
                  <a:schemeClr val="tx2"/>
                </a:solidFill>
              </a:rPr>
              <a:t>Width 256, 1,000 random inputs, one seeded run (NumPy reproduction of the tutorial’s PyTorch script).</a:t>
            </a:r>
            <a:endParaRPr lang="en-US" sz="1400" dirty="0"/>
          </a:p>
        </p:txBody>
      </p:sp>
      <p:sp>
        <p:nvSpPr>
          <p:cNvPr id="8" name="Text 3"/>
          <p:cNvSpPr txBox="1"/>
          <p:nvPr/>
        </p:nvSpPr>
        <p:spPr>
          <a:xfrm>
            <a:off x="7589520" y="5029200"/>
            <a:ext cx="4050792" cy="640080"/>
          </a:xfrm>
          <a:prstGeom prst="rect">
            <a:avLst/>
          </a:prstGeom>
          <a:noFill/>
          <a:ln/>
        </p:spPr>
        <p:txBody>
          <a:bodyPr wrap="square" lIns="0" tIns="0" rIns="0" bIns="0" rtlCol="0" anchor="t"/>
          <a:lstStyle/>
          <a:p>
            <a:pPr algn="l" indent="0" marL="0">
              <a:lnSpc>
                <a:spcPct val="105000"/>
              </a:lnSpc>
              <a:buNone/>
            </a:pPr>
            <a:r>
              <a:rPr lang="en-US" sz="1700" b="1" dirty="0">
                <a:solidFill>
                  <a:schemeClr val="accent1"/>
                </a:solidFill>
              </a:rPr>
              <a:t>The backward gradient behaves the same way.</a:t>
            </a:r>
            <a:endParaRPr lang="en-US" sz="17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§9 · VANISHING GRADIENTS AND INITIALIZATION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PyTorch defaults, and when to override them</a:t>
            </a:r>
            <a:endParaRPr lang="en-US" sz="3000" dirty="0"/>
          </a:p>
        </p:txBody>
      </p:sp>
      <p:sp>
        <p:nvSpPr>
          <p:cNvPr id="5" name="Shape 2"/>
          <p:cNvSpPr/>
          <p:nvPr/>
        </p:nvSpPr>
        <p:spPr>
          <a:xfrm>
            <a:off x="548640" y="1645920"/>
            <a:ext cx="6675120" cy="2916936"/>
          </a:xfrm>
          <a:prstGeom prst="roundRect">
            <a:avLst>
              <a:gd name="adj" fmla="val 2508"/>
            </a:avLst>
          </a:prstGeom>
          <a:solidFill>
            <a:schemeClr val="bg2"/>
          </a:solidFill>
          <a:ln w="12700">
            <a:solidFill>
              <a:schemeClr val="bg2"/>
            </a:solidFill>
            <a:prstDash val="solid"/>
          </a:ln>
        </p:spPr>
      </p:sp>
      <p:sp>
        <p:nvSpPr>
          <p:cNvPr id="6" name="Text 3"/>
          <p:cNvSpPr txBox="1"/>
          <p:nvPr/>
        </p:nvSpPr>
        <p:spPr>
          <a:xfrm>
            <a:off x="749808" y="1819656"/>
            <a:ext cx="6272784" cy="2569464"/>
          </a:xfrm>
          <a:prstGeom prst="rect">
            <a:avLst/>
          </a:prstGeom>
          <a:noFill/>
          <a:ln/>
        </p:spPr>
        <p:txBody>
          <a:bodyPr wrap="square" lIns="0" tIns="0" rIns="0" bIns="0" rtlCol="0" anchor="t"/>
          <a:lstStyle/>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def init_weights(m):</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    if isinstance(m, (nn.Linear, nn.Conv2d)):</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        nn.init.kaiming_normal_(m.weight,</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            mode="fan_out", nonlinearity="relu")</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        if m.bias is not None:</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            nn.init.zeros_(m.bias)</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    elif isinstance(m, nn.BatchNorm2d):</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        nn.init.ones_(m.weight)</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        nn.init.zeros_(m.bias)</a:t>
            </a:r>
            <a:endParaRPr lang="en-US" sz="1500" dirty="0"/>
          </a:p>
          <a:p>
            <a:pPr indent="0" marL="0">
              <a:lnSpc>
                <a:spcPct val="100000"/>
              </a:lnSpc>
              <a:buNone/>
            </a:pPr>
            <a:r>
              <a:rPr lang="en-US" sz="1500" dirty="0">
                <a:solidFill>
                  <a:srgbClr val="000000"/>
                </a:solidFill>
                <a:latin typeface="Consolas" pitchFamily="34" charset="0"/>
                <a:ea typeface="Consolas" pitchFamily="34" charset="-122"/>
                <a:cs typeface="Consolas" pitchFamily="34" charset="-120"/>
              </a:rPr>
              <a:t> </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model.apply(init_weights)   </a:t>
            </a:r>
            <a:r>
              <a:rPr lang="en-US" sz="1500" dirty="0">
                <a:solidFill>
                  <a:schemeClr val="accent1"/>
                </a:solidFill>
                <a:latin typeface="Consolas" pitchFamily="34" charset="0"/>
                <a:ea typeface="Consolas" pitchFamily="34" charset="-122"/>
                <a:cs typeface="Consolas" pitchFamily="34" charset="-120"/>
              </a:rPr>
              <a:t># recursive</a:t>
            </a:r>
            <a:endParaRPr lang="en-US" sz="1500" dirty="0"/>
          </a:p>
        </p:txBody>
      </p:sp>
      <p:sp>
        <p:nvSpPr>
          <p:cNvPr id="7" name="Shape 4"/>
          <p:cNvSpPr/>
          <p:nvPr/>
        </p:nvSpPr>
        <p:spPr>
          <a:xfrm>
            <a:off x="7680960" y="1645920"/>
            <a:ext cx="3959352" cy="1965960"/>
          </a:xfrm>
          <a:prstGeom prst="roundRect">
            <a:avLst>
              <a:gd name="adj" fmla="val 3721"/>
            </a:avLst>
          </a:prstGeom>
          <a:solidFill>
            <a:schemeClr val="bg2"/>
          </a:solidFill>
          <a:ln w="12700">
            <a:solidFill>
              <a:schemeClr val="bg2"/>
            </a:solidFill>
            <a:prstDash val="solid"/>
          </a:ln>
        </p:spPr>
      </p:sp>
      <p:sp>
        <p:nvSpPr>
          <p:cNvPr id="8" name="Text 5"/>
          <p:cNvSpPr txBox="1"/>
          <p:nvPr/>
        </p:nvSpPr>
        <p:spPr>
          <a:xfrm>
            <a:off x="7882128" y="1847088"/>
            <a:ext cx="355701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The default</a:t>
            </a:r>
            <a:endParaRPr lang="en-US" sz="1900" dirty="0"/>
          </a:p>
        </p:txBody>
      </p:sp>
      <p:sp>
        <p:nvSpPr>
          <p:cNvPr id="9" name="Text 6"/>
          <p:cNvSpPr txBox="1"/>
          <p:nvPr/>
        </p:nvSpPr>
        <p:spPr>
          <a:xfrm>
            <a:off x="7882128" y="2204974"/>
            <a:ext cx="3557016" cy="1205738"/>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Kaiming-uniform with a = √5: Var(w) = 1/(3·nᵢₙ). Conservative for ReLU, but acceptable.</a:t>
            </a:r>
            <a:endParaRPr lang="en-US" sz="1600" dirty="0"/>
          </a:p>
        </p:txBody>
      </p:sp>
      <p:sp>
        <p:nvSpPr>
          <p:cNvPr id="10" name="Shape 7"/>
          <p:cNvSpPr/>
          <p:nvPr/>
        </p:nvSpPr>
        <p:spPr>
          <a:xfrm>
            <a:off x="7680960" y="3840480"/>
            <a:ext cx="3959352" cy="2103120"/>
          </a:xfrm>
          <a:prstGeom prst="roundRect">
            <a:avLst>
              <a:gd name="adj" fmla="val 3478"/>
            </a:avLst>
          </a:prstGeom>
          <a:solidFill>
            <a:schemeClr val="accent1">
              <a:alpha val="10000"/>
            </a:schemeClr>
          </a:solidFill>
          <a:ln w="12700">
            <a:solidFill>
              <a:schemeClr val="accent1">
                <a:alpha val="10000"/>
              </a:schemeClr>
            </a:solidFill>
            <a:prstDash val="solid"/>
          </a:ln>
        </p:spPr>
      </p:sp>
      <p:sp>
        <p:nvSpPr>
          <p:cNvPr id="11" name="Text 8"/>
          <p:cNvSpPr txBox="1"/>
          <p:nvPr/>
        </p:nvSpPr>
        <p:spPr>
          <a:xfrm>
            <a:off x="7882128" y="4041648"/>
            <a:ext cx="355701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accent1"/>
                </a:solidFill>
              </a:rPr>
              <a:t>Zero-γ residual trick</a:t>
            </a:r>
            <a:endParaRPr lang="en-US" sz="1900" dirty="0"/>
          </a:p>
        </p:txBody>
      </p:sp>
      <p:sp>
        <p:nvSpPr>
          <p:cNvPr id="12" name="Text 9"/>
          <p:cNvSpPr txBox="1"/>
          <p:nvPr/>
        </p:nvSpPr>
        <p:spPr>
          <a:xfrm>
            <a:off x="7882128" y="4399534"/>
            <a:ext cx="3557016" cy="1342898"/>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Set the last BatchNorm γ in each residual block to 0. Every block starts as the identity, and the network deepens itself as it trains.</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§9 · VANISHING GRADIENTS AND INITIALIZATION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Four more defences against bad gradient flow</a:t>
            </a:r>
            <a:endParaRPr lang="en-US" sz="3000" dirty="0"/>
          </a:p>
        </p:txBody>
      </p:sp>
      <p:sp>
        <p:nvSpPr>
          <p:cNvPr id="5" name="Shape 2"/>
          <p:cNvSpPr/>
          <p:nvPr/>
        </p:nvSpPr>
        <p:spPr>
          <a:xfrm>
            <a:off x="758952" y="1901952"/>
            <a:ext cx="0" cy="3236976"/>
          </a:xfrm>
          <a:prstGeom prst="line">
            <a:avLst/>
          </a:prstGeom>
          <a:noFill/>
          <a:ln w="25400">
            <a:solidFill>
              <a:schemeClr val="accent1">
                <a:alpha val="50000"/>
              </a:schemeClr>
            </a:solidFill>
            <a:prstDash val="solid"/>
          </a:ln>
        </p:spPr>
      </p:sp>
      <p:sp>
        <p:nvSpPr>
          <p:cNvPr id="6" name="Shape 3"/>
          <p:cNvSpPr/>
          <p:nvPr/>
        </p:nvSpPr>
        <p:spPr>
          <a:xfrm>
            <a:off x="548640" y="1691640"/>
            <a:ext cx="420624" cy="420624"/>
          </a:xfrm>
          <a:prstGeom prst="ellipse">
            <a:avLst/>
          </a:prstGeom>
          <a:solidFill>
            <a:schemeClr val="accent1"/>
          </a:solidFill>
          <a:ln w="25400">
            <a:solidFill>
              <a:schemeClr val="bg1"/>
            </a:solidFill>
            <a:prstDash val="solid"/>
          </a:ln>
        </p:spPr>
      </p:sp>
      <p:sp>
        <p:nvSpPr>
          <p:cNvPr id="7" name="Text 4"/>
          <p:cNvSpPr txBox="1"/>
          <p:nvPr/>
        </p:nvSpPr>
        <p:spPr>
          <a:xfrm>
            <a:off x="548640" y="16916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1197864" y="1728216"/>
            <a:ext cx="566013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Non-saturating activations</a:t>
            </a:r>
            <a:endParaRPr lang="en-US" sz="1900" dirty="0"/>
          </a:p>
        </p:txBody>
      </p:sp>
      <p:sp>
        <p:nvSpPr>
          <p:cNvPr id="9" name="Text 6"/>
          <p:cNvSpPr txBox="1"/>
          <p:nvPr/>
        </p:nvSpPr>
        <p:spPr>
          <a:xfrm>
            <a:off x="1197864" y="2031238"/>
            <a:ext cx="5660136" cy="702818"/>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ReLU and its relatives (lecture 1, §3).</a:t>
            </a:r>
            <a:endParaRPr lang="en-US" sz="1600" dirty="0"/>
          </a:p>
        </p:txBody>
      </p:sp>
      <p:sp>
        <p:nvSpPr>
          <p:cNvPr id="10" name="Shape 7"/>
          <p:cNvSpPr/>
          <p:nvPr/>
        </p:nvSpPr>
        <p:spPr>
          <a:xfrm>
            <a:off x="548640" y="2770632"/>
            <a:ext cx="420624" cy="420624"/>
          </a:xfrm>
          <a:prstGeom prst="ellipse">
            <a:avLst/>
          </a:prstGeom>
          <a:solidFill>
            <a:schemeClr val="accent1"/>
          </a:solidFill>
          <a:ln w="25400">
            <a:solidFill>
              <a:schemeClr val="bg1"/>
            </a:solidFill>
            <a:prstDash val="solid"/>
          </a:ln>
        </p:spPr>
      </p:sp>
      <p:sp>
        <p:nvSpPr>
          <p:cNvPr id="11" name="Text 8"/>
          <p:cNvSpPr txBox="1"/>
          <p:nvPr/>
        </p:nvSpPr>
        <p:spPr>
          <a:xfrm>
            <a:off x="548640" y="2770632"/>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1197864" y="2807208"/>
            <a:ext cx="566013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Batch normalization</a:t>
            </a:r>
            <a:endParaRPr lang="en-US" sz="1900" dirty="0"/>
          </a:p>
        </p:txBody>
      </p:sp>
      <p:sp>
        <p:nvSpPr>
          <p:cNvPr id="13" name="Text 10"/>
          <p:cNvSpPr txBox="1"/>
          <p:nvPr/>
        </p:nvSpPr>
        <p:spPr>
          <a:xfrm>
            <a:off x="1197864" y="3110230"/>
            <a:ext cx="5660136" cy="702818"/>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Re-normalizes every layer; far less sensitive to initialization (§11).</a:t>
            </a:r>
            <a:endParaRPr lang="en-US" sz="1600" dirty="0"/>
          </a:p>
        </p:txBody>
      </p:sp>
      <p:sp>
        <p:nvSpPr>
          <p:cNvPr id="14" name="Shape 11"/>
          <p:cNvSpPr/>
          <p:nvPr/>
        </p:nvSpPr>
        <p:spPr>
          <a:xfrm>
            <a:off x="548640" y="3849624"/>
            <a:ext cx="420624" cy="420624"/>
          </a:xfrm>
          <a:prstGeom prst="ellipse">
            <a:avLst/>
          </a:prstGeom>
          <a:solidFill>
            <a:schemeClr val="accent1"/>
          </a:solidFill>
          <a:ln w="25400">
            <a:solidFill>
              <a:schemeClr val="bg1"/>
            </a:solidFill>
            <a:prstDash val="solid"/>
          </a:ln>
        </p:spPr>
      </p:sp>
      <p:sp>
        <p:nvSpPr>
          <p:cNvPr id="15" name="Text 12"/>
          <p:cNvSpPr txBox="1"/>
          <p:nvPr/>
        </p:nvSpPr>
        <p:spPr>
          <a:xfrm>
            <a:off x="548640" y="3849624"/>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3"/>
          <p:cNvSpPr txBox="1"/>
          <p:nvPr/>
        </p:nvSpPr>
        <p:spPr>
          <a:xfrm>
            <a:off x="1197864" y="3886200"/>
            <a:ext cx="566013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Residual connections</a:t>
            </a:r>
            <a:endParaRPr lang="en-US" sz="1900" dirty="0"/>
          </a:p>
        </p:txBody>
      </p:sp>
      <p:sp>
        <p:nvSpPr>
          <p:cNvPr id="17" name="Text 14"/>
          <p:cNvSpPr txBox="1"/>
          <p:nvPr/>
        </p:nvSpPr>
        <p:spPr>
          <a:xfrm>
            <a:off x="1197864" y="4189222"/>
            <a:ext cx="5660136" cy="702818"/>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y = x + F(x) gives the gradient a path with derivative exactly 1.</a:t>
            </a:r>
            <a:endParaRPr lang="en-US" sz="1600" dirty="0"/>
          </a:p>
        </p:txBody>
      </p:sp>
      <p:sp>
        <p:nvSpPr>
          <p:cNvPr id="18" name="Shape 15"/>
          <p:cNvSpPr/>
          <p:nvPr/>
        </p:nvSpPr>
        <p:spPr>
          <a:xfrm>
            <a:off x="548640" y="4928616"/>
            <a:ext cx="420624" cy="420624"/>
          </a:xfrm>
          <a:prstGeom prst="ellipse">
            <a:avLst/>
          </a:prstGeom>
          <a:solidFill>
            <a:schemeClr val="accent1"/>
          </a:solidFill>
          <a:ln w="25400">
            <a:solidFill>
              <a:schemeClr val="bg1"/>
            </a:solidFill>
            <a:prstDash val="solid"/>
          </a:ln>
        </p:spPr>
      </p:sp>
      <p:sp>
        <p:nvSpPr>
          <p:cNvPr id="19" name="Text 16"/>
          <p:cNvSpPr txBox="1"/>
          <p:nvPr/>
        </p:nvSpPr>
        <p:spPr>
          <a:xfrm>
            <a:off x="548640" y="4928616"/>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0" name="Text 17"/>
          <p:cNvSpPr txBox="1"/>
          <p:nvPr/>
        </p:nvSpPr>
        <p:spPr>
          <a:xfrm>
            <a:off x="1197864" y="4965192"/>
            <a:ext cx="566013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Gradient clipping</a:t>
            </a:r>
            <a:endParaRPr lang="en-US" sz="1900" dirty="0"/>
          </a:p>
        </p:txBody>
      </p:sp>
      <p:sp>
        <p:nvSpPr>
          <p:cNvPr id="21" name="Text 18"/>
          <p:cNvSpPr txBox="1"/>
          <p:nvPr/>
        </p:nvSpPr>
        <p:spPr>
          <a:xfrm>
            <a:off x="1197864" y="5268214"/>
            <a:ext cx="5660136" cy="702818"/>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Rescale the whole gradient if its norm exceeds a cap. Standard for RNNs and Transformers.</a:t>
            </a:r>
            <a:endParaRPr lang="en-US" sz="1600" dirty="0"/>
          </a:p>
        </p:txBody>
      </p:sp>
      <p:sp>
        <p:nvSpPr>
          <p:cNvPr id="22" name="Shape 19"/>
          <p:cNvSpPr/>
          <p:nvPr/>
        </p:nvSpPr>
        <p:spPr>
          <a:xfrm>
            <a:off x="7315200" y="1645920"/>
            <a:ext cx="4325112" cy="1664208"/>
          </a:xfrm>
          <a:prstGeom prst="roundRect">
            <a:avLst>
              <a:gd name="adj" fmla="val 4396"/>
            </a:avLst>
          </a:prstGeom>
          <a:solidFill>
            <a:schemeClr val="bg2"/>
          </a:solidFill>
          <a:ln w="12700">
            <a:solidFill>
              <a:schemeClr val="bg2"/>
            </a:solidFill>
            <a:prstDash val="solid"/>
          </a:ln>
        </p:spPr>
      </p:sp>
      <p:sp>
        <p:nvSpPr>
          <p:cNvPr id="23" name="Text 20"/>
          <p:cNvSpPr txBox="1"/>
          <p:nvPr/>
        </p:nvSpPr>
        <p:spPr>
          <a:xfrm>
            <a:off x="7516368" y="1764792"/>
            <a:ext cx="3922776"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CLIPPING: AFTER BACKWARD, BEFORE STEP</a:t>
            </a:r>
            <a:endParaRPr lang="en-US" sz="1200" dirty="0"/>
          </a:p>
        </p:txBody>
      </p:sp>
      <p:sp>
        <p:nvSpPr>
          <p:cNvPr id="24" name="Text 21"/>
          <p:cNvSpPr txBox="1"/>
          <p:nvPr/>
        </p:nvSpPr>
        <p:spPr>
          <a:xfrm>
            <a:off x="7516368" y="2167128"/>
            <a:ext cx="3922776" cy="969264"/>
          </a:xfrm>
          <a:prstGeom prst="rect">
            <a:avLst/>
          </a:prstGeom>
          <a:noFill/>
          <a:ln/>
        </p:spPr>
        <p:txBody>
          <a:bodyPr wrap="square" lIns="0" tIns="0" rIns="0" bIns="0" rtlCol="0" anchor="t"/>
          <a:lstStyle/>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loss.backward()</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nn.utils.clip_grad_norm_(</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    model.parameters(), 1.0)</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optimizer.step()</a:t>
            </a:r>
            <a:endParaRPr lang="en-US" sz="1500" dirty="0"/>
          </a:p>
        </p:txBody>
      </p:sp>
      <p:sp>
        <p:nvSpPr>
          <p:cNvPr id="25" name="Text 22"/>
          <p:cNvSpPr txBox="1"/>
          <p:nvPr/>
        </p:nvSpPr>
        <p:spPr>
          <a:xfrm>
            <a:off x="7315200" y="3520440"/>
            <a:ext cx="4325112" cy="731520"/>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Clipping preserves the gradient’s direction and caps its magnitude.</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§9 · CHECK YOURSELF</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Check yourself: initialization</a:t>
            </a:r>
            <a:endParaRPr lang="en-US" sz="3000" dirty="0"/>
          </a:p>
        </p:txBody>
      </p:sp>
      <p:sp>
        <p:nvSpPr>
          <p:cNvPr id="5" name="Shape 2"/>
          <p:cNvSpPr/>
          <p:nvPr/>
        </p:nvSpPr>
        <p:spPr>
          <a:xfrm>
            <a:off x="576072" y="1618488"/>
            <a:ext cx="457200" cy="457200"/>
          </a:xfrm>
          <a:prstGeom prst="ellipse">
            <a:avLst/>
          </a:prstGeom>
          <a:solidFill>
            <a:schemeClr val="accent1"/>
          </a:solidFill>
          <a:ln w="19050">
            <a:solidFill>
              <a:schemeClr val="accent1"/>
            </a:solidFill>
            <a:prstDash val="solid"/>
          </a:ln>
        </p:spPr>
      </p:sp>
      <p:sp>
        <p:nvSpPr>
          <p:cNvPr id="6" name="Text 3"/>
          <p:cNvSpPr txBox="1"/>
          <p:nvPr/>
        </p:nvSpPr>
        <p:spPr>
          <a:xfrm>
            <a:off x="393192" y="1618488"/>
            <a:ext cx="82296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1</a:t>
            </a:r>
            <a:endParaRPr lang="en-US" sz="1700" dirty="0"/>
          </a:p>
        </p:txBody>
      </p:sp>
      <p:sp>
        <p:nvSpPr>
          <p:cNvPr id="7" name="Text 4"/>
          <p:cNvSpPr txBox="1"/>
          <p:nvPr/>
        </p:nvSpPr>
        <p:spPr>
          <a:xfrm>
            <a:off x="1325880" y="1655064"/>
            <a:ext cx="10241280" cy="599440"/>
          </a:xfrm>
          <a:prstGeom prst="rect">
            <a:avLst/>
          </a:prstGeom>
          <a:noFill/>
          <a:ln/>
        </p:spPr>
        <p:txBody>
          <a:bodyPr wrap="square" lIns="0" tIns="0" rIns="0" bIns="0" rtlCol="0" anchor="t"/>
          <a:lstStyle/>
          <a:p>
            <a:pPr algn="l" indent="0" marL="0">
              <a:lnSpc>
                <a:spcPct val="105000"/>
              </a:lnSpc>
              <a:buNone/>
            </a:pPr>
            <a:r>
              <a:rPr lang="en-US" sz="2000" dirty="0">
                <a:solidFill>
                  <a:schemeClr val="tx1"/>
                </a:solidFill>
              </a:rPr>
              <a:t>A ReLU layer has 512 inputs and 256 outputs. What weight standard deviation does He initialization give? Xavier?</a:t>
            </a:r>
            <a:endParaRPr lang="en-US" sz="2000" dirty="0"/>
          </a:p>
        </p:txBody>
      </p:sp>
      <p:sp>
        <p:nvSpPr>
          <p:cNvPr id="8" name="Shape 5"/>
          <p:cNvSpPr/>
          <p:nvPr/>
        </p:nvSpPr>
        <p:spPr>
          <a:xfrm>
            <a:off x="576072" y="2629408"/>
            <a:ext cx="457200" cy="457200"/>
          </a:xfrm>
          <a:prstGeom prst="ellipse">
            <a:avLst/>
          </a:prstGeom>
          <a:solidFill>
            <a:schemeClr val="accent1"/>
          </a:solidFill>
          <a:ln w="19050">
            <a:solidFill>
              <a:schemeClr val="accent1"/>
            </a:solidFill>
            <a:prstDash val="solid"/>
          </a:ln>
        </p:spPr>
      </p:sp>
      <p:sp>
        <p:nvSpPr>
          <p:cNvPr id="9" name="Text 6"/>
          <p:cNvSpPr txBox="1"/>
          <p:nvPr/>
        </p:nvSpPr>
        <p:spPr>
          <a:xfrm>
            <a:off x="393192" y="2629408"/>
            <a:ext cx="82296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2</a:t>
            </a:r>
            <a:endParaRPr lang="en-US" sz="1700" dirty="0"/>
          </a:p>
        </p:txBody>
      </p:sp>
      <p:sp>
        <p:nvSpPr>
          <p:cNvPr id="10" name="Text 7"/>
          <p:cNvSpPr txBox="1"/>
          <p:nvPr/>
        </p:nvSpPr>
        <p:spPr>
          <a:xfrm>
            <a:off x="1325880" y="2665984"/>
            <a:ext cx="10241280" cy="502920"/>
          </a:xfrm>
          <a:prstGeom prst="rect">
            <a:avLst/>
          </a:prstGeom>
          <a:noFill/>
          <a:ln/>
        </p:spPr>
        <p:txBody>
          <a:bodyPr wrap="square" lIns="0" tIns="0" rIns="0" bIns="0" rtlCol="0" anchor="t"/>
          <a:lstStyle/>
          <a:p>
            <a:pPr algn="l" indent="0" marL="0">
              <a:lnSpc>
                <a:spcPct val="105000"/>
              </a:lnSpc>
              <a:buNone/>
            </a:pPr>
            <a:r>
              <a:rPr lang="en-US" sz="2000" dirty="0">
                <a:solidFill>
                  <a:schemeClr val="tx1"/>
                </a:solidFill>
              </a:rPr>
              <a:t>Why can biases be initialized to zero when weights cannot?</a:t>
            </a:r>
            <a:endParaRPr lang="en-US" sz="2000" dirty="0"/>
          </a:p>
        </p:txBody>
      </p:sp>
      <p:sp>
        <p:nvSpPr>
          <p:cNvPr id="11" name="Shape 8"/>
          <p:cNvSpPr/>
          <p:nvPr/>
        </p:nvSpPr>
        <p:spPr>
          <a:xfrm>
            <a:off x="576072" y="3543808"/>
            <a:ext cx="457200" cy="457200"/>
          </a:xfrm>
          <a:prstGeom prst="ellipse">
            <a:avLst/>
          </a:prstGeom>
          <a:solidFill>
            <a:schemeClr val="accent1"/>
          </a:solidFill>
          <a:ln w="19050">
            <a:solidFill>
              <a:schemeClr val="accent1"/>
            </a:solidFill>
            <a:prstDash val="solid"/>
          </a:ln>
        </p:spPr>
      </p:sp>
      <p:sp>
        <p:nvSpPr>
          <p:cNvPr id="12" name="Text 9"/>
          <p:cNvSpPr txBox="1"/>
          <p:nvPr/>
        </p:nvSpPr>
        <p:spPr>
          <a:xfrm>
            <a:off x="393192" y="3543808"/>
            <a:ext cx="82296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3</a:t>
            </a:r>
            <a:endParaRPr lang="en-US" sz="1700" dirty="0"/>
          </a:p>
        </p:txBody>
      </p:sp>
      <p:sp>
        <p:nvSpPr>
          <p:cNvPr id="13" name="Text 10"/>
          <p:cNvSpPr txBox="1"/>
          <p:nvPr/>
        </p:nvSpPr>
        <p:spPr>
          <a:xfrm>
            <a:off x="1325880" y="3580384"/>
            <a:ext cx="10241280" cy="599440"/>
          </a:xfrm>
          <a:prstGeom prst="rect">
            <a:avLst/>
          </a:prstGeom>
          <a:noFill/>
          <a:ln/>
        </p:spPr>
        <p:txBody>
          <a:bodyPr wrap="square" lIns="0" tIns="0" rIns="0" bIns="0" rtlCol="0" anchor="t"/>
          <a:lstStyle/>
          <a:p>
            <a:pPr algn="l" indent="0" marL="0">
              <a:lnSpc>
                <a:spcPct val="105000"/>
              </a:lnSpc>
              <a:buNone/>
            </a:pPr>
            <a:r>
              <a:rPr lang="en-US" sz="2000" dirty="0">
                <a:solidFill>
                  <a:schemeClr val="tx1"/>
                </a:solidFill>
              </a:rPr>
              <a:t>BatchNorm makes networks less sensitive to initialization. Does initialization stop mattering?</a:t>
            </a:r>
            <a:endParaRPr lang="en-US" sz="2000" dirty="0"/>
          </a:p>
        </p:txBody>
      </p:sp>
      <p:sp>
        <p:nvSpPr>
          <p:cNvPr id="14" name="Text 11"/>
          <p:cNvSpPr txBox="1"/>
          <p:nvPr/>
        </p:nvSpPr>
        <p:spPr>
          <a:xfrm>
            <a:off x="548640" y="5897880"/>
            <a:ext cx="7315200" cy="320040"/>
          </a:xfrm>
          <a:prstGeom prst="rect">
            <a:avLst/>
          </a:prstGeom>
          <a:noFill/>
          <a:ln/>
        </p:spPr>
        <p:txBody>
          <a:bodyPr wrap="square" lIns="0" tIns="0" rIns="0" bIns="0" rtlCol="0" anchor="t"/>
          <a:lstStyle/>
          <a:p>
            <a:pPr algn="l" indent="0" marL="0">
              <a:lnSpc>
                <a:spcPct val="105000"/>
              </a:lnSpc>
              <a:buNone/>
            </a:pPr>
            <a:r>
              <a:rPr lang="en-US" sz="1500" i="1" dirty="0">
                <a:solidFill>
                  <a:schemeClr val="tx2"/>
                </a:solidFill>
              </a:rPr>
              <a:t>Commit to an answer before the next slide.</a:t>
            </a:r>
            <a:endParaRPr lang="en-US" sz="15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§9 · ANSWERS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Answers: initialization</a:t>
            </a:r>
            <a:endParaRPr lang="en-US" sz="3000" dirty="0"/>
          </a:p>
        </p:txBody>
      </p:sp>
      <p:sp>
        <p:nvSpPr>
          <p:cNvPr id="5" name="Shape 2"/>
          <p:cNvSpPr/>
          <p:nvPr/>
        </p:nvSpPr>
        <p:spPr>
          <a:xfrm>
            <a:off x="576072" y="1554480"/>
            <a:ext cx="365760" cy="365760"/>
          </a:xfrm>
          <a:prstGeom prst="ellipse">
            <a:avLst/>
          </a:prstGeom>
          <a:solidFill>
            <a:schemeClr val="accent1"/>
          </a:solidFill>
          <a:ln w="19050">
            <a:solidFill>
              <a:schemeClr val="accent1"/>
            </a:solidFill>
            <a:prstDash val="solid"/>
          </a:ln>
        </p:spPr>
      </p:sp>
      <p:sp>
        <p:nvSpPr>
          <p:cNvPr id="6" name="Text 3"/>
          <p:cNvSpPr txBox="1"/>
          <p:nvPr/>
        </p:nvSpPr>
        <p:spPr>
          <a:xfrm>
            <a:off x="393192" y="1554480"/>
            <a:ext cx="7315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7" name="Text 4"/>
          <p:cNvSpPr txBox="1"/>
          <p:nvPr/>
        </p:nvSpPr>
        <p:spPr>
          <a:xfrm>
            <a:off x="1234440" y="1554480"/>
            <a:ext cx="10378440" cy="479552"/>
          </a:xfrm>
          <a:prstGeom prst="rect">
            <a:avLst/>
          </a:prstGeom>
          <a:noFill/>
          <a:ln/>
        </p:spPr>
        <p:txBody>
          <a:bodyPr wrap="square" lIns="0" tIns="0" rIns="0" bIns="0" rtlCol="0" anchor="t"/>
          <a:lstStyle/>
          <a:p>
            <a:pPr algn="l" indent="0" marL="0">
              <a:lnSpc>
                <a:spcPct val="105000"/>
              </a:lnSpc>
              <a:buNone/>
            </a:pPr>
            <a:r>
              <a:rPr lang="en-US" sz="1600" b="1" dirty="0">
                <a:solidFill>
                  <a:schemeClr val="tx2"/>
                </a:solidFill>
              </a:rPr>
              <a:t>A ReLU layer has 512 inputs and 256 outputs. What weight standard deviation does He initialization give? Xavier?</a:t>
            </a:r>
            <a:endParaRPr lang="en-US" sz="1600" dirty="0"/>
          </a:p>
        </p:txBody>
      </p:sp>
      <p:sp>
        <p:nvSpPr>
          <p:cNvPr id="8" name="Text 5"/>
          <p:cNvSpPr txBox="1"/>
          <p:nvPr/>
        </p:nvSpPr>
        <p:spPr>
          <a:xfrm>
            <a:off x="1234440" y="2088896"/>
            <a:ext cx="10378440" cy="349504"/>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He: √(2/512) = 0.0625. Xavier: √(2/(512 + 256)) = √(2/768) ≈ 0.0510.</a:t>
            </a:r>
            <a:endParaRPr lang="en-US" sz="1600" dirty="0"/>
          </a:p>
        </p:txBody>
      </p:sp>
      <p:sp>
        <p:nvSpPr>
          <p:cNvPr id="9" name="Shape 6"/>
          <p:cNvSpPr/>
          <p:nvPr/>
        </p:nvSpPr>
        <p:spPr>
          <a:xfrm>
            <a:off x="576072" y="2703576"/>
            <a:ext cx="365760" cy="365760"/>
          </a:xfrm>
          <a:prstGeom prst="ellipse">
            <a:avLst/>
          </a:prstGeom>
          <a:solidFill>
            <a:schemeClr val="accent1"/>
          </a:solidFill>
          <a:ln w="19050">
            <a:solidFill>
              <a:schemeClr val="accent1"/>
            </a:solidFill>
            <a:prstDash val="solid"/>
          </a:ln>
        </p:spPr>
      </p:sp>
      <p:sp>
        <p:nvSpPr>
          <p:cNvPr id="10" name="Text 7"/>
          <p:cNvSpPr txBox="1"/>
          <p:nvPr/>
        </p:nvSpPr>
        <p:spPr>
          <a:xfrm>
            <a:off x="393192" y="2703576"/>
            <a:ext cx="7315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1234440" y="2703576"/>
            <a:ext cx="10378440" cy="239776"/>
          </a:xfrm>
          <a:prstGeom prst="rect">
            <a:avLst/>
          </a:prstGeom>
          <a:noFill/>
          <a:ln/>
        </p:spPr>
        <p:txBody>
          <a:bodyPr wrap="square" lIns="0" tIns="0" rIns="0" bIns="0" rtlCol="0" anchor="t"/>
          <a:lstStyle/>
          <a:p>
            <a:pPr algn="l" indent="0" marL="0">
              <a:lnSpc>
                <a:spcPct val="105000"/>
              </a:lnSpc>
              <a:buNone/>
            </a:pPr>
            <a:r>
              <a:rPr lang="en-US" sz="1600" b="1" dirty="0">
                <a:solidFill>
                  <a:schemeClr val="tx2"/>
                </a:solidFill>
              </a:rPr>
              <a:t>Why can biases be initialized to zero when weights cannot?</a:t>
            </a:r>
            <a:endParaRPr lang="en-US" sz="1600" dirty="0"/>
          </a:p>
        </p:txBody>
      </p:sp>
      <p:sp>
        <p:nvSpPr>
          <p:cNvPr id="12" name="Text 9"/>
          <p:cNvSpPr txBox="1"/>
          <p:nvPr/>
        </p:nvSpPr>
        <p:spPr>
          <a:xfrm>
            <a:off x="1234440" y="2998216"/>
            <a:ext cx="10378440" cy="589280"/>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The random weights already break the symmetry, so identical biases do not make units identical: each still computes a different function of its inputs.</a:t>
            </a:r>
            <a:endParaRPr lang="en-US" sz="1600" dirty="0"/>
          </a:p>
        </p:txBody>
      </p:sp>
      <p:sp>
        <p:nvSpPr>
          <p:cNvPr id="13" name="Shape 10"/>
          <p:cNvSpPr/>
          <p:nvPr/>
        </p:nvSpPr>
        <p:spPr>
          <a:xfrm>
            <a:off x="576072" y="3852672"/>
            <a:ext cx="365760" cy="365760"/>
          </a:xfrm>
          <a:prstGeom prst="ellipse">
            <a:avLst/>
          </a:prstGeom>
          <a:solidFill>
            <a:schemeClr val="accent1"/>
          </a:solidFill>
          <a:ln w="19050">
            <a:solidFill>
              <a:schemeClr val="accent1"/>
            </a:solidFill>
            <a:prstDash val="solid"/>
          </a:ln>
        </p:spPr>
      </p:sp>
      <p:sp>
        <p:nvSpPr>
          <p:cNvPr id="14" name="Text 11"/>
          <p:cNvSpPr txBox="1"/>
          <p:nvPr/>
        </p:nvSpPr>
        <p:spPr>
          <a:xfrm>
            <a:off x="393192" y="3852672"/>
            <a:ext cx="7315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5" name="Text 12"/>
          <p:cNvSpPr txBox="1"/>
          <p:nvPr/>
        </p:nvSpPr>
        <p:spPr>
          <a:xfrm>
            <a:off x="1234440" y="3852672"/>
            <a:ext cx="10378440" cy="239776"/>
          </a:xfrm>
          <a:prstGeom prst="rect">
            <a:avLst/>
          </a:prstGeom>
          <a:noFill/>
          <a:ln/>
        </p:spPr>
        <p:txBody>
          <a:bodyPr wrap="square" lIns="0" tIns="0" rIns="0" bIns="0" rtlCol="0" anchor="t"/>
          <a:lstStyle/>
          <a:p>
            <a:pPr algn="l" indent="0" marL="0">
              <a:lnSpc>
                <a:spcPct val="105000"/>
              </a:lnSpc>
              <a:buNone/>
            </a:pPr>
            <a:r>
              <a:rPr lang="en-US" sz="1600" b="1" dirty="0">
                <a:solidFill>
                  <a:schemeClr val="tx2"/>
                </a:solidFill>
              </a:rPr>
              <a:t>BatchNorm makes networks less sensitive to initialization. Does initialization stop mattering?</a:t>
            </a:r>
            <a:endParaRPr lang="en-US" sz="1600" dirty="0"/>
          </a:p>
        </p:txBody>
      </p:sp>
      <p:sp>
        <p:nvSpPr>
          <p:cNvPr id="16" name="Text 13"/>
          <p:cNvSpPr txBox="1"/>
          <p:nvPr/>
        </p:nvSpPr>
        <p:spPr>
          <a:xfrm>
            <a:off x="1234440" y="4147312"/>
            <a:ext cx="10378440" cy="829056"/>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No. Sensitivity drops but does not vanish; deep networks still train faster with correct initialization, layers BatchNorm does not cover still depend on it, and normalization-free architectures rely on it entirely.</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7315200" cy="411480"/>
          </a:xfrm>
          <a:prstGeom prst="rect">
            <a:avLst/>
          </a:prstGeom>
          <a:noFill/>
          <a:ln/>
        </p:spPr>
        <p:txBody>
          <a:bodyPr wrap="square" lIns="0" tIns="0" rIns="0" bIns="0" rtlCol="0"/>
          <a:lstStyle/>
          <a:p>
            <a:pPr indent="0" marL="0">
              <a:buNone/>
            </a:pPr>
            <a:r>
              <a:rPr lang="en-US" sz="1600" b="1" spc="200" kern="0" dirty="0">
                <a:solidFill>
                  <a:schemeClr val="accent6"/>
                </a:solidFill>
              </a:rPr>
              <a:t>SECTION 10</a:t>
            </a:r>
            <a:endParaRPr lang="en-US" sz="1600" dirty="0"/>
          </a:p>
        </p:txBody>
      </p:sp>
      <p:sp>
        <p:nvSpPr>
          <p:cNvPr id="3" name="Text 0"/>
          <p:cNvSpPr/>
          <p:nvPr>
            <p:ph idx="101" type="title" hasCustomPrompt="1"/>
          </p:nvPr>
        </p:nvSpPr>
        <p:spPr>
          <a:xfrm>
            <a:off x="731520" y="1920240"/>
            <a:ext cx="6949440" cy="2103120"/>
          </a:xfrm>
          <a:prstGeom prst="rect">
            <a:avLst/>
          </a:prstGeom>
          <a:noFill/>
          <a:ln/>
        </p:spPr>
        <p:txBody>
          <a:bodyPr wrap="square" lIns="0" tIns="0" rIns="0" bIns="0" rtlCol="0" anchor="t"/>
          <a:lstStyle/>
          <a:p>
            <a:pPr algn="l" indent="0" marL="0">
              <a:buNone/>
            </a:pPr>
            <a:r>
              <a:rPr lang="en-US" sz="4400" b="1" dirty="0">
                <a:solidFill>
                  <a:schemeClr val="bg1"/>
                </a:solidFill>
              </a:rPr>
              <a:t>Optimizers</a:t>
            </a:r>
            <a:endParaRPr lang="en-US" sz="4400" dirty="0"/>
          </a:p>
        </p:txBody>
      </p:sp>
      <p:sp>
        <p:nvSpPr>
          <p:cNvPr id="4" name="Text 0"/>
          <p:cNvSpPr/>
          <p:nvPr>
            <p:ph idx="102" type="body" hasCustomPrompt="1"/>
          </p:nvPr>
        </p:nvSpPr>
        <p:spPr>
          <a:xfrm>
            <a:off x="731520" y="4160520"/>
            <a:ext cx="6766560" cy="1280160"/>
          </a:xfrm>
          <a:prstGeom prst="rect">
            <a:avLst/>
          </a:prstGeom>
          <a:noFill/>
          <a:ln/>
        </p:spPr>
        <p:txBody>
          <a:bodyPr wrap="square" lIns="0" tIns="0" rIns="0" bIns="0" rtlCol="0" anchor="t"/>
          <a:lstStyle/>
          <a:p>
            <a:pPr algn="l" indent="0" marL="0">
              <a:buNone/>
            </a:pPr>
            <a:r>
              <a:rPr lang="en-US" sz="2000" dirty="0">
                <a:solidFill>
                  <a:schemeClr val="bg2"/>
                </a:solidFill>
              </a:rPr>
              <a:t>Plain gradient descent treats every parameter alike and has no memory. Both are fixable.</a:t>
            </a:r>
            <a:endParaRPr lang="en-US" sz="2000" dirty="0"/>
          </a:p>
        </p:txBody>
      </p:sp>
      <p:sp>
        <p:nvSpPr>
          <p:cNvPr id="5" name="Text 3"/>
          <p:cNvSpPr txBox="1"/>
          <p:nvPr/>
        </p:nvSpPr>
        <p:spPr>
          <a:xfrm>
            <a:off x="8138160" y="1737360"/>
            <a:ext cx="3474720" cy="2377440"/>
          </a:xfrm>
          <a:prstGeom prst="rect">
            <a:avLst/>
          </a:prstGeom>
          <a:noFill/>
          <a:ln/>
        </p:spPr>
        <p:txBody>
          <a:bodyPr wrap="square" lIns="0" tIns="0" rIns="0" bIns="0" rtlCol="0" anchor="t"/>
          <a:lstStyle/>
          <a:p>
            <a:pPr algn="r" indent="0" marL="0">
              <a:lnSpc>
                <a:spcPct val="105000"/>
              </a:lnSpc>
              <a:buNone/>
            </a:pPr>
            <a:r>
              <a:rPr lang="en-US" sz="15000" b="1" dirty="0">
                <a:solidFill>
                  <a:schemeClr val="accent6"/>
                </a:solidFill>
              </a:rPr>
              <a:t>§10</a:t>
            </a:r>
            <a:endParaRPr lang="en-US" sz="15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§10 · OPTIMIZERS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In a ravine, plain SGD bounces across and crawls along</a:t>
            </a:r>
            <a:endParaRPr lang="en-US" sz="3000" dirty="0"/>
          </a:p>
        </p:txBody>
      </p:sp>
      <p:sp>
        <p:nvSpPr>
          <p:cNvPr id="5" name="Shape 2"/>
          <p:cNvSpPr/>
          <p:nvPr/>
        </p:nvSpPr>
        <p:spPr>
          <a:xfrm>
            <a:off x="1005840" y="2622499"/>
            <a:ext cx="4754880" cy="1521562"/>
          </a:xfrm>
          <a:prstGeom prst="ellipse">
            <a:avLst/>
          </a:prstGeom>
          <a:solidFill>
            <a:schemeClr val="accent1">
              <a:alpha val="8000"/>
            </a:schemeClr>
          </a:solidFill>
          <a:ln w="12700">
            <a:solidFill>
              <a:schemeClr val="accent1">
                <a:alpha val="60000"/>
              </a:schemeClr>
            </a:solidFill>
            <a:prstDash val="solid"/>
          </a:ln>
        </p:spPr>
      </p:sp>
      <p:sp>
        <p:nvSpPr>
          <p:cNvPr id="6" name="Shape 3"/>
          <p:cNvSpPr/>
          <p:nvPr/>
        </p:nvSpPr>
        <p:spPr>
          <a:xfrm>
            <a:off x="1554480" y="2798064"/>
            <a:ext cx="3657600" cy="1170432"/>
          </a:xfrm>
          <a:prstGeom prst="ellipse">
            <a:avLst/>
          </a:prstGeom>
          <a:solidFill>
            <a:schemeClr val="accent1">
              <a:alpha val="10000"/>
            </a:schemeClr>
          </a:solidFill>
          <a:ln w="12700">
            <a:solidFill>
              <a:schemeClr val="accent1">
                <a:alpha val="60000"/>
              </a:schemeClr>
            </a:solidFill>
            <a:prstDash val="solid"/>
          </a:ln>
        </p:spPr>
      </p:sp>
      <p:sp>
        <p:nvSpPr>
          <p:cNvPr id="7" name="Shape 4"/>
          <p:cNvSpPr/>
          <p:nvPr/>
        </p:nvSpPr>
        <p:spPr>
          <a:xfrm>
            <a:off x="2103120" y="2973629"/>
            <a:ext cx="2560320" cy="819302"/>
          </a:xfrm>
          <a:prstGeom prst="ellipse">
            <a:avLst/>
          </a:prstGeom>
          <a:solidFill>
            <a:schemeClr val="accent1">
              <a:alpha val="12000"/>
            </a:schemeClr>
          </a:solidFill>
          <a:ln w="12700">
            <a:solidFill>
              <a:schemeClr val="accent1">
                <a:alpha val="60000"/>
              </a:schemeClr>
            </a:solidFill>
            <a:prstDash val="solid"/>
          </a:ln>
        </p:spPr>
      </p:sp>
      <p:sp>
        <p:nvSpPr>
          <p:cNvPr id="8" name="Shape 5"/>
          <p:cNvSpPr/>
          <p:nvPr/>
        </p:nvSpPr>
        <p:spPr>
          <a:xfrm>
            <a:off x="2651760" y="3149194"/>
            <a:ext cx="1463040" cy="468173"/>
          </a:xfrm>
          <a:prstGeom prst="ellipse">
            <a:avLst/>
          </a:prstGeom>
          <a:solidFill>
            <a:schemeClr val="accent1">
              <a:alpha val="14000"/>
            </a:schemeClr>
          </a:solidFill>
          <a:ln w="12700">
            <a:solidFill>
              <a:schemeClr val="accent1">
                <a:alpha val="60000"/>
              </a:schemeClr>
            </a:solidFill>
            <a:prstDash val="solid"/>
          </a:ln>
        </p:spPr>
      </p:sp>
      <p:sp>
        <p:nvSpPr>
          <p:cNvPr id="9" name="Shape 6"/>
          <p:cNvSpPr/>
          <p:nvPr/>
        </p:nvSpPr>
        <p:spPr>
          <a:xfrm>
            <a:off x="3108960" y="3295498"/>
            <a:ext cx="548640" cy="175565"/>
          </a:xfrm>
          <a:prstGeom prst="ellipse">
            <a:avLst/>
          </a:prstGeom>
          <a:solidFill>
            <a:schemeClr val="accent1">
              <a:alpha val="16000"/>
            </a:schemeClr>
          </a:solidFill>
          <a:ln w="12700">
            <a:solidFill>
              <a:schemeClr val="accent1">
                <a:alpha val="60000"/>
              </a:schemeClr>
            </a:solidFill>
            <a:prstDash val="solid"/>
          </a:ln>
        </p:spPr>
      </p:sp>
      <p:sp>
        <p:nvSpPr>
          <p:cNvPr id="10" name="Shape 7"/>
          <p:cNvSpPr/>
          <p:nvPr/>
        </p:nvSpPr>
        <p:spPr>
          <a:xfrm>
            <a:off x="914400" y="2971800"/>
            <a:ext cx="365760" cy="868680"/>
          </a:xfrm>
          <a:prstGeom prst="line">
            <a:avLst/>
          </a:prstGeom>
          <a:noFill/>
          <a:ln w="28575">
            <a:solidFill>
              <a:srgbClr val="D45D27"/>
            </a:solidFill>
            <a:prstDash val="solid"/>
          </a:ln>
        </p:spPr>
      </p:sp>
      <p:sp>
        <p:nvSpPr>
          <p:cNvPr id="11" name="Shape 8"/>
          <p:cNvSpPr/>
          <p:nvPr/>
        </p:nvSpPr>
        <p:spPr>
          <a:xfrm flipV="1">
            <a:off x="1280160" y="2926080"/>
            <a:ext cx="365760" cy="914400"/>
          </a:xfrm>
          <a:prstGeom prst="line">
            <a:avLst/>
          </a:prstGeom>
          <a:noFill/>
          <a:ln w="28575">
            <a:solidFill>
              <a:srgbClr val="D45D27"/>
            </a:solidFill>
            <a:prstDash val="solid"/>
          </a:ln>
        </p:spPr>
      </p:sp>
      <p:sp>
        <p:nvSpPr>
          <p:cNvPr id="12" name="Shape 9"/>
          <p:cNvSpPr/>
          <p:nvPr/>
        </p:nvSpPr>
        <p:spPr>
          <a:xfrm>
            <a:off x="1645920" y="2926080"/>
            <a:ext cx="365760" cy="868680"/>
          </a:xfrm>
          <a:prstGeom prst="line">
            <a:avLst/>
          </a:prstGeom>
          <a:noFill/>
          <a:ln w="28575">
            <a:solidFill>
              <a:srgbClr val="D45D27"/>
            </a:solidFill>
            <a:prstDash val="solid"/>
          </a:ln>
        </p:spPr>
      </p:sp>
      <p:sp>
        <p:nvSpPr>
          <p:cNvPr id="13" name="Shape 10"/>
          <p:cNvSpPr/>
          <p:nvPr/>
        </p:nvSpPr>
        <p:spPr>
          <a:xfrm flipV="1">
            <a:off x="2011680" y="3017520"/>
            <a:ext cx="365760" cy="777240"/>
          </a:xfrm>
          <a:prstGeom prst="line">
            <a:avLst/>
          </a:prstGeom>
          <a:noFill/>
          <a:ln w="28575">
            <a:solidFill>
              <a:srgbClr val="D45D27"/>
            </a:solidFill>
            <a:prstDash val="solid"/>
          </a:ln>
        </p:spPr>
      </p:sp>
      <p:sp>
        <p:nvSpPr>
          <p:cNvPr id="14" name="Shape 11"/>
          <p:cNvSpPr/>
          <p:nvPr/>
        </p:nvSpPr>
        <p:spPr>
          <a:xfrm>
            <a:off x="2377440" y="3017520"/>
            <a:ext cx="320040" cy="685800"/>
          </a:xfrm>
          <a:prstGeom prst="line">
            <a:avLst/>
          </a:prstGeom>
          <a:noFill/>
          <a:ln w="28575">
            <a:solidFill>
              <a:srgbClr val="D45D27"/>
            </a:solidFill>
            <a:prstDash val="solid"/>
          </a:ln>
        </p:spPr>
      </p:sp>
      <p:sp>
        <p:nvSpPr>
          <p:cNvPr id="15" name="Shape 12"/>
          <p:cNvSpPr/>
          <p:nvPr/>
        </p:nvSpPr>
        <p:spPr>
          <a:xfrm flipV="1">
            <a:off x="2697480" y="3154680"/>
            <a:ext cx="274320" cy="548640"/>
          </a:xfrm>
          <a:prstGeom prst="line">
            <a:avLst/>
          </a:prstGeom>
          <a:noFill/>
          <a:ln w="28575">
            <a:solidFill>
              <a:srgbClr val="D45D27"/>
            </a:solidFill>
            <a:prstDash val="solid"/>
          </a:ln>
        </p:spPr>
      </p:sp>
      <p:sp>
        <p:nvSpPr>
          <p:cNvPr id="16" name="Shape 13"/>
          <p:cNvSpPr/>
          <p:nvPr/>
        </p:nvSpPr>
        <p:spPr>
          <a:xfrm>
            <a:off x="2971800" y="3154680"/>
            <a:ext cx="228600" cy="411480"/>
          </a:xfrm>
          <a:prstGeom prst="line">
            <a:avLst/>
          </a:prstGeom>
          <a:noFill/>
          <a:ln w="28575">
            <a:solidFill>
              <a:srgbClr val="D45D27"/>
            </a:solidFill>
            <a:prstDash val="solid"/>
          </a:ln>
        </p:spPr>
      </p:sp>
      <p:sp>
        <p:nvSpPr>
          <p:cNvPr id="17" name="Shape 14"/>
          <p:cNvSpPr/>
          <p:nvPr/>
        </p:nvSpPr>
        <p:spPr>
          <a:xfrm flipV="1">
            <a:off x="3200400" y="3383280"/>
            <a:ext cx="182880" cy="182880"/>
          </a:xfrm>
          <a:prstGeom prst="line">
            <a:avLst/>
          </a:prstGeom>
          <a:noFill/>
          <a:ln w="28575">
            <a:solidFill>
              <a:srgbClr val="D45D27"/>
            </a:solidFill>
            <a:prstDash val="solid"/>
          </a:ln>
        </p:spPr>
      </p:sp>
      <p:sp>
        <p:nvSpPr>
          <p:cNvPr id="18" name="Shape 15"/>
          <p:cNvSpPr/>
          <p:nvPr/>
        </p:nvSpPr>
        <p:spPr>
          <a:xfrm>
            <a:off x="868680" y="2926080"/>
            <a:ext cx="91440" cy="91440"/>
          </a:xfrm>
          <a:prstGeom prst="ellipse">
            <a:avLst/>
          </a:prstGeom>
          <a:solidFill>
            <a:schemeClr val="accent2"/>
          </a:solidFill>
          <a:ln w="19050">
            <a:solidFill>
              <a:schemeClr val="accent2"/>
            </a:solidFill>
            <a:prstDash val="solid"/>
          </a:ln>
        </p:spPr>
      </p:sp>
      <p:sp>
        <p:nvSpPr>
          <p:cNvPr id="19" name="Shape 16"/>
          <p:cNvSpPr/>
          <p:nvPr/>
        </p:nvSpPr>
        <p:spPr>
          <a:xfrm>
            <a:off x="1234440" y="3794760"/>
            <a:ext cx="91440" cy="91440"/>
          </a:xfrm>
          <a:prstGeom prst="ellipse">
            <a:avLst/>
          </a:prstGeom>
          <a:solidFill>
            <a:schemeClr val="accent2"/>
          </a:solidFill>
          <a:ln w="19050">
            <a:solidFill>
              <a:schemeClr val="accent2"/>
            </a:solidFill>
            <a:prstDash val="solid"/>
          </a:ln>
        </p:spPr>
      </p:sp>
      <p:sp>
        <p:nvSpPr>
          <p:cNvPr id="20" name="Shape 17"/>
          <p:cNvSpPr/>
          <p:nvPr/>
        </p:nvSpPr>
        <p:spPr>
          <a:xfrm>
            <a:off x="1600200" y="2880360"/>
            <a:ext cx="91440" cy="91440"/>
          </a:xfrm>
          <a:prstGeom prst="ellipse">
            <a:avLst/>
          </a:prstGeom>
          <a:solidFill>
            <a:schemeClr val="accent2"/>
          </a:solidFill>
          <a:ln w="19050">
            <a:solidFill>
              <a:schemeClr val="accent2"/>
            </a:solidFill>
            <a:prstDash val="solid"/>
          </a:ln>
        </p:spPr>
      </p:sp>
      <p:sp>
        <p:nvSpPr>
          <p:cNvPr id="21" name="Shape 18"/>
          <p:cNvSpPr/>
          <p:nvPr/>
        </p:nvSpPr>
        <p:spPr>
          <a:xfrm>
            <a:off x="1965960" y="3749040"/>
            <a:ext cx="91440" cy="91440"/>
          </a:xfrm>
          <a:prstGeom prst="ellipse">
            <a:avLst/>
          </a:prstGeom>
          <a:solidFill>
            <a:schemeClr val="accent2"/>
          </a:solidFill>
          <a:ln w="19050">
            <a:solidFill>
              <a:schemeClr val="accent2"/>
            </a:solidFill>
            <a:prstDash val="solid"/>
          </a:ln>
        </p:spPr>
      </p:sp>
      <p:sp>
        <p:nvSpPr>
          <p:cNvPr id="22" name="Shape 19"/>
          <p:cNvSpPr/>
          <p:nvPr/>
        </p:nvSpPr>
        <p:spPr>
          <a:xfrm>
            <a:off x="2331720" y="2971800"/>
            <a:ext cx="91440" cy="91440"/>
          </a:xfrm>
          <a:prstGeom prst="ellipse">
            <a:avLst/>
          </a:prstGeom>
          <a:solidFill>
            <a:schemeClr val="accent2"/>
          </a:solidFill>
          <a:ln w="19050">
            <a:solidFill>
              <a:schemeClr val="accent2"/>
            </a:solidFill>
            <a:prstDash val="solid"/>
          </a:ln>
        </p:spPr>
      </p:sp>
      <p:sp>
        <p:nvSpPr>
          <p:cNvPr id="23" name="Shape 20"/>
          <p:cNvSpPr/>
          <p:nvPr/>
        </p:nvSpPr>
        <p:spPr>
          <a:xfrm>
            <a:off x="2651760" y="3657600"/>
            <a:ext cx="91440" cy="91440"/>
          </a:xfrm>
          <a:prstGeom prst="ellipse">
            <a:avLst/>
          </a:prstGeom>
          <a:solidFill>
            <a:schemeClr val="accent2"/>
          </a:solidFill>
          <a:ln w="19050">
            <a:solidFill>
              <a:schemeClr val="accent2"/>
            </a:solidFill>
            <a:prstDash val="solid"/>
          </a:ln>
        </p:spPr>
      </p:sp>
      <p:sp>
        <p:nvSpPr>
          <p:cNvPr id="24" name="Shape 21"/>
          <p:cNvSpPr/>
          <p:nvPr/>
        </p:nvSpPr>
        <p:spPr>
          <a:xfrm>
            <a:off x="2926080" y="3108960"/>
            <a:ext cx="91440" cy="91440"/>
          </a:xfrm>
          <a:prstGeom prst="ellipse">
            <a:avLst/>
          </a:prstGeom>
          <a:solidFill>
            <a:schemeClr val="accent2"/>
          </a:solidFill>
          <a:ln w="19050">
            <a:solidFill>
              <a:schemeClr val="accent2"/>
            </a:solidFill>
            <a:prstDash val="solid"/>
          </a:ln>
        </p:spPr>
      </p:sp>
      <p:sp>
        <p:nvSpPr>
          <p:cNvPr id="25" name="Shape 22"/>
          <p:cNvSpPr/>
          <p:nvPr/>
        </p:nvSpPr>
        <p:spPr>
          <a:xfrm>
            <a:off x="3154680" y="3520440"/>
            <a:ext cx="91440" cy="91440"/>
          </a:xfrm>
          <a:prstGeom prst="ellipse">
            <a:avLst/>
          </a:prstGeom>
          <a:solidFill>
            <a:schemeClr val="accent2"/>
          </a:solidFill>
          <a:ln w="19050">
            <a:solidFill>
              <a:schemeClr val="accent2"/>
            </a:solidFill>
            <a:prstDash val="solid"/>
          </a:ln>
        </p:spPr>
      </p:sp>
      <p:sp>
        <p:nvSpPr>
          <p:cNvPr id="26" name="Shape 23"/>
          <p:cNvSpPr/>
          <p:nvPr/>
        </p:nvSpPr>
        <p:spPr>
          <a:xfrm>
            <a:off x="3337560" y="3337560"/>
            <a:ext cx="91440" cy="91440"/>
          </a:xfrm>
          <a:prstGeom prst="ellipse">
            <a:avLst/>
          </a:prstGeom>
          <a:solidFill>
            <a:schemeClr val="accent2"/>
          </a:solidFill>
          <a:ln w="19050">
            <a:solidFill>
              <a:schemeClr val="accent2"/>
            </a:solidFill>
            <a:prstDash val="solid"/>
          </a:ln>
        </p:spPr>
      </p:sp>
      <p:sp>
        <p:nvSpPr>
          <p:cNvPr id="27" name="Shape 24"/>
          <p:cNvSpPr/>
          <p:nvPr/>
        </p:nvSpPr>
        <p:spPr>
          <a:xfrm>
            <a:off x="3310128" y="3310128"/>
            <a:ext cx="146304" cy="146304"/>
          </a:xfrm>
          <a:prstGeom prst="ellipse">
            <a:avLst/>
          </a:prstGeom>
          <a:solidFill>
            <a:schemeClr val="tx1"/>
          </a:solidFill>
          <a:ln w="19050">
            <a:solidFill>
              <a:schemeClr val="tx1"/>
            </a:solidFill>
            <a:prstDash val="solid"/>
          </a:ln>
        </p:spPr>
      </p:sp>
      <p:sp>
        <p:nvSpPr>
          <p:cNvPr id="28" name="Text 25"/>
          <p:cNvSpPr txBox="1"/>
          <p:nvPr/>
        </p:nvSpPr>
        <p:spPr>
          <a:xfrm>
            <a:off x="548640" y="4343400"/>
            <a:ext cx="5760720" cy="365760"/>
          </a:xfrm>
          <a:prstGeom prst="rect">
            <a:avLst/>
          </a:prstGeom>
          <a:noFill/>
          <a:ln/>
        </p:spPr>
        <p:txBody>
          <a:bodyPr wrap="square" lIns="0" tIns="0" rIns="0" bIns="0" rtlCol="0" anchor="t"/>
          <a:lstStyle/>
          <a:p>
            <a:pPr algn="l" indent="0" marL="0">
              <a:lnSpc>
                <a:spcPct val="105000"/>
              </a:lnSpc>
              <a:buNone/>
            </a:pPr>
            <a:r>
              <a:rPr lang="en-US" sz="1600" b="1" dirty="0">
                <a:solidFill>
                  <a:schemeClr val="accent2"/>
                </a:solidFill>
              </a:rPr>
              <a:t>Plain gradient descent: oscillates across, creeps along.</a:t>
            </a:r>
            <a:endParaRPr lang="en-US" sz="1600" dirty="0"/>
          </a:p>
        </p:txBody>
      </p:sp>
      <p:sp>
        <p:nvSpPr>
          <p:cNvPr id="29" name="Shape 26"/>
          <p:cNvSpPr/>
          <p:nvPr/>
        </p:nvSpPr>
        <p:spPr>
          <a:xfrm>
            <a:off x="6885432" y="1901952"/>
            <a:ext cx="0" cy="2560320"/>
          </a:xfrm>
          <a:prstGeom prst="line">
            <a:avLst/>
          </a:prstGeom>
          <a:noFill/>
          <a:ln w="25400">
            <a:solidFill>
              <a:schemeClr val="accent1">
                <a:alpha val="50000"/>
              </a:schemeClr>
            </a:solidFill>
            <a:prstDash val="solid"/>
          </a:ln>
        </p:spPr>
      </p:sp>
      <p:sp>
        <p:nvSpPr>
          <p:cNvPr id="30" name="Shape 27"/>
          <p:cNvSpPr/>
          <p:nvPr/>
        </p:nvSpPr>
        <p:spPr>
          <a:xfrm>
            <a:off x="6675120" y="1691640"/>
            <a:ext cx="420624" cy="420624"/>
          </a:xfrm>
          <a:prstGeom prst="ellipse">
            <a:avLst/>
          </a:prstGeom>
          <a:solidFill>
            <a:schemeClr val="accent1"/>
          </a:solidFill>
          <a:ln w="25400">
            <a:solidFill>
              <a:schemeClr val="bg1"/>
            </a:solidFill>
            <a:prstDash val="solid"/>
          </a:ln>
        </p:spPr>
      </p:sp>
      <p:sp>
        <p:nvSpPr>
          <p:cNvPr id="31" name="Text 28"/>
          <p:cNvSpPr txBox="1"/>
          <p:nvPr/>
        </p:nvSpPr>
        <p:spPr>
          <a:xfrm>
            <a:off x="6675120" y="16916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32" name="Text 29"/>
          <p:cNvSpPr txBox="1"/>
          <p:nvPr/>
        </p:nvSpPr>
        <p:spPr>
          <a:xfrm>
            <a:off x="7324344" y="1728216"/>
            <a:ext cx="431596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Raise η</a:t>
            </a:r>
            <a:endParaRPr lang="en-US" sz="1900" dirty="0"/>
          </a:p>
        </p:txBody>
      </p:sp>
      <p:sp>
        <p:nvSpPr>
          <p:cNvPr id="33" name="Text 30"/>
          <p:cNvSpPr txBox="1"/>
          <p:nvPr/>
        </p:nvSpPr>
        <p:spPr>
          <a:xfrm>
            <a:off x="7324344" y="2031238"/>
            <a:ext cx="4315968" cy="90398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Diverges across the steep walls.</a:t>
            </a:r>
            <a:endParaRPr lang="en-US" sz="1600" dirty="0"/>
          </a:p>
        </p:txBody>
      </p:sp>
      <p:sp>
        <p:nvSpPr>
          <p:cNvPr id="34" name="Shape 31"/>
          <p:cNvSpPr/>
          <p:nvPr/>
        </p:nvSpPr>
        <p:spPr>
          <a:xfrm>
            <a:off x="6675120" y="2971800"/>
            <a:ext cx="420624" cy="420624"/>
          </a:xfrm>
          <a:prstGeom prst="ellipse">
            <a:avLst/>
          </a:prstGeom>
          <a:solidFill>
            <a:schemeClr val="accent1"/>
          </a:solidFill>
          <a:ln w="25400">
            <a:solidFill>
              <a:schemeClr val="bg1"/>
            </a:solidFill>
            <a:prstDash val="solid"/>
          </a:ln>
        </p:spPr>
      </p:sp>
      <p:sp>
        <p:nvSpPr>
          <p:cNvPr id="35" name="Text 32"/>
          <p:cNvSpPr txBox="1"/>
          <p:nvPr/>
        </p:nvSpPr>
        <p:spPr>
          <a:xfrm>
            <a:off x="6675120" y="297180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36" name="Text 33"/>
          <p:cNvSpPr txBox="1"/>
          <p:nvPr/>
        </p:nvSpPr>
        <p:spPr>
          <a:xfrm>
            <a:off x="7324344" y="3008376"/>
            <a:ext cx="431596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Lower η</a:t>
            </a:r>
            <a:endParaRPr lang="en-US" sz="1900" dirty="0"/>
          </a:p>
        </p:txBody>
      </p:sp>
      <p:sp>
        <p:nvSpPr>
          <p:cNvPr id="37" name="Text 34"/>
          <p:cNvSpPr txBox="1"/>
          <p:nvPr/>
        </p:nvSpPr>
        <p:spPr>
          <a:xfrm>
            <a:off x="7324344" y="3311398"/>
            <a:ext cx="4315968" cy="90398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Progress along the gentle floor stops.</a:t>
            </a:r>
            <a:endParaRPr lang="en-US" sz="1600" dirty="0"/>
          </a:p>
        </p:txBody>
      </p:sp>
      <p:sp>
        <p:nvSpPr>
          <p:cNvPr id="38" name="Shape 35"/>
          <p:cNvSpPr/>
          <p:nvPr/>
        </p:nvSpPr>
        <p:spPr>
          <a:xfrm>
            <a:off x="6675120" y="4251960"/>
            <a:ext cx="420624" cy="420624"/>
          </a:xfrm>
          <a:prstGeom prst="ellipse">
            <a:avLst/>
          </a:prstGeom>
          <a:solidFill>
            <a:schemeClr val="accent2"/>
          </a:solidFill>
          <a:ln w="25400">
            <a:solidFill>
              <a:schemeClr val="bg1"/>
            </a:solidFill>
            <a:prstDash val="solid"/>
          </a:ln>
        </p:spPr>
      </p:sp>
      <p:sp>
        <p:nvSpPr>
          <p:cNvPr id="39" name="Text 36"/>
          <p:cNvSpPr txBox="1"/>
          <p:nvPr/>
        </p:nvSpPr>
        <p:spPr>
          <a:xfrm>
            <a:off x="6675120" y="42519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40" name="Text 37"/>
          <p:cNvSpPr txBox="1"/>
          <p:nvPr/>
        </p:nvSpPr>
        <p:spPr>
          <a:xfrm>
            <a:off x="7324344" y="4288536"/>
            <a:ext cx="431596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The diagnosis: ill-conditioning</a:t>
            </a:r>
            <a:endParaRPr lang="en-US" sz="1900" dirty="0"/>
          </a:p>
        </p:txBody>
      </p:sp>
      <p:sp>
        <p:nvSpPr>
          <p:cNvPr id="41" name="Text 38"/>
          <p:cNvSpPr txBox="1"/>
          <p:nvPr/>
        </p:nvSpPr>
        <p:spPr>
          <a:xfrm>
            <a:off x="7324344" y="4591558"/>
            <a:ext cx="4315968" cy="90398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λₘₐₓ / λₘᵢₙ is large. Every optimizer here attacks this.</a:t>
            </a:r>
            <a:endParaRPr lang="en-US" sz="1600" dirty="0"/>
          </a:p>
        </p:txBody>
      </p:sp>
      <p:sp>
        <p:nvSpPr>
          <p:cNvPr id="42" name="Text 39"/>
          <p:cNvSpPr txBox="1"/>
          <p:nvPr/>
        </p:nvSpPr>
        <p:spPr>
          <a:xfrm>
            <a:off x="548640" y="4800600"/>
            <a:ext cx="5760720" cy="320040"/>
          </a:xfrm>
          <a:prstGeom prst="rect">
            <a:avLst/>
          </a:prstGeom>
          <a:noFill/>
          <a:ln/>
        </p:spPr>
        <p:txBody>
          <a:bodyPr wrap="square" lIns="0" tIns="0" rIns="0" bIns="0" rtlCol="0" anchor="t"/>
          <a:lstStyle/>
          <a:p>
            <a:pPr algn="l" indent="0" marL="0">
              <a:lnSpc>
                <a:spcPct val="105000"/>
              </a:lnSpc>
              <a:buNone/>
            </a:pPr>
            <a:r>
              <a:rPr lang="en-US" sz="1300" dirty="0">
                <a:solidFill>
                  <a:schemeClr val="tx2"/>
                </a:solidFill>
              </a:rPr>
              <a:t>Illustrative path on an elongated quadratic.</a:t>
            </a:r>
            <a:endParaRPr lang="en-US" sz="13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§10 · OPTIMIZERS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Momentum damps oscillation and speeds up along the floor</a:t>
            </a:r>
            <a:endParaRPr lang="en-US" sz="3000" dirty="0"/>
          </a:p>
        </p:txBody>
      </p:sp>
      <p:sp>
        <p:nvSpPr>
          <p:cNvPr id="5" name="Shape 2"/>
          <p:cNvSpPr/>
          <p:nvPr/>
        </p:nvSpPr>
        <p:spPr>
          <a:xfrm>
            <a:off x="548640" y="1645920"/>
            <a:ext cx="6035040" cy="1507998"/>
          </a:xfrm>
          <a:prstGeom prst="roundRect">
            <a:avLst>
              <a:gd name="adj" fmla="val 4851"/>
            </a:avLst>
          </a:prstGeom>
          <a:solidFill>
            <a:schemeClr val="accent1">
              <a:alpha val="10000"/>
            </a:schemeClr>
          </a:solidFill>
          <a:ln w="12700">
            <a:solidFill>
              <a:schemeClr val="accent1">
                <a:alpha val="10000"/>
              </a:schemeClr>
            </a:solidFill>
            <a:prstDash val="solid"/>
          </a:ln>
        </p:spPr>
      </p:sp>
      <p:sp>
        <p:nvSpPr>
          <p:cNvPr id="6" name="Text 3"/>
          <p:cNvSpPr txBox="1"/>
          <p:nvPr/>
        </p:nvSpPr>
        <p:spPr>
          <a:xfrm>
            <a:off x="777240" y="1792224"/>
            <a:ext cx="5577840"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HEAVY-BALL MOMENTUM</a:t>
            </a:r>
            <a:endParaRPr lang="en-US" sz="1200" dirty="0"/>
          </a:p>
        </p:txBody>
      </p:sp>
      <p:sp>
        <p:nvSpPr>
          <p:cNvPr id="7" name="Text 4"/>
          <p:cNvSpPr txBox="1"/>
          <p:nvPr/>
        </p:nvSpPr>
        <p:spPr>
          <a:xfrm>
            <a:off x="777240" y="2221992"/>
            <a:ext cx="5577840" cy="739902"/>
          </a:xfrm>
          <a:prstGeom prst="rect">
            <a:avLst/>
          </a:prstGeom>
          <a:noFill/>
          <a:ln/>
        </p:spPr>
        <p:txBody>
          <a:bodyPr wrap="square" lIns="0" tIns="0" rIns="0" bIns="0" rtlCol="0" anchor="t"/>
          <a:lstStyle/>
          <a:p>
            <a:pPr algn="l" indent="0" marL="0">
              <a:lnSpc>
                <a:spcPct val="112000"/>
              </a:lnSpc>
              <a:buNone/>
            </a:pPr>
            <a:r>
              <a:rPr lang="en-US" sz="2100" dirty="0">
                <a:solidFill>
                  <a:schemeClr val="tx1"/>
                </a:solidFill>
                <a:latin typeface="Cambria Math" pitchFamily="34" charset="0"/>
                <a:ea typeface="Cambria Math" pitchFamily="34" charset="-122"/>
                <a:cs typeface="Cambria Math" pitchFamily="34" charset="-120"/>
              </a:rPr>
              <a:t>vₜ = β vₜ₋₁ + gₜ</a:t>
            </a:r>
            <a:endParaRPr lang="en-US" sz="2100" dirty="0"/>
          </a:p>
          <a:p>
            <a:pPr algn="l" indent="0" marL="0">
              <a:lnSpc>
                <a:spcPct val="112000"/>
              </a:lnSpc>
              <a:buNone/>
            </a:pPr>
            <a:r>
              <a:rPr lang="en-US" sz="2100" dirty="0">
                <a:solidFill>
                  <a:schemeClr val="tx1"/>
                </a:solidFill>
                <a:latin typeface="Cambria Math" pitchFamily="34" charset="0"/>
                <a:ea typeface="Cambria Math" pitchFamily="34" charset="-122"/>
                <a:cs typeface="Cambria Math" pitchFamily="34" charset="-120"/>
              </a:rPr>
              <a:t>θₜ = θₜ₋₁ − η vₜ</a:t>
            </a:r>
            <a:r>
              <a:rPr lang="en-US" sz="1700" dirty="0">
                <a:solidFill>
                  <a:schemeClr val="tx2"/>
                </a:solidFill>
                <a:latin typeface="Calibri" pitchFamily="34" charset="0"/>
                <a:ea typeface="Calibri" pitchFamily="34" charset="-122"/>
                <a:cs typeface="Calibri" pitchFamily="34" charset="-120"/>
              </a:rPr>
              <a:t>    β ≈ 0.9 (PyTorch form)</a:t>
            </a:r>
            <a:endParaRPr lang="en-US" sz="2100" dirty="0"/>
          </a:p>
        </p:txBody>
      </p:sp>
      <p:sp>
        <p:nvSpPr>
          <p:cNvPr id="8" name="Shape 5"/>
          <p:cNvSpPr/>
          <p:nvPr/>
        </p:nvSpPr>
        <p:spPr>
          <a:xfrm>
            <a:off x="548640" y="3291840"/>
            <a:ext cx="6035040" cy="1142873"/>
          </a:xfrm>
          <a:prstGeom prst="roundRect">
            <a:avLst>
              <a:gd name="adj" fmla="val 6401"/>
            </a:avLst>
          </a:prstGeom>
          <a:solidFill>
            <a:schemeClr val="bg2"/>
          </a:solidFill>
          <a:ln w="12700">
            <a:solidFill>
              <a:schemeClr val="bg2"/>
            </a:solidFill>
            <a:prstDash val="solid"/>
          </a:ln>
        </p:spPr>
      </p:sp>
      <p:sp>
        <p:nvSpPr>
          <p:cNvPr id="9" name="Text 6"/>
          <p:cNvSpPr txBox="1"/>
          <p:nvPr/>
        </p:nvSpPr>
        <p:spPr>
          <a:xfrm>
            <a:off x="777240" y="3438144"/>
            <a:ext cx="5577840" cy="274320"/>
          </a:xfrm>
          <a:prstGeom prst="rect">
            <a:avLst/>
          </a:prstGeom>
          <a:noFill/>
          <a:ln/>
        </p:spPr>
        <p:txBody>
          <a:bodyPr wrap="square" lIns="0" tIns="0" rIns="0" bIns="0" rtlCol="0" anchor="ctr"/>
          <a:lstStyle/>
          <a:p>
            <a:pPr indent="0" marL="0">
              <a:buNone/>
            </a:pPr>
            <a:r>
              <a:rPr lang="en-US" sz="1200" b="1" spc="120" kern="0" dirty="0">
                <a:solidFill>
                  <a:schemeClr val="tx2"/>
                </a:solidFill>
              </a:rPr>
              <a:t>EFFECTIVE STEP, CONSTANT GRADIENT</a:t>
            </a:r>
            <a:endParaRPr lang="en-US" sz="1200" dirty="0"/>
          </a:p>
        </p:txBody>
      </p:sp>
      <p:sp>
        <p:nvSpPr>
          <p:cNvPr id="10" name="Text 7"/>
          <p:cNvSpPr txBox="1"/>
          <p:nvPr/>
        </p:nvSpPr>
        <p:spPr>
          <a:xfrm>
            <a:off x="777240" y="3867912"/>
            <a:ext cx="5577840" cy="374777"/>
          </a:xfrm>
          <a:prstGeom prst="rect">
            <a:avLst/>
          </a:prstGeom>
          <a:noFill/>
          <a:ln/>
        </p:spPr>
        <p:txBody>
          <a:bodyPr wrap="square" lIns="0" tIns="0" rIns="0" bIns="0" rtlCol="0" anchor="t"/>
          <a:lstStyle/>
          <a:p>
            <a:pPr algn="l" indent="0" marL="0">
              <a:lnSpc>
                <a:spcPct val="112000"/>
              </a:lnSpc>
              <a:buNone/>
            </a:pPr>
            <a:r>
              <a:rPr lang="en-US" sz="1900" dirty="0">
                <a:solidFill>
                  <a:schemeClr val="tx1"/>
                </a:solidFill>
                <a:latin typeface="Cambria Math" pitchFamily="34" charset="0"/>
                <a:ea typeface="Cambria Math" pitchFamily="34" charset="-122"/>
                <a:cs typeface="Cambria Math" pitchFamily="34" charset="-120"/>
              </a:rPr>
              <a:t>v∞ = g (1 + β + β² + …) = g / (1 − β) = 10 g</a:t>
            </a:r>
            <a:endParaRPr lang="en-US" sz="1900" dirty="0"/>
          </a:p>
        </p:txBody>
      </p:sp>
      <p:sp>
        <p:nvSpPr>
          <p:cNvPr id="11" name="Shape 8"/>
          <p:cNvSpPr/>
          <p:nvPr/>
        </p:nvSpPr>
        <p:spPr>
          <a:xfrm>
            <a:off x="548640" y="4572000"/>
            <a:ext cx="6035040" cy="731520"/>
          </a:xfrm>
          <a:prstGeom prst="roundRect">
            <a:avLst>
              <a:gd name="adj" fmla="val 10000"/>
            </a:avLst>
          </a:prstGeom>
          <a:solidFill>
            <a:schemeClr val="accent2">
              <a:alpha val="12000"/>
            </a:schemeClr>
          </a:solidFill>
          <a:ln w="12700">
            <a:solidFill>
              <a:schemeClr val="accent2">
                <a:alpha val="12000"/>
              </a:schemeClr>
            </a:solidFill>
            <a:prstDash val="solid"/>
          </a:ln>
        </p:spPr>
      </p:sp>
      <p:sp>
        <p:nvSpPr>
          <p:cNvPr id="12" name="Text 9"/>
          <p:cNvSpPr txBox="1"/>
          <p:nvPr/>
        </p:nvSpPr>
        <p:spPr>
          <a:xfrm>
            <a:off x="777240" y="4572000"/>
            <a:ext cx="5577840" cy="731520"/>
          </a:xfrm>
          <a:prstGeom prst="rect">
            <a:avLst/>
          </a:prstGeom>
          <a:noFill/>
          <a:ln/>
        </p:spPr>
        <p:txBody>
          <a:bodyPr wrap="square" lIns="0" tIns="0" rIns="0" bIns="0" rtlCol="0" anchor="ctr"/>
          <a:lstStyle/>
          <a:p>
            <a:pPr algn="l" indent="0" marL="0">
              <a:lnSpc>
                <a:spcPct val="105000"/>
              </a:lnSpc>
              <a:buNone/>
            </a:pPr>
            <a:r>
              <a:rPr lang="en-US" sz="1800" b="1" dirty="0">
                <a:solidFill>
                  <a:schemeClr val="accent2"/>
                </a:solidFill>
              </a:rPr>
              <a:t>Adding momentum 0.9? Cut η by about 10×, or it will diverge.</a:t>
            </a:r>
            <a:endParaRPr lang="en-US" sz="1800" dirty="0"/>
          </a:p>
        </p:txBody>
      </p:sp>
      <p:sp>
        <p:nvSpPr>
          <p:cNvPr id="13" name="Text 10"/>
          <p:cNvSpPr txBox="1"/>
          <p:nvPr/>
        </p:nvSpPr>
        <p:spPr>
          <a:xfrm>
            <a:off x="548640" y="5440680"/>
            <a:ext cx="6035040" cy="731520"/>
          </a:xfrm>
          <a:prstGeom prst="rect">
            <a:avLst/>
          </a:prstGeom>
          <a:noFill/>
          <a:ln/>
        </p:spPr>
        <p:txBody>
          <a:bodyPr wrap="square" lIns="0" tIns="0" rIns="0" bIns="0" rtlCol="0" anchor="t"/>
          <a:lstStyle/>
          <a:p>
            <a:pPr algn="l" indent="0" marL="0">
              <a:lnSpc>
                <a:spcPct val="105000"/>
              </a:lnSpc>
              <a:buNone/>
            </a:pPr>
            <a:r>
              <a:rPr lang="en-US" sz="1600" b="1" dirty="0">
                <a:solidFill>
                  <a:schemeClr val="tx1"/>
                </a:solidFill>
              </a:rPr>
              <a:t>Nesterov:</a:t>
            </a:r>
            <a:r>
              <a:rPr lang="en-US" sz="1600" dirty="0">
                <a:solidFill>
                  <a:schemeClr val="tx1"/>
                </a:solidFill>
              </a:rPr>
              <a:t> take the gradient at the look-ahead point θ − ηβv. Brakes before walls; </a:t>
            </a:r>
            <a:r>
              <a:rPr lang="en-US" sz="1600" dirty="0">
                <a:solidFill>
                  <a:schemeClr val="accent1"/>
                </a:solidFill>
                <a:latin typeface="Consolas" pitchFamily="34" charset="0"/>
                <a:ea typeface="Consolas" pitchFamily="34" charset="-122"/>
                <a:cs typeface="Consolas" pitchFamily="34" charset="-120"/>
              </a:rPr>
              <a:t>nesterov=True</a:t>
            </a:r>
            <a:r>
              <a:rPr lang="en-US" sz="1600" dirty="0">
                <a:solidFill>
                  <a:schemeClr val="tx1"/>
                </a:solidFill>
              </a:rPr>
              <a:t>.</a:t>
            </a:r>
            <a:endParaRPr lang="en-US" sz="1600" dirty="0"/>
          </a:p>
        </p:txBody>
      </p:sp>
      <p:sp>
        <p:nvSpPr>
          <p:cNvPr id="14" name="Shape 11"/>
          <p:cNvSpPr/>
          <p:nvPr/>
        </p:nvSpPr>
        <p:spPr>
          <a:xfrm>
            <a:off x="6766560" y="2348179"/>
            <a:ext cx="4754880" cy="1521562"/>
          </a:xfrm>
          <a:prstGeom prst="ellipse">
            <a:avLst/>
          </a:prstGeom>
          <a:solidFill>
            <a:schemeClr val="accent1">
              <a:alpha val="8000"/>
            </a:schemeClr>
          </a:solidFill>
          <a:ln w="12700">
            <a:solidFill>
              <a:schemeClr val="accent1">
                <a:alpha val="60000"/>
              </a:schemeClr>
            </a:solidFill>
            <a:prstDash val="solid"/>
          </a:ln>
        </p:spPr>
      </p:sp>
      <p:sp>
        <p:nvSpPr>
          <p:cNvPr id="15" name="Shape 12"/>
          <p:cNvSpPr/>
          <p:nvPr/>
        </p:nvSpPr>
        <p:spPr>
          <a:xfrm>
            <a:off x="7315200" y="2523744"/>
            <a:ext cx="3657600" cy="1170432"/>
          </a:xfrm>
          <a:prstGeom prst="ellipse">
            <a:avLst/>
          </a:prstGeom>
          <a:solidFill>
            <a:schemeClr val="accent1">
              <a:alpha val="10000"/>
            </a:schemeClr>
          </a:solidFill>
          <a:ln w="12700">
            <a:solidFill>
              <a:schemeClr val="accent1">
                <a:alpha val="60000"/>
              </a:schemeClr>
            </a:solidFill>
            <a:prstDash val="solid"/>
          </a:ln>
        </p:spPr>
      </p:sp>
      <p:sp>
        <p:nvSpPr>
          <p:cNvPr id="16" name="Shape 13"/>
          <p:cNvSpPr/>
          <p:nvPr/>
        </p:nvSpPr>
        <p:spPr>
          <a:xfrm>
            <a:off x="7863840" y="2699309"/>
            <a:ext cx="2560320" cy="819302"/>
          </a:xfrm>
          <a:prstGeom prst="ellipse">
            <a:avLst/>
          </a:prstGeom>
          <a:solidFill>
            <a:schemeClr val="accent1">
              <a:alpha val="12000"/>
            </a:schemeClr>
          </a:solidFill>
          <a:ln w="12700">
            <a:solidFill>
              <a:schemeClr val="accent1">
                <a:alpha val="60000"/>
              </a:schemeClr>
            </a:solidFill>
            <a:prstDash val="solid"/>
          </a:ln>
        </p:spPr>
      </p:sp>
      <p:sp>
        <p:nvSpPr>
          <p:cNvPr id="17" name="Shape 14"/>
          <p:cNvSpPr/>
          <p:nvPr/>
        </p:nvSpPr>
        <p:spPr>
          <a:xfrm>
            <a:off x="8412480" y="2874874"/>
            <a:ext cx="1463040" cy="468173"/>
          </a:xfrm>
          <a:prstGeom prst="ellipse">
            <a:avLst/>
          </a:prstGeom>
          <a:solidFill>
            <a:schemeClr val="accent1">
              <a:alpha val="14000"/>
            </a:schemeClr>
          </a:solidFill>
          <a:ln w="12700">
            <a:solidFill>
              <a:schemeClr val="accent1">
                <a:alpha val="60000"/>
              </a:schemeClr>
            </a:solidFill>
            <a:prstDash val="solid"/>
          </a:ln>
        </p:spPr>
      </p:sp>
      <p:sp>
        <p:nvSpPr>
          <p:cNvPr id="18" name="Shape 15"/>
          <p:cNvSpPr/>
          <p:nvPr/>
        </p:nvSpPr>
        <p:spPr>
          <a:xfrm>
            <a:off x="8869680" y="3021178"/>
            <a:ext cx="548640" cy="175565"/>
          </a:xfrm>
          <a:prstGeom prst="ellipse">
            <a:avLst/>
          </a:prstGeom>
          <a:solidFill>
            <a:schemeClr val="accent1">
              <a:alpha val="16000"/>
            </a:schemeClr>
          </a:solidFill>
          <a:ln w="12700">
            <a:solidFill>
              <a:schemeClr val="accent1">
                <a:alpha val="60000"/>
              </a:schemeClr>
            </a:solidFill>
            <a:prstDash val="solid"/>
          </a:ln>
        </p:spPr>
      </p:sp>
      <p:sp>
        <p:nvSpPr>
          <p:cNvPr id="19" name="Shape 16"/>
          <p:cNvSpPr/>
          <p:nvPr/>
        </p:nvSpPr>
        <p:spPr>
          <a:xfrm>
            <a:off x="6766560" y="2834640"/>
            <a:ext cx="457200" cy="594360"/>
          </a:xfrm>
          <a:prstGeom prst="line">
            <a:avLst/>
          </a:prstGeom>
          <a:noFill/>
          <a:ln w="28575">
            <a:solidFill>
              <a:srgbClr val="0F7B78"/>
            </a:solidFill>
            <a:prstDash val="solid"/>
          </a:ln>
        </p:spPr>
      </p:sp>
      <p:sp>
        <p:nvSpPr>
          <p:cNvPr id="20" name="Shape 17"/>
          <p:cNvSpPr/>
          <p:nvPr/>
        </p:nvSpPr>
        <p:spPr>
          <a:xfrm flipV="1">
            <a:off x="7223760" y="2926080"/>
            <a:ext cx="548640" cy="502920"/>
          </a:xfrm>
          <a:prstGeom prst="line">
            <a:avLst/>
          </a:prstGeom>
          <a:noFill/>
          <a:ln w="28575">
            <a:solidFill>
              <a:srgbClr val="0F7B78"/>
            </a:solidFill>
            <a:prstDash val="solid"/>
          </a:ln>
        </p:spPr>
      </p:sp>
      <p:sp>
        <p:nvSpPr>
          <p:cNvPr id="21" name="Shape 18"/>
          <p:cNvSpPr/>
          <p:nvPr/>
        </p:nvSpPr>
        <p:spPr>
          <a:xfrm>
            <a:off x="7772400" y="2926080"/>
            <a:ext cx="548640" cy="320040"/>
          </a:xfrm>
          <a:prstGeom prst="line">
            <a:avLst/>
          </a:prstGeom>
          <a:noFill/>
          <a:ln w="28575">
            <a:solidFill>
              <a:srgbClr val="0F7B78"/>
            </a:solidFill>
            <a:prstDash val="solid"/>
          </a:ln>
        </p:spPr>
      </p:sp>
      <p:sp>
        <p:nvSpPr>
          <p:cNvPr id="22" name="Shape 19"/>
          <p:cNvSpPr/>
          <p:nvPr/>
        </p:nvSpPr>
        <p:spPr>
          <a:xfrm flipV="1">
            <a:off x="8321040" y="3044952"/>
            <a:ext cx="457200" cy="201168"/>
          </a:xfrm>
          <a:prstGeom prst="line">
            <a:avLst/>
          </a:prstGeom>
          <a:noFill/>
          <a:ln w="28575">
            <a:solidFill>
              <a:srgbClr val="0F7B78"/>
            </a:solidFill>
            <a:prstDash val="solid"/>
          </a:ln>
        </p:spPr>
      </p:sp>
      <p:sp>
        <p:nvSpPr>
          <p:cNvPr id="23" name="Shape 20"/>
          <p:cNvSpPr/>
          <p:nvPr/>
        </p:nvSpPr>
        <p:spPr>
          <a:xfrm>
            <a:off x="8778240" y="3044952"/>
            <a:ext cx="365760" cy="64008"/>
          </a:xfrm>
          <a:prstGeom prst="line">
            <a:avLst/>
          </a:prstGeom>
          <a:noFill/>
          <a:ln w="28575">
            <a:solidFill>
              <a:srgbClr val="0F7B78"/>
            </a:solidFill>
            <a:prstDash val="solid"/>
          </a:ln>
        </p:spPr>
      </p:sp>
      <p:sp>
        <p:nvSpPr>
          <p:cNvPr id="24" name="Shape 21"/>
          <p:cNvSpPr/>
          <p:nvPr/>
        </p:nvSpPr>
        <p:spPr>
          <a:xfrm>
            <a:off x="6720840" y="2788920"/>
            <a:ext cx="91440" cy="91440"/>
          </a:xfrm>
          <a:prstGeom prst="ellipse">
            <a:avLst/>
          </a:prstGeom>
          <a:solidFill>
            <a:schemeClr val="accent1"/>
          </a:solidFill>
          <a:ln w="19050">
            <a:solidFill>
              <a:schemeClr val="accent1"/>
            </a:solidFill>
            <a:prstDash val="solid"/>
          </a:ln>
        </p:spPr>
      </p:sp>
      <p:sp>
        <p:nvSpPr>
          <p:cNvPr id="25" name="Shape 22"/>
          <p:cNvSpPr/>
          <p:nvPr/>
        </p:nvSpPr>
        <p:spPr>
          <a:xfrm>
            <a:off x="7178040" y="3383280"/>
            <a:ext cx="91440" cy="91440"/>
          </a:xfrm>
          <a:prstGeom prst="ellipse">
            <a:avLst/>
          </a:prstGeom>
          <a:solidFill>
            <a:schemeClr val="accent1"/>
          </a:solidFill>
          <a:ln w="19050">
            <a:solidFill>
              <a:schemeClr val="accent1"/>
            </a:solidFill>
            <a:prstDash val="solid"/>
          </a:ln>
        </p:spPr>
      </p:sp>
      <p:sp>
        <p:nvSpPr>
          <p:cNvPr id="26" name="Shape 23"/>
          <p:cNvSpPr/>
          <p:nvPr/>
        </p:nvSpPr>
        <p:spPr>
          <a:xfrm>
            <a:off x="7726680" y="2880360"/>
            <a:ext cx="91440" cy="91440"/>
          </a:xfrm>
          <a:prstGeom prst="ellipse">
            <a:avLst/>
          </a:prstGeom>
          <a:solidFill>
            <a:schemeClr val="accent1"/>
          </a:solidFill>
          <a:ln w="19050">
            <a:solidFill>
              <a:schemeClr val="accent1"/>
            </a:solidFill>
            <a:prstDash val="solid"/>
          </a:ln>
        </p:spPr>
      </p:sp>
      <p:sp>
        <p:nvSpPr>
          <p:cNvPr id="27" name="Shape 24"/>
          <p:cNvSpPr/>
          <p:nvPr/>
        </p:nvSpPr>
        <p:spPr>
          <a:xfrm>
            <a:off x="8275320" y="3200400"/>
            <a:ext cx="91440" cy="91440"/>
          </a:xfrm>
          <a:prstGeom prst="ellipse">
            <a:avLst/>
          </a:prstGeom>
          <a:solidFill>
            <a:schemeClr val="accent1"/>
          </a:solidFill>
          <a:ln w="19050">
            <a:solidFill>
              <a:schemeClr val="accent1"/>
            </a:solidFill>
            <a:prstDash val="solid"/>
          </a:ln>
        </p:spPr>
      </p:sp>
      <p:sp>
        <p:nvSpPr>
          <p:cNvPr id="28" name="Shape 25"/>
          <p:cNvSpPr/>
          <p:nvPr/>
        </p:nvSpPr>
        <p:spPr>
          <a:xfrm>
            <a:off x="8732520" y="2999232"/>
            <a:ext cx="91440" cy="91440"/>
          </a:xfrm>
          <a:prstGeom prst="ellipse">
            <a:avLst/>
          </a:prstGeom>
          <a:solidFill>
            <a:schemeClr val="accent1"/>
          </a:solidFill>
          <a:ln w="19050">
            <a:solidFill>
              <a:schemeClr val="accent1"/>
            </a:solidFill>
            <a:prstDash val="solid"/>
          </a:ln>
        </p:spPr>
      </p:sp>
      <p:sp>
        <p:nvSpPr>
          <p:cNvPr id="29" name="Shape 26"/>
          <p:cNvSpPr/>
          <p:nvPr/>
        </p:nvSpPr>
        <p:spPr>
          <a:xfrm>
            <a:off x="9098280" y="3063240"/>
            <a:ext cx="91440" cy="91440"/>
          </a:xfrm>
          <a:prstGeom prst="ellipse">
            <a:avLst/>
          </a:prstGeom>
          <a:solidFill>
            <a:schemeClr val="accent1"/>
          </a:solidFill>
          <a:ln w="19050">
            <a:solidFill>
              <a:schemeClr val="accent1"/>
            </a:solidFill>
            <a:prstDash val="solid"/>
          </a:ln>
        </p:spPr>
      </p:sp>
      <p:sp>
        <p:nvSpPr>
          <p:cNvPr id="30" name="Shape 27"/>
          <p:cNvSpPr/>
          <p:nvPr/>
        </p:nvSpPr>
        <p:spPr>
          <a:xfrm>
            <a:off x="9070848" y="3035808"/>
            <a:ext cx="146304" cy="146304"/>
          </a:xfrm>
          <a:prstGeom prst="ellipse">
            <a:avLst/>
          </a:prstGeom>
          <a:solidFill>
            <a:schemeClr val="tx1"/>
          </a:solidFill>
          <a:ln w="19050">
            <a:solidFill>
              <a:schemeClr val="tx1"/>
            </a:solidFill>
            <a:prstDash val="solid"/>
          </a:ln>
        </p:spPr>
      </p:sp>
      <p:sp>
        <p:nvSpPr>
          <p:cNvPr id="31" name="Text 28"/>
          <p:cNvSpPr txBox="1"/>
          <p:nvPr/>
        </p:nvSpPr>
        <p:spPr>
          <a:xfrm>
            <a:off x="6949440" y="4023360"/>
            <a:ext cx="4663440" cy="685800"/>
          </a:xfrm>
          <a:prstGeom prst="rect">
            <a:avLst/>
          </a:prstGeom>
          <a:noFill/>
          <a:ln/>
        </p:spPr>
        <p:txBody>
          <a:bodyPr wrap="square" lIns="0" tIns="0" rIns="0" bIns="0" rtlCol="0" anchor="t"/>
          <a:lstStyle/>
          <a:p>
            <a:pPr algn="l" indent="0" marL="0">
              <a:lnSpc>
                <a:spcPct val="105000"/>
              </a:lnSpc>
              <a:buNone/>
            </a:pPr>
            <a:r>
              <a:rPr lang="en-US" sz="1600" b="1" dirty="0">
                <a:solidFill>
                  <a:schemeClr val="accent1"/>
                </a:solidFill>
              </a:rPr>
              <a:t>With momentum: oscillations cancel, speed builds along the floor.</a:t>
            </a:r>
            <a:endParaRPr lang="en-US" sz="1600" dirty="0"/>
          </a:p>
        </p:txBody>
      </p:sp>
      <p:sp>
        <p:nvSpPr>
          <p:cNvPr id="32" name="Text 29"/>
          <p:cNvSpPr txBox="1"/>
          <p:nvPr/>
        </p:nvSpPr>
        <p:spPr>
          <a:xfrm>
            <a:off x="6949440" y="4800600"/>
            <a:ext cx="4663440" cy="365760"/>
          </a:xfrm>
          <a:prstGeom prst="rect">
            <a:avLst/>
          </a:prstGeom>
          <a:noFill/>
          <a:ln/>
        </p:spPr>
        <p:txBody>
          <a:bodyPr wrap="square" lIns="0" tIns="0" rIns="0" bIns="0" rtlCol="0" anchor="t"/>
          <a:lstStyle/>
          <a:p>
            <a:pPr algn="l" indent="0" marL="0">
              <a:lnSpc>
                <a:spcPct val="105000"/>
              </a:lnSpc>
              <a:buNone/>
            </a:pPr>
            <a:r>
              <a:rPr lang="en-US" sz="1500" dirty="0">
                <a:solidFill>
                  <a:schemeClr val="tx2"/>
                </a:solidFill>
              </a:rPr>
              <a:t>Velocity v, force g, friction β.</a:t>
            </a:r>
            <a:endParaRPr lang="en-US" sz="15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§10 · OPTIMIZERS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AdaGrad and RMSProp give each parameter its own step</a:t>
            </a:r>
            <a:endParaRPr lang="en-US" sz="3000" dirty="0"/>
          </a:p>
        </p:txBody>
      </p:sp>
      <p:sp>
        <p:nvSpPr>
          <p:cNvPr id="5" name="Shape 2"/>
          <p:cNvSpPr/>
          <p:nvPr/>
        </p:nvSpPr>
        <p:spPr>
          <a:xfrm>
            <a:off x="548640" y="1645920"/>
            <a:ext cx="5486400" cy="1476248"/>
          </a:xfrm>
          <a:prstGeom prst="roundRect">
            <a:avLst>
              <a:gd name="adj" fmla="val 4955"/>
            </a:avLst>
          </a:prstGeom>
          <a:solidFill>
            <a:schemeClr val="accent2">
              <a:alpha val="12000"/>
            </a:schemeClr>
          </a:solidFill>
          <a:ln w="12700">
            <a:solidFill>
              <a:schemeClr val="accent2">
                <a:alpha val="12000"/>
              </a:schemeClr>
            </a:solidFill>
            <a:prstDash val="solid"/>
          </a:ln>
        </p:spPr>
      </p:sp>
      <p:sp>
        <p:nvSpPr>
          <p:cNvPr id="6" name="Text 3"/>
          <p:cNvSpPr txBox="1"/>
          <p:nvPr/>
        </p:nvSpPr>
        <p:spPr>
          <a:xfrm>
            <a:off x="777240" y="1792224"/>
            <a:ext cx="5029200" cy="274320"/>
          </a:xfrm>
          <a:prstGeom prst="rect">
            <a:avLst/>
          </a:prstGeom>
          <a:noFill/>
          <a:ln/>
        </p:spPr>
        <p:txBody>
          <a:bodyPr wrap="square" lIns="0" tIns="0" rIns="0" bIns="0" rtlCol="0" anchor="ctr"/>
          <a:lstStyle/>
          <a:p>
            <a:pPr indent="0" marL="0">
              <a:buNone/>
            </a:pPr>
            <a:r>
              <a:rPr lang="en-US" sz="1200" b="1" spc="120" kern="0" dirty="0">
                <a:solidFill>
                  <a:schemeClr val="accent2"/>
                </a:solidFill>
              </a:rPr>
              <a:t>ADAGRAD · RUNNING SUM</a:t>
            </a:r>
            <a:endParaRPr lang="en-US" sz="1200" dirty="0"/>
          </a:p>
        </p:txBody>
      </p:sp>
      <p:sp>
        <p:nvSpPr>
          <p:cNvPr id="7" name="Text 4"/>
          <p:cNvSpPr txBox="1"/>
          <p:nvPr/>
        </p:nvSpPr>
        <p:spPr>
          <a:xfrm>
            <a:off x="777240" y="2221992"/>
            <a:ext cx="5029200" cy="708152"/>
          </a:xfrm>
          <a:prstGeom prst="rect">
            <a:avLst/>
          </a:prstGeom>
          <a:noFill/>
          <a:ln/>
        </p:spPr>
        <p:txBody>
          <a:bodyPr wrap="square" lIns="0" tIns="0" rIns="0" bIns="0" rtlCol="0" anchor="t"/>
          <a:lstStyle/>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Gₜ = Gₜ₋₁ + gₜ²</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θₜ = θₜ₋₁ − η gₜ / (</a:t>
            </a:r>
            <a:r>
              <a:rPr lang="en-US" sz="2000" dirty="0">
                <a:solidFill>
                  <a:schemeClr val="tx1"/>
                </a:solidFill>
                <a:latin typeface="Calibri" pitchFamily="34" charset="0"/>
                <a:ea typeface="Calibri" pitchFamily="34" charset="-122"/>
                <a:cs typeface="Calibri" pitchFamily="34" charset="-120"/>
              </a:rPr>
              <a:t>√</a:t>
            </a:r>
            <a:r>
              <a:rPr lang="en-US" sz="2000" dirty="0">
                <a:solidFill>
                  <a:schemeClr val="tx1"/>
                </a:solidFill>
                <a:latin typeface="Cambria Math" pitchFamily="34" charset="0"/>
                <a:ea typeface="Cambria Math" pitchFamily="34" charset="-122"/>
                <a:cs typeface="Cambria Math" pitchFamily="34" charset="-120"/>
              </a:rPr>
              <a:t>Gₜ + ε)</a:t>
            </a:r>
            <a:endParaRPr lang="en-US" sz="2000" dirty="0"/>
          </a:p>
        </p:txBody>
      </p:sp>
      <p:sp>
        <p:nvSpPr>
          <p:cNvPr id="8" name="Shape 5"/>
          <p:cNvSpPr/>
          <p:nvPr/>
        </p:nvSpPr>
        <p:spPr>
          <a:xfrm>
            <a:off x="548640" y="3246120"/>
            <a:ext cx="5486400" cy="1476248"/>
          </a:xfrm>
          <a:prstGeom prst="roundRect">
            <a:avLst>
              <a:gd name="adj" fmla="val 4955"/>
            </a:avLst>
          </a:prstGeom>
          <a:solidFill>
            <a:schemeClr val="accent1">
              <a:alpha val="10000"/>
            </a:schemeClr>
          </a:solidFill>
          <a:ln w="12700">
            <a:solidFill>
              <a:schemeClr val="accent1">
                <a:alpha val="10000"/>
              </a:schemeClr>
            </a:solidFill>
            <a:prstDash val="solid"/>
          </a:ln>
        </p:spPr>
      </p:sp>
      <p:sp>
        <p:nvSpPr>
          <p:cNvPr id="9" name="Text 6"/>
          <p:cNvSpPr txBox="1"/>
          <p:nvPr/>
        </p:nvSpPr>
        <p:spPr>
          <a:xfrm>
            <a:off x="777240" y="3392424"/>
            <a:ext cx="5029200"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RMSPROP · DECAYING AVERAGE</a:t>
            </a:r>
            <a:endParaRPr lang="en-US" sz="1200" dirty="0"/>
          </a:p>
        </p:txBody>
      </p:sp>
      <p:sp>
        <p:nvSpPr>
          <p:cNvPr id="10" name="Text 7"/>
          <p:cNvSpPr txBox="1"/>
          <p:nvPr/>
        </p:nvSpPr>
        <p:spPr>
          <a:xfrm>
            <a:off x="777240" y="3822192"/>
            <a:ext cx="5029200" cy="708152"/>
          </a:xfrm>
          <a:prstGeom prst="rect">
            <a:avLst/>
          </a:prstGeom>
          <a:noFill/>
          <a:ln/>
        </p:spPr>
        <p:txBody>
          <a:bodyPr wrap="square" lIns="0" tIns="0" rIns="0" bIns="0" rtlCol="0" anchor="t"/>
          <a:lstStyle/>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Eₜ = ρ Eₜ₋₁ + (1 − ρ) gₜ²</a:t>
            </a:r>
            <a:r>
              <a:rPr lang="en-US" sz="1600" dirty="0">
                <a:solidFill>
                  <a:schemeClr val="tx2"/>
                </a:solidFill>
                <a:latin typeface="Calibri" pitchFamily="34" charset="0"/>
                <a:ea typeface="Calibri" pitchFamily="34" charset="-122"/>
                <a:cs typeface="Calibri" pitchFamily="34" charset="-120"/>
              </a:rPr>
              <a:t>    ρ ≈ 0.9</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θₜ = θₜ₋₁ − η gₜ / (</a:t>
            </a:r>
            <a:r>
              <a:rPr lang="en-US" sz="2000" dirty="0">
                <a:solidFill>
                  <a:schemeClr val="tx1"/>
                </a:solidFill>
                <a:latin typeface="Calibri" pitchFamily="34" charset="0"/>
                <a:ea typeface="Calibri" pitchFamily="34" charset="-122"/>
                <a:cs typeface="Calibri" pitchFamily="34" charset="-120"/>
              </a:rPr>
              <a:t>√</a:t>
            </a:r>
            <a:r>
              <a:rPr lang="en-US" sz="2000" dirty="0">
                <a:solidFill>
                  <a:schemeClr val="tx1"/>
                </a:solidFill>
                <a:latin typeface="Cambria Math" pitchFamily="34" charset="0"/>
                <a:ea typeface="Cambria Math" pitchFamily="34" charset="-122"/>
                <a:cs typeface="Cambria Math" pitchFamily="34" charset="-120"/>
              </a:rPr>
              <a:t>Eₜ + ε)</a:t>
            </a:r>
            <a:endParaRPr lang="en-US" sz="2000" dirty="0"/>
          </a:p>
        </p:txBody>
      </p:sp>
      <p:sp>
        <p:nvSpPr>
          <p:cNvPr id="11" name="Text 8"/>
          <p:cNvSpPr txBox="1"/>
          <p:nvPr/>
        </p:nvSpPr>
        <p:spPr>
          <a:xfrm>
            <a:off x="548640" y="4846320"/>
            <a:ext cx="5486400" cy="640080"/>
          </a:xfrm>
          <a:prstGeom prst="rect">
            <a:avLst/>
          </a:prstGeom>
          <a:noFill/>
          <a:ln/>
        </p:spPr>
        <p:txBody>
          <a:bodyPr wrap="square" lIns="0" tIns="0" rIns="0" bIns="0" rtlCol="0" anchor="t"/>
          <a:lstStyle/>
          <a:p>
            <a:pPr algn="l" indent="0" marL="0">
              <a:lnSpc>
                <a:spcPct val="105000"/>
              </a:lnSpc>
              <a:buNone/>
            </a:pPr>
            <a:r>
              <a:rPr lang="en-US" sz="1700" dirty="0">
                <a:solidFill>
                  <a:schemeClr val="tx2"/>
                </a:solidFill>
              </a:rPr>
              <a:t>Each parameter moves by about ±η, whatever its gradient scale.</a:t>
            </a:r>
            <a:endParaRPr lang="en-US" sz="1700" dirty="0"/>
          </a:p>
        </p:txBody>
      </p:sp>
      <p:graphicFrame>
        <p:nvGraphicFramePr>
          <p:cNvPr id="12" name="Chart 0" descr=""/>
          <p:cNvGraphicFramePr/>
          <p:nvPr/>
        </p:nvGraphicFramePr>
        <p:xfrm>
          <a:off x="6309360" y="1600200"/>
          <a:ext cx="5394960" cy="4206240"/>
        </p:xfrm>
        <a:graphic xmlns:a="http://schemas.openxmlformats.org/drawingml/2006/main">
          <a:graphicData uri="http://schemas.openxmlformats.org/drawingml/2006/chart">
            <c:chart xmlns:c="http://schemas.openxmlformats.org/drawingml/2006/chart" r:id="rId1"/>
          </a:graphicData>
        </a:graphic>
      </p:graphicFrame>
      <p:sp>
        <p:nvSpPr>
          <p:cNvPr id="13" name="Text 9"/>
          <p:cNvSpPr txBox="1"/>
          <p:nvPr/>
        </p:nvSpPr>
        <p:spPr>
          <a:xfrm>
            <a:off x="6400800" y="5806440"/>
            <a:ext cx="5212080" cy="320040"/>
          </a:xfrm>
          <a:prstGeom prst="rect">
            <a:avLst/>
          </a:prstGeom>
          <a:noFill/>
          <a:ln/>
        </p:spPr>
        <p:txBody>
          <a:bodyPr wrap="square" lIns="0" tIns="0" rIns="0" bIns="0" rtlCol="0" anchor="t"/>
          <a:lstStyle/>
          <a:p>
            <a:pPr algn="l" indent="0" marL="0">
              <a:lnSpc>
                <a:spcPct val="105000"/>
              </a:lnSpc>
              <a:buNone/>
            </a:pPr>
            <a:r>
              <a:rPr lang="en-US" sz="1300" dirty="0">
                <a:solidFill>
                  <a:schemeClr val="tx2"/>
                </a:solidFill>
              </a:rPr>
              <a:t>Constant gradient; step size relative to step 1. AdaGrad’s keeps shrinking.</a:t>
            </a:r>
            <a:endParaRPr lang="en-US" sz="13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§10 · OPTIMIZERS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Adam combines momentum, RMSProp and bias correction</a:t>
            </a:r>
            <a:endParaRPr lang="en-US" sz="3000" dirty="0"/>
          </a:p>
        </p:txBody>
      </p:sp>
      <p:sp>
        <p:nvSpPr>
          <p:cNvPr id="5" name="Shape 2"/>
          <p:cNvSpPr/>
          <p:nvPr/>
        </p:nvSpPr>
        <p:spPr>
          <a:xfrm>
            <a:off x="548640" y="1645920"/>
            <a:ext cx="7315200" cy="2111248"/>
          </a:xfrm>
          <a:prstGeom prst="roundRect">
            <a:avLst>
              <a:gd name="adj" fmla="val 3465"/>
            </a:avLst>
          </a:prstGeom>
          <a:solidFill>
            <a:schemeClr val="accent1">
              <a:alpha val="10000"/>
            </a:schemeClr>
          </a:solidFill>
          <a:ln w="12700">
            <a:solidFill>
              <a:schemeClr val="accent1">
                <a:alpha val="10000"/>
              </a:schemeClr>
            </a:solidFill>
            <a:prstDash val="solid"/>
          </a:ln>
        </p:spPr>
      </p:sp>
      <p:sp>
        <p:nvSpPr>
          <p:cNvPr id="6" name="Text 3"/>
          <p:cNvSpPr txBox="1"/>
          <p:nvPr/>
        </p:nvSpPr>
        <p:spPr>
          <a:xfrm>
            <a:off x="777240" y="1792224"/>
            <a:ext cx="6858000"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ADAM (KINGMA &amp; BA, 2015)</a:t>
            </a:r>
            <a:endParaRPr lang="en-US" sz="1200" dirty="0"/>
          </a:p>
        </p:txBody>
      </p:sp>
      <p:sp>
        <p:nvSpPr>
          <p:cNvPr id="7" name="Text 4"/>
          <p:cNvSpPr txBox="1"/>
          <p:nvPr/>
        </p:nvSpPr>
        <p:spPr>
          <a:xfrm>
            <a:off x="777240" y="2221992"/>
            <a:ext cx="6858000" cy="1343152"/>
          </a:xfrm>
          <a:prstGeom prst="rect">
            <a:avLst/>
          </a:prstGeom>
          <a:noFill/>
          <a:ln/>
        </p:spPr>
        <p:txBody>
          <a:bodyPr wrap="square" lIns="0" tIns="0" rIns="0" bIns="0" rtlCol="0" anchor="t"/>
          <a:lstStyle/>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mₜ = β₁ mₜ₋₁ + (1 − β₁) gₜ</a:t>
            </a:r>
            <a:r>
              <a:rPr lang="en-US" sz="1600" dirty="0">
                <a:solidFill>
                  <a:schemeClr val="tx2"/>
                </a:solidFill>
                <a:latin typeface="Calibri" pitchFamily="34" charset="0"/>
                <a:ea typeface="Calibri" pitchFamily="34" charset="-122"/>
                <a:cs typeface="Calibri" pitchFamily="34" charset="-120"/>
              </a:rPr>
              <a:t>    first moment (mean)</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vₜ = β₂ vₜ₋₁ + (1 − β₂) gₜ²</a:t>
            </a:r>
            <a:r>
              <a:rPr lang="en-US" sz="1600" dirty="0">
                <a:solidFill>
                  <a:schemeClr val="tx2"/>
                </a:solidFill>
                <a:latin typeface="Calibri" pitchFamily="34" charset="0"/>
                <a:ea typeface="Calibri" pitchFamily="34" charset="-122"/>
                <a:cs typeface="Calibri" pitchFamily="34" charset="-120"/>
              </a:rPr>
              <a:t>    second moment</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m̂ₜ = mₜ / (1 − β₁ᵗ),   v̂ₜ = vₜ / (1 − β₂ᵗ)</a:t>
            </a:r>
            <a:r>
              <a:rPr lang="en-US" sz="1600" dirty="0">
                <a:solidFill>
                  <a:schemeClr val="tx2"/>
                </a:solidFill>
                <a:latin typeface="Calibri" pitchFamily="34" charset="0"/>
                <a:ea typeface="Calibri" pitchFamily="34" charset="-122"/>
                <a:cs typeface="Calibri" pitchFamily="34" charset="-120"/>
              </a:rPr>
              <a:t>    bias correction</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θₜ = θₜ₋₁ − η · m̂ₜ / (</a:t>
            </a:r>
            <a:r>
              <a:rPr lang="en-US" sz="2000" dirty="0">
                <a:solidFill>
                  <a:schemeClr val="tx1"/>
                </a:solidFill>
                <a:latin typeface="Calibri" pitchFamily="34" charset="0"/>
                <a:ea typeface="Calibri" pitchFamily="34" charset="-122"/>
                <a:cs typeface="Calibri" pitchFamily="34" charset="-120"/>
              </a:rPr>
              <a:t>√</a:t>
            </a:r>
            <a:r>
              <a:rPr lang="en-US" sz="2000" dirty="0">
                <a:solidFill>
                  <a:schemeClr val="tx1"/>
                </a:solidFill>
                <a:latin typeface="Cambria Math" pitchFamily="34" charset="0"/>
                <a:ea typeface="Cambria Math" pitchFamily="34" charset="-122"/>
                <a:cs typeface="Cambria Math" pitchFamily="34" charset="-120"/>
              </a:rPr>
              <a:t>v̂ₜ + ε)</a:t>
            </a:r>
            <a:endParaRPr lang="en-US" sz="2000" dirty="0"/>
          </a:p>
        </p:txBody>
      </p:sp>
      <p:sp>
        <p:nvSpPr>
          <p:cNvPr id="8" name="Text 5"/>
          <p:cNvSpPr txBox="1"/>
          <p:nvPr/>
        </p:nvSpPr>
        <p:spPr>
          <a:xfrm>
            <a:off x="548640" y="3977640"/>
            <a:ext cx="7315200" cy="411480"/>
          </a:xfrm>
          <a:prstGeom prst="rect">
            <a:avLst/>
          </a:prstGeom>
          <a:noFill/>
          <a:ln/>
        </p:spPr>
        <p:txBody>
          <a:bodyPr wrap="square" lIns="0" tIns="0" rIns="0" bIns="0" rtlCol="0" anchor="t"/>
          <a:lstStyle/>
          <a:p>
            <a:pPr algn="l" indent="0" marL="0">
              <a:lnSpc>
                <a:spcPct val="105000"/>
              </a:lnSpc>
              <a:buNone/>
            </a:pPr>
            <a:r>
              <a:rPr lang="en-US" sz="1700" dirty="0">
                <a:solidFill>
                  <a:schemeClr val="tx2"/>
                </a:solidFill>
              </a:rPr>
              <a:t>Defaults: β₁ = 0.9, β₂ = 0.999, ε = 10⁻⁸.</a:t>
            </a:r>
            <a:endParaRPr lang="en-US" sz="1700" dirty="0"/>
          </a:p>
        </p:txBody>
      </p:sp>
      <p:sp>
        <p:nvSpPr>
          <p:cNvPr id="9" name="Shape 6"/>
          <p:cNvSpPr/>
          <p:nvPr/>
        </p:nvSpPr>
        <p:spPr>
          <a:xfrm>
            <a:off x="758952" y="4782312"/>
            <a:ext cx="0" cy="731520"/>
          </a:xfrm>
          <a:prstGeom prst="line">
            <a:avLst/>
          </a:prstGeom>
          <a:noFill/>
          <a:ln w="25400">
            <a:solidFill>
              <a:schemeClr val="accent1">
                <a:alpha val="50000"/>
              </a:schemeClr>
            </a:solidFill>
            <a:prstDash val="solid"/>
          </a:ln>
        </p:spPr>
      </p:sp>
      <p:sp>
        <p:nvSpPr>
          <p:cNvPr id="10" name="Shape 7"/>
          <p:cNvSpPr/>
          <p:nvPr/>
        </p:nvSpPr>
        <p:spPr>
          <a:xfrm>
            <a:off x="548640" y="4572000"/>
            <a:ext cx="420624" cy="420624"/>
          </a:xfrm>
          <a:prstGeom prst="ellipse">
            <a:avLst/>
          </a:prstGeom>
          <a:solidFill>
            <a:schemeClr val="accent1"/>
          </a:solidFill>
          <a:ln w="25400">
            <a:solidFill>
              <a:schemeClr val="bg1"/>
            </a:solidFill>
            <a:prstDash val="solid"/>
          </a:ln>
        </p:spPr>
      </p:sp>
      <p:sp>
        <p:nvSpPr>
          <p:cNvPr id="11" name="Text 8"/>
          <p:cNvSpPr txBox="1"/>
          <p:nvPr/>
        </p:nvSpPr>
        <p:spPr>
          <a:xfrm>
            <a:off x="548640" y="457200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2" name="Text 9"/>
          <p:cNvSpPr txBox="1"/>
          <p:nvPr/>
        </p:nvSpPr>
        <p:spPr>
          <a:xfrm>
            <a:off x="1197864" y="4608576"/>
            <a:ext cx="6665976" cy="685800"/>
          </a:xfrm>
          <a:prstGeom prst="rect">
            <a:avLst/>
          </a:prstGeom>
          <a:noFill/>
          <a:ln/>
        </p:spPr>
        <p:txBody>
          <a:bodyPr wrap="square" lIns="0" tIns="0" rIns="0" bIns="0" rtlCol="0" anchor="t"/>
          <a:lstStyle/>
          <a:p>
            <a:pPr algn="l" indent="0" marL="0">
              <a:lnSpc>
                <a:spcPct val="105000"/>
              </a:lnSpc>
              <a:buNone/>
            </a:pPr>
            <a:r>
              <a:rPr lang="en-US" sz="1600" b="1" dirty="0">
                <a:solidFill>
                  <a:schemeClr val="tx1"/>
                </a:solidFill>
              </a:rPr>
              <a:t>Consistent gradients</a:t>
            </a:r>
            <a:r>
              <a:rPr lang="en-US" sz="1600" dirty="0">
                <a:solidFill>
                  <a:schemeClr val="tx1"/>
                </a:solidFill>
              </a:rPr>
              <a:t> m̂ is large relative to √v̂: the step is near ±η.</a:t>
            </a:r>
            <a:endParaRPr lang="en-US" sz="1600" dirty="0"/>
          </a:p>
        </p:txBody>
      </p:sp>
      <p:sp>
        <p:nvSpPr>
          <p:cNvPr id="13" name="Shape 10"/>
          <p:cNvSpPr/>
          <p:nvPr/>
        </p:nvSpPr>
        <p:spPr>
          <a:xfrm>
            <a:off x="548640" y="5303520"/>
            <a:ext cx="420624" cy="420624"/>
          </a:xfrm>
          <a:prstGeom prst="ellipse">
            <a:avLst/>
          </a:prstGeom>
          <a:solidFill>
            <a:schemeClr val="accent1"/>
          </a:solidFill>
          <a:ln w="25400">
            <a:solidFill>
              <a:schemeClr val="bg1"/>
            </a:solidFill>
            <a:prstDash val="solid"/>
          </a:ln>
        </p:spPr>
      </p:sp>
      <p:sp>
        <p:nvSpPr>
          <p:cNvPr id="14" name="Text 11"/>
          <p:cNvSpPr txBox="1"/>
          <p:nvPr/>
        </p:nvSpPr>
        <p:spPr>
          <a:xfrm>
            <a:off x="548640" y="530352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5" name="Text 12"/>
          <p:cNvSpPr txBox="1"/>
          <p:nvPr/>
        </p:nvSpPr>
        <p:spPr>
          <a:xfrm>
            <a:off x="1197864" y="5340096"/>
            <a:ext cx="6665976" cy="685800"/>
          </a:xfrm>
          <a:prstGeom prst="rect">
            <a:avLst/>
          </a:prstGeom>
          <a:noFill/>
          <a:ln/>
        </p:spPr>
        <p:txBody>
          <a:bodyPr wrap="square" lIns="0" tIns="0" rIns="0" bIns="0" rtlCol="0" anchor="t"/>
          <a:lstStyle/>
          <a:p>
            <a:pPr algn="l" indent="0" marL="0">
              <a:lnSpc>
                <a:spcPct val="105000"/>
              </a:lnSpc>
              <a:buNone/>
            </a:pPr>
            <a:r>
              <a:rPr lang="en-US" sz="1600" b="1" dirty="0">
                <a:solidFill>
                  <a:schemeClr val="tx1"/>
                </a:solidFill>
              </a:rPr>
              <a:t>Noisy gradients</a:t>
            </a:r>
            <a:r>
              <a:rPr lang="en-US" sz="1600" dirty="0">
                <a:solidFill>
                  <a:schemeClr val="tx1"/>
                </a:solidFill>
              </a:rPr>
              <a:t> m̂ is small relative to √v̂: the step shrinks automatically.</a:t>
            </a:r>
            <a:endParaRPr lang="en-US" sz="1600" dirty="0"/>
          </a:p>
        </p:txBody>
      </p:sp>
      <p:sp>
        <p:nvSpPr>
          <p:cNvPr id="16" name="Shape 13"/>
          <p:cNvSpPr/>
          <p:nvPr/>
        </p:nvSpPr>
        <p:spPr>
          <a:xfrm>
            <a:off x="8321040" y="1645920"/>
            <a:ext cx="3319272" cy="2743200"/>
          </a:xfrm>
          <a:prstGeom prst="roundRect">
            <a:avLst>
              <a:gd name="adj" fmla="val 2667"/>
            </a:avLst>
          </a:prstGeom>
          <a:solidFill>
            <a:schemeClr val="accent1">
              <a:alpha val="10000"/>
            </a:schemeClr>
          </a:solidFill>
          <a:ln w="12700">
            <a:solidFill>
              <a:schemeClr val="accent1">
                <a:alpha val="10000"/>
              </a:schemeClr>
            </a:solidFill>
            <a:prstDash val="solid"/>
          </a:ln>
        </p:spPr>
      </p:sp>
      <p:sp>
        <p:nvSpPr>
          <p:cNvPr id="17" name="Text 14"/>
          <p:cNvSpPr txBox="1"/>
          <p:nvPr/>
        </p:nvSpPr>
        <p:spPr>
          <a:xfrm>
            <a:off x="8522208" y="1847088"/>
            <a:ext cx="291693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accent1"/>
                </a:solidFill>
              </a:rPr>
              <a:t>A signal-to-noise ratio</a:t>
            </a:r>
            <a:endParaRPr lang="en-US" sz="1900" dirty="0"/>
          </a:p>
        </p:txBody>
      </p:sp>
      <p:sp>
        <p:nvSpPr>
          <p:cNvPr id="18" name="Text 15"/>
          <p:cNvSpPr txBox="1"/>
          <p:nvPr/>
        </p:nvSpPr>
        <p:spPr>
          <a:xfrm>
            <a:off x="8522208" y="2204974"/>
            <a:ext cx="2916936" cy="1982978"/>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m̂ / √v̂ is mean over root-mean-square: Adam is cautious exactly when the gradient is unreliable.</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§10 · OPTIMIZERS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Bias correction undoes the zero start of both moments</a:t>
            </a:r>
            <a:endParaRPr lang="en-US" sz="3000" dirty="0"/>
          </a:p>
        </p:txBody>
      </p:sp>
      <p:sp>
        <p:nvSpPr>
          <p:cNvPr id="5" name="Shape 2"/>
          <p:cNvSpPr/>
          <p:nvPr/>
        </p:nvSpPr>
        <p:spPr>
          <a:xfrm>
            <a:off x="548640" y="1645920"/>
            <a:ext cx="5852160" cy="1476248"/>
          </a:xfrm>
          <a:prstGeom prst="roundRect">
            <a:avLst>
              <a:gd name="adj" fmla="val 4955"/>
            </a:avLst>
          </a:prstGeom>
          <a:solidFill>
            <a:schemeClr val="accent1">
              <a:alpha val="10000"/>
            </a:schemeClr>
          </a:solidFill>
          <a:ln w="12700">
            <a:solidFill>
              <a:schemeClr val="accent1">
                <a:alpha val="10000"/>
              </a:schemeClr>
            </a:solidFill>
            <a:prstDash val="solid"/>
          </a:ln>
        </p:spPr>
      </p:sp>
      <p:sp>
        <p:nvSpPr>
          <p:cNvPr id="6" name="Text 3"/>
          <p:cNvSpPr txBox="1"/>
          <p:nvPr/>
        </p:nvSpPr>
        <p:spPr>
          <a:xfrm>
            <a:off x="777240" y="1792224"/>
            <a:ext cx="5394960"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WHY M IS BIASED</a:t>
            </a:r>
            <a:endParaRPr lang="en-US" sz="1200" dirty="0"/>
          </a:p>
        </p:txBody>
      </p:sp>
      <p:sp>
        <p:nvSpPr>
          <p:cNvPr id="7" name="Text 4"/>
          <p:cNvSpPr txBox="1"/>
          <p:nvPr/>
        </p:nvSpPr>
        <p:spPr>
          <a:xfrm>
            <a:off x="777240" y="2221992"/>
            <a:ext cx="5394960" cy="708152"/>
          </a:xfrm>
          <a:prstGeom prst="rect">
            <a:avLst/>
          </a:prstGeom>
          <a:noFill/>
          <a:ln/>
        </p:spPr>
        <p:txBody>
          <a:bodyPr wrap="square" lIns="0" tIns="0" rIns="0" bIns="0" rtlCol="0" anchor="t"/>
          <a:lstStyle/>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mₜ = (1 − β₁) Σᵢ β₁ᵗ⁻ⁱ gᵢ</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E[mₜ] = E[g] (1 − β₁ᵗ)</a:t>
            </a:r>
            <a:r>
              <a:rPr lang="en-US" sz="1600" dirty="0">
                <a:solidFill>
                  <a:schemeClr val="tx2"/>
                </a:solidFill>
                <a:latin typeface="Calibri" pitchFamily="34" charset="0"/>
                <a:ea typeface="Calibri" pitchFamily="34" charset="-122"/>
                <a:cs typeface="Calibri" pitchFamily="34" charset="-120"/>
              </a:rPr>
              <a:t>    underestimates the mean</a:t>
            </a:r>
            <a:endParaRPr lang="en-US" sz="2000" dirty="0"/>
          </a:p>
        </p:txBody>
      </p:sp>
      <p:sp>
        <p:nvSpPr>
          <p:cNvPr id="8" name="Shape 5"/>
          <p:cNvSpPr/>
          <p:nvPr/>
        </p:nvSpPr>
        <p:spPr>
          <a:xfrm>
            <a:off x="548640" y="3291840"/>
            <a:ext cx="5852160" cy="1158748"/>
          </a:xfrm>
          <a:prstGeom prst="roundRect">
            <a:avLst>
              <a:gd name="adj" fmla="val 6313"/>
            </a:avLst>
          </a:prstGeom>
          <a:solidFill>
            <a:schemeClr val="accent2">
              <a:alpha val="12000"/>
            </a:schemeClr>
          </a:solidFill>
          <a:ln w="12700">
            <a:solidFill>
              <a:schemeClr val="accent2">
                <a:alpha val="12000"/>
              </a:schemeClr>
            </a:solidFill>
            <a:prstDash val="solid"/>
          </a:ln>
        </p:spPr>
      </p:sp>
      <p:sp>
        <p:nvSpPr>
          <p:cNvPr id="9" name="Text 6"/>
          <p:cNvSpPr txBox="1"/>
          <p:nvPr/>
        </p:nvSpPr>
        <p:spPr>
          <a:xfrm>
            <a:off x="777240" y="3438144"/>
            <a:ext cx="5394960" cy="274320"/>
          </a:xfrm>
          <a:prstGeom prst="rect">
            <a:avLst/>
          </a:prstGeom>
          <a:noFill/>
          <a:ln/>
        </p:spPr>
        <p:txBody>
          <a:bodyPr wrap="square" lIns="0" tIns="0" rIns="0" bIns="0" rtlCol="0" anchor="ctr"/>
          <a:lstStyle/>
          <a:p>
            <a:pPr indent="0" marL="0">
              <a:buNone/>
            </a:pPr>
            <a:r>
              <a:rPr lang="en-US" sz="1200" b="1" spc="120" kern="0" dirty="0">
                <a:solidFill>
                  <a:schemeClr val="accent2"/>
                </a:solidFill>
              </a:rPr>
              <a:t>UNCORRECTED FIRST STEP</a:t>
            </a:r>
            <a:endParaRPr lang="en-US" sz="1200" dirty="0"/>
          </a:p>
        </p:txBody>
      </p:sp>
      <p:sp>
        <p:nvSpPr>
          <p:cNvPr id="10" name="Text 7"/>
          <p:cNvSpPr txBox="1"/>
          <p:nvPr/>
        </p:nvSpPr>
        <p:spPr>
          <a:xfrm>
            <a:off x="777240" y="3867912"/>
            <a:ext cx="5394960" cy="390652"/>
          </a:xfrm>
          <a:prstGeom prst="rect">
            <a:avLst/>
          </a:prstGeom>
          <a:noFill/>
          <a:ln/>
        </p:spPr>
        <p:txBody>
          <a:bodyPr wrap="square" lIns="0" tIns="0" rIns="0" bIns="0" rtlCol="0" anchor="t"/>
          <a:lstStyle/>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m₁ / </a:t>
            </a:r>
            <a:r>
              <a:rPr lang="en-US" sz="2000" dirty="0">
                <a:solidFill>
                  <a:schemeClr val="tx1"/>
                </a:solidFill>
                <a:latin typeface="Calibri" pitchFamily="34" charset="0"/>
                <a:ea typeface="Calibri" pitchFamily="34" charset="-122"/>
                <a:cs typeface="Calibri" pitchFamily="34" charset="-120"/>
              </a:rPr>
              <a:t>√</a:t>
            </a:r>
            <a:r>
              <a:rPr lang="en-US" sz="2000" dirty="0">
                <a:solidFill>
                  <a:schemeClr val="tx1"/>
                </a:solidFill>
                <a:latin typeface="Cambria Math" pitchFamily="34" charset="0"/>
                <a:ea typeface="Cambria Math" pitchFamily="34" charset="-122"/>
                <a:cs typeface="Cambria Math" pitchFamily="34" charset="-120"/>
              </a:rPr>
              <a:t>v₁ = 0.1 g / </a:t>
            </a:r>
            <a:r>
              <a:rPr lang="en-US" sz="2000" dirty="0">
                <a:solidFill>
                  <a:schemeClr val="tx1"/>
                </a:solidFill>
                <a:latin typeface="Calibri" pitchFamily="34" charset="0"/>
                <a:ea typeface="Calibri" pitchFamily="34" charset="-122"/>
                <a:cs typeface="Calibri" pitchFamily="34" charset="-120"/>
              </a:rPr>
              <a:t>√</a:t>
            </a:r>
            <a:r>
              <a:rPr lang="en-US" sz="2000" dirty="0">
                <a:solidFill>
                  <a:schemeClr val="tx1"/>
                </a:solidFill>
                <a:latin typeface="Cambria Math" pitchFamily="34" charset="0"/>
                <a:ea typeface="Cambria Math" pitchFamily="34" charset="-122"/>
                <a:cs typeface="Cambria Math" pitchFamily="34" charset="-120"/>
              </a:rPr>
              <a:t>(0.001 g²) ≈ 3.16</a:t>
            </a:r>
            <a:endParaRPr lang="en-US" sz="2000" dirty="0"/>
          </a:p>
        </p:txBody>
      </p:sp>
      <p:sp>
        <p:nvSpPr>
          <p:cNvPr id="11" name="Text 8"/>
          <p:cNvSpPr txBox="1"/>
          <p:nvPr/>
        </p:nvSpPr>
        <p:spPr>
          <a:xfrm>
            <a:off x="548640" y="4663440"/>
            <a:ext cx="5852160" cy="1280160"/>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About 3.2× too large: a real error, not a catastrophe. The second moment stays unreliable for thousands of steps, which is one reason warmup helps Adam.</a:t>
            </a:r>
            <a:endParaRPr lang="en-US" sz="1600" dirty="0"/>
          </a:p>
        </p:txBody>
      </p:sp>
      <p:graphicFrame>
        <p:nvGraphicFramePr>
          <p:cNvPr id="12" name="Chart 0" descr=""/>
          <p:cNvGraphicFramePr/>
          <p:nvPr/>
        </p:nvGraphicFramePr>
        <p:xfrm>
          <a:off x="6675120" y="1600200"/>
          <a:ext cx="5029200" cy="4206240"/>
        </p:xfrm>
        <a:graphic xmlns:a="http://schemas.openxmlformats.org/drawingml/2006/main">
          <a:graphicData uri="http://schemas.openxmlformats.org/drawingml/2006/chart">
            <c:chart xmlns:c="http://schemas.openxmlformats.org/drawingml/2006/chart" r:id="rId1"/>
          </a:graphicData>
        </a:graphic>
      </p:graphicFrame>
      <p:sp>
        <p:nvSpPr>
          <p:cNvPr id="13" name="Text 9"/>
          <p:cNvSpPr txBox="1"/>
          <p:nvPr/>
        </p:nvSpPr>
        <p:spPr>
          <a:xfrm>
            <a:off x="6766560" y="5806440"/>
            <a:ext cx="4846320" cy="320040"/>
          </a:xfrm>
          <a:prstGeom prst="rect">
            <a:avLst/>
          </a:prstGeom>
          <a:noFill/>
          <a:ln/>
        </p:spPr>
        <p:txBody>
          <a:bodyPr wrap="square" lIns="0" tIns="0" rIns="0" bIns="0" rtlCol="0" anchor="t"/>
          <a:lstStyle/>
          <a:p>
            <a:pPr algn="l" indent="0" marL="0">
              <a:lnSpc>
                <a:spcPct val="105000"/>
              </a:lnSpc>
              <a:buNone/>
            </a:pPr>
            <a:r>
              <a:rPr lang="en-US" sz="1400" dirty="0">
                <a:solidFill>
                  <a:schemeClr val="tx2"/>
                </a:solidFill>
              </a:rPr>
              <a:t>≈ 40 steps for β₁, ≈ 4,000 for β₂.</a:t>
            </a:r>
            <a:endParaRPr lang="en-US" sz="14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§10 · OPTIMIZERS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AdamW decouples weight decay from the adaptive step</a:t>
            </a:r>
            <a:endParaRPr lang="en-US" sz="3000" dirty="0"/>
          </a:p>
        </p:txBody>
      </p:sp>
      <p:sp>
        <p:nvSpPr>
          <p:cNvPr id="5" name="Text 2"/>
          <p:cNvSpPr txBox="1"/>
          <p:nvPr/>
        </p:nvSpPr>
        <p:spPr>
          <a:xfrm>
            <a:off x="548640" y="1719072"/>
            <a:ext cx="7315200" cy="274320"/>
          </a:xfrm>
          <a:prstGeom prst="rect">
            <a:avLst/>
          </a:prstGeom>
          <a:noFill/>
          <a:ln/>
        </p:spPr>
        <p:txBody>
          <a:bodyPr wrap="square" lIns="0" tIns="0" rIns="0" bIns="0" rtlCol="0" anchor="ctr"/>
          <a:lstStyle/>
          <a:p>
            <a:pPr indent="0" marL="0">
              <a:buNone/>
            </a:pPr>
            <a:r>
              <a:rPr lang="en-US" sz="1200" b="1" spc="120" kern="0" dirty="0">
                <a:solidFill>
                  <a:schemeClr val="accent2"/>
                </a:solidFill>
              </a:rPr>
              <a:t>ADAM + L2 (COUPLED)</a:t>
            </a:r>
            <a:endParaRPr lang="en-US" sz="1200" dirty="0"/>
          </a:p>
        </p:txBody>
      </p:sp>
      <p:sp>
        <p:nvSpPr>
          <p:cNvPr id="6" name="Shape 3"/>
          <p:cNvSpPr/>
          <p:nvPr/>
        </p:nvSpPr>
        <p:spPr>
          <a:xfrm>
            <a:off x="548640" y="2103120"/>
            <a:ext cx="1371600" cy="658368"/>
          </a:xfrm>
          <a:prstGeom prst="roundRect">
            <a:avLst>
              <a:gd name="adj" fmla="val 8333"/>
            </a:avLst>
          </a:prstGeom>
          <a:solidFill>
            <a:schemeClr val="accent2">
              <a:alpha val="12000"/>
            </a:schemeClr>
          </a:solidFill>
          <a:ln w="15875">
            <a:solidFill>
              <a:schemeClr val="accent2"/>
            </a:solidFill>
            <a:prstDash val="solid"/>
          </a:ln>
        </p:spPr>
      </p:sp>
      <p:sp>
        <p:nvSpPr>
          <p:cNvPr id="7" name="Text 4"/>
          <p:cNvSpPr txBox="1"/>
          <p:nvPr/>
        </p:nvSpPr>
        <p:spPr>
          <a:xfrm>
            <a:off x="594360" y="2103120"/>
            <a:ext cx="1280160" cy="658368"/>
          </a:xfrm>
          <a:prstGeom prst="rect">
            <a:avLst/>
          </a:prstGeom>
          <a:noFill/>
          <a:ln/>
        </p:spPr>
        <p:txBody>
          <a:bodyPr wrap="square" lIns="0" tIns="0" rIns="0" bIns="0" rtlCol="0" anchor="ctr"/>
          <a:lstStyle/>
          <a:p>
            <a:pPr algn="ctr" indent="0" marL="0">
              <a:lnSpc>
                <a:spcPct val="105000"/>
              </a:lnSpc>
              <a:buNone/>
            </a:pPr>
            <a:r>
              <a:rPr lang="en-US" sz="1700" dirty="0">
                <a:solidFill>
                  <a:schemeClr val="tx1"/>
                </a:solidFill>
                <a:latin typeface="Cambria Math" pitchFamily="34" charset="0"/>
                <a:ea typeface="Cambria Math" pitchFamily="34" charset="-122"/>
                <a:cs typeface="Cambria Math" pitchFamily="34" charset="-120"/>
              </a:rPr>
              <a:t>g + λθ</a:t>
            </a:r>
            <a:endParaRPr lang="en-US" sz="1700" dirty="0"/>
          </a:p>
        </p:txBody>
      </p:sp>
      <p:sp>
        <p:nvSpPr>
          <p:cNvPr id="8" name="Shape 5"/>
          <p:cNvSpPr/>
          <p:nvPr/>
        </p:nvSpPr>
        <p:spPr>
          <a:xfrm>
            <a:off x="1920240" y="2432304"/>
            <a:ext cx="320040" cy="0"/>
          </a:xfrm>
          <a:prstGeom prst="line">
            <a:avLst/>
          </a:prstGeom>
          <a:noFill/>
          <a:ln w="22225">
            <a:solidFill>
              <a:srgbClr val="556270"/>
            </a:solidFill>
            <a:prstDash val="solid"/>
            <a:tailEnd type="triangle"/>
          </a:ln>
        </p:spPr>
      </p:sp>
      <p:sp>
        <p:nvSpPr>
          <p:cNvPr id="9" name="Shape 6"/>
          <p:cNvSpPr/>
          <p:nvPr/>
        </p:nvSpPr>
        <p:spPr>
          <a:xfrm>
            <a:off x="2240280" y="2103120"/>
            <a:ext cx="1097280" cy="658368"/>
          </a:xfrm>
          <a:prstGeom prst="roundRect">
            <a:avLst>
              <a:gd name="adj" fmla="val 8333"/>
            </a:avLst>
          </a:prstGeom>
          <a:solidFill>
            <a:schemeClr val="bg1"/>
          </a:solidFill>
          <a:ln w="15875">
            <a:solidFill>
              <a:schemeClr val="tx1"/>
            </a:solidFill>
            <a:prstDash val="solid"/>
          </a:ln>
        </p:spPr>
      </p:sp>
      <p:sp>
        <p:nvSpPr>
          <p:cNvPr id="10" name="Text 7"/>
          <p:cNvSpPr txBox="1"/>
          <p:nvPr/>
        </p:nvSpPr>
        <p:spPr>
          <a:xfrm>
            <a:off x="2286000" y="2103120"/>
            <a:ext cx="1005840" cy="658368"/>
          </a:xfrm>
          <a:prstGeom prst="rect">
            <a:avLst/>
          </a:prstGeom>
          <a:noFill/>
          <a:ln/>
        </p:spPr>
        <p:txBody>
          <a:bodyPr wrap="square" lIns="0" tIns="0" rIns="0" bIns="0" rtlCol="0" anchor="ctr"/>
          <a:lstStyle/>
          <a:p>
            <a:pPr algn="ctr" indent="0" marL="0">
              <a:lnSpc>
                <a:spcPct val="105000"/>
              </a:lnSpc>
              <a:buNone/>
            </a:pPr>
            <a:r>
              <a:rPr lang="en-US" sz="1700" dirty="0">
                <a:solidFill>
                  <a:schemeClr val="tx1"/>
                </a:solidFill>
                <a:latin typeface="Cambria Math" pitchFamily="34" charset="0"/>
                <a:ea typeface="Cambria Math" pitchFamily="34" charset="-122"/>
                <a:cs typeface="Cambria Math" pitchFamily="34" charset="-120"/>
              </a:rPr>
              <a:t>m, v</a:t>
            </a:r>
            <a:endParaRPr lang="en-US" sz="1700" dirty="0"/>
          </a:p>
        </p:txBody>
      </p:sp>
      <p:sp>
        <p:nvSpPr>
          <p:cNvPr id="11" name="Shape 8"/>
          <p:cNvSpPr/>
          <p:nvPr/>
        </p:nvSpPr>
        <p:spPr>
          <a:xfrm>
            <a:off x="3337560" y="2432304"/>
            <a:ext cx="320040" cy="0"/>
          </a:xfrm>
          <a:prstGeom prst="line">
            <a:avLst/>
          </a:prstGeom>
          <a:noFill/>
          <a:ln w="22225">
            <a:solidFill>
              <a:srgbClr val="556270"/>
            </a:solidFill>
            <a:prstDash val="solid"/>
            <a:tailEnd type="triangle"/>
          </a:ln>
        </p:spPr>
      </p:sp>
      <p:sp>
        <p:nvSpPr>
          <p:cNvPr id="12" name="Shape 9"/>
          <p:cNvSpPr/>
          <p:nvPr/>
        </p:nvSpPr>
        <p:spPr>
          <a:xfrm>
            <a:off x="3657600" y="2103120"/>
            <a:ext cx="1645920" cy="658368"/>
          </a:xfrm>
          <a:prstGeom prst="roundRect">
            <a:avLst>
              <a:gd name="adj" fmla="val 8333"/>
            </a:avLst>
          </a:prstGeom>
          <a:solidFill>
            <a:schemeClr val="bg1"/>
          </a:solidFill>
          <a:ln w="15875">
            <a:solidFill>
              <a:schemeClr val="tx1"/>
            </a:solidFill>
            <a:prstDash val="solid"/>
          </a:ln>
        </p:spPr>
      </p:sp>
      <p:sp>
        <p:nvSpPr>
          <p:cNvPr id="13" name="Text 10"/>
          <p:cNvSpPr txBox="1"/>
          <p:nvPr/>
        </p:nvSpPr>
        <p:spPr>
          <a:xfrm>
            <a:off x="3703320" y="2103120"/>
            <a:ext cx="1554480" cy="658368"/>
          </a:xfrm>
          <a:prstGeom prst="rect">
            <a:avLst/>
          </a:prstGeom>
          <a:noFill/>
          <a:ln/>
        </p:spPr>
        <p:txBody>
          <a:bodyPr wrap="square" lIns="0" tIns="0" rIns="0" bIns="0" rtlCol="0" anchor="ctr"/>
          <a:lstStyle/>
          <a:p>
            <a:pPr algn="ctr" indent="0" marL="0">
              <a:lnSpc>
                <a:spcPct val="105000"/>
              </a:lnSpc>
              <a:buNone/>
            </a:pPr>
            <a:r>
              <a:rPr lang="en-US" sz="1700" dirty="0">
                <a:solidFill>
                  <a:schemeClr val="tx1"/>
                </a:solidFill>
                <a:latin typeface="Cambria Math" pitchFamily="34" charset="0"/>
                <a:ea typeface="Cambria Math" pitchFamily="34" charset="-122"/>
                <a:cs typeface="Cambria Math" pitchFamily="34" charset="-120"/>
              </a:rPr>
              <a:t>÷ (√v̂ + ε)</a:t>
            </a:r>
            <a:endParaRPr lang="en-US" sz="1700" dirty="0"/>
          </a:p>
        </p:txBody>
      </p:sp>
      <p:sp>
        <p:nvSpPr>
          <p:cNvPr id="14" name="Shape 11"/>
          <p:cNvSpPr/>
          <p:nvPr/>
        </p:nvSpPr>
        <p:spPr>
          <a:xfrm>
            <a:off x="5303520" y="2432304"/>
            <a:ext cx="320040" cy="0"/>
          </a:xfrm>
          <a:prstGeom prst="line">
            <a:avLst/>
          </a:prstGeom>
          <a:noFill/>
          <a:ln w="22225">
            <a:solidFill>
              <a:srgbClr val="556270"/>
            </a:solidFill>
            <a:prstDash val="solid"/>
            <a:tailEnd type="triangle"/>
          </a:ln>
        </p:spPr>
      </p:sp>
      <p:sp>
        <p:nvSpPr>
          <p:cNvPr id="15" name="Shape 12"/>
          <p:cNvSpPr/>
          <p:nvPr/>
        </p:nvSpPr>
        <p:spPr>
          <a:xfrm>
            <a:off x="5623560" y="2103120"/>
            <a:ext cx="1280160" cy="658368"/>
          </a:xfrm>
          <a:prstGeom prst="roundRect">
            <a:avLst>
              <a:gd name="adj" fmla="val 8333"/>
            </a:avLst>
          </a:prstGeom>
          <a:solidFill>
            <a:schemeClr val="bg1"/>
          </a:solidFill>
          <a:ln w="15875">
            <a:solidFill>
              <a:schemeClr val="tx1"/>
            </a:solidFill>
            <a:prstDash val="solid"/>
          </a:ln>
        </p:spPr>
      </p:sp>
      <p:sp>
        <p:nvSpPr>
          <p:cNvPr id="16" name="Text 13"/>
          <p:cNvSpPr txBox="1"/>
          <p:nvPr/>
        </p:nvSpPr>
        <p:spPr>
          <a:xfrm>
            <a:off x="5669280" y="2103120"/>
            <a:ext cx="1188720" cy="658368"/>
          </a:xfrm>
          <a:prstGeom prst="rect">
            <a:avLst/>
          </a:prstGeom>
          <a:noFill/>
          <a:ln/>
        </p:spPr>
        <p:txBody>
          <a:bodyPr wrap="square" lIns="0" tIns="0" rIns="0" bIns="0" rtlCol="0" anchor="ctr"/>
          <a:lstStyle/>
          <a:p>
            <a:pPr algn="ctr" indent="0" marL="0">
              <a:lnSpc>
                <a:spcPct val="105000"/>
              </a:lnSpc>
              <a:buNone/>
            </a:pPr>
            <a:r>
              <a:rPr lang="en-US" sz="1700" dirty="0">
                <a:solidFill>
                  <a:schemeClr val="tx1"/>
                </a:solidFill>
                <a:latin typeface="Cambria Math" pitchFamily="34" charset="0"/>
                <a:ea typeface="Cambria Math" pitchFamily="34" charset="-122"/>
                <a:cs typeface="Cambria Math" pitchFamily="34" charset="-120"/>
              </a:rPr>
              <a:t>update</a:t>
            </a:r>
            <a:endParaRPr lang="en-US" sz="1700" dirty="0"/>
          </a:p>
        </p:txBody>
      </p:sp>
      <p:sp>
        <p:nvSpPr>
          <p:cNvPr id="17" name="Text 14"/>
          <p:cNvSpPr txBox="1"/>
          <p:nvPr/>
        </p:nvSpPr>
        <p:spPr>
          <a:xfrm>
            <a:off x="548640" y="2852928"/>
            <a:ext cx="7589520" cy="411480"/>
          </a:xfrm>
          <a:prstGeom prst="rect">
            <a:avLst/>
          </a:prstGeom>
          <a:noFill/>
          <a:ln/>
        </p:spPr>
        <p:txBody>
          <a:bodyPr wrap="square" lIns="0" tIns="0" rIns="0" bIns="0" rtlCol="0" anchor="t"/>
          <a:lstStyle/>
          <a:p>
            <a:pPr algn="l" indent="0" marL="0">
              <a:lnSpc>
                <a:spcPct val="105000"/>
              </a:lnSpc>
              <a:buNone/>
            </a:pPr>
            <a:r>
              <a:rPr lang="en-US" sz="1500" b="1" dirty="0">
                <a:solidFill>
                  <a:schemeClr val="accent2"/>
                </a:solidFill>
              </a:rPr>
              <a:t>The decay is divided by √v̂: its strength depends on gradient history.</a:t>
            </a:r>
            <a:endParaRPr lang="en-US" sz="1500" dirty="0"/>
          </a:p>
        </p:txBody>
      </p:sp>
      <p:sp>
        <p:nvSpPr>
          <p:cNvPr id="18" name="Text 15"/>
          <p:cNvSpPr txBox="1"/>
          <p:nvPr/>
        </p:nvSpPr>
        <p:spPr>
          <a:xfrm>
            <a:off x="548640" y="3685032"/>
            <a:ext cx="7315200"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ADAMW (DECOUPLED)</a:t>
            </a:r>
            <a:endParaRPr lang="en-US" sz="1200" dirty="0"/>
          </a:p>
        </p:txBody>
      </p:sp>
      <p:sp>
        <p:nvSpPr>
          <p:cNvPr id="19" name="Shape 16"/>
          <p:cNvSpPr/>
          <p:nvPr/>
        </p:nvSpPr>
        <p:spPr>
          <a:xfrm>
            <a:off x="548640" y="4069080"/>
            <a:ext cx="1371600" cy="658368"/>
          </a:xfrm>
          <a:prstGeom prst="roundRect">
            <a:avLst>
              <a:gd name="adj" fmla="val 8333"/>
            </a:avLst>
          </a:prstGeom>
          <a:solidFill>
            <a:schemeClr val="bg1"/>
          </a:solidFill>
          <a:ln w="15875">
            <a:solidFill>
              <a:schemeClr val="tx1"/>
            </a:solidFill>
            <a:prstDash val="solid"/>
          </a:ln>
        </p:spPr>
      </p:sp>
      <p:sp>
        <p:nvSpPr>
          <p:cNvPr id="20" name="Text 17"/>
          <p:cNvSpPr txBox="1"/>
          <p:nvPr/>
        </p:nvSpPr>
        <p:spPr>
          <a:xfrm>
            <a:off x="594360" y="4069080"/>
            <a:ext cx="1280160" cy="658368"/>
          </a:xfrm>
          <a:prstGeom prst="rect">
            <a:avLst/>
          </a:prstGeom>
          <a:noFill/>
          <a:ln/>
        </p:spPr>
        <p:txBody>
          <a:bodyPr wrap="square" lIns="0" tIns="0" rIns="0" bIns="0" rtlCol="0" anchor="ctr"/>
          <a:lstStyle/>
          <a:p>
            <a:pPr algn="ctr" indent="0" marL="0">
              <a:lnSpc>
                <a:spcPct val="105000"/>
              </a:lnSpc>
              <a:buNone/>
            </a:pPr>
            <a:r>
              <a:rPr lang="en-US" sz="1700" dirty="0">
                <a:solidFill>
                  <a:schemeClr val="tx1"/>
                </a:solidFill>
                <a:latin typeface="Cambria Math" pitchFamily="34" charset="0"/>
                <a:ea typeface="Cambria Math" pitchFamily="34" charset="-122"/>
                <a:cs typeface="Cambria Math" pitchFamily="34" charset="-120"/>
              </a:rPr>
              <a:t>g</a:t>
            </a:r>
            <a:endParaRPr lang="en-US" sz="1700" dirty="0"/>
          </a:p>
        </p:txBody>
      </p:sp>
      <p:sp>
        <p:nvSpPr>
          <p:cNvPr id="21" name="Shape 18"/>
          <p:cNvSpPr/>
          <p:nvPr/>
        </p:nvSpPr>
        <p:spPr>
          <a:xfrm>
            <a:off x="1920240" y="4398264"/>
            <a:ext cx="320040" cy="0"/>
          </a:xfrm>
          <a:prstGeom prst="line">
            <a:avLst/>
          </a:prstGeom>
          <a:noFill/>
          <a:ln w="22225">
            <a:solidFill>
              <a:srgbClr val="556270"/>
            </a:solidFill>
            <a:prstDash val="solid"/>
            <a:tailEnd type="triangle"/>
          </a:ln>
        </p:spPr>
      </p:sp>
      <p:sp>
        <p:nvSpPr>
          <p:cNvPr id="22" name="Shape 19"/>
          <p:cNvSpPr/>
          <p:nvPr/>
        </p:nvSpPr>
        <p:spPr>
          <a:xfrm>
            <a:off x="2240280" y="4069080"/>
            <a:ext cx="1097280" cy="658368"/>
          </a:xfrm>
          <a:prstGeom prst="roundRect">
            <a:avLst>
              <a:gd name="adj" fmla="val 8333"/>
            </a:avLst>
          </a:prstGeom>
          <a:solidFill>
            <a:schemeClr val="bg1"/>
          </a:solidFill>
          <a:ln w="15875">
            <a:solidFill>
              <a:schemeClr val="tx1"/>
            </a:solidFill>
            <a:prstDash val="solid"/>
          </a:ln>
        </p:spPr>
      </p:sp>
      <p:sp>
        <p:nvSpPr>
          <p:cNvPr id="23" name="Text 20"/>
          <p:cNvSpPr txBox="1"/>
          <p:nvPr/>
        </p:nvSpPr>
        <p:spPr>
          <a:xfrm>
            <a:off x="2286000" y="4069080"/>
            <a:ext cx="1005840" cy="658368"/>
          </a:xfrm>
          <a:prstGeom prst="rect">
            <a:avLst/>
          </a:prstGeom>
          <a:noFill/>
          <a:ln/>
        </p:spPr>
        <p:txBody>
          <a:bodyPr wrap="square" lIns="0" tIns="0" rIns="0" bIns="0" rtlCol="0" anchor="ctr"/>
          <a:lstStyle/>
          <a:p>
            <a:pPr algn="ctr" indent="0" marL="0">
              <a:lnSpc>
                <a:spcPct val="105000"/>
              </a:lnSpc>
              <a:buNone/>
            </a:pPr>
            <a:r>
              <a:rPr lang="en-US" sz="1700" dirty="0">
                <a:solidFill>
                  <a:schemeClr val="tx1"/>
                </a:solidFill>
                <a:latin typeface="Cambria Math" pitchFamily="34" charset="0"/>
                <a:ea typeface="Cambria Math" pitchFamily="34" charset="-122"/>
                <a:cs typeface="Cambria Math" pitchFamily="34" charset="-120"/>
              </a:rPr>
              <a:t>m, v</a:t>
            </a:r>
            <a:endParaRPr lang="en-US" sz="1700" dirty="0"/>
          </a:p>
        </p:txBody>
      </p:sp>
      <p:sp>
        <p:nvSpPr>
          <p:cNvPr id="24" name="Shape 21"/>
          <p:cNvSpPr/>
          <p:nvPr/>
        </p:nvSpPr>
        <p:spPr>
          <a:xfrm>
            <a:off x="3337560" y="4398264"/>
            <a:ext cx="320040" cy="0"/>
          </a:xfrm>
          <a:prstGeom prst="line">
            <a:avLst/>
          </a:prstGeom>
          <a:noFill/>
          <a:ln w="22225">
            <a:solidFill>
              <a:srgbClr val="556270"/>
            </a:solidFill>
            <a:prstDash val="solid"/>
            <a:tailEnd type="triangle"/>
          </a:ln>
        </p:spPr>
      </p:sp>
      <p:sp>
        <p:nvSpPr>
          <p:cNvPr id="25" name="Shape 22"/>
          <p:cNvSpPr/>
          <p:nvPr/>
        </p:nvSpPr>
        <p:spPr>
          <a:xfrm>
            <a:off x="3657600" y="4069080"/>
            <a:ext cx="1645920" cy="658368"/>
          </a:xfrm>
          <a:prstGeom prst="roundRect">
            <a:avLst>
              <a:gd name="adj" fmla="val 8333"/>
            </a:avLst>
          </a:prstGeom>
          <a:solidFill>
            <a:schemeClr val="bg1"/>
          </a:solidFill>
          <a:ln w="15875">
            <a:solidFill>
              <a:schemeClr val="tx1"/>
            </a:solidFill>
            <a:prstDash val="solid"/>
          </a:ln>
        </p:spPr>
      </p:sp>
      <p:sp>
        <p:nvSpPr>
          <p:cNvPr id="26" name="Text 23"/>
          <p:cNvSpPr txBox="1"/>
          <p:nvPr/>
        </p:nvSpPr>
        <p:spPr>
          <a:xfrm>
            <a:off x="3703320" y="4069080"/>
            <a:ext cx="1554480" cy="658368"/>
          </a:xfrm>
          <a:prstGeom prst="rect">
            <a:avLst/>
          </a:prstGeom>
          <a:noFill/>
          <a:ln/>
        </p:spPr>
        <p:txBody>
          <a:bodyPr wrap="square" lIns="0" tIns="0" rIns="0" bIns="0" rtlCol="0" anchor="ctr"/>
          <a:lstStyle/>
          <a:p>
            <a:pPr algn="ctr" indent="0" marL="0">
              <a:lnSpc>
                <a:spcPct val="105000"/>
              </a:lnSpc>
              <a:buNone/>
            </a:pPr>
            <a:r>
              <a:rPr lang="en-US" sz="1700" dirty="0">
                <a:solidFill>
                  <a:schemeClr val="tx1"/>
                </a:solidFill>
                <a:latin typeface="Cambria Math" pitchFamily="34" charset="0"/>
                <a:ea typeface="Cambria Math" pitchFamily="34" charset="-122"/>
                <a:cs typeface="Cambria Math" pitchFamily="34" charset="-120"/>
              </a:rPr>
              <a:t>÷ (√v̂ + ε)</a:t>
            </a:r>
            <a:endParaRPr lang="en-US" sz="1700" dirty="0"/>
          </a:p>
        </p:txBody>
      </p:sp>
      <p:sp>
        <p:nvSpPr>
          <p:cNvPr id="27" name="Shape 24"/>
          <p:cNvSpPr/>
          <p:nvPr/>
        </p:nvSpPr>
        <p:spPr>
          <a:xfrm>
            <a:off x="5303520" y="4398264"/>
            <a:ext cx="320040" cy="0"/>
          </a:xfrm>
          <a:prstGeom prst="line">
            <a:avLst/>
          </a:prstGeom>
          <a:noFill/>
          <a:ln w="22225">
            <a:solidFill>
              <a:srgbClr val="556270"/>
            </a:solidFill>
            <a:prstDash val="solid"/>
            <a:tailEnd type="triangle"/>
          </a:ln>
        </p:spPr>
      </p:sp>
      <p:sp>
        <p:nvSpPr>
          <p:cNvPr id="28" name="Shape 25"/>
          <p:cNvSpPr/>
          <p:nvPr/>
        </p:nvSpPr>
        <p:spPr>
          <a:xfrm>
            <a:off x="5623560" y="4069080"/>
            <a:ext cx="1920240" cy="658368"/>
          </a:xfrm>
          <a:prstGeom prst="roundRect">
            <a:avLst>
              <a:gd name="adj" fmla="val 8333"/>
            </a:avLst>
          </a:prstGeom>
          <a:solidFill>
            <a:schemeClr val="accent1">
              <a:alpha val="10000"/>
            </a:schemeClr>
          </a:solidFill>
          <a:ln w="15875">
            <a:solidFill>
              <a:schemeClr val="accent1"/>
            </a:solidFill>
            <a:prstDash val="solid"/>
          </a:ln>
        </p:spPr>
      </p:sp>
      <p:sp>
        <p:nvSpPr>
          <p:cNvPr id="29" name="Text 26"/>
          <p:cNvSpPr txBox="1"/>
          <p:nvPr/>
        </p:nvSpPr>
        <p:spPr>
          <a:xfrm>
            <a:off x="5669280" y="4069080"/>
            <a:ext cx="1828800" cy="658368"/>
          </a:xfrm>
          <a:prstGeom prst="rect">
            <a:avLst/>
          </a:prstGeom>
          <a:noFill/>
          <a:ln/>
        </p:spPr>
        <p:txBody>
          <a:bodyPr wrap="square" lIns="0" tIns="0" rIns="0" bIns="0" rtlCol="0" anchor="ctr"/>
          <a:lstStyle/>
          <a:p>
            <a:pPr algn="ctr" indent="0" marL="0">
              <a:lnSpc>
                <a:spcPct val="105000"/>
              </a:lnSpc>
              <a:buNone/>
            </a:pPr>
            <a:r>
              <a:rPr lang="en-US" sz="1700" dirty="0">
                <a:solidFill>
                  <a:schemeClr val="tx1"/>
                </a:solidFill>
                <a:latin typeface="Cambria Math" pitchFamily="34" charset="0"/>
                <a:ea typeface="Cambria Math" pitchFamily="34" charset="-122"/>
                <a:cs typeface="Cambria Math" pitchFamily="34" charset="-120"/>
              </a:rPr>
              <a:t>update − ηλθ</a:t>
            </a:r>
            <a:endParaRPr lang="en-US" sz="1700" dirty="0"/>
          </a:p>
        </p:txBody>
      </p:sp>
      <p:sp>
        <p:nvSpPr>
          <p:cNvPr id="30" name="Text 27"/>
          <p:cNvSpPr txBox="1"/>
          <p:nvPr/>
        </p:nvSpPr>
        <p:spPr>
          <a:xfrm>
            <a:off x="548640" y="4818888"/>
            <a:ext cx="7589520" cy="411480"/>
          </a:xfrm>
          <a:prstGeom prst="rect">
            <a:avLst/>
          </a:prstGeom>
          <a:noFill/>
          <a:ln/>
        </p:spPr>
        <p:txBody>
          <a:bodyPr wrap="square" lIns="0" tIns="0" rIns="0" bIns="0" rtlCol="0" anchor="t"/>
          <a:lstStyle/>
          <a:p>
            <a:pPr algn="l" indent="0" marL="0">
              <a:lnSpc>
                <a:spcPct val="105000"/>
              </a:lnSpc>
              <a:buNone/>
            </a:pPr>
            <a:r>
              <a:rPr lang="en-US" sz="1500" b="1" dirty="0">
                <a:solidFill>
                  <a:schemeClr val="accent1"/>
                </a:solidFill>
              </a:rPr>
              <a:t>The decay is applied directly to θ: uniform and predictable.</a:t>
            </a:r>
            <a:endParaRPr lang="en-US" sz="1500" dirty="0"/>
          </a:p>
        </p:txBody>
      </p:sp>
      <p:sp>
        <p:nvSpPr>
          <p:cNvPr id="31" name="Shape 28"/>
          <p:cNvSpPr/>
          <p:nvPr/>
        </p:nvSpPr>
        <p:spPr>
          <a:xfrm>
            <a:off x="548640" y="5349240"/>
            <a:ext cx="7589520" cy="758825"/>
          </a:xfrm>
          <a:prstGeom prst="roundRect">
            <a:avLst>
              <a:gd name="adj" fmla="val 9640"/>
            </a:avLst>
          </a:prstGeom>
          <a:solidFill>
            <a:schemeClr val="bg2"/>
          </a:solidFill>
          <a:ln w="12700">
            <a:solidFill>
              <a:schemeClr val="bg2"/>
            </a:solidFill>
            <a:prstDash val="solid"/>
          </a:ln>
        </p:spPr>
      </p:sp>
      <p:sp>
        <p:nvSpPr>
          <p:cNvPr id="32" name="Text 29"/>
          <p:cNvSpPr txBox="1"/>
          <p:nvPr/>
        </p:nvSpPr>
        <p:spPr>
          <a:xfrm>
            <a:off x="777240" y="5541264"/>
            <a:ext cx="7132320" cy="374777"/>
          </a:xfrm>
          <a:prstGeom prst="rect">
            <a:avLst/>
          </a:prstGeom>
          <a:noFill/>
          <a:ln/>
        </p:spPr>
        <p:txBody>
          <a:bodyPr wrap="square" lIns="0" tIns="0" rIns="0" bIns="0" rtlCol="0" anchor="t"/>
          <a:lstStyle/>
          <a:p>
            <a:pPr algn="l" indent="0" marL="0">
              <a:lnSpc>
                <a:spcPct val="112000"/>
              </a:lnSpc>
              <a:buNone/>
            </a:pPr>
            <a:r>
              <a:rPr lang="en-US" sz="1900" dirty="0">
                <a:solidFill>
                  <a:schemeClr val="tx1"/>
                </a:solidFill>
                <a:latin typeface="Cambria Math" pitchFamily="34" charset="0"/>
                <a:ea typeface="Cambria Math" pitchFamily="34" charset="-122"/>
                <a:cs typeface="Cambria Math" pitchFamily="34" charset="-120"/>
              </a:rPr>
              <a:t>θₜ = θₜ₋₁ − η m̂ₜ/(</a:t>
            </a:r>
            <a:r>
              <a:rPr lang="en-US" sz="1900" dirty="0">
                <a:solidFill>
                  <a:schemeClr val="tx1"/>
                </a:solidFill>
                <a:latin typeface="Calibri" pitchFamily="34" charset="0"/>
                <a:ea typeface="Calibri" pitchFamily="34" charset="-122"/>
                <a:cs typeface="Calibri" pitchFamily="34" charset="-120"/>
              </a:rPr>
              <a:t>√</a:t>
            </a:r>
            <a:r>
              <a:rPr lang="en-US" sz="1900" dirty="0">
                <a:solidFill>
                  <a:schemeClr val="tx1"/>
                </a:solidFill>
                <a:latin typeface="Cambria Math" pitchFamily="34" charset="0"/>
                <a:ea typeface="Cambria Math" pitchFamily="34" charset="-122"/>
                <a:cs typeface="Cambria Math" pitchFamily="34" charset="-120"/>
              </a:rPr>
              <a:t>v̂ₜ + ε) − η λ θₜ₋₁</a:t>
            </a:r>
            <a:endParaRPr lang="en-US" sz="1900" dirty="0"/>
          </a:p>
        </p:txBody>
      </p:sp>
      <p:sp>
        <p:nvSpPr>
          <p:cNvPr id="33" name="Shape 30"/>
          <p:cNvSpPr/>
          <p:nvPr/>
        </p:nvSpPr>
        <p:spPr>
          <a:xfrm>
            <a:off x="8595360" y="1691640"/>
            <a:ext cx="3044952" cy="4206240"/>
          </a:xfrm>
          <a:prstGeom prst="roundRect">
            <a:avLst>
              <a:gd name="adj" fmla="val 2402"/>
            </a:avLst>
          </a:prstGeom>
          <a:solidFill>
            <a:schemeClr val="accent1">
              <a:alpha val="10000"/>
            </a:schemeClr>
          </a:solidFill>
          <a:ln w="12700">
            <a:solidFill>
              <a:schemeClr val="accent1">
                <a:alpha val="10000"/>
              </a:schemeClr>
            </a:solidFill>
            <a:prstDash val="solid"/>
          </a:ln>
        </p:spPr>
      </p:sp>
      <p:sp>
        <p:nvSpPr>
          <p:cNvPr id="34" name="Text 31"/>
          <p:cNvSpPr txBox="1"/>
          <p:nvPr/>
        </p:nvSpPr>
        <p:spPr>
          <a:xfrm>
            <a:off x="8796528" y="1892808"/>
            <a:ext cx="264261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accent1"/>
                </a:solidFill>
              </a:rPr>
              <a:t>In PyTorch</a:t>
            </a:r>
            <a:endParaRPr lang="en-US" sz="1900" dirty="0"/>
          </a:p>
        </p:txBody>
      </p:sp>
      <p:sp>
        <p:nvSpPr>
          <p:cNvPr id="35" name="Text 32"/>
          <p:cNvSpPr txBox="1"/>
          <p:nvPr/>
        </p:nvSpPr>
        <p:spPr>
          <a:xfrm>
            <a:off x="8796528" y="2250694"/>
            <a:ext cx="2642616" cy="3446018"/>
          </a:xfrm>
          <a:prstGeom prst="rect">
            <a:avLst/>
          </a:prstGeom>
          <a:noFill/>
          <a:ln/>
        </p:spPr>
        <p:txBody>
          <a:bodyPr wrap="square" lIns="0" tIns="0" rIns="0" bIns="0" rtlCol="0" anchor="t"/>
          <a:lstStyle/>
          <a:p>
            <a:pPr algn="l" indent="0" marL="0">
              <a:lnSpc>
                <a:spcPct val="105000"/>
              </a:lnSpc>
              <a:spcAft>
                <a:spcPts val="600"/>
              </a:spcAft>
              <a:buNone/>
            </a:pPr>
            <a:r>
              <a:rPr lang="en-US" sz="1600" dirty="0">
                <a:solidFill>
                  <a:schemeClr val="accent1"/>
                </a:solidFill>
                <a:latin typeface="Consolas" pitchFamily="34" charset="0"/>
                <a:ea typeface="Consolas" pitchFamily="34" charset="-122"/>
                <a:cs typeface="Consolas" pitchFamily="34" charset="-120"/>
              </a:rPr>
              <a:t>Adam(weight_decay=…)</a:t>
            </a:r>
            <a:r>
              <a:rPr lang="en-US" sz="1600" dirty="0">
                <a:solidFill>
                  <a:schemeClr val="tx1"/>
                </a:solidFill>
              </a:rPr>
              <a:t>: coupled L2.</a:t>
            </a:r>
            <a:endParaRPr lang="en-US" sz="1600" dirty="0"/>
          </a:p>
          <a:p>
            <a:pPr algn="l" indent="0" marL="0">
              <a:lnSpc>
                <a:spcPct val="105000"/>
              </a:lnSpc>
              <a:spcAft>
                <a:spcPts val="600"/>
              </a:spcAft>
              <a:buNone/>
            </a:pPr>
            <a:r>
              <a:rPr lang="en-US" sz="1600" dirty="0">
                <a:solidFill>
                  <a:schemeClr val="accent1"/>
                </a:solidFill>
                <a:latin typeface="Consolas" pitchFamily="34" charset="0"/>
                <a:ea typeface="Consolas" pitchFamily="34" charset="-122"/>
                <a:cs typeface="Consolas" pitchFamily="34" charset="-120"/>
              </a:rPr>
              <a:t>AdamW(weight_decay=…)</a:t>
            </a:r>
            <a:r>
              <a:rPr lang="en-US" sz="1600" dirty="0">
                <a:solidFill>
                  <a:schemeClr val="tx1"/>
                </a:solidFill>
              </a:rPr>
              <a:t>: decoupled.</a:t>
            </a:r>
            <a:endParaRPr lang="en-US" sz="1600" dirty="0"/>
          </a:p>
          <a:p>
            <a:pPr algn="l" indent="0" marL="0">
              <a:lnSpc>
                <a:spcPct val="105000"/>
              </a:lnSpc>
              <a:buNone/>
            </a:pPr>
            <a:r>
              <a:rPr lang="en-US" sz="1600" b="1" dirty="0">
                <a:solidFill>
                  <a:schemeClr val="tx1"/>
                </a:solidFill>
              </a:rPr>
              <a:t>AdamW is the right default</a:t>
            </a:r>
            <a:r>
              <a:rPr lang="en-US" sz="1600" dirty="0">
                <a:solidFill>
                  <a:schemeClr val="tx1"/>
                </a:solidFill>
              </a:rPr>
              <a:t> for Transformers and modern vision.</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§10 · OPTIMIZERS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Do not decay biases or normalization parameters</a:t>
            </a:r>
            <a:endParaRPr lang="en-US" sz="3000" dirty="0"/>
          </a:p>
        </p:txBody>
      </p:sp>
      <p:sp>
        <p:nvSpPr>
          <p:cNvPr id="5" name="Shape 2"/>
          <p:cNvSpPr/>
          <p:nvPr/>
        </p:nvSpPr>
        <p:spPr>
          <a:xfrm>
            <a:off x="548640" y="1645920"/>
            <a:ext cx="6858000" cy="3374136"/>
          </a:xfrm>
          <a:prstGeom prst="roundRect">
            <a:avLst>
              <a:gd name="adj" fmla="val 2168"/>
            </a:avLst>
          </a:prstGeom>
          <a:solidFill>
            <a:schemeClr val="bg2"/>
          </a:solidFill>
          <a:ln w="12700">
            <a:solidFill>
              <a:schemeClr val="bg2"/>
            </a:solidFill>
            <a:prstDash val="solid"/>
          </a:ln>
        </p:spPr>
      </p:sp>
      <p:sp>
        <p:nvSpPr>
          <p:cNvPr id="6" name="Text 3"/>
          <p:cNvSpPr txBox="1"/>
          <p:nvPr/>
        </p:nvSpPr>
        <p:spPr>
          <a:xfrm>
            <a:off x="749808" y="1819656"/>
            <a:ext cx="6455664" cy="3026664"/>
          </a:xfrm>
          <a:prstGeom prst="rect">
            <a:avLst/>
          </a:prstGeom>
          <a:noFill/>
          <a:ln/>
        </p:spPr>
        <p:txBody>
          <a:bodyPr wrap="square" lIns="0" tIns="0" rIns="0" bIns="0" rtlCol="0" anchor="t"/>
          <a:lstStyle/>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decay, no_decay = [], []</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for name, p in model.named_parameters():</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    if not p.requires_grad:</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        continue</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    if p.ndim &lt;= 1 or name.endswith(".bias"):</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        no_decay.append(p)      </a:t>
            </a:r>
            <a:r>
              <a:rPr lang="en-US" sz="1500" dirty="0">
                <a:solidFill>
                  <a:schemeClr val="accent1"/>
                </a:solidFill>
                <a:latin typeface="Consolas" pitchFamily="34" charset="0"/>
                <a:ea typeface="Consolas" pitchFamily="34" charset="-122"/>
                <a:cs typeface="Consolas" pitchFamily="34" charset="-120"/>
              </a:rPr>
              <a:t># biases, norm γ and β</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    else:</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        decay.append(p)</a:t>
            </a:r>
            <a:endParaRPr lang="en-US" sz="1500" dirty="0"/>
          </a:p>
          <a:p>
            <a:pPr indent="0" marL="0">
              <a:lnSpc>
                <a:spcPct val="100000"/>
              </a:lnSpc>
              <a:buNone/>
            </a:pPr>
            <a:r>
              <a:rPr lang="en-US" sz="1500" dirty="0">
                <a:solidFill>
                  <a:srgbClr val="000000"/>
                </a:solidFill>
                <a:latin typeface="Consolas" pitchFamily="34" charset="0"/>
                <a:ea typeface="Consolas" pitchFamily="34" charset="-122"/>
                <a:cs typeface="Consolas" pitchFamily="34" charset="-120"/>
              </a:rPr>
              <a:t> </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optimizer = torch.optim.AdamW([</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    {"params": decay,    "weight_decay": 0.05},</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    {"params": no_decay, "weight_decay": 0.0},</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 lr=3e-4)</a:t>
            </a:r>
            <a:endParaRPr lang="en-US" sz="1500" dirty="0"/>
          </a:p>
        </p:txBody>
      </p:sp>
      <p:sp>
        <p:nvSpPr>
          <p:cNvPr id="7" name="Shape 4"/>
          <p:cNvSpPr/>
          <p:nvPr/>
        </p:nvSpPr>
        <p:spPr>
          <a:xfrm>
            <a:off x="8074152" y="1901952"/>
            <a:ext cx="0" cy="2651760"/>
          </a:xfrm>
          <a:prstGeom prst="line">
            <a:avLst/>
          </a:prstGeom>
          <a:noFill/>
          <a:ln w="25400">
            <a:solidFill>
              <a:schemeClr val="accent1">
                <a:alpha val="50000"/>
              </a:schemeClr>
            </a:solidFill>
            <a:prstDash val="solid"/>
          </a:ln>
        </p:spPr>
      </p:sp>
      <p:sp>
        <p:nvSpPr>
          <p:cNvPr id="8" name="Shape 5"/>
          <p:cNvSpPr/>
          <p:nvPr/>
        </p:nvSpPr>
        <p:spPr>
          <a:xfrm>
            <a:off x="7863840" y="1691640"/>
            <a:ext cx="420624" cy="420624"/>
          </a:xfrm>
          <a:prstGeom prst="ellipse">
            <a:avLst/>
          </a:prstGeom>
          <a:solidFill>
            <a:schemeClr val="accent1"/>
          </a:solidFill>
          <a:ln w="25400">
            <a:solidFill>
              <a:schemeClr val="bg1"/>
            </a:solidFill>
            <a:prstDash val="solid"/>
          </a:ln>
        </p:spPr>
      </p:sp>
      <p:sp>
        <p:nvSpPr>
          <p:cNvPr id="9" name="Text 6"/>
          <p:cNvSpPr txBox="1"/>
          <p:nvPr/>
        </p:nvSpPr>
        <p:spPr>
          <a:xfrm>
            <a:off x="7863840" y="16916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0" name="Text 7"/>
          <p:cNvSpPr txBox="1"/>
          <p:nvPr/>
        </p:nvSpPr>
        <p:spPr>
          <a:xfrm>
            <a:off x="8513064" y="1728216"/>
            <a:ext cx="312724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Too few to overfit</a:t>
            </a:r>
            <a:endParaRPr lang="en-US" sz="1900" dirty="0"/>
          </a:p>
        </p:txBody>
      </p:sp>
      <p:sp>
        <p:nvSpPr>
          <p:cNvPr id="11" name="Text 8"/>
          <p:cNvSpPr txBox="1"/>
          <p:nvPr/>
        </p:nvSpPr>
        <p:spPr>
          <a:xfrm>
            <a:off x="8513064" y="2031238"/>
            <a:ext cx="3127248" cy="94970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Biases and norm parameters are a tiny share of the model.</a:t>
            </a:r>
            <a:endParaRPr lang="en-US" sz="1600" dirty="0"/>
          </a:p>
        </p:txBody>
      </p:sp>
      <p:sp>
        <p:nvSpPr>
          <p:cNvPr id="12" name="Shape 9"/>
          <p:cNvSpPr/>
          <p:nvPr/>
        </p:nvSpPr>
        <p:spPr>
          <a:xfrm>
            <a:off x="7863840" y="3017520"/>
            <a:ext cx="420624" cy="420624"/>
          </a:xfrm>
          <a:prstGeom prst="ellipse">
            <a:avLst/>
          </a:prstGeom>
          <a:solidFill>
            <a:schemeClr val="accent1"/>
          </a:solidFill>
          <a:ln w="25400">
            <a:solidFill>
              <a:schemeClr val="bg1"/>
            </a:solidFill>
            <a:prstDash val="solid"/>
          </a:ln>
        </p:spPr>
      </p:sp>
      <p:sp>
        <p:nvSpPr>
          <p:cNvPr id="13" name="Text 10"/>
          <p:cNvSpPr txBox="1"/>
          <p:nvPr/>
        </p:nvSpPr>
        <p:spPr>
          <a:xfrm>
            <a:off x="7863840" y="301752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Text 11"/>
          <p:cNvSpPr txBox="1"/>
          <p:nvPr/>
        </p:nvSpPr>
        <p:spPr>
          <a:xfrm>
            <a:off x="8513064" y="3054096"/>
            <a:ext cx="3127248" cy="569468"/>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Decay distorts normalization</a:t>
            </a:r>
            <a:endParaRPr lang="en-US" sz="1900" dirty="0"/>
          </a:p>
        </p:txBody>
      </p:sp>
      <p:sp>
        <p:nvSpPr>
          <p:cNvPr id="15" name="Text 12"/>
          <p:cNvSpPr txBox="1"/>
          <p:nvPr/>
        </p:nvSpPr>
        <p:spPr>
          <a:xfrm>
            <a:off x="8513064" y="3641852"/>
            <a:ext cx="3127248" cy="664972"/>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Shrinking γ toward 0 suppresses the layer’s output.</a:t>
            </a:r>
            <a:endParaRPr lang="en-US" sz="1600" dirty="0"/>
          </a:p>
        </p:txBody>
      </p:sp>
      <p:sp>
        <p:nvSpPr>
          <p:cNvPr id="16" name="Shape 13"/>
          <p:cNvSpPr/>
          <p:nvPr/>
        </p:nvSpPr>
        <p:spPr>
          <a:xfrm>
            <a:off x="7863840" y="4343400"/>
            <a:ext cx="420624" cy="420624"/>
          </a:xfrm>
          <a:prstGeom prst="ellipse">
            <a:avLst/>
          </a:prstGeom>
          <a:solidFill>
            <a:schemeClr val="accent1"/>
          </a:solidFill>
          <a:ln w="25400">
            <a:solidFill>
              <a:schemeClr val="bg1"/>
            </a:solidFill>
            <a:prstDash val="solid"/>
          </a:ln>
        </p:spPr>
      </p:sp>
      <p:sp>
        <p:nvSpPr>
          <p:cNvPr id="17" name="Text 14"/>
          <p:cNvSpPr txBox="1"/>
          <p:nvPr/>
        </p:nvSpPr>
        <p:spPr>
          <a:xfrm>
            <a:off x="7863840" y="434340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5"/>
          <p:cNvSpPr txBox="1"/>
          <p:nvPr/>
        </p:nvSpPr>
        <p:spPr>
          <a:xfrm>
            <a:off x="8513064" y="4379976"/>
            <a:ext cx="312724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Rule of thumb</a:t>
            </a:r>
            <a:endParaRPr lang="en-US" sz="1900" dirty="0"/>
          </a:p>
        </p:txBody>
      </p:sp>
      <p:sp>
        <p:nvSpPr>
          <p:cNvPr id="19" name="Text 16"/>
          <p:cNvSpPr txBox="1"/>
          <p:nvPr/>
        </p:nvSpPr>
        <p:spPr>
          <a:xfrm>
            <a:off x="8513064" y="4682998"/>
            <a:ext cx="3127248" cy="94970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One-dimensional parameters go in the no-decay group.</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§10 · OPTIMIZERS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AdamW by default; tuned SGD with momentum still competes</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2560320"/>
                <a:gridCol w="4846320"/>
                <a:gridCol w="3685032"/>
              </a:tblGrid>
              <a:tr h="512064">
                <a:tc>
                  <a:txBody>
                    <a:bodyPr/>
                    <a:lstStyle/>
                    <a:p>
                      <a:pPr indent="0" marL="0">
                        <a:buNone/>
                      </a:pPr>
                      <a:r>
                        <a:rPr lang="en-US" sz="1700" b="1" dirty="0">
                          <a:solidFill>
                            <a:schemeClr val="bg1"/>
                          </a:solidFill>
                        </a:rPr>
                        <a:t>Optimizer</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700" b="1" dirty="0">
                          <a:solidFill>
                            <a:schemeClr val="bg1"/>
                          </a:solidFill>
                        </a:rPr>
                        <a:t>Best for</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700" b="1" dirty="0">
                          <a:solidFill>
                            <a:schemeClr val="bg1"/>
                          </a:solidFill>
                        </a:rPr>
                        <a:t>Typical η</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r>
              <a:tr h="512064">
                <a:tc>
                  <a:txBody>
                    <a:bodyPr/>
                    <a:lstStyle/>
                    <a:p>
                      <a:pPr indent="0" marL="0">
                        <a:buNone/>
                      </a:pPr>
                      <a:r>
                        <a:rPr lang="en-US" sz="1700" dirty="0">
                          <a:solidFill>
                            <a:schemeClr val="tx1"/>
                          </a:solidFill>
                        </a:rPr>
                        <a:t>SGD + momentum</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CNNs, image classification</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0.1 with BatchNorm</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512064">
                <a:tc>
                  <a:txBody>
                    <a:bodyPr/>
                    <a:lstStyle/>
                    <a:p>
                      <a:pPr indent="0" marL="0">
                        <a:buNone/>
                      </a:pPr>
                      <a:r>
                        <a:rPr lang="en-US" sz="1700" dirty="0">
                          <a:solidFill>
                            <a:schemeClr val="tx1"/>
                          </a:solidFill>
                        </a:rPr>
                        <a:t>RMSProp</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RNNs, some RL; largely superseded</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10⁻³</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512064">
                <a:tc>
                  <a:txBody>
                    <a:bodyPr/>
                    <a:lstStyle/>
                    <a:p>
                      <a:pPr indent="0" marL="0">
                        <a:buNone/>
                      </a:pPr>
                      <a:r>
                        <a:rPr lang="en-US" sz="1700" dirty="0">
                          <a:solidFill>
                            <a:schemeClr val="tx1"/>
                          </a:solidFill>
                        </a:rPr>
                        <a:t>Adam</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Most new work; fast and forgiving</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10⁻³ to 3 × 10⁻⁴</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512064">
                <a:tc>
                  <a:txBody>
                    <a:bodyPr/>
                    <a:lstStyle/>
                    <a:p>
                      <a:pPr indent="0" marL="0">
                        <a:buNone/>
                      </a:pPr>
                      <a:r>
                        <a:rPr lang="en-US" sz="1700" b="1" dirty="0">
                          <a:solidFill>
                            <a:schemeClr val="accent1"/>
                          </a:solidFill>
                        </a:rPr>
                        <a:t>AdamW</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700" dirty="0">
                          <a:solidFill>
                            <a:schemeClr val="accent1"/>
                          </a:solidFill>
                        </a:rPr>
                        <a:t>Transformers, modern vision</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700" dirty="0">
                          <a:solidFill>
                            <a:schemeClr val="accent1"/>
                          </a:solidFill>
                        </a:rPr>
                        <a:t>10⁻³ to 10⁻⁴; decay 0.01–0.1</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r>
            </a:tbl>
          </a:graphicData>
        </a:graphic>
      </p:graphicFrame>
      <p:sp>
        <p:nvSpPr>
          <p:cNvPr id="6" name="Shape 2"/>
          <p:cNvSpPr/>
          <p:nvPr/>
        </p:nvSpPr>
        <p:spPr>
          <a:xfrm>
            <a:off x="548640" y="4434840"/>
            <a:ext cx="5394960" cy="1508760"/>
          </a:xfrm>
          <a:prstGeom prst="roundRect">
            <a:avLst>
              <a:gd name="adj" fmla="val 4848"/>
            </a:avLst>
          </a:prstGeom>
          <a:solidFill>
            <a:schemeClr val="accent1">
              <a:alpha val="10000"/>
            </a:schemeClr>
          </a:solidFill>
          <a:ln w="12700">
            <a:solidFill>
              <a:schemeClr val="accent1">
                <a:alpha val="10000"/>
              </a:schemeClr>
            </a:solidFill>
            <a:prstDash val="solid"/>
          </a:ln>
        </p:spPr>
      </p:sp>
      <p:sp>
        <p:nvSpPr>
          <p:cNvPr id="7" name="Text 3"/>
          <p:cNvSpPr txBox="1"/>
          <p:nvPr/>
        </p:nvSpPr>
        <p:spPr>
          <a:xfrm>
            <a:off x="749808" y="4636008"/>
            <a:ext cx="4992624" cy="284734"/>
          </a:xfrm>
          <a:prstGeom prst="rect">
            <a:avLst/>
          </a:prstGeom>
          <a:noFill/>
          <a:ln/>
        </p:spPr>
        <p:txBody>
          <a:bodyPr wrap="square" lIns="0" tIns="0" rIns="0" bIns="0" rtlCol="0" anchor="t"/>
          <a:lstStyle/>
          <a:p>
            <a:pPr algn="l" indent="0" marL="0">
              <a:lnSpc>
                <a:spcPct val="105000"/>
              </a:lnSpc>
              <a:buNone/>
            </a:pPr>
            <a:r>
              <a:rPr lang="en-US" sz="1900" b="1" dirty="0">
                <a:solidFill>
                  <a:schemeClr val="accent1"/>
                </a:solidFill>
              </a:rPr>
              <a:t>Coursework, prototypes, interviews</a:t>
            </a:r>
            <a:endParaRPr lang="en-US" sz="1900" dirty="0"/>
          </a:p>
        </p:txBody>
      </p:sp>
      <p:sp>
        <p:nvSpPr>
          <p:cNvPr id="8" name="Text 4"/>
          <p:cNvSpPr txBox="1"/>
          <p:nvPr/>
        </p:nvSpPr>
        <p:spPr>
          <a:xfrm>
            <a:off x="749808" y="4993894"/>
            <a:ext cx="4992624" cy="748538"/>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AdamW: a good result fast, little tuning.</a:t>
            </a:r>
            <a:endParaRPr lang="en-US" sz="1600" dirty="0"/>
          </a:p>
        </p:txBody>
      </p:sp>
      <p:sp>
        <p:nvSpPr>
          <p:cNvPr id="9" name="Shape 5"/>
          <p:cNvSpPr/>
          <p:nvPr/>
        </p:nvSpPr>
        <p:spPr>
          <a:xfrm>
            <a:off x="6245352" y="4434840"/>
            <a:ext cx="5394960" cy="1508760"/>
          </a:xfrm>
          <a:prstGeom prst="roundRect">
            <a:avLst>
              <a:gd name="adj" fmla="val 4848"/>
            </a:avLst>
          </a:prstGeom>
          <a:solidFill>
            <a:schemeClr val="bg2"/>
          </a:solidFill>
          <a:ln w="12700">
            <a:solidFill>
              <a:schemeClr val="bg2"/>
            </a:solidFill>
            <a:prstDash val="solid"/>
          </a:ln>
        </p:spPr>
      </p:sp>
      <p:sp>
        <p:nvSpPr>
          <p:cNvPr id="10" name="Text 6"/>
          <p:cNvSpPr txBox="1"/>
          <p:nvPr/>
        </p:nvSpPr>
        <p:spPr>
          <a:xfrm>
            <a:off x="6446520" y="4636008"/>
            <a:ext cx="4992624"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Leaderboards on CIFAR or ImageNet</a:t>
            </a:r>
            <a:endParaRPr lang="en-US" sz="1900" dirty="0"/>
          </a:p>
        </p:txBody>
      </p:sp>
      <p:sp>
        <p:nvSpPr>
          <p:cNvPr id="11" name="Text 7"/>
          <p:cNvSpPr txBox="1"/>
          <p:nvPr/>
        </p:nvSpPr>
        <p:spPr>
          <a:xfrm>
            <a:off x="6446520" y="4993894"/>
            <a:ext cx="4992624" cy="748538"/>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Tuned SGD + momentum is still competitive. The generalization gap is small and unsettled.</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§10 · OPTIMIZERS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Schedules: large steps early, small steps late</a:t>
            </a:r>
            <a:endParaRPr lang="en-US" sz="3000" dirty="0"/>
          </a:p>
        </p:txBody>
      </p:sp>
      <p:sp>
        <p:nvSpPr>
          <p:cNvPr id="5" name="Text 2"/>
          <p:cNvSpPr txBox="1"/>
          <p:nvPr/>
        </p:nvSpPr>
        <p:spPr>
          <a:xfrm>
            <a:off x="548640" y="1645920"/>
            <a:ext cx="3291840" cy="320040"/>
          </a:xfrm>
          <a:prstGeom prst="rect">
            <a:avLst/>
          </a:prstGeom>
          <a:noFill/>
          <a:ln/>
        </p:spPr>
        <p:txBody>
          <a:bodyPr wrap="square" lIns="0" tIns="0" rIns="0" bIns="0" rtlCol="0" anchor="t"/>
          <a:lstStyle/>
          <a:p>
            <a:pPr algn="l" indent="0" marL="0">
              <a:lnSpc>
                <a:spcPct val="105000"/>
              </a:lnSpc>
              <a:buNone/>
            </a:pPr>
            <a:r>
              <a:rPr lang="en-US" sz="1700" b="1" dirty="0">
                <a:solidFill>
                  <a:schemeClr val="accent1"/>
                </a:solidFill>
              </a:rPr>
              <a:t>Step decay</a:t>
            </a:r>
            <a:endParaRPr lang="en-US" sz="1700" dirty="0"/>
          </a:p>
        </p:txBody>
      </p:sp>
      <p:graphicFrame>
        <p:nvGraphicFramePr>
          <p:cNvPr id="6" name="Chart 0" descr=""/>
          <p:cNvGraphicFramePr/>
          <p:nvPr/>
        </p:nvGraphicFramePr>
        <p:xfrm>
          <a:off x="457200" y="1920240"/>
          <a:ext cx="3383280" cy="1645920"/>
        </p:xfrm>
        <a:graphic xmlns:a="http://schemas.openxmlformats.org/drawingml/2006/main">
          <a:graphicData uri="http://schemas.openxmlformats.org/drawingml/2006/chart">
            <c:chart xmlns:c="http://schemas.openxmlformats.org/drawingml/2006/chart" r:id="rId1"/>
          </a:graphicData>
        </a:graphic>
      </p:graphicFrame>
      <p:sp>
        <p:nvSpPr>
          <p:cNvPr id="7" name="Text 3"/>
          <p:cNvSpPr txBox="1"/>
          <p:nvPr/>
        </p:nvSpPr>
        <p:spPr>
          <a:xfrm>
            <a:off x="4023360" y="1645920"/>
            <a:ext cx="3291840" cy="320040"/>
          </a:xfrm>
          <a:prstGeom prst="rect">
            <a:avLst/>
          </a:prstGeom>
          <a:noFill/>
          <a:ln/>
        </p:spPr>
        <p:txBody>
          <a:bodyPr wrap="square" lIns="0" tIns="0" rIns="0" bIns="0" rtlCol="0" anchor="t"/>
          <a:lstStyle/>
          <a:p>
            <a:pPr algn="l" indent="0" marL="0">
              <a:lnSpc>
                <a:spcPct val="105000"/>
              </a:lnSpc>
              <a:buNone/>
            </a:pPr>
            <a:r>
              <a:rPr lang="en-US" sz="1700" b="1" dirty="0">
                <a:solidFill>
                  <a:schemeClr val="accent1"/>
                </a:solidFill>
              </a:rPr>
              <a:t>Cosine annealing</a:t>
            </a:r>
            <a:endParaRPr lang="en-US" sz="1700" dirty="0"/>
          </a:p>
        </p:txBody>
      </p:sp>
      <p:graphicFrame>
        <p:nvGraphicFramePr>
          <p:cNvPr id="8" name="Chart 1" descr=""/>
          <p:cNvGraphicFramePr/>
          <p:nvPr/>
        </p:nvGraphicFramePr>
        <p:xfrm>
          <a:off x="3931920" y="1920240"/>
          <a:ext cx="3383280" cy="1645920"/>
        </p:xfrm>
        <a:graphic xmlns:a="http://schemas.openxmlformats.org/drawingml/2006/main">
          <a:graphicData uri="http://schemas.openxmlformats.org/drawingml/2006/chart">
            <c:chart xmlns:c="http://schemas.openxmlformats.org/drawingml/2006/chart" r:id="rId2"/>
          </a:graphicData>
        </a:graphic>
      </p:graphicFrame>
      <p:sp>
        <p:nvSpPr>
          <p:cNvPr id="9" name="Text 4"/>
          <p:cNvSpPr txBox="1"/>
          <p:nvPr/>
        </p:nvSpPr>
        <p:spPr>
          <a:xfrm>
            <a:off x="548640" y="3749040"/>
            <a:ext cx="3291840" cy="320040"/>
          </a:xfrm>
          <a:prstGeom prst="rect">
            <a:avLst/>
          </a:prstGeom>
          <a:noFill/>
          <a:ln/>
        </p:spPr>
        <p:txBody>
          <a:bodyPr wrap="square" lIns="0" tIns="0" rIns="0" bIns="0" rtlCol="0" anchor="t"/>
          <a:lstStyle/>
          <a:p>
            <a:pPr algn="l" indent="0" marL="0">
              <a:lnSpc>
                <a:spcPct val="105000"/>
              </a:lnSpc>
              <a:buNone/>
            </a:pPr>
            <a:r>
              <a:rPr lang="en-US" sz="1700" b="1" dirty="0">
                <a:solidFill>
                  <a:schemeClr val="accent1"/>
                </a:solidFill>
              </a:rPr>
              <a:t>Warmup + cosine</a:t>
            </a:r>
            <a:endParaRPr lang="en-US" sz="1700" dirty="0"/>
          </a:p>
        </p:txBody>
      </p:sp>
      <p:graphicFrame>
        <p:nvGraphicFramePr>
          <p:cNvPr id="10" name="Chart 2" descr=""/>
          <p:cNvGraphicFramePr/>
          <p:nvPr/>
        </p:nvGraphicFramePr>
        <p:xfrm>
          <a:off x="457200" y="4023360"/>
          <a:ext cx="3383280" cy="1645920"/>
        </p:xfrm>
        <a:graphic xmlns:a="http://schemas.openxmlformats.org/drawingml/2006/main">
          <a:graphicData uri="http://schemas.openxmlformats.org/drawingml/2006/chart">
            <c:chart xmlns:c="http://schemas.openxmlformats.org/drawingml/2006/chart" r:id="rId3"/>
          </a:graphicData>
        </a:graphic>
      </p:graphicFrame>
      <p:sp>
        <p:nvSpPr>
          <p:cNvPr id="11" name="Text 5"/>
          <p:cNvSpPr txBox="1"/>
          <p:nvPr/>
        </p:nvSpPr>
        <p:spPr>
          <a:xfrm>
            <a:off x="4023360" y="3749040"/>
            <a:ext cx="3291840" cy="320040"/>
          </a:xfrm>
          <a:prstGeom prst="rect">
            <a:avLst/>
          </a:prstGeom>
          <a:noFill/>
          <a:ln/>
        </p:spPr>
        <p:txBody>
          <a:bodyPr wrap="square" lIns="0" tIns="0" rIns="0" bIns="0" rtlCol="0" anchor="t"/>
          <a:lstStyle/>
          <a:p>
            <a:pPr algn="l" indent="0" marL="0">
              <a:lnSpc>
                <a:spcPct val="105000"/>
              </a:lnSpc>
              <a:buNone/>
            </a:pPr>
            <a:r>
              <a:rPr lang="en-US" sz="1700" b="1" dirty="0">
                <a:solidFill>
                  <a:schemeClr val="accent1"/>
                </a:solidFill>
              </a:rPr>
              <a:t>One-cycle</a:t>
            </a:r>
            <a:endParaRPr lang="en-US" sz="1700" dirty="0"/>
          </a:p>
        </p:txBody>
      </p:sp>
      <p:graphicFrame>
        <p:nvGraphicFramePr>
          <p:cNvPr id="12" name="Chart 3" descr=""/>
          <p:cNvGraphicFramePr/>
          <p:nvPr/>
        </p:nvGraphicFramePr>
        <p:xfrm>
          <a:off x="3931920" y="4023360"/>
          <a:ext cx="3383280" cy="1645920"/>
        </p:xfrm>
        <a:graphic xmlns:a="http://schemas.openxmlformats.org/drawingml/2006/main">
          <a:graphicData uri="http://schemas.openxmlformats.org/drawingml/2006/chart">
            <c:chart xmlns:c="http://schemas.openxmlformats.org/drawingml/2006/chart" r:id="rId4"/>
          </a:graphicData>
        </a:graphic>
      </p:graphicFrame>
      <p:sp>
        <p:nvSpPr>
          <p:cNvPr id="13" name="Text 6"/>
          <p:cNvSpPr txBox="1"/>
          <p:nvPr/>
        </p:nvSpPr>
        <p:spPr>
          <a:xfrm>
            <a:off x="548640" y="5852160"/>
            <a:ext cx="6766560" cy="320040"/>
          </a:xfrm>
          <a:prstGeom prst="rect">
            <a:avLst/>
          </a:prstGeom>
          <a:noFill/>
          <a:ln/>
        </p:spPr>
        <p:txBody>
          <a:bodyPr wrap="square" lIns="0" tIns="0" rIns="0" bIns="0" rtlCol="0" anchor="t"/>
          <a:lstStyle/>
          <a:p>
            <a:pPr algn="l" indent="0" marL="0">
              <a:lnSpc>
                <a:spcPct val="105000"/>
              </a:lnSpc>
              <a:buNone/>
            </a:pPr>
            <a:r>
              <a:rPr lang="en-US" sz="1300" dirty="0">
                <a:solidFill>
                  <a:schemeClr val="tx2"/>
                </a:solidFill>
              </a:rPr>
              <a:t>η against training progress; schematic.</a:t>
            </a:r>
            <a:endParaRPr lang="en-US" sz="1300" dirty="0"/>
          </a:p>
        </p:txBody>
      </p:sp>
      <p:sp>
        <p:nvSpPr>
          <p:cNvPr id="14" name="Shape 7"/>
          <p:cNvSpPr/>
          <p:nvPr/>
        </p:nvSpPr>
        <p:spPr>
          <a:xfrm>
            <a:off x="7680960" y="1645920"/>
            <a:ext cx="3959352" cy="1412748"/>
          </a:xfrm>
          <a:prstGeom prst="roundRect">
            <a:avLst>
              <a:gd name="adj" fmla="val 5178"/>
            </a:avLst>
          </a:prstGeom>
          <a:solidFill>
            <a:schemeClr val="accent1">
              <a:alpha val="10000"/>
            </a:schemeClr>
          </a:solidFill>
          <a:ln w="12700">
            <a:solidFill>
              <a:schemeClr val="accent1">
                <a:alpha val="10000"/>
              </a:schemeClr>
            </a:solidFill>
            <a:prstDash val="solid"/>
          </a:ln>
        </p:spPr>
      </p:sp>
      <p:sp>
        <p:nvSpPr>
          <p:cNvPr id="15" name="Text 8"/>
          <p:cNvSpPr txBox="1"/>
          <p:nvPr/>
        </p:nvSpPr>
        <p:spPr>
          <a:xfrm>
            <a:off x="7909560" y="1792224"/>
            <a:ext cx="3502152"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COSINE ANNEALING</a:t>
            </a:r>
            <a:endParaRPr lang="en-US" sz="1200" dirty="0"/>
          </a:p>
        </p:txBody>
      </p:sp>
      <p:sp>
        <p:nvSpPr>
          <p:cNvPr id="16" name="Text 9"/>
          <p:cNvSpPr txBox="1"/>
          <p:nvPr/>
        </p:nvSpPr>
        <p:spPr>
          <a:xfrm>
            <a:off x="7909560" y="2221992"/>
            <a:ext cx="3502152" cy="644652"/>
          </a:xfrm>
          <a:prstGeom prst="rect">
            <a:avLst/>
          </a:prstGeom>
          <a:noFill/>
          <a:ln/>
        </p:spPr>
        <p:txBody>
          <a:bodyPr wrap="square" lIns="0" tIns="0" rIns="0" bIns="0" rtlCol="0" anchor="t"/>
          <a:lstStyle/>
          <a:p>
            <a:pPr algn="l" indent="0" marL="0">
              <a:lnSpc>
                <a:spcPct val="112000"/>
              </a:lnSpc>
              <a:buNone/>
            </a:pPr>
            <a:r>
              <a:rPr lang="en-US" sz="1800" dirty="0">
                <a:solidFill>
                  <a:schemeClr val="tx1"/>
                </a:solidFill>
                <a:latin typeface="Cambria Math" pitchFamily="34" charset="0"/>
                <a:ea typeface="Cambria Math" pitchFamily="34" charset="-122"/>
                <a:cs typeface="Cambria Math" pitchFamily="34" charset="-120"/>
              </a:rPr>
              <a:t>ηₜ = ηₘᵢₙ + ½(ηₘₐₓ − ηₘᵢₙ)</a:t>
            </a:r>
            <a:endParaRPr lang="en-US" sz="1800" dirty="0"/>
          </a:p>
          <a:p>
            <a:pPr algn="l" indent="0" marL="0">
              <a:lnSpc>
                <a:spcPct val="112000"/>
              </a:lnSpc>
              <a:buNone/>
            </a:pPr>
            <a:r>
              <a:rPr lang="en-US" sz="1800" dirty="0">
                <a:solidFill>
                  <a:schemeClr val="tx1"/>
                </a:solidFill>
                <a:latin typeface="Cambria Math" pitchFamily="34" charset="0"/>
                <a:ea typeface="Cambria Math" pitchFamily="34" charset="-122"/>
                <a:cs typeface="Cambria Math" pitchFamily="34" charset="-120"/>
              </a:rPr>
              <a:t>        × (1 + cos(πt / T))</a:t>
            </a:r>
            <a:endParaRPr lang="en-US" sz="1800" dirty="0"/>
          </a:p>
        </p:txBody>
      </p:sp>
      <p:sp>
        <p:nvSpPr>
          <p:cNvPr id="17" name="Shape 10"/>
          <p:cNvSpPr/>
          <p:nvPr/>
        </p:nvSpPr>
        <p:spPr>
          <a:xfrm>
            <a:off x="7891272" y="3776472"/>
            <a:ext cx="0" cy="1051560"/>
          </a:xfrm>
          <a:prstGeom prst="line">
            <a:avLst/>
          </a:prstGeom>
          <a:noFill/>
          <a:ln w="25400">
            <a:solidFill>
              <a:schemeClr val="accent1">
                <a:alpha val="50000"/>
              </a:schemeClr>
            </a:solidFill>
            <a:prstDash val="solid"/>
          </a:ln>
        </p:spPr>
      </p:sp>
      <p:sp>
        <p:nvSpPr>
          <p:cNvPr id="18" name="Shape 11"/>
          <p:cNvSpPr/>
          <p:nvPr/>
        </p:nvSpPr>
        <p:spPr>
          <a:xfrm>
            <a:off x="7680960" y="3566160"/>
            <a:ext cx="420624" cy="420624"/>
          </a:xfrm>
          <a:prstGeom prst="ellipse">
            <a:avLst/>
          </a:prstGeom>
          <a:solidFill>
            <a:schemeClr val="accent1"/>
          </a:solidFill>
          <a:ln w="25400">
            <a:solidFill>
              <a:schemeClr val="bg1"/>
            </a:solidFill>
            <a:prstDash val="solid"/>
          </a:ln>
        </p:spPr>
      </p:sp>
      <p:sp>
        <p:nvSpPr>
          <p:cNvPr id="19" name="Text 12"/>
          <p:cNvSpPr txBox="1"/>
          <p:nvPr/>
        </p:nvSpPr>
        <p:spPr>
          <a:xfrm>
            <a:off x="7680960" y="35661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20" name="Text 13"/>
          <p:cNvSpPr txBox="1"/>
          <p:nvPr/>
        </p:nvSpPr>
        <p:spPr>
          <a:xfrm>
            <a:off x="8330184" y="3602736"/>
            <a:ext cx="331012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Warmup</a:t>
            </a:r>
            <a:endParaRPr lang="en-US" sz="1900" dirty="0"/>
          </a:p>
        </p:txBody>
      </p:sp>
      <p:sp>
        <p:nvSpPr>
          <p:cNvPr id="21" name="Text 14"/>
          <p:cNvSpPr txBox="1"/>
          <p:nvPr/>
        </p:nvSpPr>
        <p:spPr>
          <a:xfrm>
            <a:off x="8330184" y="3905758"/>
            <a:ext cx="3310128" cy="67538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Essential for Transformers and large batches.</a:t>
            </a:r>
            <a:endParaRPr lang="en-US" sz="1600" dirty="0"/>
          </a:p>
        </p:txBody>
      </p:sp>
      <p:sp>
        <p:nvSpPr>
          <p:cNvPr id="22" name="Shape 15"/>
          <p:cNvSpPr/>
          <p:nvPr/>
        </p:nvSpPr>
        <p:spPr>
          <a:xfrm>
            <a:off x="7680960" y="4617720"/>
            <a:ext cx="420624" cy="420624"/>
          </a:xfrm>
          <a:prstGeom prst="ellipse">
            <a:avLst/>
          </a:prstGeom>
          <a:solidFill>
            <a:schemeClr val="accent1"/>
          </a:solidFill>
          <a:ln w="25400">
            <a:solidFill>
              <a:schemeClr val="bg1"/>
            </a:solidFill>
            <a:prstDash val="solid"/>
          </a:ln>
        </p:spPr>
      </p:sp>
      <p:sp>
        <p:nvSpPr>
          <p:cNvPr id="23" name="Text 16"/>
          <p:cNvSpPr txBox="1"/>
          <p:nvPr/>
        </p:nvSpPr>
        <p:spPr>
          <a:xfrm>
            <a:off x="7680960" y="461772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4" name="Text 17"/>
          <p:cNvSpPr txBox="1"/>
          <p:nvPr/>
        </p:nvSpPr>
        <p:spPr>
          <a:xfrm>
            <a:off x="8330184" y="4654296"/>
            <a:ext cx="331012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Cosine</a:t>
            </a:r>
            <a:endParaRPr lang="en-US" sz="1900" dirty="0"/>
          </a:p>
        </p:txBody>
      </p:sp>
      <p:sp>
        <p:nvSpPr>
          <p:cNvPr id="25" name="Text 18"/>
          <p:cNvSpPr txBox="1"/>
          <p:nvPr/>
        </p:nvSpPr>
        <p:spPr>
          <a:xfrm>
            <a:off x="8330184" y="4957318"/>
            <a:ext cx="3310128" cy="67538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The modern default: nothing to tune.</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§10 · OPTIMIZERS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Step each scheduler at the right frequency</a:t>
            </a:r>
            <a:endParaRPr lang="en-US" sz="3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3291840"/>
                <a:gridCol w="3108960"/>
                <a:gridCol w="4690872"/>
              </a:tblGrid>
              <a:tr h="502920">
                <a:tc>
                  <a:txBody>
                    <a:bodyPr/>
                    <a:lstStyle/>
                    <a:p>
                      <a:pPr indent="0" marL="0">
                        <a:buNone/>
                      </a:pPr>
                      <a:r>
                        <a:rPr lang="en-US" sz="1700" b="1" dirty="0">
                          <a:solidFill>
                            <a:schemeClr val="bg1"/>
                          </a:solidFill>
                        </a:rPr>
                        <a:t>Scheduler</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700" b="1" dirty="0">
                          <a:solidFill>
                            <a:schemeClr val="bg1"/>
                          </a:solidFill>
                        </a:rPr>
                        <a:t>Call step()</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700" b="1" dirty="0">
                          <a:solidFill>
                            <a:schemeClr val="bg1"/>
                          </a:solidFill>
                        </a:rPr>
                        <a:t>Note</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r>
              <a:tr h="502920">
                <a:tc>
                  <a:txBody>
                    <a:bodyPr/>
                    <a:lstStyle/>
                    <a:p>
                      <a:pPr indent="0" marL="0">
                        <a:buNone/>
                      </a:pPr>
                      <a:r>
                        <a:rPr lang="en-US" sz="1700" dirty="0">
                          <a:solidFill>
                            <a:schemeClr val="tx1"/>
                          </a:solidFill>
                          <a:latin typeface="Consolas" pitchFamily="34" charset="0"/>
                          <a:ea typeface="Consolas" pitchFamily="34" charset="-122"/>
                          <a:cs typeface="Consolas" pitchFamily="34" charset="-120"/>
                        </a:rPr>
                        <a:t>MultiStepLR</a:t>
                      </a:r>
                      <a:endParaRPr lang="en-US" sz="1700" dirty="0">
                        <a:latin typeface="Consolas" charset="0"/>
                        <a:ea typeface="Consolas" charset="0"/>
                        <a:cs typeface="Consolas"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once per epoch</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e.g. ×0.1 at epochs 30, 60, 80</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502920">
                <a:tc>
                  <a:txBody>
                    <a:bodyPr/>
                    <a:lstStyle/>
                    <a:p>
                      <a:pPr indent="0" marL="0">
                        <a:buNone/>
                      </a:pPr>
                      <a:r>
                        <a:rPr lang="en-US" sz="1700" dirty="0">
                          <a:solidFill>
                            <a:schemeClr val="tx1"/>
                          </a:solidFill>
                          <a:latin typeface="Consolas" pitchFamily="34" charset="0"/>
                          <a:ea typeface="Consolas" pitchFamily="34" charset="-122"/>
                          <a:cs typeface="Consolas" pitchFamily="34" charset="-120"/>
                        </a:rPr>
                        <a:t>CosineAnnealingLR</a:t>
                      </a:r>
                      <a:endParaRPr lang="en-US" sz="1700" dirty="0">
                        <a:latin typeface="Consolas" charset="0"/>
                        <a:ea typeface="Consolas" charset="0"/>
                        <a:cs typeface="Consolas"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once per epoch</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T_max = number of epochs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502920">
                <a:tc>
                  <a:txBody>
                    <a:bodyPr/>
                    <a:lstStyle/>
                    <a:p>
                      <a:pPr indent="0" marL="0">
                        <a:buNone/>
                      </a:pPr>
                      <a:r>
                        <a:rPr lang="en-US" sz="1700" b="1" dirty="0">
                          <a:solidFill>
                            <a:schemeClr val="accent1"/>
                          </a:solidFill>
                          <a:latin typeface="Consolas" pitchFamily="34" charset="0"/>
                          <a:ea typeface="Consolas" pitchFamily="34" charset="-122"/>
                          <a:cs typeface="Consolas" pitchFamily="34" charset="-120"/>
                        </a:rPr>
                        <a:t>OneCycleLR</a:t>
                      </a:r>
                      <a:endParaRPr lang="en-US" sz="1700" dirty="0">
                        <a:latin typeface="Consolas" charset="0"/>
                        <a:ea typeface="Consolas" charset="0"/>
                        <a:cs typeface="Consolas"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700" dirty="0">
                          <a:solidFill>
                            <a:schemeClr val="accent1"/>
                          </a:solidFill>
                        </a:rPr>
                        <a:t>once per batch</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700" dirty="0">
                          <a:solidFill>
                            <a:schemeClr val="accent1"/>
                          </a:solidFill>
                        </a:rPr>
                        <a:t>needs steps_per_epoch and epochs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r>
              <a:tr h="502920">
                <a:tc>
                  <a:txBody>
                    <a:bodyPr/>
                    <a:lstStyle/>
                    <a:p>
                      <a:pPr indent="0" marL="0">
                        <a:buNone/>
                      </a:pPr>
                      <a:r>
                        <a:rPr lang="en-US" sz="1700" dirty="0">
                          <a:solidFill>
                            <a:schemeClr val="tx1"/>
                          </a:solidFill>
                        </a:rPr>
                        <a:t>Warmup schedules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usually per batch</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warmup counted in steps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502920">
                <a:tc>
                  <a:txBody>
                    <a:bodyPr/>
                    <a:lstStyle/>
                    <a:p>
                      <a:pPr indent="0" marL="0">
                        <a:buNone/>
                      </a:pPr>
                      <a:r>
                        <a:rPr lang="en-US" sz="1700" dirty="0">
                          <a:solidFill>
                            <a:schemeClr val="tx1"/>
                          </a:solidFill>
                          <a:latin typeface="Consolas" pitchFamily="34" charset="0"/>
                          <a:ea typeface="Consolas" pitchFamily="34" charset="-122"/>
                          <a:cs typeface="Consolas" pitchFamily="34" charset="-120"/>
                        </a:rPr>
                        <a:t>ReduceLROnPlateau</a:t>
                      </a:r>
                      <a:endParaRPr lang="en-US" sz="1700" dirty="0">
                        <a:latin typeface="Consolas" charset="0"/>
                        <a:ea typeface="Consolas" charset="0"/>
                        <a:cs typeface="Consolas"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per epoch, with val loss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sched.step(val_loss)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4892040"/>
            <a:ext cx="6766560" cy="978408"/>
          </a:xfrm>
          <a:prstGeom prst="roundRect">
            <a:avLst>
              <a:gd name="adj" fmla="val 7477"/>
            </a:avLst>
          </a:prstGeom>
          <a:solidFill>
            <a:schemeClr val="bg2"/>
          </a:solidFill>
          <a:ln w="12700">
            <a:solidFill>
              <a:schemeClr val="bg2"/>
            </a:solidFill>
            <a:prstDash val="solid"/>
          </a:ln>
        </p:spPr>
      </p:sp>
      <p:sp>
        <p:nvSpPr>
          <p:cNvPr id="7" name="Text 3"/>
          <p:cNvSpPr txBox="1"/>
          <p:nvPr/>
        </p:nvSpPr>
        <p:spPr>
          <a:xfrm>
            <a:off x="749808" y="5010912"/>
            <a:ext cx="6364224"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THE TRIVIAL DEFENCE</a:t>
            </a:r>
            <a:endParaRPr lang="en-US" sz="1200" dirty="0"/>
          </a:p>
        </p:txBody>
      </p:sp>
      <p:sp>
        <p:nvSpPr>
          <p:cNvPr id="8" name="Text 4"/>
          <p:cNvSpPr txBox="1"/>
          <p:nvPr/>
        </p:nvSpPr>
        <p:spPr>
          <a:xfrm>
            <a:off x="749808" y="5413248"/>
            <a:ext cx="6364224" cy="283464"/>
          </a:xfrm>
          <a:prstGeom prst="rect">
            <a:avLst/>
          </a:prstGeom>
          <a:noFill/>
          <a:ln/>
        </p:spPr>
        <p:txBody>
          <a:bodyPr wrap="square" lIns="0" tIns="0" rIns="0" bIns="0" rtlCol="0" anchor="t"/>
          <a:lstStyle/>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print(optimizer.param_groups[0]["lr"])   </a:t>
            </a:r>
            <a:r>
              <a:rPr lang="en-US" sz="1500" dirty="0">
                <a:solidFill>
                  <a:schemeClr val="accent1"/>
                </a:solidFill>
                <a:latin typeface="Consolas" pitchFamily="34" charset="0"/>
                <a:ea typeface="Consolas" pitchFamily="34" charset="-122"/>
                <a:cs typeface="Consolas" pitchFamily="34" charset="-120"/>
              </a:rPr>
              <a:t># every epoch</a:t>
            </a:r>
            <a:endParaRPr lang="en-US" sz="1500" dirty="0"/>
          </a:p>
        </p:txBody>
      </p:sp>
      <p:sp>
        <p:nvSpPr>
          <p:cNvPr id="9" name="Text 5"/>
          <p:cNvSpPr txBox="1"/>
          <p:nvPr/>
        </p:nvSpPr>
        <p:spPr>
          <a:xfrm>
            <a:off x="7680960" y="4937760"/>
            <a:ext cx="3959352" cy="914400"/>
          </a:xfrm>
          <a:prstGeom prst="rect">
            <a:avLst/>
          </a:prstGeom>
          <a:noFill/>
          <a:ln/>
        </p:spPr>
        <p:txBody>
          <a:bodyPr wrap="square" lIns="0" tIns="0" rIns="0" bIns="0" rtlCol="0" anchor="t"/>
          <a:lstStyle/>
          <a:p>
            <a:pPr algn="l" indent="0" marL="0">
              <a:lnSpc>
                <a:spcPct val="105000"/>
              </a:lnSpc>
              <a:buNone/>
            </a:pPr>
            <a:r>
              <a:rPr lang="en-US" sz="1600" b="1" dirty="0">
                <a:solidFill>
                  <a:schemeClr val="accent2"/>
                </a:solidFill>
              </a:rPr>
              <a:t>A wrong step frequency raises no error: it silently changes the schedule.</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§10 · OPTIMIZERS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A complete, modern training setup</a:t>
            </a:r>
            <a:endParaRPr lang="en-US" sz="3000" dirty="0"/>
          </a:p>
        </p:txBody>
      </p:sp>
      <p:sp>
        <p:nvSpPr>
          <p:cNvPr id="5" name="Shape 2"/>
          <p:cNvSpPr/>
          <p:nvPr/>
        </p:nvSpPr>
        <p:spPr>
          <a:xfrm>
            <a:off x="548640" y="1645920"/>
            <a:ext cx="7680960" cy="4029456"/>
          </a:xfrm>
          <a:prstGeom prst="roundRect">
            <a:avLst>
              <a:gd name="adj" fmla="val 1815"/>
            </a:avLst>
          </a:prstGeom>
          <a:solidFill>
            <a:schemeClr val="bg2"/>
          </a:solidFill>
          <a:ln w="12700">
            <a:solidFill>
              <a:schemeClr val="bg2"/>
            </a:solidFill>
            <a:prstDash val="solid"/>
          </a:ln>
        </p:spPr>
      </p:sp>
      <p:sp>
        <p:nvSpPr>
          <p:cNvPr id="6" name="Text 3"/>
          <p:cNvSpPr txBox="1"/>
          <p:nvPr/>
        </p:nvSpPr>
        <p:spPr>
          <a:xfrm>
            <a:off x="749808" y="1819656"/>
            <a:ext cx="7278624" cy="3681984"/>
          </a:xfrm>
          <a:prstGeom prst="rect">
            <a:avLst/>
          </a:prstGeom>
          <a:noFill/>
          <a:ln/>
        </p:spPr>
        <p:txBody>
          <a:bodyPr wrap="square" lIns="0" tIns="0" rIns="0" bIns="0" rtlCol="0" anchor="t"/>
          <a:lstStyle/>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criterion = nn.CrossEntropyLoss(label_smoothing=0.1)</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optimizer = torch.optim.AdamW(model.parameters(),</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lr=3e-4, weight_decay=0.05)</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scheduler = torch.optim.lr_scheduler.OneCycleLR(</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optimizer, max_lr=3e-4, epochs=EPOCHS,</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steps_per_epoch=len(train_loader), pct_start=0.1)</a:t>
            </a:r>
            <a:endParaRPr lang="en-US" sz="1400" dirty="0"/>
          </a:p>
          <a:p>
            <a:pPr indent="0" marL="0">
              <a:lnSpc>
                <a:spcPct val="100000"/>
              </a:lnSpc>
              <a:buNone/>
            </a:pPr>
            <a:r>
              <a:rPr lang="en-US" sz="1400" dirty="0">
                <a:solidFill>
                  <a:srgbClr val="000000"/>
                </a:solidFill>
                <a:latin typeface="Consolas" pitchFamily="34" charset="0"/>
                <a:ea typeface="Consolas" pitchFamily="34" charset="-122"/>
                <a:cs typeface="Consolas" pitchFamily="34" charset="-120"/>
              </a:rPr>
              <a:t> </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for epoch in range(EPOCHS):</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model.train()</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for x, y in train_loader:</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x, y = x.to(device), y.to(device)</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optimizer.zero_grad()      </a:t>
            </a:r>
            <a:r>
              <a:rPr lang="en-US" sz="1400" dirty="0">
                <a:solidFill>
                  <a:schemeClr val="accent1"/>
                </a:solidFill>
                <a:latin typeface="Consolas" pitchFamily="34" charset="0"/>
                <a:ea typeface="Consolas" pitchFamily="34" charset="-122"/>
                <a:cs typeface="Consolas" pitchFamily="34" charset="-120"/>
              </a:rPr>
              <a:t># set_to_none by default</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loss = criterion(model(x), y)</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loss.backward()</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nn.utils.clip_grad_norm_(model.parameters(), 1.0)</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optimizer.step()</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scheduler.step()           </a:t>
            </a:r>
            <a:r>
              <a:rPr lang="en-US" sz="1400" dirty="0">
                <a:solidFill>
                  <a:schemeClr val="accent1"/>
                </a:solidFill>
                <a:latin typeface="Consolas" pitchFamily="34" charset="0"/>
                <a:ea typeface="Consolas" pitchFamily="34" charset="-122"/>
                <a:cs typeface="Consolas" pitchFamily="34" charset="-120"/>
              </a:rPr>
              <a:t># per batch for OneCycleLR</a:t>
            </a:r>
            <a:endParaRPr lang="en-US" sz="1400" dirty="0"/>
          </a:p>
        </p:txBody>
      </p:sp>
      <p:sp>
        <p:nvSpPr>
          <p:cNvPr id="7" name="Shape 4"/>
          <p:cNvSpPr/>
          <p:nvPr/>
        </p:nvSpPr>
        <p:spPr>
          <a:xfrm>
            <a:off x="8787384" y="1883664"/>
            <a:ext cx="0" cy="3154680"/>
          </a:xfrm>
          <a:prstGeom prst="line">
            <a:avLst/>
          </a:prstGeom>
          <a:noFill/>
          <a:ln w="25400">
            <a:solidFill>
              <a:schemeClr val="accent1">
                <a:alpha val="50000"/>
              </a:schemeClr>
            </a:solidFill>
            <a:prstDash val="solid"/>
          </a:ln>
        </p:spPr>
      </p:sp>
      <p:sp>
        <p:nvSpPr>
          <p:cNvPr id="8" name="Shape 5"/>
          <p:cNvSpPr/>
          <p:nvPr/>
        </p:nvSpPr>
        <p:spPr>
          <a:xfrm>
            <a:off x="8595360" y="1691640"/>
            <a:ext cx="384048" cy="384048"/>
          </a:xfrm>
          <a:prstGeom prst="ellipse">
            <a:avLst/>
          </a:prstGeom>
          <a:solidFill>
            <a:schemeClr val="accent1"/>
          </a:solidFill>
          <a:ln w="25400">
            <a:solidFill>
              <a:schemeClr val="bg1"/>
            </a:solidFill>
            <a:prstDash val="solid"/>
          </a:ln>
        </p:spPr>
      </p:sp>
      <p:sp>
        <p:nvSpPr>
          <p:cNvPr id="9" name="Text 6"/>
          <p:cNvSpPr txBox="1"/>
          <p:nvPr/>
        </p:nvSpPr>
        <p:spPr>
          <a:xfrm>
            <a:off x="8595360" y="169164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0" name="Text 7"/>
          <p:cNvSpPr txBox="1"/>
          <p:nvPr/>
        </p:nvSpPr>
        <p:spPr>
          <a:xfrm>
            <a:off x="9208008" y="1728216"/>
            <a:ext cx="2432304" cy="254762"/>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Label smoothing</a:t>
            </a:r>
            <a:endParaRPr lang="en-US" sz="1700" dirty="0"/>
          </a:p>
        </p:txBody>
      </p:sp>
      <p:sp>
        <p:nvSpPr>
          <p:cNvPr id="11" name="Text 8"/>
          <p:cNvSpPr txBox="1"/>
          <p:nvPr/>
        </p:nvSpPr>
        <p:spPr>
          <a:xfrm>
            <a:off x="9208008" y="2001266"/>
            <a:ext cx="2432304" cy="705358"/>
          </a:xfrm>
          <a:prstGeom prst="rect">
            <a:avLst/>
          </a:prstGeom>
          <a:noFill/>
          <a:ln/>
        </p:spPr>
        <p:txBody>
          <a:bodyPr wrap="square" lIns="0" tIns="0" rIns="0" bIns="0" rtlCol="0" anchor="t"/>
          <a:lstStyle/>
          <a:p>
            <a:pPr algn="l" indent="0" marL="0">
              <a:lnSpc>
                <a:spcPct val="105000"/>
              </a:lnSpc>
              <a:buNone/>
            </a:pPr>
            <a:r>
              <a:rPr lang="en-US" sz="1500" dirty="0">
                <a:solidFill>
                  <a:schemeClr val="tx2"/>
                </a:solidFill>
              </a:rPr>
              <a:t>Calibrated outputs (lecture 2).</a:t>
            </a:r>
            <a:endParaRPr lang="en-US" sz="1500" dirty="0"/>
          </a:p>
        </p:txBody>
      </p:sp>
      <p:sp>
        <p:nvSpPr>
          <p:cNvPr id="12" name="Shape 9"/>
          <p:cNvSpPr/>
          <p:nvPr/>
        </p:nvSpPr>
        <p:spPr>
          <a:xfrm>
            <a:off x="8595360" y="2743200"/>
            <a:ext cx="384048" cy="384048"/>
          </a:xfrm>
          <a:prstGeom prst="ellipse">
            <a:avLst/>
          </a:prstGeom>
          <a:solidFill>
            <a:schemeClr val="accent1"/>
          </a:solidFill>
          <a:ln w="25400">
            <a:solidFill>
              <a:schemeClr val="bg1"/>
            </a:solidFill>
            <a:prstDash val="solid"/>
          </a:ln>
        </p:spPr>
      </p:sp>
      <p:sp>
        <p:nvSpPr>
          <p:cNvPr id="13" name="Text 10"/>
          <p:cNvSpPr txBox="1"/>
          <p:nvPr/>
        </p:nvSpPr>
        <p:spPr>
          <a:xfrm>
            <a:off x="8595360" y="27432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Text 11"/>
          <p:cNvSpPr txBox="1"/>
          <p:nvPr/>
        </p:nvSpPr>
        <p:spPr>
          <a:xfrm>
            <a:off x="9208008" y="2779776"/>
            <a:ext cx="2432304" cy="254762"/>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AdamW + decay</a:t>
            </a:r>
            <a:endParaRPr lang="en-US" sz="1700" dirty="0"/>
          </a:p>
        </p:txBody>
      </p:sp>
      <p:sp>
        <p:nvSpPr>
          <p:cNvPr id="15" name="Text 12"/>
          <p:cNvSpPr txBox="1"/>
          <p:nvPr/>
        </p:nvSpPr>
        <p:spPr>
          <a:xfrm>
            <a:off x="9208008" y="3052826"/>
            <a:ext cx="2432304" cy="705358"/>
          </a:xfrm>
          <a:prstGeom prst="rect">
            <a:avLst/>
          </a:prstGeom>
          <a:noFill/>
          <a:ln/>
        </p:spPr>
        <p:txBody>
          <a:bodyPr wrap="square" lIns="0" tIns="0" rIns="0" bIns="0" rtlCol="0" anchor="t"/>
          <a:lstStyle/>
          <a:p>
            <a:pPr algn="l" indent="0" marL="0">
              <a:lnSpc>
                <a:spcPct val="105000"/>
              </a:lnSpc>
              <a:buNone/>
            </a:pPr>
            <a:r>
              <a:rPr lang="en-US" sz="1500" dirty="0">
                <a:solidFill>
                  <a:schemeClr val="tx2"/>
                </a:solidFill>
              </a:rPr>
              <a:t>Decoupled weight decay.</a:t>
            </a:r>
            <a:endParaRPr lang="en-US" sz="1500" dirty="0"/>
          </a:p>
        </p:txBody>
      </p:sp>
      <p:sp>
        <p:nvSpPr>
          <p:cNvPr id="16" name="Shape 13"/>
          <p:cNvSpPr/>
          <p:nvPr/>
        </p:nvSpPr>
        <p:spPr>
          <a:xfrm>
            <a:off x="8595360" y="3794760"/>
            <a:ext cx="384048" cy="384048"/>
          </a:xfrm>
          <a:prstGeom prst="ellipse">
            <a:avLst/>
          </a:prstGeom>
          <a:solidFill>
            <a:schemeClr val="accent1"/>
          </a:solidFill>
          <a:ln w="25400">
            <a:solidFill>
              <a:schemeClr val="bg1"/>
            </a:solidFill>
            <a:prstDash val="solid"/>
          </a:ln>
        </p:spPr>
      </p:sp>
      <p:sp>
        <p:nvSpPr>
          <p:cNvPr id="17" name="Text 14"/>
          <p:cNvSpPr txBox="1"/>
          <p:nvPr/>
        </p:nvSpPr>
        <p:spPr>
          <a:xfrm>
            <a:off x="8595360" y="379476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5"/>
          <p:cNvSpPr txBox="1"/>
          <p:nvPr/>
        </p:nvSpPr>
        <p:spPr>
          <a:xfrm>
            <a:off x="9208008" y="3831336"/>
            <a:ext cx="2432304" cy="254762"/>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One-cycle</a:t>
            </a:r>
            <a:endParaRPr lang="en-US" sz="1700" dirty="0"/>
          </a:p>
        </p:txBody>
      </p:sp>
      <p:sp>
        <p:nvSpPr>
          <p:cNvPr id="19" name="Text 16"/>
          <p:cNvSpPr txBox="1"/>
          <p:nvPr/>
        </p:nvSpPr>
        <p:spPr>
          <a:xfrm>
            <a:off x="9208008" y="4104386"/>
            <a:ext cx="2432304" cy="705358"/>
          </a:xfrm>
          <a:prstGeom prst="rect">
            <a:avLst/>
          </a:prstGeom>
          <a:noFill/>
          <a:ln/>
        </p:spPr>
        <p:txBody>
          <a:bodyPr wrap="square" lIns="0" tIns="0" rIns="0" bIns="0" rtlCol="0" anchor="t"/>
          <a:lstStyle/>
          <a:p>
            <a:pPr algn="l" indent="0" marL="0">
              <a:lnSpc>
                <a:spcPct val="105000"/>
              </a:lnSpc>
              <a:buNone/>
            </a:pPr>
            <a:r>
              <a:rPr lang="en-US" sz="1500" dirty="0">
                <a:solidFill>
                  <a:schemeClr val="tx2"/>
                </a:solidFill>
              </a:rPr>
              <a:t>Stepped every batch.</a:t>
            </a:r>
            <a:endParaRPr lang="en-US" sz="1500" dirty="0"/>
          </a:p>
        </p:txBody>
      </p:sp>
      <p:sp>
        <p:nvSpPr>
          <p:cNvPr id="20" name="Shape 17"/>
          <p:cNvSpPr/>
          <p:nvPr/>
        </p:nvSpPr>
        <p:spPr>
          <a:xfrm>
            <a:off x="8595360" y="4846320"/>
            <a:ext cx="384048" cy="384048"/>
          </a:xfrm>
          <a:prstGeom prst="ellipse">
            <a:avLst/>
          </a:prstGeom>
          <a:solidFill>
            <a:schemeClr val="accent1"/>
          </a:solidFill>
          <a:ln w="25400">
            <a:solidFill>
              <a:schemeClr val="bg1"/>
            </a:solidFill>
            <a:prstDash val="solid"/>
          </a:ln>
        </p:spPr>
      </p:sp>
      <p:sp>
        <p:nvSpPr>
          <p:cNvPr id="21" name="Text 18"/>
          <p:cNvSpPr txBox="1"/>
          <p:nvPr/>
        </p:nvSpPr>
        <p:spPr>
          <a:xfrm>
            <a:off x="8595360" y="484632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Text 19"/>
          <p:cNvSpPr txBox="1"/>
          <p:nvPr/>
        </p:nvSpPr>
        <p:spPr>
          <a:xfrm>
            <a:off x="9208008" y="4882896"/>
            <a:ext cx="2432304" cy="254762"/>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Clip, then step</a:t>
            </a:r>
            <a:endParaRPr lang="en-US" sz="1700" dirty="0"/>
          </a:p>
        </p:txBody>
      </p:sp>
      <p:sp>
        <p:nvSpPr>
          <p:cNvPr id="23" name="Text 20"/>
          <p:cNvSpPr txBox="1"/>
          <p:nvPr/>
        </p:nvSpPr>
        <p:spPr>
          <a:xfrm>
            <a:off x="9208008" y="5155946"/>
            <a:ext cx="2432304" cy="705358"/>
          </a:xfrm>
          <a:prstGeom prst="rect">
            <a:avLst/>
          </a:prstGeom>
          <a:noFill/>
          <a:ln/>
        </p:spPr>
        <p:txBody>
          <a:bodyPr wrap="square" lIns="0" tIns="0" rIns="0" bIns="0" rtlCol="0" anchor="t"/>
          <a:lstStyle/>
          <a:p>
            <a:pPr algn="l" indent="0" marL="0">
              <a:lnSpc>
                <a:spcPct val="105000"/>
              </a:lnSpc>
              <a:buNone/>
            </a:pPr>
            <a:r>
              <a:rPr lang="en-US" sz="1500" dirty="0">
                <a:solidFill>
                  <a:schemeClr val="tx2"/>
                </a:solidFill>
              </a:rPr>
              <a:t>After backward, before step.</a:t>
            </a:r>
            <a:endParaRPr lang="en-US" sz="15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§10 · CHECK YOURSELF</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Check yourself: optimizers</a:t>
            </a:r>
            <a:endParaRPr lang="en-US" sz="3000" dirty="0"/>
          </a:p>
        </p:txBody>
      </p:sp>
      <p:sp>
        <p:nvSpPr>
          <p:cNvPr id="5" name="Shape 2"/>
          <p:cNvSpPr/>
          <p:nvPr/>
        </p:nvSpPr>
        <p:spPr>
          <a:xfrm>
            <a:off x="576072" y="1618488"/>
            <a:ext cx="457200" cy="457200"/>
          </a:xfrm>
          <a:prstGeom prst="ellipse">
            <a:avLst/>
          </a:prstGeom>
          <a:solidFill>
            <a:schemeClr val="accent1"/>
          </a:solidFill>
          <a:ln w="19050">
            <a:solidFill>
              <a:schemeClr val="accent1"/>
            </a:solidFill>
            <a:prstDash val="solid"/>
          </a:ln>
        </p:spPr>
      </p:sp>
      <p:sp>
        <p:nvSpPr>
          <p:cNvPr id="6" name="Text 3"/>
          <p:cNvSpPr txBox="1"/>
          <p:nvPr/>
        </p:nvSpPr>
        <p:spPr>
          <a:xfrm>
            <a:off x="393192" y="1618488"/>
            <a:ext cx="82296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1</a:t>
            </a:r>
            <a:endParaRPr lang="en-US" sz="1700" dirty="0"/>
          </a:p>
        </p:txBody>
      </p:sp>
      <p:sp>
        <p:nvSpPr>
          <p:cNvPr id="7" name="Text 4"/>
          <p:cNvSpPr txBox="1"/>
          <p:nvPr/>
        </p:nvSpPr>
        <p:spPr>
          <a:xfrm>
            <a:off x="1325880" y="1655064"/>
            <a:ext cx="10241280" cy="599440"/>
          </a:xfrm>
          <a:prstGeom prst="rect">
            <a:avLst/>
          </a:prstGeom>
          <a:noFill/>
          <a:ln/>
        </p:spPr>
        <p:txBody>
          <a:bodyPr wrap="square" lIns="0" tIns="0" rIns="0" bIns="0" rtlCol="0" anchor="t"/>
          <a:lstStyle/>
          <a:p>
            <a:pPr algn="l" indent="0" marL="0">
              <a:lnSpc>
                <a:spcPct val="105000"/>
              </a:lnSpc>
              <a:buNone/>
            </a:pPr>
            <a:r>
              <a:rPr lang="en-US" sz="2000" dirty="0">
                <a:solidFill>
                  <a:schemeClr val="tx1"/>
                </a:solidFill>
              </a:rPr>
              <a:t>You switch from SGD (η = 0.1) to SGD with momentum 0.9 and the loss diverges. Why, and what η should you try?</a:t>
            </a:r>
            <a:endParaRPr lang="en-US" sz="2000" dirty="0"/>
          </a:p>
        </p:txBody>
      </p:sp>
      <p:sp>
        <p:nvSpPr>
          <p:cNvPr id="8" name="Shape 5"/>
          <p:cNvSpPr/>
          <p:nvPr/>
        </p:nvSpPr>
        <p:spPr>
          <a:xfrm>
            <a:off x="576072" y="2629408"/>
            <a:ext cx="457200" cy="457200"/>
          </a:xfrm>
          <a:prstGeom prst="ellipse">
            <a:avLst/>
          </a:prstGeom>
          <a:solidFill>
            <a:schemeClr val="accent1"/>
          </a:solidFill>
          <a:ln w="19050">
            <a:solidFill>
              <a:schemeClr val="accent1"/>
            </a:solidFill>
            <a:prstDash val="solid"/>
          </a:ln>
        </p:spPr>
      </p:sp>
      <p:sp>
        <p:nvSpPr>
          <p:cNvPr id="9" name="Text 6"/>
          <p:cNvSpPr txBox="1"/>
          <p:nvPr/>
        </p:nvSpPr>
        <p:spPr>
          <a:xfrm>
            <a:off x="393192" y="2629408"/>
            <a:ext cx="82296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2</a:t>
            </a:r>
            <a:endParaRPr lang="en-US" sz="1700" dirty="0"/>
          </a:p>
        </p:txBody>
      </p:sp>
      <p:sp>
        <p:nvSpPr>
          <p:cNvPr id="10" name="Text 7"/>
          <p:cNvSpPr txBox="1"/>
          <p:nvPr/>
        </p:nvSpPr>
        <p:spPr>
          <a:xfrm>
            <a:off x="1325880" y="2665984"/>
            <a:ext cx="10241280" cy="599440"/>
          </a:xfrm>
          <a:prstGeom prst="rect">
            <a:avLst/>
          </a:prstGeom>
          <a:noFill/>
          <a:ln/>
        </p:spPr>
        <p:txBody>
          <a:bodyPr wrap="square" lIns="0" tIns="0" rIns="0" bIns="0" rtlCol="0" anchor="t"/>
          <a:lstStyle/>
          <a:p>
            <a:pPr algn="l" indent="0" marL="0">
              <a:lnSpc>
                <a:spcPct val="105000"/>
              </a:lnSpc>
              <a:buNone/>
            </a:pPr>
            <a:r>
              <a:rPr lang="en-US" sz="2000" dirty="0">
                <a:solidFill>
                  <a:schemeClr val="tx1"/>
                </a:solidFill>
              </a:rPr>
              <a:t>What is the practical difference between Adam(weight_decay=0.01) and AdamW(weight_decay=0.01)?</a:t>
            </a:r>
            <a:endParaRPr lang="en-US" sz="2000" dirty="0"/>
          </a:p>
        </p:txBody>
      </p:sp>
      <p:sp>
        <p:nvSpPr>
          <p:cNvPr id="11" name="Shape 8"/>
          <p:cNvSpPr/>
          <p:nvPr/>
        </p:nvSpPr>
        <p:spPr>
          <a:xfrm>
            <a:off x="576072" y="3640328"/>
            <a:ext cx="457200" cy="457200"/>
          </a:xfrm>
          <a:prstGeom prst="ellipse">
            <a:avLst/>
          </a:prstGeom>
          <a:solidFill>
            <a:schemeClr val="accent1"/>
          </a:solidFill>
          <a:ln w="19050">
            <a:solidFill>
              <a:schemeClr val="accent1"/>
            </a:solidFill>
            <a:prstDash val="solid"/>
          </a:ln>
        </p:spPr>
      </p:sp>
      <p:sp>
        <p:nvSpPr>
          <p:cNvPr id="12" name="Text 9"/>
          <p:cNvSpPr txBox="1"/>
          <p:nvPr/>
        </p:nvSpPr>
        <p:spPr>
          <a:xfrm>
            <a:off x="393192" y="3640328"/>
            <a:ext cx="82296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3</a:t>
            </a:r>
            <a:endParaRPr lang="en-US" sz="1700" dirty="0"/>
          </a:p>
        </p:txBody>
      </p:sp>
      <p:sp>
        <p:nvSpPr>
          <p:cNvPr id="13" name="Text 10"/>
          <p:cNvSpPr txBox="1"/>
          <p:nvPr/>
        </p:nvSpPr>
        <p:spPr>
          <a:xfrm>
            <a:off x="1325880" y="3676904"/>
            <a:ext cx="10241280" cy="599440"/>
          </a:xfrm>
          <a:prstGeom prst="rect">
            <a:avLst/>
          </a:prstGeom>
          <a:noFill/>
          <a:ln/>
        </p:spPr>
        <p:txBody>
          <a:bodyPr wrap="square" lIns="0" tIns="0" rIns="0" bIns="0" rtlCol="0" anchor="t"/>
          <a:lstStyle/>
          <a:p>
            <a:pPr algn="l" indent="0" marL="0">
              <a:lnSpc>
                <a:spcPct val="105000"/>
              </a:lnSpc>
              <a:buNone/>
            </a:pPr>
            <a:r>
              <a:rPr lang="en-US" sz="2000" dirty="0">
                <a:solidFill>
                  <a:schemeClr val="tx1"/>
                </a:solidFill>
              </a:rPr>
              <a:t>A Transformer’s loss spikes to nan in its first 100 steps. Which schedule feature is most likely missing?</a:t>
            </a:r>
            <a:endParaRPr lang="en-US" sz="2000" dirty="0"/>
          </a:p>
        </p:txBody>
      </p:sp>
      <p:sp>
        <p:nvSpPr>
          <p:cNvPr id="14" name="Text 11"/>
          <p:cNvSpPr txBox="1"/>
          <p:nvPr/>
        </p:nvSpPr>
        <p:spPr>
          <a:xfrm>
            <a:off x="548640" y="5897880"/>
            <a:ext cx="7315200" cy="320040"/>
          </a:xfrm>
          <a:prstGeom prst="rect">
            <a:avLst/>
          </a:prstGeom>
          <a:noFill/>
          <a:ln/>
        </p:spPr>
        <p:txBody>
          <a:bodyPr wrap="square" lIns="0" tIns="0" rIns="0" bIns="0" rtlCol="0" anchor="t"/>
          <a:lstStyle/>
          <a:p>
            <a:pPr algn="l" indent="0" marL="0">
              <a:lnSpc>
                <a:spcPct val="105000"/>
              </a:lnSpc>
              <a:buNone/>
            </a:pPr>
            <a:r>
              <a:rPr lang="en-US" sz="1500" i="1" dirty="0">
                <a:solidFill>
                  <a:schemeClr val="tx2"/>
                </a:solidFill>
              </a:rPr>
              <a:t>Commit to an answer before the next slide.</a:t>
            </a:r>
            <a:endParaRPr lang="en-US" sz="15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§10 · ANSWERS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Answers: optimizers</a:t>
            </a:r>
            <a:endParaRPr lang="en-US" sz="3000" dirty="0"/>
          </a:p>
        </p:txBody>
      </p:sp>
      <p:sp>
        <p:nvSpPr>
          <p:cNvPr id="5" name="Shape 2"/>
          <p:cNvSpPr/>
          <p:nvPr/>
        </p:nvSpPr>
        <p:spPr>
          <a:xfrm>
            <a:off x="576072" y="1554480"/>
            <a:ext cx="365760" cy="365760"/>
          </a:xfrm>
          <a:prstGeom prst="ellipse">
            <a:avLst/>
          </a:prstGeom>
          <a:solidFill>
            <a:schemeClr val="accent1"/>
          </a:solidFill>
          <a:ln w="19050">
            <a:solidFill>
              <a:schemeClr val="accent1"/>
            </a:solidFill>
            <a:prstDash val="solid"/>
          </a:ln>
        </p:spPr>
      </p:sp>
      <p:sp>
        <p:nvSpPr>
          <p:cNvPr id="6" name="Text 3"/>
          <p:cNvSpPr txBox="1"/>
          <p:nvPr/>
        </p:nvSpPr>
        <p:spPr>
          <a:xfrm>
            <a:off x="393192" y="1554480"/>
            <a:ext cx="7315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7" name="Text 4"/>
          <p:cNvSpPr txBox="1"/>
          <p:nvPr/>
        </p:nvSpPr>
        <p:spPr>
          <a:xfrm>
            <a:off x="1234440" y="1554480"/>
            <a:ext cx="10378440" cy="479552"/>
          </a:xfrm>
          <a:prstGeom prst="rect">
            <a:avLst/>
          </a:prstGeom>
          <a:noFill/>
          <a:ln/>
        </p:spPr>
        <p:txBody>
          <a:bodyPr wrap="square" lIns="0" tIns="0" rIns="0" bIns="0" rtlCol="0" anchor="t"/>
          <a:lstStyle/>
          <a:p>
            <a:pPr algn="l" indent="0" marL="0">
              <a:lnSpc>
                <a:spcPct val="105000"/>
              </a:lnSpc>
              <a:buNone/>
            </a:pPr>
            <a:r>
              <a:rPr lang="en-US" sz="1600" b="1" dirty="0">
                <a:solidFill>
                  <a:schemeClr val="tx2"/>
                </a:solidFill>
              </a:rPr>
              <a:t>You switch from SGD (η = 0.1) to SGD with momentum 0.9 and the loss diverges. Why, and what η should you try?</a:t>
            </a:r>
            <a:endParaRPr lang="en-US" sz="1600" dirty="0"/>
          </a:p>
        </p:txBody>
      </p:sp>
      <p:sp>
        <p:nvSpPr>
          <p:cNvPr id="8" name="Text 5"/>
          <p:cNvSpPr txBox="1"/>
          <p:nvPr/>
        </p:nvSpPr>
        <p:spPr>
          <a:xfrm>
            <a:off x="1234440" y="2088896"/>
            <a:ext cx="10378440" cy="589280"/>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Momentum multiplies the effective step by about 1/(1 − β) = 10 in consistent directions, so η = 0.1 behaves like 1.0. Try η = 0.01, or keep 0.1 with a lower β.</a:t>
            </a:r>
            <a:endParaRPr lang="en-US" sz="1600" dirty="0"/>
          </a:p>
        </p:txBody>
      </p:sp>
      <p:sp>
        <p:nvSpPr>
          <p:cNvPr id="9" name="Shape 6"/>
          <p:cNvSpPr/>
          <p:nvPr/>
        </p:nvSpPr>
        <p:spPr>
          <a:xfrm>
            <a:off x="576072" y="2943352"/>
            <a:ext cx="365760" cy="365760"/>
          </a:xfrm>
          <a:prstGeom prst="ellipse">
            <a:avLst/>
          </a:prstGeom>
          <a:solidFill>
            <a:schemeClr val="accent1"/>
          </a:solidFill>
          <a:ln w="19050">
            <a:solidFill>
              <a:schemeClr val="accent1"/>
            </a:solidFill>
            <a:prstDash val="solid"/>
          </a:ln>
        </p:spPr>
      </p:sp>
      <p:sp>
        <p:nvSpPr>
          <p:cNvPr id="10" name="Text 7"/>
          <p:cNvSpPr txBox="1"/>
          <p:nvPr/>
        </p:nvSpPr>
        <p:spPr>
          <a:xfrm>
            <a:off x="393192" y="2943352"/>
            <a:ext cx="7315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1234440" y="2943352"/>
            <a:ext cx="10378440" cy="239776"/>
          </a:xfrm>
          <a:prstGeom prst="rect">
            <a:avLst/>
          </a:prstGeom>
          <a:noFill/>
          <a:ln/>
        </p:spPr>
        <p:txBody>
          <a:bodyPr wrap="square" lIns="0" tIns="0" rIns="0" bIns="0" rtlCol="0" anchor="t"/>
          <a:lstStyle/>
          <a:p>
            <a:pPr algn="l" indent="0" marL="0">
              <a:lnSpc>
                <a:spcPct val="105000"/>
              </a:lnSpc>
              <a:buNone/>
            </a:pPr>
            <a:r>
              <a:rPr lang="en-US" sz="1600" b="1" dirty="0">
                <a:solidFill>
                  <a:schemeClr val="tx2"/>
                </a:solidFill>
              </a:rPr>
              <a:t>What is the practical difference between Adam(weight_decay=0.01) and AdamW(weight_decay=0.01)?</a:t>
            </a:r>
            <a:endParaRPr lang="en-US" sz="1600" dirty="0"/>
          </a:p>
        </p:txBody>
      </p:sp>
      <p:sp>
        <p:nvSpPr>
          <p:cNvPr id="12" name="Text 9"/>
          <p:cNvSpPr txBox="1"/>
          <p:nvPr/>
        </p:nvSpPr>
        <p:spPr>
          <a:xfrm>
            <a:off x="1234440" y="3237992"/>
            <a:ext cx="10378440" cy="589280"/>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Adam adds λθ to the gradient, so decay passes through the adaptive scaling and varies per parameter with gradient history. AdamW subtracts ηλθ directly: uniform, predictable, and it generalizes better.</a:t>
            </a:r>
            <a:endParaRPr lang="en-US" sz="1600" dirty="0"/>
          </a:p>
        </p:txBody>
      </p:sp>
      <p:sp>
        <p:nvSpPr>
          <p:cNvPr id="13" name="Shape 10"/>
          <p:cNvSpPr/>
          <p:nvPr/>
        </p:nvSpPr>
        <p:spPr>
          <a:xfrm>
            <a:off x="576072" y="4092448"/>
            <a:ext cx="365760" cy="365760"/>
          </a:xfrm>
          <a:prstGeom prst="ellipse">
            <a:avLst/>
          </a:prstGeom>
          <a:solidFill>
            <a:schemeClr val="accent1"/>
          </a:solidFill>
          <a:ln w="19050">
            <a:solidFill>
              <a:schemeClr val="accent1"/>
            </a:solidFill>
            <a:prstDash val="solid"/>
          </a:ln>
        </p:spPr>
      </p:sp>
      <p:sp>
        <p:nvSpPr>
          <p:cNvPr id="14" name="Text 11"/>
          <p:cNvSpPr txBox="1"/>
          <p:nvPr/>
        </p:nvSpPr>
        <p:spPr>
          <a:xfrm>
            <a:off x="393192" y="4092448"/>
            <a:ext cx="7315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5" name="Text 12"/>
          <p:cNvSpPr txBox="1"/>
          <p:nvPr/>
        </p:nvSpPr>
        <p:spPr>
          <a:xfrm>
            <a:off x="1234440" y="4092448"/>
            <a:ext cx="10378440" cy="479552"/>
          </a:xfrm>
          <a:prstGeom prst="rect">
            <a:avLst/>
          </a:prstGeom>
          <a:noFill/>
          <a:ln/>
        </p:spPr>
        <p:txBody>
          <a:bodyPr wrap="square" lIns="0" tIns="0" rIns="0" bIns="0" rtlCol="0" anchor="t"/>
          <a:lstStyle/>
          <a:p>
            <a:pPr algn="l" indent="0" marL="0">
              <a:lnSpc>
                <a:spcPct val="105000"/>
              </a:lnSpc>
              <a:buNone/>
            </a:pPr>
            <a:r>
              <a:rPr lang="en-US" sz="1600" b="1" dirty="0">
                <a:solidFill>
                  <a:schemeClr val="tx2"/>
                </a:solidFill>
              </a:rPr>
              <a:t>A Transformer’s loss spikes to nan in its first 100 steps. Which schedule feature is most likely missing?</a:t>
            </a:r>
            <a:endParaRPr lang="en-US" sz="1600" dirty="0"/>
          </a:p>
        </p:txBody>
      </p:sp>
      <p:sp>
        <p:nvSpPr>
          <p:cNvPr id="16" name="Text 13"/>
          <p:cNvSpPr txBox="1"/>
          <p:nvPr/>
        </p:nvSpPr>
        <p:spPr>
          <a:xfrm>
            <a:off x="1234440" y="4626864"/>
            <a:ext cx="10378440" cy="589280"/>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Linear warmup, typically over 500–4,000 steps: early updates are unstable and Adam’s second-moment estimate is unreliable. Gradient clipping helps too.</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7315200" cy="411480"/>
          </a:xfrm>
          <a:prstGeom prst="rect">
            <a:avLst/>
          </a:prstGeom>
          <a:noFill/>
          <a:ln/>
        </p:spPr>
        <p:txBody>
          <a:bodyPr wrap="square" lIns="0" tIns="0" rIns="0" bIns="0" rtlCol="0"/>
          <a:lstStyle/>
          <a:p>
            <a:pPr indent="0" marL="0">
              <a:buNone/>
            </a:pPr>
            <a:r>
              <a:rPr lang="en-US" sz="1600" b="1" spc="200" kern="0" dirty="0">
                <a:solidFill>
                  <a:schemeClr val="accent6"/>
                </a:solidFill>
              </a:rPr>
              <a:t>SECTION 11</a:t>
            </a:r>
            <a:endParaRPr lang="en-US" sz="1600" dirty="0"/>
          </a:p>
        </p:txBody>
      </p:sp>
      <p:sp>
        <p:nvSpPr>
          <p:cNvPr id="3" name="Text 0"/>
          <p:cNvSpPr/>
          <p:nvPr>
            <p:ph idx="101" type="title" hasCustomPrompt="1"/>
          </p:nvPr>
        </p:nvSpPr>
        <p:spPr>
          <a:xfrm>
            <a:off x="731520" y="1920240"/>
            <a:ext cx="6949440" cy="2103120"/>
          </a:xfrm>
          <a:prstGeom prst="rect">
            <a:avLst/>
          </a:prstGeom>
          <a:noFill/>
          <a:ln/>
        </p:spPr>
        <p:txBody>
          <a:bodyPr wrap="square" lIns="0" tIns="0" rIns="0" bIns="0" rtlCol="0" anchor="t"/>
          <a:lstStyle/>
          <a:p>
            <a:pPr algn="l" indent="0" marL="0">
              <a:buNone/>
            </a:pPr>
            <a:r>
              <a:rPr lang="en-US" sz="4400" b="1" dirty="0">
                <a:solidFill>
                  <a:schemeClr val="bg1"/>
                </a:solidFill>
              </a:rPr>
              <a:t>Normalization layers</a:t>
            </a:r>
            <a:endParaRPr lang="en-US" sz="4400" dirty="0"/>
          </a:p>
        </p:txBody>
      </p:sp>
      <p:sp>
        <p:nvSpPr>
          <p:cNvPr id="4" name="Text 0"/>
          <p:cNvSpPr/>
          <p:nvPr>
            <p:ph idx="102" type="body" hasCustomPrompt="1"/>
          </p:nvPr>
        </p:nvSpPr>
        <p:spPr>
          <a:xfrm>
            <a:off x="731520" y="4160520"/>
            <a:ext cx="6766560" cy="1280160"/>
          </a:xfrm>
          <a:prstGeom prst="rect">
            <a:avLst/>
          </a:prstGeom>
          <a:noFill/>
          <a:ln/>
        </p:spPr>
        <p:txBody>
          <a:bodyPr wrap="square" lIns="0" tIns="0" rIns="0" bIns="0" rtlCol="0" anchor="t"/>
          <a:lstStyle/>
          <a:p>
            <a:pPr algn="l" indent="0" marL="0">
              <a:buNone/>
            </a:pPr>
            <a:r>
              <a:rPr lang="en-US" sz="2000" dirty="0">
                <a:solidFill>
                  <a:schemeClr val="bg2"/>
                </a:solidFill>
              </a:rPr>
              <a:t>Standardize hidden activations at every layer: one of the highest-value lines in deep learning.</a:t>
            </a:r>
            <a:endParaRPr lang="en-US" sz="2000" dirty="0"/>
          </a:p>
        </p:txBody>
      </p:sp>
      <p:sp>
        <p:nvSpPr>
          <p:cNvPr id="5" name="Text 3"/>
          <p:cNvSpPr txBox="1"/>
          <p:nvPr/>
        </p:nvSpPr>
        <p:spPr>
          <a:xfrm>
            <a:off x="8138160" y="1737360"/>
            <a:ext cx="3474720" cy="2377440"/>
          </a:xfrm>
          <a:prstGeom prst="rect">
            <a:avLst/>
          </a:prstGeom>
          <a:noFill/>
          <a:ln/>
        </p:spPr>
        <p:txBody>
          <a:bodyPr wrap="square" lIns="0" tIns="0" rIns="0" bIns="0" rtlCol="0" anchor="t"/>
          <a:lstStyle/>
          <a:p>
            <a:pPr algn="r" indent="0" marL="0">
              <a:lnSpc>
                <a:spcPct val="105000"/>
              </a:lnSpc>
              <a:buNone/>
            </a:pPr>
            <a:r>
              <a:rPr lang="en-US" sz="15000" b="1" dirty="0">
                <a:solidFill>
                  <a:schemeClr val="accent6"/>
                </a:solidFill>
              </a:rPr>
              <a:t>§11</a:t>
            </a:r>
            <a:endParaRPr lang="en-US" sz="15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§11 · NORMALIZATION LAYERS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BatchNorm standardizes each feature, then learns γ and β</a:t>
            </a:r>
            <a:endParaRPr lang="en-US" sz="3000" dirty="0"/>
          </a:p>
        </p:txBody>
      </p:sp>
      <p:sp>
        <p:nvSpPr>
          <p:cNvPr id="5" name="Shape 2"/>
          <p:cNvSpPr/>
          <p:nvPr/>
        </p:nvSpPr>
        <p:spPr>
          <a:xfrm>
            <a:off x="758952" y="1901952"/>
            <a:ext cx="0" cy="2962656"/>
          </a:xfrm>
          <a:prstGeom prst="line">
            <a:avLst/>
          </a:prstGeom>
          <a:noFill/>
          <a:ln w="25400">
            <a:solidFill>
              <a:schemeClr val="accent1">
                <a:alpha val="50000"/>
              </a:schemeClr>
            </a:solidFill>
            <a:prstDash val="solid"/>
          </a:ln>
        </p:spPr>
      </p:sp>
      <p:sp>
        <p:nvSpPr>
          <p:cNvPr id="6" name="Shape 3"/>
          <p:cNvSpPr/>
          <p:nvPr/>
        </p:nvSpPr>
        <p:spPr>
          <a:xfrm>
            <a:off x="548640" y="1691640"/>
            <a:ext cx="420624" cy="420624"/>
          </a:xfrm>
          <a:prstGeom prst="ellipse">
            <a:avLst/>
          </a:prstGeom>
          <a:solidFill>
            <a:schemeClr val="accent1"/>
          </a:solidFill>
          <a:ln w="25400">
            <a:solidFill>
              <a:schemeClr val="bg1"/>
            </a:solidFill>
            <a:prstDash val="solid"/>
          </a:ln>
        </p:spPr>
      </p:sp>
      <p:sp>
        <p:nvSpPr>
          <p:cNvPr id="7" name="Text 4"/>
          <p:cNvSpPr txBox="1"/>
          <p:nvPr/>
        </p:nvSpPr>
        <p:spPr>
          <a:xfrm>
            <a:off x="548640" y="16916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1197864" y="1728216"/>
            <a:ext cx="4837176" cy="269748"/>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Batch mean</a:t>
            </a:r>
            <a:endParaRPr lang="en-US" sz="1800" dirty="0"/>
          </a:p>
        </p:txBody>
      </p:sp>
      <p:sp>
        <p:nvSpPr>
          <p:cNvPr id="9" name="Text 6"/>
          <p:cNvSpPr txBox="1"/>
          <p:nvPr/>
        </p:nvSpPr>
        <p:spPr>
          <a:xfrm>
            <a:off x="1197864" y="2016252"/>
            <a:ext cx="4837176" cy="626364"/>
          </a:xfrm>
          <a:prstGeom prst="rect">
            <a:avLst/>
          </a:prstGeom>
          <a:noFill/>
          <a:ln/>
        </p:spPr>
        <p:txBody>
          <a:bodyPr wrap="square" lIns="0" tIns="0" rIns="0" bIns="0" rtlCol="0" anchor="t"/>
          <a:lstStyle/>
          <a:p>
            <a:pPr algn="l" indent="0" marL="0">
              <a:lnSpc>
                <a:spcPct val="105000"/>
              </a:lnSpc>
              <a:buNone/>
            </a:pPr>
            <a:r>
              <a:rPr lang="en-US" sz="1700" dirty="0">
                <a:solidFill>
                  <a:schemeClr val="tx2"/>
                </a:solidFill>
              </a:rPr>
              <a:t>μ = (1/m) Σᵢ xᵢ</a:t>
            </a:r>
            <a:endParaRPr lang="en-US" sz="1700" dirty="0"/>
          </a:p>
        </p:txBody>
      </p:sp>
      <p:sp>
        <p:nvSpPr>
          <p:cNvPr id="10" name="Shape 7"/>
          <p:cNvSpPr/>
          <p:nvPr/>
        </p:nvSpPr>
        <p:spPr>
          <a:xfrm>
            <a:off x="548640" y="2679192"/>
            <a:ext cx="420624" cy="420624"/>
          </a:xfrm>
          <a:prstGeom prst="ellipse">
            <a:avLst/>
          </a:prstGeom>
          <a:solidFill>
            <a:schemeClr val="accent1"/>
          </a:solidFill>
          <a:ln w="25400">
            <a:solidFill>
              <a:schemeClr val="bg1"/>
            </a:solidFill>
            <a:prstDash val="solid"/>
          </a:ln>
        </p:spPr>
      </p:sp>
      <p:sp>
        <p:nvSpPr>
          <p:cNvPr id="11" name="Text 8"/>
          <p:cNvSpPr txBox="1"/>
          <p:nvPr/>
        </p:nvSpPr>
        <p:spPr>
          <a:xfrm>
            <a:off x="548640" y="2679192"/>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1197864" y="2715768"/>
            <a:ext cx="4837176" cy="269748"/>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Batch variance</a:t>
            </a:r>
            <a:endParaRPr lang="en-US" sz="1800" dirty="0"/>
          </a:p>
        </p:txBody>
      </p:sp>
      <p:sp>
        <p:nvSpPr>
          <p:cNvPr id="13" name="Text 10"/>
          <p:cNvSpPr txBox="1"/>
          <p:nvPr/>
        </p:nvSpPr>
        <p:spPr>
          <a:xfrm>
            <a:off x="1197864" y="3003804"/>
            <a:ext cx="4837176" cy="626364"/>
          </a:xfrm>
          <a:prstGeom prst="rect">
            <a:avLst/>
          </a:prstGeom>
          <a:noFill/>
          <a:ln/>
        </p:spPr>
        <p:txBody>
          <a:bodyPr wrap="square" lIns="0" tIns="0" rIns="0" bIns="0" rtlCol="0" anchor="t"/>
          <a:lstStyle/>
          <a:p>
            <a:pPr algn="l" indent="0" marL="0">
              <a:lnSpc>
                <a:spcPct val="105000"/>
              </a:lnSpc>
              <a:buNone/>
            </a:pPr>
            <a:r>
              <a:rPr lang="en-US" sz="1700" dirty="0">
                <a:solidFill>
                  <a:schemeClr val="tx2"/>
                </a:solidFill>
              </a:rPr>
              <a:t>σ² = (1/m) Σᵢ (xᵢ − μ)²</a:t>
            </a:r>
            <a:endParaRPr lang="en-US" sz="1700" dirty="0"/>
          </a:p>
        </p:txBody>
      </p:sp>
      <p:sp>
        <p:nvSpPr>
          <p:cNvPr id="14" name="Shape 11"/>
          <p:cNvSpPr/>
          <p:nvPr/>
        </p:nvSpPr>
        <p:spPr>
          <a:xfrm>
            <a:off x="548640" y="3666744"/>
            <a:ext cx="420624" cy="420624"/>
          </a:xfrm>
          <a:prstGeom prst="ellipse">
            <a:avLst/>
          </a:prstGeom>
          <a:solidFill>
            <a:schemeClr val="accent1"/>
          </a:solidFill>
          <a:ln w="25400">
            <a:solidFill>
              <a:schemeClr val="bg1"/>
            </a:solidFill>
            <a:prstDash val="solid"/>
          </a:ln>
        </p:spPr>
      </p:sp>
      <p:sp>
        <p:nvSpPr>
          <p:cNvPr id="15" name="Text 12"/>
          <p:cNvSpPr txBox="1"/>
          <p:nvPr/>
        </p:nvSpPr>
        <p:spPr>
          <a:xfrm>
            <a:off x="548640" y="3666744"/>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3"/>
          <p:cNvSpPr txBox="1"/>
          <p:nvPr/>
        </p:nvSpPr>
        <p:spPr>
          <a:xfrm>
            <a:off x="1197864" y="3703320"/>
            <a:ext cx="4837176" cy="269748"/>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Normalize</a:t>
            </a:r>
            <a:endParaRPr lang="en-US" sz="1800" dirty="0"/>
          </a:p>
        </p:txBody>
      </p:sp>
      <p:sp>
        <p:nvSpPr>
          <p:cNvPr id="17" name="Text 14"/>
          <p:cNvSpPr txBox="1"/>
          <p:nvPr/>
        </p:nvSpPr>
        <p:spPr>
          <a:xfrm>
            <a:off x="1197864" y="3991356"/>
            <a:ext cx="4837176" cy="626364"/>
          </a:xfrm>
          <a:prstGeom prst="rect">
            <a:avLst/>
          </a:prstGeom>
          <a:noFill/>
          <a:ln/>
        </p:spPr>
        <p:txBody>
          <a:bodyPr wrap="square" lIns="0" tIns="0" rIns="0" bIns="0" rtlCol="0" anchor="t"/>
          <a:lstStyle/>
          <a:p>
            <a:pPr algn="l" indent="0" marL="0">
              <a:lnSpc>
                <a:spcPct val="105000"/>
              </a:lnSpc>
              <a:buNone/>
            </a:pPr>
            <a:r>
              <a:rPr lang="en-US" sz="1700" dirty="0">
                <a:solidFill>
                  <a:schemeClr val="tx2"/>
                </a:solidFill>
              </a:rPr>
              <a:t>x̂ᵢ = (xᵢ − μ) / √(σ² + ε)   → mean 0, variance 1</a:t>
            </a:r>
            <a:endParaRPr lang="en-US" sz="1700" dirty="0"/>
          </a:p>
        </p:txBody>
      </p:sp>
      <p:sp>
        <p:nvSpPr>
          <p:cNvPr id="18" name="Shape 15"/>
          <p:cNvSpPr/>
          <p:nvPr/>
        </p:nvSpPr>
        <p:spPr>
          <a:xfrm>
            <a:off x="548640" y="4654296"/>
            <a:ext cx="420624" cy="420624"/>
          </a:xfrm>
          <a:prstGeom prst="ellipse">
            <a:avLst/>
          </a:prstGeom>
          <a:solidFill>
            <a:schemeClr val="accent2"/>
          </a:solidFill>
          <a:ln w="25400">
            <a:solidFill>
              <a:schemeClr val="bg1"/>
            </a:solidFill>
            <a:prstDash val="solid"/>
          </a:ln>
        </p:spPr>
      </p:sp>
      <p:sp>
        <p:nvSpPr>
          <p:cNvPr id="19" name="Text 16"/>
          <p:cNvSpPr txBox="1"/>
          <p:nvPr/>
        </p:nvSpPr>
        <p:spPr>
          <a:xfrm>
            <a:off x="548640" y="4654296"/>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0" name="Text 17"/>
          <p:cNvSpPr txBox="1"/>
          <p:nvPr/>
        </p:nvSpPr>
        <p:spPr>
          <a:xfrm>
            <a:off x="1197864" y="4690872"/>
            <a:ext cx="4837176" cy="269748"/>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Scale and shift (learned)</a:t>
            </a:r>
            <a:endParaRPr lang="en-US" sz="1800" dirty="0"/>
          </a:p>
        </p:txBody>
      </p:sp>
      <p:sp>
        <p:nvSpPr>
          <p:cNvPr id="21" name="Text 18"/>
          <p:cNvSpPr txBox="1"/>
          <p:nvPr/>
        </p:nvSpPr>
        <p:spPr>
          <a:xfrm>
            <a:off x="1197864" y="4978908"/>
            <a:ext cx="4837176" cy="626364"/>
          </a:xfrm>
          <a:prstGeom prst="rect">
            <a:avLst/>
          </a:prstGeom>
          <a:noFill/>
          <a:ln/>
        </p:spPr>
        <p:txBody>
          <a:bodyPr wrap="square" lIns="0" tIns="0" rIns="0" bIns="0" rtlCol="0" anchor="t"/>
          <a:lstStyle/>
          <a:p>
            <a:pPr algn="l" indent="0" marL="0">
              <a:lnSpc>
                <a:spcPct val="105000"/>
              </a:lnSpc>
              <a:buNone/>
            </a:pPr>
            <a:r>
              <a:rPr lang="en-US" sz="1700" dirty="0">
                <a:solidFill>
                  <a:schemeClr val="tx2"/>
                </a:solidFill>
              </a:rPr>
              <a:t>yᵢ = γ x̂ᵢ + β</a:t>
            </a:r>
            <a:endParaRPr lang="en-US" sz="1700" dirty="0"/>
          </a:p>
        </p:txBody>
      </p:sp>
      <p:graphicFrame>
        <p:nvGraphicFramePr>
          <p:cNvPr id="22" name="Chart 0" descr=""/>
          <p:cNvGraphicFramePr/>
          <p:nvPr/>
        </p:nvGraphicFramePr>
        <p:xfrm>
          <a:off x="6309360" y="1600200"/>
          <a:ext cx="5394960" cy="3108960"/>
        </p:xfrm>
        <a:graphic xmlns:a="http://schemas.openxmlformats.org/drawingml/2006/main">
          <a:graphicData uri="http://schemas.openxmlformats.org/drawingml/2006/chart">
            <c:chart xmlns:c="http://schemas.openxmlformats.org/drawingml/2006/chart" r:id="rId1"/>
          </a:graphicData>
        </a:graphic>
      </p:graphicFrame>
      <p:sp>
        <p:nvSpPr>
          <p:cNvPr id="23" name="Shape 19"/>
          <p:cNvSpPr/>
          <p:nvPr/>
        </p:nvSpPr>
        <p:spPr>
          <a:xfrm>
            <a:off x="6309360" y="4937760"/>
            <a:ext cx="5330952" cy="960120"/>
          </a:xfrm>
          <a:prstGeom prst="roundRect">
            <a:avLst>
              <a:gd name="adj" fmla="val 7619"/>
            </a:avLst>
          </a:prstGeom>
          <a:solidFill>
            <a:schemeClr val="accent1">
              <a:alpha val="10000"/>
            </a:schemeClr>
          </a:solidFill>
          <a:ln w="12700">
            <a:solidFill>
              <a:schemeClr val="accent1">
                <a:alpha val="10000"/>
              </a:schemeClr>
            </a:solidFill>
            <a:prstDash val="solid"/>
          </a:ln>
        </p:spPr>
      </p:sp>
      <p:sp>
        <p:nvSpPr>
          <p:cNvPr id="24" name="Text 20"/>
          <p:cNvSpPr txBox="1"/>
          <p:nvPr/>
        </p:nvSpPr>
        <p:spPr>
          <a:xfrm>
            <a:off x="6537960" y="4937760"/>
            <a:ext cx="4873752" cy="960120"/>
          </a:xfrm>
          <a:prstGeom prst="rect">
            <a:avLst/>
          </a:prstGeom>
          <a:noFill/>
          <a:ln/>
        </p:spPr>
        <p:txBody>
          <a:bodyPr wrap="square" lIns="0" tIns="0" rIns="0" bIns="0" rtlCol="0" anchor="ctr"/>
          <a:lstStyle/>
          <a:p>
            <a:pPr algn="l" indent="0" marL="0">
              <a:lnSpc>
                <a:spcPct val="105000"/>
              </a:lnSpc>
              <a:buNone/>
            </a:pPr>
            <a:r>
              <a:rPr lang="en-US" sz="1700" b="1" dirty="0">
                <a:solidFill>
                  <a:schemeClr val="accent1"/>
                </a:solidFill>
              </a:rPr>
              <a:t>γ and β can undo the normalization exactly: no representational power is lost.</a:t>
            </a:r>
            <a:endParaRPr lang="en-US" sz="17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§11 · NORMALIZATION LAYERS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Training uses batch statistics; evaluation uses running ones</a:t>
            </a:r>
            <a:endParaRPr lang="en-US" sz="3000" dirty="0"/>
          </a:p>
        </p:txBody>
      </p:sp>
      <p:sp>
        <p:nvSpPr>
          <p:cNvPr id="5" name="Shape 2"/>
          <p:cNvSpPr/>
          <p:nvPr/>
        </p:nvSpPr>
        <p:spPr>
          <a:xfrm>
            <a:off x="548640" y="1645920"/>
            <a:ext cx="5394960" cy="1463040"/>
          </a:xfrm>
          <a:prstGeom prst="roundRect">
            <a:avLst>
              <a:gd name="adj" fmla="val 5000"/>
            </a:avLst>
          </a:prstGeom>
          <a:solidFill>
            <a:schemeClr val="accent1">
              <a:alpha val="10000"/>
            </a:schemeClr>
          </a:solidFill>
          <a:ln w="12700">
            <a:solidFill>
              <a:schemeClr val="accent1">
                <a:alpha val="10000"/>
              </a:schemeClr>
            </a:solidFill>
            <a:prstDash val="solid"/>
          </a:ln>
        </p:spPr>
      </p:sp>
      <p:sp>
        <p:nvSpPr>
          <p:cNvPr id="6" name="Text 3"/>
          <p:cNvSpPr txBox="1"/>
          <p:nvPr/>
        </p:nvSpPr>
        <p:spPr>
          <a:xfrm>
            <a:off x="749808" y="1847088"/>
            <a:ext cx="4992624" cy="284734"/>
          </a:xfrm>
          <a:prstGeom prst="rect">
            <a:avLst/>
          </a:prstGeom>
          <a:noFill/>
          <a:ln/>
        </p:spPr>
        <p:txBody>
          <a:bodyPr wrap="square" lIns="0" tIns="0" rIns="0" bIns="0" rtlCol="0" anchor="t"/>
          <a:lstStyle/>
          <a:p>
            <a:pPr algn="l" indent="0" marL="0">
              <a:lnSpc>
                <a:spcPct val="105000"/>
              </a:lnSpc>
              <a:buNone/>
            </a:pPr>
            <a:r>
              <a:rPr lang="en-US" sz="1900" b="1" dirty="0">
                <a:solidFill>
                  <a:schemeClr val="accent1"/>
                </a:solidFill>
              </a:rPr>
              <a:t>model.train()</a:t>
            </a:r>
            <a:endParaRPr lang="en-US" sz="1900" dirty="0"/>
          </a:p>
        </p:txBody>
      </p:sp>
      <p:sp>
        <p:nvSpPr>
          <p:cNvPr id="7" name="Text 4"/>
          <p:cNvSpPr txBox="1"/>
          <p:nvPr/>
        </p:nvSpPr>
        <p:spPr>
          <a:xfrm>
            <a:off x="749808" y="2204974"/>
            <a:ext cx="4992624" cy="702818"/>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Normalize with this batch’s μ and σ², and update the running averages.</a:t>
            </a:r>
            <a:endParaRPr lang="en-US" sz="1600" dirty="0"/>
          </a:p>
        </p:txBody>
      </p:sp>
      <p:sp>
        <p:nvSpPr>
          <p:cNvPr id="8" name="Shape 5"/>
          <p:cNvSpPr/>
          <p:nvPr/>
        </p:nvSpPr>
        <p:spPr>
          <a:xfrm>
            <a:off x="548640" y="3291840"/>
            <a:ext cx="5394960" cy="1463040"/>
          </a:xfrm>
          <a:prstGeom prst="roundRect">
            <a:avLst>
              <a:gd name="adj" fmla="val 5000"/>
            </a:avLst>
          </a:prstGeom>
          <a:solidFill>
            <a:schemeClr val="bg2"/>
          </a:solidFill>
          <a:ln w="12700">
            <a:solidFill>
              <a:schemeClr val="bg2"/>
            </a:solidFill>
            <a:prstDash val="solid"/>
          </a:ln>
        </p:spPr>
      </p:sp>
      <p:sp>
        <p:nvSpPr>
          <p:cNvPr id="9" name="Text 6"/>
          <p:cNvSpPr txBox="1"/>
          <p:nvPr/>
        </p:nvSpPr>
        <p:spPr>
          <a:xfrm>
            <a:off x="749808" y="3493008"/>
            <a:ext cx="4992624"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model.eval()</a:t>
            </a:r>
            <a:endParaRPr lang="en-US" sz="1900" dirty="0"/>
          </a:p>
        </p:txBody>
      </p:sp>
      <p:sp>
        <p:nvSpPr>
          <p:cNvPr id="10" name="Text 7"/>
          <p:cNvSpPr txBox="1"/>
          <p:nvPr/>
        </p:nvSpPr>
        <p:spPr>
          <a:xfrm>
            <a:off x="749808" y="3850894"/>
            <a:ext cx="4992624" cy="702818"/>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Normalize with the running averages: deterministic and batch-size independent.</a:t>
            </a:r>
            <a:endParaRPr lang="en-US" sz="1600" dirty="0"/>
          </a:p>
        </p:txBody>
      </p:sp>
      <p:sp>
        <p:nvSpPr>
          <p:cNvPr id="11" name="Shape 8"/>
          <p:cNvSpPr/>
          <p:nvPr/>
        </p:nvSpPr>
        <p:spPr>
          <a:xfrm>
            <a:off x="548640" y="4937760"/>
            <a:ext cx="5394960" cy="965200"/>
          </a:xfrm>
          <a:prstGeom prst="roundRect">
            <a:avLst>
              <a:gd name="adj" fmla="val 7579"/>
            </a:avLst>
          </a:prstGeom>
          <a:solidFill>
            <a:schemeClr val="bg2"/>
          </a:solidFill>
          <a:ln w="12700">
            <a:solidFill>
              <a:schemeClr val="bg2"/>
            </a:solidFill>
            <a:prstDash val="solid"/>
          </a:ln>
        </p:spPr>
      </p:sp>
      <p:sp>
        <p:nvSpPr>
          <p:cNvPr id="12" name="Text 9"/>
          <p:cNvSpPr txBox="1"/>
          <p:nvPr/>
        </p:nvSpPr>
        <p:spPr>
          <a:xfrm>
            <a:off x="777240" y="5129784"/>
            <a:ext cx="4937760" cy="581152"/>
          </a:xfrm>
          <a:prstGeom prst="rect">
            <a:avLst/>
          </a:prstGeom>
          <a:noFill/>
          <a:ln/>
        </p:spPr>
        <p:txBody>
          <a:bodyPr wrap="square" lIns="0" tIns="0" rIns="0" bIns="0" rtlCol="0" anchor="t"/>
          <a:lstStyle/>
          <a:p>
            <a:pPr algn="l" indent="0" marL="0">
              <a:lnSpc>
                <a:spcPct val="112000"/>
              </a:lnSpc>
              <a:buNone/>
            </a:pPr>
            <a:r>
              <a:rPr lang="en-US" sz="1600" dirty="0">
                <a:solidFill>
                  <a:schemeClr val="tx1"/>
                </a:solidFill>
                <a:latin typeface="Cambria Math" pitchFamily="34" charset="0"/>
                <a:ea typeface="Cambria Math" pitchFamily="34" charset="-122"/>
                <a:cs typeface="Cambria Math" pitchFamily="34" charset="-120"/>
              </a:rPr>
              <a:t>running ← (1 − m) · running + m · batch stat</a:t>
            </a:r>
            <a:endParaRPr lang="en-US" sz="1600" dirty="0"/>
          </a:p>
          <a:p>
            <a:pPr algn="l" indent="0" marL="0">
              <a:lnSpc>
                <a:spcPct val="112000"/>
              </a:lnSpc>
              <a:buNone/>
            </a:pPr>
            <a:r>
              <a:rPr lang="en-US" sz="1600" dirty="0">
                <a:solidFill>
                  <a:schemeClr val="tx1"/>
                </a:solidFill>
                <a:latin typeface="Cambria Math" pitchFamily="34" charset="0"/>
                <a:ea typeface="Cambria Math" pitchFamily="34" charset="-122"/>
                <a:cs typeface="Cambria Math" pitchFamily="34" charset="-120"/>
              </a:rPr>
              <a:t>m = momentum = 0.1 (PyTorch default)</a:t>
            </a:r>
            <a:endParaRPr lang="en-US" sz="1600" dirty="0"/>
          </a:p>
        </p:txBody>
      </p:sp>
      <p:sp>
        <p:nvSpPr>
          <p:cNvPr id="13" name="Shape 10"/>
          <p:cNvSpPr/>
          <p:nvPr/>
        </p:nvSpPr>
        <p:spPr>
          <a:xfrm>
            <a:off x="6400800" y="1645920"/>
            <a:ext cx="5239512" cy="4251960"/>
          </a:xfrm>
          <a:prstGeom prst="roundRect">
            <a:avLst>
              <a:gd name="adj" fmla="val 1720"/>
            </a:avLst>
          </a:prstGeom>
          <a:solidFill>
            <a:schemeClr val="accent2">
              <a:alpha val="12000"/>
            </a:schemeClr>
          </a:solidFill>
          <a:ln w="12700">
            <a:solidFill>
              <a:schemeClr val="accent2">
                <a:alpha val="12000"/>
              </a:schemeClr>
            </a:solidFill>
            <a:prstDash val="solid"/>
          </a:ln>
        </p:spPr>
      </p:sp>
      <p:sp>
        <p:nvSpPr>
          <p:cNvPr id="14" name="Text 11"/>
          <p:cNvSpPr txBox="1"/>
          <p:nvPr/>
        </p:nvSpPr>
        <p:spPr>
          <a:xfrm>
            <a:off x="6629400" y="1828800"/>
            <a:ext cx="4846320" cy="274320"/>
          </a:xfrm>
          <a:prstGeom prst="rect">
            <a:avLst/>
          </a:prstGeom>
          <a:noFill/>
          <a:ln/>
        </p:spPr>
        <p:txBody>
          <a:bodyPr wrap="square" lIns="0" tIns="0" rIns="0" bIns="0" rtlCol="0" anchor="ctr"/>
          <a:lstStyle/>
          <a:p>
            <a:pPr indent="0" marL="0">
              <a:buNone/>
            </a:pPr>
            <a:r>
              <a:rPr lang="en-US" sz="1200" b="1" spc="120" kern="0" dirty="0">
                <a:solidFill>
                  <a:schemeClr val="accent2"/>
                </a:solidFill>
              </a:rPr>
              <a:t>SYMPTOMS OF A FORGOTTEN MODEL.EVAL()</a:t>
            </a:r>
            <a:endParaRPr lang="en-US" sz="1200" dirty="0"/>
          </a:p>
        </p:txBody>
      </p:sp>
      <p:sp>
        <p:nvSpPr>
          <p:cNvPr id="15" name="Text 12"/>
          <p:cNvSpPr txBox="1"/>
          <p:nvPr/>
        </p:nvSpPr>
        <p:spPr>
          <a:xfrm>
            <a:off x="6629400" y="2286000"/>
            <a:ext cx="4800600" cy="3474720"/>
          </a:xfrm>
          <a:prstGeom prst="rect">
            <a:avLst/>
          </a:prstGeom>
          <a:noFill/>
          <a:ln/>
        </p:spPr>
        <p:txBody>
          <a:bodyPr wrap="square" lIns="0" tIns="0" rIns="0" bIns="0" rtlCol="0" anchor="t"/>
          <a:lstStyle/>
          <a:p>
            <a:pPr marL="254000" indent="-254000">
              <a:lnSpc>
                <a:spcPct val="105000"/>
              </a:lnSpc>
              <a:spcAft>
                <a:spcPts val="1200"/>
              </a:spcAft>
              <a:buSzPct val="100000"/>
              <a:buChar char="●"/>
            </a:pPr>
            <a:r>
              <a:rPr lang="en-US" sz="1700" dirty="0">
                <a:solidFill>
                  <a:schemeClr val="tx1"/>
                </a:solidFill>
              </a:rPr>
              <a:t>Validation accuracy changes when you change the validation batch size.</a:t>
            </a:r>
            <a:endParaRPr lang="en-US" sz="1700" dirty="0"/>
          </a:p>
          <a:p>
            <a:pPr marL="254000" indent="-254000">
              <a:lnSpc>
                <a:spcPct val="105000"/>
              </a:lnSpc>
              <a:spcAft>
                <a:spcPts val="1200"/>
              </a:spcAft>
              <a:buSzPct val="100000"/>
              <a:buChar char="●"/>
            </a:pPr>
            <a:r>
              <a:rPr lang="en-US" sz="1700" dirty="0">
                <a:solidFill>
                  <a:schemeClr val="tx1"/>
                </a:solidFill>
              </a:rPr>
              <a:t>Validation is worse than training in a way regularization cannot explain.</a:t>
            </a:r>
            <a:endParaRPr lang="en-US" sz="1700" dirty="0"/>
          </a:p>
          <a:p>
            <a:pPr marL="254000" indent="-254000">
              <a:lnSpc>
                <a:spcPct val="105000"/>
              </a:lnSpc>
              <a:spcAft>
                <a:spcPts val="1200"/>
              </a:spcAft>
              <a:buSzPct val="100000"/>
              <a:buChar char="●"/>
            </a:pPr>
            <a:r>
              <a:rPr lang="en-US" sz="1700" dirty="0">
                <a:solidFill>
                  <a:schemeClr val="tx1"/>
                </a:solidFill>
              </a:rPr>
              <a:t>Single-image inference is wildly wrong.</a:t>
            </a:r>
            <a:endParaRPr lang="en-US" sz="1700" dirty="0"/>
          </a:p>
          <a:p>
            <a:pPr marL="254000" indent="-254000">
              <a:lnSpc>
                <a:spcPct val="105000"/>
              </a:lnSpc>
              <a:spcAft>
                <a:spcPts val="1200"/>
              </a:spcAft>
              <a:buSzPct val="100000"/>
              <a:buChar char="●"/>
            </a:pPr>
            <a:r>
              <a:rPr lang="en-US" sz="1700" dirty="0">
                <a:solidFill>
                  <a:schemeClr val="tx1"/>
                </a:solidFill>
              </a:rPr>
              <a:t>Dropout is still active too.</a:t>
            </a:r>
            <a:endParaRPr lang="en-US" sz="17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§11 · NORMALIZATION LAYERS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Why BatchNorm helps: not mainly “covariate shift”</a:t>
            </a:r>
            <a:endParaRPr lang="en-US" sz="3000" dirty="0"/>
          </a:p>
        </p:txBody>
      </p:sp>
      <p:sp>
        <p:nvSpPr>
          <p:cNvPr id="5" name="Shape 2"/>
          <p:cNvSpPr/>
          <p:nvPr/>
        </p:nvSpPr>
        <p:spPr>
          <a:xfrm>
            <a:off x="758952" y="1901952"/>
            <a:ext cx="0" cy="2743200"/>
          </a:xfrm>
          <a:prstGeom prst="line">
            <a:avLst/>
          </a:prstGeom>
          <a:noFill/>
          <a:ln w="25400">
            <a:solidFill>
              <a:schemeClr val="accent1">
                <a:alpha val="50000"/>
              </a:schemeClr>
            </a:solidFill>
            <a:prstDash val="solid"/>
          </a:ln>
        </p:spPr>
      </p:sp>
      <p:sp>
        <p:nvSpPr>
          <p:cNvPr id="6" name="Shape 3"/>
          <p:cNvSpPr/>
          <p:nvPr/>
        </p:nvSpPr>
        <p:spPr>
          <a:xfrm>
            <a:off x="548640" y="1691640"/>
            <a:ext cx="420624" cy="420624"/>
          </a:xfrm>
          <a:prstGeom prst="ellipse">
            <a:avLst/>
          </a:prstGeom>
          <a:solidFill>
            <a:schemeClr val="accent1"/>
          </a:solidFill>
          <a:ln w="25400">
            <a:solidFill>
              <a:schemeClr val="bg1"/>
            </a:solidFill>
            <a:prstDash val="solid"/>
          </a:ln>
        </p:spPr>
      </p:sp>
      <p:sp>
        <p:nvSpPr>
          <p:cNvPr id="7" name="Text 4"/>
          <p:cNvSpPr txBox="1"/>
          <p:nvPr/>
        </p:nvSpPr>
        <p:spPr>
          <a:xfrm>
            <a:off x="548640" y="16916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1197864" y="1728216"/>
            <a:ext cx="602589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It smooths the loss landscape</a:t>
            </a:r>
            <a:endParaRPr lang="en-US" sz="1900" dirty="0"/>
          </a:p>
        </p:txBody>
      </p:sp>
      <p:sp>
        <p:nvSpPr>
          <p:cNvPr id="9" name="Text 6"/>
          <p:cNvSpPr txBox="1"/>
          <p:nvPr/>
        </p:nvSpPr>
        <p:spPr>
          <a:xfrm>
            <a:off x="1197864" y="2031238"/>
            <a:ext cx="6025896" cy="99542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Loss and gradients become more Lipschitz, so larger η stays stable (Santurkar et al., 2018).</a:t>
            </a:r>
            <a:endParaRPr lang="en-US" sz="1600" dirty="0"/>
          </a:p>
        </p:txBody>
      </p:sp>
      <p:sp>
        <p:nvSpPr>
          <p:cNvPr id="10" name="Shape 7"/>
          <p:cNvSpPr/>
          <p:nvPr/>
        </p:nvSpPr>
        <p:spPr>
          <a:xfrm>
            <a:off x="548640" y="3063240"/>
            <a:ext cx="420624" cy="420624"/>
          </a:xfrm>
          <a:prstGeom prst="ellipse">
            <a:avLst/>
          </a:prstGeom>
          <a:solidFill>
            <a:schemeClr val="accent1"/>
          </a:solidFill>
          <a:ln w="25400">
            <a:solidFill>
              <a:schemeClr val="bg1"/>
            </a:solidFill>
            <a:prstDash val="solid"/>
          </a:ln>
        </p:spPr>
      </p:sp>
      <p:sp>
        <p:nvSpPr>
          <p:cNvPr id="11" name="Text 8"/>
          <p:cNvSpPr txBox="1"/>
          <p:nvPr/>
        </p:nvSpPr>
        <p:spPr>
          <a:xfrm>
            <a:off x="548640" y="30632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1197864" y="3099816"/>
            <a:ext cx="602589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It decouples weight scale from the function</a:t>
            </a:r>
            <a:endParaRPr lang="en-US" sz="1900" dirty="0"/>
          </a:p>
        </p:txBody>
      </p:sp>
      <p:sp>
        <p:nvSpPr>
          <p:cNvPr id="13" name="Text 10"/>
          <p:cNvSpPr txBox="1"/>
          <p:nvPr/>
        </p:nvSpPr>
        <p:spPr>
          <a:xfrm>
            <a:off x="1197864" y="3402838"/>
            <a:ext cx="6025896" cy="99542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Scaling W by c leaves the output unchanged and the gradient scales by 1/c: self-stabilizing.</a:t>
            </a:r>
            <a:endParaRPr lang="en-US" sz="1600" dirty="0"/>
          </a:p>
        </p:txBody>
      </p:sp>
      <p:sp>
        <p:nvSpPr>
          <p:cNvPr id="14" name="Shape 11"/>
          <p:cNvSpPr/>
          <p:nvPr/>
        </p:nvSpPr>
        <p:spPr>
          <a:xfrm>
            <a:off x="548640" y="4434840"/>
            <a:ext cx="420624" cy="420624"/>
          </a:xfrm>
          <a:prstGeom prst="ellipse">
            <a:avLst/>
          </a:prstGeom>
          <a:solidFill>
            <a:schemeClr val="accent1"/>
          </a:solidFill>
          <a:ln w="25400">
            <a:solidFill>
              <a:schemeClr val="bg1"/>
            </a:solidFill>
            <a:prstDash val="solid"/>
          </a:ln>
        </p:spPr>
      </p:sp>
      <p:sp>
        <p:nvSpPr>
          <p:cNvPr id="15" name="Text 12"/>
          <p:cNvSpPr txBox="1"/>
          <p:nvPr/>
        </p:nvSpPr>
        <p:spPr>
          <a:xfrm>
            <a:off x="548640" y="44348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3"/>
          <p:cNvSpPr txBox="1"/>
          <p:nvPr/>
        </p:nvSpPr>
        <p:spPr>
          <a:xfrm>
            <a:off x="1197864" y="4471416"/>
            <a:ext cx="602589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It regularizes</a:t>
            </a:r>
            <a:endParaRPr lang="en-US" sz="1900" dirty="0"/>
          </a:p>
        </p:txBody>
      </p:sp>
      <p:sp>
        <p:nvSpPr>
          <p:cNvPr id="17" name="Text 14"/>
          <p:cNvSpPr txBox="1"/>
          <p:nvPr/>
        </p:nvSpPr>
        <p:spPr>
          <a:xfrm>
            <a:off x="1197864" y="4774438"/>
            <a:ext cx="6025896" cy="99542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Each example’s normalization depends on its batchmates: noise, like dropout.</a:t>
            </a:r>
            <a:endParaRPr lang="en-US" sz="1600" dirty="0"/>
          </a:p>
        </p:txBody>
      </p:sp>
      <p:sp>
        <p:nvSpPr>
          <p:cNvPr id="18" name="Shape 15"/>
          <p:cNvSpPr/>
          <p:nvPr/>
        </p:nvSpPr>
        <p:spPr>
          <a:xfrm>
            <a:off x="7680960" y="1691640"/>
            <a:ext cx="3959352" cy="2011680"/>
          </a:xfrm>
          <a:prstGeom prst="roundRect">
            <a:avLst>
              <a:gd name="adj" fmla="val 3636"/>
            </a:avLst>
          </a:prstGeom>
          <a:solidFill>
            <a:schemeClr val="accent2">
              <a:alpha val="12000"/>
            </a:schemeClr>
          </a:solidFill>
          <a:ln w="12700">
            <a:solidFill>
              <a:schemeClr val="accent2">
                <a:alpha val="12000"/>
              </a:schemeClr>
            </a:solidFill>
            <a:prstDash val="solid"/>
          </a:ln>
        </p:spPr>
      </p:sp>
      <p:sp>
        <p:nvSpPr>
          <p:cNvPr id="19" name="Text 16"/>
          <p:cNvSpPr txBox="1"/>
          <p:nvPr/>
        </p:nvSpPr>
        <p:spPr>
          <a:xfrm>
            <a:off x="7882128" y="1892808"/>
            <a:ext cx="355701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accent2"/>
                </a:solidFill>
              </a:rPr>
              <a:t>Doubted: covariate shift</a:t>
            </a:r>
            <a:endParaRPr lang="en-US" sz="1900" dirty="0"/>
          </a:p>
        </p:txBody>
      </p:sp>
      <p:sp>
        <p:nvSpPr>
          <p:cNvPr id="20" name="Text 17"/>
          <p:cNvSpPr txBox="1"/>
          <p:nvPr/>
        </p:nvSpPr>
        <p:spPr>
          <a:xfrm>
            <a:off x="7882128" y="2250694"/>
            <a:ext cx="3557016" cy="1251458"/>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The original motivation (Ioffe &amp; Szegedy, 2015). Adding shift on purpose barely hurts.</a:t>
            </a:r>
            <a:endParaRPr lang="en-US" sz="1600" dirty="0"/>
          </a:p>
        </p:txBody>
      </p:sp>
      <p:sp>
        <p:nvSpPr>
          <p:cNvPr id="21" name="Shape 18"/>
          <p:cNvSpPr/>
          <p:nvPr/>
        </p:nvSpPr>
        <p:spPr>
          <a:xfrm>
            <a:off x="7680960" y="3931920"/>
            <a:ext cx="3959352" cy="1965960"/>
          </a:xfrm>
          <a:prstGeom prst="roundRect">
            <a:avLst>
              <a:gd name="adj" fmla="val 3721"/>
            </a:avLst>
          </a:prstGeom>
          <a:solidFill>
            <a:schemeClr val="accent1">
              <a:alpha val="10000"/>
            </a:schemeClr>
          </a:solidFill>
          <a:ln w="12700">
            <a:solidFill>
              <a:schemeClr val="accent1">
                <a:alpha val="10000"/>
              </a:schemeClr>
            </a:solidFill>
            <a:prstDash val="solid"/>
          </a:ln>
        </p:spPr>
      </p:sp>
      <p:sp>
        <p:nvSpPr>
          <p:cNvPr id="22" name="Text 19"/>
          <p:cNvSpPr txBox="1"/>
          <p:nvPr/>
        </p:nvSpPr>
        <p:spPr>
          <a:xfrm>
            <a:off x="7882128" y="4133088"/>
            <a:ext cx="355701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accent1"/>
                </a:solidFill>
              </a:rPr>
              <a:t>What it buys in practice</a:t>
            </a:r>
            <a:endParaRPr lang="en-US" sz="1900" dirty="0"/>
          </a:p>
        </p:txBody>
      </p:sp>
      <p:sp>
        <p:nvSpPr>
          <p:cNvPr id="23" name="Text 20"/>
          <p:cNvSpPr txBox="1"/>
          <p:nvPr/>
        </p:nvSpPr>
        <p:spPr>
          <a:xfrm>
            <a:off x="7882128" y="4490974"/>
            <a:ext cx="3557016" cy="1205738"/>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~10× higher η, far fewer epochs, much less sensitivity to initialization.</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§11 · NORMALIZATION LAYERS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Put BatchNorm after the linear layer, and drop its bias</a:t>
            </a:r>
            <a:endParaRPr lang="en-US" sz="3000" dirty="0"/>
          </a:p>
        </p:txBody>
      </p:sp>
      <p:sp>
        <p:nvSpPr>
          <p:cNvPr id="5" name="Shape 2"/>
          <p:cNvSpPr/>
          <p:nvPr/>
        </p:nvSpPr>
        <p:spPr>
          <a:xfrm>
            <a:off x="822960" y="1783080"/>
            <a:ext cx="3840480" cy="685800"/>
          </a:xfrm>
          <a:prstGeom prst="roundRect">
            <a:avLst>
              <a:gd name="adj" fmla="val 8000"/>
            </a:avLst>
          </a:prstGeom>
          <a:solidFill>
            <a:schemeClr val="bg1"/>
          </a:solidFill>
          <a:ln w="15875">
            <a:solidFill>
              <a:schemeClr val="tx1"/>
            </a:solidFill>
            <a:prstDash val="solid"/>
          </a:ln>
        </p:spPr>
      </p:sp>
      <p:sp>
        <p:nvSpPr>
          <p:cNvPr id="6" name="Text 3"/>
          <p:cNvSpPr txBox="1"/>
          <p:nvPr/>
        </p:nvSpPr>
        <p:spPr>
          <a:xfrm>
            <a:off x="868680" y="1783080"/>
            <a:ext cx="3749040" cy="685800"/>
          </a:xfrm>
          <a:prstGeom prst="rect">
            <a:avLst/>
          </a:prstGeom>
          <a:noFill/>
          <a:ln/>
        </p:spPr>
        <p:txBody>
          <a:bodyPr wrap="square" lIns="0" tIns="0" rIns="0" bIns="0" rtlCol="0" anchor="ctr"/>
          <a:lstStyle/>
          <a:p>
            <a:pPr algn="ctr" indent="0" marL="0">
              <a:lnSpc>
                <a:spcPct val="105000"/>
              </a:lnSpc>
              <a:buNone/>
            </a:pPr>
            <a:r>
              <a:rPr lang="en-US" sz="1800" b="1" dirty="0">
                <a:solidFill>
                  <a:schemeClr val="tx1"/>
                </a:solidFill>
              </a:rPr>
              <a:t>Conv2d(…, bias=False)</a:t>
            </a:r>
            <a:endParaRPr lang="en-US" sz="1800" dirty="0"/>
          </a:p>
        </p:txBody>
      </p:sp>
      <p:sp>
        <p:nvSpPr>
          <p:cNvPr id="7" name="Shape 4"/>
          <p:cNvSpPr/>
          <p:nvPr/>
        </p:nvSpPr>
        <p:spPr>
          <a:xfrm>
            <a:off x="2743200" y="2468880"/>
            <a:ext cx="0" cy="365760"/>
          </a:xfrm>
          <a:prstGeom prst="line">
            <a:avLst/>
          </a:prstGeom>
          <a:noFill/>
          <a:ln w="25400">
            <a:solidFill>
              <a:srgbClr val="0F7B78"/>
            </a:solidFill>
            <a:prstDash val="solid"/>
            <a:tailEnd type="triangle"/>
          </a:ln>
        </p:spPr>
      </p:sp>
      <p:sp>
        <p:nvSpPr>
          <p:cNvPr id="8" name="Shape 5"/>
          <p:cNvSpPr/>
          <p:nvPr/>
        </p:nvSpPr>
        <p:spPr>
          <a:xfrm>
            <a:off x="822960" y="2834640"/>
            <a:ext cx="3840480" cy="685800"/>
          </a:xfrm>
          <a:prstGeom prst="roundRect">
            <a:avLst>
              <a:gd name="adj" fmla="val 8000"/>
            </a:avLst>
          </a:prstGeom>
          <a:solidFill>
            <a:schemeClr val="accent1">
              <a:alpha val="10000"/>
            </a:schemeClr>
          </a:solidFill>
          <a:ln w="15875">
            <a:solidFill>
              <a:schemeClr val="accent1"/>
            </a:solidFill>
            <a:prstDash val="solid"/>
          </a:ln>
        </p:spPr>
      </p:sp>
      <p:sp>
        <p:nvSpPr>
          <p:cNvPr id="9" name="Text 6"/>
          <p:cNvSpPr txBox="1"/>
          <p:nvPr/>
        </p:nvSpPr>
        <p:spPr>
          <a:xfrm>
            <a:off x="868680" y="2834640"/>
            <a:ext cx="3749040" cy="685800"/>
          </a:xfrm>
          <a:prstGeom prst="rect">
            <a:avLst/>
          </a:prstGeom>
          <a:noFill/>
          <a:ln/>
        </p:spPr>
        <p:txBody>
          <a:bodyPr wrap="square" lIns="0" tIns="0" rIns="0" bIns="0" rtlCol="0" anchor="ctr"/>
          <a:lstStyle/>
          <a:p>
            <a:pPr algn="ctr" indent="0" marL="0">
              <a:lnSpc>
                <a:spcPct val="105000"/>
              </a:lnSpc>
              <a:buNone/>
            </a:pPr>
            <a:r>
              <a:rPr lang="en-US" sz="1800" b="1" dirty="0">
                <a:solidFill>
                  <a:schemeClr val="tx1"/>
                </a:solidFill>
              </a:rPr>
              <a:t>BatchNorm2d</a:t>
            </a:r>
            <a:endParaRPr lang="en-US" sz="1800" dirty="0"/>
          </a:p>
        </p:txBody>
      </p:sp>
      <p:sp>
        <p:nvSpPr>
          <p:cNvPr id="10" name="Shape 7"/>
          <p:cNvSpPr/>
          <p:nvPr/>
        </p:nvSpPr>
        <p:spPr>
          <a:xfrm>
            <a:off x="2743200" y="3520440"/>
            <a:ext cx="0" cy="365760"/>
          </a:xfrm>
          <a:prstGeom prst="line">
            <a:avLst/>
          </a:prstGeom>
          <a:noFill/>
          <a:ln w="25400">
            <a:solidFill>
              <a:srgbClr val="0F7B78"/>
            </a:solidFill>
            <a:prstDash val="solid"/>
            <a:tailEnd type="triangle"/>
          </a:ln>
        </p:spPr>
      </p:sp>
      <p:sp>
        <p:nvSpPr>
          <p:cNvPr id="11" name="Shape 8"/>
          <p:cNvSpPr/>
          <p:nvPr/>
        </p:nvSpPr>
        <p:spPr>
          <a:xfrm>
            <a:off x="822960" y="3886200"/>
            <a:ext cx="3840480" cy="685800"/>
          </a:xfrm>
          <a:prstGeom prst="roundRect">
            <a:avLst>
              <a:gd name="adj" fmla="val 8000"/>
            </a:avLst>
          </a:prstGeom>
          <a:solidFill>
            <a:schemeClr val="bg1"/>
          </a:solidFill>
          <a:ln w="15875">
            <a:solidFill>
              <a:schemeClr val="tx1"/>
            </a:solidFill>
            <a:prstDash val="solid"/>
          </a:ln>
        </p:spPr>
      </p:sp>
      <p:sp>
        <p:nvSpPr>
          <p:cNvPr id="12" name="Text 9"/>
          <p:cNvSpPr txBox="1"/>
          <p:nvPr/>
        </p:nvSpPr>
        <p:spPr>
          <a:xfrm>
            <a:off x="868680" y="3886200"/>
            <a:ext cx="3749040" cy="685800"/>
          </a:xfrm>
          <a:prstGeom prst="rect">
            <a:avLst/>
          </a:prstGeom>
          <a:noFill/>
          <a:ln/>
        </p:spPr>
        <p:txBody>
          <a:bodyPr wrap="square" lIns="0" tIns="0" rIns="0" bIns="0" rtlCol="0" anchor="ctr"/>
          <a:lstStyle/>
          <a:p>
            <a:pPr algn="ctr" indent="0" marL="0">
              <a:lnSpc>
                <a:spcPct val="105000"/>
              </a:lnSpc>
              <a:buNone/>
            </a:pPr>
            <a:r>
              <a:rPr lang="en-US" sz="1800" b="1" dirty="0">
                <a:solidFill>
                  <a:schemeClr val="tx1"/>
                </a:solidFill>
              </a:rPr>
              <a:t>ReLU</a:t>
            </a:r>
            <a:endParaRPr lang="en-US" sz="1800" dirty="0"/>
          </a:p>
        </p:txBody>
      </p:sp>
      <p:sp>
        <p:nvSpPr>
          <p:cNvPr id="13" name="Text 10"/>
          <p:cNvSpPr txBox="1"/>
          <p:nvPr/>
        </p:nvSpPr>
        <p:spPr>
          <a:xfrm>
            <a:off x="548640" y="4892040"/>
            <a:ext cx="4572000" cy="1097280"/>
          </a:xfrm>
          <a:prstGeom prst="rect">
            <a:avLst/>
          </a:prstGeom>
          <a:noFill/>
          <a:ln/>
        </p:spPr>
        <p:txBody>
          <a:bodyPr wrap="square" lIns="0" tIns="0" rIns="0" bIns="0" rtlCol="0" anchor="t"/>
          <a:lstStyle/>
          <a:p>
            <a:pPr algn="l" indent="0" marL="0">
              <a:lnSpc>
                <a:spcPct val="105000"/>
              </a:lnSpc>
              <a:buNone/>
            </a:pPr>
            <a:r>
              <a:rPr lang="en-US" sz="1500" dirty="0">
                <a:solidFill>
                  <a:schemeClr val="tx2"/>
                </a:solidFill>
              </a:rPr>
              <a:t>Standard order (ResNet). Pre-activation BN → ReLU → Conv (ResNet-v2) is slightly better for very deep nets.</a:t>
            </a:r>
            <a:endParaRPr lang="en-US" sz="1500" dirty="0"/>
          </a:p>
        </p:txBody>
      </p:sp>
      <p:sp>
        <p:nvSpPr>
          <p:cNvPr id="14" name="Shape 11"/>
          <p:cNvSpPr/>
          <p:nvPr/>
        </p:nvSpPr>
        <p:spPr>
          <a:xfrm>
            <a:off x="5577840" y="1645920"/>
            <a:ext cx="6062472" cy="1088136"/>
          </a:xfrm>
          <a:prstGeom prst="roundRect">
            <a:avLst>
              <a:gd name="adj" fmla="val 6723"/>
            </a:avLst>
          </a:prstGeom>
          <a:solidFill>
            <a:schemeClr val="bg2"/>
          </a:solidFill>
          <a:ln w="12700">
            <a:solidFill>
              <a:schemeClr val="bg2"/>
            </a:solidFill>
            <a:prstDash val="solid"/>
          </a:ln>
        </p:spPr>
      </p:sp>
      <p:sp>
        <p:nvSpPr>
          <p:cNvPr id="15" name="Text 12"/>
          <p:cNvSpPr txBox="1"/>
          <p:nvPr/>
        </p:nvSpPr>
        <p:spPr>
          <a:xfrm>
            <a:off x="5779008" y="1819656"/>
            <a:ext cx="5660136" cy="740664"/>
          </a:xfrm>
          <a:prstGeom prst="rect">
            <a:avLst/>
          </a:prstGeom>
          <a:noFill/>
          <a:ln/>
        </p:spPr>
        <p:txBody>
          <a:bodyPr wrap="square" lIns="0" tIns="0" rIns="0" bIns="0" rtlCol="0" anchor="t"/>
          <a:lstStyle/>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nn.Conv2d(64, 128, 3, padding=1, bias=False)</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nn.BatchNorm2d(128)     </a:t>
            </a:r>
            <a:r>
              <a:rPr lang="en-US" sz="1500" dirty="0">
                <a:solidFill>
                  <a:schemeClr val="accent1"/>
                </a:solidFill>
                <a:latin typeface="Consolas" pitchFamily="34" charset="0"/>
                <a:ea typeface="Consolas" pitchFamily="34" charset="-122"/>
                <a:cs typeface="Consolas" pitchFamily="34" charset="-120"/>
              </a:rPr>
              <a:t># one γ, β per channel</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nn.ReLU(inplace=True)</a:t>
            </a:r>
            <a:endParaRPr lang="en-US" sz="1500" dirty="0"/>
          </a:p>
        </p:txBody>
      </p:sp>
      <p:sp>
        <p:nvSpPr>
          <p:cNvPr id="16" name="Shape 13"/>
          <p:cNvSpPr/>
          <p:nvPr/>
        </p:nvSpPr>
        <p:spPr>
          <a:xfrm>
            <a:off x="5577840" y="3200400"/>
            <a:ext cx="6062472" cy="1828800"/>
          </a:xfrm>
          <a:prstGeom prst="roundRect">
            <a:avLst>
              <a:gd name="adj" fmla="val 4000"/>
            </a:avLst>
          </a:prstGeom>
          <a:solidFill>
            <a:schemeClr val="accent1">
              <a:alpha val="10000"/>
            </a:schemeClr>
          </a:solidFill>
          <a:ln w="12700">
            <a:solidFill>
              <a:schemeClr val="accent1">
                <a:alpha val="10000"/>
              </a:schemeClr>
            </a:solidFill>
            <a:prstDash val="solid"/>
          </a:ln>
        </p:spPr>
      </p:sp>
      <p:sp>
        <p:nvSpPr>
          <p:cNvPr id="17" name="Text 14"/>
          <p:cNvSpPr txBox="1"/>
          <p:nvPr/>
        </p:nvSpPr>
        <p:spPr>
          <a:xfrm>
            <a:off x="5779008" y="3401568"/>
            <a:ext cx="566013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accent1"/>
                </a:solidFill>
              </a:rPr>
              <a:t>Why bias=False</a:t>
            </a:r>
            <a:endParaRPr lang="en-US" sz="1900" dirty="0"/>
          </a:p>
        </p:txBody>
      </p:sp>
      <p:sp>
        <p:nvSpPr>
          <p:cNvPr id="18" name="Text 15"/>
          <p:cNvSpPr txBox="1"/>
          <p:nvPr/>
        </p:nvSpPr>
        <p:spPr>
          <a:xfrm>
            <a:off x="5779008" y="3759454"/>
            <a:ext cx="5660136" cy="1068578"/>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BatchNorm subtracts the mean, cancelling any constant bias, then adds its own β. The conv bias is exactly redundant.</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§11 · NORMALIZATION LAYERS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Normalization variants differ only in the axes averaged</a:t>
            </a:r>
            <a:endParaRPr lang="en-US" sz="3000" dirty="0"/>
          </a:p>
        </p:txBody>
      </p:sp>
      <p:sp>
        <p:nvSpPr>
          <p:cNvPr id="5" name="Text 2"/>
          <p:cNvSpPr txBox="1"/>
          <p:nvPr/>
        </p:nvSpPr>
        <p:spPr>
          <a:xfrm>
            <a:off x="548640" y="1600200"/>
            <a:ext cx="2560320" cy="320040"/>
          </a:xfrm>
          <a:prstGeom prst="rect">
            <a:avLst/>
          </a:prstGeom>
          <a:noFill/>
          <a:ln/>
        </p:spPr>
        <p:txBody>
          <a:bodyPr wrap="square" lIns="0" tIns="0" rIns="0" bIns="0" rtlCol="0" anchor="t"/>
          <a:lstStyle/>
          <a:p>
            <a:pPr algn="l" indent="0" marL="0">
              <a:lnSpc>
                <a:spcPct val="105000"/>
              </a:lnSpc>
              <a:buNone/>
            </a:pPr>
            <a:r>
              <a:rPr lang="en-US" sz="1700" b="1" dirty="0">
                <a:solidFill>
                  <a:schemeClr val="accent1"/>
                </a:solidFill>
              </a:rPr>
              <a:t>BatchNorm</a:t>
            </a:r>
            <a:endParaRPr lang="en-US" sz="1700" dirty="0"/>
          </a:p>
        </p:txBody>
      </p:sp>
      <p:sp>
        <p:nvSpPr>
          <p:cNvPr id="6" name="Shape 3"/>
          <p:cNvSpPr/>
          <p:nvPr/>
        </p:nvSpPr>
        <p:spPr>
          <a:xfrm>
            <a:off x="822960" y="2011680"/>
            <a:ext cx="292608" cy="292608"/>
          </a:xfrm>
          <a:prstGeom prst="rect">
            <a:avLst/>
          </a:prstGeom>
          <a:solidFill>
            <a:schemeClr val="bg2"/>
          </a:solidFill>
          <a:ln w="6350">
            <a:solidFill>
              <a:schemeClr val="bg1"/>
            </a:solidFill>
            <a:prstDash val="solid"/>
          </a:ln>
        </p:spPr>
      </p:sp>
      <p:sp>
        <p:nvSpPr>
          <p:cNvPr id="7" name="Shape 4"/>
          <p:cNvSpPr/>
          <p:nvPr/>
        </p:nvSpPr>
        <p:spPr>
          <a:xfrm>
            <a:off x="1152144" y="2011680"/>
            <a:ext cx="292608" cy="292608"/>
          </a:xfrm>
          <a:prstGeom prst="rect">
            <a:avLst/>
          </a:prstGeom>
          <a:solidFill>
            <a:schemeClr val="bg2"/>
          </a:solidFill>
          <a:ln w="6350">
            <a:solidFill>
              <a:schemeClr val="bg1"/>
            </a:solidFill>
            <a:prstDash val="solid"/>
          </a:ln>
        </p:spPr>
      </p:sp>
      <p:sp>
        <p:nvSpPr>
          <p:cNvPr id="8" name="Shape 5"/>
          <p:cNvSpPr/>
          <p:nvPr/>
        </p:nvSpPr>
        <p:spPr>
          <a:xfrm>
            <a:off x="1481328" y="2011680"/>
            <a:ext cx="292608" cy="292608"/>
          </a:xfrm>
          <a:prstGeom prst="rect">
            <a:avLst/>
          </a:prstGeom>
          <a:solidFill>
            <a:schemeClr val="accent1"/>
          </a:solidFill>
          <a:ln w="6350">
            <a:solidFill>
              <a:schemeClr val="bg1"/>
            </a:solidFill>
            <a:prstDash val="solid"/>
          </a:ln>
        </p:spPr>
      </p:sp>
      <p:sp>
        <p:nvSpPr>
          <p:cNvPr id="9" name="Shape 6"/>
          <p:cNvSpPr/>
          <p:nvPr/>
        </p:nvSpPr>
        <p:spPr>
          <a:xfrm>
            <a:off x="1810512" y="2011680"/>
            <a:ext cx="292608" cy="292608"/>
          </a:xfrm>
          <a:prstGeom prst="rect">
            <a:avLst/>
          </a:prstGeom>
          <a:solidFill>
            <a:schemeClr val="bg2"/>
          </a:solidFill>
          <a:ln w="6350">
            <a:solidFill>
              <a:schemeClr val="bg1"/>
            </a:solidFill>
            <a:prstDash val="solid"/>
          </a:ln>
        </p:spPr>
      </p:sp>
      <p:sp>
        <p:nvSpPr>
          <p:cNvPr id="10" name="Shape 7"/>
          <p:cNvSpPr/>
          <p:nvPr/>
        </p:nvSpPr>
        <p:spPr>
          <a:xfrm>
            <a:off x="2139696" y="2011680"/>
            <a:ext cx="292608" cy="292608"/>
          </a:xfrm>
          <a:prstGeom prst="rect">
            <a:avLst/>
          </a:prstGeom>
          <a:solidFill>
            <a:schemeClr val="bg2"/>
          </a:solidFill>
          <a:ln w="6350">
            <a:solidFill>
              <a:schemeClr val="bg1"/>
            </a:solidFill>
            <a:prstDash val="solid"/>
          </a:ln>
        </p:spPr>
      </p:sp>
      <p:sp>
        <p:nvSpPr>
          <p:cNvPr id="11" name="Shape 8"/>
          <p:cNvSpPr/>
          <p:nvPr/>
        </p:nvSpPr>
        <p:spPr>
          <a:xfrm>
            <a:off x="2468880" y="2011680"/>
            <a:ext cx="292608" cy="292608"/>
          </a:xfrm>
          <a:prstGeom prst="rect">
            <a:avLst/>
          </a:prstGeom>
          <a:solidFill>
            <a:schemeClr val="bg2"/>
          </a:solidFill>
          <a:ln w="6350">
            <a:solidFill>
              <a:schemeClr val="bg1"/>
            </a:solidFill>
            <a:prstDash val="solid"/>
          </a:ln>
        </p:spPr>
      </p:sp>
      <p:sp>
        <p:nvSpPr>
          <p:cNvPr id="12" name="Shape 9"/>
          <p:cNvSpPr/>
          <p:nvPr/>
        </p:nvSpPr>
        <p:spPr>
          <a:xfrm>
            <a:off x="822960" y="2340864"/>
            <a:ext cx="292608" cy="292608"/>
          </a:xfrm>
          <a:prstGeom prst="rect">
            <a:avLst/>
          </a:prstGeom>
          <a:solidFill>
            <a:schemeClr val="bg2"/>
          </a:solidFill>
          <a:ln w="6350">
            <a:solidFill>
              <a:schemeClr val="bg1"/>
            </a:solidFill>
            <a:prstDash val="solid"/>
          </a:ln>
        </p:spPr>
      </p:sp>
      <p:sp>
        <p:nvSpPr>
          <p:cNvPr id="13" name="Shape 10"/>
          <p:cNvSpPr/>
          <p:nvPr/>
        </p:nvSpPr>
        <p:spPr>
          <a:xfrm>
            <a:off x="1152144" y="2340864"/>
            <a:ext cx="292608" cy="292608"/>
          </a:xfrm>
          <a:prstGeom prst="rect">
            <a:avLst/>
          </a:prstGeom>
          <a:solidFill>
            <a:schemeClr val="bg2"/>
          </a:solidFill>
          <a:ln w="6350">
            <a:solidFill>
              <a:schemeClr val="bg1"/>
            </a:solidFill>
            <a:prstDash val="solid"/>
          </a:ln>
        </p:spPr>
      </p:sp>
      <p:sp>
        <p:nvSpPr>
          <p:cNvPr id="14" name="Shape 11"/>
          <p:cNvSpPr/>
          <p:nvPr/>
        </p:nvSpPr>
        <p:spPr>
          <a:xfrm>
            <a:off x="1481328" y="2340864"/>
            <a:ext cx="292608" cy="292608"/>
          </a:xfrm>
          <a:prstGeom prst="rect">
            <a:avLst/>
          </a:prstGeom>
          <a:solidFill>
            <a:schemeClr val="accent1"/>
          </a:solidFill>
          <a:ln w="6350">
            <a:solidFill>
              <a:schemeClr val="bg1"/>
            </a:solidFill>
            <a:prstDash val="solid"/>
          </a:ln>
        </p:spPr>
      </p:sp>
      <p:sp>
        <p:nvSpPr>
          <p:cNvPr id="15" name="Shape 12"/>
          <p:cNvSpPr/>
          <p:nvPr/>
        </p:nvSpPr>
        <p:spPr>
          <a:xfrm>
            <a:off x="1810512" y="2340864"/>
            <a:ext cx="292608" cy="292608"/>
          </a:xfrm>
          <a:prstGeom prst="rect">
            <a:avLst/>
          </a:prstGeom>
          <a:solidFill>
            <a:schemeClr val="bg2"/>
          </a:solidFill>
          <a:ln w="6350">
            <a:solidFill>
              <a:schemeClr val="bg1"/>
            </a:solidFill>
            <a:prstDash val="solid"/>
          </a:ln>
        </p:spPr>
      </p:sp>
      <p:sp>
        <p:nvSpPr>
          <p:cNvPr id="16" name="Shape 13"/>
          <p:cNvSpPr/>
          <p:nvPr/>
        </p:nvSpPr>
        <p:spPr>
          <a:xfrm>
            <a:off x="2139696" y="2340864"/>
            <a:ext cx="292608" cy="292608"/>
          </a:xfrm>
          <a:prstGeom prst="rect">
            <a:avLst/>
          </a:prstGeom>
          <a:solidFill>
            <a:schemeClr val="bg2"/>
          </a:solidFill>
          <a:ln w="6350">
            <a:solidFill>
              <a:schemeClr val="bg1"/>
            </a:solidFill>
            <a:prstDash val="solid"/>
          </a:ln>
        </p:spPr>
      </p:sp>
      <p:sp>
        <p:nvSpPr>
          <p:cNvPr id="17" name="Shape 14"/>
          <p:cNvSpPr/>
          <p:nvPr/>
        </p:nvSpPr>
        <p:spPr>
          <a:xfrm>
            <a:off x="2468880" y="2340864"/>
            <a:ext cx="292608" cy="292608"/>
          </a:xfrm>
          <a:prstGeom prst="rect">
            <a:avLst/>
          </a:prstGeom>
          <a:solidFill>
            <a:schemeClr val="bg2"/>
          </a:solidFill>
          <a:ln w="6350">
            <a:solidFill>
              <a:schemeClr val="bg1"/>
            </a:solidFill>
            <a:prstDash val="solid"/>
          </a:ln>
        </p:spPr>
      </p:sp>
      <p:sp>
        <p:nvSpPr>
          <p:cNvPr id="18" name="Shape 15"/>
          <p:cNvSpPr/>
          <p:nvPr/>
        </p:nvSpPr>
        <p:spPr>
          <a:xfrm>
            <a:off x="822960" y="2670048"/>
            <a:ext cx="292608" cy="292608"/>
          </a:xfrm>
          <a:prstGeom prst="rect">
            <a:avLst/>
          </a:prstGeom>
          <a:solidFill>
            <a:schemeClr val="bg2"/>
          </a:solidFill>
          <a:ln w="6350">
            <a:solidFill>
              <a:schemeClr val="bg1"/>
            </a:solidFill>
            <a:prstDash val="solid"/>
          </a:ln>
        </p:spPr>
      </p:sp>
      <p:sp>
        <p:nvSpPr>
          <p:cNvPr id="19" name="Shape 16"/>
          <p:cNvSpPr/>
          <p:nvPr/>
        </p:nvSpPr>
        <p:spPr>
          <a:xfrm>
            <a:off x="1152144" y="2670048"/>
            <a:ext cx="292608" cy="292608"/>
          </a:xfrm>
          <a:prstGeom prst="rect">
            <a:avLst/>
          </a:prstGeom>
          <a:solidFill>
            <a:schemeClr val="bg2"/>
          </a:solidFill>
          <a:ln w="6350">
            <a:solidFill>
              <a:schemeClr val="bg1"/>
            </a:solidFill>
            <a:prstDash val="solid"/>
          </a:ln>
        </p:spPr>
      </p:sp>
      <p:sp>
        <p:nvSpPr>
          <p:cNvPr id="20" name="Shape 17"/>
          <p:cNvSpPr/>
          <p:nvPr/>
        </p:nvSpPr>
        <p:spPr>
          <a:xfrm>
            <a:off x="1481328" y="2670048"/>
            <a:ext cx="292608" cy="292608"/>
          </a:xfrm>
          <a:prstGeom prst="rect">
            <a:avLst/>
          </a:prstGeom>
          <a:solidFill>
            <a:schemeClr val="accent1"/>
          </a:solidFill>
          <a:ln w="6350">
            <a:solidFill>
              <a:schemeClr val="bg1"/>
            </a:solidFill>
            <a:prstDash val="solid"/>
          </a:ln>
        </p:spPr>
      </p:sp>
      <p:sp>
        <p:nvSpPr>
          <p:cNvPr id="21" name="Shape 18"/>
          <p:cNvSpPr/>
          <p:nvPr/>
        </p:nvSpPr>
        <p:spPr>
          <a:xfrm>
            <a:off x="1810512" y="2670048"/>
            <a:ext cx="292608" cy="292608"/>
          </a:xfrm>
          <a:prstGeom prst="rect">
            <a:avLst/>
          </a:prstGeom>
          <a:solidFill>
            <a:schemeClr val="bg2"/>
          </a:solidFill>
          <a:ln w="6350">
            <a:solidFill>
              <a:schemeClr val="bg1"/>
            </a:solidFill>
            <a:prstDash val="solid"/>
          </a:ln>
        </p:spPr>
      </p:sp>
      <p:sp>
        <p:nvSpPr>
          <p:cNvPr id="22" name="Shape 19"/>
          <p:cNvSpPr/>
          <p:nvPr/>
        </p:nvSpPr>
        <p:spPr>
          <a:xfrm>
            <a:off x="2139696" y="2670048"/>
            <a:ext cx="292608" cy="292608"/>
          </a:xfrm>
          <a:prstGeom prst="rect">
            <a:avLst/>
          </a:prstGeom>
          <a:solidFill>
            <a:schemeClr val="bg2"/>
          </a:solidFill>
          <a:ln w="6350">
            <a:solidFill>
              <a:schemeClr val="bg1"/>
            </a:solidFill>
            <a:prstDash val="solid"/>
          </a:ln>
        </p:spPr>
      </p:sp>
      <p:sp>
        <p:nvSpPr>
          <p:cNvPr id="23" name="Shape 20"/>
          <p:cNvSpPr/>
          <p:nvPr/>
        </p:nvSpPr>
        <p:spPr>
          <a:xfrm>
            <a:off x="2468880" y="2670048"/>
            <a:ext cx="292608" cy="292608"/>
          </a:xfrm>
          <a:prstGeom prst="rect">
            <a:avLst/>
          </a:prstGeom>
          <a:solidFill>
            <a:schemeClr val="bg2"/>
          </a:solidFill>
          <a:ln w="6350">
            <a:solidFill>
              <a:schemeClr val="bg1"/>
            </a:solidFill>
            <a:prstDash val="solid"/>
          </a:ln>
        </p:spPr>
      </p:sp>
      <p:sp>
        <p:nvSpPr>
          <p:cNvPr id="24" name="Shape 21"/>
          <p:cNvSpPr/>
          <p:nvPr/>
        </p:nvSpPr>
        <p:spPr>
          <a:xfrm>
            <a:off x="822960" y="2999232"/>
            <a:ext cx="292608" cy="292608"/>
          </a:xfrm>
          <a:prstGeom prst="rect">
            <a:avLst/>
          </a:prstGeom>
          <a:solidFill>
            <a:schemeClr val="bg2"/>
          </a:solidFill>
          <a:ln w="6350">
            <a:solidFill>
              <a:schemeClr val="bg1"/>
            </a:solidFill>
            <a:prstDash val="solid"/>
          </a:ln>
        </p:spPr>
      </p:sp>
      <p:sp>
        <p:nvSpPr>
          <p:cNvPr id="25" name="Shape 22"/>
          <p:cNvSpPr/>
          <p:nvPr/>
        </p:nvSpPr>
        <p:spPr>
          <a:xfrm>
            <a:off x="1152144" y="2999232"/>
            <a:ext cx="292608" cy="292608"/>
          </a:xfrm>
          <a:prstGeom prst="rect">
            <a:avLst/>
          </a:prstGeom>
          <a:solidFill>
            <a:schemeClr val="bg2"/>
          </a:solidFill>
          <a:ln w="6350">
            <a:solidFill>
              <a:schemeClr val="bg1"/>
            </a:solidFill>
            <a:prstDash val="solid"/>
          </a:ln>
        </p:spPr>
      </p:sp>
      <p:sp>
        <p:nvSpPr>
          <p:cNvPr id="26" name="Shape 23"/>
          <p:cNvSpPr/>
          <p:nvPr/>
        </p:nvSpPr>
        <p:spPr>
          <a:xfrm>
            <a:off x="1481328" y="2999232"/>
            <a:ext cx="292608" cy="292608"/>
          </a:xfrm>
          <a:prstGeom prst="rect">
            <a:avLst/>
          </a:prstGeom>
          <a:solidFill>
            <a:schemeClr val="accent1"/>
          </a:solidFill>
          <a:ln w="6350">
            <a:solidFill>
              <a:schemeClr val="bg1"/>
            </a:solidFill>
            <a:prstDash val="solid"/>
          </a:ln>
        </p:spPr>
      </p:sp>
      <p:sp>
        <p:nvSpPr>
          <p:cNvPr id="27" name="Shape 24"/>
          <p:cNvSpPr/>
          <p:nvPr/>
        </p:nvSpPr>
        <p:spPr>
          <a:xfrm>
            <a:off x="1810512" y="2999232"/>
            <a:ext cx="292608" cy="292608"/>
          </a:xfrm>
          <a:prstGeom prst="rect">
            <a:avLst/>
          </a:prstGeom>
          <a:solidFill>
            <a:schemeClr val="bg2"/>
          </a:solidFill>
          <a:ln w="6350">
            <a:solidFill>
              <a:schemeClr val="bg1"/>
            </a:solidFill>
            <a:prstDash val="solid"/>
          </a:ln>
        </p:spPr>
      </p:sp>
      <p:sp>
        <p:nvSpPr>
          <p:cNvPr id="28" name="Shape 25"/>
          <p:cNvSpPr/>
          <p:nvPr/>
        </p:nvSpPr>
        <p:spPr>
          <a:xfrm>
            <a:off x="2139696" y="2999232"/>
            <a:ext cx="292608" cy="292608"/>
          </a:xfrm>
          <a:prstGeom prst="rect">
            <a:avLst/>
          </a:prstGeom>
          <a:solidFill>
            <a:schemeClr val="bg2"/>
          </a:solidFill>
          <a:ln w="6350">
            <a:solidFill>
              <a:schemeClr val="bg1"/>
            </a:solidFill>
            <a:prstDash val="solid"/>
          </a:ln>
        </p:spPr>
      </p:sp>
      <p:sp>
        <p:nvSpPr>
          <p:cNvPr id="29" name="Shape 26"/>
          <p:cNvSpPr/>
          <p:nvPr/>
        </p:nvSpPr>
        <p:spPr>
          <a:xfrm>
            <a:off x="2468880" y="2999232"/>
            <a:ext cx="292608" cy="292608"/>
          </a:xfrm>
          <a:prstGeom prst="rect">
            <a:avLst/>
          </a:prstGeom>
          <a:solidFill>
            <a:schemeClr val="bg2"/>
          </a:solidFill>
          <a:ln w="6350">
            <a:solidFill>
              <a:schemeClr val="bg1"/>
            </a:solidFill>
            <a:prstDash val="solid"/>
          </a:ln>
        </p:spPr>
      </p:sp>
      <p:sp>
        <p:nvSpPr>
          <p:cNvPr id="30" name="Text 27"/>
          <p:cNvSpPr txBox="1"/>
          <p:nvPr/>
        </p:nvSpPr>
        <p:spPr>
          <a:xfrm>
            <a:off x="548640" y="2468880"/>
            <a:ext cx="228600" cy="365760"/>
          </a:xfrm>
          <a:prstGeom prst="rect">
            <a:avLst/>
          </a:prstGeom>
          <a:noFill/>
          <a:ln/>
        </p:spPr>
        <p:txBody>
          <a:bodyPr wrap="square" lIns="0" tIns="0" rIns="0" bIns="0" rtlCol="0" anchor="t"/>
          <a:lstStyle/>
          <a:p>
            <a:pPr algn="l" indent="0" marL="0">
              <a:lnSpc>
                <a:spcPct val="105000"/>
              </a:lnSpc>
              <a:buNone/>
            </a:pPr>
            <a:r>
              <a:rPr lang="en-US" sz="1400" dirty="0">
                <a:solidFill>
                  <a:schemeClr val="tx2"/>
                </a:solidFill>
              </a:rPr>
              <a:t>N</a:t>
            </a:r>
            <a:endParaRPr lang="en-US" sz="1400" dirty="0"/>
          </a:p>
        </p:txBody>
      </p:sp>
      <p:sp>
        <p:nvSpPr>
          <p:cNvPr id="31" name="Text 28"/>
          <p:cNvSpPr txBox="1"/>
          <p:nvPr/>
        </p:nvSpPr>
        <p:spPr>
          <a:xfrm>
            <a:off x="822960" y="3346704"/>
            <a:ext cx="914400" cy="274320"/>
          </a:xfrm>
          <a:prstGeom prst="rect">
            <a:avLst/>
          </a:prstGeom>
          <a:noFill/>
          <a:ln/>
        </p:spPr>
        <p:txBody>
          <a:bodyPr wrap="square" lIns="0" tIns="0" rIns="0" bIns="0" rtlCol="0" anchor="t"/>
          <a:lstStyle/>
          <a:p>
            <a:pPr algn="l" indent="0" marL="0">
              <a:lnSpc>
                <a:spcPct val="105000"/>
              </a:lnSpc>
              <a:buNone/>
            </a:pPr>
            <a:r>
              <a:rPr lang="en-US" sz="1300" dirty="0">
                <a:solidFill>
                  <a:schemeClr val="tx2"/>
                </a:solidFill>
              </a:rPr>
              <a:t>C →</a:t>
            </a:r>
            <a:endParaRPr lang="en-US" sz="1300" dirty="0"/>
          </a:p>
        </p:txBody>
      </p:sp>
      <p:sp>
        <p:nvSpPr>
          <p:cNvPr id="32" name="Text 29"/>
          <p:cNvSpPr txBox="1"/>
          <p:nvPr/>
        </p:nvSpPr>
        <p:spPr>
          <a:xfrm>
            <a:off x="3383280" y="1600200"/>
            <a:ext cx="2560320" cy="320040"/>
          </a:xfrm>
          <a:prstGeom prst="rect">
            <a:avLst/>
          </a:prstGeom>
          <a:noFill/>
          <a:ln/>
        </p:spPr>
        <p:txBody>
          <a:bodyPr wrap="square" lIns="0" tIns="0" rIns="0" bIns="0" rtlCol="0" anchor="t"/>
          <a:lstStyle/>
          <a:p>
            <a:pPr algn="l" indent="0" marL="0">
              <a:lnSpc>
                <a:spcPct val="105000"/>
              </a:lnSpc>
              <a:buNone/>
            </a:pPr>
            <a:r>
              <a:rPr lang="en-US" sz="1700" b="1" dirty="0">
                <a:solidFill>
                  <a:schemeClr val="accent1"/>
                </a:solidFill>
              </a:rPr>
              <a:t>LayerNorm</a:t>
            </a:r>
            <a:endParaRPr lang="en-US" sz="1700" dirty="0"/>
          </a:p>
        </p:txBody>
      </p:sp>
      <p:sp>
        <p:nvSpPr>
          <p:cNvPr id="33" name="Shape 30"/>
          <p:cNvSpPr/>
          <p:nvPr/>
        </p:nvSpPr>
        <p:spPr>
          <a:xfrm>
            <a:off x="3657600" y="2011680"/>
            <a:ext cx="292608" cy="292608"/>
          </a:xfrm>
          <a:prstGeom prst="rect">
            <a:avLst/>
          </a:prstGeom>
          <a:solidFill>
            <a:schemeClr val="bg2"/>
          </a:solidFill>
          <a:ln w="6350">
            <a:solidFill>
              <a:schemeClr val="bg1"/>
            </a:solidFill>
            <a:prstDash val="solid"/>
          </a:ln>
        </p:spPr>
      </p:sp>
      <p:sp>
        <p:nvSpPr>
          <p:cNvPr id="34" name="Shape 31"/>
          <p:cNvSpPr/>
          <p:nvPr/>
        </p:nvSpPr>
        <p:spPr>
          <a:xfrm>
            <a:off x="3986784" y="2011680"/>
            <a:ext cx="292608" cy="292608"/>
          </a:xfrm>
          <a:prstGeom prst="rect">
            <a:avLst/>
          </a:prstGeom>
          <a:solidFill>
            <a:schemeClr val="bg2"/>
          </a:solidFill>
          <a:ln w="6350">
            <a:solidFill>
              <a:schemeClr val="bg1"/>
            </a:solidFill>
            <a:prstDash val="solid"/>
          </a:ln>
        </p:spPr>
      </p:sp>
      <p:sp>
        <p:nvSpPr>
          <p:cNvPr id="35" name="Shape 32"/>
          <p:cNvSpPr/>
          <p:nvPr/>
        </p:nvSpPr>
        <p:spPr>
          <a:xfrm>
            <a:off x="4315968" y="2011680"/>
            <a:ext cx="292608" cy="292608"/>
          </a:xfrm>
          <a:prstGeom prst="rect">
            <a:avLst/>
          </a:prstGeom>
          <a:solidFill>
            <a:schemeClr val="bg2"/>
          </a:solidFill>
          <a:ln w="6350">
            <a:solidFill>
              <a:schemeClr val="bg1"/>
            </a:solidFill>
            <a:prstDash val="solid"/>
          </a:ln>
        </p:spPr>
      </p:sp>
      <p:sp>
        <p:nvSpPr>
          <p:cNvPr id="36" name="Shape 33"/>
          <p:cNvSpPr/>
          <p:nvPr/>
        </p:nvSpPr>
        <p:spPr>
          <a:xfrm>
            <a:off x="4645152" y="2011680"/>
            <a:ext cx="292608" cy="292608"/>
          </a:xfrm>
          <a:prstGeom prst="rect">
            <a:avLst/>
          </a:prstGeom>
          <a:solidFill>
            <a:schemeClr val="bg2"/>
          </a:solidFill>
          <a:ln w="6350">
            <a:solidFill>
              <a:schemeClr val="bg1"/>
            </a:solidFill>
            <a:prstDash val="solid"/>
          </a:ln>
        </p:spPr>
      </p:sp>
      <p:sp>
        <p:nvSpPr>
          <p:cNvPr id="37" name="Shape 34"/>
          <p:cNvSpPr/>
          <p:nvPr/>
        </p:nvSpPr>
        <p:spPr>
          <a:xfrm>
            <a:off x="4974336" y="2011680"/>
            <a:ext cx="292608" cy="292608"/>
          </a:xfrm>
          <a:prstGeom prst="rect">
            <a:avLst/>
          </a:prstGeom>
          <a:solidFill>
            <a:schemeClr val="bg2"/>
          </a:solidFill>
          <a:ln w="6350">
            <a:solidFill>
              <a:schemeClr val="bg1"/>
            </a:solidFill>
            <a:prstDash val="solid"/>
          </a:ln>
        </p:spPr>
      </p:sp>
      <p:sp>
        <p:nvSpPr>
          <p:cNvPr id="38" name="Shape 35"/>
          <p:cNvSpPr/>
          <p:nvPr/>
        </p:nvSpPr>
        <p:spPr>
          <a:xfrm>
            <a:off x="5303520" y="2011680"/>
            <a:ext cx="292608" cy="292608"/>
          </a:xfrm>
          <a:prstGeom prst="rect">
            <a:avLst/>
          </a:prstGeom>
          <a:solidFill>
            <a:schemeClr val="bg2"/>
          </a:solidFill>
          <a:ln w="6350">
            <a:solidFill>
              <a:schemeClr val="bg1"/>
            </a:solidFill>
            <a:prstDash val="solid"/>
          </a:ln>
        </p:spPr>
      </p:sp>
      <p:sp>
        <p:nvSpPr>
          <p:cNvPr id="39" name="Shape 36"/>
          <p:cNvSpPr/>
          <p:nvPr/>
        </p:nvSpPr>
        <p:spPr>
          <a:xfrm>
            <a:off x="3657600" y="2340864"/>
            <a:ext cx="292608" cy="292608"/>
          </a:xfrm>
          <a:prstGeom prst="rect">
            <a:avLst/>
          </a:prstGeom>
          <a:solidFill>
            <a:schemeClr val="accent1"/>
          </a:solidFill>
          <a:ln w="6350">
            <a:solidFill>
              <a:schemeClr val="bg1"/>
            </a:solidFill>
            <a:prstDash val="solid"/>
          </a:ln>
        </p:spPr>
      </p:sp>
      <p:sp>
        <p:nvSpPr>
          <p:cNvPr id="40" name="Shape 37"/>
          <p:cNvSpPr/>
          <p:nvPr/>
        </p:nvSpPr>
        <p:spPr>
          <a:xfrm>
            <a:off x="3986784" y="2340864"/>
            <a:ext cx="292608" cy="292608"/>
          </a:xfrm>
          <a:prstGeom prst="rect">
            <a:avLst/>
          </a:prstGeom>
          <a:solidFill>
            <a:schemeClr val="accent1"/>
          </a:solidFill>
          <a:ln w="6350">
            <a:solidFill>
              <a:schemeClr val="bg1"/>
            </a:solidFill>
            <a:prstDash val="solid"/>
          </a:ln>
        </p:spPr>
      </p:sp>
      <p:sp>
        <p:nvSpPr>
          <p:cNvPr id="41" name="Shape 38"/>
          <p:cNvSpPr/>
          <p:nvPr/>
        </p:nvSpPr>
        <p:spPr>
          <a:xfrm>
            <a:off x="4315968" y="2340864"/>
            <a:ext cx="292608" cy="292608"/>
          </a:xfrm>
          <a:prstGeom prst="rect">
            <a:avLst/>
          </a:prstGeom>
          <a:solidFill>
            <a:schemeClr val="accent1"/>
          </a:solidFill>
          <a:ln w="6350">
            <a:solidFill>
              <a:schemeClr val="bg1"/>
            </a:solidFill>
            <a:prstDash val="solid"/>
          </a:ln>
        </p:spPr>
      </p:sp>
      <p:sp>
        <p:nvSpPr>
          <p:cNvPr id="42" name="Shape 39"/>
          <p:cNvSpPr/>
          <p:nvPr/>
        </p:nvSpPr>
        <p:spPr>
          <a:xfrm>
            <a:off x="4645152" y="2340864"/>
            <a:ext cx="292608" cy="292608"/>
          </a:xfrm>
          <a:prstGeom prst="rect">
            <a:avLst/>
          </a:prstGeom>
          <a:solidFill>
            <a:schemeClr val="accent1"/>
          </a:solidFill>
          <a:ln w="6350">
            <a:solidFill>
              <a:schemeClr val="bg1"/>
            </a:solidFill>
            <a:prstDash val="solid"/>
          </a:ln>
        </p:spPr>
      </p:sp>
      <p:sp>
        <p:nvSpPr>
          <p:cNvPr id="43" name="Shape 40"/>
          <p:cNvSpPr/>
          <p:nvPr/>
        </p:nvSpPr>
        <p:spPr>
          <a:xfrm>
            <a:off x="4974336" y="2340864"/>
            <a:ext cx="292608" cy="292608"/>
          </a:xfrm>
          <a:prstGeom prst="rect">
            <a:avLst/>
          </a:prstGeom>
          <a:solidFill>
            <a:schemeClr val="accent1"/>
          </a:solidFill>
          <a:ln w="6350">
            <a:solidFill>
              <a:schemeClr val="bg1"/>
            </a:solidFill>
            <a:prstDash val="solid"/>
          </a:ln>
        </p:spPr>
      </p:sp>
      <p:sp>
        <p:nvSpPr>
          <p:cNvPr id="44" name="Shape 41"/>
          <p:cNvSpPr/>
          <p:nvPr/>
        </p:nvSpPr>
        <p:spPr>
          <a:xfrm>
            <a:off x="5303520" y="2340864"/>
            <a:ext cx="292608" cy="292608"/>
          </a:xfrm>
          <a:prstGeom prst="rect">
            <a:avLst/>
          </a:prstGeom>
          <a:solidFill>
            <a:schemeClr val="accent1"/>
          </a:solidFill>
          <a:ln w="6350">
            <a:solidFill>
              <a:schemeClr val="bg1"/>
            </a:solidFill>
            <a:prstDash val="solid"/>
          </a:ln>
        </p:spPr>
      </p:sp>
      <p:sp>
        <p:nvSpPr>
          <p:cNvPr id="45" name="Shape 42"/>
          <p:cNvSpPr/>
          <p:nvPr/>
        </p:nvSpPr>
        <p:spPr>
          <a:xfrm>
            <a:off x="3657600" y="2670048"/>
            <a:ext cx="292608" cy="292608"/>
          </a:xfrm>
          <a:prstGeom prst="rect">
            <a:avLst/>
          </a:prstGeom>
          <a:solidFill>
            <a:schemeClr val="bg2"/>
          </a:solidFill>
          <a:ln w="6350">
            <a:solidFill>
              <a:schemeClr val="bg1"/>
            </a:solidFill>
            <a:prstDash val="solid"/>
          </a:ln>
        </p:spPr>
      </p:sp>
      <p:sp>
        <p:nvSpPr>
          <p:cNvPr id="46" name="Shape 43"/>
          <p:cNvSpPr/>
          <p:nvPr/>
        </p:nvSpPr>
        <p:spPr>
          <a:xfrm>
            <a:off x="3986784" y="2670048"/>
            <a:ext cx="292608" cy="292608"/>
          </a:xfrm>
          <a:prstGeom prst="rect">
            <a:avLst/>
          </a:prstGeom>
          <a:solidFill>
            <a:schemeClr val="bg2"/>
          </a:solidFill>
          <a:ln w="6350">
            <a:solidFill>
              <a:schemeClr val="bg1"/>
            </a:solidFill>
            <a:prstDash val="solid"/>
          </a:ln>
        </p:spPr>
      </p:sp>
      <p:sp>
        <p:nvSpPr>
          <p:cNvPr id="47" name="Shape 44"/>
          <p:cNvSpPr/>
          <p:nvPr/>
        </p:nvSpPr>
        <p:spPr>
          <a:xfrm>
            <a:off x="4315968" y="2670048"/>
            <a:ext cx="292608" cy="292608"/>
          </a:xfrm>
          <a:prstGeom prst="rect">
            <a:avLst/>
          </a:prstGeom>
          <a:solidFill>
            <a:schemeClr val="bg2"/>
          </a:solidFill>
          <a:ln w="6350">
            <a:solidFill>
              <a:schemeClr val="bg1"/>
            </a:solidFill>
            <a:prstDash val="solid"/>
          </a:ln>
        </p:spPr>
      </p:sp>
      <p:sp>
        <p:nvSpPr>
          <p:cNvPr id="48" name="Shape 45"/>
          <p:cNvSpPr/>
          <p:nvPr/>
        </p:nvSpPr>
        <p:spPr>
          <a:xfrm>
            <a:off x="4645152" y="2670048"/>
            <a:ext cx="292608" cy="292608"/>
          </a:xfrm>
          <a:prstGeom prst="rect">
            <a:avLst/>
          </a:prstGeom>
          <a:solidFill>
            <a:schemeClr val="bg2"/>
          </a:solidFill>
          <a:ln w="6350">
            <a:solidFill>
              <a:schemeClr val="bg1"/>
            </a:solidFill>
            <a:prstDash val="solid"/>
          </a:ln>
        </p:spPr>
      </p:sp>
      <p:sp>
        <p:nvSpPr>
          <p:cNvPr id="49" name="Shape 46"/>
          <p:cNvSpPr/>
          <p:nvPr/>
        </p:nvSpPr>
        <p:spPr>
          <a:xfrm>
            <a:off x="4974336" y="2670048"/>
            <a:ext cx="292608" cy="292608"/>
          </a:xfrm>
          <a:prstGeom prst="rect">
            <a:avLst/>
          </a:prstGeom>
          <a:solidFill>
            <a:schemeClr val="bg2"/>
          </a:solidFill>
          <a:ln w="6350">
            <a:solidFill>
              <a:schemeClr val="bg1"/>
            </a:solidFill>
            <a:prstDash val="solid"/>
          </a:ln>
        </p:spPr>
      </p:sp>
      <p:sp>
        <p:nvSpPr>
          <p:cNvPr id="50" name="Shape 47"/>
          <p:cNvSpPr/>
          <p:nvPr/>
        </p:nvSpPr>
        <p:spPr>
          <a:xfrm>
            <a:off x="5303520" y="2670048"/>
            <a:ext cx="292608" cy="292608"/>
          </a:xfrm>
          <a:prstGeom prst="rect">
            <a:avLst/>
          </a:prstGeom>
          <a:solidFill>
            <a:schemeClr val="bg2"/>
          </a:solidFill>
          <a:ln w="6350">
            <a:solidFill>
              <a:schemeClr val="bg1"/>
            </a:solidFill>
            <a:prstDash val="solid"/>
          </a:ln>
        </p:spPr>
      </p:sp>
      <p:sp>
        <p:nvSpPr>
          <p:cNvPr id="51" name="Shape 48"/>
          <p:cNvSpPr/>
          <p:nvPr/>
        </p:nvSpPr>
        <p:spPr>
          <a:xfrm>
            <a:off x="3657600" y="2999232"/>
            <a:ext cx="292608" cy="292608"/>
          </a:xfrm>
          <a:prstGeom prst="rect">
            <a:avLst/>
          </a:prstGeom>
          <a:solidFill>
            <a:schemeClr val="bg2"/>
          </a:solidFill>
          <a:ln w="6350">
            <a:solidFill>
              <a:schemeClr val="bg1"/>
            </a:solidFill>
            <a:prstDash val="solid"/>
          </a:ln>
        </p:spPr>
      </p:sp>
      <p:sp>
        <p:nvSpPr>
          <p:cNvPr id="52" name="Shape 49"/>
          <p:cNvSpPr/>
          <p:nvPr/>
        </p:nvSpPr>
        <p:spPr>
          <a:xfrm>
            <a:off x="3986784" y="2999232"/>
            <a:ext cx="292608" cy="292608"/>
          </a:xfrm>
          <a:prstGeom prst="rect">
            <a:avLst/>
          </a:prstGeom>
          <a:solidFill>
            <a:schemeClr val="bg2"/>
          </a:solidFill>
          <a:ln w="6350">
            <a:solidFill>
              <a:schemeClr val="bg1"/>
            </a:solidFill>
            <a:prstDash val="solid"/>
          </a:ln>
        </p:spPr>
      </p:sp>
      <p:sp>
        <p:nvSpPr>
          <p:cNvPr id="53" name="Shape 50"/>
          <p:cNvSpPr/>
          <p:nvPr/>
        </p:nvSpPr>
        <p:spPr>
          <a:xfrm>
            <a:off x="4315968" y="2999232"/>
            <a:ext cx="292608" cy="292608"/>
          </a:xfrm>
          <a:prstGeom prst="rect">
            <a:avLst/>
          </a:prstGeom>
          <a:solidFill>
            <a:schemeClr val="bg2"/>
          </a:solidFill>
          <a:ln w="6350">
            <a:solidFill>
              <a:schemeClr val="bg1"/>
            </a:solidFill>
            <a:prstDash val="solid"/>
          </a:ln>
        </p:spPr>
      </p:sp>
      <p:sp>
        <p:nvSpPr>
          <p:cNvPr id="54" name="Shape 51"/>
          <p:cNvSpPr/>
          <p:nvPr/>
        </p:nvSpPr>
        <p:spPr>
          <a:xfrm>
            <a:off x="4645152" y="2999232"/>
            <a:ext cx="292608" cy="292608"/>
          </a:xfrm>
          <a:prstGeom prst="rect">
            <a:avLst/>
          </a:prstGeom>
          <a:solidFill>
            <a:schemeClr val="bg2"/>
          </a:solidFill>
          <a:ln w="6350">
            <a:solidFill>
              <a:schemeClr val="bg1"/>
            </a:solidFill>
            <a:prstDash val="solid"/>
          </a:ln>
        </p:spPr>
      </p:sp>
      <p:sp>
        <p:nvSpPr>
          <p:cNvPr id="55" name="Shape 52"/>
          <p:cNvSpPr/>
          <p:nvPr/>
        </p:nvSpPr>
        <p:spPr>
          <a:xfrm>
            <a:off x="4974336" y="2999232"/>
            <a:ext cx="292608" cy="292608"/>
          </a:xfrm>
          <a:prstGeom prst="rect">
            <a:avLst/>
          </a:prstGeom>
          <a:solidFill>
            <a:schemeClr val="bg2"/>
          </a:solidFill>
          <a:ln w="6350">
            <a:solidFill>
              <a:schemeClr val="bg1"/>
            </a:solidFill>
            <a:prstDash val="solid"/>
          </a:ln>
        </p:spPr>
      </p:sp>
      <p:sp>
        <p:nvSpPr>
          <p:cNvPr id="56" name="Shape 53"/>
          <p:cNvSpPr/>
          <p:nvPr/>
        </p:nvSpPr>
        <p:spPr>
          <a:xfrm>
            <a:off x="5303520" y="2999232"/>
            <a:ext cx="292608" cy="292608"/>
          </a:xfrm>
          <a:prstGeom prst="rect">
            <a:avLst/>
          </a:prstGeom>
          <a:solidFill>
            <a:schemeClr val="bg2"/>
          </a:solidFill>
          <a:ln w="6350">
            <a:solidFill>
              <a:schemeClr val="bg1"/>
            </a:solidFill>
            <a:prstDash val="solid"/>
          </a:ln>
        </p:spPr>
      </p:sp>
      <p:sp>
        <p:nvSpPr>
          <p:cNvPr id="57" name="Text 54"/>
          <p:cNvSpPr txBox="1"/>
          <p:nvPr/>
        </p:nvSpPr>
        <p:spPr>
          <a:xfrm>
            <a:off x="3383280" y="2468880"/>
            <a:ext cx="228600" cy="365760"/>
          </a:xfrm>
          <a:prstGeom prst="rect">
            <a:avLst/>
          </a:prstGeom>
          <a:noFill/>
          <a:ln/>
        </p:spPr>
        <p:txBody>
          <a:bodyPr wrap="square" lIns="0" tIns="0" rIns="0" bIns="0" rtlCol="0" anchor="t"/>
          <a:lstStyle/>
          <a:p>
            <a:pPr algn="l" indent="0" marL="0">
              <a:lnSpc>
                <a:spcPct val="105000"/>
              </a:lnSpc>
              <a:buNone/>
            </a:pPr>
            <a:r>
              <a:rPr lang="en-US" sz="1400" dirty="0">
                <a:solidFill>
                  <a:schemeClr val="tx2"/>
                </a:solidFill>
              </a:rPr>
              <a:t>N</a:t>
            </a:r>
            <a:endParaRPr lang="en-US" sz="1400" dirty="0"/>
          </a:p>
        </p:txBody>
      </p:sp>
      <p:sp>
        <p:nvSpPr>
          <p:cNvPr id="58" name="Text 55"/>
          <p:cNvSpPr txBox="1"/>
          <p:nvPr/>
        </p:nvSpPr>
        <p:spPr>
          <a:xfrm>
            <a:off x="3657600" y="3346704"/>
            <a:ext cx="914400" cy="274320"/>
          </a:xfrm>
          <a:prstGeom prst="rect">
            <a:avLst/>
          </a:prstGeom>
          <a:noFill/>
          <a:ln/>
        </p:spPr>
        <p:txBody>
          <a:bodyPr wrap="square" lIns="0" tIns="0" rIns="0" bIns="0" rtlCol="0" anchor="t"/>
          <a:lstStyle/>
          <a:p>
            <a:pPr algn="l" indent="0" marL="0">
              <a:lnSpc>
                <a:spcPct val="105000"/>
              </a:lnSpc>
              <a:buNone/>
            </a:pPr>
            <a:r>
              <a:rPr lang="en-US" sz="1300" dirty="0">
                <a:solidFill>
                  <a:schemeClr val="tx2"/>
                </a:solidFill>
              </a:rPr>
              <a:t>C →</a:t>
            </a:r>
            <a:endParaRPr lang="en-US" sz="1300" dirty="0"/>
          </a:p>
        </p:txBody>
      </p:sp>
      <p:sp>
        <p:nvSpPr>
          <p:cNvPr id="59" name="Text 56"/>
          <p:cNvSpPr txBox="1"/>
          <p:nvPr/>
        </p:nvSpPr>
        <p:spPr>
          <a:xfrm>
            <a:off x="6217920" y="1600200"/>
            <a:ext cx="2560320" cy="320040"/>
          </a:xfrm>
          <a:prstGeom prst="rect">
            <a:avLst/>
          </a:prstGeom>
          <a:noFill/>
          <a:ln/>
        </p:spPr>
        <p:txBody>
          <a:bodyPr wrap="square" lIns="0" tIns="0" rIns="0" bIns="0" rtlCol="0" anchor="t"/>
          <a:lstStyle/>
          <a:p>
            <a:pPr algn="l" indent="0" marL="0">
              <a:lnSpc>
                <a:spcPct val="105000"/>
              </a:lnSpc>
              <a:buNone/>
            </a:pPr>
            <a:r>
              <a:rPr lang="en-US" sz="1700" b="1" dirty="0">
                <a:solidFill>
                  <a:schemeClr val="accent1"/>
                </a:solidFill>
              </a:rPr>
              <a:t>InstanceNorm</a:t>
            </a:r>
            <a:endParaRPr lang="en-US" sz="1700" dirty="0"/>
          </a:p>
        </p:txBody>
      </p:sp>
      <p:sp>
        <p:nvSpPr>
          <p:cNvPr id="60" name="Shape 57"/>
          <p:cNvSpPr/>
          <p:nvPr/>
        </p:nvSpPr>
        <p:spPr>
          <a:xfrm>
            <a:off x="6492240" y="2011680"/>
            <a:ext cx="292608" cy="292608"/>
          </a:xfrm>
          <a:prstGeom prst="rect">
            <a:avLst/>
          </a:prstGeom>
          <a:solidFill>
            <a:schemeClr val="bg2"/>
          </a:solidFill>
          <a:ln w="6350">
            <a:solidFill>
              <a:schemeClr val="bg1"/>
            </a:solidFill>
            <a:prstDash val="solid"/>
          </a:ln>
        </p:spPr>
      </p:sp>
      <p:sp>
        <p:nvSpPr>
          <p:cNvPr id="61" name="Shape 58"/>
          <p:cNvSpPr/>
          <p:nvPr/>
        </p:nvSpPr>
        <p:spPr>
          <a:xfrm>
            <a:off x="6821424" y="2011680"/>
            <a:ext cx="292608" cy="292608"/>
          </a:xfrm>
          <a:prstGeom prst="rect">
            <a:avLst/>
          </a:prstGeom>
          <a:solidFill>
            <a:schemeClr val="bg2"/>
          </a:solidFill>
          <a:ln w="6350">
            <a:solidFill>
              <a:schemeClr val="bg1"/>
            </a:solidFill>
            <a:prstDash val="solid"/>
          </a:ln>
        </p:spPr>
      </p:sp>
      <p:sp>
        <p:nvSpPr>
          <p:cNvPr id="62" name="Shape 59"/>
          <p:cNvSpPr/>
          <p:nvPr/>
        </p:nvSpPr>
        <p:spPr>
          <a:xfrm>
            <a:off x="7150608" y="2011680"/>
            <a:ext cx="292608" cy="292608"/>
          </a:xfrm>
          <a:prstGeom prst="rect">
            <a:avLst/>
          </a:prstGeom>
          <a:solidFill>
            <a:schemeClr val="bg2"/>
          </a:solidFill>
          <a:ln w="6350">
            <a:solidFill>
              <a:schemeClr val="bg1"/>
            </a:solidFill>
            <a:prstDash val="solid"/>
          </a:ln>
        </p:spPr>
      </p:sp>
      <p:sp>
        <p:nvSpPr>
          <p:cNvPr id="63" name="Shape 60"/>
          <p:cNvSpPr/>
          <p:nvPr/>
        </p:nvSpPr>
        <p:spPr>
          <a:xfrm>
            <a:off x="7479792" y="2011680"/>
            <a:ext cx="292608" cy="292608"/>
          </a:xfrm>
          <a:prstGeom prst="rect">
            <a:avLst/>
          </a:prstGeom>
          <a:solidFill>
            <a:schemeClr val="bg2"/>
          </a:solidFill>
          <a:ln w="6350">
            <a:solidFill>
              <a:schemeClr val="bg1"/>
            </a:solidFill>
            <a:prstDash val="solid"/>
          </a:ln>
        </p:spPr>
      </p:sp>
      <p:sp>
        <p:nvSpPr>
          <p:cNvPr id="64" name="Shape 61"/>
          <p:cNvSpPr/>
          <p:nvPr/>
        </p:nvSpPr>
        <p:spPr>
          <a:xfrm>
            <a:off x="7808976" y="2011680"/>
            <a:ext cx="292608" cy="292608"/>
          </a:xfrm>
          <a:prstGeom prst="rect">
            <a:avLst/>
          </a:prstGeom>
          <a:solidFill>
            <a:schemeClr val="bg2"/>
          </a:solidFill>
          <a:ln w="6350">
            <a:solidFill>
              <a:schemeClr val="bg1"/>
            </a:solidFill>
            <a:prstDash val="solid"/>
          </a:ln>
        </p:spPr>
      </p:sp>
      <p:sp>
        <p:nvSpPr>
          <p:cNvPr id="65" name="Shape 62"/>
          <p:cNvSpPr/>
          <p:nvPr/>
        </p:nvSpPr>
        <p:spPr>
          <a:xfrm>
            <a:off x="8138160" y="2011680"/>
            <a:ext cx="292608" cy="292608"/>
          </a:xfrm>
          <a:prstGeom prst="rect">
            <a:avLst/>
          </a:prstGeom>
          <a:solidFill>
            <a:schemeClr val="bg2"/>
          </a:solidFill>
          <a:ln w="6350">
            <a:solidFill>
              <a:schemeClr val="bg1"/>
            </a:solidFill>
            <a:prstDash val="solid"/>
          </a:ln>
        </p:spPr>
      </p:sp>
      <p:sp>
        <p:nvSpPr>
          <p:cNvPr id="66" name="Shape 63"/>
          <p:cNvSpPr/>
          <p:nvPr/>
        </p:nvSpPr>
        <p:spPr>
          <a:xfrm>
            <a:off x="6492240" y="2340864"/>
            <a:ext cx="292608" cy="292608"/>
          </a:xfrm>
          <a:prstGeom prst="rect">
            <a:avLst/>
          </a:prstGeom>
          <a:solidFill>
            <a:schemeClr val="bg2"/>
          </a:solidFill>
          <a:ln w="6350">
            <a:solidFill>
              <a:schemeClr val="bg1"/>
            </a:solidFill>
            <a:prstDash val="solid"/>
          </a:ln>
        </p:spPr>
      </p:sp>
      <p:sp>
        <p:nvSpPr>
          <p:cNvPr id="67" name="Shape 64"/>
          <p:cNvSpPr/>
          <p:nvPr/>
        </p:nvSpPr>
        <p:spPr>
          <a:xfrm>
            <a:off x="6821424" y="2340864"/>
            <a:ext cx="292608" cy="292608"/>
          </a:xfrm>
          <a:prstGeom prst="rect">
            <a:avLst/>
          </a:prstGeom>
          <a:solidFill>
            <a:schemeClr val="bg2"/>
          </a:solidFill>
          <a:ln w="6350">
            <a:solidFill>
              <a:schemeClr val="bg1"/>
            </a:solidFill>
            <a:prstDash val="solid"/>
          </a:ln>
        </p:spPr>
      </p:sp>
      <p:sp>
        <p:nvSpPr>
          <p:cNvPr id="68" name="Shape 65"/>
          <p:cNvSpPr/>
          <p:nvPr/>
        </p:nvSpPr>
        <p:spPr>
          <a:xfrm>
            <a:off x="7150608" y="2340864"/>
            <a:ext cx="292608" cy="292608"/>
          </a:xfrm>
          <a:prstGeom prst="rect">
            <a:avLst/>
          </a:prstGeom>
          <a:solidFill>
            <a:schemeClr val="accent1"/>
          </a:solidFill>
          <a:ln w="6350">
            <a:solidFill>
              <a:schemeClr val="bg1"/>
            </a:solidFill>
            <a:prstDash val="solid"/>
          </a:ln>
        </p:spPr>
      </p:sp>
      <p:sp>
        <p:nvSpPr>
          <p:cNvPr id="69" name="Shape 66"/>
          <p:cNvSpPr/>
          <p:nvPr/>
        </p:nvSpPr>
        <p:spPr>
          <a:xfrm>
            <a:off x="7479792" y="2340864"/>
            <a:ext cx="292608" cy="292608"/>
          </a:xfrm>
          <a:prstGeom prst="rect">
            <a:avLst/>
          </a:prstGeom>
          <a:solidFill>
            <a:schemeClr val="bg2"/>
          </a:solidFill>
          <a:ln w="6350">
            <a:solidFill>
              <a:schemeClr val="bg1"/>
            </a:solidFill>
            <a:prstDash val="solid"/>
          </a:ln>
        </p:spPr>
      </p:sp>
      <p:sp>
        <p:nvSpPr>
          <p:cNvPr id="70" name="Shape 67"/>
          <p:cNvSpPr/>
          <p:nvPr/>
        </p:nvSpPr>
        <p:spPr>
          <a:xfrm>
            <a:off x="7808976" y="2340864"/>
            <a:ext cx="292608" cy="292608"/>
          </a:xfrm>
          <a:prstGeom prst="rect">
            <a:avLst/>
          </a:prstGeom>
          <a:solidFill>
            <a:schemeClr val="bg2"/>
          </a:solidFill>
          <a:ln w="6350">
            <a:solidFill>
              <a:schemeClr val="bg1"/>
            </a:solidFill>
            <a:prstDash val="solid"/>
          </a:ln>
        </p:spPr>
      </p:sp>
      <p:sp>
        <p:nvSpPr>
          <p:cNvPr id="71" name="Shape 68"/>
          <p:cNvSpPr/>
          <p:nvPr/>
        </p:nvSpPr>
        <p:spPr>
          <a:xfrm>
            <a:off x="8138160" y="2340864"/>
            <a:ext cx="292608" cy="292608"/>
          </a:xfrm>
          <a:prstGeom prst="rect">
            <a:avLst/>
          </a:prstGeom>
          <a:solidFill>
            <a:schemeClr val="bg2"/>
          </a:solidFill>
          <a:ln w="6350">
            <a:solidFill>
              <a:schemeClr val="bg1"/>
            </a:solidFill>
            <a:prstDash val="solid"/>
          </a:ln>
        </p:spPr>
      </p:sp>
      <p:sp>
        <p:nvSpPr>
          <p:cNvPr id="72" name="Shape 69"/>
          <p:cNvSpPr/>
          <p:nvPr/>
        </p:nvSpPr>
        <p:spPr>
          <a:xfrm>
            <a:off x="6492240" y="2670048"/>
            <a:ext cx="292608" cy="292608"/>
          </a:xfrm>
          <a:prstGeom prst="rect">
            <a:avLst/>
          </a:prstGeom>
          <a:solidFill>
            <a:schemeClr val="bg2"/>
          </a:solidFill>
          <a:ln w="6350">
            <a:solidFill>
              <a:schemeClr val="bg1"/>
            </a:solidFill>
            <a:prstDash val="solid"/>
          </a:ln>
        </p:spPr>
      </p:sp>
      <p:sp>
        <p:nvSpPr>
          <p:cNvPr id="73" name="Shape 70"/>
          <p:cNvSpPr/>
          <p:nvPr/>
        </p:nvSpPr>
        <p:spPr>
          <a:xfrm>
            <a:off x="6821424" y="2670048"/>
            <a:ext cx="292608" cy="292608"/>
          </a:xfrm>
          <a:prstGeom prst="rect">
            <a:avLst/>
          </a:prstGeom>
          <a:solidFill>
            <a:schemeClr val="bg2"/>
          </a:solidFill>
          <a:ln w="6350">
            <a:solidFill>
              <a:schemeClr val="bg1"/>
            </a:solidFill>
            <a:prstDash val="solid"/>
          </a:ln>
        </p:spPr>
      </p:sp>
      <p:sp>
        <p:nvSpPr>
          <p:cNvPr id="74" name="Shape 71"/>
          <p:cNvSpPr/>
          <p:nvPr/>
        </p:nvSpPr>
        <p:spPr>
          <a:xfrm>
            <a:off x="7150608" y="2670048"/>
            <a:ext cx="292608" cy="292608"/>
          </a:xfrm>
          <a:prstGeom prst="rect">
            <a:avLst/>
          </a:prstGeom>
          <a:solidFill>
            <a:schemeClr val="bg2"/>
          </a:solidFill>
          <a:ln w="6350">
            <a:solidFill>
              <a:schemeClr val="bg1"/>
            </a:solidFill>
            <a:prstDash val="solid"/>
          </a:ln>
        </p:spPr>
      </p:sp>
      <p:sp>
        <p:nvSpPr>
          <p:cNvPr id="75" name="Shape 72"/>
          <p:cNvSpPr/>
          <p:nvPr/>
        </p:nvSpPr>
        <p:spPr>
          <a:xfrm>
            <a:off x="7479792" y="2670048"/>
            <a:ext cx="292608" cy="292608"/>
          </a:xfrm>
          <a:prstGeom prst="rect">
            <a:avLst/>
          </a:prstGeom>
          <a:solidFill>
            <a:schemeClr val="bg2"/>
          </a:solidFill>
          <a:ln w="6350">
            <a:solidFill>
              <a:schemeClr val="bg1"/>
            </a:solidFill>
            <a:prstDash val="solid"/>
          </a:ln>
        </p:spPr>
      </p:sp>
      <p:sp>
        <p:nvSpPr>
          <p:cNvPr id="76" name="Shape 73"/>
          <p:cNvSpPr/>
          <p:nvPr/>
        </p:nvSpPr>
        <p:spPr>
          <a:xfrm>
            <a:off x="7808976" y="2670048"/>
            <a:ext cx="292608" cy="292608"/>
          </a:xfrm>
          <a:prstGeom prst="rect">
            <a:avLst/>
          </a:prstGeom>
          <a:solidFill>
            <a:schemeClr val="bg2"/>
          </a:solidFill>
          <a:ln w="6350">
            <a:solidFill>
              <a:schemeClr val="bg1"/>
            </a:solidFill>
            <a:prstDash val="solid"/>
          </a:ln>
        </p:spPr>
      </p:sp>
      <p:sp>
        <p:nvSpPr>
          <p:cNvPr id="77" name="Shape 74"/>
          <p:cNvSpPr/>
          <p:nvPr/>
        </p:nvSpPr>
        <p:spPr>
          <a:xfrm>
            <a:off x="8138160" y="2670048"/>
            <a:ext cx="292608" cy="292608"/>
          </a:xfrm>
          <a:prstGeom prst="rect">
            <a:avLst/>
          </a:prstGeom>
          <a:solidFill>
            <a:schemeClr val="bg2"/>
          </a:solidFill>
          <a:ln w="6350">
            <a:solidFill>
              <a:schemeClr val="bg1"/>
            </a:solidFill>
            <a:prstDash val="solid"/>
          </a:ln>
        </p:spPr>
      </p:sp>
      <p:sp>
        <p:nvSpPr>
          <p:cNvPr id="78" name="Shape 75"/>
          <p:cNvSpPr/>
          <p:nvPr/>
        </p:nvSpPr>
        <p:spPr>
          <a:xfrm>
            <a:off x="6492240" y="2999232"/>
            <a:ext cx="292608" cy="292608"/>
          </a:xfrm>
          <a:prstGeom prst="rect">
            <a:avLst/>
          </a:prstGeom>
          <a:solidFill>
            <a:schemeClr val="bg2"/>
          </a:solidFill>
          <a:ln w="6350">
            <a:solidFill>
              <a:schemeClr val="bg1"/>
            </a:solidFill>
            <a:prstDash val="solid"/>
          </a:ln>
        </p:spPr>
      </p:sp>
      <p:sp>
        <p:nvSpPr>
          <p:cNvPr id="79" name="Shape 76"/>
          <p:cNvSpPr/>
          <p:nvPr/>
        </p:nvSpPr>
        <p:spPr>
          <a:xfrm>
            <a:off x="6821424" y="2999232"/>
            <a:ext cx="292608" cy="292608"/>
          </a:xfrm>
          <a:prstGeom prst="rect">
            <a:avLst/>
          </a:prstGeom>
          <a:solidFill>
            <a:schemeClr val="bg2"/>
          </a:solidFill>
          <a:ln w="6350">
            <a:solidFill>
              <a:schemeClr val="bg1"/>
            </a:solidFill>
            <a:prstDash val="solid"/>
          </a:ln>
        </p:spPr>
      </p:sp>
      <p:sp>
        <p:nvSpPr>
          <p:cNvPr id="80" name="Shape 77"/>
          <p:cNvSpPr/>
          <p:nvPr/>
        </p:nvSpPr>
        <p:spPr>
          <a:xfrm>
            <a:off x="7150608" y="2999232"/>
            <a:ext cx="292608" cy="292608"/>
          </a:xfrm>
          <a:prstGeom prst="rect">
            <a:avLst/>
          </a:prstGeom>
          <a:solidFill>
            <a:schemeClr val="bg2"/>
          </a:solidFill>
          <a:ln w="6350">
            <a:solidFill>
              <a:schemeClr val="bg1"/>
            </a:solidFill>
            <a:prstDash val="solid"/>
          </a:ln>
        </p:spPr>
      </p:sp>
      <p:sp>
        <p:nvSpPr>
          <p:cNvPr id="81" name="Shape 78"/>
          <p:cNvSpPr/>
          <p:nvPr/>
        </p:nvSpPr>
        <p:spPr>
          <a:xfrm>
            <a:off x="7479792" y="2999232"/>
            <a:ext cx="292608" cy="292608"/>
          </a:xfrm>
          <a:prstGeom prst="rect">
            <a:avLst/>
          </a:prstGeom>
          <a:solidFill>
            <a:schemeClr val="bg2"/>
          </a:solidFill>
          <a:ln w="6350">
            <a:solidFill>
              <a:schemeClr val="bg1"/>
            </a:solidFill>
            <a:prstDash val="solid"/>
          </a:ln>
        </p:spPr>
      </p:sp>
      <p:sp>
        <p:nvSpPr>
          <p:cNvPr id="82" name="Shape 79"/>
          <p:cNvSpPr/>
          <p:nvPr/>
        </p:nvSpPr>
        <p:spPr>
          <a:xfrm>
            <a:off x="7808976" y="2999232"/>
            <a:ext cx="292608" cy="292608"/>
          </a:xfrm>
          <a:prstGeom prst="rect">
            <a:avLst/>
          </a:prstGeom>
          <a:solidFill>
            <a:schemeClr val="bg2"/>
          </a:solidFill>
          <a:ln w="6350">
            <a:solidFill>
              <a:schemeClr val="bg1"/>
            </a:solidFill>
            <a:prstDash val="solid"/>
          </a:ln>
        </p:spPr>
      </p:sp>
      <p:sp>
        <p:nvSpPr>
          <p:cNvPr id="83" name="Shape 80"/>
          <p:cNvSpPr/>
          <p:nvPr/>
        </p:nvSpPr>
        <p:spPr>
          <a:xfrm>
            <a:off x="8138160" y="2999232"/>
            <a:ext cx="292608" cy="292608"/>
          </a:xfrm>
          <a:prstGeom prst="rect">
            <a:avLst/>
          </a:prstGeom>
          <a:solidFill>
            <a:schemeClr val="bg2"/>
          </a:solidFill>
          <a:ln w="6350">
            <a:solidFill>
              <a:schemeClr val="bg1"/>
            </a:solidFill>
            <a:prstDash val="solid"/>
          </a:ln>
        </p:spPr>
      </p:sp>
      <p:sp>
        <p:nvSpPr>
          <p:cNvPr id="84" name="Text 81"/>
          <p:cNvSpPr txBox="1"/>
          <p:nvPr/>
        </p:nvSpPr>
        <p:spPr>
          <a:xfrm>
            <a:off x="6217920" y="2468880"/>
            <a:ext cx="228600" cy="365760"/>
          </a:xfrm>
          <a:prstGeom prst="rect">
            <a:avLst/>
          </a:prstGeom>
          <a:noFill/>
          <a:ln/>
        </p:spPr>
        <p:txBody>
          <a:bodyPr wrap="square" lIns="0" tIns="0" rIns="0" bIns="0" rtlCol="0" anchor="t"/>
          <a:lstStyle/>
          <a:p>
            <a:pPr algn="l" indent="0" marL="0">
              <a:lnSpc>
                <a:spcPct val="105000"/>
              </a:lnSpc>
              <a:buNone/>
            </a:pPr>
            <a:r>
              <a:rPr lang="en-US" sz="1400" dirty="0">
                <a:solidFill>
                  <a:schemeClr val="tx2"/>
                </a:solidFill>
              </a:rPr>
              <a:t>N</a:t>
            </a:r>
            <a:endParaRPr lang="en-US" sz="1400" dirty="0"/>
          </a:p>
        </p:txBody>
      </p:sp>
      <p:sp>
        <p:nvSpPr>
          <p:cNvPr id="85" name="Text 82"/>
          <p:cNvSpPr txBox="1"/>
          <p:nvPr/>
        </p:nvSpPr>
        <p:spPr>
          <a:xfrm>
            <a:off x="6492240" y="3346704"/>
            <a:ext cx="914400" cy="274320"/>
          </a:xfrm>
          <a:prstGeom prst="rect">
            <a:avLst/>
          </a:prstGeom>
          <a:noFill/>
          <a:ln/>
        </p:spPr>
        <p:txBody>
          <a:bodyPr wrap="square" lIns="0" tIns="0" rIns="0" bIns="0" rtlCol="0" anchor="t"/>
          <a:lstStyle/>
          <a:p>
            <a:pPr algn="l" indent="0" marL="0">
              <a:lnSpc>
                <a:spcPct val="105000"/>
              </a:lnSpc>
              <a:buNone/>
            </a:pPr>
            <a:r>
              <a:rPr lang="en-US" sz="1300" dirty="0">
                <a:solidFill>
                  <a:schemeClr val="tx2"/>
                </a:solidFill>
              </a:rPr>
              <a:t>C →</a:t>
            </a:r>
            <a:endParaRPr lang="en-US" sz="1300" dirty="0"/>
          </a:p>
        </p:txBody>
      </p:sp>
      <p:sp>
        <p:nvSpPr>
          <p:cNvPr id="86" name="Text 83"/>
          <p:cNvSpPr txBox="1"/>
          <p:nvPr/>
        </p:nvSpPr>
        <p:spPr>
          <a:xfrm>
            <a:off x="9052560" y="1600200"/>
            <a:ext cx="2560320" cy="320040"/>
          </a:xfrm>
          <a:prstGeom prst="rect">
            <a:avLst/>
          </a:prstGeom>
          <a:noFill/>
          <a:ln/>
        </p:spPr>
        <p:txBody>
          <a:bodyPr wrap="square" lIns="0" tIns="0" rIns="0" bIns="0" rtlCol="0" anchor="t"/>
          <a:lstStyle/>
          <a:p>
            <a:pPr algn="l" indent="0" marL="0">
              <a:lnSpc>
                <a:spcPct val="105000"/>
              </a:lnSpc>
              <a:buNone/>
            </a:pPr>
            <a:r>
              <a:rPr lang="en-US" sz="1700" b="1" dirty="0">
                <a:solidFill>
                  <a:schemeClr val="accent1"/>
                </a:solidFill>
              </a:rPr>
              <a:t>GroupNorm</a:t>
            </a:r>
            <a:endParaRPr lang="en-US" sz="1700" dirty="0"/>
          </a:p>
        </p:txBody>
      </p:sp>
      <p:sp>
        <p:nvSpPr>
          <p:cNvPr id="87" name="Shape 84"/>
          <p:cNvSpPr/>
          <p:nvPr/>
        </p:nvSpPr>
        <p:spPr>
          <a:xfrm>
            <a:off x="9326880" y="2011680"/>
            <a:ext cx="292608" cy="292608"/>
          </a:xfrm>
          <a:prstGeom prst="rect">
            <a:avLst/>
          </a:prstGeom>
          <a:solidFill>
            <a:schemeClr val="bg2"/>
          </a:solidFill>
          <a:ln w="6350">
            <a:solidFill>
              <a:schemeClr val="bg1"/>
            </a:solidFill>
            <a:prstDash val="solid"/>
          </a:ln>
        </p:spPr>
      </p:sp>
      <p:sp>
        <p:nvSpPr>
          <p:cNvPr id="88" name="Shape 85"/>
          <p:cNvSpPr/>
          <p:nvPr/>
        </p:nvSpPr>
        <p:spPr>
          <a:xfrm>
            <a:off x="9656064" y="2011680"/>
            <a:ext cx="292608" cy="292608"/>
          </a:xfrm>
          <a:prstGeom prst="rect">
            <a:avLst/>
          </a:prstGeom>
          <a:solidFill>
            <a:schemeClr val="bg2"/>
          </a:solidFill>
          <a:ln w="6350">
            <a:solidFill>
              <a:schemeClr val="bg1"/>
            </a:solidFill>
            <a:prstDash val="solid"/>
          </a:ln>
        </p:spPr>
      </p:sp>
      <p:sp>
        <p:nvSpPr>
          <p:cNvPr id="89" name="Shape 86"/>
          <p:cNvSpPr/>
          <p:nvPr/>
        </p:nvSpPr>
        <p:spPr>
          <a:xfrm>
            <a:off x="9985248" y="2011680"/>
            <a:ext cx="292608" cy="292608"/>
          </a:xfrm>
          <a:prstGeom prst="rect">
            <a:avLst/>
          </a:prstGeom>
          <a:solidFill>
            <a:schemeClr val="bg2"/>
          </a:solidFill>
          <a:ln w="6350">
            <a:solidFill>
              <a:schemeClr val="bg1"/>
            </a:solidFill>
            <a:prstDash val="solid"/>
          </a:ln>
        </p:spPr>
      </p:sp>
      <p:sp>
        <p:nvSpPr>
          <p:cNvPr id="90" name="Shape 87"/>
          <p:cNvSpPr/>
          <p:nvPr/>
        </p:nvSpPr>
        <p:spPr>
          <a:xfrm>
            <a:off x="10314432" y="2011680"/>
            <a:ext cx="292608" cy="292608"/>
          </a:xfrm>
          <a:prstGeom prst="rect">
            <a:avLst/>
          </a:prstGeom>
          <a:solidFill>
            <a:schemeClr val="bg2"/>
          </a:solidFill>
          <a:ln w="6350">
            <a:solidFill>
              <a:schemeClr val="bg1"/>
            </a:solidFill>
            <a:prstDash val="solid"/>
          </a:ln>
        </p:spPr>
      </p:sp>
      <p:sp>
        <p:nvSpPr>
          <p:cNvPr id="91" name="Shape 88"/>
          <p:cNvSpPr/>
          <p:nvPr/>
        </p:nvSpPr>
        <p:spPr>
          <a:xfrm>
            <a:off x="10643616" y="2011680"/>
            <a:ext cx="292608" cy="292608"/>
          </a:xfrm>
          <a:prstGeom prst="rect">
            <a:avLst/>
          </a:prstGeom>
          <a:solidFill>
            <a:schemeClr val="bg2"/>
          </a:solidFill>
          <a:ln w="6350">
            <a:solidFill>
              <a:schemeClr val="bg1"/>
            </a:solidFill>
            <a:prstDash val="solid"/>
          </a:ln>
        </p:spPr>
      </p:sp>
      <p:sp>
        <p:nvSpPr>
          <p:cNvPr id="92" name="Shape 89"/>
          <p:cNvSpPr/>
          <p:nvPr/>
        </p:nvSpPr>
        <p:spPr>
          <a:xfrm>
            <a:off x="10972800" y="2011680"/>
            <a:ext cx="292608" cy="292608"/>
          </a:xfrm>
          <a:prstGeom prst="rect">
            <a:avLst/>
          </a:prstGeom>
          <a:solidFill>
            <a:schemeClr val="bg2"/>
          </a:solidFill>
          <a:ln w="6350">
            <a:solidFill>
              <a:schemeClr val="bg1"/>
            </a:solidFill>
            <a:prstDash val="solid"/>
          </a:ln>
        </p:spPr>
      </p:sp>
      <p:sp>
        <p:nvSpPr>
          <p:cNvPr id="93" name="Shape 90"/>
          <p:cNvSpPr/>
          <p:nvPr/>
        </p:nvSpPr>
        <p:spPr>
          <a:xfrm>
            <a:off x="9326880" y="2340864"/>
            <a:ext cx="292608" cy="292608"/>
          </a:xfrm>
          <a:prstGeom prst="rect">
            <a:avLst/>
          </a:prstGeom>
          <a:solidFill>
            <a:schemeClr val="bg2"/>
          </a:solidFill>
          <a:ln w="6350">
            <a:solidFill>
              <a:schemeClr val="bg1"/>
            </a:solidFill>
            <a:prstDash val="solid"/>
          </a:ln>
        </p:spPr>
      </p:sp>
      <p:sp>
        <p:nvSpPr>
          <p:cNvPr id="94" name="Shape 91"/>
          <p:cNvSpPr/>
          <p:nvPr/>
        </p:nvSpPr>
        <p:spPr>
          <a:xfrm>
            <a:off x="9656064" y="2340864"/>
            <a:ext cx="292608" cy="292608"/>
          </a:xfrm>
          <a:prstGeom prst="rect">
            <a:avLst/>
          </a:prstGeom>
          <a:solidFill>
            <a:schemeClr val="bg2"/>
          </a:solidFill>
          <a:ln w="6350">
            <a:solidFill>
              <a:schemeClr val="bg1"/>
            </a:solidFill>
            <a:prstDash val="solid"/>
          </a:ln>
        </p:spPr>
      </p:sp>
      <p:sp>
        <p:nvSpPr>
          <p:cNvPr id="95" name="Shape 92"/>
          <p:cNvSpPr/>
          <p:nvPr/>
        </p:nvSpPr>
        <p:spPr>
          <a:xfrm>
            <a:off x="9985248" y="2340864"/>
            <a:ext cx="292608" cy="292608"/>
          </a:xfrm>
          <a:prstGeom prst="rect">
            <a:avLst/>
          </a:prstGeom>
          <a:solidFill>
            <a:schemeClr val="accent1"/>
          </a:solidFill>
          <a:ln w="6350">
            <a:solidFill>
              <a:schemeClr val="bg1"/>
            </a:solidFill>
            <a:prstDash val="solid"/>
          </a:ln>
        </p:spPr>
      </p:sp>
      <p:sp>
        <p:nvSpPr>
          <p:cNvPr id="96" name="Shape 93"/>
          <p:cNvSpPr/>
          <p:nvPr/>
        </p:nvSpPr>
        <p:spPr>
          <a:xfrm>
            <a:off x="10314432" y="2340864"/>
            <a:ext cx="292608" cy="292608"/>
          </a:xfrm>
          <a:prstGeom prst="rect">
            <a:avLst/>
          </a:prstGeom>
          <a:solidFill>
            <a:schemeClr val="accent1"/>
          </a:solidFill>
          <a:ln w="6350">
            <a:solidFill>
              <a:schemeClr val="bg1"/>
            </a:solidFill>
            <a:prstDash val="solid"/>
          </a:ln>
        </p:spPr>
      </p:sp>
      <p:sp>
        <p:nvSpPr>
          <p:cNvPr id="97" name="Shape 94"/>
          <p:cNvSpPr/>
          <p:nvPr/>
        </p:nvSpPr>
        <p:spPr>
          <a:xfrm>
            <a:off x="10643616" y="2340864"/>
            <a:ext cx="292608" cy="292608"/>
          </a:xfrm>
          <a:prstGeom prst="rect">
            <a:avLst/>
          </a:prstGeom>
          <a:solidFill>
            <a:schemeClr val="accent1"/>
          </a:solidFill>
          <a:ln w="6350">
            <a:solidFill>
              <a:schemeClr val="bg1"/>
            </a:solidFill>
            <a:prstDash val="solid"/>
          </a:ln>
        </p:spPr>
      </p:sp>
      <p:sp>
        <p:nvSpPr>
          <p:cNvPr id="98" name="Shape 95"/>
          <p:cNvSpPr/>
          <p:nvPr/>
        </p:nvSpPr>
        <p:spPr>
          <a:xfrm>
            <a:off x="10972800" y="2340864"/>
            <a:ext cx="292608" cy="292608"/>
          </a:xfrm>
          <a:prstGeom prst="rect">
            <a:avLst/>
          </a:prstGeom>
          <a:solidFill>
            <a:schemeClr val="bg2"/>
          </a:solidFill>
          <a:ln w="6350">
            <a:solidFill>
              <a:schemeClr val="bg1"/>
            </a:solidFill>
            <a:prstDash val="solid"/>
          </a:ln>
        </p:spPr>
      </p:sp>
      <p:sp>
        <p:nvSpPr>
          <p:cNvPr id="99" name="Shape 96"/>
          <p:cNvSpPr/>
          <p:nvPr/>
        </p:nvSpPr>
        <p:spPr>
          <a:xfrm>
            <a:off x="9326880" y="2670048"/>
            <a:ext cx="292608" cy="292608"/>
          </a:xfrm>
          <a:prstGeom prst="rect">
            <a:avLst/>
          </a:prstGeom>
          <a:solidFill>
            <a:schemeClr val="bg2"/>
          </a:solidFill>
          <a:ln w="6350">
            <a:solidFill>
              <a:schemeClr val="bg1"/>
            </a:solidFill>
            <a:prstDash val="solid"/>
          </a:ln>
        </p:spPr>
      </p:sp>
      <p:sp>
        <p:nvSpPr>
          <p:cNvPr id="100" name="Shape 97"/>
          <p:cNvSpPr/>
          <p:nvPr/>
        </p:nvSpPr>
        <p:spPr>
          <a:xfrm>
            <a:off x="9656064" y="2670048"/>
            <a:ext cx="292608" cy="292608"/>
          </a:xfrm>
          <a:prstGeom prst="rect">
            <a:avLst/>
          </a:prstGeom>
          <a:solidFill>
            <a:schemeClr val="bg2"/>
          </a:solidFill>
          <a:ln w="6350">
            <a:solidFill>
              <a:schemeClr val="bg1"/>
            </a:solidFill>
            <a:prstDash val="solid"/>
          </a:ln>
        </p:spPr>
      </p:sp>
      <p:sp>
        <p:nvSpPr>
          <p:cNvPr id="101" name="Shape 98"/>
          <p:cNvSpPr/>
          <p:nvPr/>
        </p:nvSpPr>
        <p:spPr>
          <a:xfrm>
            <a:off x="9985248" y="2670048"/>
            <a:ext cx="292608" cy="292608"/>
          </a:xfrm>
          <a:prstGeom prst="rect">
            <a:avLst/>
          </a:prstGeom>
          <a:solidFill>
            <a:schemeClr val="bg2"/>
          </a:solidFill>
          <a:ln w="6350">
            <a:solidFill>
              <a:schemeClr val="bg1"/>
            </a:solidFill>
            <a:prstDash val="solid"/>
          </a:ln>
        </p:spPr>
      </p:sp>
      <p:sp>
        <p:nvSpPr>
          <p:cNvPr id="102" name="Shape 99"/>
          <p:cNvSpPr/>
          <p:nvPr/>
        </p:nvSpPr>
        <p:spPr>
          <a:xfrm>
            <a:off x="10314432" y="2670048"/>
            <a:ext cx="292608" cy="292608"/>
          </a:xfrm>
          <a:prstGeom prst="rect">
            <a:avLst/>
          </a:prstGeom>
          <a:solidFill>
            <a:schemeClr val="bg2"/>
          </a:solidFill>
          <a:ln w="6350">
            <a:solidFill>
              <a:schemeClr val="bg1"/>
            </a:solidFill>
            <a:prstDash val="solid"/>
          </a:ln>
        </p:spPr>
      </p:sp>
      <p:sp>
        <p:nvSpPr>
          <p:cNvPr id="103" name="Shape 100"/>
          <p:cNvSpPr/>
          <p:nvPr/>
        </p:nvSpPr>
        <p:spPr>
          <a:xfrm>
            <a:off x="10643616" y="2670048"/>
            <a:ext cx="292608" cy="292608"/>
          </a:xfrm>
          <a:prstGeom prst="rect">
            <a:avLst/>
          </a:prstGeom>
          <a:solidFill>
            <a:schemeClr val="bg2"/>
          </a:solidFill>
          <a:ln w="6350">
            <a:solidFill>
              <a:schemeClr val="bg1"/>
            </a:solidFill>
            <a:prstDash val="solid"/>
          </a:ln>
        </p:spPr>
      </p:sp>
      <p:sp>
        <p:nvSpPr>
          <p:cNvPr id="104" name="Shape 101"/>
          <p:cNvSpPr/>
          <p:nvPr/>
        </p:nvSpPr>
        <p:spPr>
          <a:xfrm>
            <a:off x="10972800" y="2670048"/>
            <a:ext cx="292608" cy="292608"/>
          </a:xfrm>
          <a:prstGeom prst="rect">
            <a:avLst/>
          </a:prstGeom>
          <a:solidFill>
            <a:schemeClr val="bg2"/>
          </a:solidFill>
          <a:ln w="6350">
            <a:solidFill>
              <a:schemeClr val="bg1"/>
            </a:solidFill>
            <a:prstDash val="solid"/>
          </a:ln>
        </p:spPr>
      </p:sp>
      <p:sp>
        <p:nvSpPr>
          <p:cNvPr id="105" name="Shape 102"/>
          <p:cNvSpPr/>
          <p:nvPr/>
        </p:nvSpPr>
        <p:spPr>
          <a:xfrm>
            <a:off x="9326880" y="2999232"/>
            <a:ext cx="292608" cy="292608"/>
          </a:xfrm>
          <a:prstGeom prst="rect">
            <a:avLst/>
          </a:prstGeom>
          <a:solidFill>
            <a:schemeClr val="bg2"/>
          </a:solidFill>
          <a:ln w="6350">
            <a:solidFill>
              <a:schemeClr val="bg1"/>
            </a:solidFill>
            <a:prstDash val="solid"/>
          </a:ln>
        </p:spPr>
      </p:sp>
      <p:sp>
        <p:nvSpPr>
          <p:cNvPr id="106" name="Shape 103"/>
          <p:cNvSpPr/>
          <p:nvPr/>
        </p:nvSpPr>
        <p:spPr>
          <a:xfrm>
            <a:off x="9656064" y="2999232"/>
            <a:ext cx="292608" cy="292608"/>
          </a:xfrm>
          <a:prstGeom prst="rect">
            <a:avLst/>
          </a:prstGeom>
          <a:solidFill>
            <a:schemeClr val="bg2"/>
          </a:solidFill>
          <a:ln w="6350">
            <a:solidFill>
              <a:schemeClr val="bg1"/>
            </a:solidFill>
            <a:prstDash val="solid"/>
          </a:ln>
        </p:spPr>
      </p:sp>
      <p:sp>
        <p:nvSpPr>
          <p:cNvPr id="107" name="Shape 104"/>
          <p:cNvSpPr/>
          <p:nvPr/>
        </p:nvSpPr>
        <p:spPr>
          <a:xfrm>
            <a:off x="9985248" y="2999232"/>
            <a:ext cx="292608" cy="292608"/>
          </a:xfrm>
          <a:prstGeom prst="rect">
            <a:avLst/>
          </a:prstGeom>
          <a:solidFill>
            <a:schemeClr val="bg2"/>
          </a:solidFill>
          <a:ln w="6350">
            <a:solidFill>
              <a:schemeClr val="bg1"/>
            </a:solidFill>
            <a:prstDash val="solid"/>
          </a:ln>
        </p:spPr>
      </p:sp>
      <p:sp>
        <p:nvSpPr>
          <p:cNvPr id="108" name="Shape 105"/>
          <p:cNvSpPr/>
          <p:nvPr/>
        </p:nvSpPr>
        <p:spPr>
          <a:xfrm>
            <a:off x="10314432" y="2999232"/>
            <a:ext cx="292608" cy="292608"/>
          </a:xfrm>
          <a:prstGeom prst="rect">
            <a:avLst/>
          </a:prstGeom>
          <a:solidFill>
            <a:schemeClr val="bg2"/>
          </a:solidFill>
          <a:ln w="6350">
            <a:solidFill>
              <a:schemeClr val="bg1"/>
            </a:solidFill>
            <a:prstDash val="solid"/>
          </a:ln>
        </p:spPr>
      </p:sp>
      <p:sp>
        <p:nvSpPr>
          <p:cNvPr id="109" name="Shape 106"/>
          <p:cNvSpPr/>
          <p:nvPr/>
        </p:nvSpPr>
        <p:spPr>
          <a:xfrm>
            <a:off x="10643616" y="2999232"/>
            <a:ext cx="292608" cy="292608"/>
          </a:xfrm>
          <a:prstGeom prst="rect">
            <a:avLst/>
          </a:prstGeom>
          <a:solidFill>
            <a:schemeClr val="bg2"/>
          </a:solidFill>
          <a:ln w="6350">
            <a:solidFill>
              <a:schemeClr val="bg1"/>
            </a:solidFill>
            <a:prstDash val="solid"/>
          </a:ln>
        </p:spPr>
      </p:sp>
      <p:sp>
        <p:nvSpPr>
          <p:cNvPr id="110" name="Shape 107"/>
          <p:cNvSpPr/>
          <p:nvPr/>
        </p:nvSpPr>
        <p:spPr>
          <a:xfrm>
            <a:off x="10972800" y="2999232"/>
            <a:ext cx="292608" cy="292608"/>
          </a:xfrm>
          <a:prstGeom prst="rect">
            <a:avLst/>
          </a:prstGeom>
          <a:solidFill>
            <a:schemeClr val="bg2"/>
          </a:solidFill>
          <a:ln w="6350">
            <a:solidFill>
              <a:schemeClr val="bg1"/>
            </a:solidFill>
            <a:prstDash val="solid"/>
          </a:ln>
        </p:spPr>
      </p:sp>
      <p:sp>
        <p:nvSpPr>
          <p:cNvPr id="111" name="Text 108"/>
          <p:cNvSpPr txBox="1"/>
          <p:nvPr/>
        </p:nvSpPr>
        <p:spPr>
          <a:xfrm>
            <a:off x="9052560" y="2468880"/>
            <a:ext cx="228600" cy="365760"/>
          </a:xfrm>
          <a:prstGeom prst="rect">
            <a:avLst/>
          </a:prstGeom>
          <a:noFill/>
          <a:ln/>
        </p:spPr>
        <p:txBody>
          <a:bodyPr wrap="square" lIns="0" tIns="0" rIns="0" bIns="0" rtlCol="0" anchor="t"/>
          <a:lstStyle/>
          <a:p>
            <a:pPr algn="l" indent="0" marL="0">
              <a:lnSpc>
                <a:spcPct val="105000"/>
              </a:lnSpc>
              <a:buNone/>
            </a:pPr>
            <a:r>
              <a:rPr lang="en-US" sz="1400" dirty="0">
                <a:solidFill>
                  <a:schemeClr val="tx2"/>
                </a:solidFill>
              </a:rPr>
              <a:t>N</a:t>
            </a:r>
            <a:endParaRPr lang="en-US" sz="1400" dirty="0"/>
          </a:p>
        </p:txBody>
      </p:sp>
      <p:sp>
        <p:nvSpPr>
          <p:cNvPr id="112" name="Text 109"/>
          <p:cNvSpPr txBox="1"/>
          <p:nvPr/>
        </p:nvSpPr>
        <p:spPr>
          <a:xfrm>
            <a:off x="9326880" y="3346704"/>
            <a:ext cx="914400" cy="274320"/>
          </a:xfrm>
          <a:prstGeom prst="rect">
            <a:avLst/>
          </a:prstGeom>
          <a:noFill/>
          <a:ln/>
        </p:spPr>
        <p:txBody>
          <a:bodyPr wrap="square" lIns="0" tIns="0" rIns="0" bIns="0" rtlCol="0" anchor="t"/>
          <a:lstStyle/>
          <a:p>
            <a:pPr algn="l" indent="0" marL="0">
              <a:lnSpc>
                <a:spcPct val="105000"/>
              </a:lnSpc>
              <a:buNone/>
            </a:pPr>
            <a:r>
              <a:rPr lang="en-US" sz="1300" dirty="0">
                <a:solidFill>
                  <a:schemeClr val="tx2"/>
                </a:solidFill>
              </a:rPr>
              <a:t>C →</a:t>
            </a:r>
            <a:endParaRPr lang="en-US" sz="13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3749040"/>
          <a:ext cx="11091672" cy="914400"/>
        </p:xfrm>
        <a:graphic>
          <a:graphicData uri="http://schemas.openxmlformats.org/drawingml/2006/table">
            <a:tbl>
              <a:tblPr/>
              <a:tblGrid>
                <a:gridCol w="2011680"/>
                <a:gridCol w="3657600"/>
                <a:gridCol w="2194560"/>
                <a:gridCol w="3227832"/>
              </a:tblGrid>
              <a:tr h="393192">
                <a:tc>
                  <a:txBody>
                    <a:bodyPr/>
                    <a:lstStyle/>
                    <a:p>
                      <a:pPr indent="0" marL="0">
                        <a:buNone/>
                      </a:pPr>
                      <a:r>
                        <a:rPr lang="en-US" sz="1600" b="1" dirty="0">
                          <a:solidFill>
                            <a:schemeClr val="bg1"/>
                          </a:solidFill>
                        </a:rPr>
                        <a:t>Layer</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Statistics over</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Depends on batch?</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Typical use</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r>
              <a:tr h="393192">
                <a:tc>
                  <a:txBody>
                    <a:bodyPr/>
                    <a:lstStyle/>
                    <a:p>
                      <a:pPr indent="0" marL="0">
                        <a:buNone/>
                      </a:pPr>
                      <a:r>
                        <a:rPr lang="en-US" sz="1600" dirty="0">
                          <a:solidFill>
                            <a:schemeClr val="tx1"/>
                          </a:solidFill>
                        </a:rPr>
                        <a:t>BatchNorm</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N, H, W (per channel)</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Yes</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CNNs with a decent batch size</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393192">
                <a:tc>
                  <a:txBody>
                    <a:bodyPr/>
                    <a:lstStyle/>
                    <a:p>
                      <a:pPr indent="0" marL="0">
                        <a:buNone/>
                      </a:pPr>
                      <a:r>
                        <a:rPr lang="en-US" sz="1600" dirty="0">
                          <a:solidFill>
                            <a:schemeClr val="tx1"/>
                          </a:solidFill>
                        </a:rPr>
                        <a:t>LayerNorm</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rPr>
                        <a:t>C, H, W (per example)</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rPr>
                        <a:t>No</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rPr>
                        <a:t>Transformers, RNNs</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393192">
                <a:tc>
                  <a:txBody>
                    <a:bodyPr/>
                    <a:lstStyle/>
                    <a:p>
                      <a:pPr indent="0" marL="0">
                        <a:buNone/>
                      </a:pPr>
                      <a:r>
                        <a:rPr lang="en-US" sz="1600" dirty="0">
                          <a:solidFill>
                            <a:schemeClr val="tx1"/>
                          </a:solidFill>
                        </a:rPr>
                        <a:t>InstanceNorm</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H, W (per example, per channel)</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No</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Style transfer, GANs</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393192">
                <a:tc>
                  <a:txBody>
                    <a:bodyPr/>
                    <a:lstStyle/>
                    <a:p>
                      <a:pPr indent="0" marL="0">
                        <a:buNone/>
                      </a:pPr>
                      <a:r>
                        <a:rPr lang="en-US" sz="1600" dirty="0">
                          <a:solidFill>
                            <a:schemeClr val="tx1"/>
                          </a:solidFill>
                        </a:rPr>
                        <a:t>GroupNorm</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rPr>
                        <a:t>H, W and a group of channels</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rPr>
                        <a:t>No</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rPr>
                        <a:t>Small-batch vision, detection</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bl>
          </a:graphicData>
        </a:graphic>
      </p:graphicFrame>
      <p:sp>
        <p:nvSpPr>
          <p:cNvPr id="114" name="Text 110"/>
          <p:cNvSpPr txBox="1"/>
          <p:nvPr/>
        </p:nvSpPr>
        <p:spPr>
          <a:xfrm>
            <a:off x="548640" y="5806440"/>
            <a:ext cx="11091672" cy="320040"/>
          </a:xfrm>
          <a:prstGeom prst="rect">
            <a:avLst/>
          </a:prstGeom>
          <a:noFill/>
          <a:ln/>
        </p:spPr>
        <p:txBody>
          <a:bodyPr wrap="square" lIns="0" tIns="0" rIns="0" bIns="0" rtlCol="0" anchor="t"/>
          <a:lstStyle/>
          <a:p>
            <a:pPr algn="l" indent="0" marL="0">
              <a:lnSpc>
                <a:spcPct val="105000"/>
              </a:lnSpc>
              <a:buNone/>
            </a:pPr>
            <a:r>
              <a:rPr lang="en-US" sz="1400" dirty="0">
                <a:solidFill>
                  <a:schemeClr val="tx2"/>
                </a:solidFill>
              </a:rPr>
              <a:t>H and W are pooled in every case. RMSNorm (no mean subtraction) is common in recent LLMs.</a:t>
            </a:r>
            <a:endParaRPr lang="en-US" sz="14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§11 · NORMALIZATION LAYERS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Four interactions worth knowing</a:t>
            </a:r>
            <a:endParaRPr lang="en-US" sz="3000" dirty="0"/>
          </a:p>
        </p:txBody>
      </p:sp>
      <p:sp>
        <p:nvSpPr>
          <p:cNvPr id="5" name="Shape 2"/>
          <p:cNvSpPr/>
          <p:nvPr/>
        </p:nvSpPr>
        <p:spPr>
          <a:xfrm>
            <a:off x="758952" y="1901952"/>
            <a:ext cx="0" cy="3236976"/>
          </a:xfrm>
          <a:prstGeom prst="line">
            <a:avLst/>
          </a:prstGeom>
          <a:noFill/>
          <a:ln w="25400">
            <a:solidFill>
              <a:schemeClr val="accent1">
                <a:alpha val="50000"/>
              </a:schemeClr>
            </a:solidFill>
            <a:prstDash val="solid"/>
          </a:ln>
        </p:spPr>
      </p:sp>
      <p:sp>
        <p:nvSpPr>
          <p:cNvPr id="6" name="Shape 3"/>
          <p:cNvSpPr/>
          <p:nvPr/>
        </p:nvSpPr>
        <p:spPr>
          <a:xfrm>
            <a:off x="548640" y="1691640"/>
            <a:ext cx="420624" cy="420624"/>
          </a:xfrm>
          <a:prstGeom prst="ellipse">
            <a:avLst/>
          </a:prstGeom>
          <a:solidFill>
            <a:schemeClr val="accent1"/>
          </a:solidFill>
          <a:ln w="25400">
            <a:solidFill>
              <a:schemeClr val="bg1"/>
            </a:solidFill>
            <a:prstDash val="solid"/>
          </a:ln>
        </p:spPr>
      </p:sp>
      <p:sp>
        <p:nvSpPr>
          <p:cNvPr id="7" name="Text 4"/>
          <p:cNvSpPr txBox="1"/>
          <p:nvPr/>
        </p:nvSpPr>
        <p:spPr>
          <a:xfrm>
            <a:off x="548640" y="16916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1197864" y="1728216"/>
            <a:ext cx="1044244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BatchNorm + dropout</a:t>
            </a:r>
            <a:endParaRPr lang="en-US" sz="1900" dirty="0"/>
          </a:p>
        </p:txBody>
      </p:sp>
      <p:sp>
        <p:nvSpPr>
          <p:cNvPr id="9" name="Text 6"/>
          <p:cNvSpPr txBox="1"/>
          <p:nvPr/>
        </p:nvSpPr>
        <p:spPr>
          <a:xfrm>
            <a:off x="1197864" y="2031238"/>
            <a:ext cx="10442448" cy="702818"/>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Dropout shifts variance between train and test, so running statistics mismatch. Use little or no dropout in conv layers (Li et al., 2019).</a:t>
            </a:r>
            <a:endParaRPr lang="en-US" sz="1600" dirty="0"/>
          </a:p>
        </p:txBody>
      </p:sp>
      <p:sp>
        <p:nvSpPr>
          <p:cNvPr id="10" name="Shape 7"/>
          <p:cNvSpPr/>
          <p:nvPr/>
        </p:nvSpPr>
        <p:spPr>
          <a:xfrm>
            <a:off x="548640" y="2770632"/>
            <a:ext cx="420624" cy="420624"/>
          </a:xfrm>
          <a:prstGeom prst="ellipse">
            <a:avLst/>
          </a:prstGeom>
          <a:solidFill>
            <a:schemeClr val="accent1"/>
          </a:solidFill>
          <a:ln w="25400">
            <a:solidFill>
              <a:schemeClr val="bg1"/>
            </a:solidFill>
            <a:prstDash val="solid"/>
          </a:ln>
        </p:spPr>
      </p:sp>
      <p:sp>
        <p:nvSpPr>
          <p:cNvPr id="11" name="Text 8"/>
          <p:cNvSpPr txBox="1"/>
          <p:nvPr/>
        </p:nvSpPr>
        <p:spPr>
          <a:xfrm>
            <a:off x="548640" y="2770632"/>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1197864" y="2807208"/>
            <a:ext cx="1044244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BatchNorm + weight decay</a:t>
            </a:r>
            <a:endParaRPr lang="en-US" sz="1900" dirty="0"/>
          </a:p>
        </p:txBody>
      </p:sp>
      <p:sp>
        <p:nvSpPr>
          <p:cNvPr id="13" name="Text 10"/>
          <p:cNvSpPr txBox="1"/>
          <p:nvPr/>
        </p:nvSpPr>
        <p:spPr>
          <a:xfrm>
            <a:off x="1197864" y="3110230"/>
            <a:ext cx="10442448" cy="702818"/>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Do not decay γ and β (§10).</a:t>
            </a:r>
            <a:endParaRPr lang="en-US" sz="1600" dirty="0"/>
          </a:p>
        </p:txBody>
      </p:sp>
      <p:sp>
        <p:nvSpPr>
          <p:cNvPr id="14" name="Shape 11"/>
          <p:cNvSpPr/>
          <p:nvPr/>
        </p:nvSpPr>
        <p:spPr>
          <a:xfrm>
            <a:off x="548640" y="3849624"/>
            <a:ext cx="420624" cy="420624"/>
          </a:xfrm>
          <a:prstGeom prst="ellipse">
            <a:avLst/>
          </a:prstGeom>
          <a:solidFill>
            <a:schemeClr val="accent1"/>
          </a:solidFill>
          <a:ln w="25400">
            <a:solidFill>
              <a:schemeClr val="bg1"/>
            </a:solidFill>
            <a:prstDash val="solid"/>
          </a:ln>
        </p:spPr>
      </p:sp>
      <p:sp>
        <p:nvSpPr>
          <p:cNvPr id="15" name="Text 12"/>
          <p:cNvSpPr txBox="1"/>
          <p:nvPr/>
        </p:nvSpPr>
        <p:spPr>
          <a:xfrm>
            <a:off x="548640" y="3849624"/>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3"/>
          <p:cNvSpPr txBox="1"/>
          <p:nvPr/>
        </p:nvSpPr>
        <p:spPr>
          <a:xfrm>
            <a:off x="1197864" y="3886200"/>
            <a:ext cx="1044244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BatchNorm + unshuffled data</a:t>
            </a:r>
            <a:endParaRPr lang="en-US" sz="1900" dirty="0"/>
          </a:p>
        </p:txBody>
      </p:sp>
      <p:sp>
        <p:nvSpPr>
          <p:cNvPr id="17" name="Text 14"/>
          <p:cNvSpPr txBox="1"/>
          <p:nvPr/>
        </p:nvSpPr>
        <p:spPr>
          <a:xfrm>
            <a:off x="1197864" y="4189222"/>
            <a:ext cx="10442448" cy="702818"/>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Batch statistics swing between batches; always shuffle=True.</a:t>
            </a:r>
            <a:endParaRPr lang="en-US" sz="1600" dirty="0"/>
          </a:p>
        </p:txBody>
      </p:sp>
      <p:sp>
        <p:nvSpPr>
          <p:cNvPr id="18" name="Shape 15"/>
          <p:cNvSpPr/>
          <p:nvPr/>
        </p:nvSpPr>
        <p:spPr>
          <a:xfrm>
            <a:off x="548640" y="4928616"/>
            <a:ext cx="420624" cy="420624"/>
          </a:xfrm>
          <a:prstGeom prst="ellipse">
            <a:avLst/>
          </a:prstGeom>
          <a:solidFill>
            <a:schemeClr val="accent1"/>
          </a:solidFill>
          <a:ln w="25400">
            <a:solidFill>
              <a:schemeClr val="bg1"/>
            </a:solidFill>
            <a:prstDash val="solid"/>
          </a:ln>
        </p:spPr>
      </p:sp>
      <p:sp>
        <p:nvSpPr>
          <p:cNvPr id="19" name="Text 16"/>
          <p:cNvSpPr txBox="1"/>
          <p:nvPr/>
        </p:nvSpPr>
        <p:spPr>
          <a:xfrm>
            <a:off x="548640" y="4928616"/>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0" name="Text 17"/>
          <p:cNvSpPr txBox="1"/>
          <p:nvPr/>
        </p:nvSpPr>
        <p:spPr>
          <a:xfrm>
            <a:off x="1197864" y="4965192"/>
            <a:ext cx="1044244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BatchNorm + fine-tuning</a:t>
            </a:r>
            <a:endParaRPr lang="en-US" sz="1900" dirty="0"/>
          </a:p>
        </p:txBody>
      </p:sp>
      <p:sp>
        <p:nvSpPr>
          <p:cNvPr id="21" name="Text 18"/>
          <p:cNvSpPr txBox="1"/>
          <p:nvPr/>
        </p:nvSpPr>
        <p:spPr>
          <a:xfrm>
            <a:off x="1197864" y="5268214"/>
            <a:ext cx="10442448" cy="702818"/>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With small data, freeze BatchNorm in eval mode to keep pretrained statistics.</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§11 · NORMALIZATION LAYERS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In code: γ and β are parameters, running stats are buffers</a:t>
            </a:r>
            <a:endParaRPr lang="en-US" sz="3000" dirty="0"/>
          </a:p>
        </p:txBody>
      </p:sp>
      <p:sp>
        <p:nvSpPr>
          <p:cNvPr id="5" name="Shape 2"/>
          <p:cNvSpPr/>
          <p:nvPr/>
        </p:nvSpPr>
        <p:spPr>
          <a:xfrm>
            <a:off x="548640" y="1645920"/>
            <a:ext cx="6766560" cy="3145536"/>
          </a:xfrm>
          <a:prstGeom prst="roundRect">
            <a:avLst>
              <a:gd name="adj" fmla="val 2326"/>
            </a:avLst>
          </a:prstGeom>
          <a:solidFill>
            <a:schemeClr val="bg2"/>
          </a:solidFill>
          <a:ln w="12700">
            <a:solidFill>
              <a:schemeClr val="bg2"/>
            </a:solidFill>
            <a:prstDash val="solid"/>
          </a:ln>
        </p:spPr>
      </p:sp>
      <p:sp>
        <p:nvSpPr>
          <p:cNvPr id="6" name="Text 3"/>
          <p:cNvSpPr txBox="1"/>
          <p:nvPr/>
        </p:nvSpPr>
        <p:spPr>
          <a:xfrm>
            <a:off x="749808" y="1819656"/>
            <a:ext cx="6364224" cy="2798064"/>
          </a:xfrm>
          <a:prstGeom prst="rect">
            <a:avLst/>
          </a:prstGeom>
          <a:noFill/>
          <a:ln/>
        </p:spPr>
        <p:txBody>
          <a:bodyPr wrap="square" lIns="0" tIns="0" rIns="0" bIns="0" rtlCol="0" anchor="t"/>
          <a:lstStyle/>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bn = nn.BatchNorm2d(64)</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print(bn.weight.shape)         </a:t>
            </a:r>
            <a:r>
              <a:rPr lang="en-US" sz="1500" dirty="0">
                <a:solidFill>
                  <a:schemeClr val="accent1"/>
                </a:solidFill>
                <a:latin typeface="Consolas" pitchFamily="34" charset="0"/>
                <a:ea typeface="Consolas" pitchFamily="34" charset="-122"/>
                <a:cs typeface="Consolas" pitchFamily="34" charset="-120"/>
              </a:rPr>
              <a:t># γ: torch.Size([64])</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print(bn.bias.shape)           </a:t>
            </a:r>
            <a:r>
              <a:rPr lang="en-US" sz="1500" dirty="0">
                <a:solidFill>
                  <a:schemeClr val="accent1"/>
                </a:solidFill>
                <a:latin typeface="Consolas" pitchFamily="34" charset="0"/>
                <a:ea typeface="Consolas" pitchFamily="34" charset="-122"/>
                <a:cs typeface="Consolas" pitchFamily="34" charset="-120"/>
              </a:rPr>
              <a:t># β: torch.Size([64])</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print(bn.running_mean.shape)   </a:t>
            </a:r>
            <a:r>
              <a:rPr lang="en-US" sz="1500" dirty="0">
                <a:solidFill>
                  <a:schemeClr val="accent1"/>
                </a:solidFill>
                <a:latin typeface="Consolas" pitchFamily="34" charset="0"/>
                <a:ea typeface="Consolas" pitchFamily="34" charset="-122"/>
                <a:cs typeface="Consolas" pitchFamily="34" charset="-120"/>
              </a:rPr>
              <a:t># buffer: [64]</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print(bn.running_var.shape)    </a:t>
            </a:r>
            <a:r>
              <a:rPr lang="en-US" sz="1500" dirty="0">
                <a:solidFill>
                  <a:schemeClr val="accent1"/>
                </a:solidFill>
                <a:latin typeface="Consolas" pitchFamily="34" charset="0"/>
                <a:ea typeface="Consolas" pitchFamily="34" charset="-122"/>
                <a:cs typeface="Consolas" pitchFamily="34" charset="-120"/>
              </a:rPr>
              <a:t># buffer: [64]</a:t>
            </a:r>
            <a:endParaRPr lang="en-US" sz="1500" dirty="0"/>
          </a:p>
          <a:p>
            <a:pPr indent="0" marL="0">
              <a:lnSpc>
                <a:spcPct val="100000"/>
              </a:lnSpc>
              <a:buNone/>
            </a:pPr>
            <a:r>
              <a:rPr lang="en-US" sz="1500" dirty="0">
                <a:solidFill>
                  <a:srgbClr val="000000"/>
                </a:solidFill>
                <a:latin typeface="Consolas" pitchFamily="34" charset="0"/>
                <a:ea typeface="Consolas" pitchFamily="34" charset="-122"/>
                <a:cs typeface="Consolas" pitchFamily="34" charset="-120"/>
              </a:rPr>
              <a:t> </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x = torch.randn(8, 64, 32, 32)</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bn.train(); out_train = bn(x)</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bn.eval()</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with torch.no_grad():</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    out_eval = bn(x)</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print((out_train - out_eval).abs().max())  </a:t>
            </a:r>
            <a:r>
              <a:rPr lang="en-US" sz="1500" dirty="0">
                <a:solidFill>
                  <a:schemeClr val="accent1"/>
                </a:solidFill>
                <a:latin typeface="Consolas" pitchFamily="34" charset="0"/>
                <a:ea typeface="Consolas" pitchFamily="34" charset="-122"/>
                <a:cs typeface="Consolas" pitchFamily="34" charset="-120"/>
              </a:rPr>
              <a:t># nonzero</a:t>
            </a:r>
            <a:endParaRPr lang="en-US" sz="1500" dirty="0"/>
          </a:p>
        </p:txBody>
      </p:sp>
      <p:sp>
        <p:nvSpPr>
          <p:cNvPr id="7" name="Shape 4"/>
          <p:cNvSpPr/>
          <p:nvPr/>
        </p:nvSpPr>
        <p:spPr>
          <a:xfrm>
            <a:off x="7772400" y="1645920"/>
            <a:ext cx="3867912" cy="2286000"/>
          </a:xfrm>
          <a:prstGeom prst="roundRect">
            <a:avLst>
              <a:gd name="adj" fmla="val 3200"/>
            </a:avLst>
          </a:prstGeom>
          <a:solidFill>
            <a:schemeClr val="accent1">
              <a:alpha val="10000"/>
            </a:schemeClr>
          </a:solidFill>
          <a:ln w="12700">
            <a:solidFill>
              <a:schemeClr val="accent1">
                <a:alpha val="10000"/>
              </a:schemeClr>
            </a:solidFill>
            <a:prstDash val="solid"/>
          </a:ln>
        </p:spPr>
      </p:sp>
      <p:sp>
        <p:nvSpPr>
          <p:cNvPr id="8" name="Text 5"/>
          <p:cNvSpPr txBox="1"/>
          <p:nvPr/>
        </p:nvSpPr>
        <p:spPr>
          <a:xfrm>
            <a:off x="7973568" y="1847088"/>
            <a:ext cx="346557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accent1"/>
                </a:solidFill>
              </a:rPr>
              <a:t>Buffers</a:t>
            </a:r>
            <a:endParaRPr lang="en-US" sz="1900" dirty="0"/>
          </a:p>
        </p:txBody>
      </p:sp>
      <p:sp>
        <p:nvSpPr>
          <p:cNvPr id="9" name="Text 6"/>
          <p:cNvSpPr txBox="1"/>
          <p:nvPr/>
        </p:nvSpPr>
        <p:spPr>
          <a:xfrm>
            <a:off x="7973568" y="2204974"/>
            <a:ext cx="3465576" cy="1525778"/>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Saved in state_dict and moved by .to(device); never updated by the optimizer; no gradient.</a:t>
            </a:r>
            <a:endParaRPr lang="en-US" sz="1600" dirty="0"/>
          </a:p>
        </p:txBody>
      </p:sp>
      <p:sp>
        <p:nvSpPr>
          <p:cNvPr id="10" name="Shape 7"/>
          <p:cNvSpPr/>
          <p:nvPr/>
        </p:nvSpPr>
        <p:spPr>
          <a:xfrm>
            <a:off x="7772400" y="4160520"/>
            <a:ext cx="3867912" cy="1737360"/>
          </a:xfrm>
          <a:prstGeom prst="roundRect">
            <a:avLst>
              <a:gd name="adj" fmla="val 4211"/>
            </a:avLst>
          </a:prstGeom>
          <a:solidFill>
            <a:schemeClr val="accent2">
              <a:alpha val="12000"/>
            </a:schemeClr>
          </a:solidFill>
          <a:ln w="12700">
            <a:solidFill>
              <a:schemeClr val="accent2">
                <a:alpha val="12000"/>
              </a:schemeClr>
            </a:solidFill>
            <a:prstDash val="solid"/>
          </a:ln>
        </p:spPr>
      </p:sp>
      <p:sp>
        <p:nvSpPr>
          <p:cNvPr id="11" name="Text 8"/>
          <p:cNvSpPr txBox="1"/>
          <p:nvPr/>
        </p:nvSpPr>
        <p:spPr>
          <a:xfrm>
            <a:off x="7973568" y="4361688"/>
            <a:ext cx="346557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accent2"/>
                </a:solidFill>
              </a:rPr>
              <a:t>Bad accuracy after loading?</a:t>
            </a:r>
            <a:endParaRPr lang="en-US" sz="1900" dirty="0"/>
          </a:p>
        </p:txBody>
      </p:sp>
      <p:sp>
        <p:nvSpPr>
          <p:cNvPr id="12" name="Text 9"/>
          <p:cNvSpPr txBox="1"/>
          <p:nvPr/>
        </p:nvSpPr>
        <p:spPr>
          <a:xfrm>
            <a:off x="7973568" y="4719574"/>
            <a:ext cx="3465576" cy="977138"/>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Check the buffers loaded. strict=False can silently skip them.</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§11 · CHECK YOURSELF</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Check yourself: normalization</a:t>
            </a:r>
            <a:endParaRPr lang="en-US" sz="3000" dirty="0"/>
          </a:p>
        </p:txBody>
      </p:sp>
      <p:sp>
        <p:nvSpPr>
          <p:cNvPr id="5" name="Shape 2"/>
          <p:cNvSpPr/>
          <p:nvPr/>
        </p:nvSpPr>
        <p:spPr>
          <a:xfrm>
            <a:off x="576072" y="1618488"/>
            <a:ext cx="457200" cy="457200"/>
          </a:xfrm>
          <a:prstGeom prst="ellipse">
            <a:avLst/>
          </a:prstGeom>
          <a:solidFill>
            <a:schemeClr val="accent1"/>
          </a:solidFill>
          <a:ln w="19050">
            <a:solidFill>
              <a:schemeClr val="accent1"/>
            </a:solidFill>
            <a:prstDash val="solid"/>
          </a:ln>
        </p:spPr>
      </p:sp>
      <p:sp>
        <p:nvSpPr>
          <p:cNvPr id="6" name="Text 3"/>
          <p:cNvSpPr txBox="1"/>
          <p:nvPr/>
        </p:nvSpPr>
        <p:spPr>
          <a:xfrm>
            <a:off x="393192" y="1618488"/>
            <a:ext cx="82296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1</a:t>
            </a:r>
            <a:endParaRPr lang="en-US" sz="1700" dirty="0"/>
          </a:p>
        </p:txBody>
      </p:sp>
      <p:sp>
        <p:nvSpPr>
          <p:cNvPr id="7" name="Text 4"/>
          <p:cNvSpPr txBox="1"/>
          <p:nvPr/>
        </p:nvSpPr>
        <p:spPr>
          <a:xfrm>
            <a:off x="1325880" y="1655064"/>
            <a:ext cx="10241280" cy="599440"/>
          </a:xfrm>
          <a:prstGeom prst="rect">
            <a:avLst/>
          </a:prstGeom>
          <a:noFill/>
          <a:ln/>
        </p:spPr>
        <p:txBody>
          <a:bodyPr wrap="square" lIns="0" tIns="0" rIns="0" bIns="0" rtlCol="0" anchor="t"/>
          <a:lstStyle/>
          <a:p>
            <a:pPr algn="l" indent="0" marL="0">
              <a:lnSpc>
                <a:spcPct val="105000"/>
              </a:lnSpc>
              <a:buNone/>
            </a:pPr>
            <a:r>
              <a:rPr lang="en-US" sz="2000" dirty="0">
                <a:solidFill>
                  <a:schemeClr val="tx1"/>
                </a:solidFill>
              </a:rPr>
              <a:t>A BatchNorm2d layer follows a conv with 128 output channels. How many learnable parameters? How many buffered values?</a:t>
            </a:r>
            <a:endParaRPr lang="en-US" sz="2000" dirty="0"/>
          </a:p>
        </p:txBody>
      </p:sp>
      <p:sp>
        <p:nvSpPr>
          <p:cNvPr id="8" name="Shape 5"/>
          <p:cNvSpPr/>
          <p:nvPr/>
        </p:nvSpPr>
        <p:spPr>
          <a:xfrm>
            <a:off x="576072" y="2629408"/>
            <a:ext cx="457200" cy="457200"/>
          </a:xfrm>
          <a:prstGeom prst="ellipse">
            <a:avLst/>
          </a:prstGeom>
          <a:solidFill>
            <a:schemeClr val="accent1"/>
          </a:solidFill>
          <a:ln w="19050">
            <a:solidFill>
              <a:schemeClr val="accent1"/>
            </a:solidFill>
            <a:prstDash val="solid"/>
          </a:ln>
        </p:spPr>
      </p:sp>
      <p:sp>
        <p:nvSpPr>
          <p:cNvPr id="9" name="Text 6"/>
          <p:cNvSpPr txBox="1"/>
          <p:nvPr/>
        </p:nvSpPr>
        <p:spPr>
          <a:xfrm>
            <a:off x="393192" y="2629408"/>
            <a:ext cx="82296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2</a:t>
            </a:r>
            <a:endParaRPr lang="en-US" sz="1700" dirty="0"/>
          </a:p>
        </p:txBody>
      </p:sp>
      <p:sp>
        <p:nvSpPr>
          <p:cNvPr id="10" name="Text 7"/>
          <p:cNvSpPr txBox="1"/>
          <p:nvPr/>
        </p:nvSpPr>
        <p:spPr>
          <a:xfrm>
            <a:off x="1325880" y="2665984"/>
            <a:ext cx="10241280" cy="599440"/>
          </a:xfrm>
          <a:prstGeom prst="rect">
            <a:avLst/>
          </a:prstGeom>
          <a:noFill/>
          <a:ln/>
        </p:spPr>
        <p:txBody>
          <a:bodyPr wrap="square" lIns="0" tIns="0" rIns="0" bIns="0" rtlCol="0" anchor="t"/>
          <a:lstStyle/>
          <a:p>
            <a:pPr algn="l" indent="0" marL="0">
              <a:lnSpc>
                <a:spcPct val="105000"/>
              </a:lnSpc>
              <a:buNone/>
            </a:pPr>
            <a:r>
              <a:rPr lang="en-US" sz="2000" dirty="0">
                <a:solidFill>
                  <a:schemeClr val="tx1"/>
                </a:solidFill>
              </a:rPr>
              <a:t>You train with batch size 64 and validate with batch size 1. Validation accuracy is near chance. What is wrong?</a:t>
            </a:r>
            <a:endParaRPr lang="en-US" sz="2000" dirty="0"/>
          </a:p>
        </p:txBody>
      </p:sp>
      <p:sp>
        <p:nvSpPr>
          <p:cNvPr id="11" name="Shape 8"/>
          <p:cNvSpPr/>
          <p:nvPr/>
        </p:nvSpPr>
        <p:spPr>
          <a:xfrm>
            <a:off x="576072" y="3640328"/>
            <a:ext cx="457200" cy="457200"/>
          </a:xfrm>
          <a:prstGeom prst="ellipse">
            <a:avLst/>
          </a:prstGeom>
          <a:solidFill>
            <a:schemeClr val="accent1"/>
          </a:solidFill>
          <a:ln w="19050">
            <a:solidFill>
              <a:schemeClr val="accent1"/>
            </a:solidFill>
            <a:prstDash val="solid"/>
          </a:ln>
        </p:spPr>
      </p:sp>
      <p:sp>
        <p:nvSpPr>
          <p:cNvPr id="12" name="Text 9"/>
          <p:cNvSpPr txBox="1"/>
          <p:nvPr/>
        </p:nvSpPr>
        <p:spPr>
          <a:xfrm>
            <a:off x="393192" y="3640328"/>
            <a:ext cx="82296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3</a:t>
            </a:r>
            <a:endParaRPr lang="en-US" sz="1700" dirty="0"/>
          </a:p>
        </p:txBody>
      </p:sp>
      <p:sp>
        <p:nvSpPr>
          <p:cNvPr id="13" name="Text 10"/>
          <p:cNvSpPr txBox="1"/>
          <p:nvPr/>
        </p:nvSpPr>
        <p:spPr>
          <a:xfrm>
            <a:off x="1325880" y="3676904"/>
            <a:ext cx="10241280" cy="502920"/>
          </a:xfrm>
          <a:prstGeom prst="rect">
            <a:avLst/>
          </a:prstGeom>
          <a:noFill/>
          <a:ln/>
        </p:spPr>
        <p:txBody>
          <a:bodyPr wrap="square" lIns="0" tIns="0" rIns="0" bIns="0" rtlCol="0" anchor="t"/>
          <a:lstStyle/>
          <a:p>
            <a:pPr algn="l" indent="0" marL="0">
              <a:lnSpc>
                <a:spcPct val="105000"/>
              </a:lnSpc>
              <a:buNone/>
            </a:pPr>
            <a:r>
              <a:rPr lang="en-US" sz="2000" dirty="0">
                <a:solidFill>
                  <a:schemeClr val="tx1"/>
                </a:solidFill>
              </a:rPr>
              <a:t>Why do Transformers use LayerNorm rather than BatchNorm?</a:t>
            </a:r>
            <a:endParaRPr lang="en-US" sz="2000" dirty="0"/>
          </a:p>
        </p:txBody>
      </p:sp>
      <p:sp>
        <p:nvSpPr>
          <p:cNvPr id="14" name="Text 11"/>
          <p:cNvSpPr txBox="1"/>
          <p:nvPr/>
        </p:nvSpPr>
        <p:spPr>
          <a:xfrm>
            <a:off x="548640" y="5897880"/>
            <a:ext cx="7315200" cy="320040"/>
          </a:xfrm>
          <a:prstGeom prst="rect">
            <a:avLst/>
          </a:prstGeom>
          <a:noFill/>
          <a:ln/>
        </p:spPr>
        <p:txBody>
          <a:bodyPr wrap="square" lIns="0" tIns="0" rIns="0" bIns="0" rtlCol="0" anchor="t"/>
          <a:lstStyle/>
          <a:p>
            <a:pPr algn="l" indent="0" marL="0">
              <a:lnSpc>
                <a:spcPct val="105000"/>
              </a:lnSpc>
              <a:buNone/>
            </a:pPr>
            <a:r>
              <a:rPr lang="en-US" sz="1500" i="1" dirty="0">
                <a:solidFill>
                  <a:schemeClr val="tx2"/>
                </a:solidFill>
              </a:rPr>
              <a:t>Commit to an answer before the next slide.</a:t>
            </a:r>
            <a:endParaRPr lang="en-US" sz="15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§11 · ANSWERS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Answers: normalization</a:t>
            </a:r>
            <a:endParaRPr lang="en-US" sz="3000" dirty="0"/>
          </a:p>
        </p:txBody>
      </p:sp>
      <p:sp>
        <p:nvSpPr>
          <p:cNvPr id="5" name="Shape 2"/>
          <p:cNvSpPr/>
          <p:nvPr/>
        </p:nvSpPr>
        <p:spPr>
          <a:xfrm>
            <a:off x="576072" y="1554480"/>
            <a:ext cx="365760" cy="365760"/>
          </a:xfrm>
          <a:prstGeom prst="ellipse">
            <a:avLst/>
          </a:prstGeom>
          <a:solidFill>
            <a:schemeClr val="accent1"/>
          </a:solidFill>
          <a:ln w="19050">
            <a:solidFill>
              <a:schemeClr val="accent1"/>
            </a:solidFill>
            <a:prstDash val="solid"/>
          </a:ln>
        </p:spPr>
      </p:sp>
      <p:sp>
        <p:nvSpPr>
          <p:cNvPr id="6" name="Text 3"/>
          <p:cNvSpPr txBox="1"/>
          <p:nvPr/>
        </p:nvSpPr>
        <p:spPr>
          <a:xfrm>
            <a:off x="393192" y="1554480"/>
            <a:ext cx="7315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7" name="Text 4"/>
          <p:cNvSpPr txBox="1"/>
          <p:nvPr/>
        </p:nvSpPr>
        <p:spPr>
          <a:xfrm>
            <a:off x="1234440" y="1554480"/>
            <a:ext cx="10378440" cy="479552"/>
          </a:xfrm>
          <a:prstGeom prst="rect">
            <a:avLst/>
          </a:prstGeom>
          <a:noFill/>
          <a:ln/>
        </p:spPr>
        <p:txBody>
          <a:bodyPr wrap="square" lIns="0" tIns="0" rIns="0" bIns="0" rtlCol="0" anchor="t"/>
          <a:lstStyle/>
          <a:p>
            <a:pPr algn="l" indent="0" marL="0">
              <a:lnSpc>
                <a:spcPct val="105000"/>
              </a:lnSpc>
              <a:buNone/>
            </a:pPr>
            <a:r>
              <a:rPr lang="en-US" sz="1600" b="1" dirty="0">
                <a:solidFill>
                  <a:schemeClr val="tx2"/>
                </a:solidFill>
              </a:rPr>
              <a:t>A BatchNorm2d layer follows a conv with 128 output channels. How many learnable parameters? How many buffered values?</a:t>
            </a:r>
            <a:endParaRPr lang="en-US" sz="1600" dirty="0"/>
          </a:p>
        </p:txBody>
      </p:sp>
      <p:sp>
        <p:nvSpPr>
          <p:cNvPr id="8" name="Text 5"/>
          <p:cNvSpPr txBox="1"/>
          <p:nvPr/>
        </p:nvSpPr>
        <p:spPr>
          <a:xfrm>
            <a:off x="1234440" y="2088896"/>
            <a:ext cx="10378440" cy="349504"/>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256 learnable (128 γ + 128 β) and 256 buffered (128 running means + 128 running variances).</a:t>
            </a:r>
            <a:endParaRPr lang="en-US" sz="1600" dirty="0"/>
          </a:p>
        </p:txBody>
      </p:sp>
      <p:sp>
        <p:nvSpPr>
          <p:cNvPr id="9" name="Shape 6"/>
          <p:cNvSpPr/>
          <p:nvPr/>
        </p:nvSpPr>
        <p:spPr>
          <a:xfrm>
            <a:off x="576072" y="2703576"/>
            <a:ext cx="365760" cy="365760"/>
          </a:xfrm>
          <a:prstGeom prst="ellipse">
            <a:avLst/>
          </a:prstGeom>
          <a:solidFill>
            <a:schemeClr val="accent1"/>
          </a:solidFill>
          <a:ln w="19050">
            <a:solidFill>
              <a:schemeClr val="accent1"/>
            </a:solidFill>
            <a:prstDash val="solid"/>
          </a:ln>
        </p:spPr>
      </p:sp>
      <p:sp>
        <p:nvSpPr>
          <p:cNvPr id="10" name="Text 7"/>
          <p:cNvSpPr txBox="1"/>
          <p:nvPr/>
        </p:nvSpPr>
        <p:spPr>
          <a:xfrm>
            <a:off x="393192" y="2703576"/>
            <a:ext cx="7315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1234440" y="2703576"/>
            <a:ext cx="10378440" cy="479552"/>
          </a:xfrm>
          <a:prstGeom prst="rect">
            <a:avLst/>
          </a:prstGeom>
          <a:noFill/>
          <a:ln/>
        </p:spPr>
        <p:txBody>
          <a:bodyPr wrap="square" lIns="0" tIns="0" rIns="0" bIns="0" rtlCol="0" anchor="t"/>
          <a:lstStyle/>
          <a:p>
            <a:pPr algn="l" indent="0" marL="0">
              <a:lnSpc>
                <a:spcPct val="105000"/>
              </a:lnSpc>
              <a:buNone/>
            </a:pPr>
            <a:r>
              <a:rPr lang="en-US" sz="1600" b="1" dirty="0">
                <a:solidFill>
                  <a:schemeClr val="tx2"/>
                </a:solidFill>
              </a:rPr>
              <a:t>You train with batch size 64 and validate with batch size 1. Validation accuracy is near chance. What is wrong?</a:t>
            </a:r>
            <a:endParaRPr lang="en-US" sz="1600" dirty="0"/>
          </a:p>
        </p:txBody>
      </p:sp>
      <p:sp>
        <p:nvSpPr>
          <p:cNvPr id="12" name="Text 9"/>
          <p:cNvSpPr txBox="1"/>
          <p:nvPr/>
        </p:nvSpPr>
        <p:spPr>
          <a:xfrm>
            <a:off x="1234440" y="3237992"/>
            <a:ext cx="10378440" cy="589280"/>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model.eval() was not called. A batch of one normalizes by its own statistics, so every feature becomes γ·0 + β: the output is identical for every input.</a:t>
            </a:r>
            <a:endParaRPr lang="en-US" sz="1600" dirty="0"/>
          </a:p>
        </p:txBody>
      </p:sp>
      <p:sp>
        <p:nvSpPr>
          <p:cNvPr id="13" name="Shape 10"/>
          <p:cNvSpPr/>
          <p:nvPr/>
        </p:nvSpPr>
        <p:spPr>
          <a:xfrm>
            <a:off x="576072" y="4092448"/>
            <a:ext cx="365760" cy="365760"/>
          </a:xfrm>
          <a:prstGeom prst="ellipse">
            <a:avLst/>
          </a:prstGeom>
          <a:solidFill>
            <a:schemeClr val="accent1"/>
          </a:solidFill>
          <a:ln w="19050">
            <a:solidFill>
              <a:schemeClr val="accent1"/>
            </a:solidFill>
            <a:prstDash val="solid"/>
          </a:ln>
        </p:spPr>
      </p:sp>
      <p:sp>
        <p:nvSpPr>
          <p:cNvPr id="14" name="Text 11"/>
          <p:cNvSpPr txBox="1"/>
          <p:nvPr/>
        </p:nvSpPr>
        <p:spPr>
          <a:xfrm>
            <a:off x="393192" y="4092448"/>
            <a:ext cx="7315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5" name="Text 12"/>
          <p:cNvSpPr txBox="1"/>
          <p:nvPr/>
        </p:nvSpPr>
        <p:spPr>
          <a:xfrm>
            <a:off x="1234440" y="4092448"/>
            <a:ext cx="10378440" cy="239776"/>
          </a:xfrm>
          <a:prstGeom prst="rect">
            <a:avLst/>
          </a:prstGeom>
          <a:noFill/>
          <a:ln/>
        </p:spPr>
        <p:txBody>
          <a:bodyPr wrap="square" lIns="0" tIns="0" rIns="0" bIns="0" rtlCol="0" anchor="t"/>
          <a:lstStyle/>
          <a:p>
            <a:pPr algn="l" indent="0" marL="0">
              <a:lnSpc>
                <a:spcPct val="105000"/>
              </a:lnSpc>
              <a:buNone/>
            </a:pPr>
            <a:r>
              <a:rPr lang="en-US" sz="1600" b="1" dirty="0">
                <a:solidFill>
                  <a:schemeClr val="tx2"/>
                </a:solidFill>
              </a:rPr>
              <a:t>Why do Transformers use LayerNorm rather than BatchNorm?</a:t>
            </a:r>
            <a:endParaRPr lang="en-US" sz="1600" dirty="0"/>
          </a:p>
        </p:txBody>
      </p:sp>
      <p:sp>
        <p:nvSpPr>
          <p:cNvPr id="16" name="Text 13"/>
          <p:cNvSpPr txBox="1"/>
          <p:nvPr/>
        </p:nvSpPr>
        <p:spPr>
          <a:xfrm>
            <a:off x="1234440" y="4387088"/>
            <a:ext cx="10378440" cy="829056"/>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Variable-length sequences make batch statistics over padded positions meaningless, NLP batches are often small, and single-sequence inference must match batched inference. LayerNorm works within each example.</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7315200" cy="411480"/>
          </a:xfrm>
          <a:prstGeom prst="rect">
            <a:avLst/>
          </a:prstGeom>
          <a:noFill/>
          <a:ln/>
        </p:spPr>
        <p:txBody>
          <a:bodyPr wrap="square" lIns="0" tIns="0" rIns="0" bIns="0" rtlCol="0"/>
          <a:lstStyle/>
          <a:p>
            <a:pPr indent="0" marL="0">
              <a:buNone/>
            </a:pPr>
            <a:r>
              <a:rPr lang="en-US" sz="1600" b="1" spc="200" kern="0" dirty="0">
                <a:solidFill>
                  <a:schemeClr val="accent6"/>
                </a:solidFill>
              </a:rPr>
              <a:t>SECTION 12</a:t>
            </a:r>
            <a:endParaRPr lang="en-US" sz="1600" dirty="0"/>
          </a:p>
        </p:txBody>
      </p:sp>
      <p:sp>
        <p:nvSpPr>
          <p:cNvPr id="3" name="Text 0"/>
          <p:cNvSpPr/>
          <p:nvPr>
            <p:ph idx="101" type="title" hasCustomPrompt="1"/>
          </p:nvPr>
        </p:nvSpPr>
        <p:spPr>
          <a:xfrm>
            <a:off x="731520" y="1920240"/>
            <a:ext cx="6949440" cy="2103120"/>
          </a:xfrm>
          <a:prstGeom prst="rect">
            <a:avLst/>
          </a:prstGeom>
          <a:noFill/>
          <a:ln/>
        </p:spPr>
        <p:txBody>
          <a:bodyPr wrap="square" lIns="0" tIns="0" rIns="0" bIns="0" rtlCol="0" anchor="t"/>
          <a:lstStyle/>
          <a:p>
            <a:pPr algn="l" indent="0" marL="0">
              <a:buNone/>
            </a:pPr>
            <a:r>
              <a:rPr lang="en-US" sz="4400" b="1" dirty="0">
                <a:solidFill>
                  <a:schemeClr val="bg1"/>
                </a:solidFill>
              </a:rPr>
              <a:t>Regularization and generalization</a:t>
            </a:r>
            <a:endParaRPr lang="en-US" sz="4400" dirty="0"/>
          </a:p>
        </p:txBody>
      </p:sp>
      <p:sp>
        <p:nvSpPr>
          <p:cNvPr id="4" name="Text 0"/>
          <p:cNvSpPr/>
          <p:nvPr>
            <p:ph idx="102" type="body" hasCustomPrompt="1"/>
          </p:nvPr>
        </p:nvSpPr>
        <p:spPr>
          <a:xfrm>
            <a:off x="731520" y="4160520"/>
            <a:ext cx="6766560" cy="1280160"/>
          </a:xfrm>
          <a:prstGeom prst="rect">
            <a:avLst/>
          </a:prstGeom>
          <a:noFill/>
          <a:ln/>
        </p:spPr>
        <p:txBody>
          <a:bodyPr wrap="square" lIns="0" tIns="0" rIns="0" bIns="0" rtlCol="0" anchor="t"/>
          <a:lstStyle/>
          <a:p>
            <a:pPr algn="l" indent="0" marL="0">
              <a:buNone/>
            </a:pPr>
            <a:r>
              <a:rPr lang="en-US" sz="2000" dirty="0">
                <a:solidFill>
                  <a:schemeClr val="bg2"/>
                </a:solidFill>
              </a:rPr>
              <a:t>Close the gap between training and test. Diagnose first, then act.</a:t>
            </a:r>
            <a:endParaRPr lang="en-US" sz="2000" dirty="0"/>
          </a:p>
        </p:txBody>
      </p:sp>
      <p:sp>
        <p:nvSpPr>
          <p:cNvPr id="5" name="Text 3"/>
          <p:cNvSpPr txBox="1"/>
          <p:nvPr/>
        </p:nvSpPr>
        <p:spPr>
          <a:xfrm>
            <a:off x="8138160" y="1737360"/>
            <a:ext cx="3474720" cy="2377440"/>
          </a:xfrm>
          <a:prstGeom prst="rect">
            <a:avLst/>
          </a:prstGeom>
          <a:noFill/>
          <a:ln/>
        </p:spPr>
        <p:txBody>
          <a:bodyPr wrap="square" lIns="0" tIns="0" rIns="0" bIns="0" rtlCol="0" anchor="t"/>
          <a:lstStyle/>
          <a:p>
            <a:pPr algn="r" indent="0" marL="0">
              <a:lnSpc>
                <a:spcPct val="105000"/>
              </a:lnSpc>
              <a:buNone/>
            </a:pPr>
            <a:r>
              <a:rPr lang="en-US" sz="15000" b="1" dirty="0">
                <a:solidFill>
                  <a:schemeClr val="accent6"/>
                </a:solidFill>
              </a:rPr>
              <a:t>§12</a:t>
            </a:r>
            <a:endParaRPr lang="en-US" sz="15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§12 · REGULARIZATION AND GENERALIZATION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Bias, variance, and a second descent</a:t>
            </a:r>
            <a:endParaRPr lang="en-US" sz="3000" dirty="0"/>
          </a:p>
        </p:txBody>
      </p:sp>
      <p:graphicFrame>
        <p:nvGraphicFramePr>
          <p:cNvPr id="5" name="Chart 0" descr=""/>
          <p:cNvGraphicFramePr/>
          <p:nvPr/>
        </p:nvGraphicFramePr>
        <p:xfrm>
          <a:off x="457200" y="1600200"/>
          <a:ext cx="6583680" cy="420624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06440"/>
            <a:ext cx="4572000" cy="274320"/>
          </a:xfrm>
          <a:prstGeom prst="rect">
            <a:avLst/>
          </a:prstGeom>
          <a:noFill/>
          <a:ln/>
        </p:spPr>
        <p:txBody>
          <a:bodyPr wrap="square" lIns="0" tIns="0" rIns="0" bIns="0" rtlCol="0" anchor="t"/>
          <a:lstStyle/>
          <a:p>
            <a:pPr algn="l" indent="0" marL="0">
              <a:lnSpc>
                <a:spcPct val="105000"/>
              </a:lnSpc>
              <a:buNone/>
            </a:pPr>
            <a:r>
              <a:rPr lang="en-US" sz="1300" dirty="0">
                <a:solidFill>
                  <a:schemeClr val="tx2"/>
                </a:solidFill>
              </a:rPr>
              <a:t>Schematic, after Belkin et al. (2019).</a:t>
            </a:r>
            <a:endParaRPr lang="en-US" sz="1300" dirty="0"/>
          </a:p>
        </p:txBody>
      </p:sp>
      <p:sp>
        <p:nvSpPr>
          <p:cNvPr id="7" name="Shape 3"/>
          <p:cNvSpPr/>
          <p:nvPr/>
        </p:nvSpPr>
        <p:spPr>
          <a:xfrm>
            <a:off x="7498080" y="1645920"/>
            <a:ext cx="4142232" cy="1412748"/>
          </a:xfrm>
          <a:prstGeom prst="roundRect">
            <a:avLst>
              <a:gd name="adj" fmla="val 5178"/>
            </a:avLst>
          </a:prstGeom>
          <a:solidFill>
            <a:schemeClr val="accent1">
              <a:alpha val="10000"/>
            </a:schemeClr>
          </a:solidFill>
          <a:ln w="12700">
            <a:solidFill>
              <a:schemeClr val="accent1">
                <a:alpha val="10000"/>
              </a:schemeClr>
            </a:solidFill>
            <a:prstDash val="solid"/>
          </a:ln>
        </p:spPr>
      </p:sp>
      <p:sp>
        <p:nvSpPr>
          <p:cNvPr id="8" name="Text 4"/>
          <p:cNvSpPr txBox="1"/>
          <p:nvPr/>
        </p:nvSpPr>
        <p:spPr>
          <a:xfrm>
            <a:off x="7726680" y="1792224"/>
            <a:ext cx="3685032"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CLASSICAL DECOMPOSITION</a:t>
            </a:r>
            <a:endParaRPr lang="en-US" sz="1200" dirty="0"/>
          </a:p>
        </p:txBody>
      </p:sp>
      <p:sp>
        <p:nvSpPr>
          <p:cNvPr id="9" name="Text 5"/>
          <p:cNvSpPr txBox="1"/>
          <p:nvPr/>
        </p:nvSpPr>
        <p:spPr>
          <a:xfrm>
            <a:off x="7726680" y="2221992"/>
            <a:ext cx="3685032" cy="644652"/>
          </a:xfrm>
          <a:prstGeom prst="rect">
            <a:avLst/>
          </a:prstGeom>
          <a:noFill/>
          <a:ln/>
        </p:spPr>
        <p:txBody>
          <a:bodyPr wrap="square" lIns="0" tIns="0" rIns="0" bIns="0" rtlCol="0" anchor="t"/>
          <a:lstStyle/>
          <a:p>
            <a:pPr algn="l" indent="0" marL="0">
              <a:lnSpc>
                <a:spcPct val="112000"/>
              </a:lnSpc>
              <a:buNone/>
            </a:pPr>
            <a:r>
              <a:rPr lang="en-US" sz="1800" dirty="0">
                <a:solidFill>
                  <a:schemeClr val="tx1"/>
                </a:solidFill>
                <a:latin typeface="Cambria Math" pitchFamily="34" charset="0"/>
                <a:ea typeface="Cambria Math" pitchFamily="34" charset="-122"/>
                <a:cs typeface="Cambria Math" pitchFamily="34" charset="-120"/>
              </a:rPr>
              <a:t>test error = bias² + variance</a:t>
            </a:r>
            <a:endParaRPr lang="en-US" sz="1800" dirty="0"/>
          </a:p>
          <a:p>
            <a:pPr algn="l" indent="0" marL="0">
              <a:lnSpc>
                <a:spcPct val="112000"/>
              </a:lnSpc>
              <a:buNone/>
            </a:pPr>
            <a:r>
              <a:rPr lang="en-US" sz="1800" dirty="0">
                <a:solidFill>
                  <a:schemeClr val="tx1"/>
                </a:solidFill>
                <a:latin typeface="Cambria Math" pitchFamily="34" charset="0"/>
                <a:ea typeface="Cambria Math" pitchFamily="34" charset="-122"/>
                <a:cs typeface="Cambria Math" pitchFamily="34" charset="-120"/>
              </a:rPr>
              <a:t>                 + noise</a:t>
            </a:r>
            <a:endParaRPr lang="en-US" sz="1800" dirty="0"/>
          </a:p>
        </p:txBody>
      </p:sp>
      <p:sp>
        <p:nvSpPr>
          <p:cNvPr id="10" name="Shape 6"/>
          <p:cNvSpPr/>
          <p:nvPr/>
        </p:nvSpPr>
        <p:spPr>
          <a:xfrm>
            <a:off x="7708392" y="3639312"/>
            <a:ext cx="0" cy="1737360"/>
          </a:xfrm>
          <a:prstGeom prst="line">
            <a:avLst/>
          </a:prstGeom>
          <a:noFill/>
          <a:ln w="25400">
            <a:solidFill>
              <a:schemeClr val="accent1">
                <a:alpha val="50000"/>
              </a:schemeClr>
            </a:solidFill>
            <a:prstDash val="solid"/>
          </a:ln>
        </p:spPr>
      </p:sp>
      <p:sp>
        <p:nvSpPr>
          <p:cNvPr id="11" name="Shape 7"/>
          <p:cNvSpPr/>
          <p:nvPr/>
        </p:nvSpPr>
        <p:spPr>
          <a:xfrm>
            <a:off x="7498080" y="3429000"/>
            <a:ext cx="420624" cy="420624"/>
          </a:xfrm>
          <a:prstGeom prst="ellipse">
            <a:avLst/>
          </a:prstGeom>
          <a:solidFill>
            <a:schemeClr val="accent1"/>
          </a:solidFill>
          <a:ln w="25400">
            <a:solidFill>
              <a:schemeClr val="bg1"/>
            </a:solidFill>
            <a:prstDash val="solid"/>
          </a:ln>
        </p:spPr>
      </p:sp>
      <p:sp>
        <p:nvSpPr>
          <p:cNvPr id="12" name="Text 8"/>
          <p:cNvSpPr txBox="1"/>
          <p:nvPr/>
        </p:nvSpPr>
        <p:spPr>
          <a:xfrm>
            <a:off x="7498080" y="342900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3" name="Text 9"/>
          <p:cNvSpPr txBox="1"/>
          <p:nvPr/>
        </p:nvSpPr>
        <p:spPr>
          <a:xfrm>
            <a:off x="8147304" y="3465576"/>
            <a:ext cx="3493008" cy="269748"/>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Classical regime</a:t>
            </a:r>
            <a:endParaRPr lang="en-US" sz="1800" dirty="0"/>
          </a:p>
        </p:txBody>
      </p:sp>
      <p:sp>
        <p:nvSpPr>
          <p:cNvPr id="14" name="Text 10"/>
          <p:cNvSpPr txBox="1"/>
          <p:nvPr/>
        </p:nvSpPr>
        <p:spPr>
          <a:xfrm>
            <a:off x="8147304" y="3753612"/>
            <a:ext cx="3493008" cy="507492"/>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A U-curve with a sweet spot.</a:t>
            </a:r>
            <a:endParaRPr lang="en-US" sz="1600" dirty="0"/>
          </a:p>
        </p:txBody>
      </p:sp>
      <p:sp>
        <p:nvSpPr>
          <p:cNvPr id="15" name="Shape 11"/>
          <p:cNvSpPr/>
          <p:nvPr/>
        </p:nvSpPr>
        <p:spPr>
          <a:xfrm>
            <a:off x="7498080" y="4297680"/>
            <a:ext cx="420624" cy="420624"/>
          </a:xfrm>
          <a:prstGeom prst="ellipse">
            <a:avLst/>
          </a:prstGeom>
          <a:solidFill>
            <a:schemeClr val="accent1"/>
          </a:solidFill>
          <a:ln w="25400">
            <a:solidFill>
              <a:schemeClr val="bg1"/>
            </a:solidFill>
            <a:prstDash val="solid"/>
          </a:ln>
        </p:spPr>
      </p:sp>
      <p:sp>
        <p:nvSpPr>
          <p:cNvPr id="16" name="Text 12"/>
          <p:cNvSpPr txBox="1"/>
          <p:nvPr/>
        </p:nvSpPr>
        <p:spPr>
          <a:xfrm>
            <a:off x="7498080" y="429768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7" name="Text 13"/>
          <p:cNvSpPr txBox="1"/>
          <p:nvPr/>
        </p:nvSpPr>
        <p:spPr>
          <a:xfrm>
            <a:off x="8147304" y="4334256"/>
            <a:ext cx="3493008" cy="269748"/>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Over-parameterized regime</a:t>
            </a:r>
            <a:endParaRPr lang="en-US" sz="1800" dirty="0"/>
          </a:p>
        </p:txBody>
      </p:sp>
      <p:sp>
        <p:nvSpPr>
          <p:cNvPr id="18" name="Text 14"/>
          <p:cNvSpPr txBox="1"/>
          <p:nvPr/>
        </p:nvSpPr>
        <p:spPr>
          <a:xfrm>
            <a:off x="8147304" y="4622292"/>
            <a:ext cx="3493008" cy="507492"/>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Past the threshold, test error descends again.</a:t>
            </a:r>
            <a:endParaRPr lang="en-US" sz="1600" dirty="0"/>
          </a:p>
        </p:txBody>
      </p:sp>
      <p:sp>
        <p:nvSpPr>
          <p:cNvPr id="19" name="Shape 15"/>
          <p:cNvSpPr/>
          <p:nvPr/>
        </p:nvSpPr>
        <p:spPr>
          <a:xfrm>
            <a:off x="7498080" y="5166360"/>
            <a:ext cx="420624" cy="420624"/>
          </a:xfrm>
          <a:prstGeom prst="ellipse">
            <a:avLst/>
          </a:prstGeom>
          <a:solidFill>
            <a:schemeClr val="accent2"/>
          </a:solidFill>
          <a:ln w="25400">
            <a:solidFill>
              <a:schemeClr val="bg1"/>
            </a:solidFill>
            <a:prstDash val="solid"/>
          </a:ln>
        </p:spPr>
      </p:sp>
      <p:sp>
        <p:nvSpPr>
          <p:cNvPr id="20" name="Text 16"/>
          <p:cNvSpPr txBox="1"/>
          <p:nvPr/>
        </p:nvSpPr>
        <p:spPr>
          <a:xfrm>
            <a:off x="7498080" y="51663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1" name="Text 17"/>
          <p:cNvSpPr txBox="1"/>
          <p:nvPr/>
        </p:nvSpPr>
        <p:spPr>
          <a:xfrm>
            <a:off x="8147304" y="5202936"/>
            <a:ext cx="3493008" cy="269748"/>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Takeaway</a:t>
            </a:r>
            <a:endParaRPr lang="en-US" sz="1800" dirty="0"/>
          </a:p>
        </p:txBody>
      </p:sp>
      <p:sp>
        <p:nvSpPr>
          <p:cNvPr id="22" name="Text 18"/>
          <p:cNvSpPr txBox="1"/>
          <p:nvPr/>
        </p:nvSpPr>
        <p:spPr>
          <a:xfrm>
            <a:off x="8147304" y="5490972"/>
            <a:ext cx="3493008" cy="507492"/>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Regularize large models; do not shrink them.</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§12 · REGULARIZATION AND GENERALIZATION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L2 weight decay shrinks every weight each step</a:t>
            </a:r>
            <a:endParaRPr lang="en-US" sz="3000" dirty="0"/>
          </a:p>
        </p:txBody>
      </p:sp>
      <p:sp>
        <p:nvSpPr>
          <p:cNvPr id="5" name="Shape 2"/>
          <p:cNvSpPr/>
          <p:nvPr/>
        </p:nvSpPr>
        <p:spPr>
          <a:xfrm>
            <a:off x="548640" y="1645920"/>
            <a:ext cx="6400800" cy="1793748"/>
          </a:xfrm>
          <a:prstGeom prst="roundRect">
            <a:avLst>
              <a:gd name="adj" fmla="val 4078"/>
            </a:avLst>
          </a:prstGeom>
          <a:solidFill>
            <a:schemeClr val="accent1">
              <a:alpha val="10000"/>
            </a:schemeClr>
          </a:solidFill>
          <a:ln w="12700">
            <a:solidFill>
              <a:schemeClr val="accent1">
                <a:alpha val="10000"/>
              </a:schemeClr>
            </a:solidFill>
            <a:prstDash val="solid"/>
          </a:ln>
        </p:spPr>
      </p:sp>
      <p:sp>
        <p:nvSpPr>
          <p:cNvPr id="6" name="Text 3"/>
          <p:cNvSpPr txBox="1"/>
          <p:nvPr/>
        </p:nvSpPr>
        <p:spPr>
          <a:xfrm>
            <a:off x="777240" y="1792224"/>
            <a:ext cx="5943600"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L2 REGULARIZATION</a:t>
            </a:r>
            <a:endParaRPr lang="en-US" sz="1200" dirty="0"/>
          </a:p>
        </p:txBody>
      </p:sp>
      <p:sp>
        <p:nvSpPr>
          <p:cNvPr id="7" name="Text 4"/>
          <p:cNvSpPr txBox="1"/>
          <p:nvPr/>
        </p:nvSpPr>
        <p:spPr>
          <a:xfrm>
            <a:off x="777240" y="2221992"/>
            <a:ext cx="5943600" cy="1025652"/>
          </a:xfrm>
          <a:prstGeom prst="rect">
            <a:avLst/>
          </a:prstGeom>
          <a:noFill/>
          <a:ln/>
        </p:spPr>
        <p:txBody>
          <a:bodyPr wrap="square" lIns="0" tIns="0" rIns="0" bIns="0" rtlCol="0" anchor="t"/>
          <a:lstStyle/>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J′ = J + (λ/2) Σ ‖W‖²</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W ← W − η(∂J/∂W + λW)</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   = (1 − ηλ) W − η ∂J/∂W</a:t>
            </a:r>
            <a:r>
              <a:rPr lang="en-US" sz="1600" dirty="0">
                <a:solidFill>
                  <a:schemeClr val="tx2"/>
                </a:solidFill>
                <a:latin typeface="Calibri" pitchFamily="34" charset="0"/>
                <a:ea typeface="Calibri" pitchFamily="34" charset="-122"/>
                <a:cs typeface="Calibri" pitchFamily="34" charset="-120"/>
              </a:rPr>
              <a:t>    shrink, then step</a:t>
            </a:r>
            <a:endParaRPr lang="en-US" sz="2000" dirty="0"/>
          </a:p>
        </p:txBody>
      </p:sp>
      <p:sp>
        <p:nvSpPr>
          <p:cNvPr id="8" name="Shape 5"/>
          <p:cNvSpPr/>
          <p:nvPr/>
        </p:nvSpPr>
        <p:spPr>
          <a:xfrm>
            <a:off x="758952" y="4050792"/>
            <a:ext cx="0" cy="1005840"/>
          </a:xfrm>
          <a:prstGeom prst="line">
            <a:avLst/>
          </a:prstGeom>
          <a:noFill/>
          <a:ln w="25400">
            <a:solidFill>
              <a:schemeClr val="accent1">
                <a:alpha val="50000"/>
              </a:schemeClr>
            </a:solidFill>
            <a:prstDash val="solid"/>
          </a:ln>
        </p:spPr>
      </p:sp>
      <p:sp>
        <p:nvSpPr>
          <p:cNvPr id="9" name="Shape 6"/>
          <p:cNvSpPr/>
          <p:nvPr/>
        </p:nvSpPr>
        <p:spPr>
          <a:xfrm>
            <a:off x="548640" y="3840480"/>
            <a:ext cx="420624" cy="420624"/>
          </a:xfrm>
          <a:prstGeom prst="ellipse">
            <a:avLst/>
          </a:prstGeom>
          <a:solidFill>
            <a:schemeClr val="accent1"/>
          </a:solidFill>
          <a:ln w="25400">
            <a:solidFill>
              <a:schemeClr val="bg1"/>
            </a:solidFill>
            <a:prstDash val="solid"/>
          </a:ln>
        </p:spPr>
      </p:sp>
      <p:sp>
        <p:nvSpPr>
          <p:cNvPr id="10" name="Text 7"/>
          <p:cNvSpPr txBox="1"/>
          <p:nvPr/>
        </p:nvSpPr>
        <p:spPr>
          <a:xfrm>
            <a:off x="548640" y="384048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1" name="Text 8"/>
          <p:cNvSpPr txBox="1"/>
          <p:nvPr/>
        </p:nvSpPr>
        <p:spPr>
          <a:xfrm>
            <a:off x="1197864" y="3877056"/>
            <a:ext cx="575157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Smoother functions</a:t>
            </a:r>
            <a:endParaRPr lang="en-US" sz="1900" dirty="0"/>
          </a:p>
        </p:txBody>
      </p:sp>
      <p:sp>
        <p:nvSpPr>
          <p:cNvPr id="12" name="Text 9"/>
          <p:cNvSpPr txBox="1"/>
          <p:nvPr/>
        </p:nvSpPr>
        <p:spPr>
          <a:xfrm>
            <a:off x="1197864" y="4180078"/>
            <a:ext cx="5751576" cy="62966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‖w‖ sets how sharply a neuron switches (lecture 1, §2).</a:t>
            </a:r>
            <a:endParaRPr lang="en-US" sz="1600" dirty="0"/>
          </a:p>
        </p:txBody>
      </p:sp>
      <p:sp>
        <p:nvSpPr>
          <p:cNvPr id="13" name="Shape 10"/>
          <p:cNvSpPr/>
          <p:nvPr/>
        </p:nvSpPr>
        <p:spPr>
          <a:xfrm>
            <a:off x="548640" y="4846320"/>
            <a:ext cx="420624" cy="420624"/>
          </a:xfrm>
          <a:prstGeom prst="ellipse">
            <a:avLst/>
          </a:prstGeom>
          <a:solidFill>
            <a:schemeClr val="accent1"/>
          </a:solidFill>
          <a:ln w="25400">
            <a:solidFill>
              <a:schemeClr val="bg1"/>
            </a:solidFill>
            <a:prstDash val="solid"/>
          </a:ln>
        </p:spPr>
      </p:sp>
      <p:sp>
        <p:nvSpPr>
          <p:cNvPr id="14" name="Text 11"/>
          <p:cNvSpPr txBox="1"/>
          <p:nvPr/>
        </p:nvSpPr>
        <p:spPr>
          <a:xfrm>
            <a:off x="548640" y="484632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5" name="Text 12"/>
          <p:cNvSpPr txBox="1"/>
          <p:nvPr/>
        </p:nvSpPr>
        <p:spPr>
          <a:xfrm>
            <a:off x="1197864" y="4882896"/>
            <a:ext cx="575157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A Gaussian prior</a:t>
            </a:r>
            <a:endParaRPr lang="en-US" sz="1900" dirty="0"/>
          </a:p>
        </p:txBody>
      </p:sp>
      <p:sp>
        <p:nvSpPr>
          <p:cNvPr id="16" name="Text 13"/>
          <p:cNvSpPr txBox="1"/>
          <p:nvPr/>
        </p:nvSpPr>
        <p:spPr>
          <a:xfrm>
            <a:off x="1197864" y="5185918"/>
            <a:ext cx="5751576" cy="62966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L2 = MAP with a zero-mean Gaussian prior of variance σ²ₚ: λ = 1/σ²ₚ.</a:t>
            </a:r>
            <a:endParaRPr lang="en-US" sz="1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7406640" y="1645920"/>
          <a:ext cx="4233672" cy="914400"/>
        </p:xfrm>
        <a:graphic>
          <a:graphicData uri="http://schemas.openxmlformats.org/drawingml/2006/table">
            <a:tbl>
              <a:tblPr/>
              <a:tblGrid>
                <a:gridCol w="2587752"/>
                <a:gridCol w="1645920"/>
              </a:tblGrid>
              <a:tr h="457200">
                <a:tc>
                  <a:txBody>
                    <a:bodyPr/>
                    <a:lstStyle/>
                    <a:p>
                      <a:pPr indent="0" marL="0">
                        <a:buNone/>
                      </a:pPr>
                      <a:r>
                        <a:rPr lang="en-US" sz="1700" b="1" dirty="0">
                          <a:solidFill>
                            <a:schemeClr val="bg1"/>
                          </a:solidFill>
                        </a:rPr>
                        <a:t>Setting</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700" b="1" dirty="0">
                          <a:solidFill>
                            <a:schemeClr val="bg1"/>
                          </a:solidFill>
                        </a:rPr>
                        <a:t>Typical λ</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r>
              <a:tr h="457200">
                <a:tc>
                  <a:txBody>
                    <a:bodyPr/>
                    <a:lstStyle/>
                    <a:p>
                      <a:pPr indent="0" marL="0">
                        <a:buNone/>
                      </a:pPr>
                      <a:r>
                        <a:rPr lang="en-US" sz="1700" dirty="0">
                          <a:solidFill>
                            <a:schemeClr val="tx1"/>
                          </a:solidFill>
                        </a:rPr>
                        <a:t>SGD on CNNs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10⁻⁴</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457200">
                <a:tc>
                  <a:txBody>
                    <a:bodyPr/>
                    <a:lstStyle/>
                    <a:p>
                      <a:pPr indent="0" marL="0">
                        <a:buNone/>
                      </a:pPr>
                      <a:r>
                        <a:rPr lang="en-US" sz="1700" dirty="0">
                          <a:solidFill>
                            <a:schemeClr val="tx1"/>
                          </a:solidFill>
                        </a:rPr>
                        <a:t>AdamW on Transformers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0.01 – 0.1</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bl>
          </a:graphicData>
        </a:graphic>
      </p:graphicFrame>
      <p:sp>
        <p:nvSpPr>
          <p:cNvPr id="18" name="Shape 14"/>
          <p:cNvSpPr/>
          <p:nvPr/>
        </p:nvSpPr>
        <p:spPr>
          <a:xfrm>
            <a:off x="7406640" y="3291840"/>
            <a:ext cx="4233672" cy="1737360"/>
          </a:xfrm>
          <a:prstGeom prst="roundRect">
            <a:avLst>
              <a:gd name="adj" fmla="val 4211"/>
            </a:avLst>
          </a:prstGeom>
          <a:solidFill>
            <a:schemeClr val="accent2">
              <a:alpha val="12000"/>
            </a:schemeClr>
          </a:solidFill>
          <a:ln w="12700">
            <a:solidFill>
              <a:schemeClr val="accent2">
                <a:alpha val="12000"/>
              </a:schemeClr>
            </a:solidFill>
            <a:prstDash val="solid"/>
          </a:ln>
        </p:spPr>
      </p:sp>
      <p:sp>
        <p:nvSpPr>
          <p:cNvPr id="19" name="Text 15"/>
          <p:cNvSpPr txBox="1"/>
          <p:nvPr/>
        </p:nvSpPr>
        <p:spPr>
          <a:xfrm>
            <a:off x="7607808" y="3493008"/>
            <a:ext cx="383133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accent2"/>
                </a:solidFill>
              </a:rPr>
              <a:t>Weights only</a:t>
            </a:r>
            <a:endParaRPr lang="en-US" sz="1900" dirty="0"/>
          </a:p>
        </p:txBody>
      </p:sp>
      <p:sp>
        <p:nvSpPr>
          <p:cNvPr id="20" name="Text 16"/>
          <p:cNvSpPr txBox="1"/>
          <p:nvPr/>
        </p:nvSpPr>
        <p:spPr>
          <a:xfrm>
            <a:off x="7607808" y="3850894"/>
            <a:ext cx="3831336" cy="977138"/>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Not biases, not normalization parameters (§10).</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§12 · REGULARIZATION AND GENERALIZATION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L1 pushes small weights exactly to zero</a:t>
            </a:r>
            <a:endParaRPr lang="en-US" sz="3000" dirty="0"/>
          </a:p>
        </p:txBody>
      </p:sp>
      <p:graphicFrame>
        <p:nvGraphicFramePr>
          <p:cNvPr id="5" name="Chart 0" descr=""/>
          <p:cNvGraphicFramePr/>
          <p:nvPr/>
        </p:nvGraphicFramePr>
        <p:xfrm>
          <a:off x="457200" y="1600200"/>
          <a:ext cx="6035040" cy="438912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6949440" y="1645920"/>
            <a:ext cx="4690872" cy="1476248"/>
          </a:xfrm>
          <a:prstGeom prst="roundRect">
            <a:avLst>
              <a:gd name="adj" fmla="val 4955"/>
            </a:avLst>
          </a:prstGeom>
          <a:solidFill>
            <a:schemeClr val="accent1">
              <a:alpha val="10000"/>
            </a:schemeClr>
          </a:solidFill>
          <a:ln w="12700">
            <a:solidFill>
              <a:schemeClr val="accent1">
                <a:alpha val="10000"/>
              </a:schemeClr>
            </a:solidFill>
            <a:prstDash val="solid"/>
          </a:ln>
        </p:spPr>
      </p:sp>
      <p:sp>
        <p:nvSpPr>
          <p:cNvPr id="7" name="Text 3"/>
          <p:cNvSpPr txBox="1"/>
          <p:nvPr/>
        </p:nvSpPr>
        <p:spPr>
          <a:xfrm>
            <a:off x="7178040" y="1792224"/>
            <a:ext cx="4233672"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L1 REGULARIZATION</a:t>
            </a:r>
            <a:endParaRPr lang="en-US" sz="1200" dirty="0"/>
          </a:p>
        </p:txBody>
      </p:sp>
      <p:sp>
        <p:nvSpPr>
          <p:cNvPr id="8" name="Text 4"/>
          <p:cNvSpPr txBox="1"/>
          <p:nvPr/>
        </p:nvSpPr>
        <p:spPr>
          <a:xfrm>
            <a:off x="7178040" y="2221992"/>
            <a:ext cx="4233672" cy="708152"/>
          </a:xfrm>
          <a:prstGeom prst="rect">
            <a:avLst/>
          </a:prstGeom>
          <a:noFill/>
          <a:ln/>
        </p:spPr>
        <p:txBody>
          <a:bodyPr wrap="square" lIns="0" tIns="0" rIns="0" bIns="0" rtlCol="0" anchor="t"/>
          <a:lstStyle/>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J′ = J + λ Σ |W|</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gradient:  λ · sign(W)</a:t>
            </a:r>
            <a:endParaRPr lang="en-US" sz="2000" dirty="0"/>
          </a:p>
        </p:txBody>
      </p:sp>
      <p:sp>
        <p:nvSpPr>
          <p:cNvPr id="9" name="Shape 5"/>
          <p:cNvSpPr/>
          <p:nvPr/>
        </p:nvSpPr>
        <p:spPr>
          <a:xfrm>
            <a:off x="7159752" y="3502152"/>
            <a:ext cx="0" cy="1792224"/>
          </a:xfrm>
          <a:prstGeom prst="line">
            <a:avLst/>
          </a:prstGeom>
          <a:noFill/>
          <a:ln w="25400">
            <a:solidFill>
              <a:schemeClr val="accent1">
                <a:alpha val="50000"/>
              </a:schemeClr>
            </a:solidFill>
            <a:prstDash val="solid"/>
          </a:ln>
        </p:spPr>
      </p:sp>
      <p:sp>
        <p:nvSpPr>
          <p:cNvPr id="10" name="Shape 6"/>
          <p:cNvSpPr/>
          <p:nvPr/>
        </p:nvSpPr>
        <p:spPr>
          <a:xfrm>
            <a:off x="6949440" y="3291840"/>
            <a:ext cx="420624" cy="420624"/>
          </a:xfrm>
          <a:prstGeom prst="ellipse">
            <a:avLst/>
          </a:prstGeom>
          <a:solidFill>
            <a:schemeClr val="accent1"/>
          </a:solidFill>
          <a:ln w="25400">
            <a:solidFill>
              <a:schemeClr val="bg1"/>
            </a:solidFill>
            <a:prstDash val="solid"/>
          </a:ln>
        </p:spPr>
      </p:sp>
      <p:sp>
        <p:nvSpPr>
          <p:cNvPr id="11" name="Text 7"/>
          <p:cNvSpPr txBox="1"/>
          <p:nvPr/>
        </p:nvSpPr>
        <p:spPr>
          <a:xfrm>
            <a:off x="6949440" y="32918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2" name="Text 8"/>
          <p:cNvSpPr txBox="1"/>
          <p:nvPr/>
        </p:nvSpPr>
        <p:spPr>
          <a:xfrm>
            <a:off x="7598664" y="3328416"/>
            <a:ext cx="404164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Constant push</a:t>
            </a:r>
            <a:endParaRPr lang="en-US" sz="1900" dirty="0"/>
          </a:p>
        </p:txBody>
      </p:sp>
      <p:sp>
        <p:nvSpPr>
          <p:cNvPr id="13" name="Text 9"/>
          <p:cNvSpPr txBox="1"/>
          <p:nvPr/>
        </p:nvSpPr>
        <p:spPr>
          <a:xfrm>
            <a:off x="7598664" y="3631438"/>
            <a:ext cx="4041648" cy="519938"/>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Small weights reach exactly zero: sparse models.</a:t>
            </a:r>
            <a:endParaRPr lang="en-US" sz="1600" dirty="0"/>
          </a:p>
        </p:txBody>
      </p:sp>
      <p:sp>
        <p:nvSpPr>
          <p:cNvPr id="14" name="Shape 10"/>
          <p:cNvSpPr/>
          <p:nvPr/>
        </p:nvSpPr>
        <p:spPr>
          <a:xfrm>
            <a:off x="6949440" y="4187952"/>
            <a:ext cx="420624" cy="420624"/>
          </a:xfrm>
          <a:prstGeom prst="ellipse">
            <a:avLst/>
          </a:prstGeom>
          <a:solidFill>
            <a:schemeClr val="accent1"/>
          </a:solidFill>
          <a:ln w="25400">
            <a:solidFill>
              <a:schemeClr val="bg1"/>
            </a:solidFill>
            <a:prstDash val="solid"/>
          </a:ln>
        </p:spPr>
      </p:sp>
      <p:sp>
        <p:nvSpPr>
          <p:cNvPr id="15" name="Text 11"/>
          <p:cNvSpPr txBox="1"/>
          <p:nvPr/>
        </p:nvSpPr>
        <p:spPr>
          <a:xfrm>
            <a:off x="6949440" y="4187952"/>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6" name="Text 12"/>
          <p:cNvSpPr txBox="1"/>
          <p:nvPr/>
        </p:nvSpPr>
        <p:spPr>
          <a:xfrm>
            <a:off x="7598664" y="4224528"/>
            <a:ext cx="404164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Uses</a:t>
            </a:r>
            <a:endParaRPr lang="en-US" sz="1900" dirty="0"/>
          </a:p>
        </p:txBody>
      </p:sp>
      <p:sp>
        <p:nvSpPr>
          <p:cNvPr id="17" name="Text 13"/>
          <p:cNvSpPr txBox="1"/>
          <p:nvPr/>
        </p:nvSpPr>
        <p:spPr>
          <a:xfrm>
            <a:off x="7598664" y="4527550"/>
            <a:ext cx="4041648" cy="519938"/>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Feature selection, compression.</a:t>
            </a:r>
            <a:endParaRPr lang="en-US" sz="1600" dirty="0"/>
          </a:p>
        </p:txBody>
      </p:sp>
      <p:sp>
        <p:nvSpPr>
          <p:cNvPr id="18" name="Shape 14"/>
          <p:cNvSpPr/>
          <p:nvPr/>
        </p:nvSpPr>
        <p:spPr>
          <a:xfrm>
            <a:off x="6949440" y="5084064"/>
            <a:ext cx="420624" cy="420624"/>
          </a:xfrm>
          <a:prstGeom prst="ellipse">
            <a:avLst/>
          </a:prstGeom>
          <a:solidFill>
            <a:schemeClr val="accent1"/>
          </a:solidFill>
          <a:ln w="25400">
            <a:solidFill>
              <a:schemeClr val="bg1"/>
            </a:solidFill>
            <a:prstDash val="solid"/>
          </a:ln>
        </p:spPr>
      </p:sp>
      <p:sp>
        <p:nvSpPr>
          <p:cNvPr id="19" name="Text 15"/>
          <p:cNvSpPr txBox="1"/>
          <p:nvPr/>
        </p:nvSpPr>
        <p:spPr>
          <a:xfrm>
            <a:off x="6949440" y="5084064"/>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0" name="Text 16"/>
          <p:cNvSpPr txBox="1"/>
          <p:nvPr/>
        </p:nvSpPr>
        <p:spPr>
          <a:xfrm>
            <a:off x="7598664" y="5120640"/>
            <a:ext cx="404164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Rare in deep learning</a:t>
            </a:r>
            <a:endParaRPr lang="en-US" sz="1900" dirty="0"/>
          </a:p>
        </p:txBody>
      </p:sp>
      <p:sp>
        <p:nvSpPr>
          <p:cNvPr id="21" name="Text 17"/>
          <p:cNvSpPr txBox="1"/>
          <p:nvPr/>
        </p:nvSpPr>
        <p:spPr>
          <a:xfrm>
            <a:off x="7598664" y="5423662"/>
            <a:ext cx="4041648" cy="519938"/>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Sparse dense matrices are not faster without special hardware.</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§12 · REGULARIZATION AND GENERALIZATION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Dropout trains a random sub-network on every step</a:t>
            </a:r>
            <a:endParaRPr lang="en-US" sz="3000" dirty="0"/>
          </a:p>
        </p:txBody>
      </p:sp>
      <p:sp>
        <p:nvSpPr>
          <p:cNvPr id="5" name="Shape 2"/>
          <p:cNvSpPr/>
          <p:nvPr/>
        </p:nvSpPr>
        <p:spPr>
          <a:xfrm flipV="1">
            <a:off x="1097280" y="2057400"/>
            <a:ext cx="1280160" cy="731520"/>
          </a:xfrm>
          <a:prstGeom prst="line">
            <a:avLst/>
          </a:prstGeom>
          <a:noFill/>
          <a:ln w="9525">
            <a:solidFill>
              <a:srgbClr val="C3CCD4"/>
            </a:solidFill>
            <a:prstDash val="solid"/>
          </a:ln>
        </p:spPr>
      </p:sp>
      <p:sp>
        <p:nvSpPr>
          <p:cNvPr id="6" name="Shape 3"/>
          <p:cNvSpPr/>
          <p:nvPr/>
        </p:nvSpPr>
        <p:spPr>
          <a:xfrm>
            <a:off x="1097280" y="2788920"/>
            <a:ext cx="1280160" cy="0"/>
          </a:xfrm>
          <a:prstGeom prst="line">
            <a:avLst/>
          </a:prstGeom>
          <a:noFill/>
          <a:ln w="9525">
            <a:solidFill>
              <a:srgbClr val="C3CCD4"/>
            </a:solidFill>
            <a:prstDash val="solid"/>
          </a:ln>
        </p:spPr>
      </p:sp>
      <p:sp>
        <p:nvSpPr>
          <p:cNvPr id="7" name="Shape 4"/>
          <p:cNvSpPr/>
          <p:nvPr/>
        </p:nvSpPr>
        <p:spPr>
          <a:xfrm>
            <a:off x="1097280" y="2788920"/>
            <a:ext cx="1280160" cy="731520"/>
          </a:xfrm>
          <a:prstGeom prst="line">
            <a:avLst/>
          </a:prstGeom>
          <a:noFill/>
          <a:ln w="9525">
            <a:solidFill>
              <a:srgbClr val="C3CCD4"/>
            </a:solidFill>
            <a:prstDash val="solid"/>
          </a:ln>
        </p:spPr>
      </p:sp>
      <p:sp>
        <p:nvSpPr>
          <p:cNvPr id="8" name="Shape 5"/>
          <p:cNvSpPr/>
          <p:nvPr/>
        </p:nvSpPr>
        <p:spPr>
          <a:xfrm>
            <a:off x="1097280" y="2788920"/>
            <a:ext cx="1280160" cy="1463040"/>
          </a:xfrm>
          <a:prstGeom prst="line">
            <a:avLst/>
          </a:prstGeom>
          <a:noFill/>
          <a:ln w="9525">
            <a:solidFill>
              <a:srgbClr val="C3CCD4"/>
            </a:solidFill>
            <a:prstDash val="solid"/>
          </a:ln>
        </p:spPr>
      </p:sp>
      <p:sp>
        <p:nvSpPr>
          <p:cNvPr id="9" name="Shape 6"/>
          <p:cNvSpPr/>
          <p:nvPr/>
        </p:nvSpPr>
        <p:spPr>
          <a:xfrm>
            <a:off x="1097280" y="2788920"/>
            <a:ext cx="1280160" cy="2194560"/>
          </a:xfrm>
          <a:prstGeom prst="line">
            <a:avLst/>
          </a:prstGeom>
          <a:noFill/>
          <a:ln w="9525">
            <a:solidFill>
              <a:srgbClr val="C3CCD4"/>
            </a:solidFill>
            <a:prstDash val="solid"/>
          </a:ln>
        </p:spPr>
      </p:sp>
      <p:sp>
        <p:nvSpPr>
          <p:cNvPr id="10" name="Shape 7"/>
          <p:cNvSpPr/>
          <p:nvPr/>
        </p:nvSpPr>
        <p:spPr>
          <a:xfrm flipV="1">
            <a:off x="1097280" y="2057400"/>
            <a:ext cx="1280160" cy="1463040"/>
          </a:xfrm>
          <a:prstGeom prst="line">
            <a:avLst/>
          </a:prstGeom>
          <a:noFill/>
          <a:ln w="9525">
            <a:solidFill>
              <a:srgbClr val="C3CCD4"/>
            </a:solidFill>
            <a:prstDash val="solid"/>
          </a:ln>
        </p:spPr>
      </p:sp>
      <p:sp>
        <p:nvSpPr>
          <p:cNvPr id="11" name="Shape 8"/>
          <p:cNvSpPr/>
          <p:nvPr/>
        </p:nvSpPr>
        <p:spPr>
          <a:xfrm flipV="1">
            <a:off x="1097280" y="2788920"/>
            <a:ext cx="1280160" cy="731520"/>
          </a:xfrm>
          <a:prstGeom prst="line">
            <a:avLst/>
          </a:prstGeom>
          <a:noFill/>
          <a:ln w="9525">
            <a:solidFill>
              <a:srgbClr val="C3CCD4"/>
            </a:solidFill>
            <a:prstDash val="solid"/>
          </a:ln>
        </p:spPr>
      </p:sp>
      <p:sp>
        <p:nvSpPr>
          <p:cNvPr id="12" name="Shape 9"/>
          <p:cNvSpPr/>
          <p:nvPr/>
        </p:nvSpPr>
        <p:spPr>
          <a:xfrm>
            <a:off x="1097280" y="3520440"/>
            <a:ext cx="1280160" cy="0"/>
          </a:xfrm>
          <a:prstGeom prst="line">
            <a:avLst/>
          </a:prstGeom>
          <a:noFill/>
          <a:ln w="9525">
            <a:solidFill>
              <a:srgbClr val="C3CCD4"/>
            </a:solidFill>
            <a:prstDash val="solid"/>
          </a:ln>
        </p:spPr>
      </p:sp>
      <p:sp>
        <p:nvSpPr>
          <p:cNvPr id="13" name="Shape 10"/>
          <p:cNvSpPr/>
          <p:nvPr/>
        </p:nvSpPr>
        <p:spPr>
          <a:xfrm>
            <a:off x="1097280" y="3520440"/>
            <a:ext cx="1280160" cy="731520"/>
          </a:xfrm>
          <a:prstGeom prst="line">
            <a:avLst/>
          </a:prstGeom>
          <a:noFill/>
          <a:ln w="9525">
            <a:solidFill>
              <a:srgbClr val="C3CCD4"/>
            </a:solidFill>
            <a:prstDash val="solid"/>
          </a:ln>
        </p:spPr>
      </p:sp>
      <p:sp>
        <p:nvSpPr>
          <p:cNvPr id="14" name="Shape 11"/>
          <p:cNvSpPr/>
          <p:nvPr/>
        </p:nvSpPr>
        <p:spPr>
          <a:xfrm>
            <a:off x="1097280" y="3520440"/>
            <a:ext cx="1280160" cy="1463040"/>
          </a:xfrm>
          <a:prstGeom prst="line">
            <a:avLst/>
          </a:prstGeom>
          <a:noFill/>
          <a:ln w="9525">
            <a:solidFill>
              <a:srgbClr val="C3CCD4"/>
            </a:solidFill>
            <a:prstDash val="solid"/>
          </a:ln>
        </p:spPr>
      </p:sp>
      <p:sp>
        <p:nvSpPr>
          <p:cNvPr id="15" name="Shape 12"/>
          <p:cNvSpPr/>
          <p:nvPr/>
        </p:nvSpPr>
        <p:spPr>
          <a:xfrm flipV="1">
            <a:off x="1097280" y="2057400"/>
            <a:ext cx="1280160" cy="2194560"/>
          </a:xfrm>
          <a:prstGeom prst="line">
            <a:avLst/>
          </a:prstGeom>
          <a:noFill/>
          <a:ln w="9525">
            <a:solidFill>
              <a:srgbClr val="C3CCD4"/>
            </a:solidFill>
            <a:prstDash val="solid"/>
          </a:ln>
        </p:spPr>
      </p:sp>
      <p:sp>
        <p:nvSpPr>
          <p:cNvPr id="16" name="Shape 13"/>
          <p:cNvSpPr/>
          <p:nvPr/>
        </p:nvSpPr>
        <p:spPr>
          <a:xfrm flipV="1">
            <a:off x="1097280" y="2788920"/>
            <a:ext cx="1280160" cy="1463040"/>
          </a:xfrm>
          <a:prstGeom prst="line">
            <a:avLst/>
          </a:prstGeom>
          <a:noFill/>
          <a:ln w="9525">
            <a:solidFill>
              <a:srgbClr val="C3CCD4"/>
            </a:solidFill>
            <a:prstDash val="solid"/>
          </a:ln>
        </p:spPr>
      </p:sp>
      <p:sp>
        <p:nvSpPr>
          <p:cNvPr id="17" name="Shape 14"/>
          <p:cNvSpPr/>
          <p:nvPr/>
        </p:nvSpPr>
        <p:spPr>
          <a:xfrm flipV="1">
            <a:off x="1097280" y="3520440"/>
            <a:ext cx="1280160" cy="731520"/>
          </a:xfrm>
          <a:prstGeom prst="line">
            <a:avLst/>
          </a:prstGeom>
          <a:noFill/>
          <a:ln w="9525">
            <a:solidFill>
              <a:srgbClr val="C3CCD4"/>
            </a:solidFill>
            <a:prstDash val="solid"/>
          </a:ln>
        </p:spPr>
      </p:sp>
      <p:sp>
        <p:nvSpPr>
          <p:cNvPr id="18" name="Shape 15"/>
          <p:cNvSpPr/>
          <p:nvPr/>
        </p:nvSpPr>
        <p:spPr>
          <a:xfrm>
            <a:off x="1097280" y="4251960"/>
            <a:ext cx="1280160" cy="0"/>
          </a:xfrm>
          <a:prstGeom prst="line">
            <a:avLst/>
          </a:prstGeom>
          <a:noFill/>
          <a:ln w="9525">
            <a:solidFill>
              <a:srgbClr val="C3CCD4"/>
            </a:solidFill>
            <a:prstDash val="solid"/>
          </a:ln>
        </p:spPr>
      </p:sp>
      <p:sp>
        <p:nvSpPr>
          <p:cNvPr id="19" name="Shape 16"/>
          <p:cNvSpPr/>
          <p:nvPr/>
        </p:nvSpPr>
        <p:spPr>
          <a:xfrm>
            <a:off x="1097280" y="4251960"/>
            <a:ext cx="1280160" cy="731520"/>
          </a:xfrm>
          <a:prstGeom prst="line">
            <a:avLst/>
          </a:prstGeom>
          <a:noFill/>
          <a:ln w="9525">
            <a:solidFill>
              <a:srgbClr val="C3CCD4"/>
            </a:solidFill>
            <a:prstDash val="solid"/>
          </a:ln>
        </p:spPr>
      </p:sp>
      <p:sp>
        <p:nvSpPr>
          <p:cNvPr id="20" name="Shape 17"/>
          <p:cNvSpPr/>
          <p:nvPr/>
        </p:nvSpPr>
        <p:spPr>
          <a:xfrm>
            <a:off x="2743200" y="2057400"/>
            <a:ext cx="1280160" cy="0"/>
          </a:xfrm>
          <a:prstGeom prst="line">
            <a:avLst/>
          </a:prstGeom>
          <a:noFill/>
          <a:ln w="9525">
            <a:solidFill>
              <a:srgbClr val="C3CCD4"/>
            </a:solidFill>
            <a:prstDash val="solid"/>
          </a:ln>
        </p:spPr>
      </p:sp>
      <p:sp>
        <p:nvSpPr>
          <p:cNvPr id="21" name="Shape 18"/>
          <p:cNvSpPr/>
          <p:nvPr/>
        </p:nvSpPr>
        <p:spPr>
          <a:xfrm>
            <a:off x="2743200" y="2057400"/>
            <a:ext cx="1280160" cy="731520"/>
          </a:xfrm>
          <a:prstGeom prst="line">
            <a:avLst/>
          </a:prstGeom>
          <a:noFill/>
          <a:ln w="9525">
            <a:solidFill>
              <a:srgbClr val="C3CCD4"/>
            </a:solidFill>
            <a:prstDash val="solid"/>
          </a:ln>
        </p:spPr>
      </p:sp>
      <p:sp>
        <p:nvSpPr>
          <p:cNvPr id="22" name="Shape 19"/>
          <p:cNvSpPr/>
          <p:nvPr/>
        </p:nvSpPr>
        <p:spPr>
          <a:xfrm>
            <a:off x="2743200" y="2057400"/>
            <a:ext cx="1280160" cy="1463040"/>
          </a:xfrm>
          <a:prstGeom prst="line">
            <a:avLst/>
          </a:prstGeom>
          <a:noFill/>
          <a:ln w="9525">
            <a:solidFill>
              <a:srgbClr val="C3CCD4"/>
            </a:solidFill>
            <a:prstDash val="solid"/>
          </a:ln>
        </p:spPr>
      </p:sp>
      <p:sp>
        <p:nvSpPr>
          <p:cNvPr id="23" name="Shape 20"/>
          <p:cNvSpPr/>
          <p:nvPr/>
        </p:nvSpPr>
        <p:spPr>
          <a:xfrm>
            <a:off x="2743200" y="2057400"/>
            <a:ext cx="1280160" cy="2194560"/>
          </a:xfrm>
          <a:prstGeom prst="line">
            <a:avLst/>
          </a:prstGeom>
          <a:noFill/>
          <a:ln w="9525">
            <a:solidFill>
              <a:srgbClr val="C3CCD4"/>
            </a:solidFill>
            <a:prstDash val="solid"/>
          </a:ln>
        </p:spPr>
      </p:sp>
      <p:sp>
        <p:nvSpPr>
          <p:cNvPr id="24" name="Shape 21"/>
          <p:cNvSpPr/>
          <p:nvPr/>
        </p:nvSpPr>
        <p:spPr>
          <a:xfrm>
            <a:off x="2743200" y="2057400"/>
            <a:ext cx="1280160" cy="2926080"/>
          </a:xfrm>
          <a:prstGeom prst="line">
            <a:avLst/>
          </a:prstGeom>
          <a:noFill/>
          <a:ln w="9525">
            <a:solidFill>
              <a:srgbClr val="C3CCD4"/>
            </a:solidFill>
            <a:prstDash val="solid"/>
          </a:ln>
        </p:spPr>
      </p:sp>
      <p:sp>
        <p:nvSpPr>
          <p:cNvPr id="25" name="Shape 22"/>
          <p:cNvSpPr/>
          <p:nvPr/>
        </p:nvSpPr>
        <p:spPr>
          <a:xfrm flipV="1">
            <a:off x="2743200" y="2057400"/>
            <a:ext cx="1280160" cy="731520"/>
          </a:xfrm>
          <a:prstGeom prst="line">
            <a:avLst/>
          </a:prstGeom>
          <a:noFill/>
          <a:ln w="9525">
            <a:solidFill>
              <a:srgbClr val="C3CCD4"/>
            </a:solidFill>
            <a:prstDash val="solid"/>
          </a:ln>
        </p:spPr>
      </p:sp>
      <p:sp>
        <p:nvSpPr>
          <p:cNvPr id="26" name="Shape 23"/>
          <p:cNvSpPr/>
          <p:nvPr/>
        </p:nvSpPr>
        <p:spPr>
          <a:xfrm>
            <a:off x="2743200" y="2788920"/>
            <a:ext cx="1280160" cy="0"/>
          </a:xfrm>
          <a:prstGeom prst="line">
            <a:avLst/>
          </a:prstGeom>
          <a:noFill/>
          <a:ln w="9525">
            <a:solidFill>
              <a:srgbClr val="C3CCD4"/>
            </a:solidFill>
            <a:prstDash val="solid"/>
          </a:ln>
        </p:spPr>
      </p:sp>
      <p:sp>
        <p:nvSpPr>
          <p:cNvPr id="27" name="Shape 24"/>
          <p:cNvSpPr/>
          <p:nvPr/>
        </p:nvSpPr>
        <p:spPr>
          <a:xfrm>
            <a:off x="2743200" y="2788920"/>
            <a:ext cx="1280160" cy="731520"/>
          </a:xfrm>
          <a:prstGeom prst="line">
            <a:avLst/>
          </a:prstGeom>
          <a:noFill/>
          <a:ln w="9525">
            <a:solidFill>
              <a:srgbClr val="C3CCD4"/>
            </a:solidFill>
            <a:prstDash val="solid"/>
          </a:ln>
        </p:spPr>
      </p:sp>
      <p:sp>
        <p:nvSpPr>
          <p:cNvPr id="28" name="Shape 25"/>
          <p:cNvSpPr/>
          <p:nvPr/>
        </p:nvSpPr>
        <p:spPr>
          <a:xfrm>
            <a:off x="2743200" y="2788920"/>
            <a:ext cx="1280160" cy="1463040"/>
          </a:xfrm>
          <a:prstGeom prst="line">
            <a:avLst/>
          </a:prstGeom>
          <a:noFill/>
          <a:ln w="9525">
            <a:solidFill>
              <a:srgbClr val="C3CCD4"/>
            </a:solidFill>
            <a:prstDash val="solid"/>
          </a:ln>
        </p:spPr>
      </p:sp>
      <p:sp>
        <p:nvSpPr>
          <p:cNvPr id="29" name="Shape 26"/>
          <p:cNvSpPr/>
          <p:nvPr/>
        </p:nvSpPr>
        <p:spPr>
          <a:xfrm>
            <a:off x="2743200" y="2788920"/>
            <a:ext cx="1280160" cy="2194560"/>
          </a:xfrm>
          <a:prstGeom prst="line">
            <a:avLst/>
          </a:prstGeom>
          <a:noFill/>
          <a:ln w="9525">
            <a:solidFill>
              <a:srgbClr val="C3CCD4"/>
            </a:solidFill>
            <a:prstDash val="solid"/>
          </a:ln>
        </p:spPr>
      </p:sp>
      <p:sp>
        <p:nvSpPr>
          <p:cNvPr id="30" name="Shape 27"/>
          <p:cNvSpPr/>
          <p:nvPr/>
        </p:nvSpPr>
        <p:spPr>
          <a:xfrm flipV="1">
            <a:off x="2743200" y="2057400"/>
            <a:ext cx="1280160" cy="1463040"/>
          </a:xfrm>
          <a:prstGeom prst="line">
            <a:avLst/>
          </a:prstGeom>
          <a:noFill/>
          <a:ln w="9525">
            <a:solidFill>
              <a:srgbClr val="C3CCD4"/>
            </a:solidFill>
            <a:prstDash val="solid"/>
          </a:ln>
        </p:spPr>
      </p:sp>
      <p:sp>
        <p:nvSpPr>
          <p:cNvPr id="31" name="Shape 28"/>
          <p:cNvSpPr/>
          <p:nvPr/>
        </p:nvSpPr>
        <p:spPr>
          <a:xfrm flipV="1">
            <a:off x="2743200" y="2788920"/>
            <a:ext cx="1280160" cy="731520"/>
          </a:xfrm>
          <a:prstGeom prst="line">
            <a:avLst/>
          </a:prstGeom>
          <a:noFill/>
          <a:ln w="9525">
            <a:solidFill>
              <a:srgbClr val="C3CCD4"/>
            </a:solidFill>
            <a:prstDash val="solid"/>
          </a:ln>
        </p:spPr>
      </p:sp>
      <p:sp>
        <p:nvSpPr>
          <p:cNvPr id="32" name="Shape 29"/>
          <p:cNvSpPr/>
          <p:nvPr/>
        </p:nvSpPr>
        <p:spPr>
          <a:xfrm>
            <a:off x="2743200" y="3520440"/>
            <a:ext cx="1280160" cy="0"/>
          </a:xfrm>
          <a:prstGeom prst="line">
            <a:avLst/>
          </a:prstGeom>
          <a:noFill/>
          <a:ln w="9525">
            <a:solidFill>
              <a:srgbClr val="C3CCD4"/>
            </a:solidFill>
            <a:prstDash val="solid"/>
          </a:ln>
        </p:spPr>
      </p:sp>
      <p:sp>
        <p:nvSpPr>
          <p:cNvPr id="33" name="Shape 30"/>
          <p:cNvSpPr/>
          <p:nvPr/>
        </p:nvSpPr>
        <p:spPr>
          <a:xfrm>
            <a:off x="2743200" y="3520440"/>
            <a:ext cx="1280160" cy="731520"/>
          </a:xfrm>
          <a:prstGeom prst="line">
            <a:avLst/>
          </a:prstGeom>
          <a:noFill/>
          <a:ln w="9525">
            <a:solidFill>
              <a:srgbClr val="C3CCD4"/>
            </a:solidFill>
            <a:prstDash val="solid"/>
          </a:ln>
        </p:spPr>
      </p:sp>
      <p:sp>
        <p:nvSpPr>
          <p:cNvPr id="34" name="Shape 31"/>
          <p:cNvSpPr/>
          <p:nvPr/>
        </p:nvSpPr>
        <p:spPr>
          <a:xfrm>
            <a:off x="2743200" y="3520440"/>
            <a:ext cx="1280160" cy="1463040"/>
          </a:xfrm>
          <a:prstGeom prst="line">
            <a:avLst/>
          </a:prstGeom>
          <a:noFill/>
          <a:ln w="9525">
            <a:solidFill>
              <a:srgbClr val="C3CCD4"/>
            </a:solidFill>
            <a:prstDash val="solid"/>
          </a:ln>
        </p:spPr>
      </p:sp>
      <p:sp>
        <p:nvSpPr>
          <p:cNvPr id="35" name="Shape 32"/>
          <p:cNvSpPr/>
          <p:nvPr/>
        </p:nvSpPr>
        <p:spPr>
          <a:xfrm flipV="1">
            <a:off x="2743200" y="2057400"/>
            <a:ext cx="1280160" cy="2194560"/>
          </a:xfrm>
          <a:prstGeom prst="line">
            <a:avLst/>
          </a:prstGeom>
          <a:noFill/>
          <a:ln w="9525">
            <a:solidFill>
              <a:srgbClr val="C3CCD4"/>
            </a:solidFill>
            <a:prstDash val="solid"/>
          </a:ln>
        </p:spPr>
      </p:sp>
      <p:sp>
        <p:nvSpPr>
          <p:cNvPr id="36" name="Shape 33"/>
          <p:cNvSpPr/>
          <p:nvPr/>
        </p:nvSpPr>
        <p:spPr>
          <a:xfrm flipV="1">
            <a:off x="2743200" y="2788920"/>
            <a:ext cx="1280160" cy="1463040"/>
          </a:xfrm>
          <a:prstGeom prst="line">
            <a:avLst/>
          </a:prstGeom>
          <a:noFill/>
          <a:ln w="9525">
            <a:solidFill>
              <a:srgbClr val="C3CCD4"/>
            </a:solidFill>
            <a:prstDash val="solid"/>
          </a:ln>
        </p:spPr>
      </p:sp>
      <p:sp>
        <p:nvSpPr>
          <p:cNvPr id="37" name="Shape 34"/>
          <p:cNvSpPr/>
          <p:nvPr/>
        </p:nvSpPr>
        <p:spPr>
          <a:xfrm flipV="1">
            <a:off x="2743200" y="3520440"/>
            <a:ext cx="1280160" cy="731520"/>
          </a:xfrm>
          <a:prstGeom prst="line">
            <a:avLst/>
          </a:prstGeom>
          <a:noFill/>
          <a:ln w="9525">
            <a:solidFill>
              <a:srgbClr val="C3CCD4"/>
            </a:solidFill>
            <a:prstDash val="solid"/>
          </a:ln>
        </p:spPr>
      </p:sp>
      <p:sp>
        <p:nvSpPr>
          <p:cNvPr id="38" name="Shape 35"/>
          <p:cNvSpPr/>
          <p:nvPr/>
        </p:nvSpPr>
        <p:spPr>
          <a:xfrm>
            <a:off x="2743200" y="4251960"/>
            <a:ext cx="1280160" cy="0"/>
          </a:xfrm>
          <a:prstGeom prst="line">
            <a:avLst/>
          </a:prstGeom>
          <a:noFill/>
          <a:ln w="9525">
            <a:solidFill>
              <a:srgbClr val="C3CCD4"/>
            </a:solidFill>
            <a:prstDash val="solid"/>
          </a:ln>
        </p:spPr>
      </p:sp>
      <p:sp>
        <p:nvSpPr>
          <p:cNvPr id="39" name="Shape 36"/>
          <p:cNvSpPr/>
          <p:nvPr/>
        </p:nvSpPr>
        <p:spPr>
          <a:xfrm>
            <a:off x="2743200" y="4251960"/>
            <a:ext cx="1280160" cy="731520"/>
          </a:xfrm>
          <a:prstGeom prst="line">
            <a:avLst/>
          </a:prstGeom>
          <a:noFill/>
          <a:ln w="9525">
            <a:solidFill>
              <a:srgbClr val="C3CCD4"/>
            </a:solidFill>
            <a:prstDash val="solid"/>
          </a:ln>
        </p:spPr>
      </p:sp>
      <p:sp>
        <p:nvSpPr>
          <p:cNvPr id="40" name="Shape 37"/>
          <p:cNvSpPr/>
          <p:nvPr/>
        </p:nvSpPr>
        <p:spPr>
          <a:xfrm flipV="1">
            <a:off x="2743200" y="2057400"/>
            <a:ext cx="1280160" cy="2926080"/>
          </a:xfrm>
          <a:prstGeom prst="line">
            <a:avLst/>
          </a:prstGeom>
          <a:noFill/>
          <a:ln w="9525">
            <a:solidFill>
              <a:srgbClr val="C3CCD4"/>
            </a:solidFill>
            <a:prstDash val="solid"/>
          </a:ln>
        </p:spPr>
      </p:sp>
      <p:sp>
        <p:nvSpPr>
          <p:cNvPr id="41" name="Shape 38"/>
          <p:cNvSpPr/>
          <p:nvPr/>
        </p:nvSpPr>
        <p:spPr>
          <a:xfrm flipV="1">
            <a:off x="2743200" y="2788920"/>
            <a:ext cx="1280160" cy="2194560"/>
          </a:xfrm>
          <a:prstGeom prst="line">
            <a:avLst/>
          </a:prstGeom>
          <a:noFill/>
          <a:ln w="9525">
            <a:solidFill>
              <a:srgbClr val="C3CCD4"/>
            </a:solidFill>
            <a:prstDash val="solid"/>
          </a:ln>
        </p:spPr>
      </p:sp>
      <p:sp>
        <p:nvSpPr>
          <p:cNvPr id="42" name="Shape 39"/>
          <p:cNvSpPr/>
          <p:nvPr/>
        </p:nvSpPr>
        <p:spPr>
          <a:xfrm flipV="1">
            <a:off x="2743200" y="3520440"/>
            <a:ext cx="1280160" cy="1463040"/>
          </a:xfrm>
          <a:prstGeom prst="line">
            <a:avLst/>
          </a:prstGeom>
          <a:noFill/>
          <a:ln w="9525">
            <a:solidFill>
              <a:srgbClr val="C3CCD4"/>
            </a:solidFill>
            <a:prstDash val="solid"/>
          </a:ln>
        </p:spPr>
      </p:sp>
      <p:sp>
        <p:nvSpPr>
          <p:cNvPr id="43" name="Shape 40"/>
          <p:cNvSpPr/>
          <p:nvPr/>
        </p:nvSpPr>
        <p:spPr>
          <a:xfrm flipV="1">
            <a:off x="2743200" y="4251960"/>
            <a:ext cx="1280160" cy="731520"/>
          </a:xfrm>
          <a:prstGeom prst="line">
            <a:avLst/>
          </a:prstGeom>
          <a:noFill/>
          <a:ln w="9525">
            <a:solidFill>
              <a:srgbClr val="C3CCD4"/>
            </a:solidFill>
            <a:prstDash val="solid"/>
          </a:ln>
        </p:spPr>
      </p:sp>
      <p:sp>
        <p:nvSpPr>
          <p:cNvPr id="44" name="Shape 41"/>
          <p:cNvSpPr/>
          <p:nvPr/>
        </p:nvSpPr>
        <p:spPr>
          <a:xfrm>
            <a:off x="2743200" y="4983480"/>
            <a:ext cx="1280160" cy="0"/>
          </a:xfrm>
          <a:prstGeom prst="line">
            <a:avLst/>
          </a:prstGeom>
          <a:noFill/>
          <a:ln w="9525">
            <a:solidFill>
              <a:srgbClr val="C3CCD4"/>
            </a:solidFill>
            <a:prstDash val="solid"/>
          </a:ln>
        </p:spPr>
      </p:sp>
      <p:sp>
        <p:nvSpPr>
          <p:cNvPr id="45" name="Shape 42"/>
          <p:cNvSpPr/>
          <p:nvPr/>
        </p:nvSpPr>
        <p:spPr>
          <a:xfrm>
            <a:off x="4389120" y="2057400"/>
            <a:ext cx="1280160" cy="1097280"/>
          </a:xfrm>
          <a:prstGeom prst="line">
            <a:avLst/>
          </a:prstGeom>
          <a:noFill/>
          <a:ln w="9525">
            <a:solidFill>
              <a:srgbClr val="C3CCD4"/>
            </a:solidFill>
            <a:prstDash val="solid"/>
          </a:ln>
        </p:spPr>
      </p:sp>
      <p:sp>
        <p:nvSpPr>
          <p:cNvPr id="46" name="Shape 43"/>
          <p:cNvSpPr/>
          <p:nvPr/>
        </p:nvSpPr>
        <p:spPr>
          <a:xfrm>
            <a:off x="4389120" y="2057400"/>
            <a:ext cx="1280160" cy="1828800"/>
          </a:xfrm>
          <a:prstGeom prst="line">
            <a:avLst/>
          </a:prstGeom>
          <a:noFill/>
          <a:ln w="9525">
            <a:solidFill>
              <a:srgbClr val="C3CCD4"/>
            </a:solidFill>
            <a:prstDash val="solid"/>
          </a:ln>
        </p:spPr>
      </p:sp>
      <p:sp>
        <p:nvSpPr>
          <p:cNvPr id="47" name="Shape 44"/>
          <p:cNvSpPr/>
          <p:nvPr/>
        </p:nvSpPr>
        <p:spPr>
          <a:xfrm>
            <a:off x="4389120" y="2788920"/>
            <a:ext cx="1280160" cy="365760"/>
          </a:xfrm>
          <a:prstGeom prst="line">
            <a:avLst/>
          </a:prstGeom>
          <a:noFill/>
          <a:ln w="9525">
            <a:solidFill>
              <a:srgbClr val="C3CCD4"/>
            </a:solidFill>
            <a:prstDash val="solid"/>
          </a:ln>
        </p:spPr>
      </p:sp>
      <p:sp>
        <p:nvSpPr>
          <p:cNvPr id="48" name="Shape 45"/>
          <p:cNvSpPr/>
          <p:nvPr/>
        </p:nvSpPr>
        <p:spPr>
          <a:xfrm>
            <a:off x="4389120" y="2788920"/>
            <a:ext cx="1280160" cy="1097280"/>
          </a:xfrm>
          <a:prstGeom prst="line">
            <a:avLst/>
          </a:prstGeom>
          <a:noFill/>
          <a:ln w="9525">
            <a:solidFill>
              <a:srgbClr val="C3CCD4"/>
            </a:solidFill>
            <a:prstDash val="solid"/>
          </a:ln>
        </p:spPr>
      </p:sp>
      <p:sp>
        <p:nvSpPr>
          <p:cNvPr id="49" name="Shape 46"/>
          <p:cNvSpPr/>
          <p:nvPr/>
        </p:nvSpPr>
        <p:spPr>
          <a:xfrm flipV="1">
            <a:off x="4389120" y="3154680"/>
            <a:ext cx="1280160" cy="365760"/>
          </a:xfrm>
          <a:prstGeom prst="line">
            <a:avLst/>
          </a:prstGeom>
          <a:noFill/>
          <a:ln w="9525">
            <a:solidFill>
              <a:srgbClr val="C3CCD4"/>
            </a:solidFill>
            <a:prstDash val="solid"/>
          </a:ln>
        </p:spPr>
      </p:sp>
      <p:sp>
        <p:nvSpPr>
          <p:cNvPr id="50" name="Shape 47"/>
          <p:cNvSpPr/>
          <p:nvPr/>
        </p:nvSpPr>
        <p:spPr>
          <a:xfrm>
            <a:off x="4389120" y="3520440"/>
            <a:ext cx="1280160" cy="365760"/>
          </a:xfrm>
          <a:prstGeom prst="line">
            <a:avLst/>
          </a:prstGeom>
          <a:noFill/>
          <a:ln w="9525">
            <a:solidFill>
              <a:srgbClr val="C3CCD4"/>
            </a:solidFill>
            <a:prstDash val="solid"/>
          </a:ln>
        </p:spPr>
      </p:sp>
      <p:sp>
        <p:nvSpPr>
          <p:cNvPr id="51" name="Shape 48"/>
          <p:cNvSpPr/>
          <p:nvPr/>
        </p:nvSpPr>
        <p:spPr>
          <a:xfrm flipV="1">
            <a:off x="4389120" y="3154680"/>
            <a:ext cx="1280160" cy="1097280"/>
          </a:xfrm>
          <a:prstGeom prst="line">
            <a:avLst/>
          </a:prstGeom>
          <a:noFill/>
          <a:ln w="9525">
            <a:solidFill>
              <a:srgbClr val="C3CCD4"/>
            </a:solidFill>
            <a:prstDash val="solid"/>
          </a:ln>
        </p:spPr>
      </p:sp>
      <p:sp>
        <p:nvSpPr>
          <p:cNvPr id="52" name="Shape 49"/>
          <p:cNvSpPr/>
          <p:nvPr/>
        </p:nvSpPr>
        <p:spPr>
          <a:xfrm flipV="1">
            <a:off x="4389120" y="3886200"/>
            <a:ext cx="1280160" cy="365760"/>
          </a:xfrm>
          <a:prstGeom prst="line">
            <a:avLst/>
          </a:prstGeom>
          <a:noFill/>
          <a:ln w="9525">
            <a:solidFill>
              <a:srgbClr val="C3CCD4"/>
            </a:solidFill>
            <a:prstDash val="solid"/>
          </a:ln>
        </p:spPr>
      </p:sp>
      <p:sp>
        <p:nvSpPr>
          <p:cNvPr id="53" name="Shape 50"/>
          <p:cNvSpPr/>
          <p:nvPr/>
        </p:nvSpPr>
        <p:spPr>
          <a:xfrm flipV="1">
            <a:off x="4389120" y="3154680"/>
            <a:ext cx="1280160" cy="1828800"/>
          </a:xfrm>
          <a:prstGeom prst="line">
            <a:avLst/>
          </a:prstGeom>
          <a:noFill/>
          <a:ln w="9525">
            <a:solidFill>
              <a:srgbClr val="C3CCD4"/>
            </a:solidFill>
            <a:prstDash val="solid"/>
          </a:ln>
        </p:spPr>
      </p:sp>
      <p:sp>
        <p:nvSpPr>
          <p:cNvPr id="54" name="Shape 51"/>
          <p:cNvSpPr/>
          <p:nvPr/>
        </p:nvSpPr>
        <p:spPr>
          <a:xfrm flipV="1">
            <a:off x="4389120" y="3886200"/>
            <a:ext cx="1280160" cy="1097280"/>
          </a:xfrm>
          <a:prstGeom prst="line">
            <a:avLst/>
          </a:prstGeom>
          <a:noFill/>
          <a:ln w="9525">
            <a:solidFill>
              <a:srgbClr val="C3CCD4"/>
            </a:solidFill>
            <a:prstDash val="solid"/>
          </a:ln>
        </p:spPr>
      </p:sp>
      <p:sp>
        <p:nvSpPr>
          <p:cNvPr id="55" name="Shape 52"/>
          <p:cNvSpPr/>
          <p:nvPr/>
        </p:nvSpPr>
        <p:spPr>
          <a:xfrm>
            <a:off x="731520" y="2606040"/>
            <a:ext cx="365760" cy="365760"/>
          </a:xfrm>
          <a:prstGeom prst="ellipse">
            <a:avLst/>
          </a:prstGeom>
          <a:solidFill>
            <a:schemeClr val="bg2"/>
          </a:solidFill>
          <a:ln w="15875">
            <a:solidFill>
              <a:schemeClr val="tx1"/>
            </a:solidFill>
            <a:prstDash val="solid"/>
          </a:ln>
        </p:spPr>
      </p:sp>
      <p:sp>
        <p:nvSpPr>
          <p:cNvPr id="56" name="Shape 53"/>
          <p:cNvSpPr/>
          <p:nvPr/>
        </p:nvSpPr>
        <p:spPr>
          <a:xfrm>
            <a:off x="731520" y="3337560"/>
            <a:ext cx="365760" cy="365760"/>
          </a:xfrm>
          <a:prstGeom prst="ellipse">
            <a:avLst/>
          </a:prstGeom>
          <a:solidFill>
            <a:schemeClr val="bg2"/>
          </a:solidFill>
          <a:ln w="15875">
            <a:solidFill>
              <a:schemeClr val="tx1"/>
            </a:solidFill>
            <a:prstDash val="solid"/>
          </a:ln>
        </p:spPr>
      </p:sp>
      <p:sp>
        <p:nvSpPr>
          <p:cNvPr id="57" name="Shape 54"/>
          <p:cNvSpPr/>
          <p:nvPr/>
        </p:nvSpPr>
        <p:spPr>
          <a:xfrm>
            <a:off x="731520" y="4069080"/>
            <a:ext cx="365760" cy="365760"/>
          </a:xfrm>
          <a:prstGeom prst="ellipse">
            <a:avLst/>
          </a:prstGeom>
          <a:solidFill>
            <a:schemeClr val="bg2"/>
          </a:solidFill>
          <a:ln w="15875">
            <a:solidFill>
              <a:schemeClr val="tx1"/>
            </a:solidFill>
            <a:prstDash val="solid"/>
          </a:ln>
        </p:spPr>
      </p:sp>
      <p:sp>
        <p:nvSpPr>
          <p:cNvPr id="58" name="Shape 55"/>
          <p:cNvSpPr/>
          <p:nvPr/>
        </p:nvSpPr>
        <p:spPr>
          <a:xfrm>
            <a:off x="2377440" y="1874520"/>
            <a:ext cx="365760" cy="365760"/>
          </a:xfrm>
          <a:prstGeom prst="ellipse">
            <a:avLst/>
          </a:prstGeom>
          <a:solidFill>
            <a:schemeClr val="bg1"/>
          </a:solidFill>
          <a:ln w="15875">
            <a:solidFill>
              <a:schemeClr val="accent1"/>
            </a:solidFill>
            <a:prstDash val="solid"/>
          </a:ln>
        </p:spPr>
      </p:sp>
      <p:sp>
        <p:nvSpPr>
          <p:cNvPr id="59" name="Shape 56"/>
          <p:cNvSpPr/>
          <p:nvPr/>
        </p:nvSpPr>
        <p:spPr>
          <a:xfrm>
            <a:off x="2377440" y="2606040"/>
            <a:ext cx="365760" cy="365760"/>
          </a:xfrm>
          <a:prstGeom prst="ellipse">
            <a:avLst/>
          </a:prstGeom>
          <a:solidFill>
            <a:schemeClr val="bg2"/>
          </a:solidFill>
          <a:ln w="15875">
            <a:solidFill>
              <a:srgbClr val="C3CCD4"/>
            </a:solidFill>
            <a:prstDash val="dash"/>
          </a:ln>
        </p:spPr>
      </p:sp>
      <p:sp>
        <p:nvSpPr>
          <p:cNvPr id="60" name="Shape 57"/>
          <p:cNvSpPr/>
          <p:nvPr/>
        </p:nvSpPr>
        <p:spPr>
          <a:xfrm>
            <a:off x="2377440" y="3337560"/>
            <a:ext cx="365760" cy="365760"/>
          </a:xfrm>
          <a:prstGeom prst="ellipse">
            <a:avLst/>
          </a:prstGeom>
          <a:solidFill>
            <a:schemeClr val="bg1"/>
          </a:solidFill>
          <a:ln w="15875">
            <a:solidFill>
              <a:schemeClr val="accent1"/>
            </a:solidFill>
            <a:prstDash val="solid"/>
          </a:ln>
        </p:spPr>
      </p:sp>
      <p:sp>
        <p:nvSpPr>
          <p:cNvPr id="61" name="Shape 58"/>
          <p:cNvSpPr/>
          <p:nvPr/>
        </p:nvSpPr>
        <p:spPr>
          <a:xfrm>
            <a:off x="2377440" y="4069080"/>
            <a:ext cx="365760" cy="365760"/>
          </a:xfrm>
          <a:prstGeom prst="ellipse">
            <a:avLst/>
          </a:prstGeom>
          <a:solidFill>
            <a:schemeClr val="bg2"/>
          </a:solidFill>
          <a:ln w="15875">
            <a:solidFill>
              <a:srgbClr val="C3CCD4"/>
            </a:solidFill>
            <a:prstDash val="dash"/>
          </a:ln>
        </p:spPr>
      </p:sp>
      <p:sp>
        <p:nvSpPr>
          <p:cNvPr id="62" name="Shape 59"/>
          <p:cNvSpPr/>
          <p:nvPr/>
        </p:nvSpPr>
        <p:spPr>
          <a:xfrm>
            <a:off x="2377440" y="4800600"/>
            <a:ext cx="365760" cy="365760"/>
          </a:xfrm>
          <a:prstGeom prst="ellipse">
            <a:avLst/>
          </a:prstGeom>
          <a:solidFill>
            <a:schemeClr val="bg1"/>
          </a:solidFill>
          <a:ln w="15875">
            <a:solidFill>
              <a:schemeClr val="accent1"/>
            </a:solidFill>
            <a:prstDash val="solid"/>
          </a:ln>
        </p:spPr>
      </p:sp>
      <p:sp>
        <p:nvSpPr>
          <p:cNvPr id="63" name="Shape 60"/>
          <p:cNvSpPr/>
          <p:nvPr/>
        </p:nvSpPr>
        <p:spPr>
          <a:xfrm>
            <a:off x="4023360" y="1874520"/>
            <a:ext cx="365760" cy="365760"/>
          </a:xfrm>
          <a:prstGeom prst="ellipse">
            <a:avLst/>
          </a:prstGeom>
          <a:solidFill>
            <a:schemeClr val="bg2"/>
          </a:solidFill>
          <a:ln w="15875">
            <a:solidFill>
              <a:srgbClr val="C3CCD4"/>
            </a:solidFill>
            <a:prstDash val="dash"/>
          </a:ln>
        </p:spPr>
      </p:sp>
      <p:sp>
        <p:nvSpPr>
          <p:cNvPr id="64" name="Shape 61"/>
          <p:cNvSpPr/>
          <p:nvPr/>
        </p:nvSpPr>
        <p:spPr>
          <a:xfrm>
            <a:off x="4023360" y="2606040"/>
            <a:ext cx="365760" cy="365760"/>
          </a:xfrm>
          <a:prstGeom prst="ellipse">
            <a:avLst/>
          </a:prstGeom>
          <a:solidFill>
            <a:schemeClr val="bg1"/>
          </a:solidFill>
          <a:ln w="15875">
            <a:solidFill>
              <a:schemeClr val="accent1"/>
            </a:solidFill>
            <a:prstDash val="solid"/>
          </a:ln>
        </p:spPr>
      </p:sp>
      <p:sp>
        <p:nvSpPr>
          <p:cNvPr id="65" name="Shape 62"/>
          <p:cNvSpPr/>
          <p:nvPr/>
        </p:nvSpPr>
        <p:spPr>
          <a:xfrm>
            <a:off x="4023360" y="3337560"/>
            <a:ext cx="365760" cy="365760"/>
          </a:xfrm>
          <a:prstGeom prst="ellipse">
            <a:avLst/>
          </a:prstGeom>
          <a:solidFill>
            <a:schemeClr val="bg2"/>
          </a:solidFill>
          <a:ln w="15875">
            <a:solidFill>
              <a:srgbClr val="C3CCD4"/>
            </a:solidFill>
            <a:prstDash val="dash"/>
          </a:ln>
        </p:spPr>
      </p:sp>
      <p:sp>
        <p:nvSpPr>
          <p:cNvPr id="66" name="Shape 63"/>
          <p:cNvSpPr/>
          <p:nvPr/>
        </p:nvSpPr>
        <p:spPr>
          <a:xfrm>
            <a:off x="4023360" y="4069080"/>
            <a:ext cx="365760" cy="365760"/>
          </a:xfrm>
          <a:prstGeom prst="ellipse">
            <a:avLst/>
          </a:prstGeom>
          <a:solidFill>
            <a:schemeClr val="bg1"/>
          </a:solidFill>
          <a:ln w="15875">
            <a:solidFill>
              <a:schemeClr val="accent1"/>
            </a:solidFill>
            <a:prstDash val="solid"/>
          </a:ln>
        </p:spPr>
      </p:sp>
      <p:sp>
        <p:nvSpPr>
          <p:cNvPr id="67" name="Shape 64"/>
          <p:cNvSpPr/>
          <p:nvPr/>
        </p:nvSpPr>
        <p:spPr>
          <a:xfrm>
            <a:off x="4023360" y="4800600"/>
            <a:ext cx="365760" cy="365760"/>
          </a:xfrm>
          <a:prstGeom prst="ellipse">
            <a:avLst/>
          </a:prstGeom>
          <a:solidFill>
            <a:schemeClr val="bg1"/>
          </a:solidFill>
          <a:ln w="15875">
            <a:solidFill>
              <a:schemeClr val="accent1"/>
            </a:solidFill>
            <a:prstDash val="solid"/>
          </a:ln>
        </p:spPr>
      </p:sp>
      <p:sp>
        <p:nvSpPr>
          <p:cNvPr id="68" name="Shape 65"/>
          <p:cNvSpPr/>
          <p:nvPr/>
        </p:nvSpPr>
        <p:spPr>
          <a:xfrm>
            <a:off x="5669280" y="2971800"/>
            <a:ext cx="365760" cy="365760"/>
          </a:xfrm>
          <a:prstGeom prst="ellipse">
            <a:avLst/>
          </a:prstGeom>
          <a:solidFill>
            <a:schemeClr val="bg1"/>
          </a:solidFill>
          <a:ln w="15875">
            <a:solidFill>
              <a:schemeClr val="tx1"/>
            </a:solidFill>
            <a:prstDash val="solid"/>
          </a:ln>
        </p:spPr>
      </p:sp>
      <p:sp>
        <p:nvSpPr>
          <p:cNvPr id="69" name="Shape 66"/>
          <p:cNvSpPr/>
          <p:nvPr/>
        </p:nvSpPr>
        <p:spPr>
          <a:xfrm>
            <a:off x="5669280" y="3703320"/>
            <a:ext cx="365760" cy="365760"/>
          </a:xfrm>
          <a:prstGeom prst="ellipse">
            <a:avLst/>
          </a:prstGeom>
          <a:solidFill>
            <a:schemeClr val="bg1"/>
          </a:solidFill>
          <a:ln w="15875">
            <a:solidFill>
              <a:schemeClr val="tx1"/>
            </a:solidFill>
            <a:prstDash val="solid"/>
          </a:ln>
        </p:spPr>
      </p:sp>
      <p:sp>
        <p:nvSpPr>
          <p:cNvPr id="70" name="Text 67"/>
          <p:cNvSpPr txBox="1"/>
          <p:nvPr/>
        </p:nvSpPr>
        <p:spPr>
          <a:xfrm>
            <a:off x="548640" y="5486400"/>
            <a:ext cx="5760720" cy="457200"/>
          </a:xfrm>
          <a:prstGeom prst="rect">
            <a:avLst/>
          </a:prstGeom>
          <a:noFill/>
          <a:ln/>
        </p:spPr>
        <p:txBody>
          <a:bodyPr wrap="square" lIns="0" tIns="0" rIns="0" bIns="0" rtlCol="0" anchor="t"/>
          <a:lstStyle/>
          <a:p>
            <a:pPr algn="l" indent="0" marL="0">
              <a:lnSpc>
                <a:spcPct val="105000"/>
              </a:lnSpc>
              <a:buNone/>
            </a:pPr>
            <a:r>
              <a:rPr lang="en-US" sz="1400" dirty="0">
                <a:solidFill>
                  <a:schemeClr val="tx2"/>
                </a:solidFill>
              </a:rPr>
              <a:t>Dashed: units dropped on this step (p = 0.5 in each hidden layer).</a:t>
            </a:r>
            <a:endParaRPr lang="en-US" sz="1400" dirty="0"/>
          </a:p>
        </p:txBody>
      </p:sp>
      <p:sp>
        <p:nvSpPr>
          <p:cNvPr id="71" name="Shape 68"/>
          <p:cNvSpPr/>
          <p:nvPr/>
        </p:nvSpPr>
        <p:spPr>
          <a:xfrm>
            <a:off x="6583680" y="1645920"/>
            <a:ext cx="5056632" cy="1746123"/>
          </a:xfrm>
          <a:prstGeom prst="roundRect">
            <a:avLst>
              <a:gd name="adj" fmla="val 4189"/>
            </a:avLst>
          </a:prstGeom>
          <a:solidFill>
            <a:schemeClr val="accent1">
              <a:alpha val="10000"/>
            </a:schemeClr>
          </a:solidFill>
          <a:ln w="12700">
            <a:solidFill>
              <a:schemeClr val="accent1">
                <a:alpha val="10000"/>
              </a:schemeClr>
            </a:solidFill>
            <a:prstDash val="solid"/>
          </a:ln>
        </p:spPr>
      </p:sp>
      <p:sp>
        <p:nvSpPr>
          <p:cNvPr id="72" name="Text 69"/>
          <p:cNvSpPr txBox="1"/>
          <p:nvPr/>
        </p:nvSpPr>
        <p:spPr>
          <a:xfrm>
            <a:off x="6812280" y="1792224"/>
            <a:ext cx="4599432"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INVERTED DROPOUT</a:t>
            </a:r>
            <a:endParaRPr lang="en-US" sz="1200" dirty="0"/>
          </a:p>
        </p:txBody>
      </p:sp>
      <p:sp>
        <p:nvSpPr>
          <p:cNvPr id="73" name="Text 70"/>
          <p:cNvSpPr txBox="1"/>
          <p:nvPr/>
        </p:nvSpPr>
        <p:spPr>
          <a:xfrm>
            <a:off x="6812280" y="2221992"/>
            <a:ext cx="4599432" cy="978027"/>
          </a:xfrm>
          <a:prstGeom prst="rect">
            <a:avLst/>
          </a:prstGeom>
          <a:noFill/>
          <a:ln/>
        </p:spPr>
        <p:txBody>
          <a:bodyPr wrap="square" lIns="0" tIns="0" rIns="0" bIns="0" rtlCol="0" anchor="t"/>
          <a:lstStyle/>
          <a:p>
            <a:pPr algn="l" indent="0" marL="0">
              <a:lnSpc>
                <a:spcPct val="112000"/>
              </a:lnSpc>
              <a:buNone/>
            </a:pPr>
            <a:r>
              <a:rPr lang="en-US" sz="1900" dirty="0">
                <a:solidFill>
                  <a:schemeClr val="tx1"/>
                </a:solidFill>
                <a:latin typeface="Cambria Math" pitchFamily="34" charset="0"/>
                <a:ea typeface="Cambria Math" pitchFamily="34" charset="-122"/>
                <a:cs typeface="Cambria Math" pitchFamily="34" charset="-120"/>
              </a:rPr>
              <a:t>training:   mask ~ Bernoulli(1 − p)</a:t>
            </a:r>
            <a:endParaRPr lang="en-US" sz="1900" dirty="0"/>
          </a:p>
          <a:p>
            <a:pPr algn="l" indent="0" marL="0">
              <a:lnSpc>
                <a:spcPct val="112000"/>
              </a:lnSpc>
              <a:buNone/>
            </a:pPr>
            <a:r>
              <a:rPr lang="en-US" sz="1900" dirty="0">
                <a:solidFill>
                  <a:schemeClr val="tx1"/>
                </a:solidFill>
                <a:latin typeface="Cambria Math" pitchFamily="34" charset="0"/>
                <a:ea typeface="Cambria Math" pitchFamily="34" charset="-122"/>
                <a:cs typeface="Cambria Math" pitchFamily="34" charset="-120"/>
              </a:rPr>
              <a:t>                 a ← (a ⊙ mask) / (1 − p)</a:t>
            </a:r>
            <a:endParaRPr lang="en-US" sz="1900" dirty="0"/>
          </a:p>
          <a:p>
            <a:pPr algn="l" indent="0" marL="0">
              <a:lnSpc>
                <a:spcPct val="112000"/>
              </a:lnSpc>
              <a:buNone/>
            </a:pPr>
            <a:r>
              <a:rPr lang="en-US" sz="1900" dirty="0">
                <a:solidFill>
                  <a:schemeClr val="tx1"/>
                </a:solidFill>
                <a:latin typeface="Cambria Math" pitchFamily="34" charset="0"/>
                <a:ea typeface="Cambria Math" pitchFamily="34" charset="-122"/>
                <a:cs typeface="Cambria Math" pitchFamily="34" charset="-120"/>
              </a:rPr>
              <a:t>inference:  a ← a</a:t>
            </a:r>
            <a:r>
              <a:rPr lang="en-US" sz="1500" dirty="0">
                <a:solidFill>
                  <a:schemeClr val="tx2"/>
                </a:solidFill>
                <a:latin typeface="Calibri" pitchFamily="34" charset="0"/>
                <a:ea typeface="Calibri" pitchFamily="34" charset="-122"/>
                <a:cs typeface="Calibri" pitchFamily="34" charset="-120"/>
              </a:rPr>
              <a:t>    nothing happens</a:t>
            </a:r>
            <a:endParaRPr lang="en-US" sz="1900" dirty="0"/>
          </a:p>
        </p:txBody>
      </p:sp>
      <p:sp>
        <p:nvSpPr>
          <p:cNvPr id="74" name="Shape 71"/>
          <p:cNvSpPr/>
          <p:nvPr/>
        </p:nvSpPr>
        <p:spPr>
          <a:xfrm>
            <a:off x="6583680" y="3611880"/>
            <a:ext cx="5056632" cy="1412748"/>
          </a:xfrm>
          <a:prstGeom prst="roundRect">
            <a:avLst>
              <a:gd name="adj" fmla="val 5178"/>
            </a:avLst>
          </a:prstGeom>
          <a:solidFill>
            <a:schemeClr val="bg2"/>
          </a:solidFill>
          <a:ln w="12700">
            <a:solidFill>
              <a:schemeClr val="bg2"/>
            </a:solidFill>
            <a:prstDash val="solid"/>
          </a:ln>
        </p:spPr>
      </p:sp>
      <p:sp>
        <p:nvSpPr>
          <p:cNvPr id="75" name="Text 72"/>
          <p:cNvSpPr txBox="1"/>
          <p:nvPr/>
        </p:nvSpPr>
        <p:spPr>
          <a:xfrm>
            <a:off x="6812280" y="3758184"/>
            <a:ext cx="4599432" cy="274320"/>
          </a:xfrm>
          <a:prstGeom prst="rect">
            <a:avLst/>
          </a:prstGeom>
          <a:noFill/>
          <a:ln/>
        </p:spPr>
        <p:txBody>
          <a:bodyPr wrap="square" lIns="0" tIns="0" rIns="0" bIns="0" rtlCol="0" anchor="ctr"/>
          <a:lstStyle/>
          <a:p>
            <a:pPr indent="0" marL="0">
              <a:buNone/>
            </a:pPr>
            <a:r>
              <a:rPr lang="en-US" sz="1200" b="1" spc="120" kern="0" dirty="0">
                <a:solidFill>
                  <a:schemeClr val="tx2"/>
                </a:solidFill>
              </a:rPr>
              <a:t>WHY DIVIDE BY 1 − P</a:t>
            </a:r>
            <a:endParaRPr lang="en-US" sz="1200" dirty="0"/>
          </a:p>
        </p:txBody>
      </p:sp>
      <p:sp>
        <p:nvSpPr>
          <p:cNvPr id="76" name="Text 73"/>
          <p:cNvSpPr txBox="1"/>
          <p:nvPr/>
        </p:nvSpPr>
        <p:spPr>
          <a:xfrm>
            <a:off x="6812280" y="4187952"/>
            <a:ext cx="4599432" cy="644652"/>
          </a:xfrm>
          <a:prstGeom prst="rect">
            <a:avLst/>
          </a:prstGeom>
          <a:noFill/>
          <a:ln/>
        </p:spPr>
        <p:txBody>
          <a:bodyPr wrap="square" lIns="0" tIns="0" rIns="0" bIns="0" rtlCol="0" anchor="t"/>
          <a:lstStyle/>
          <a:p>
            <a:pPr algn="l" indent="0" marL="0">
              <a:lnSpc>
                <a:spcPct val="112000"/>
              </a:lnSpc>
              <a:buNone/>
            </a:pPr>
            <a:r>
              <a:rPr lang="en-US" sz="1800" dirty="0">
                <a:solidFill>
                  <a:schemeClr val="tx1"/>
                </a:solidFill>
                <a:latin typeface="Cambria Math" pitchFamily="34" charset="0"/>
                <a:ea typeface="Cambria Math" pitchFamily="34" charset="-122"/>
                <a:cs typeface="Cambria Math" pitchFamily="34" charset="-120"/>
              </a:rPr>
              <a:t>E[(a · mask) / (1 − p)]</a:t>
            </a:r>
            <a:endParaRPr lang="en-US" sz="1800" dirty="0"/>
          </a:p>
          <a:p>
            <a:pPr algn="l" indent="0" marL="0">
              <a:lnSpc>
                <a:spcPct val="112000"/>
              </a:lnSpc>
              <a:buNone/>
            </a:pPr>
            <a:r>
              <a:rPr lang="en-US" sz="1800" dirty="0">
                <a:solidFill>
                  <a:schemeClr val="tx1"/>
                </a:solidFill>
                <a:latin typeface="Cambria Math" pitchFamily="34" charset="0"/>
                <a:ea typeface="Cambria Math" pitchFamily="34" charset="-122"/>
                <a:cs typeface="Cambria Math" pitchFamily="34" charset="-120"/>
              </a:rPr>
              <a:t>    = (1 − p) a / (1 − p) = a</a:t>
            </a:r>
            <a:endParaRPr lang="en-US" sz="1800" dirty="0"/>
          </a:p>
        </p:txBody>
      </p:sp>
      <p:sp>
        <p:nvSpPr>
          <p:cNvPr id="77" name="Text 74"/>
          <p:cNvSpPr txBox="1"/>
          <p:nvPr/>
        </p:nvSpPr>
        <p:spPr>
          <a:xfrm>
            <a:off x="6583680" y="5166360"/>
            <a:ext cx="5056632" cy="914400"/>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Expected activations match at train and test time, so inference needs no special handling.</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§12 · REGULARIZATION AND GENERALIZATION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Why dropout works, and where to put it</a:t>
            </a:r>
            <a:endParaRPr lang="en-US" sz="3000" dirty="0"/>
          </a:p>
        </p:txBody>
      </p:sp>
      <p:sp>
        <p:nvSpPr>
          <p:cNvPr id="5" name="Shape 2"/>
          <p:cNvSpPr/>
          <p:nvPr/>
        </p:nvSpPr>
        <p:spPr>
          <a:xfrm>
            <a:off x="758952" y="1901952"/>
            <a:ext cx="0" cy="1828800"/>
          </a:xfrm>
          <a:prstGeom prst="line">
            <a:avLst/>
          </a:prstGeom>
          <a:noFill/>
          <a:ln w="25400">
            <a:solidFill>
              <a:schemeClr val="accent1">
                <a:alpha val="50000"/>
              </a:schemeClr>
            </a:solidFill>
            <a:prstDash val="solid"/>
          </a:ln>
        </p:spPr>
      </p:sp>
      <p:sp>
        <p:nvSpPr>
          <p:cNvPr id="6" name="Shape 3"/>
          <p:cNvSpPr/>
          <p:nvPr/>
        </p:nvSpPr>
        <p:spPr>
          <a:xfrm>
            <a:off x="548640" y="1691640"/>
            <a:ext cx="420624" cy="420624"/>
          </a:xfrm>
          <a:prstGeom prst="ellipse">
            <a:avLst/>
          </a:prstGeom>
          <a:solidFill>
            <a:schemeClr val="accent1"/>
          </a:solidFill>
          <a:ln w="25400">
            <a:solidFill>
              <a:schemeClr val="bg1"/>
            </a:solidFill>
            <a:prstDash val="solid"/>
          </a:ln>
        </p:spPr>
      </p:sp>
      <p:sp>
        <p:nvSpPr>
          <p:cNvPr id="7" name="Text 4"/>
          <p:cNvSpPr txBox="1"/>
          <p:nvPr/>
        </p:nvSpPr>
        <p:spPr>
          <a:xfrm>
            <a:off x="548640" y="16916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1197864" y="1728216"/>
            <a:ext cx="483717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No co-adaptation</a:t>
            </a:r>
            <a:endParaRPr lang="en-US" sz="1900" dirty="0"/>
          </a:p>
        </p:txBody>
      </p:sp>
      <p:sp>
        <p:nvSpPr>
          <p:cNvPr id="9" name="Text 6"/>
          <p:cNvSpPr txBox="1"/>
          <p:nvPr/>
        </p:nvSpPr>
        <p:spPr>
          <a:xfrm>
            <a:off x="1197864" y="2031238"/>
            <a:ext cx="4837176" cy="53822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Each unit must be useful on its own.</a:t>
            </a:r>
            <a:endParaRPr lang="en-US" sz="1600" dirty="0"/>
          </a:p>
        </p:txBody>
      </p:sp>
      <p:sp>
        <p:nvSpPr>
          <p:cNvPr id="10" name="Shape 7"/>
          <p:cNvSpPr/>
          <p:nvPr/>
        </p:nvSpPr>
        <p:spPr>
          <a:xfrm>
            <a:off x="548640" y="2606040"/>
            <a:ext cx="420624" cy="420624"/>
          </a:xfrm>
          <a:prstGeom prst="ellipse">
            <a:avLst/>
          </a:prstGeom>
          <a:solidFill>
            <a:schemeClr val="accent1"/>
          </a:solidFill>
          <a:ln w="25400">
            <a:solidFill>
              <a:schemeClr val="bg1"/>
            </a:solidFill>
            <a:prstDash val="solid"/>
          </a:ln>
        </p:spPr>
      </p:sp>
      <p:sp>
        <p:nvSpPr>
          <p:cNvPr id="11" name="Text 8"/>
          <p:cNvSpPr txBox="1"/>
          <p:nvPr/>
        </p:nvSpPr>
        <p:spPr>
          <a:xfrm>
            <a:off x="548640" y="26060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1197864" y="2642616"/>
            <a:ext cx="483717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An implicit ensemble</a:t>
            </a:r>
            <a:endParaRPr lang="en-US" sz="1900" dirty="0"/>
          </a:p>
        </p:txBody>
      </p:sp>
      <p:sp>
        <p:nvSpPr>
          <p:cNvPr id="13" name="Text 10"/>
          <p:cNvSpPr txBox="1"/>
          <p:nvPr/>
        </p:nvSpPr>
        <p:spPr>
          <a:xfrm>
            <a:off x="1197864" y="2945638"/>
            <a:ext cx="4837176" cy="53822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2ⁿ sub-networks with shared weights, averaged at inference.</a:t>
            </a:r>
            <a:endParaRPr lang="en-US" sz="1600" dirty="0"/>
          </a:p>
        </p:txBody>
      </p:sp>
      <p:sp>
        <p:nvSpPr>
          <p:cNvPr id="14" name="Shape 11"/>
          <p:cNvSpPr/>
          <p:nvPr/>
        </p:nvSpPr>
        <p:spPr>
          <a:xfrm>
            <a:off x="548640" y="3520440"/>
            <a:ext cx="420624" cy="420624"/>
          </a:xfrm>
          <a:prstGeom prst="ellipse">
            <a:avLst/>
          </a:prstGeom>
          <a:solidFill>
            <a:schemeClr val="accent1"/>
          </a:solidFill>
          <a:ln w="25400">
            <a:solidFill>
              <a:schemeClr val="bg1"/>
            </a:solidFill>
            <a:prstDash val="solid"/>
          </a:ln>
        </p:spPr>
      </p:sp>
      <p:sp>
        <p:nvSpPr>
          <p:cNvPr id="15" name="Text 12"/>
          <p:cNvSpPr txBox="1"/>
          <p:nvPr/>
        </p:nvSpPr>
        <p:spPr>
          <a:xfrm>
            <a:off x="548640" y="35204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3"/>
          <p:cNvSpPr txBox="1"/>
          <p:nvPr/>
        </p:nvSpPr>
        <p:spPr>
          <a:xfrm>
            <a:off x="1197864" y="3557016"/>
            <a:ext cx="483717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Noise injection</a:t>
            </a:r>
            <a:endParaRPr lang="en-US" sz="1900" dirty="0"/>
          </a:p>
        </p:txBody>
      </p:sp>
      <p:sp>
        <p:nvSpPr>
          <p:cNvPr id="17" name="Text 14"/>
          <p:cNvSpPr txBox="1"/>
          <p:nvPr/>
        </p:nvSpPr>
        <p:spPr>
          <a:xfrm>
            <a:off x="1197864" y="3860038"/>
            <a:ext cx="4837176" cy="53822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Forces a locally smooth function.</a:t>
            </a:r>
            <a:endParaRPr lang="en-US" sz="1600" dirty="0"/>
          </a:p>
        </p:txBody>
      </p:sp>
      <p:sp>
        <p:nvSpPr>
          <p:cNvPr id="18" name="Shape 15"/>
          <p:cNvSpPr/>
          <p:nvPr/>
        </p:nvSpPr>
        <p:spPr>
          <a:xfrm>
            <a:off x="548640" y="4526280"/>
            <a:ext cx="5486400" cy="1591056"/>
          </a:xfrm>
          <a:prstGeom prst="roundRect">
            <a:avLst>
              <a:gd name="adj" fmla="val 4598"/>
            </a:avLst>
          </a:prstGeom>
          <a:solidFill>
            <a:schemeClr val="bg2"/>
          </a:solidFill>
          <a:ln w="12700">
            <a:solidFill>
              <a:schemeClr val="bg2"/>
            </a:solidFill>
            <a:prstDash val="solid"/>
          </a:ln>
        </p:spPr>
      </p:sp>
      <p:sp>
        <p:nvSpPr>
          <p:cNvPr id="19" name="Text 16"/>
          <p:cNvSpPr txBox="1"/>
          <p:nvPr/>
        </p:nvSpPr>
        <p:spPr>
          <a:xfrm>
            <a:off x="749808" y="4700016"/>
            <a:ext cx="5084064" cy="1243584"/>
          </a:xfrm>
          <a:prstGeom prst="rect">
            <a:avLst/>
          </a:prstGeom>
          <a:noFill/>
          <a:ln/>
        </p:spPr>
        <p:txBody>
          <a:bodyPr wrap="square" lIns="0" tIns="0" rIns="0" bIns="0" rtlCol="0" anchor="t"/>
          <a:lstStyle/>
          <a:p>
            <a:pPr indent="0" marL="0">
              <a:lnSpc>
                <a:spcPct val="100000"/>
              </a:lnSpc>
              <a:buNone/>
            </a:pPr>
            <a:r>
              <a:rPr lang="en-US" sz="1300" dirty="0">
                <a:solidFill>
                  <a:schemeClr val="tx1"/>
                </a:solidFill>
                <a:latin typeface="Consolas" pitchFamily="34" charset="0"/>
                <a:ea typeface="Consolas" pitchFamily="34" charset="-122"/>
                <a:cs typeface="Consolas" pitchFamily="34" charset="-120"/>
              </a:rPr>
              <a:t>nn.Sequential(</a:t>
            </a:r>
            <a:endParaRPr lang="en-US" sz="1300" dirty="0"/>
          </a:p>
          <a:p>
            <a:pPr indent="0" marL="0">
              <a:lnSpc>
                <a:spcPct val="100000"/>
              </a:lnSpc>
              <a:buNone/>
            </a:pPr>
            <a:r>
              <a:rPr lang="en-US" sz="1300" dirty="0">
                <a:solidFill>
                  <a:schemeClr val="tx1"/>
                </a:solidFill>
                <a:latin typeface="Consolas" pitchFamily="34" charset="0"/>
                <a:ea typeface="Consolas" pitchFamily="34" charset="-122"/>
                <a:cs typeface="Consolas" pitchFamily="34" charset="-120"/>
              </a:rPr>
              <a:t>    nn.Linear(784, 256),</a:t>
            </a:r>
            <a:endParaRPr lang="en-US" sz="1300" dirty="0"/>
          </a:p>
          <a:p>
            <a:pPr indent="0" marL="0">
              <a:lnSpc>
                <a:spcPct val="100000"/>
              </a:lnSpc>
              <a:buNone/>
            </a:pPr>
            <a:r>
              <a:rPr lang="en-US" sz="1300" dirty="0">
                <a:solidFill>
                  <a:schemeClr val="tx1"/>
                </a:solidFill>
                <a:latin typeface="Consolas" pitchFamily="34" charset="0"/>
                <a:ea typeface="Consolas" pitchFamily="34" charset="-122"/>
                <a:cs typeface="Consolas" pitchFamily="34" charset="-120"/>
              </a:rPr>
              <a:t>    nn.ReLU(),</a:t>
            </a:r>
            <a:endParaRPr lang="en-US" sz="1300" dirty="0"/>
          </a:p>
          <a:p>
            <a:pPr indent="0" marL="0">
              <a:lnSpc>
                <a:spcPct val="100000"/>
              </a:lnSpc>
              <a:buNone/>
            </a:pPr>
            <a:r>
              <a:rPr lang="en-US" sz="1300" dirty="0">
                <a:solidFill>
                  <a:schemeClr val="tx1"/>
                </a:solidFill>
                <a:latin typeface="Consolas" pitchFamily="34" charset="0"/>
                <a:ea typeface="Consolas" pitchFamily="34" charset="-122"/>
                <a:cs typeface="Consolas" pitchFamily="34" charset="-120"/>
              </a:rPr>
              <a:t>    nn.Dropout(0.5),     </a:t>
            </a:r>
            <a:r>
              <a:rPr lang="en-US" sz="1300" dirty="0">
                <a:solidFill>
                  <a:schemeClr val="accent1"/>
                </a:solidFill>
                <a:latin typeface="Consolas" pitchFamily="34" charset="0"/>
                <a:ea typeface="Consolas" pitchFamily="34" charset="-122"/>
                <a:cs typeface="Consolas" pitchFamily="34" charset="-120"/>
              </a:rPr>
              <a:t># after the activation</a:t>
            </a:r>
            <a:endParaRPr lang="en-US" sz="1300" dirty="0"/>
          </a:p>
          <a:p>
            <a:pPr indent="0" marL="0">
              <a:lnSpc>
                <a:spcPct val="100000"/>
              </a:lnSpc>
              <a:buNone/>
            </a:pPr>
            <a:r>
              <a:rPr lang="en-US" sz="1300" dirty="0">
                <a:solidFill>
                  <a:schemeClr val="tx1"/>
                </a:solidFill>
                <a:latin typeface="Consolas" pitchFamily="34" charset="0"/>
                <a:ea typeface="Consolas" pitchFamily="34" charset="-122"/>
                <a:cs typeface="Consolas" pitchFamily="34" charset="-120"/>
              </a:rPr>
              <a:t>    nn.Linear(256, 10),</a:t>
            </a:r>
            <a:endParaRPr lang="en-US" sz="1300" dirty="0"/>
          </a:p>
          <a:p>
            <a:pPr indent="0" marL="0">
              <a:lnSpc>
                <a:spcPct val="1000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6492240" y="1645920"/>
          <a:ext cx="5148072" cy="914400"/>
        </p:xfrm>
        <a:graphic>
          <a:graphicData uri="http://schemas.openxmlformats.org/drawingml/2006/table">
            <a:tbl>
              <a:tblPr/>
              <a:tblGrid>
                <a:gridCol w="3291840"/>
                <a:gridCol w="1856232"/>
              </a:tblGrid>
              <a:tr h="457200">
                <a:tc>
                  <a:txBody>
                    <a:bodyPr/>
                    <a:lstStyle/>
                    <a:p>
                      <a:pPr indent="0" marL="0">
                        <a:buNone/>
                      </a:pPr>
                      <a:r>
                        <a:rPr lang="en-US" sz="1700" b="1" dirty="0">
                          <a:solidFill>
                            <a:schemeClr val="bg1"/>
                          </a:solidFill>
                        </a:rPr>
                        <a:t>Where</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700" b="1" dirty="0">
                          <a:solidFill>
                            <a:schemeClr val="bg1"/>
                          </a:solidFill>
                        </a:rPr>
                        <a:t>Typical p</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r>
              <a:tr h="457200">
                <a:tc>
                  <a:txBody>
                    <a:bodyPr/>
                    <a:lstStyle/>
                    <a:p>
                      <a:pPr indent="0" marL="0">
                        <a:buNone/>
                      </a:pPr>
                      <a:r>
                        <a:rPr lang="en-US" sz="1700" dirty="0">
                          <a:solidFill>
                            <a:schemeClr val="tx1"/>
                          </a:solidFill>
                        </a:rPr>
                        <a:t>Fully connected layers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0.5</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457200">
                <a:tc>
                  <a:txBody>
                    <a:bodyPr/>
                    <a:lstStyle/>
                    <a:p>
                      <a:pPr indent="0" marL="0">
                        <a:buNone/>
                      </a:pPr>
                      <a:r>
                        <a:rPr lang="en-US" sz="1700" dirty="0">
                          <a:solidFill>
                            <a:schemeClr val="tx1"/>
                          </a:solidFill>
                        </a:rPr>
                        <a:t>Conv layers (if at all)</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0.1 – 0.3</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457200">
                <a:tc>
                  <a:txBody>
                    <a:bodyPr/>
                    <a:lstStyle/>
                    <a:p>
                      <a:pPr indent="0" marL="0">
                        <a:buNone/>
                      </a:pPr>
                      <a:r>
                        <a:rPr lang="en-US" sz="1700" dirty="0">
                          <a:solidFill>
                            <a:schemeClr val="tx1"/>
                          </a:solidFill>
                        </a:rPr>
                        <a:t>Transformers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0.1 throughout</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bl>
          </a:graphicData>
        </a:graphic>
      </p:graphicFrame>
      <p:sp>
        <p:nvSpPr>
          <p:cNvPr id="21" name="Shape 17"/>
          <p:cNvSpPr/>
          <p:nvPr/>
        </p:nvSpPr>
        <p:spPr>
          <a:xfrm>
            <a:off x="6492240" y="3703320"/>
            <a:ext cx="5148072" cy="2240280"/>
          </a:xfrm>
          <a:prstGeom prst="roundRect">
            <a:avLst>
              <a:gd name="adj" fmla="val 3265"/>
            </a:avLst>
          </a:prstGeom>
          <a:solidFill>
            <a:schemeClr val="bg2"/>
          </a:solidFill>
          <a:ln w="12700">
            <a:solidFill>
              <a:schemeClr val="bg2"/>
            </a:solidFill>
            <a:prstDash val="solid"/>
          </a:ln>
        </p:spPr>
      </p:sp>
      <p:sp>
        <p:nvSpPr>
          <p:cNvPr id="22" name="Text 18"/>
          <p:cNvSpPr txBox="1"/>
          <p:nvPr/>
        </p:nvSpPr>
        <p:spPr>
          <a:xfrm>
            <a:off x="6693408" y="3904488"/>
            <a:ext cx="474573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Variants</a:t>
            </a:r>
            <a:endParaRPr lang="en-US" sz="1900" dirty="0"/>
          </a:p>
        </p:txBody>
      </p:sp>
      <p:sp>
        <p:nvSpPr>
          <p:cNvPr id="23" name="Text 19"/>
          <p:cNvSpPr txBox="1"/>
          <p:nvPr/>
        </p:nvSpPr>
        <p:spPr>
          <a:xfrm>
            <a:off x="6693408" y="4262374"/>
            <a:ext cx="4745736" cy="1480058"/>
          </a:xfrm>
          <a:prstGeom prst="rect">
            <a:avLst/>
          </a:prstGeom>
          <a:noFill/>
          <a:ln/>
        </p:spPr>
        <p:txBody>
          <a:bodyPr wrap="square" lIns="0" tIns="0" rIns="0" bIns="0" rtlCol="0" anchor="t"/>
          <a:lstStyle/>
          <a:p>
            <a:pPr algn="l" indent="0" marL="0">
              <a:lnSpc>
                <a:spcPct val="105000"/>
              </a:lnSpc>
              <a:spcAft>
                <a:spcPts val="600"/>
              </a:spcAft>
              <a:buNone/>
            </a:pPr>
            <a:r>
              <a:rPr lang="en-US" sz="1600" dirty="0">
                <a:solidFill>
                  <a:schemeClr val="accent1"/>
                </a:solidFill>
                <a:latin typeface="Consolas" pitchFamily="34" charset="0"/>
                <a:ea typeface="Consolas" pitchFamily="34" charset="-122"/>
                <a:cs typeface="Consolas" pitchFamily="34" charset="-120"/>
              </a:rPr>
              <a:t>nn.Dropout2d</a:t>
            </a:r>
            <a:r>
              <a:rPr lang="en-US" sz="1600" dirty="0">
                <a:solidFill>
                  <a:schemeClr val="tx1"/>
                </a:solidFill>
              </a:rPr>
              <a:t>: drops whole channels; neighbouring pixels are correlated.</a:t>
            </a:r>
            <a:endParaRPr lang="en-US" sz="1600" dirty="0"/>
          </a:p>
          <a:p>
            <a:pPr algn="l" indent="0" marL="0">
              <a:lnSpc>
                <a:spcPct val="105000"/>
              </a:lnSpc>
              <a:buNone/>
            </a:pPr>
            <a:r>
              <a:rPr lang="en-US" sz="1600" b="1" dirty="0">
                <a:solidFill>
                  <a:schemeClr val="tx1"/>
                </a:solidFill>
              </a:rPr>
              <a:t>DropPath / stochastic depth:</a:t>
            </a:r>
            <a:r>
              <a:rPr lang="en-US" sz="1600" dirty="0">
                <a:solidFill>
                  <a:schemeClr val="tx1"/>
                </a:solidFill>
              </a:rPr>
              <a:t> drops whole residual branches.</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§12 · REGULARIZATION AND GENERALIZATION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Early stopping: keep the best epoch, not the last</a:t>
            </a:r>
            <a:endParaRPr lang="en-US" sz="3000" dirty="0"/>
          </a:p>
        </p:txBody>
      </p:sp>
      <p:graphicFrame>
        <p:nvGraphicFramePr>
          <p:cNvPr id="5" name="Chart 0" descr=""/>
          <p:cNvGraphicFramePr/>
          <p:nvPr/>
        </p:nvGraphicFramePr>
        <p:xfrm>
          <a:off x="457200" y="1600200"/>
          <a:ext cx="5852160" cy="420624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6583680" y="1645920"/>
            <a:ext cx="5056632" cy="1865376"/>
          </a:xfrm>
          <a:prstGeom prst="roundRect">
            <a:avLst>
              <a:gd name="adj" fmla="val 3922"/>
            </a:avLst>
          </a:prstGeom>
          <a:solidFill>
            <a:schemeClr val="bg2"/>
          </a:solidFill>
          <a:ln w="12700">
            <a:solidFill>
              <a:schemeClr val="bg2"/>
            </a:solidFill>
            <a:prstDash val="solid"/>
          </a:ln>
        </p:spPr>
      </p:sp>
      <p:sp>
        <p:nvSpPr>
          <p:cNvPr id="7" name="Text 3"/>
          <p:cNvSpPr txBox="1"/>
          <p:nvPr/>
        </p:nvSpPr>
        <p:spPr>
          <a:xfrm>
            <a:off x="6784848" y="1819656"/>
            <a:ext cx="4654296" cy="1517904"/>
          </a:xfrm>
          <a:prstGeom prst="rect">
            <a:avLst/>
          </a:prstGeom>
          <a:noFill/>
          <a:ln/>
        </p:spPr>
        <p:txBody>
          <a:bodyPr wrap="square" lIns="0" tIns="0" rIns="0" bIns="0" rtlCol="0" anchor="t"/>
          <a:lstStyle/>
          <a:p>
            <a:pPr indent="0" marL="0">
              <a:lnSpc>
                <a:spcPct val="100000"/>
              </a:lnSpc>
              <a:buNone/>
            </a:pPr>
            <a:r>
              <a:rPr lang="en-US" sz="1200" dirty="0">
                <a:solidFill>
                  <a:schemeClr val="tx1"/>
                </a:solidFill>
                <a:latin typeface="Consolas" pitchFamily="34" charset="0"/>
                <a:ea typeface="Consolas" pitchFamily="34" charset="-122"/>
                <a:cs typeface="Consolas" pitchFamily="34" charset="-120"/>
              </a:rPr>
              <a:t>if val_loss &lt; best_val:</a:t>
            </a:r>
            <a:endParaRPr lang="en-US" sz="1200" dirty="0"/>
          </a:p>
          <a:p>
            <a:pPr indent="0" marL="0">
              <a:lnSpc>
                <a:spcPct val="100000"/>
              </a:lnSpc>
              <a:buNone/>
            </a:pPr>
            <a:r>
              <a:rPr lang="en-US" sz="1200" dirty="0">
                <a:solidFill>
                  <a:schemeClr val="tx1"/>
                </a:solidFill>
                <a:latin typeface="Consolas" pitchFamily="34" charset="0"/>
                <a:ea typeface="Consolas" pitchFamily="34" charset="-122"/>
                <a:cs typeface="Consolas" pitchFamily="34" charset="-120"/>
              </a:rPr>
              <a:t>    best_val, wait = val_loss, 0</a:t>
            </a:r>
            <a:endParaRPr lang="en-US" sz="1200" dirty="0"/>
          </a:p>
          <a:p>
            <a:pPr indent="0" marL="0">
              <a:lnSpc>
                <a:spcPct val="100000"/>
              </a:lnSpc>
              <a:buNone/>
            </a:pPr>
            <a:r>
              <a:rPr lang="en-US" sz="1200" dirty="0">
                <a:solidFill>
                  <a:schemeClr val="tx1"/>
                </a:solidFill>
                <a:latin typeface="Consolas" pitchFamily="34" charset="0"/>
                <a:ea typeface="Consolas" pitchFamily="34" charset="-122"/>
                <a:cs typeface="Consolas" pitchFamily="34" charset="-120"/>
              </a:rPr>
              <a:t>    torch.save(model.state_dict(), "best.pt")</a:t>
            </a:r>
            <a:endParaRPr lang="en-US" sz="1200" dirty="0"/>
          </a:p>
          <a:p>
            <a:pPr indent="0" marL="0">
              <a:lnSpc>
                <a:spcPct val="100000"/>
              </a:lnSpc>
              <a:buNone/>
            </a:pPr>
            <a:r>
              <a:rPr lang="en-US" sz="1200" dirty="0">
                <a:solidFill>
                  <a:schemeClr val="tx1"/>
                </a:solidFill>
                <a:latin typeface="Consolas" pitchFamily="34" charset="0"/>
                <a:ea typeface="Consolas" pitchFamily="34" charset="-122"/>
                <a:cs typeface="Consolas" pitchFamily="34" charset="-120"/>
              </a:rPr>
              <a:t>else:</a:t>
            </a:r>
            <a:endParaRPr lang="en-US" sz="1200" dirty="0"/>
          </a:p>
          <a:p>
            <a:pPr indent="0" marL="0">
              <a:lnSpc>
                <a:spcPct val="100000"/>
              </a:lnSpc>
              <a:buNone/>
            </a:pPr>
            <a:r>
              <a:rPr lang="en-US" sz="1200" dirty="0">
                <a:solidFill>
                  <a:schemeClr val="tx1"/>
                </a:solidFill>
                <a:latin typeface="Consolas" pitchFamily="34" charset="0"/>
                <a:ea typeface="Consolas" pitchFamily="34" charset="-122"/>
                <a:cs typeface="Consolas" pitchFamily="34" charset="-120"/>
              </a:rPr>
              <a:t>    wait += 1</a:t>
            </a:r>
            <a:endParaRPr lang="en-US" sz="1200" dirty="0"/>
          </a:p>
          <a:p>
            <a:pPr indent="0" marL="0">
              <a:lnSpc>
                <a:spcPct val="100000"/>
              </a:lnSpc>
              <a:buNone/>
            </a:pPr>
            <a:r>
              <a:rPr lang="en-US" sz="1200" dirty="0">
                <a:solidFill>
                  <a:schemeClr val="tx1"/>
                </a:solidFill>
                <a:latin typeface="Consolas" pitchFamily="34" charset="0"/>
                <a:ea typeface="Consolas" pitchFamily="34" charset="-122"/>
                <a:cs typeface="Consolas" pitchFamily="34" charset="-120"/>
              </a:rPr>
              <a:t>    if wait &gt;= patience:</a:t>
            </a:r>
            <a:endParaRPr lang="en-US" sz="1200" dirty="0"/>
          </a:p>
          <a:p>
            <a:pPr indent="0" marL="0">
              <a:lnSpc>
                <a:spcPct val="100000"/>
              </a:lnSpc>
              <a:buNone/>
            </a:pPr>
            <a:r>
              <a:rPr lang="en-US" sz="1200" dirty="0">
                <a:solidFill>
                  <a:schemeClr val="tx1"/>
                </a:solidFill>
                <a:latin typeface="Consolas" pitchFamily="34" charset="0"/>
                <a:ea typeface="Consolas" pitchFamily="34" charset="-122"/>
                <a:cs typeface="Consolas" pitchFamily="34" charset="-120"/>
              </a:rPr>
              <a:t>        break</a:t>
            </a:r>
            <a:endParaRPr lang="en-US" sz="1200" dirty="0"/>
          </a:p>
          <a:p>
            <a:pPr indent="0" marL="0">
              <a:lnSpc>
                <a:spcPct val="100000"/>
              </a:lnSpc>
              <a:buNone/>
            </a:pPr>
            <a:r>
              <a:rPr lang="en-US" sz="1200" dirty="0">
                <a:solidFill>
                  <a:schemeClr val="tx1"/>
                </a:solidFill>
                <a:latin typeface="Consolas" pitchFamily="34" charset="0"/>
                <a:ea typeface="Consolas" pitchFamily="34" charset="-122"/>
                <a:cs typeface="Consolas" pitchFamily="34" charset="-120"/>
              </a:rPr>
              <a:t>model.load_state_dict(torch.load("best.pt"))</a:t>
            </a:r>
            <a:endParaRPr lang="en-US" sz="1200" dirty="0"/>
          </a:p>
        </p:txBody>
      </p:sp>
      <p:sp>
        <p:nvSpPr>
          <p:cNvPr id="8" name="Shape 4"/>
          <p:cNvSpPr/>
          <p:nvPr/>
        </p:nvSpPr>
        <p:spPr>
          <a:xfrm>
            <a:off x="6583680" y="4434840"/>
            <a:ext cx="5056632" cy="1463040"/>
          </a:xfrm>
          <a:prstGeom prst="roundRect">
            <a:avLst>
              <a:gd name="adj" fmla="val 5000"/>
            </a:avLst>
          </a:prstGeom>
          <a:solidFill>
            <a:schemeClr val="accent2">
              <a:alpha val="12000"/>
            </a:schemeClr>
          </a:solidFill>
          <a:ln w="12700">
            <a:solidFill>
              <a:schemeClr val="accent2">
                <a:alpha val="12000"/>
              </a:schemeClr>
            </a:solidFill>
            <a:prstDash val="solid"/>
          </a:ln>
        </p:spPr>
      </p:sp>
      <p:sp>
        <p:nvSpPr>
          <p:cNvPr id="9" name="Text 5"/>
          <p:cNvSpPr txBox="1"/>
          <p:nvPr/>
        </p:nvSpPr>
        <p:spPr>
          <a:xfrm>
            <a:off x="6784848" y="4636008"/>
            <a:ext cx="465429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accent2"/>
                </a:solidFill>
              </a:rPr>
              <a:t>Never on the test set</a:t>
            </a:r>
            <a:endParaRPr lang="en-US" sz="1900" dirty="0"/>
          </a:p>
        </p:txBody>
      </p:sp>
      <p:sp>
        <p:nvSpPr>
          <p:cNvPr id="10" name="Text 6"/>
          <p:cNvSpPr txBox="1"/>
          <p:nvPr/>
        </p:nvSpPr>
        <p:spPr>
          <a:xfrm>
            <a:off x="6784848" y="4993894"/>
            <a:ext cx="4654296" cy="702818"/>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Choosing a checkpoint by test score makes that score optimistic.</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§12 · REGULARIZATION AND GENERALIZATION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Augment only with transforms that preserve the label</a:t>
            </a:r>
            <a:endParaRPr lang="en-US" sz="30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498080" cy="914400"/>
        </p:xfrm>
        <a:graphic>
          <a:graphicData uri="http://schemas.openxmlformats.org/drawingml/2006/table">
            <a:tbl>
              <a:tblPr/>
              <a:tblGrid>
                <a:gridCol w="2194560"/>
                <a:gridCol w="2651760"/>
                <a:gridCol w="2651760"/>
              </a:tblGrid>
              <a:tr h="530352">
                <a:tc>
                  <a:txBody>
                    <a:bodyPr/>
                    <a:lstStyle/>
                    <a:p>
                      <a:pPr indent="0" marL="0">
                        <a:buNone/>
                      </a:pPr>
                      <a:r>
                        <a:rPr lang="en-US" sz="1800" b="1" dirty="0">
                          <a:solidFill>
                            <a:schemeClr val="bg1"/>
                          </a:solidFill>
                        </a:rPr>
                        <a:t>Transform</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800" b="1" dirty="0">
                          <a:solidFill>
                            <a:schemeClr val="bg1"/>
                          </a:solidFill>
                        </a:rPr>
                        <a:t>Preserves the label for</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800" b="1" dirty="0">
                          <a:solidFill>
                            <a:schemeClr val="bg1"/>
                          </a:solidFill>
                        </a:rPr>
                        <a:t>Breaks it for</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r>
              <a:tr h="530352">
                <a:tc>
                  <a:txBody>
                    <a:bodyPr/>
                    <a:lstStyle/>
                    <a:p>
                      <a:pPr indent="0" marL="0">
                        <a:buNone/>
                      </a:pPr>
                      <a:r>
                        <a:rPr lang="en-US" sz="1800" dirty="0">
                          <a:solidFill>
                            <a:schemeClr val="tx1"/>
                          </a:solidFill>
                        </a:rPr>
                        <a:t>Horizontal flip</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800" dirty="0">
                          <a:solidFill>
                            <a:schemeClr val="tx1"/>
                          </a:solidFill>
                        </a:rPr>
                        <a:t>Cats, natural photos</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800" dirty="0">
                          <a:solidFill>
                            <a:schemeClr val="tx1"/>
                          </a:solidFill>
                        </a:rPr>
                        <a:t>Digits and text</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530352">
                <a:tc>
                  <a:txBody>
                    <a:bodyPr/>
                    <a:lstStyle/>
                    <a:p>
                      <a:pPr indent="0" marL="0">
                        <a:buNone/>
                      </a:pPr>
                      <a:r>
                        <a:rPr lang="en-US" sz="1800" dirty="0">
                          <a:solidFill>
                            <a:schemeClr val="tx1"/>
                          </a:solidFill>
                        </a:rPr>
                        <a:t>Vertical flip</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800" dirty="0">
                          <a:solidFill>
                            <a:schemeClr val="tx1"/>
                          </a:solidFill>
                        </a:rPr>
                        <a:t>Satellite imagery</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800" dirty="0">
                          <a:solidFill>
                            <a:schemeClr val="tx1"/>
                          </a:solidFill>
                        </a:rPr>
                        <a:t>Street scenes</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530352">
                <a:tc>
                  <a:txBody>
                    <a:bodyPr/>
                    <a:lstStyle/>
                    <a:p>
                      <a:pPr indent="0" marL="0">
                        <a:buNone/>
                      </a:pPr>
                      <a:r>
                        <a:rPr lang="en-US" sz="1800" dirty="0">
                          <a:solidFill>
                            <a:schemeClr val="tx1"/>
                          </a:solidFill>
                        </a:rPr>
                        <a:t>Rotation</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800" dirty="0">
                          <a:solidFill>
                            <a:schemeClr val="tx1"/>
                          </a:solidFill>
                        </a:rPr>
                        <a:t>Microscopy</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800" dirty="0">
                          <a:solidFill>
                            <a:schemeClr val="tx1"/>
                          </a:solidFill>
                        </a:rPr>
                        <a:t>6 versus 9</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530352">
                <a:tc>
                  <a:txBody>
                    <a:bodyPr/>
                    <a:lstStyle/>
                    <a:p>
                      <a:pPr indent="0" marL="0">
                        <a:buNone/>
                      </a:pPr>
                      <a:r>
                        <a:rPr lang="en-US" sz="1800" dirty="0">
                          <a:solidFill>
                            <a:schemeClr val="tx1"/>
                          </a:solidFill>
                        </a:rPr>
                        <a:t>Colour jitter</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800" dirty="0">
                          <a:solidFill>
                            <a:schemeClr val="tx1"/>
                          </a:solidFill>
                        </a:rPr>
                        <a:t>Most objects</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800" dirty="0">
                          <a:solidFill>
                            <a:schemeClr val="tx1"/>
                          </a:solidFill>
                        </a:rPr>
                        <a:t>When colour is the feature</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bl>
          </a:graphicData>
        </a:graphic>
      </p:graphicFrame>
      <p:sp>
        <p:nvSpPr>
          <p:cNvPr id="6" name="Shape 2"/>
          <p:cNvSpPr/>
          <p:nvPr/>
        </p:nvSpPr>
        <p:spPr>
          <a:xfrm>
            <a:off x="8503920" y="1645920"/>
            <a:ext cx="3136392" cy="2651760"/>
          </a:xfrm>
          <a:prstGeom prst="roundRect">
            <a:avLst>
              <a:gd name="adj" fmla="val 2759"/>
            </a:avLst>
          </a:prstGeom>
          <a:solidFill>
            <a:schemeClr val="accent1">
              <a:alpha val="10000"/>
            </a:schemeClr>
          </a:solidFill>
          <a:ln w="12700">
            <a:solidFill>
              <a:schemeClr val="accent1">
                <a:alpha val="10000"/>
              </a:schemeClr>
            </a:solidFill>
            <a:prstDash val="solid"/>
          </a:ln>
        </p:spPr>
      </p:sp>
      <p:sp>
        <p:nvSpPr>
          <p:cNvPr id="7" name="Text 3"/>
          <p:cNvSpPr txBox="1"/>
          <p:nvPr/>
        </p:nvSpPr>
        <p:spPr>
          <a:xfrm>
            <a:off x="8732520" y="1645920"/>
            <a:ext cx="2679192" cy="2651760"/>
          </a:xfrm>
          <a:prstGeom prst="rect">
            <a:avLst/>
          </a:prstGeom>
          <a:noFill/>
          <a:ln/>
        </p:spPr>
        <p:txBody>
          <a:bodyPr wrap="square" lIns="0" tIns="0" rIns="0" bIns="0" rtlCol="0" anchor="ctr"/>
          <a:lstStyle/>
          <a:p>
            <a:pPr algn="l" indent="0" marL="0">
              <a:lnSpc>
                <a:spcPct val="105000"/>
              </a:lnSpc>
              <a:buNone/>
            </a:pPr>
            <a:r>
              <a:rPr lang="en-US" sz="2100" b="1" dirty="0">
                <a:solidFill>
                  <a:schemeClr val="accent1"/>
                </a:solidFill>
              </a:rPr>
              <a:t>Usually the highest-leverage regularizer for images.</a:t>
            </a:r>
            <a:endParaRPr lang="en-US" sz="2100" dirty="0"/>
          </a:p>
        </p:txBody>
      </p:sp>
      <p:sp>
        <p:nvSpPr>
          <p:cNvPr id="8" name="Text 4"/>
          <p:cNvSpPr txBox="1"/>
          <p:nvPr/>
        </p:nvSpPr>
        <p:spPr>
          <a:xfrm>
            <a:off x="548640" y="4663440"/>
            <a:ext cx="7498080" cy="731520"/>
          </a:xfrm>
          <a:prstGeom prst="rect">
            <a:avLst/>
          </a:prstGeom>
          <a:noFill/>
          <a:ln/>
        </p:spPr>
        <p:txBody>
          <a:bodyPr wrap="square" lIns="0" tIns="0" rIns="0" bIns="0" rtlCol="0" anchor="t"/>
          <a:lstStyle/>
          <a:p>
            <a:pPr algn="l" indent="0" marL="0">
              <a:lnSpc>
                <a:spcPct val="105000"/>
              </a:lnSpc>
              <a:buNone/>
            </a:pPr>
            <a:r>
              <a:rPr lang="en-US" sz="1700" b="1" dirty="0">
                <a:solidFill>
                  <a:schemeClr val="accent2"/>
                </a:solidFill>
              </a:rPr>
              <a:t>Never augment validation or test data, apart from deterministic resizing and cropping.</a:t>
            </a:r>
            <a:endParaRPr lang="en-US" sz="17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§12 · REGULARIZATION AND GENERALIZATION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Augmentation in torchvision, plus stronger methods</a:t>
            </a:r>
            <a:endParaRPr lang="en-US" sz="3000" dirty="0"/>
          </a:p>
        </p:txBody>
      </p:sp>
      <p:sp>
        <p:nvSpPr>
          <p:cNvPr id="5" name="Shape 2"/>
          <p:cNvSpPr/>
          <p:nvPr/>
        </p:nvSpPr>
        <p:spPr>
          <a:xfrm>
            <a:off x="548640" y="1645920"/>
            <a:ext cx="6675120" cy="2977896"/>
          </a:xfrm>
          <a:prstGeom prst="roundRect">
            <a:avLst>
              <a:gd name="adj" fmla="val 2456"/>
            </a:avLst>
          </a:prstGeom>
          <a:solidFill>
            <a:schemeClr val="bg2"/>
          </a:solidFill>
          <a:ln w="12700">
            <a:solidFill>
              <a:schemeClr val="bg2"/>
            </a:solidFill>
            <a:prstDash val="solid"/>
          </a:ln>
        </p:spPr>
      </p:sp>
      <p:sp>
        <p:nvSpPr>
          <p:cNvPr id="6" name="Text 3"/>
          <p:cNvSpPr txBox="1"/>
          <p:nvPr/>
        </p:nvSpPr>
        <p:spPr>
          <a:xfrm>
            <a:off x="749808" y="1819656"/>
            <a:ext cx="6272784" cy="2630424"/>
          </a:xfrm>
          <a:prstGeom prst="rect">
            <a:avLst/>
          </a:prstGeom>
          <a:noFill/>
          <a:ln/>
        </p:spPr>
        <p:txBody>
          <a:bodyPr wrap="square" lIns="0" tIns="0" rIns="0" bIns="0" rtlCol="0" anchor="t"/>
          <a:lstStyle/>
          <a:p>
            <a:pPr indent="0" marL="0">
              <a:lnSpc>
                <a:spcPct val="100000"/>
              </a:lnSpc>
              <a:buNone/>
            </a:pPr>
            <a:r>
              <a:rPr lang="en-US" sz="1300" dirty="0">
                <a:solidFill>
                  <a:schemeClr val="tx1"/>
                </a:solidFill>
                <a:latin typeface="Consolas" pitchFamily="34" charset="0"/>
                <a:ea typeface="Consolas" pitchFamily="34" charset="-122"/>
                <a:cs typeface="Consolas" pitchFamily="34" charset="-120"/>
              </a:rPr>
              <a:t>from torchvision.transforms import v2</a:t>
            </a:r>
            <a:endParaRPr lang="en-US" sz="1300" dirty="0"/>
          </a:p>
          <a:p>
            <a:pPr indent="0" marL="0">
              <a:lnSpc>
                <a:spcPct val="100000"/>
              </a:lnSpc>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lnSpc>
                <a:spcPct val="100000"/>
              </a:lnSpc>
              <a:buNone/>
            </a:pPr>
            <a:r>
              <a:rPr lang="en-US" sz="1300" dirty="0">
                <a:solidFill>
                  <a:schemeClr val="tx1"/>
                </a:solidFill>
                <a:latin typeface="Consolas" pitchFamily="34" charset="0"/>
                <a:ea typeface="Consolas" pitchFamily="34" charset="-122"/>
                <a:cs typeface="Consolas" pitchFamily="34" charset="-120"/>
              </a:rPr>
              <a:t>train_tf = v2.Compose([</a:t>
            </a:r>
            <a:endParaRPr lang="en-US" sz="1300" dirty="0"/>
          </a:p>
          <a:p>
            <a:pPr indent="0" marL="0">
              <a:lnSpc>
                <a:spcPct val="100000"/>
              </a:lnSpc>
              <a:buNone/>
            </a:pPr>
            <a:r>
              <a:rPr lang="en-US" sz="1300" dirty="0">
                <a:solidFill>
                  <a:schemeClr val="tx1"/>
                </a:solidFill>
                <a:latin typeface="Consolas" pitchFamily="34" charset="0"/>
                <a:ea typeface="Consolas" pitchFamily="34" charset="-122"/>
                <a:cs typeface="Consolas" pitchFamily="34" charset="-120"/>
              </a:rPr>
              <a:t>    v2.RandomResizedCrop(224, scale=(0.5, 1.0)),</a:t>
            </a:r>
            <a:endParaRPr lang="en-US" sz="1300" dirty="0"/>
          </a:p>
          <a:p>
            <a:pPr indent="0" marL="0">
              <a:lnSpc>
                <a:spcPct val="100000"/>
              </a:lnSpc>
              <a:buNone/>
            </a:pPr>
            <a:r>
              <a:rPr lang="en-US" sz="1300" dirty="0">
                <a:solidFill>
                  <a:schemeClr val="tx1"/>
                </a:solidFill>
                <a:latin typeface="Consolas" pitchFamily="34" charset="0"/>
                <a:ea typeface="Consolas" pitchFamily="34" charset="-122"/>
                <a:cs typeface="Consolas" pitchFamily="34" charset="-120"/>
              </a:rPr>
              <a:t>    v2.RandomHorizontalFlip(),</a:t>
            </a:r>
            <a:endParaRPr lang="en-US" sz="1300" dirty="0"/>
          </a:p>
          <a:p>
            <a:pPr indent="0" marL="0">
              <a:lnSpc>
                <a:spcPct val="100000"/>
              </a:lnSpc>
              <a:buNone/>
            </a:pPr>
            <a:r>
              <a:rPr lang="en-US" sz="1300" dirty="0">
                <a:solidFill>
                  <a:schemeClr val="tx1"/>
                </a:solidFill>
                <a:latin typeface="Consolas" pitchFamily="34" charset="0"/>
                <a:ea typeface="Consolas" pitchFamily="34" charset="-122"/>
                <a:cs typeface="Consolas" pitchFamily="34" charset="-120"/>
              </a:rPr>
              <a:t>    v2.ColorJitter(0.4, 0.4, 0.4),</a:t>
            </a:r>
            <a:endParaRPr lang="en-US" sz="1300" dirty="0"/>
          </a:p>
          <a:p>
            <a:pPr indent="0" marL="0">
              <a:lnSpc>
                <a:spcPct val="100000"/>
              </a:lnSpc>
              <a:buNone/>
            </a:pPr>
            <a:r>
              <a:rPr lang="en-US" sz="1300" dirty="0">
                <a:solidFill>
                  <a:schemeClr val="tx1"/>
                </a:solidFill>
                <a:latin typeface="Consolas" pitchFamily="34" charset="0"/>
                <a:ea typeface="Consolas" pitchFamily="34" charset="-122"/>
                <a:cs typeface="Consolas" pitchFamily="34" charset="-120"/>
              </a:rPr>
              <a:t>    v2.ToImage(),</a:t>
            </a:r>
            <a:endParaRPr lang="en-US" sz="1300" dirty="0"/>
          </a:p>
          <a:p>
            <a:pPr indent="0" marL="0">
              <a:lnSpc>
                <a:spcPct val="100000"/>
              </a:lnSpc>
              <a:buNone/>
            </a:pPr>
            <a:r>
              <a:rPr lang="en-US" sz="1300" dirty="0">
                <a:solidFill>
                  <a:schemeClr val="tx1"/>
                </a:solidFill>
                <a:latin typeface="Consolas" pitchFamily="34" charset="0"/>
                <a:ea typeface="Consolas" pitchFamily="34" charset="-122"/>
                <a:cs typeface="Consolas" pitchFamily="34" charset="-120"/>
              </a:rPr>
              <a:t>    v2.ToDtype(torch.float32, scale=True),</a:t>
            </a:r>
            <a:endParaRPr lang="en-US" sz="1300" dirty="0"/>
          </a:p>
          <a:p>
            <a:pPr indent="0" marL="0">
              <a:lnSpc>
                <a:spcPct val="100000"/>
              </a:lnSpc>
              <a:buNone/>
            </a:pPr>
            <a:r>
              <a:rPr lang="en-US" sz="1300" dirty="0">
                <a:solidFill>
                  <a:schemeClr val="tx1"/>
                </a:solidFill>
                <a:latin typeface="Consolas" pitchFamily="34" charset="0"/>
                <a:ea typeface="Consolas" pitchFamily="34" charset="-122"/>
                <a:cs typeface="Consolas" pitchFamily="34" charset="-120"/>
              </a:rPr>
              <a:t>    v2.Normalize(mean=[0.485, 0.456, 0.406],</a:t>
            </a:r>
            <a:endParaRPr lang="en-US" sz="1300" dirty="0"/>
          </a:p>
          <a:p>
            <a:pPr indent="0" marL="0">
              <a:lnSpc>
                <a:spcPct val="100000"/>
              </a:lnSpc>
              <a:buNone/>
            </a:pPr>
            <a:r>
              <a:rPr lang="en-US" sz="1300" dirty="0">
                <a:solidFill>
                  <a:schemeClr val="tx1"/>
                </a:solidFill>
                <a:latin typeface="Consolas" pitchFamily="34" charset="0"/>
                <a:ea typeface="Consolas" pitchFamily="34" charset="-122"/>
                <a:cs typeface="Consolas" pitchFamily="34" charset="-120"/>
              </a:rPr>
              <a:t>                 std=[0.229, 0.224, 0.225]),</a:t>
            </a:r>
            <a:endParaRPr lang="en-US" sz="1300" dirty="0"/>
          </a:p>
          <a:p>
            <a:pPr indent="0" marL="0">
              <a:lnSpc>
                <a:spcPct val="100000"/>
              </a:lnSpc>
              <a:buNone/>
            </a:pPr>
            <a:r>
              <a:rPr lang="en-US" sz="1300" dirty="0">
                <a:solidFill>
                  <a:schemeClr val="tx1"/>
                </a:solidFill>
                <a:latin typeface="Consolas" pitchFamily="34" charset="0"/>
                <a:ea typeface="Consolas" pitchFamily="34" charset="-122"/>
                <a:cs typeface="Consolas" pitchFamily="34" charset="-120"/>
              </a:rPr>
              <a:t>    v2.RandomErasing(p=0.25),</a:t>
            </a:r>
            <a:endParaRPr lang="en-US" sz="1300" dirty="0"/>
          </a:p>
          <a:p>
            <a:pPr indent="0" marL="0">
              <a:lnSpc>
                <a:spcPct val="100000"/>
              </a:lnSpc>
              <a:buNone/>
            </a:pPr>
            <a:r>
              <a:rPr lang="en-US" sz="1300" dirty="0">
                <a:solidFill>
                  <a:schemeClr val="tx1"/>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chemeClr val="accent1"/>
                </a:solidFill>
                <a:latin typeface="Consolas" pitchFamily="34" charset="0"/>
                <a:ea typeface="Consolas" pitchFamily="34" charset="-122"/>
                <a:cs typeface="Consolas" pitchFamily="34" charset="-120"/>
              </a:rPr>
              <a:t># validation: Resize(256) + CenterCrop(224), no augmentation</a:t>
            </a:r>
            <a:endParaRPr lang="en-US" sz="1300" dirty="0"/>
          </a:p>
        </p:txBody>
      </p:sp>
      <p:sp>
        <p:nvSpPr>
          <p:cNvPr id="7" name="Shape 4"/>
          <p:cNvSpPr/>
          <p:nvPr/>
        </p:nvSpPr>
        <p:spPr>
          <a:xfrm>
            <a:off x="7589520" y="1645920"/>
            <a:ext cx="4050792" cy="960120"/>
          </a:xfrm>
          <a:prstGeom prst="roundRect">
            <a:avLst>
              <a:gd name="adj" fmla="val 7619"/>
            </a:avLst>
          </a:prstGeom>
          <a:solidFill>
            <a:schemeClr val="accent1">
              <a:alpha val="10000"/>
            </a:schemeClr>
          </a:solidFill>
          <a:ln w="12700">
            <a:solidFill>
              <a:schemeClr val="accent1">
                <a:alpha val="10000"/>
              </a:schemeClr>
            </a:solidFill>
            <a:prstDash val="solid"/>
          </a:ln>
        </p:spPr>
      </p:sp>
      <p:sp>
        <p:nvSpPr>
          <p:cNvPr id="8" name="Text 5"/>
          <p:cNvSpPr txBox="1"/>
          <p:nvPr/>
        </p:nvSpPr>
        <p:spPr>
          <a:xfrm>
            <a:off x="7790688" y="1847088"/>
            <a:ext cx="3648456" cy="239776"/>
          </a:xfrm>
          <a:prstGeom prst="rect">
            <a:avLst/>
          </a:prstGeom>
          <a:noFill/>
          <a:ln/>
        </p:spPr>
        <p:txBody>
          <a:bodyPr wrap="square" lIns="0" tIns="0" rIns="0" bIns="0" rtlCol="0" anchor="t"/>
          <a:lstStyle/>
          <a:p>
            <a:pPr algn="l" indent="0" marL="0">
              <a:lnSpc>
                <a:spcPct val="105000"/>
              </a:lnSpc>
              <a:buNone/>
            </a:pPr>
            <a:r>
              <a:rPr lang="en-US" sz="1600" b="1" dirty="0">
                <a:solidFill>
                  <a:schemeClr val="accent1"/>
                </a:solidFill>
              </a:rPr>
              <a:t>Mixup</a:t>
            </a:r>
            <a:endParaRPr lang="en-US" sz="1600" dirty="0"/>
          </a:p>
        </p:txBody>
      </p:sp>
      <p:sp>
        <p:nvSpPr>
          <p:cNvPr id="9" name="Text 6"/>
          <p:cNvSpPr txBox="1"/>
          <p:nvPr/>
        </p:nvSpPr>
        <p:spPr>
          <a:xfrm>
            <a:off x="7790688" y="2160016"/>
            <a:ext cx="3648456" cy="244856"/>
          </a:xfrm>
          <a:prstGeom prst="rect">
            <a:avLst/>
          </a:prstGeom>
          <a:noFill/>
          <a:ln/>
        </p:spPr>
        <p:txBody>
          <a:bodyPr wrap="square" lIns="0" tIns="0" rIns="0" bIns="0" rtlCol="0" anchor="t"/>
          <a:lstStyle/>
          <a:p>
            <a:pPr algn="l" indent="0" marL="0">
              <a:lnSpc>
                <a:spcPct val="105000"/>
              </a:lnSpc>
              <a:buNone/>
            </a:pPr>
            <a:r>
              <a:rPr lang="en-US" sz="1400" dirty="0">
                <a:solidFill>
                  <a:schemeClr val="tx1"/>
                </a:solidFill>
              </a:rPr>
              <a:t>Train on λxᵢ + (1 − λ)xⱼ; mix the labels the same way.</a:t>
            </a:r>
            <a:endParaRPr lang="en-US" sz="1400" dirty="0"/>
          </a:p>
        </p:txBody>
      </p:sp>
      <p:sp>
        <p:nvSpPr>
          <p:cNvPr id="10" name="Shape 7"/>
          <p:cNvSpPr/>
          <p:nvPr/>
        </p:nvSpPr>
        <p:spPr>
          <a:xfrm>
            <a:off x="7589520" y="2724912"/>
            <a:ext cx="4050792" cy="960120"/>
          </a:xfrm>
          <a:prstGeom prst="roundRect">
            <a:avLst>
              <a:gd name="adj" fmla="val 7619"/>
            </a:avLst>
          </a:prstGeom>
          <a:solidFill>
            <a:schemeClr val="accent1">
              <a:alpha val="10000"/>
            </a:schemeClr>
          </a:solidFill>
          <a:ln w="12700">
            <a:solidFill>
              <a:schemeClr val="accent1">
                <a:alpha val="10000"/>
              </a:schemeClr>
            </a:solidFill>
            <a:prstDash val="solid"/>
          </a:ln>
        </p:spPr>
      </p:sp>
      <p:sp>
        <p:nvSpPr>
          <p:cNvPr id="11" name="Text 8"/>
          <p:cNvSpPr txBox="1"/>
          <p:nvPr/>
        </p:nvSpPr>
        <p:spPr>
          <a:xfrm>
            <a:off x="7790688" y="2926080"/>
            <a:ext cx="3648456" cy="239776"/>
          </a:xfrm>
          <a:prstGeom prst="rect">
            <a:avLst/>
          </a:prstGeom>
          <a:noFill/>
          <a:ln/>
        </p:spPr>
        <p:txBody>
          <a:bodyPr wrap="square" lIns="0" tIns="0" rIns="0" bIns="0" rtlCol="0" anchor="t"/>
          <a:lstStyle/>
          <a:p>
            <a:pPr algn="l" indent="0" marL="0">
              <a:lnSpc>
                <a:spcPct val="105000"/>
              </a:lnSpc>
              <a:buNone/>
            </a:pPr>
            <a:r>
              <a:rPr lang="en-US" sz="1600" b="1" dirty="0">
                <a:solidFill>
                  <a:schemeClr val="accent1"/>
                </a:solidFill>
              </a:rPr>
              <a:t>CutMix</a:t>
            </a:r>
            <a:endParaRPr lang="en-US" sz="1600" dirty="0"/>
          </a:p>
        </p:txBody>
      </p:sp>
      <p:sp>
        <p:nvSpPr>
          <p:cNvPr id="12" name="Text 9"/>
          <p:cNvSpPr txBox="1"/>
          <p:nvPr/>
        </p:nvSpPr>
        <p:spPr>
          <a:xfrm>
            <a:off x="7790688" y="3239008"/>
            <a:ext cx="3648456" cy="244856"/>
          </a:xfrm>
          <a:prstGeom prst="rect">
            <a:avLst/>
          </a:prstGeom>
          <a:noFill/>
          <a:ln/>
        </p:spPr>
        <p:txBody>
          <a:bodyPr wrap="square" lIns="0" tIns="0" rIns="0" bIns="0" rtlCol="0" anchor="t"/>
          <a:lstStyle/>
          <a:p>
            <a:pPr algn="l" indent="0" marL="0">
              <a:lnSpc>
                <a:spcPct val="105000"/>
              </a:lnSpc>
              <a:buNone/>
            </a:pPr>
            <a:r>
              <a:rPr lang="en-US" sz="1400" dirty="0">
                <a:solidFill>
                  <a:schemeClr val="tx1"/>
                </a:solidFill>
              </a:rPr>
              <a:t>Paste a patch of one image into another; mix labels by area.</a:t>
            </a:r>
            <a:endParaRPr lang="en-US" sz="1400" dirty="0"/>
          </a:p>
        </p:txBody>
      </p:sp>
      <p:sp>
        <p:nvSpPr>
          <p:cNvPr id="13" name="Shape 10"/>
          <p:cNvSpPr/>
          <p:nvPr/>
        </p:nvSpPr>
        <p:spPr>
          <a:xfrm>
            <a:off x="7589520" y="3803904"/>
            <a:ext cx="4050792" cy="960120"/>
          </a:xfrm>
          <a:prstGeom prst="roundRect">
            <a:avLst>
              <a:gd name="adj" fmla="val 7619"/>
            </a:avLst>
          </a:prstGeom>
          <a:solidFill>
            <a:schemeClr val="bg2"/>
          </a:solidFill>
          <a:ln w="12700">
            <a:solidFill>
              <a:schemeClr val="bg2"/>
            </a:solidFill>
            <a:prstDash val="solid"/>
          </a:ln>
        </p:spPr>
      </p:sp>
      <p:sp>
        <p:nvSpPr>
          <p:cNvPr id="14" name="Text 11"/>
          <p:cNvSpPr txBox="1"/>
          <p:nvPr/>
        </p:nvSpPr>
        <p:spPr>
          <a:xfrm>
            <a:off x="7790688" y="4005072"/>
            <a:ext cx="3648456" cy="239776"/>
          </a:xfrm>
          <a:prstGeom prst="rect">
            <a:avLst/>
          </a:prstGeom>
          <a:noFill/>
          <a:ln/>
        </p:spPr>
        <p:txBody>
          <a:bodyPr wrap="square" lIns="0" tIns="0" rIns="0" bIns="0" rtlCol="0" anchor="t"/>
          <a:lstStyle/>
          <a:p>
            <a:pPr algn="l" indent="0" marL="0">
              <a:lnSpc>
                <a:spcPct val="105000"/>
              </a:lnSpc>
              <a:buNone/>
            </a:pPr>
            <a:r>
              <a:rPr lang="en-US" sz="1600" b="1" dirty="0">
                <a:solidFill>
                  <a:schemeClr val="tx1"/>
                </a:solidFill>
              </a:rPr>
              <a:t>RandAugment, TrivialAugment</a:t>
            </a:r>
            <a:endParaRPr lang="en-US" sz="1600" dirty="0"/>
          </a:p>
        </p:txBody>
      </p:sp>
      <p:sp>
        <p:nvSpPr>
          <p:cNvPr id="15" name="Text 12"/>
          <p:cNvSpPr txBox="1"/>
          <p:nvPr/>
        </p:nvSpPr>
        <p:spPr>
          <a:xfrm>
            <a:off x="7790688" y="4318000"/>
            <a:ext cx="3648456" cy="244856"/>
          </a:xfrm>
          <a:prstGeom prst="rect">
            <a:avLst/>
          </a:prstGeom>
          <a:noFill/>
          <a:ln/>
        </p:spPr>
        <p:txBody>
          <a:bodyPr wrap="square" lIns="0" tIns="0" rIns="0" bIns="0" rtlCol="0" anchor="t"/>
          <a:lstStyle/>
          <a:p>
            <a:pPr algn="l" indent="0" marL="0">
              <a:lnSpc>
                <a:spcPct val="105000"/>
              </a:lnSpc>
              <a:buNone/>
            </a:pPr>
            <a:r>
              <a:rPr lang="en-US" sz="1400" dirty="0">
                <a:solidFill>
                  <a:schemeClr val="tx1"/>
                </a:solidFill>
              </a:rPr>
              <a:t>Random operations from a fixed pool, almost no tuning.</a:t>
            </a:r>
            <a:endParaRPr lang="en-US" sz="1400" dirty="0"/>
          </a:p>
        </p:txBody>
      </p:sp>
      <p:sp>
        <p:nvSpPr>
          <p:cNvPr id="16" name="Shape 13"/>
          <p:cNvSpPr/>
          <p:nvPr/>
        </p:nvSpPr>
        <p:spPr>
          <a:xfrm>
            <a:off x="7589520" y="4882896"/>
            <a:ext cx="4050792" cy="960120"/>
          </a:xfrm>
          <a:prstGeom prst="roundRect">
            <a:avLst>
              <a:gd name="adj" fmla="val 7619"/>
            </a:avLst>
          </a:prstGeom>
          <a:solidFill>
            <a:schemeClr val="bg2"/>
          </a:solidFill>
          <a:ln w="12700">
            <a:solidFill>
              <a:schemeClr val="bg2"/>
            </a:solidFill>
            <a:prstDash val="solid"/>
          </a:ln>
        </p:spPr>
      </p:sp>
      <p:sp>
        <p:nvSpPr>
          <p:cNvPr id="17" name="Text 14"/>
          <p:cNvSpPr txBox="1"/>
          <p:nvPr/>
        </p:nvSpPr>
        <p:spPr>
          <a:xfrm>
            <a:off x="7790688" y="5084064"/>
            <a:ext cx="3648456" cy="239776"/>
          </a:xfrm>
          <a:prstGeom prst="rect">
            <a:avLst/>
          </a:prstGeom>
          <a:noFill/>
          <a:ln/>
        </p:spPr>
        <p:txBody>
          <a:bodyPr wrap="square" lIns="0" tIns="0" rIns="0" bIns="0" rtlCol="0" anchor="t"/>
          <a:lstStyle/>
          <a:p>
            <a:pPr algn="l" indent="0" marL="0">
              <a:lnSpc>
                <a:spcPct val="105000"/>
              </a:lnSpc>
              <a:buNone/>
            </a:pPr>
            <a:r>
              <a:rPr lang="en-US" sz="1600" b="1" dirty="0">
                <a:solidFill>
                  <a:schemeClr val="tx1"/>
                </a:solidFill>
              </a:rPr>
              <a:t>Test-time augmentation</a:t>
            </a:r>
            <a:endParaRPr lang="en-US" sz="1600" dirty="0"/>
          </a:p>
        </p:txBody>
      </p:sp>
      <p:sp>
        <p:nvSpPr>
          <p:cNvPr id="18" name="Text 15"/>
          <p:cNvSpPr txBox="1"/>
          <p:nvPr/>
        </p:nvSpPr>
        <p:spPr>
          <a:xfrm>
            <a:off x="7790688" y="5396992"/>
            <a:ext cx="3648456" cy="244856"/>
          </a:xfrm>
          <a:prstGeom prst="rect">
            <a:avLst/>
          </a:prstGeom>
          <a:noFill/>
          <a:ln/>
        </p:spPr>
        <p:txBody>
          <a:bodyPr wrap="square" lIns="0" tIns="0" rIns="0" bIns="0" rtlCol="0" anchor="t"/>
          <a:lstStyle/>
          <a:p>
            <a:pPr algn="l" indent="0" marL="0">
              <a:lnSpc>
                <a:spcPct val="105000"/>
              </a:lnSpc>
              <a:buNone/>
            </a:pPr>
            <a:r>
              <a:rPr lang="en-US" sz="1400" dirty="0">
                <a:solidFill>
                  <a:schemeClr val="tx1"/>
                </a:solidFill>
              </a:rPr>
              <a:t>Average predictions over augmented copies.</a:t>
            </a:r>
            <a:endParaRPr lang="en-US" sz="1400" dirty="0"/>
          </a:p>
        </p:txBody>
      </p:sp>
      <p:sp>
        <p:nvSpPr>
          <p:cNvPr id="19" name="Text 16"/>
          <p:cNvSpPr txBox="1"/>
          <p:nvPr/>
        </p:nvSpPr>
        <p:spPr>
          <a:xfrm>
            <a:off x="548640" y="5806440"/>
            <a:ext cx="6675120" cy="320040"/>
          </a:xfrm>
          <a:prstGeom prst="rect">
            <a:avLst/>
          </a:prstGeom>
          <a:noFill/>
          <a:ln/>
        </p:spPr>
        <p:txBody>
          <a:bodyPr wrap="square" lIns="0" tIns="0" rIns="0" bIns="0" rtlCol="0" anchor="t"/>
          <a:lstStyle/>
          <a:p>
            <a:pPr algn="l" indent="0" marL="0">
              <a:lnSpc>
                <a:spcPct val="105000"/>
              </a:lnSpc>
              <a:buNone/>
            </a:pPr>
            <a:r>
              <a:rPr lang="en-US" sz="1400" dirty="0">
                <a:solidFill>
                  <a:schemeClr val="tx2"/>
                </a:solidFill>
              </a:rPr>
              <a:t>In v2, MixUp and CutMix are applied to batches.</a:t>
            </a:r>
            <a:endParaRPr lang="en-US" sz="14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§12 · REGULARIZATION AND GENERALIZATION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Diagnose the gap first, then apply remedies in order</a:t>
            </a:r>
            <a:endParaRPr lang="en-US" sz="30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858000" cy="914400"/>
        </p:xfrm>
        <a:graphic>
          <a:graphicData uri="http://schemas.openxmlformats.org/drawingml/2006/table">
            <a:tbl>
              <a:tblPr/>
              <a:tblGrid>
                <a:gridCol w="2103120"/>
                <a:gridCol w="1645920"/>
                <a:gridCol w="3108960"/>
              </a:tblGrid>
              <a:tr h="685800">
                <a:tc>
                  <a:txBody>
                    <a:bodyPr/>
                    <a:lstStyle/>
                    <a:p>
                      <a:pPr indent="0" marL="0">
                        <a:buNone/>
                      </a:pPr>
                      <a:r>
                        <a:rPr lang="en-US" sz="1500" b="1" dirty="0">
                          <a:solidFill>
                            <a:schemeClr val="bg1"/>
                          </a:solidFill>
                        </a:rPr>
                        <a:t>Symptom</a:t>
                      </a:r>
                      <a:endParaRPr lang="en-US" sz="15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rPr>
                        <a:t>Diagnosis</a:t>
                      </a:r>
                      <a:endParaRPr lang="en-US" sz="15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rPr>
                        <a:t>Action</a:t>
                      </a:r>
                      <a:endParaRPr lang="en-US" sz="15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r>
              <a:tr h="685800">
                <a:tc>
                  <a:txBody>
                    <a:bodyPr/>
                    <a:lstStyle/>
                    <a:p>
                      <a:pPr indent="0" marL="0">
                        <a:buNone/>
                      </a:pPr>
                      <a:r>
                        <a:rPr lang="en-US" sz="1500" dirty="0">
                          <a:solidFill>
                            <a:schemeClr val="tx1"/>
                          </a:solidFill>
                        </a:rPr>
                        <a:t>Train high, val high</a:t>
                      </a:r>
                      <a:endParaRPr lang="en-US" sz="15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Underfitting</a:t>
                      </a:r>
                      <a:endParaRPr lang="en-US" sz="15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Bigger model, train longer, less regularization</a:t>
                      </a:r>
                      <a:endParaRPr lang="en-US" sz="15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685800">
                <a:tc>
                  <a:txBody>
                    <a:bodyPr/>
                    <a:lstStyle/>
                    <a:p>
                      <a:pPr indent="0" marL="0">
                        <a:buNone/>
                      </a:pPr>
                      <a:r>
                        <a:rPr lang="en-US" sz="1500" b="1" dirty="0">
                          <a:solidFill>
                            <a:schemeClr val="accent1"/>
                          </a:solidFill>
                        </a:rPr>
                        <a:t>Train low, val high</a:t>
                      </a:r>
                      <a:endParaRPr lang="en-US" sz="15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500" dirty="0">
                          <a:solidFill>
                            <a:schemeClr val="accent1"/>
                          </a:solidFill>
                        </a:rPr>
                        <a:t>Overfitting</a:t>
                      </a:r>
                      <a:endParaRPr lang="en-US" sz="15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500" dirty="0">
                          <a:solidFill>
                            <a:schemeClr val="accent1"/>
                          </a:solidFill>
                        </a:rPr>
                        <a:t>The remedies on the right, in order</a:t>
                      </a:r>
                      <a:endParaRPr lang="en-US" sz="15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r>
              <a:tr h="685800">
                <a:tc>
                  <a:txBody>
                    <a:bodyPr/>
                    <a:lstStyle/>
                    <a:p>
                      <a:pPr indent="0" marL="0">
                        <a:buNone/>
                      </a:pPr>
                      <a:r>
                        <a:rPr lang="en-US" sz="1500" dirty="0">
                          <a:solidFill>
                            <a:schemeClr val="tx1"/>
                          </a:solidFill>
                        </a:rPr>
                        <a:t>Train ≈ val, both good</a:t>
                      </a:r>
                      <a:endParaRPr lang="en-US" sz="15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Good fit</a:t>
                      </a:r>
                      <a:endParaRPr lang="en-US" sz="15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Try scaling up; compare to baselines</a:t>
                      </a:r>
                      <a:endParaRPr lang="en-US" sz="15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685800">
                <a:tc>
                  <a:txBody>
                    <a:bodyPr/>
                    <a:lstStyle/>
                    <a:p>
                      <a:pPr indent="0" marL="0">
                        <a:buNone/>
                      </a:pPr>
                      <a:r>
                        <a:rPr lang="en-US" sz="1500" dirty="0">
                          <a:solidFill>
                            <a:schemeClr val="tx1"/>
                          </a:solidFill>
                        </a:rPr>
                        <a:t>Val below train</a:t>
                      </a:r>
                      <a:endParaRPr lang="en-US" sz="15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500" dirty="0">
                          <a:solidFill>
                            <a:schemeClr val="tx1"/>
                          </a:solidFill>
                        </a:rPr>
                        <a:t>Usually normal</a:t>
                      </a:r>
                      <a:endParaRPr lang="en-US" sz="15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500" dirty="0">
                          <a:solidFill>
                            <a:schemeClr val="tx1"/>
                          </a:solidFill>
                        </a:rPr>
                        <a:t>Dropout and augmentation penalize training only</a:t>
                      </a:r>
                      <a:endParaRPr lang="en-US" sz="15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bl>
          </a:graphicData>
        </a:graphic>
      </p:graphicFrame>
      <p:sp>
        <p:nvSpPr>
          <p:cNvPr id="6" name="Text 2"/>
          <p:cNvSpPr txBox="1"/>
          <p:nvPr/>
        </p:nvSpPr>
        <p:spPr>
          <a:xfrm>
            <a:off x="7863840" y="1600200"/>
            <a:ext cx="3657600"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WHEN OVERFITTING, IN ORDER</a:t>
            </a:r>
            <a:endParaRPr lang="en-US" sz="1200" dirty="0"/>
          </a:p>
        </p:txBody>
      </p:sp>
      <p:sp>
        <p:nvSpPr>
          <p:cNvPr id="7" name="Shape 3"/>
          <p:cNvSpPr/>
          <p:nvPr/>
        </p:nvSpPr>
        <p:spPr>
          <a:xfrm>
            <a:off x="8046720" y="2194560"/>
            <a:ext cx="0" cy="3401568"/>
          </a:xfrm>
          <a:prstGeom prst="line">
            <a:avLst/>
          </a:prstGeom>
          <a:noFill/>
          <a:ln w="25400">
            <a:solidFill>
              <a:schemeClr val="accent1">
                <a:alpha val="50000"/>
              </a:schemeClr>
            </a:solidFill>
            <a:prstDash val="solid"/>
          </a:ln>
        </p:spPr>
      </p:sp>
      <p:sp>
        <p:nvSpPr>
          <p:cNvPr id="8" name="Shape 4"/>
          <p:cNvSpPr/>
          <p:nvPr/>
        </p:nvSpPr>
        <p:spPr>
          <a:xfrm>
            <a:off x="7863840" y="2011680"/>
            <a:ext cx="365760" cy="365760"/>
          </a:xfrm>
          <a:prstGeom prst="ellipse">
            <a:avLst/>
          </a:prstGeom>
          <a:solidFill>
            <a:schemeClr val="accent1"/>
          </a:solidFill>
          <a:ln w="25400">
            <a:solidFill>
              <a:schemeClr val="bg1"/>
            </a:solidFill>
            <a:prstDash val="solid"/>
          </a:ln>
        </p:spPr>
      </p:sp>
      <p:sp>
        <p:nvSpPr>
          <p:cNvPr id="9" name="Text 5"/>
          <p:cNvSpPr txBox="1"/>
          <p:nvPr/>
        </p:nvSpPr>
        <p:spPr>
          <a:xfrm>
            <a:off x="7863840" y="20116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0" name="Text 6"/>
          <p:cNvSpPr txBox="1"/>
          <p:nvPr/>
        </p:nvSpPr>
        <p:spPr>
          <a:xfrm>
            <a:off x="8458200" y="2048256"/>
            <a:ext cx="3182112" cy="254762"/>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More data</a:t>
            </a:r>
            <a:endParaRPr lang="en-US" sz="1700" dirty="0"/>
          </a:p>
        </p:txBody>
      </p:sp>
      <p:sp>
        <p:nvSpPr>
          <p:cNvPr id="11" name="Shape 7"/>
          <p:cNvSpPr/>
          <p:nvPr/>
        </p:nvSpPr>
        <p:spPr>
          <a:xfrm>
            <a:off x="7863840" y="2578608"/>
            <a:ext cx="365760" cy="365760"/>
          </a:xfrm>
          <a:prstGeom prst="ellipse">
            <a:avLst/>
          </a:prstGeom>
          <a:solidFill>
            <a:schemeClr val="accent1"/>
          </a:solidFill>
          <a:ln w="25400">
            <a:solidFill>
              <a:schemeClr val="bg1"/>
            </a:solidFill>
            <a:prstDash val="solid"/>
          </a:ln>
        </p:spPr>
      </p:sp>
      <p:sp>
        <p:nvSpPr>
          <p:cNvPr id="12" name="Text 8"/>
          <p:cNvSpPr txBox="1"/>
          <p:nvPr/>
        </p:nvSpPr>
        <p:spPr>
          <a:xfrm>
            <a:off x="7863840" y="257860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9"/>
          <p:cNvSpPr txBox="1"/>
          <p:nvPr/>
        </p:nvSpPr>
        <p:spPr>
          <a:xfrm>
            <a:off x="8458200" y="2615184"/>
            <a:ext cx="3182112" cy="254762"/>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Data augmentation</a:t>
            </a:r>
            <a:endParaRPr lang="en-US" sz="1700" dirty="0"/>
          </a:p>
        </p:txBody>
      </p:sp>
      <p:sp>
        <p:nvSpPr>
          <p:cNvPr id="14" name="Shape 10"/>
          <p:cNvSpPr/>
          <p:nvPr/>
        </p:nvSpPr>
        <p:spPr>
          <a:xfrm>
            <a:off x="7863840" y="3145536"/>
            <a:ext cx="365760" cy="365760"/>
          </a:xfrm>
          <a:prstGeom prst="ellipse">
            <a:avLst/>
          </a:prstGeom>
          <a:solidFill>
            <a:schemeClr val="accent1"/>
          </a:solidFill>
          <a:ln w="25400">
            <a:solidFill>
              <a:schemeClr val="bg1"/>
            </a:solidFill>
            <a:prstDash val="solid"/>
          </a:ln>
        </p:spPr>
      </p:sp>
      <p:sp>
        <p:nvSpPr>
          <p:cNvPr id="15" name="Text 11"/>
          <p:cNvSpPr txBox="1"/>
          <p:nvPr/>
        </p:nvSpPr>
        <p:spPr>
          <a:xfrm>
            <a:off x="7863840" y="3145536"/>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2"/>
          <p:cNvSpPr txBox="1"/>
          <p:nvPr/>
        </p:nvSpPr>
        <p:spPr>
          <a:xfrm>
            <a:off x="8458200" y="3182112"/>
            <a:ext cx="3182112" cy="254762"/>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Transfer learning</a:t>
            </a:r>
            <a:endParaRPr lang="en-US" sz="1700" dirty="0"/>
          </a:p>
        </p:txBody>
      </p:sp>
      <p:sp>
        <p:nvSpPr>
          <p:cNvPr id="17" name="Shape 13"/>
          <p:cNvSpPr/>
          <p:nvPr/>
        </p:nvSpPr>
        <p:spPr>
          <a:xfrm>
            <a:off x="7863840" y="3712464"/>
            <a:ext cx="365760" cy="365760"/>
          </a:xfrm>
          <a:prstGeom prst="ellipse">
            <a:avLst/>
          </a:prstGeom>
          <a:solidFill>
            <a:schemeClr val="accent1"/>
          </a:solidFill>
          <a:ln w="25400">
            <a:solidFill>
              <a:schemeClr val="bg1"/>
            </a:solidFill>
            <a:prstDash val="solid"/>
          </a:ln>
        </p:spPr>
      </p:sp>
      <p:sp>
        <p:nvSpPr>
          <p:cNvPr id="18" name="Text 14"/>
          <p:cNvSpPr txBox="1"/>
          <p:nvPr/>
        </p:nvSpPr>
        <p:spPr>
          <a:xfrm>
            <a:off x="7863840" y="3712464"/>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5"/>
          <p:cNvSpPr txBox="1"/>
          <p:nvPr/>
        </p:nvSpPr>
        <p:spPr>
          <a:xfrm>
            <a:off x="8458200" y="3749040"/>
            <a:ext cx="3182112" cy="254762"/>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Weight decay</a:t>
            </a:r>
            <a:endParaRPr lang="en-US" sz="1700" dirty="0"/>
          </a:p>
        </p:txBody>
      </p:sp>
      <p:sp>
        <p:nvSpPr>
          <p:cNvPr id="20" name="Shape 16"/>
          <p:cNvSpPr/>
          <p:nvPr/>
        </p:nvSpPr>
        <p:spPr>
          <a:xfrm>
            <a:off x="7863840" y="4279392"/>
            <a:ext cx="365760" cy="365760"/>
          </a:xfrm>
          <a:prstGeom prst="ellipse">
            <a:avLst/>
          </a:prstGeom>
          <a:solidFill>
            <a:schemeClr val="accent1"/>
          </a:solidFill>
          <a:ln w="25400">
            <a:solidFill>
              <a:schemeClr val="bg1"/>
            </a:solidFill>
            <a:prstDash val="solid"/>
          </a:ln>
        </p:spPr>
      </p:sp>
      <p:sp>
        <p:nvSpPr>
          <p:cNvPr id="21" name="Text 17"/>
          <p:cNvSpPr txBox="1"/>
          <p:nvPr/>
        </p:nvSpPr>
        <p:spPr>
          <a:xfrm>
            <a:off x="7863840" y="427939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2" name="Text 18"/>
          <p:cNvSpPr txBox="1"/>
          <p:nvPr/>
        </p:nvSpPr>
        <p:spPr>
          <a:xfrm>
            <a:off x="8458200" y="4315968"/>
            <a:ext cx="3182112" cy="254762"/>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Early stopping</a:t>
            </a:r>
            <a:endParaRPr lang="en-US" sz="1700" dirty="0"/>
          </a:p>
        </p:txBody>
      </p:sp>
      <p:sp>
        <p:nvSpPr>
          <p:cNvPr id="23" name="Shape 19"/>
          <p:cNvSpPr/>
          <p:nvPr/>
        </p:nvSpPr>
        <p:spPr>
          <a:xfrm>
            <a:off x="7863840" y="4846320"/>
            <a:ext cx="365760" cy="365760"/>
          </a:xfrm>
          <a:prstGeom prst="ellipse">
            <a:avLst/>
          </a:prstGeom>
          <a:solidFill>
            <a:schemeClr val="accent1"/>
          </a:solidFill>
          <a:ln w="25400">
            <a:solidFill>
              <a:schemeClr val="bg1"/>
            </a:solidFill>
            <a:prstDash val="solid"/>
          </a:ln>
        </p:spPr>
      </p:sp>
      <p:sp>
        <p:nvSpPr>
          <p:cNvPr id="24" name="Text 20"/>
          <p:cNvSpPr txBox="1"/>
          <p:nvPr/>
        </p:nvSpPr>
        <p:spPr>
          <a:xfrm>
            <a:off x="7863840" y="484632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5" name="Text 21"/>
          <p:cNvSpPr txBox="1"/>
          <p:nvPr/>
        </p:nvSpPr>
        <p:spPr>
          <a:xfrm>
            <a:off x="8458200" y="4882896"/>
            <a:ext cx="3182112" cy="254762"/>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Dropout</a:t>
            </a:r>
            <a:endParaRPr lang="en-US" sz="1700" dirty="0"/>
          </a:p>
        </p:txBody>
      </p:sp>
      <p:sp>
        <p:nvSpPr>
          <p:cNvPr id="26" name="Shape 22"/>
          <p:cNvSpPr/>
          <p:nvPr/>
        </p:nvSpPr>
        <p:spPr>
          <a:xfrm>
            <a:off x="7863840" y="5413248"/>
            <a:ext cx="365760" cy="365760"/>
          </a:xfrm>
          <a:prstGeom prst="ellipse">
            <a:avLst/>
          </a:prstGeom>
          <a:solidFill>
            <a:schemeClr val="accent2"/>
          </a:solidFill>
          <a:ln w="25400">
            <a:solidFill>
              <a:schemeClr val="bg1"/>
            </a:solidFill>
            <a:prstDash val="solid"/>
          </a:ln>
        </p:spPr>
      </p:sp>
      <p:sp>
        <p:nvSpPr>
          <p:cNvPr id="27" name="Text 23"/>
          <p:cNvSpPr txBox="1"/>
          <p:nvPr/>
        </p:nvSpPr>
        <p:spPr>
          <a:xfrm>
            <a:off x="7863840" y="541324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28" name="Text 24"/>
          <p:cNvSpPr txBox="1"/>
          <p:nvPr/>
        </p:nvSpPr>
        <p:spPr>
          <a:xfrm>
            <a:off x="8458200" y="5449824"/>
            <a:ext cx="3182112" cy="254762"/>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Smaller model — last resort</a:t>
            </a:r>
            <a:endParaRPr lang="en-US" sz="17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§12 · CHECK YOURSELF</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Check yourself: regularization</a:t>
            </a:r>
            <a:endParaRPr lang="en-US" sz="3000" dirty="0"/>
          </a:p>
        </p:txBody>
      </p:sp>
      <p:sp>
        <p:nvSpPr>
          <p:cNvPr id="5" name="Shape 2"/>
          <p:cNvSpPr/>
          <p:nvPr/>
        </p:nvSpPr>
        <p:spPr>
          <a:xfrm>
            <a:off x="576072" y="1618488"/>
            <a:ext cx="457200" cy="457200"/>
          </a:xfrm>
          <a:prstGeom prst="ellipse">
            <a:avLst/>
          </a:prstGeom>
          <a:solidFill>
            <a:schemeClr val="accent1"/>
          </a:solidFill>
          <a:ln w="19050">
            <a:solidFill>
              <a:schemeClr val="accent1"/>
            </a:solidFill>
            <a:prstDash val="solid"/>
          </a:ln>
        </p:spPr>
      </p:sp>
      <p:sp>
        <p:nvSpPr>
          <p:cNvPr id="6" name="Text 3"/>
          <p:cNvSpPr txBox="1"/>
          <p:nvPr/>
        </p:nvSpPr>
        <p:spPr>
          <a:xfrm>
            <a:off x="393192" y="1618488"/>
            <a:ext cx="82296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1</a:t>
            </a:r>
            <a:endParaRPr lang="en-US" sz="1700" dirty="0"/>
          </a:p>
        </p:txBody>
      </p:sp>
      <p:sp>
        <p:nvSpPr>
          <p:cNvPr id="7" name="Text 4"/>
          <p:cNvSpPr txBox="1"/>
          <p:nvPr/>
        </p:nvSpPr>
        <p:spPr>
          <a:xfrm>
            <a:off x="1325880" y="1655064"/>
            <a:ext cx="10241280" cy="599440"/>
          </a:xfrm>
          <a:prstGeom prst="rect">
            <a:avLst/>
          </a:prstGeom>
          <a:noFill/>
          <a:ln/>
        </p:spPr>
        <p:txBody>
          <a:bodyPr wrap="square" lIns="0" tIns="0" rIns="0" bIns="0" rtlCol="0" anchor="t"/>
          <a:lstStyle/>
          <a:p>
            <a:pPr algn="l" indent="0" marL="0">
              <a:lnSpc>
                <a:spcPct val="105000"/>
              </a:lnSpc>
              <a:buNone/>
            </a:pPr>
            <a:r>
              <a:rPr lang="en-US" sz="2000" dirty="0">
                <a:solidFill>
                  <a:schemeClr val="tx1"/>
                </a:solidFill>
              </a:rPr>
              <a:t>With dropout p = 0.5 on a layer of 100 units, how many are active on average, and what scaling is applied during training?</a:t>
            </a:r>
            <a:endParaRPr lang="en-US" sz="2000" dirty="0"/>
          </a:p>
        </p:txBody>
      </p:sp>
      <p:sp>
        <p:nvSpPr>
          <p:cNvPr id="8" name="Shape 5"/>
          <p:cNvSpPr/>
          <p:nvPr/>
        </p:nvSpPr>
        <p:spPr>
          <a:xfrm>
            <a:off x="576072" y="2629408"/>
            <a:ext cx="457200" cy="457200"/>
          </a:xfrm>
          <a:prstGeom prst="ellipse">
            <a:avLst/>
          </a:prstGeom>
          <a:solidFill>
            <a:schemeClr val="accent1"/>
          </a:solidFill>
          <a:ln w="19050">
            <a:solidFill>
              <a:schemeClr val="accent1"/>
            </a:solidFill>
            <a:prstDash val="solid"/>
          </a:ln>
        </p:spPr>
      </p:sp>
      <p:sp>
        <p:nvSpPr>
          <p:cNvPr id="9" name="Text 6"/>
          <p:cNvSpPr txBox="1"/>
          <p:nvPr/>
        </p:nvSpPr>
        <p:spPr>
          <a:xfrm>
            <a:off x="393192" y="2629408"/>
            <a:ext cx="82296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2</a:t>
            </a:r>
            <a:endParaRPr lang="en-US" sz="1700" dirty="0"/>
          </a:p>
        </p:txBody>
      </p:sp>
      <p:sp>
        <p:nvSpPr>
          <p:cNvPr id="10" name="Text 7"/>
          <p:cNvSpPr txBox="1"/>
          <p:nvPr/>
        </p:nvSpPr>
        <p:spPr>
          <a:xfrm>
            <a:off x="1325880" y="2665984"/>
            <a:ext cx="10241280" cy="502920"/>
          </a:xfrm>
          <a:prstGeom prst="rect">
            <a:avLst/>
          </a:prstGeom>
          <a:noFill/>
          <a:ln/>
        </p:spPr>
        <p:txBody>
          <a:bodyPr wrap="square" lIns="0" tIns="0" rIns="0" bIns="0" rtlCol="0" anchor="t"/>
          <a:lstStyle/>
          <a:p>
            <a:pPr algn="l" indent="0" marL="0">
              <a:lnSpc>
                <a:spcPct val="105000"/>
              </a:lnSpc>
              <a:buNone/>
            </a:pPr>
            <a:r>
              <a:rPr lang="en-US" sz="2000" dirty="0">
                <a:solidFill>
                  <a:schemeClr val="tx1"/>
                </a:solidFill>
              </a:rPr>
              <a:t>Why is horizontal-flip augmentation a bad idea for MNIST?</a:t>
            </a:r>
            <a:endParaRPr lang="en-US" sz="2000" dirty="0"/>
          </a:p>
        </p:txBody>
      </p:sp>
      <p:sp>
        <p:nvSpPr>
          <p:cNvPr id="11" name="Shape 8"/>
          <p:cNvSpPr/>
          <p:nvPr/>
        </p:nvSpPr>
        <p:spPr>
          <a:xfrm>
            <a:off x="576072" y="3543808"/>
            <a:ext cx="457200" cy="457200"/>
          </a:xfrm>
          <a:prstGeom prst="ellipse">
            <a:avLst/>
          </a:prstGeom>
          <a:solidFill>
            <a:schemeClr val="accent1"/>
          </a:solidFill>
          <a:ln w="19050">
            <a:solidFill>
              <a:schemeClr val="accent1"/>
            </a:solidFill>
            <a:prstDash val="solid"/>
          </a:ln>
        </p:spPr>
      </p:sp>
      <p:sp>
        <p:nvSpPr>
          <p:cNvPr id="12" name="Text 9"/>
          <p:cNvSpPr txBox="1"/>
          <p:nvPr/>
        </p:nvSpPr>
        <p:spPr>
          <a:xfrm>
            <a:off x="393192" y="3543808"/>
            <a:ext cx="82296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3</a:t>
            </a:r>
            <a:endParaRPr lang="en-US" sz="1700" dirty="0"/>
          </a:p>
        </p:txBody>
      </p:sp>
      <p:sp>
        <p:nvSpPr>
          <p:cNvPr id="13" name="Text 10"/>
          <p:cNvSpPr txBox="1"/>
          <p:nvPr/>
        </p:nvSpPr>
        <p:spPr>
          <a:xfrm>
            <a:off x="1325880" y="3580384"/>
            <a:ext cx="10241280" cy="599440"/>
          </a:xfrm>
          <a:prstGeom prst="rect">
            <a:avLst/>
          </a:prstGeom>
          <a:noFill/>
          <a:ln/>
        </p:spPr>
        <p:txBody>
          <a:bodyPr wrap="square" lIns="0" tIns="0" rIns="0" bIns="0" rtlCol="0" anchor="t"/>
          <a:lstStyle/>
          <a:p>
            <a:pPr algn="l" indent="0" marL="0">
              <a:lnSpc>
                <a:spcPct val="105000"/>
              </a:lnSpc>
              <a:buNone/>
            </a:pPr>
            <a:r>
              <a:rPr lang="en-US" sz="2000" dirty="0">
                <a:solidFill>
                  <a:schemeClr val="tx1"/>
                </a:solidFill>
              </a:rPr>
              <a:t>Train accuracy 99.8%, validation 71%, 2,000 training images. Rank your next three actions.</a:t>
            </a:r>
            <a:endParaRPr lang="en-US" sz="2000" dirty="0"/>
          </a:p>
        </p:txBody>
      </p:sp>
      <p:sp>
        <p:nvSpPr>
          <p:cNvPr id="14" name="Text 11"/>
          <p:cNvSpPr txBox="1"/>
          <p:nvPr/>
        </p:nvSpPr>
        <p:spPr>
          <a:xfrm>
            <a:off x="548640" y="5897880"/>
            <a:ext cx="7315200" cy="320040"/>
          </a:xfrm>
          <a:prstGeom prst="rect">
            <a:avLst/>
          </a:prstGeom>
          <a:noFill/>
          <a:ln/>
        </p:spPr>
        <p:txBody>
          <a:bodyPr wrap="square" lIns="0" tIns="0" rIns="0" bIns="0" rtlCol="0" anchor="t"/>
          <a:lstStyle/>
          <a:p>
            <a:pPr algn="l" indent="0" marL="0">
              <a:lnSpc>
                <a:spcPct val="105000"/>
              </a:lnSpc>
              <a:buNone/>
            </a:pPr>
            <a:r>
              <a:rPr lang="en-US" sz="1500" i="1" dirty="0">
                <a:solidFill>
                  <a:schemeClr val="tx2"/>
                </a:solidFill>
              </a:rPr>
              <a:t>Commit to an answer before the next slide.</a:t>
            </a:r>
            <a:endParaRPr lang="en-US" sz="15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§12 · ANSWERS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Answers: regularization</a:t>
            </a:r>
            <a:endParaRPr lang="en-US" sz="3000" dirty="0"/>
          </a:p>
        </p:txBody>
      </p:sp>
      <p:sp>
        <p:nvSpPr>
          <p:cNvPr id="5" name="Shape 2"/>
          <p:cNvSpPr/>
          <p:nvPr/>
        </p:nvSpPr>
        <p:spPr>
          <a:xfrm>
            <a:off x="576072" y="1554480"/>
            <a:ext cx="365760" cy="365760"/>
          </a:xfrm>
          <a:prstGeom prst="ellipse">
            <a:avLst/>
          </a:prstGeom>
          <a:solidFill>
            <a:schemeClr val="accent1"/>
          </a:solidFill>
          <a:ln w="19050">
            <a:solidFill>
              <a:schemeClr val="accent1"/>
            </a:solidFill>
            <a:prstDash val="solid"/>
          </a:ln>
        </p:spPr>
      </p:sp>
      <p:sp>
        <p:nvSpPr>
          <p:cNvPr id="6" name="Text 3"/>
          <p:cNvSpPr txBox="1"/>
          <p:nvPr/>
        </p:nvSpPr>
        <p:spPr>
          <a:xfrm>
            <a:off x="393192" y="1554480"/>
            <a:ext cx="7315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7" name="Text 4"/>
          <p:cNvSpPr txBox="1"/>
          <p:nvPr/>
        </p:nvSpPr>
        <p:spPr>
          <a:xfrm>
            <a:off x="1234440" y="1554480"/>
            <a:ext cx="10378440" cy="479552"/>
          </a:xfrm>
          <a:prstGeom prst="rect">
            <a:avLst/>
          </a:prstGeom>
          <a:noFill/>
          <a:ln/>
        </p:spPr>
        <p:txBody>
          <a:bodyPr wrap="square" lIns="0" tIns="0" rIns="0" bIns="0" rtlCol="0" anchor="t"/>
          <a:lstStyle/>
          <a:p>
            <a:pPr algn="l" indent="0" marL="0">
              <a:lnSpc>
                <a:spcPct val="105000"/>
              </a:lnSpc>
              <a:buNone/>
            </a:pPr>
            <a:r>
              <a:rPr lang="en-US" sz="1600" b="1" dirty="0">
                <a:solidFill>
                  <a:schemeClr val="tx2"/>
                </a:solidFill>
              </a:rPr>
              <a:t>With dropout p = 0.5 on a layer of 100 units, how many are active on average, and what scaling is applied during training?</a:t>
            </a:r>
            <a:endParaRPr lang="en-US" sz="1600" dirty="0"/>
          </a:p>
        </p:txBody>
      </p:sp>
      <p:sp>
        <p:nvSpPr>
          <p:cNvPr id="8" name="Text 5"/>
          <p:cNvSpPr txBox="1"/>
          <p:nvPr/>
        </p:nvSpPr>
        <p:spPr>
          <a:xfrm>
            <a:off x="1234440" y="2088896"/>
            <a:ext cx="10378440" cy="349504"/>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50 on average; surviving activations are divided by 1 − p = 0.5, i.e. multiplied by 2.</a:t>
            </a:r>
            <a:endParaRPr lang="en-US" sz="1600" dirty="0"/>
          </a:p>
        </p:txBody>
      </p:sp>
      <p:sp>
        <p:nvSpPr>
          <p:cNvPr id="9" name="Shape 6"/>
          <p:cNvSpPr/>
          <p:nvPr/>
        </p:nvSpPr>
        <p:spPr>
          <a:xfrm>
            <a:off x="576072" y="2703576"/>
            <a:ext cx="365760" cy="365760"/>
          </a:xfrm>
          <a:prstGeom prst="ellipse">
            <a:avLst/>
          </a:prstGeom>
          <a:solidFill>
            <a:schemeClr val="accent1"/>
          </a:solidFill>
          <a:ln w="19050">
            <a:solidFill>
              <a:schemeClr val="accent1"/>
            </a:solidFill>
            <a:prstDash val="solid"/>
          </a:ln>
        </p:spPr>
      </p:sp>
      <p:sp>
        <p:nvSpPr>
          <p:cNvPr id="10" name="Text 7"/>
          <p:cNvSpPr txBox="1"/>
          <p:nvPr/>
        </p:nvSpPr>
        <p:spPr>
          <a:xfrm>
            <a:off x="393192" y="2703576"/>
            <a:ext cx="7315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1234440" y="2703576"/>
            <a:ext cx="10378440" cy="239776"/>
          </a:xfrm>
          <a:prstGeom prst="rect">
            <a:avLst/>
          </a:prstGeom>
          <a:noFill/>
          <a:ln/>
        </p:spPr>
        <p:txBody>
          <a:bodyPr wrap="square" lIns="0" tIns="0" rIns="0" bIns="0" rtlCol="0" anchor="t"/>
          <a:lstStyle/>
          <a:p>
            <a:pPr algn="l" indent="0" marL="0">
              <a:lnSpc>
                <a:spcPct val="105000"/>
              </a:lnSpc>
              <a:buNone/>
            </a:pPr>
            <a:r>
              <a:rPr lang="en-US" sz="1600" b="1" dirty="0">
                <a:solidFill>
                  <a:schemeClr val="tx2"/>
                </a:solidFill>
              </a:rPr>
              <a:t>Why is horizontal-flip augmentation a bad idea for MNIST?</a:t>
            </a:r>
            <a:endParaRPr lang="en-US" sz="1600" dirty="0"/>
          </a:p>
        </p:txBody>
      </p:sp>
      <p:sp>
        <p:nvSpPr>
          <p:cNvPr id="12" name="Text 9"/>
          <p:cNvSpPr txBox="1"/>
          <p:nvPr/>
        </p:nvSpPr>
        <p:spPr>
          <a:xfrm>
            <a:off x="1234440" y="2998216"/>
            <a:ext cx="10378440" cy="589280"/>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Digits are not flip-invariant: a mirrored 2, 5 or 7 is not a valid digit. You would teach labels for images that never appear at test time and blur the class boundaries.</a:t>
            </a:r>
            <a:endParaRPr lang="en-US" sz="1600" dirty="0"/>
          </a:p>
        </p:txBody>
      </p:sp>
      <p:sp>
        <p:nvSpPr>
          <p:cNvPr id="13" name="Shape 10"/>
          <p:cNvSpPr/>
          <p:nvPr/>
        </p:nvSpPr>
        <p:spPr>
          <a:xfrm>
            <a:off x="576072" y="3852672"/>
            <a:ext cx="365760" cy="365760"/>
          </a:xfrm>
          <a:prstGeom prst="ellipse">
            <a:avLst/>
          </a:prstGeom>
          <a:solidFill>
            <a:schemeClr val="accent1"/>
          </a:solidFill>
          <a:ln w="19050">
            <a:solidFill>
              <a:schemeClr val="accent1"/>
            </a:solidFill>
            <a:prstDash val="solid"/>
          </a:ln>
        </p:spPr>
      </p:sp>
      <p:sp>
        <p:nvSpPr>
          <p:cNvPr id="14" name="Text 11"/>
          <p:cNvSpPr txBox="1"/>
          <p:nvPr/>
        </p:nvSpPr>
        <p:spPr>
          <a:xfrm>
            <a:off x="393192" y="3852672"/>
            <a:ext cx="7315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5" name="Text 12"/>
          <p:cNvSpPr txBox="1"/>
          <p:nvPr/>
        </p:nvSpPr>
        <p:spPr>
          <a:xfrm>
            <a:off x="1234440" y="3852672"/>
            <a:ext cx="10378440" cy="239776"/>
          </a:xfrm>
          <a:prstGeom prst="rect">
            <a:avLst/>
          </a:prstGeom>
          <a:noFill/>
          <a:ln/>
        </p:spPr>
        <p:txBody>
          <a:bodyPr wrap="square" lIns="0" tIns="0" rIns="0" bIns="0" rtlCol="0" anchor="t"/>
          <a:lstStyle/>
          <a:p>
            <a:pPr algn="l" indent="0" marL="0">
              <a:lnSpc>
                <a:spcPct val="105000"/>
              </a:lnSpc>
              <a:buNone/>
            </a:pPr>
            <a:r>
              <a:rPr lang="en-US" sz="1600" b="1" dirty="0">
                <a:solidFill>
                  <a:schemeClr val="tx2"/>
                </a:solidFill>
              </a:rPr>
              <a:t>Train accuracy 99.8%, validation 71%, 2,000 training images. Rank your next three actions.</a:t>
            </a:r>
            <a:endParaRPr lang="en-US" sz="1600" dirty="0"/>
          </a:p>
        </p:txBody>
      </p:sp>
      <p:sp>
        <p:nvSpPr>
          <p:cNvPr id="16" name="Text 13"/>
          <p:cNvSpPr txBox="1"/>
          <p:nvPr/>
        </p:nvSpPr>
        <p:spPr>
          <a:xfrm>
            <a:off x="1234440" y="4147312"/>
            <a:ext cx="10378440" cy="829056"/>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(i) Transfer learning from a pretrained backbone, the biggest win at this size; (ii) aggressive augmentation such as RandAugment and Mixup; (iii) weight decay with early stopping. More data beats all three, if available.</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LECTURE 3 · RECAP</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Four ideas to take away</a:t>
            </a:r>
            <a:endParaRPr lang="en-US" sz="3000" dirty="0"/>
          </a:p>
        </p:txBody>
      </p:sp>
      <p:sp>
        <p:nvSpPr>
          <p:cNvPr id="5" name="Shape 2"/>
          <p:cNvSpPr/>
          <p:nvPr/>
        </p:nvSpPr>
        <p:spPr>
          <a:xfrm>
            <a:off x="822960" y="1965960"/>
            <a:ext cx="0" cy="2606040"/>
          </a:xfrm>
          <a:prstGeom prst="line">
            <a:avLst/>
          </a:prstGeom>
          <a:noFill/>
          <a:ln w="25400">
            <a:solidFill>
              <a:schemeClr val="accent1">
                <a:alpha val="50000"/>
              </a:schemeClr>
            </a:solidFill>
            <a:prstDash val="solid"/>
          </a:ln>
        </p:spPr>
      </p:sp>
      <p:sp>
        <p:nvSpPr>
          <p:cNvPr id="6" name="Shape 3"/>
          <p:cNvSpPr/>
          <p:nvPr/>
        </p:nvSpPr>
        <p:spPr>
          <a:xfrm>
            <a:off x="548640" y="1691640"/>
            <a:ext cx="548640" cy="548640"/>
          </a:xfrm>
          <a:prstGeom prst="ellipse">
            <a:avLst/>
          </a:prstGeom>
          <a:solidFill>
            <a:schemeClr val="accent1"/>
          </a:solidFill>
          <a:ln w="25400">
            <a:solidFill>
              <a:schemeClr val="bg1"/>
            </a:solidFill>
            <a:prstDash val="solid"/>
          </a:ln>
        </p:spPr>
      </p:sp>
      <p:sp>
        <p:nvSpPr>
          <p:cNvPr id="7" name="Text 4"/>
          <p:cNvSpPr txBox="1"/>
          <p:nvPr/>
        </p:nvSpPr>
        <p:spPr>
          <a:xfrm>
            <a:off x="548640" y="169164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§9</a:t>
            </a:r>
            <a:endParaRPr lang="en-US" sz="1400" dirty="0"/>
          </a:p>
        </p:txBody>
      </p:sp>
      <p:sp>
        <p:nvSpPr>
          <p:cNvPr id="8" name="Text 5"/>
          <p:cNvSpPr txBox="1"/>
          <p:nvPr/>
        </p:nvSpPr>
        <p:spPr>
          <a:xfrm>
            <a:off x="1325880" y="1728216"/>
            <a:ext cx="10314432" cy="599440"/>
          </a:xfrm>
          <a:prstGeom prst="rect">
            <a:avLst/>
          </a:prstGeom>
          <a:noFill/>
          <a:ln/>
        </p:spPr>
        <p:txBody>
          <a:bodyPr wrap="square" lIns="0" tIns="0" rIns="0" bIns="0" rtlCol="0" anchor="t"/>
          <a:lstStyle/>
          <a:p>
            <a:pPr algn="l" indent="0" marL="0">
              <a:lnSpc>
                <a:spcPct val="105000"/>
              </a:lnSpc>
              <a:buNone/>
            </a:pPr>
            <a:r>
              <a:rPr lang="en-US" sz="2000" b="1" dirty="0">
                <a:solidFill>
                  <a:schemeClr val="tx1"/>
                </a:solidFill>
              </a:rPr>
              <a:t>Keep variance constant layer to layer: He (2/nᵢₙ) for ReLU, Xavier for tanh; never zero weights.</a:t>
            </a:r>
            <a:endParaRPr lang="en-US" sz="2000" dirty="0"/>
          </a:p>
        </p:txBody>
      </p:sp>
      <p:sp>
        <p:nvSpPr>
          <p:cNvPr id="9" name="Shape 6"/>
          <p:cNvSpPr/>
          <p:nvPr/>
        </p:nvSpPr>
        <p:spPr>
          <a:xfrm>
            <a:off x="548640" y="2560320"/>
            <a:ext cx="548640" cy="548640"/>
          </a:xfrm>
          <a:prstGeom prst="ellipse">
            <a:avLst/>
          </a:prstGeom>
          <a:solidFill>
            <a:schemeClr val="accent1"/>
          </a:solidFill>
          <a:ln w="25400">
            <a:solidFill>
              <a:schemeClr val="bg1"/>
            </a:solidFill>
            <a:prstDash val="solid"/>
          </a:ln>
        </p:spPr>
      </p:sp>
      <p:sp>
        <p:nvSpPr>
          <p:cNvPr id="10" name="Text 7"/>
          <p:cNvSpPr txBox="1"/>
          <p:nvPr/>
        </p:nvSpPr>
        <p:spPr>
          <a:xfrm>
            <a:off x="548640" y="256032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§10</a:t>
            </a:r>
            <a:endParaRPr lang="en-US" sz="1400" dirty="0"/>
          </a:p>
        </p:txBody>
      </p:sp>
      <p:sp>
        <p:nvSpPr>
          <p:cNvPr id="11" name="Text 8"/>
          <p:cNvSpPr txBox="1"/>
          <p:nvPr/>
        </p:nvSpPr>
        <p:spPr>
          <a:xfrm>
            <a:off x="1325880" y="2596896"/>
            <a:ext cx="10314432" cy="299720"/>
          </a:xfrm>
          <a:prstGeom prst="rect">
            <a:avLst/>
          </a:prstGeom>
          <a:noFill/>
          <a:ln/>
        </p:spPr>
        <p:txBody>
          <a:bodyPr wrap="square" lIns="0" tIns="0" rIns="0" bIns="0" rtlCol="0" anchor="t"/>
          <a:lstStyle/>
          <a:p>
            <a:pPr algn="l" indent="0" marL="0">
              <a:lnSpc>
                <a:spcPct val="105000"/>
              </a:lnSpc>
              <a:buNone/>
            </a:pPr>
            <a:r>
              <a:rPr lang="en-US" sz="2000" b="1" dirty="0">
                <a:solidFill>
                  <a:schemeClr val="tx1"/>
                </a:solidFill>
              </a:rPr>
              <a:t>Momentum and adaptive steps tame ravines. Default: AdamW, warmup, a schedule.</a:t>
            </a:r>
            <a:endParaRPr lang="en-US" sz="2000" dirty="0"/>
          </a:p>
        </p:txBody>
      </p:sp>
      <p:sp>
        <p:nvSpPr>
          <p:cNvPr id="12" name="Shape 9"/>
          <p:cNvSpPr/>
          <p:nvPr/>
        </p:nvSpPr>
        <p:spPr>
          <a:xfrm>
            <a:off x="548640" y="3429000"/>
            <a:ext cx="548640" cy="548640"/>
          </a:xfrm>
          <a:prstGeom prst="ellipse">
            <a:avLst/>
          </a:prstGeom>
          <a:solidFill>
            <a:schemeClr val="accent1"/>
          </a:solidFill>
          <a:ln w="25400">
            <a:solidFill>
              <a:schemeClr val="bg1"/>
            </a:solidFill>
            <a:prstDash val="solid"/>
          </a:ln>
        </p:spPr>
      </p:sp>
      <p:sp>
        <p:nvSpPr>
          <p:cNvPr id="13" name="Text 10"/>
          <p:cNvSpPr txBox="1"/>
          <p:nvPr/>
        </p:nvSpPr>
        <p:spPr>
          <a:xfrm>
            <a:off x="548640" y="342900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§11</a:t>
            </a:r>
            <a:endParaRPr lang="en-US" sz="1400" dirty="0"/>
          </a:p>
        </p:txBody>
      </p:sp>
      <p:sp>
        <p:nvSpPr>
          <p:cNvPr id="14" name="Text 11"/>
          <p:cNvSpPr txBox="1"/>
          <p:nvPr/>
        </p:nvSpPr>
        <p:spPr>
          <a:xfrm>
            <a:off x="1325880" y="3465576"/>
            <a:ext cx="10314432" cy="599440"/>
          </a:xfrm>
          <a:prstGeom prst="rect">
            <a:avLst/>
          </a:prstGeom>
          <a:noFill/>
          <a:ln/>
        </p:spPr>
        <p:txBody>
          <a:bodyPr wrap="square" lIns="0" tIns="0" rIns="0" bIns="0" rtlCol="0" anchor="t"/>
          <a:lstStyle/>
          <a:p>
            <a:pPr algn="l" indent="0" marL="0">
              <a:lnSpc>
                <a:spcPct val="105000"/>
              </a:lnSpc>
              <a:buNone/>
            </a:pPr>
            <a:r>
              <a:rPr lang="en-US" sz="2000" b="1" dirty="0">
                <a:solidFill>
                  <a:schemeClr val="tx1"/>
                </a:solidFill>
              </a:rPr>
              <a:t>BatchNorm smooths optimization. Switch modes for inference, or use LayerNorm or GroupNorm.</a:t>
            </a:r>
            <a:endParaRPr lang="en-US" sz="2000" dirty="0"/>
          </a:p>
        </p:txBody>
      </p:sp>
      <p:sp>
        <p:nvSpPr>
          <p:cNvPr id="15" name="Shape 12"/>
          <p:cNvSpPr/>
          <p:nvPr/>
        </p:nvSpPr>
        <p:spPr>
          <a:xfrm>
            <a:off x="548640" y="4297680"/>
            <a:ext cx="548640" cy="548640"/>
          </a:xfrm>
          <a:prstGeom prst="ellipse">
            <a:avLst/>
          </a:prstGeom>
          <a:solidFill>
            <a:schemeClr val="accent1"/>
          </a:solidFill>
          <a:ln w="25400">
            <a:solidFill>
              <a:schemeClr val="bg1"/>
            </a:solidFill>
            <a:prstDash val="solid"/>
          </a:ln>
        </p:spPr>
      </p:sp>
      <p:sp>
        <p:nvSpPr>
          <p:cNvPr id="16" name="Text 13"/>
          <p:cNvSpPr txBox="1"/>
          <p:nvPr/>
        </p:nvSpPr>
        <p:spPr>
          <a:xfrm>
            <a:off x="548640" y="429768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§12</a:t>
            </a:r>
            <a:endParaRPr lang="en-US" sz="1400" dirty="0"/>
          </a:p>
        </p:txBody>
      </p:sp>
      <p:sp>
        <p:nvSpPr>
          <p:cNvPr id="17" name="Text 14"/>
          <p:cNvSpPr txBox="1"/>
          <p:nvPr/>
        </p:nvSpPr>
        <p:spPr>
          <a:xfrm>
            <a:off x="1325880" y="4334256"/>
            <a:ext cx="10314432" cy="599440"/>
          </a:xfrm>
          <a:prstGeom prst="rect">
            <a:avLst/>
          </a:prstGeom>
          <a:noFill/>
          <a:ln/>
        </p:spPr>
        <p:txBody>
          <a:bodyPr wrap="square" lIns="0" tIns="0" rIns="0" bIns="0" rtlCol="0" anchor="t"/>
          <a:lstStyle/>
          <a:p>
            <a:pPr algn="l" indent="0" marL="0">
              <a:lnSpc>
                <a:spcPct val="105000"/>
              </a:lnSpc>
              <a:buNone/>
            </a:pPr>
            <a:r>
              <a:rPr lang="en-US" sz="2000" b="1" dirty="0">
                <a:solidFill>
                  <a:schemeClr val="tx1"/>
                </a:solidFill>
              </a:rPr>
              <a:t>Diagnose the gap, then regularize big models: data, augmentation, transfer, decay, early stopping.</a:t>
            </a:r>
            <a:endParaRPr lang="en-US" sz="2000" dirty="0"/>
          </a:p>
        </p:txBody>
      </p:sp>
      <p:sp>
        <p:nvSpPr>
          <p:cNvPr id="18" name="Shape 15"/>
          <p:cNvSpPr/>
          <p:nvPr/>
        </p:nvSpPr>
        <p:spPr>
          <a:xfrm>
            <a:off x="548640" y="5349240"/>
            <a:ext cx="11091672" cy="685800"/>
          </a:xfrm>
          <a:prstGeom prst="roundRect">
            <a:avLst>
              <a:gd name="adj" fmla="val 10667"/>
            </a:avLst>
          </a:prstGeom>
          <a:solidFill>
            <a:schemeClr val="bg2"/>
          </a:solidFill>
          <a:ln w="12700">
            <a:solidFill>
              <a:schemeClr val="bg2"/>
            </a:solidFill>
            <a:prstDash val="solid"/>
          </a:ln>
        </p:spPr>
      </p:sp>
      <p:sp>
        <p:nvSpPr>
          <p:cNvPr id="19" name="Text 16"/>
          <p:cNvSpPr txBox="1"/>
          <p:nvPr/>
        </p:nvSpPr>
        <p:spPr>
          <a:xfrm>
            <a:off x="777240" y="5349240"/>
            <a:ext cx="10634472" cy="685800"/>
          </a:xfrm>
          <a:prstGeom prst="rect">
            <a:avLst/>
          </a:prstGeom>
          <a:noFill/>
          <a:ln/>
        </p:spPr>
        <p:txBody>
          <a:bodyPr wrap="square" lIns="0" tIns="0" rIns="0" bIns="0" rtlCol="0" anchor="ctr"/>
          <a:lstStyle/>
          <a:p>
            <a:pPr algn="l" indent="0" marL="0">
              <a:lnSpc>
                <a:spcPct val="105000"/>
              </a:lnSpc>
              <a:buNone/>
            </a:pPr>
            <a:r>
              <a:rPr lang="en-US" sz="1900" b="1" dirty="0">
                <a:solidFill>
                  <a:schemeClr val="tx2"/>
                </a:solidFill>
              </a:rPr>
              <a:t>Next: PyTorch essentials and your first complete project (tutorial §13).</a:t>
            </a:r>
            <a:endParaRPr lang="en-US" sz="19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LECTURE 3 · REFERENCES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References and further reading</a:t>
            </a:r>
            <a:endParaRPr lang="en-US" sz="3000" dirty="0"/>
          </a:p>
        </p:txBody>
      </p:sp>
      <p:sp>
        <p:nvSpPr>
          <p:cNvPr id="5" name="Text 2"/>
          <p:cNvSpPr txBox="1"/>
          <p:nvPr/>
        </p:nvSpPr>
        <p:spPr>
          <a:xfrm>
            <a:off x="548640" y="1645920"/>
            <a:ext cx="5394960" cy="4480560"/>
          </a:xfrm>
          <a:prstGeom prst="rect">
            <a:avLst/>
          </a:prstGeom>
          <a:noFill/>
          <a:ln/>
        </p:spPr>
        <p:txBody>
          <a:bodyPr wrap="square" lIns="0" tIns="0" rIns="0" bIns="0" rtlCol="0" anchor="t"/>
          <a:lstStyle/>
          <a:p>
            <a:pPr algn="l" indent="0" marL="0">
              <a:lnSpc>
                <a:spcPct val="105000"/>
              </a:lnSpc>
              <a:spcAft>
                <a:spcPts val="800"/>
              </a:spcAft>
              <a:buNone/>
            </a:pPr>
            <a:r>
              <a:rPr lang="en-US" sz="1400" dirty="0">
                <a:solidFill>
                  <a:schemeClr val="tx1"/>
                </a:solidFill>
              </a:rPr>
              <a:t>Glorot, X. &amp; Bengio, Y. (2010). Understanding the difficulty of training deep feedforward networks. AISTATS.</a:t>
            </a:r>
            <a:endParaRPr lang="en-US" sz="1400" dirty="0"/>
          </a:p>
          <a:p>
            <a:pPr algn="l" indent="0" marL="0">
              <a:lnSpc>
                <a:spcPct val="105000"/>
              </a:lnSpc>
              <a:spcAft>
                <a:spcPts val="800"/>
              </a:spcAft>
              <a:buNone/>
            </a:pPr>
            <a:r>
              <a:rPr lang="en-US" sz="1400" dirty="0">
                <a:solidFill>
                  <a:schemeClr val="tx1"/>
                </a:solidFill>
              </a:rPr>
              <a:t>He, K. et al. (2015). Delving deep into rectifiers. ICCV.</a:t>
            </a:r>
            <a:endParaRPr lang="en-US" sz="1400" dirty="0"/>
          </a:p>
          <a:p>
            <a:pPr algn="l" indent="0" marL="0">
              <a:lnSpc>
                <a:spcPct val="105000"/>
              </a:lnSpc>
              <a:spcAft>
                <a:spcPts val="800"/>
              </a:spcAft>
              <a:buNone/>
            </a:pPr>
            <a:r>
              <a:rPr lang="en-US" sz="1400" dirty="0">
                <a:solidFill>
                  <a:schemeClr val="tx1"/>
                </a:solidFill>
              </a:rPr>
              <a:t>Kingma, D. &amp; Ba, J. (2015). Adam: a method for stochastic optimization. ICLR.</a:t>
            </a:r>
            <a:endParaRPr lang="en-US" sz="1400" dirty="0"/>
          </a:p>
          <a:p>
            <a:pPr algn="l" indent="0" marL="0">
              <a:lnSpc>
                <a:spcPct val="105000"/>
              </a:lnSpc>
              <a:spcAft>
                <a:spcPts val="800"/>
              </a:spcAft>
              <a:buNone/>
            </a:pPr>
            <a:r>
              <a:rPr lang="en-US" sz="1400" dirty="0">
                <a:solidFill>
                  <a:schemeClr val="tx1"/>
                </a:solidFill>
              </a:rPr>
              <a:t>Loshchilov, I. &amp; Hutter, F. (2019). Decoupled weight decay regularization. ICLR.</a:t>
            </a:r>
            <a:endParaRPr lang="en-US" sz="1400" dirty="0"/>
          </a:p>
          <a:p>
            <a:pPr algn="l" indent="0" marL="0">
              <a:lnSpc>
                <a:spcPct val="105000"/>
              </a:lnSpc>
              <a:spcAft>
                <a:spcPts val="800"/>
              </a:spcAft>
              <a:buNone/>
            </a:pPr>
            <a:r>
              <a:rPr lang="en-US" sz="1400" dirty="0">
                <a:solidFill>
                  <a:schemeClr val="tx1"/>
                </a:solidFill>
              </a:rPr>
              <a:t>Smith, L. &amp; Topin, N. (2019). Super-convergence (one-cycle). SPIE.</a:t>
            </a:r>
            <a:endParaRPr lang="en-US" sz="1400" dirty="0"/>
          </a:p>
          <a:p>
            <a:pPr algn="l" indent="0" marL="0">
              <a:lnSpc>
                <a:spcPct val="105000"/>
              </a:lnSpc>
              <a:spcAft>
                <a:spcPts val="800"/>
              </a:spcAft>
              <a:buNone/>
            </a:pPr>
            <a:r>
              <a:rPr lang="en-US" sz="1400" dirty="0">
                <a:solidFill>
                  <a:schemeClr val="tx1"/>
                </a:solidFill>
              </a:rPr>
              <a:t>Ioffe, S. &amp; Szegedy, C. (2015). Batch normalization. ICML.</a:t>
            </a:r>
            <a:endParaRPr lang="en-US" sz="1400" dirty="0"/>
          </a:p>
          <a:p>
            <a:pPr algn="l" indent="0" marL="0">
              <a:lnSpc>
                <a:spcPct val="105000"/>
              </a:lnSpc>
              <a:buNone/>
            </a:pPr>
            <a:r>
              <a:rPr lang="en-US" sz="1400" dirty="0">
                <a:solidFill>
                  <a:schemeClr val="tx1"/>
                </a:solidFill>
              </a:rPr>
              <a:t>Santurkar, S. et al. (2018). How does batch normalization help optimization? NeurIPS.</a:t>
            </a:r>
            <a:endParaRPr lang="en-US" sz="1400" dirty="0"/>
          </a:p>
        </p:txBody>
      </p:sp>
      <p:sp>
        <p:nvSpPr>
          <p:cNvPr id="6" name="Text 3"/>
          <p:cNvSpPr txBox="1"/>
          <p:nvPr/>
        </p:nvSpPr>
        <p:spPr>
          <a:xfrm>
            <a:off x="6263640" y="1645920"/>
            <a:ext cx="5376672" cy="4480560"/>
          </a:xfrm>
          <a:prstGeom prst="rect">
            <a:avLst/>
          </a:prstGeom>
          <a:noFill/>
          <a:ln/>
        </p:spPr>
        <p:txBody>
          <a:bodyPr wrap="square" lIns="0" tIns="0" rIns="0" bIns="0" rtlCol="0" anchor="t"/>
          <a:lstStyle/>
          <a:p>
            <a:pPr algn="l" indent="0" marL="0">
              <a:lnSpc>
                <a:spcPct val="105000"/>
              </a:lnSpc>
              <a:spcAft>
                <a:spcPts val="800"/>
              </a:spcAft>
              <a:buNone/>
            </a:pPr>
            <a:r>
              <a:rPr lang="en-US" sz="1400" dirty="0">
                <a:solidFill>
                  <a:schemeClr val="tx1"/>
                </a:solidFill>
              </a:rPr>
              <a:t>Ba, J., Kiros, J. &amp; Hinton, G. (2016). Layer normalization.</a:t>
            </a:r>
            <a:endParaRPr lang="en-US" sz="1400" dirty="0"/>
          </a:p>
          <a:p>
            <a:pPr algn="l" indent="0" marL="0">
              <a:lnSpc>
                <a:spcPct val="105000"/>
              </a:lnSpc>
              <a:spcAft>
                <a:spcPts val="800"/>
              </a:spcAft>
              <a:buNone/>
            </a:pPr>
            <a:r>
              <a:rPr lang="en-US" sz="1400" dirty="0">
                <a:solidFill>
                  <a:schemeClr val="tx1"/>
                </a:solidFill>
              </a:rPr>
              <a:t>Wu, Y. &amp; He, K. (2018). Group normalization. ECCV.</a:t>
            </a:r>
            <a:endParaRPr lang="en-US" sz="1400" dirty="0"/>
          </a:p>
          <a:p>
            <a:pPr algn="l" indent="0" marL="0">
              <a:lnSpc>
                <a:spcPct val="105000"/>
              </a:lnSpc>
              <a:spcAft>
                <a:spcPts val="800"/>
              </a:spcAft>
              <a:buNone/>
            </a:pPr>
            <a:r>
              <a:rPr lang="en-US" sz="1400" dirty="0">
                <a:solidFill>
                  <a:schemeClr val="tx1"/>
                </a:solidFill>
              </a:rPr>
              <a:t>Zhang, B. &amp; Sennrich, R. (2019). Root mean square layer normalization. NeurIPS.</a:t>
            </a:r>
            <a:endParaRPr lang="en-US" sz="1400" dirty="0"/>
          </a:p>
          <a:p>
            <a:pPr algn="l" indent="0" marL="0">
              <a:lnSpc>
                <a:spcPct val="105000"/>
              </a:lnSpc>
              <a:spcAft>
                <a:spcPts val="800"/>
              </a:spcAft>
              <a:buNone/>
            </a:pPr>
            <a:r>
              <a:rPr lang="en-US" sz="1400" dirty="0">
                <a:solidFill>
                  <a:schemeClr val="tx1"/>
                </a:solidFill>
              </a:rPr>
              <a:t>Srivastava, N. et al. (2014). Dropout. JMLR.</a:t>
            </a:r>
            <a:endParaRPr lang="en-US" sz="1400" dirty="0"/>
          </a:p>
          <a:p>
            <a:pPr algn="l" indent="0" marL="0">
              <a:lnSpc>
                <a:spcPct val="105000"/>
              </a:lnSpc>
              <a:spcAft>
                <a:spcPts val="800"/>
              </a:spcAft>
              <a:buNone/>
            </a:pPr>
            <a:r>
              <a:rPr lang="en-US" sz="1400" dirty="0">
                <a:solidFill>
                  <a:schemeClr val="tx1"/>
                </a:solidFill>
              </a:rPr>
              <a:t>Belkin, M. et al. (2019). Reconciling modern machine learning and the bias–variance trade-off. PNAS.</a:t>
            </a:r>
            <a:endParaRPr lang="en-US" sz="1400" dirty="0"/>
          </a:p>
          <a:p>
            <a:pPr algn="l" indent="0" marL="0">
              <a:lnSpc>
                <a:spcPct val="105000"/>
              </a:lnSpc>
              <a:spcAft>
                <a:spcPts val="800"/>
              </a:spcAft>
              <a:buNone/>
            </a:pPr>
            <a:r>
              <a:rPr lang="en-US" sz="1400" dirty="0">
                <a:solidFill>
                  <a:schemeClr val="tx1"/>
                </a:solidFill>
              </a:rPr>
              <a:t>Zhang, H. et al. (2018). mixup. ICLR.  Yun, S. et al. (2019). CutMix. ICCV.</a:t>
            </a:r>
            <a:endParaRPr lang="en-US" sz="1400" dirty="0"/>
          </a:p>
          <a:p>
            <a:pPr algn="l" indent="0" marL="0">
              <a:lnSpc>
                <a:spcPct val="105000"/>
              </a:lnSpc>
              <a:buNone/>
            </a:pPr>
            <a:r>
              <a:rPr lang="en-US" sz="1400" dirty="0">
                <a:solidFill>
                  <a:schemeClr val="tx1"/>
                </a:solidFill>
              </a:rPr>
              <a:t>Cubuk, E. et al. (2020). RandAugment. CVPR Workshops.</a:t>
            </a:r>
            <a:endParaRPr lang="en-US" sz="14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53</a:t>
            </a:fld>
            <a:endParaRPr lang="en-US"/>
          </a:p>
        </p:txBody>
      </p:sp>
    </p:spTree>
  </p:cSld>
  <p:clrMapOvr>
    <a:masterClrMapping/>
  </p:clrMapOvr>
</p:sld>
</file>

<file path=ppt/theme/theme1.xml><?xml version="1.0" encoding="utf-8"?>
<a:theme xmlns:a="http://schemas.openxmlformats.org/drawingml/2006/main" name="Signal">
  <a:themeElements>
    <a:clrScheme name="Signal">
      <a:dk1>
        <a:srgbClr val="15232D"/>
      </a:dk1>
      <a:lt1>
        <a:srgbClr val="FFFFFF"/>
      </a:lt1>
      <a:dk2>
        <a:srgbClr val="556270"/>
      </a:dk2>
      <a:lt2>
        <a:srgbClr val="EEF2F5"/>
      </a:lt2>
      <a:accent1>
        <a:srgbClr val="0F7B78"/>
      </a:accent1>
      <a:accent2>
        <a:srgbClr val="D45D27"/>
      </a:accent2>
      <a:accent3>
        <a:srgbClr val="4C5FD5"/>
      </a:accent3>
      <a:accent4>
        <a:srgbClr val="2F855A"/>
      </a:accent4>
      <a:accent5>
        <a:srgbClr val="B83227"/>
      </a:accent5>
      <a:accent6>
        <a:srgbClr val="7CCFC6"/>
      </a:accent6>
      <a:hlink>
        <a:srgbClr val="0F7B78"/>
      </a:hlink>
      <a:folHlink>
        <a:srgbClr val="4C5FD5"/>
      </a:folHlink>
    </a:clrScheme>
    <a:fontScheme name="Sign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Making deep networks train and generalize</dc:title>
  <dc:subject>Why deep networks are hard to train, and the four tools that fix it: initialization, optimizers, normalization and regularization.</dc:subject>
  <dc:creator>Neural Networks &amp; Deep Learning</dc:creator>
  <cp:lastModifiedBy>Neural Networks &amp; Deep Learning</cp:lastModifiedBy>
  <cp:revision>1</cp:revision>
  <dcterms:created xsi:type="dcterms:W3CDTF">2026-10-02T15:14:04Z</dcterms:created>
  <dcterms:modified xsi:type="dcterms:W3CDTF">2026-10-02T15:14:04Z</dcterms:modified>
</cp:coreProperties>
</file>