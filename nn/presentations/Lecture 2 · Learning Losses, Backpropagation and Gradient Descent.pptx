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Last time we built the model: neurons, activations and the forward pass. Today we make it learn. Section 5 is how we measure error, and why the right loss follows from a probabilistic assumption. Section 6 is backpropagation, the efficient way to get every gradient. Section 7 is gradient descent: what to do with those gradients, how to pick a learning rate, and how to read the training curves.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things you should be able to do by the end. Two are derivations you should be able to reproduce on a blank page: the maximum-likelihood origin of the losses, and the softmax-cross-entropy gradient. One is the four backpropagation equations, which are the core of the whole course. And two are practical judgement: picking a learning rate and batch size, and reading loss curves.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notation, on top of Lecture 1's. y-hat is the prediction and y the target, one-hot for classification. z at the output layer are the logits, the raw scores before softmax. Theta collects all parameters and eta is the learning rate. Delta of l is the error signal, the derivative of the loss with respect to the pre-activation z of layer l, and capital Delta is its batched version with one row per example. The circle-dot is the elementwise product. Lambda-max is the largest eigenvalue of the Hessian, which will set the learning-rate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loss function turns the prediction and the target disagree into a single number to minimize. For one example we write L of y-hat and y; over a batch we average to get J. We average rather than sum so that the gradient magnitude does not depend on batch size, which means you can change the batch size without re-tuning the learning rate from scratch. A good loss has three properties: it is differentiable, it is aligned with the real goal, and it is well-conditioned, meaning its gradients do not vanish precisely when the model is badly wrong. That last property is the one people forget, and it does most of the work in this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Mean squared error, for regression. Where does it come from? Assume the target is the model output plus Gaussian noise with variance sigma squared. Write the likelihood, take the log over m independent examples, and everything except the squared error is constant. Maximizing the log-likelihood means minimizing the sum of squared errors. MSE is maximum likelihood under Gaussian noise. That justification also tells you when MSE is the wrong choice. When the noise is heavy-tailed, use Huber loss, the next slide. When the target is a count, use a Poisson loss. The one-half is just a convenience that cancels when you differentiate. PyTorch omits it; the difference is absorbed into the learning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three regression losses side by side, as functions of the error. Squared error grows quadratically, so it penalizes large errors heavily, which is exactly what you want under Gaussian noise and exactly what you do not want with outliers. Absolute error grows linearly; its gradient has constant magnitude, so it is robust to outliers but has a kink at zero. Huber loss takes the best of both. Inside a threshold delta it is one half e squared; outside it is delta times the absolute error minus one half delta, which makes the two pieces meet smoothly. Quadratic near the minimum, so it converges cleanly; linear far away, so a single wild outlier cannot dominate the gradient. PyTorch calls it smooth L1, and it is standard in object detection.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two-class problems the model outputs y-hat equals sigma of z, read as the probability that y equals one. Binary cross-entropy looks intimidating, but read it as a switch: because y is zero or one, exactly one term survives. If y is one, the loss is minus log y-hat; if y is zero, it is minus log of one minus y-hat. So the loss is minus the log of the probability assigned to the correct class. On the plot, the solid curve goes to zero as the prediction approaches one and to infinity as it approaches zero. Confidently wrong is punished without limit, and that unbounded penalty is a feature: it produces a huge gradient exactly when the model needs correcting most. Where it comes from: each label is a Bernoulli draw with parameter y-hat. Take the log and negate, and you get BCE. Binary cross-entropy is maximum likelihood under a Bernoulli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K classes, the output layer produces K raw scores called logits. Softmax exponentiates and normalizes them, so every output is positive and they sum to one. Here logits of 2, 1 and 0.1 become probabilities of about 0.66, 0.24 and 0.10. With one-hot targets, categorical cross-entropy collapses to minus the log probability of the true class. If the model gives the true class 0.9, the loss is 0.105; at 0.5 it is 0.693; at 0.01 it is 4.6. Two properties worth knowing. Shift invariance: adding a constant to every logit changes nothing, because the e to the c factors cancel. That is what makes the numerically stable implementation valid. And temperature: dividing logits by T greater than one flattens the distribution, less than one sharpens it, and as T goes to zero it approaches a one-hot argmax.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sanity check to memorize. A randomly initialized classifier should give roughly uniform probabilities, one over K for each class. Minus the log of one over K is the log of K. For ten classes that is 2.303; for a hundred classes, about 4.6. If your very first loss is 15, something is wrong before training even begins: the labels, the output size, or an accidental extra softmax. And if a hundred-class model starts at 2.3, suspect a ten-unit output head, since log of ten is 2.3. Check the output shape first. It takes one print statement, and it catches a surprising number of bugs.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not MSE for classification? There are three reasons, and the gradient argument is the one interviewers want. Take binary classification with a sigmoid output and MSE. Differentiate with respect to the logit and you get the error times sigma times one minus sigma. Now suppose the truth is one but the model predicts 0.0001, so z is about minus nine. The error is nearly minus one, good, but the sigmoid derivative is about 0.0001, so the gradient is almost zero. The model is as wrong as it can be, and learning stalls. That is the MSE curve collapsing on the left. Now cross-entropy. The sigmoid derivative cancels against the derivative of the log, and the gradient is exactly y-hat minus y, the prediction error. Confidently wrong means a full-strength gradient; right means near zero. That is the cross-entropy curve. The other two reasons: MSE is the wrong likelihood for class labels, and MSE composed with a sigmoid is non-convex even for one neuron, while cross-entropy with a sigmoid is convex.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rule to follow without exception in PyTorch: do not put a sigmoid or softmax at the end of your model. Pass raw logits to BCEWithLogitsLoss or CrossEntropyLoss. The reason is floating point. A logit of a thousand makes e to the thousand overflow to infinity in float32, softmax returns not-a-number, and your loss is nan forever. Or a probability underflows to zero and the log goes to minus infinity. The fused losses use the log-sum-exp trick. Because softmax is shift-invariant, subtract the maximum logit, called c here, before exponentiating. Every exponent is then at most zero, so nothing overflows, and at least one term equals exactly one, so the sum cannot underflow. Mathematically identical, numerically safe. And the bottom pipeline is one of the most common, hardest-to-spot beginner bugs: CrossEntropyLoss already includes log-softmax, so applying softmax yourself applies it twice. Nothing errors; the model just trains poorly.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table you will reference constantly. Regression uses MSELoss on raw outputs, or SmoothL1Loss, PyTorch's Huber, when you need robustness. Binary classification uses BCEWithLogitsLoss on logits with float targets of zero or one. Multi-class single-label uses CrossEntropyLoss on an m by K logit matrix with a vector of integer class indices, not one-hot. Multi-label uses BCEWithLogitsLoss with one sigmoid per class. Two errors account for most CrossEntropyLoss failures. Passing one-hot targets at least raises a dtype error. Passing softmax outputs instead of logits raises nothing and quietly degrades your model. Two useful options. Label smoothing replaces the one-hot target with one minus epsilon times the one-hot vector plus epsilon over K spread uniformly, typically epsilon 0.1. That is the convention PyTorch implements; some texts spread epsilon over K minus one classes instead. It which discourages overconfidence and improves calibration; it is standard in modern image classification. And class weights let you weight rare classes up when the data are imbalanced.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section to slow down for. Backpropagation is how a network learns, it is the most-asked topic in deep learning interviews, and it is the one thing in this course people routinely pretend to understand. The headline is on the slide: it is the chain rule applied to a computational graph, organized so that shared subexpressions are computed once. And keep the distinction clean from the start: backprop computes gradients; gradient descent, or Adam, or anything else, decides what to do with them. The problem: a loss that depends on millions of parameters, and gradient descent needs the partial derivative for every one. The naive approach is finite differences: nudge each parameter and watch the loss. It works, and it is a useful debugging tool, but each parameter needs its own forward pass. A hundred-million-parameter model needs a hundred million passes per step, over a day at a millisecond each. Backpropagation gets all the gradients for roughly the cost of one extra pass. That factor of a hundred million is the reason deep learning exists. The insight is in the chain. To get dJ by dx you need a product of four local derivatives; to get dJ by da you need the first three of them. Compute from the output backward and every new gradient reuses the product you already have. That is reverse-mode automatic differentiation. And when a variable affects the output through several paths, its gradient is the sum over paths. Why reverse and not forward? One output, millions of inputs. Reverse mode costs a sweep per output, forward mode a sweep per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general derivation, one concrete case with a pencil. One input, one sigmoid hidden unit, one sigmoid output, squared error. Weights 0.5 and 0.8, biases 0.1 and minus 0.3, input 2, target 1. Forward, the top row: z1 is 1.1, a1 is 0.7503, z2 is 0.3002, a2 is 0.5745, and the loss is 0.0905. Backward, the bottom row, revealed one click at a time, local derivative times what came from the right. dL by da2 is a2 minus y, minus 0.4255. Multiply by a2 times one minus a2 to get delta two, minus 0.104. Multiply by w2 to get dL by da1, minus 0.0832. Multiply by the sigmoid derivative at z1 to get delta one, minus 0.0156. Now read the pattern off the arithmetic. A weight's gradient is the error signal at its output times the activation at its input. A bias's gradient is just the error signal. The error propagates backward by multiplying by the weight and then the activation derivative. And it shrinks: from minus 0.104 to minus 0.0156, a factor of 6.7 in one layer. Twenty layers of that and nothing reaches the front. You have just watched the vanishing gradient problem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general case. Define the error signal delta at layer l as the derivative of the loss with respect to the pre-activation z. We define it on z rather than on a because it makes the weight gradients fall out immediately. BP1, the error at the output: the gradient of the loss with respect to the activation, elementwise times g prime. Elementwise because g acts elementwise, so there is no sum. For softmax with cross-entropy it collapses to a minus y. BP2, propagate backward: delta at layer l is W of the next layer transposed times the next delta, gated elementwise by g prime. It comes from the multivariable chain rule, because z at layer l affects the loss only through every unit of the next layer. BP3: the bias gradient is just delta. BP4: the weight gradient is the outer product of delta with the previous activation. If you can reproduce these four lines and say why each is true, you understand backpropagation. Cover the page and 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read BP2 and BP4 as engineering statements. In BP2, the transpose of W sends the error backward through the same connections. It has to be the transpose, because the forward pass maps layer l to layer l plus one, and the backward pass maps an error of size n of l plus one to one of size n of l. Shape-checking alone forces it. Then the elementwise product with g prime gates the error by how responsive each unit was. The middle unit here is saturated, its derivative is about 0.02, and its error is essentially blocked. BP4 says each weight's gradient is the error at its output times the activation at its input. So if an input activation is small, that weight barely learns: units that do not activate do not learn. That is why input standardization matters and why dead ReLUs are dead. And if delta is small, because the unit saturated or the error already vanished on the way back, that entire row of the weight matrix barely learns.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code actually does, with m examples in rows. The output error is A minus Y divided by m for softmax with cross-entropy. The backward step multiplies by W instead of W transpose, because examples are now rows. The weight gradient is delta transposed times the previous activations, and the bias gradient is delta summed over the batch dimension. Two things changed. The transpose moved. And the outer product became a matrix product, which sums over the batch automatically: each example contributes its own outer product and they add. The bias has to be summed explicitly because it was broadcast across all m rows. Whenever you are unsure whether a transpose belongs, check which arrangement produces the shape of the parameter. There is usually only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engineering consequences of the batched equations. Cost: for every layer, the forward pass does one matrix product, and the backward pass does two, one for the gradient with respect to the input and one for the gradient with respect to the weights. So a training step costs roughly three times an inference step. That is the number to use when estimating training time. Memory is the other half. BP4 needs the previous layer's activation, so every layer's activations must be kept from the forward pass until the backward pass reaches them. That is why memory scales with batch size, why an out-of-memory error in the backward pass is fixed by reducing batch size, and why turning off gradient tracking at inference saves so much memory. If you are memory-bound, gradient checkpointing stores only some activations and recomputes the rest during the backward pass, trading about thirty percent more compute for large memory savings.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derivation appears in interviews constantly, so do it by hand once. Step one, the derivative of softmax, which has two cases. Write S for the sum of exponentials. When k equals i, the quotient rule gives y-hat-k times one minus y-hat-k. When k differs from i, only S depends on z-i, giving minus y-hat-k times y-hat-i. Combine them with an indicator: y-hat-k times the indicator minus y-hat-i. Step two, chain through the loss. The derivative of minus y-k log y-hat-k with respect to y-hat-k is minus y-k over y-hat-k. Multiply, and the y-hat-k cancels. Sum over k and you get minus y-i plus y-hat-i times the sum of the targets, which is one for a one-hot vector. The result: prediction minus target. No exponentials, no division, no activation derivative. The messy softmax derivative cancels exactly against the log. That is why frameworks fuse the two into one operation. Reveal each line in turn and ask the room for the next step before clicking.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implement a gradient by hand, verify it numerically. Use the centred difference, J of w plus epsilon minus J of w minus epsilon over two epsilon, whose error is order epsilon squared rather than order epsilon. Then compare analytic and numeric with a relative error. Rules of thumb on the scale: below ten to the minus seven is correct; between that and ten to the minus four is suspicious and worth investigating; above ten to the minus three means you have a bug. Three practical notes. Use float64, or rounding noise drowns the comparison. Turn off dropout and anything stochastic, since the loss must be deterministic. And check a random subset of parameters, because the procedure costs two forward passes per parameter. The tutorial's from-scratch implementation is the payoff: a two-layer NumPy network with no autograd, every line mapped to one of BP1 to BP4, trained on XOR. Run it and the loss falls from about 0.69, which is log two, the two-class random baseline, to near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confusions, resolved. Is backpropagation the same as gradient descent? No. Backprop computes gradients; gradient descent uses them. You could compute gradients by backprop and then update with Adam, with a genetic algorithm, or not at all. Why do we need zero_grad? PyTorch accumulates gradients rather than overwriting them. Skip it and step k uses the sum of all previous gradients, which grows without bound. The accumulation is deliberate: it lets you simulate a large batch on small hardware. Why store activations at all? BP4 needs them. The alternative is recomputing the forward pass, which is exactly what gradient checkpointing chooses to do. Does backprop find the global minimum? No, and neither does gradient descent. But in high dimensions most critical points are saddles rather than bad local minima, and the minima we reach tend to have similar loss. That is the next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Backpropagation hands you the gradient for every parameter. Gradient descent decides what to do with it: move each parameter a little way in the direction that reduces the loss. The gradient points uphill, steepest increase, so we subtract it. Why is that the steepest direction? Expand the loss to first order around the current parameters. For a step of fixed length, the change is the gradient dotted with the step, which is the product of their norms times the cosine of the angle between them. It is most negative when the cosine is minus one, when the step points exactly opposite the gradient. Two cautions follow straight from the derivation. It is only valid for small steps, because the Taylor expansion is local; take too big a step and the approximation is worthless, which is exactly what divergence looks like. And it is steepest only with respect to the Euclidean norm; other norms give other update rules, which is one way to understand what Adam is doing.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much data do you use to estimate the gradient at each step? Full-batch gradient descent uses all N examples: exact and smooth, but each step needs a full pass, so with a million examples one update takes minutes. Stochastic gradient descent uses one example: very fast, and the noise can help escape sharp regions, but the estimate is high-variance and single-example computation wastes hardware built for parallel arithmetic. Mini-batch uses 32 to 512 examples, and it is what everyone actually does; confusingly, it is what people mean today when they say SGD. The reason it wins is statistical, and it is the curve on the left. The standard error of a mean falls as one over root m. Going from one to a hundred cuts noise by ten; going from a hundred to ten thousand cuts it by another ten but costs a hundred times more compute. Diminishing returns in accuracy, linear growth in cost. And the free interview marks: an epoch is one pass over the data, an iteration is one update. Fifty thousand examples at batch size one hundred is five hundred iterations per epoch.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learning rate is the most important hyperparameter in deep learning. Not among the most important; the most important. The table gives the symptoms: far too large and the loss is nan within a few steps; too large and it oscillates or plateaus high; good and it falls steadily then flattens; too small and it creeps. Why does a large rate diverge? Take a quadratic bowl, J equals one half lambda theta squared. The update multiplies theta by one minus eta lambda each step, so it converges only if that factor has magnitude below one: eta less than two over lambda. The three panels show a factor of 0.85, slow; minus 0.6, oscillating but converging; and minus 1.25, diverging. In a real network lambda is the largest Hessian eigenvalue, so the sharpest direction sets the maximum stable rate even though most directions are flatter. That mismatch is the ill-conditioning momentum and Adam 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you actually pick a learning rate? The range test, from Leslie Smith. Train for a few hundred steps while increasing the learning rate exponentially, and plot loss against the rate on a log axis. The curve has a typical shape, shown schematically here: flat at tiny rates, a steep descent, a minimum, then an explosion. Do not pick the minimum; by then you are close to divergence. Pick roughly one order of magnitude below it, in the steepest part of the descent. If you skip the test, reasonable starting points are SGD with momentum at 0.1 for CNNs with batch normalization, and Adam at three times ten to the minus four for almost everything else. Both are starting points, not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PyTorch training loop you will ever write has this skeleton. Put the model in training mode, then for every mini-batch: one, clear the stored gradients; two, the forward pass; three, compute the loss; four, the backward pass; five, the optimizer updates the weights. Those five, in that order, every time. Interviewers do ask you to write this from scratch. After each epoch, switch the model to evaluation mode and turn off gradient tracking for validation. The three classic errors. Forgetting to clear gradients: gradients accumulate, and training degrades progressively rather than failing outright, which makes it hard to spot. Forgetting evaluation mode: dropout stays active and batch norm keeps using batch statistics, so validation accuracy looks worse and fluctuates between runs on the same data. Forgetting to turn off gradient tracking during evaluation: everything still works, but memory use rises sharply and evaluation slows, because the graph is built for a backward pass that never 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often imagine a bumpy two-dimensional surface and worry constantly about local minima. In high dimensions the reality is different and more encouraging. At a critical point, the Hessian's eigenvalues decide the type: all positive is a minimum, mixed is a saddle. If the signs were roughly independent, the chance that all d are positive is about two to the minus d. For a million dimensions that is indistinguishable from zero. Almost every critical point is a saddle, and mini-batch noise generally knocks the optimizer loose. Empirically, large networks from different seeds reach different parameters with very similar test loss. Flat minima tend to generalize better than sharp ones, which is part of why small batches and larger learning rates help; treat that as a heuristic. The real practical obstacle is the picture on the left: ill-conditioning. When eigenvalues span orders of magnitude the surface is a long narrow ravine. Gradient descent bounces across the steep walls while creeping along the floor, because one learning rate must serve both directions. That motivates the next three sections.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changes when you change the batch size? Larger batches give less gradient noise, better GPU utilization and faster epochs, but use more memory, make fewer updates per epoch, and often need a larger learning rate with warmup. Smaller batches are noisier, sometimes generalize better, and tolerate a wide range of learning rates. The practical rule when you scale the batch is the linear scaling rule: multiply the learning rate by the same factor, and add a few epochs of linear warmup. It works up to a few thousand and then breaks down; some people prefer square-root scaling for adaptive optimizers. Treat both as heuristics to validate. If you are memory-limited, gradient accumulation gives a large effective batch on small hardware: run several forward and backward passes, letting gradients add up, then take one step. Divide each loss by the number of accumulation steps, or you are summing four batch means instead of averaging them, which effectively quadruples the learning rate. One subtlety: batch norm still computes statistics per actual pass, so it is not perfectly equivalent.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 training loss and validation loss together; there are four regimes. Both high: underfitting, so use a bigger model, train longer, or raise the learning rate. Both falling: healthy, keep going. Training falling while validation rises: overfitting, so regularize, get more data, or stop early. Both flat from the very start: something is broken, and a later section of the tutorial gives a debugging checklist. Early stopping means keeping the parameters from the epoch with the best validation loss, the vertical line in the overfitting panel, rather than the last epoch. It costs nothing and is close to free regularization. Always save the best checkpoint, not the final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 2 in three sentences. Section 5: losses are negative log-likelihoods, squared error for Gaussian noise and cross-entropy for classes, and classification losses take raw logits. Section 6: backpropagation is the chain rule run backward through the graph; four equations give every gradient for roughly the cost of one extra pass. Section 7: step against the gradient, keep the learning rate below two over the largest curvature, and read training and validation curves together. Next lecture: why depth helps, and the engineering that makes deep networks train and generalize: initialization, optimizers, normalization and regularization.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primary sources for today. Two worth special mention: Dauphin and colleagues for the saddle-point picture of high-dimensional optimization, and Dinh and colleagues, who show that flatness is not reparameterization-invariant, which is why the flat-minima story is a heuristic rather than a theorem.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AF9F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13420"/>
            <a:ext cx="10566400" cy="796528"/>
          </a:xfrm>
          <a:prstGeom prst="rect">
            <a:avLst/>
          </a:prstGeom>
          <a:noFill/>
          <a:ln/>
        </p:spPr>
        <p:txBody>
          <a:bodyPr wrap="square" lIns="0" tIns="0" rIns="0" bIns="0" rtlCol="0" anchor="t"/>
          <a:lstStyle>
            <a:lvl1pPr algn="l" indent="0" marL="0">
              <a:lnSpc>
                <a:spcPct val="115000"/>
              </a:lnSpc>
              <a:buNone/>
              <a:defRPr lang="en-US" sz="2800" dirty="0">
                <a:solidFill>
                  <a:srgbClr val="15212E"/>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2114748"/>
            <a:ext cx="10566400" cy="3930452"/>
          </a:xfrm>
          <a:prstGeom prst="rect">
            <a:avLst/>
          </a:prstGeom>
          <a:noFill/>
          <a:ln/>
        </p:spPr>
        <p:txBody>
          <a:bodyPr wrap="square" lIns="0" tIns="0" rIns="0" bIns="0" rtlCol="0" anchor="t"/>
          <a:lstStyle>
            <a:lvl1pPr algn="l" indent="0" marL="0">
              <a:lnSpc>
                <a:spcPct val="140000"/>
              </a:lnSpc>
              <a:buNone/>
              <a:defRPr lang="en-US" sz="1600" dirty="0">
                <a:solidFill>
                  <a:srgbClr val="15212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9F6"/>
        </a:solidFill>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2.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slideLayout" Target="../slideLayouts/slideLayout2.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DF2F7"/>
        </a:solidFill>
      </p:bgPr>
    </p:bg>
    <p:spTree>
      <p:nvGrpSpPr>
        <p:cNvPr id="1" name=""/>
        <p:cNvGrpSpPr/>
        <p:nvPr/>
      </p:nvGrpSpPr>
      <p:grpSpPr>
        <a:xfrm>
          <a:off x="0" y="0"/>
          <a:ext cx="0" cy="0"/>
          <a:chOff x="0" y="0"/>
          <a:chExt cx="0" cy="0"/>
        </a:xfrm>
      </p:grpSpPr>
      <p:pic>
        <p:nvPicPr>
          <p:cNvPr id="2" name="Image 0" descr="Decorative feedforward network: four layers of nodes joined by connections, one path highlighted">    </p:cNvPr>
          <p:cNvPicPr>
            <a:picLocks noChangeAspect="1"/>
          </p:cNvPicPr>
          <p:nvPr/>
        </p:nvPicPr>
        <p:blipFill>
          <a:blip r:embed="rId1"/>
          <a:srcRect l="0" r="0" t="0" b="0"/>
          <a:stretch/>
        </p:blipFill>
        <p:spPr>
          <a:xfrm>
            <a:off x="7442200" y="1079500"/>
            <a:ext cx="3937000" cy="4445000"/>
          </a:xfrm>
          <a:prstGeom prst="rect">
            <a:avLst/>
          </a:prstGeom>
        </p:spPr>
      </p:pic>
      <p:sp>
        <p:nvSpPr>
          <p:cNvPr id="3" name="Text 0"/>
          <p:cNvSpPr/>
          <p:nvPr/>
        </p:nvSpPr>
        <p:spPr>
          <a:xfrm>
            <a:off x="812800" y="160397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1F5FBF"/>
                </a:solidFill>
                <a:latin typeface="IBM Plex Sans" pitchFamily="34" charset="0"/>
                <a:ea typeface="IBM Plex Sans" pitchFamily="34" charset="-122"/>
                <a:cs typeface="IBM Plex Sans" pitchFamily="34" charset="-120"/>
              </a:rPr>
              <a:t>LECTURE 2 OF 3 · SECTIONS 5–7</a:t>
            </a:r>
            <a:endParaRPr lang="en-US" sz="1300" dirty="0"/>
          </a:p>
        </p:txBody>
      </p:sp>
      <p:sp>
        <p:nvSpPr>
          <p:cNvPr id="4" name="Text 1"/>
          <p:cNvSpPr/>
          <p:nvPr>
            <p:ph type="title"/>
          </p:nvPr>
        </p:nvSpPr>
        <p:spPr>
          <a:xfrm>
            <a:off x="812800" y="2038251"/>
            <a:ext cx="6540500" cy="1963738"/>
          </a:xfrm>
          <a:prstGeom prst="rect">
            <a:avLst/>
          </a:prstGeom>
          <a:noFill/>
          <a:ln/>
        </p:spPr>
        <p:txBody>
          <a:bodyPr wrap="square" lIns="0" tIns="0" rIns="0" bIns="0" rtlCol="0" anchor="t">
            <a:normAutofit/>
          </a:bodyPr>
          <a:lstStyle/>
          <a:p>
            <a:pPr algn="l" indent="0" marL="0">
              <a:lnSpc>
                <a:spcPts val="5088"/>
              </a:lnSpc>
              <a:buNone/>
            </a:pPr>
            <a:r>
              <a:rPr lang="en-US" sz="4800" b="1" i="0" dirty="0">
                <a:solidFill>
                  <a:srgbClr val="15212E"/>
                </a:solidFill>
                <a:latin typeface="IBM Plex Sans" pitchFamily="34" charset="0"/>
                <a:ea typeface="IBM Plex Sans" pitchFamily="34" charset="-122"/>
                <a:cs typeface="IBM Plex Sans" pitchFamily="34" charset="-120"/>
              </a:rPr>
              <a:t>Learning: losses, backpropagation and gradient descent</a:t>
            </a:r>
            <a:endParaRPr lang="en-US" sz="4800" dirty="0"/>
          </a:p>
        </p:txBody>
      </p:sp>
      <p:sp>
        <p:nvSpPr>
          <p:cNvPr id="5" name="Text 2"/>
          <p:cNvSpPr/>
          <p:nvPr/>
        </p:nvSpPr>
        <p:spPr>
          <a:xfrm>
            <a:off x="812800" y="4179788"/>
            <a:ext cx="6278880" cy="665361"/>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3D4A59"/>
                </a:solidFill>
                <a:latin typeface="IBM Plex Sans" pitchFamily="34" charset="0"/>
                <a:ea typeface="IBM Plex Sans" pitchFamily="34" charset="-122"/>
                <a:cs typeface="IBM Plex Sans" pitchFamily="34" charset="-120"/>
              </a:rPr>
              <a:t>How a network measures its error, computes every gradient at once, and uses those gradients to improve.</a:t>
            </a:r>
            <a:endParaRPr lang="en-US" sz="1800" dirty="0"/>
          </a:p>
        </p:txBody>
      </p:sp>
      <p:sp>
        <p:nvSpPr>
          <p:cNvPr id="6" name="Text 3"/>
          <p:cNvSpPr/>
          <p:nvPr/>
        </p:nvSpPr>
        <p:spPr>
          <a:xfrm>
            <a:off x="812800" y="5022949"/>
            <a:ext cx="627888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B6878"/>
                </a:solidFill>
                <a:latin typeface="IBM Plex Sans" pitchFamily="34" charset="0"/>
                <a:ea typeface="IBM Plex Sans" pitchFamily="34" charset="-122"/>
                <a:cs typeface="IBM Plex Sans" pitchFamily="34" charset="-120"/>
              </a:rPr>
              <a:t>Neural Networks &amp; Deep Learning · Undergraduate engineering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LEARNING OBJECTIVES</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By the end of this lecture you will be able to explain and derive these five ideas.</a:t>
            </a:r>
            <a:endParaRPr lang="en-US" sz="2800" dirty="0"/>
          </a:p>
        </p:txBody>
      </p:sp>
      <p:sp>
        <p:nvSpPr>
          <p:cNvPr id="4" name="Text 2"/>
          <p:cNvSpPr/>
          <p:nvPr/>
        </p:nvSpPr>
        <p:spPr>
          <a:xfrm>
            <a:off x="812800" y="2063948"/>
            <a:ext cx="45720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F5FBF"/>
                </a:solidFill>
                <a:latin typeface="JetBrains Mono" pitchFamily="49" charset="0"/>
                <a:ea typeface="JetBrains Mono" pitchFamily="49" charset="-122"/>
                <a:cs typeface="JetBrains Mono" pitchFamily="49" charset="-120"/>
              </a:rPr>
              <a:t>01</a:t>
            </a:r>
            <a:endParaRPr lang="en-US" sz="1700" dirty="0"/>
          </a:p>
        </p:txBody>
      </p:sp>
      <p:sp>
        <p:nvSpPr>
          <p:cNvPr id="5" name="Text 3"/>
          <p:cNvSpPr/>
          <p:nvPr/>
        </p:nvSpPr>
        <p:spPr>
          <a:xfrm>
            <a:off x="1397000" y="2063948"/>
            <a:ext cx="10281666" cy="586581"/>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15212E"/>
                </a:solidFill>
                <a:latin typeface="IBM Plex Sans" pitchFamily="34" charset="0"/>
                <a:ea typeface="IBM Plex Sans" pitchFamily="34" charset="-122"/>
                <a:cs typeface="IBM Plex Sans" pitchFamily="34" charset="-120"/>
              </a:rPr>
              <a:t>Derive MSE and cross-entropy as maximum-likelihood losses, and explain why MSE fails for classification.</a:t>
            </a:r>
            <a:endParaRPr lang="en-US" sz="1700" dirty="0"/>
          </a:p>
        </p:txBody>
      </p:sp>
      <p:sp>
        <p:nvSpPr>
          <p:cNvPr id="6" name="Text 4"/>
          <p:cNvSpPr/>
          <p:nvPr/>
        </p:nvSpPr>
        <p:spPr>
          <a:xfrm>
            <a:off x="812800" y="2802930"/>
            <a:ext cx="45720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F5FBF"/>
                </a:solidFill>
                <a:latin typeface="JetBrains Mono" pitchFamily="49" charset="0"/>
                <a:ea typeface="JetBrains Mono" pitchFamily="49" charset="-122"/>
                <a:cs typeface="JetBrains Mono" pitchFamily="49" charset="-120"/>
              </a:rPr>
              <a:t>02</a:t>
            </a:r>
            <a:endParaRPr lang="en-US" sz="1700" dirty="0"/>
          </a:p>
        </p:txBody>
      </p:sp>
      <p:sp>
        <p:nvSpPr>
          <p:cNvPr id="7" name="Text 5"/>
          <p:cNvSpPr/>
          <p:nvPr/>
        </p:nvSpPr>
        <p:spPr>
          <a:xfrm>
            <a:off x="1397000" y="2802930"/>
            <a:ext cx="10281666" cy="305991"/>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15212E"/>
                </a:solidFill>
                <a:latin typeface="IBM Plex Sans" pitchFamily="34" charset="0"/>
                <a:ea typeface="IBM Plex Sans" pitchFamily="34" charset="-122"/>
                <a:cs typeface="IBM Plex Sans" pitchFamily="34" charset="-120"/>
              </a:rPr>
              <a:t>Explain why raw logits must go into a fused loss, using the log-sum-exp trick.</a:t>
            </a:r>
            <a:endParaRPr lang="en-US" sz="1700" dirty="0"/>
          </a:p>
        </p:txBody>
      </p:sp>
      <p:sp>
        <p:nvSpPr>
          <p:cNvPr id="8" name="Text 6"/>
          <p:cNvSpPr/>
          <p:nvPr/>
        </p:nvSpPr>
        <p:spPr>
          <a:xfrm>
            <a:off x="812800" y="3282950"/>
            <a:ext cx="45720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F5FBF"/>
                </a:solidFill>
                <a:latin typeface="JetBrains Mono" pitchFamily="49" charset="0"/>
                <a:ea typeface="JetBrains Mono" pitchFamily="49" charset="-122"/>
                <a:cs typeface="JetBrains Mono" pitchFamily="49" charset="-120"/>
              </a:rPr>
              <a:t>03</a:t>
            </a:r>
            <a:endParaRPr lang="en-US" sz="1700" dirty="0"/>
          </a:p>
        </p:txBody>
      </p:sp>
      <p:sp>
        <p:nvSpPr>
          <p:cNvPr id="9" name="Text 7"/>
          <p:cNvSpPr/>
          <p:nvPr/>
        </p:nvSpPr>
        <p:spPr>
          <a:xfrm>
            <a:off x="1397000" y="3282950"/>
            <a:ext cx="10281666" cy="305991"/>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15212E"/>
                </a:solidFill>
                <a:latin typeface="IBM Plex Sans" pitchFamily="34" charset="0"/>
                <a:ea typeface="IBM Plex Sans" pitchFamily="34" charset="-122"/>
                <a:cs typeface="IBM Plex Sans" pitchFamily="34" charset="-120"/>
              </a:rPr>
              <a:t>State and justify the four backpropagation equations, and run them by hand on a small network.</a:t>
            </a:r>
            <a:endParaRPr lang="en-US" sz="1700" dirty="0"/>
          </a:p>
        </p:txBody>
      </p:sp>
      <p:sp>
        <p:nvSpPr>
          <p:cNvPr id="10" name="Text 8"/>
          <p:cNvSpPr/>
          <p:nvPr/>
        </p:nvSpPr>
        <p:spPr>
          <a:xfrm>
            <a:off x="812800" y="3762970"/>
            <a:ext cx="45720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F5FBF"/>
                </a:solidFill>
                <a:latin typeface="JetBrains Mono" pitchFamily="49" charset="0"/>
                <a:ea typeface="JetBrains Mono" pitchFamily="49" charset="-122"/>
                <a:cs typeface="JetBrains Mono" pitchFamily="49" charset="-120"/>
              </a:rPr>
              <a:t>04</a:t>
            </a:r>
            <a:endParaRPr lang="en-US" sz="1700" dirty="0"/>
          </a:p>
        </p:txBody>
      </p:sp>
      <p:sp>
        <p:nvSpPr>
          <p:cNvPr id="11" name="Text 9"/>
          <p:cNvSpPr/>
          <p:nvPr/>
        </p:nvSpPr>
        <p:spPr>
          <a:xfrm>
            <a:off x="1397000" y="3762970"/>
            <a:ext cx="10281666" cy="305991"/>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15212E"/>
                </a:solidFill>
                <a:latin typeface="IBM Plex Sans" pitchFamily="34" charset="0"/>
                <a:ea typeface="IBM Plex Sans" pitchFamily="34" charset="-122"/>
                <a:cs typeface="IBM Plex Sans" pitchFamily="34" charset="-120"/>
              </a:rPr>
              <a:t>Derive the softmax plus cross-entropy gradient, ŷ − y.</a:t>
            </a:r>
            <a:endParaRPr lang="en-US" sz="1700" dirty="0"/>
          </a:p>
        </p:txBody>
      </p:sp>
      <p:sp>
        <p:nvSpPr>
          <p:cNvPr id="12" name="Text 10"/>
          <p:cNvSpPr/>
          <p:nvPr/>
        </p:nvSpPr>
        <p:spPr>
          <a:xfrm>
            <a:off x="812800" y="4242991"/>
            <a:ext cx="457200"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F5FBF"/>
                </a:solidFill>
                <a:latin typeface="JetBrains Mono" pitchFamily="49" charset="0"/>
                <a:ea typeface="JetBrains Mono" pitchFamily="49" charset="-122"/>
                <a:cs typeface="JetBrains Mono" pitchFamily="49" charset="-120"/>
              </a:rPr>
              <a:t>05</a:t>
            </a:r>
            <a:endParaRPr lang="en-US" sz="1700" dirty="0"/>
          </a:p>
        </p:txBody>
      </p:sp>
      <p:sp>
        <p:nvSpPr>
          <p:cNvPr id="13" name="Text 11"/>
          <p:cNvSpPr/>
          <p:nvPr/>
        </p:nvSpPr>
        <p:spPr>
          <a:xfrm>
            <a:off x="1397000" y="4242991"/>
            <a:ext cx="10281666" cy="305991"/>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15212E"/>
                </a:solidFill>
                <a:latin typeface="IBM Plex Sans" pitchFamily="34" charset="0"/>
                <a:ea typeface="IBM Plex Sans" pitchFamily="34" charset="-122"/>
                <a:cs typeface="IBM Plex Sans" pitchFamily="34" charset="-120"/>
              </a:rPr>
              <a:t>Choose a learning rate and batch size, and diagnose training from loss curves.</a:t>
            </a:r>
            <a:endParaRPr lang="en-US" sz="1700" dirty="0"/>
          </a:p>
        </p:txBody>
      </p:sp>
      <p:sp>
        <p:nvSpPr>
          <p:cNvPr id="14" name="Text 12"/>
          <p:cNvSpPr/>
          <p:nvPr/>
        </p:nvSpPr>
        <p:spPr>
          <a:xfrm>
            <a:off x="812800" y="6281440"/>
            <a:ext cx="518017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2 · Learning: losses, backpropagation, gradient descent</a:t>
            </a:r>
            <a:endParaRPr lang="en-US" sz="1200" dirty="0"/>
          </a:p>
        </p:txBody>
      </p:sp>
      <p:sp>
        <p:nvSpPr>
          <p:cNvPr id="15" name="Text 13"/>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02 / 31</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NOTATION</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Today’s new symbols are the error signal δ, the logits z, and the learning rate η.</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76648"/>
          <a:ext cx="5067300" cy="3075384"/>
        </p:xfrm>
        <a:graphic>
          <a:graphicData uri="http://schemas.openxmlformats.org/drawingml/2006/table">
            <a:tbl>
              <a:tblPr/>
              <a:tblGrid>
                <a:gridCol w="1520190"/>
                <a:gridCol w="3547110"/>
              </a:tblGrid>
              <a:tr h="439341">
                <a:tc>
                  <a:txBody>
                    <a:bodyPr/>
                    <a:lstStyle/>
                    <a:p>
                      <a:pPr indent="0" marL="0">
                        <a:lnSpc>
                          <a:spcPts val="1960"/>
                        </a:lnSpc>
                        <a:buNone/>
                      </a:pPr>
                      <a:r>
                        <a:rPr lang="en-US" sz="1400" b="1" dirty="0">
                          <a:solidFill>
                            <a:srgbClr val="15212E"/>
                          </a:solidFill>
                          <a:latin typeface="IBM Plex Sans" pitchFamily="34" charset="0"/>
                          <a:ea typeface="IBM Plex Sans" pitchFamily="34" charset="-122"/>
                          <a:cs typeface="IBM Plex Sans" pitchFamily="34" charset="-120"/>
                        </a:rPr>
                        <a:t>Symbol</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BCBCA"/>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BCBCA"/>
                      </a:solidFill>
                      <a:prstDash val="solid"/>
                      <a:round/>
                      <a:headEnd type="none" w="med" len="med"/>
                      <a:tailEnd type="none" w="med" len="med"/>
                    </a:lnB>
                    <a:solidFill>
                      <a:srgbClr val="FFFFFE"/>
                    </a:solidFill>
                  </a:tcPr>
                </a:tc>
                <a:tc>
                  <a:txBody>
                    <a:bodyPr/>
                    <a:lstStyle/>
                    <a:p>
                      <a:pPr indent="0" marL="0">
                        <a:lnSpc>
                          <a:spcPts val="1960"/>
                        </a:lnSpc>
                        <a:buNone/>
                      </a:pPr>
                      <a:r>
                        <a:rPr lang="en-US" sz="1400" b="1" dirty="0">
                          <a:solidFill>
                            <a:srgbClr val="15212E"/>
                          </a:solidFill>
                          <a:latin typeface="IBM Plex Sans" pitchFamily="34" charset="0"/>
                          <a:ea typeface="IBM Plex Sans" pitchFamily="34" charset="-122"/>
                          <a:cs typeface="IBM Plex Sans" pitchFamily="34" charset="-120"/>
                        </a:rPr>
                        <a:t>Meaning</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BCBCA"/>
                      </a:solidFill>
                      <a:prstDash val="solid"/>
                      <a:round/>
                      <a:headEnd type="none" w="med" len="med"/>
                      <a:tailEnd type="none" w="med" len="med"/>
                    </a:lnL>
                    <a:lnR w="12700" cap="flat" cmpd="sng" algn="ctr">
                      <a:solidFill>
                        <a:srgbClr val="CBCBCA"/>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BCBCA"/>
                      </a:solidFill>
                      <a:prstDash val="solid"/>
                      <a:round/>
                      <a:headEnd type="none" w="med" len="med"/>
                      <a:tailEnd type="none" w="med" len="med"/>
                    </a:lnB>
                    <a:solidFill>
                      <a:srgbClr val="FFFFFE"/>
                    </a:solidFill>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ŷ, y</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BCBCA"/>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Prediction, target (one-hot for classes)</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BCBCA"/>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z</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Logits: raw scores before softmax</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L, J</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Loss per example, batch average</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σ, softmax</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Sigmoid, normalized exponential</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θ</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All parameters</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η</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Learning rate</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bl>
          </a:graphicData>
        </a:graphic>
      </p:graphicFrame>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6311900" y="2076648"/>
          <a:ext cx="5067300" cy="3075384"/>
        </p:xfrm>
        <a:graphic>
          <a:graphicData uri="http://schemas.openxmlformats.org/drawingml/2006/table">
            <a:tbl>
              <a:tblPr/>
              <a:tblGrid>
                <a:gridCol w="1520190"/>
                <a:gridCol w="3547110"/>
              </a:tblGrid>
              <a:tr h="439341">
                <a:tc>
                  <a:txBody>
                    <a:bodyPr/>
                    <a:lstStyle/>
                    <a:p>
                      <a:pPr indent="0" marL="0">
                        <a:lnSpc>
                          <a:spcPts val="1960"/>
                        </a:lnSpc>
                        <a:buNone/>
                      </a:pPr>
                      <a:r>
                        <a:rPr lang="en-US" sz="1400" b="1" dirty="0">
                          <a:solidFill>
                            <a:srgbClr val="15212E"/>
                          </a:solidFill>
                          <a:latin typeface="IBM Plex Sans" pitchFamily="34" charset="0"/>
                          <a:ea typeface="IBM Plex Sans" pitchFamily="34" charset="-122"/>
                          <a:cs typeface="IBM Plex Sans" pitchFamily="34" charset="-120"/>
                        </a:rPr>
                        <a:t>Symbol</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BCBCA"/>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BCBCA"/>
                      </a:solidFill>
                      <a:prstDash val="solid"/>
                      <a:round/>
                      <a:headEnd type="none" w="med" len="med"/>
                      <a:tailEnd type="none" w="med" len="med"/>
                    </a:lnB>
                    <a:solidFill>
                      <a:srgbClr val="FFFFFE"/>
                    </a:solidFill>
                  </a:tcPr>
                </a:tc>
                <a:tc>
                  <a:txBody>
                    <a:bodyPr/>
                    <a:lstStyle/>
                    <a:p>
                      <a:pPr indent="0" marL="0">
                        <a:lnSpc>
                          <a:spcPts val="1960"/>
                        </a:lnSpc>
                        <a:buNone/>
                      </a:pPr>
                      <a:r>
                        <a:rPr lang="en-US" sz="1400" b="1" dirty="0">
                          <a:solidFill>
                            <a:srgbClr val="15212E"/>
                          </a:solidFill>
                          <a:latin typeface="IBM Plex Sans" pitchFamily="34" charset="0"/>
                          <a:ea typeface="IBM Plex Sans" pitchFamily="34" charset="-122"/>
                          <a:cs typeface="IBM Plex Sans" pitchFamily="34" charset="-120"/>
                        </a:rPr>
                        <a:t>Meaning</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BCBCA"/>
                      </a:solidFill>
                      <a:prstDash val="solid"/>
                      <a:round/>
                      <a:headEnd type="none" w="med" len="med"/>
                      <a:tailEnd type="none" w="med" len="med"/>
                    </a:lnL>
                    <a:lnR w="12700" cap="flat" cmpd="sng" algn="ctr">
                      <a:solidFill>
                        <a:srgbClr val="CBCBCA"/>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BCBCA"/>
                      </a:solidFill>
                      <a:prstDash val="solid"/>
                      <a:round/>
                      <a:headEnd type="none" w="med" len="med"/>
                      <a:tailEnd type="none" w="med" len="med"/>
                    </a:lnB>
                    <a:solidFill>
                      <a:srgbClr val="FFFFFE"/>
                    </a:solidFill>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δ[l]</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BCBCA"/>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∂L/∂z[l], error signal at layer l</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BCBCA"/>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Δ[l]</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Batched error, shape (m, n[l])</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Elementwise product</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W[l]ᵀ</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Transpose of layer l’s weights</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m</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Examples in a batch</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λₘₐₓ</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Largest Hessian eigenvalue</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bl>
          </a:graphicData>
        </a:graphic>
      </p:graphicFrame>
      <p:sp>
        <p:nvSpPr>
          <p:cNvPr id="6" name="Text 2"/>
          <p:cNvSpPr/>
          <p:nvPr/>
        </p:nvSpPr>
        <p:spPr>
          <a:xfrm>
            <a:off x="812800" y="6281440"/>
            <a:ext cx="518017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2 · Learning: losses, backpropagation, gradient descent</a:t>
            </a:r>
            <a:endParaRPr lang="en-US" sz="1200" dirty="0"/>
          </a:p>
        </p:txBody>
      </p:sp>
      <p:sp>
        <p:nvSpPr>
          <p:cNvPr id="7" name="Text 3"/>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03 / 31</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§5 · LOSS FUNCTIONS</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A good loss is differentiable, matches the goal, and stays steep when the model is wrong.</a:t>
            </a:r>
            <a:endParaRPr lang="en-US" sz="2800" dirty="0"/>
          </a:p>
        </p:txBody>
      </p:sp>
      <p:sp>
        <p:nvSpPr>
          <p:cNvPr id="4" name="Shape 2"/>
          <p:cNvSpPr/>
          <p:nvPr/>
        </p:nvSpPr>
        <p:spPr>
          <a:xfrm>
            <a:off x="815975" y="2067123"/>
            <a:ext cx="4438650" cy="935236"/>
          </a:xfrm>
          <a:prstGeom prst="roundRect">
            <a:avLst>
              <a:gd name="adj" fmla="val 9166"/>
            </a:avLst>
          </a:prstGeom>
          <a:solidFill>
            <a:srgbClr val="F2F5F8"/>
          </a:solidFill>
          <a:ln w="6350">
            <a:solidFill>
              <a:srgbClr val="D2D9E1"/>
            </a:solidFill>
            <a:prstDash val="solid"/>
          </a:ln>
        </p:spPr>
      </p:sp>
      <p:sp>
        <p:nvSpPr>
          <p:cNvPr id="5" name="Text 3"/>
          <p:cNvSpPr/>
          <p:nvPr/>
        </p:nvSpPr>
        <p:spPr>
          <a:xfrm>
            <a:off x="1009650" y="2222698"/>
            <a:ext cx="417283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BATCH OBJECTIVE</a:t>
            </a:r>
            <a:endParaRPr lang="en-US" sz="1200" dirty="0"/>
          </a:p>
        </p:txBody>
      </p:sp>
      <p:sp>
        <p:nvSpPr>
          <p:cNvPr id="6" name="Text 4"/>
          <p:cNvSpPr/>
          <p:nvPr/>
        </p:nvSpPr>
        <p:spPr>
          <a:xfrm>
            <a:off x="1009650" y="2512219"/>
            <a:ext cx="4172839" cy="359966"/>
          </a:xfrm>
          <a:prstGeom prst="rect">
            <a:avLst/>
          </a:prstGeom>
          <a:noFill/>
          <a:ln/>
        </p:spPr>
        <p:txBody>
          <a:bodyPr wrap="none" lIns="0" tIns="0" rIns="0" bIns="0" rtlCol="0" anchor="t">
            <a:normAutofit/>
          </a:bodyPr>
          <a:lstStyle/>
          <a:p>
            <a:pPr algn="l" indent="0" marL="0">
              <a:lnSpc>
                <a:spcPts val="2635"/>
              </a:lnSpc>
              <a:buNone/>
            </a:pPr>
            <a:r>
              <a:rPr lang="en-US" sz="1700" dirty="0">
                <a:solidFill>
                  <a:srgbClr val="15212E"/>
                </a:solidFill>
                <a:latin typeface="JetBrains Mono" pitchFamily="49" charset="0"/>
                <a:ea typeface="JetBrains Mono" pitchFamily="49" charset="-122"/>
                <a:cs typeface="JetBrains Mono" pitchFamily="49" charset="-120"/>
              </a:rPr>
              <a:t>J = (1/m) Σᵢ L(ŷ⁽ⁱ⁾, y⁽ⁱ⁾)</a:t>
            </a:r>
            <a:endParaRPr lang="en-US" sz="1700" dirty="0"/>
          </a:p>
        </p:txBody>
      </p:sp>
      <p:sp>
        <p:nvSpPr>
          <p:cNvPr id="7" name="Text 5"/>
          <p:cNvSpPr/>
          <p:nvPr/>
        </p:nvSpPr>
        <p:spPr>
          <a:xfrm>
            <a:off x="812800" y="3208734"/>
            <a:ext cx="4578350" cy="813891"/>
          </a:xfrm>
          <a:prstGeom prst="rect">
            <a:avLst/>
          </a:prstGeom>
          <a:noFill/>
          <a:ln/>
        </p:spPr>
        <p:txBody>
          <a:bodyPr wrap="square" lIns="0" tIns="0" rIns="0" bIns="0" rtlCol="0" anchor="t">
            <a:normAutofit/>
          </a:bodyPr>
          <a:lstStyle/>
          <a:p>
            <a:pPr algn="l" indent="0" marL="0">
              <a:lnSpc>
                <a:spcPts val="2070"/>
              </a:lnSpc>
              <a:buNone/>
            </a:pPr>
            <a:r>
              <a:rPr lang="en-US" sz="1500" dirty="0">
                <a:solidFill>
                  <a:srgbClr val="3D4A59"/>
                </a:solidFill>
                <a:latin typeface="IBM Plex Sans" pitchFamily="34" charset="0"/>
                <a:ea typeface="IBM Plex Sans" pitchFamily="34" charset="-122"/>
                <a:cs typeface="IBM Plex Sans" pitchFamily="34" charset="-120"/>
              </a:rPr>
              <a:t>Averaging keeps the gradient scale independent of batch size, so changing m does not force re-tuning η.</a:t>
            </a:r>
            <a:endParaRPr lang="en-US" sz="1500" dirty="0"/>
          </a:p>
        </p:txBody>
      </p:sp>
      <p:sp>
        <p:nvSpPr>
          <p:cNvPr id="8" name="Shape 6"/>
          <p:cNvSpPr/>
          <p:nvPr/>
        </p:nvSpPr>
        <p:spPr>
          <a:xfrm>
            <a:off x="5667375" y="2067123"/>
            <a:ext cx="5708650" cy="911027"/>
          </a:xfrm>
          <a:prstGeom prst="roundRect">
            <a:avLst>
              <a:gd name="adj" fmla="val 9410"/>
            </a:avLst>
          </a:prstGeom>
          <a:solidFill>
            <a:srgbClr val="FFFFFE"/>
          </a:solidFill>
          <a:ln w="6350">
            <a:solidFill>
              <a:srgbClr val="D2D9E1"/>
            </a:solidFill>
            <a:prstDash val="solid"/>
          </a:ln>
        </p:spPr>
      </p:sp>
      <p:sp>
        <p:nvSpPr>
          <p:cNvPr id="9" name="Text 7"/>
          <p:cNvSpPr/>
          <p:nvPr/>
        </p:nvSpPr>
        <p:spPr>
          <a:xfrm>
            <a:off x="5848350" y="2248098"/>
            <a:ext cx="5507101"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12E"/>
                </a:solidFill>
                <a:latin typeface="IBM Plex Sans" pitchFamily="34" charset="0"/>
                <a:ea typeface="IBM Plex Sans" pitchFamily="34" charset="-122"/>
                <a:cs typeface="IBM Plex Sans" pitchFamily="34" charset="-120"/>
              </a:rPr>
              <a:t>Differentiable</a:t>
            </a:r>
            <a:endParaRPr lang="en-US" sz="1600" dirty="0"/>
          </a:p>
        </p:txBody>
      </p:sp>
      <p:sp>
        <p:nvSpPr>
          <p:cNvPr id="10" name="Text 8"/>
          <p:cNvSpPr/>
          <p:nvPr/>
        </p:nvSpPr>
        <p:spPr>
          <a:xfrm>
            <a:off x="5848350" y="2555379"/>
            <a:ext cx="5507101" cy="267196"/>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3D4A59"/>
                </a:solidFill>
                <a:latin typeface="IBM Plex Sans" pitchFamily="34" charset="0"/>
                <a:ea typeface="IBM Plex Sans" pitchFamily="34" charset="-122"/>
                <a:cs typeface="IBM Plex Sans" pitchFamily="34" charset="-120"/>
              </a:rPr>
              <a:t>So gradients exist.</a:t>
            </a:r>
            <a:endParaRPr lang="en-US" sz="1400" dirty="0"/>
          </a:p>
        </p:txBody>
      </p:sp>
      <p:sp>
        <p:nvSpPr>
          <p:cNvPr id="11" name="Shape 9"/>
          <p:cNvSpPr/>
          <p:nvPr/>
        </p:nvSpPr>
        <p:spPr>
          <a:xfrm>
            <a:off x="5667375" y="3111500"/>
            <a:ext cx="5708650" cy="911027"/>
          </a:xfrm>
          <a:prstGeom prst="roundRect">
            <a:avLst>
              <a:gd name="adj" fmla="val 9410"/>
            </a:avLst>
          </a:prstGeom>
          <a:solidFill>
            <a:srgbClr val="FFFFFE"/>
          </a:solidFill>
          <a:ln w="6350">
            <a:solidFill>
              <a:srgbClr val="D2D9E1"/>
            </a:solidFill>
            <a:prstDash val="solid"/>
          </a:ln>
        </p:spPr>
      </p:sp>
      <p:sp>
        <p:nvSpPr>
          <p:cNvPr id="12" name="Text 10"/>
          <p:cNvSpPr/>
          <p:nvPr/>
        </p:nvSpPr>
        <p:spPr>
          <a:xfrm>
            <a:off x="5848350" y="3292475"/>
            <a:ext cx="5507101"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12E"/>
                </a:solidFill>
                <a:latin typeface="IBM Plex Sans" pitchFamily="34" charset="0"/>
                <a:ea typeface="IBM Plex Sans" pitchFamily="34" charset="-122"/>
                <a:cs typeface="IBM Plex Sans" pitchFamily="34" charset="-120"/>
              </a:rPr>
              <a:t>Aligned with the goal</a:t>
            </a:r>
            <a:endParaRPr lang="en-US" sz="1600" dirty="0"/>
          </a:p>
        </p:txBody>
      </p:sp>
      <p:sp>
        <p:nvSpPr>
          <p:cNvPr id="13" name="Text 11"/>
          <p:cNvSpPr/>
          <p:nvPr/>
        </p:nvSpPr>
        <p:spPr>
          <a:xfrm>
            <a:off x="5848350" y="3599755"/>
            <a:ext cx="5507101" cy="267196"/>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3D4A59"/>
                </a:solidFill>
                <a:latin typeface="IBM Plex Sans" pitchFamily="34" charset="0"/>
                <a:ea typeface="IBM Plex Sans" pitchFamily="34" charset="-122"/>
                <a:cs typeface="IBM Plex Sans" pitchFamily="34" charset="-120"/>
              </a:rPr>
              <a:t>Lower loss should mean a better model.</a:t>
            </a:r>
            <a:endParaRPr lang="en-US" sz="1400" dirty="0"/>
          </a:p>
        </p:txBody>
      </p:sp>
      <p:sp>
        <p:nvSpPr>
          <p:cNvPr id="14" name="Shape 12"/>
          <p:cNvSpPr/>
          <p:nvPr/>
        </p:nvSpPr>
        <p:spPr>
          <a:xfrm>
            <a:off x="5667375" y="4155877"/>
            <a:ext cx="5708650" cy="1152823"/>
          </a:xfrm>
          <a:prstGeom prst="roundRect">
            <a:avLst>
              <a:gd name="adj" fmla="val 7436"/>
            </a:avLst>
          </a:prstGeom>
          <a:solidFill>
            <a:srgbClr val="FFFFFE"/>
          </a:solidFill>
          <a:ln w="6350">
            <a:solidFill>
              <a:srgbClr val="D2D9E1"/>
            </a:solidFill>
            <a:prstDash val="solid"/>
          </a:ln>
        </p:spPr>
      </p:sp>
      <p:sp>
        <p:nvSpPr>
          <p:cNvPr id="15" name="Text 13"/>
          <p:cNvSpPr/>
          <p:nvPr/>
        </p:nvSpPr>
        <p:spPr>
          <a:xfrm>
            <a:off x="5848350" y="4336852"/>
            <a:ext cx="5507101"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12E"/>
                </a:solidFill>
                <a:latin typeface="IBM Plex Sans" pitchFamily="34" charset="0"/>
                <a:ea typeface="IBM Plex Sans" pitchFamily="34" charset="-122"/>
                <a:cs typeface="IBM Plex Sans" pitchFamily="34" charset="-120"/>
              </a:rPr>
              <a:t>Well-conditioned</a:t>
            </a:r>
            <a:endParaRPr lang="en-US" sz="1600" dirty="0"/>
          </a:p>
        </p:txBody>
      </p:sp>
      <p:sp>
        <p:nvSpPr>
          <p:cNvPr id="16" name="Text 14"/>
          <p:cNvSpPr/>
          <p:nvPr/>
        </p:nvSpPr>
        <p:spPr>
          <a:xfrm>
            <a:off x="5848350" y="4644132"/>
            <a:ext cx="5507101" cy="508992"/>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3D4A59"/>
                </a:solidFill>
                <a:latin typeface="IBM Plex Sans" pitchFamily="34" charset="0"/>
                <a:ea typeface="IBM Plex Sans" pitchFamily="34" charset="-122"/>
                <a:cs typeface="IBM Plex Sans" pitchFamily="34" charset="-120"/>
              </a:rPr>
              <a:t>Its gradient must stay large exactly when the model is badly wrong.</a:t>
            </a:r>
            <a:endParaRPr lang="en-US" sz="1400" dirty="0"/>
          </a:p>
        </p:txBody>
      </p:sp>
      <p:sp>
        <p:nvSpPr>
          <p:cNvPr id="17" name="Text 15"/>
          <p:cNvSpPr/>
          <p:nvPr/>
        </p:nvSpPr>
        <p:spPr>
          <a:xfrm>
            <a:off x="812800" y="6281440"/>
            <a:ext cx="518017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2 · Learning: losses, backpropagation, gradient descent</a:t>
            </a:r>
            <a:endParaRPr lang="en-US" sz="1200" dirty="0"/>
          </a:p>
        </p:txBody>
      </p:sp>
      <p:sp>
        <p:nvSpPr>
          <p:cNvPr id="18" name="Text 16"/>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04 / 31</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§5 · LOSS FUNCTIONS</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Minimizing mean squared error is maximum likelihood under Gaussian noise.</a:t>
            </a:r>
            <a:endParaRPr lang="en-US" sz="2800" dirty="0"/>
          </a:p>
        </p:txBody>
      </p:sp>
      <p:sp>
        <p:nvSpPr>
          <p:cNvPr id="4" name="Shape 2"/>
          <p:cNvSpPr/>
          <p:nvPr/>
        </p:nvSpPr>
        <p:spPr>
          <a:xfrm>
            <a:off x="815975" y="2955429"/>
            <a:ext cx="4317107" cy="1995091"/>
          </a:xfrm>
          <a:prstGeom prst="roundRect">
            <a:avLst>
              <a:gd name="adj" fmla="val 4297"/>
            </a:avLst>
          </a:prstGeom>
          <a:solidFill>
            <a:srgbClr val="F2F5F8"/>
          </a:solidFill>
          <a:ln w="6350">
            <a:solidFill>
              <a:srgbClr val="D2D9E1"/>
            </a:solidFill>
            <a:prstDash val="solid"/>
          </a:ln>
        </p:spPr>
      </p:sp>
      <p:sp>
        <p:nvSpPr>
          <p:cNvPr id="5" name="Text 3"/>
          <p:cNvSpPr/>
          <p:nvPr/>
        </p:nvSpPr>
        <p:spPr>
          <a:xfrm>
            <a:off x="1009650" y="3111004"/>
            <a:ext cx="4047650" cy="452041"/>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MAXIMUM LIKELIHOOD WITH GAUSSIAN NOISE</a:t>
            </a:r>
            <a:endParaRPr lang="en-US" sz="1200" dirty="0"/>
          </a:p>
        </p:txBody>
      </p:sp>
      <p:sp>
        <p:nvSpPr>
          <p:cNvPr id="6" name="Text 4"/>
          <p:cNvSpPr/>
          <p:nvPr/>
        </p:nvSpPr>
        <p:spPr>
          <a:xfrm>
            <a:off x="1009650" y="3613845"/>
            <a:ext cx="4047650" cy="1206500"/>
          </a:xfrm>
          <a:prstGeom prst="rect">
            <a:avLst/>
          </a:prstGeom>
          <a:noFill/>
          <a:ln/>
        </p:spPr>
        <p:txBody>
          <a:bodyPr wrap="none" lIns="0" tIns="0" rIns="0" bIns="0" rtlCol="0" anchor="t">
            <a:normAutofit/>
          </a:bodyPr>
          <a:lstStyle/>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y = f(x) + ε, ε ~ N(0, σ²)</a:t>
            </a:r>
            <a:endParaRPr lang="en-US" sz="1500" dirty="0"/>
          </a:p>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log P = Σᵢ −(y⁽ⁱ⁾ − f(x⁽ⁱ⁾))² / 2σ² + const</a:t>
            </a:r>
            <a:endParaRPr lang="en-US" sz="1500" dirty="0"/>
          </a:p>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max log P ⇔ min Σᵢ (y⁽ⁱ⁾ − f(x⁽ⁱ⁾))²</a:t>
            </a:r>
            <a:endParaRPr lang="en-US" sz="1500" dirty="0"/>
          </a:p>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L = ½(ŷ − y)² ⇒ dL/dŷ = ŷ − y</a:t>
            </a:r>
            <a:endParaRPr lang="en-US" sz="1500" dirty="0"/>
          </a:p>
        </p:txBody>
      </p:sp>
      <p:sp>
        <p:nvSpPr>
          <p:cNvPr id="7" name="Shape 5"/>
          <p:cNvSpPr/>
          <p:nvPr/>
        </p:nvSpPr>
        <p:spPr>
          <a:xfrm>
            <a:off x="5542657" y="3213298"/>
            <a:ext cx="63500" cy="63500"/>
          </a:xfrm>
          <a:prstGeom prst="roundRect">
            <a:avLst>
              <a:gd name="adj" fmla="val 20000"/>
            </a:avLst>
          </a:prstGeom>
          <a:solidFill>
            <a:srgbClr val="1F5FBF"/>
          </a:solidFill>
          <a:ln/>
        </p:spPr>
      </p:sp>
      <p:sp>
        <p:nvSpPr>
          <p:cNvPr id="8" name="Text 6"/>
          <p:cNvSpPr/>
          <p:nvPr/>
        </p:nvSpPr>
        <p:spPr>
          <a:xfrm>
            <a:off x="5745857" y="3118048"/>
            <a:ext cx="5802343" cy="55106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The assumption is the limit.</a:t>
            </a:r>
            <a:r>
              <a:rPr lang="en-US" sz="1500" dirty="0">
                <a:solidFill>
                  <a:srgbClr val="3D4A59"/>
                </a:solidFill>
                <a:latin typeface="IBM Plex Sans" pitchFamily="34" charset="0"/>
                <a:ea typeface="IBM Plex Sans" pitchFamily="34" charset="-122"/>
                <a:cs typeface="IBM Plex Sans" pitchFamily="34" charset="-120"/>
              </a:rPr>
              <a:t> MSE is right only when the noise is roughly Gaussian.</a:t>
            </a:r>
            <a:endParaRPr lang="en-US" sz="1500" dirty="0"/>
          </a:p>
        </p:txBody>
      </p:sp>
      <p:sp>
        <p:nvSpPr>
          <p:cNvPr id="9" name="Shape 7"/>
          <p:cNvSpPr/>
          <p:nvPr/>
        </p:nvSpPr>
        <p:spPr>
          <a:xfrm>
            <a:off x="5542657" y="3916759"/>
            <a:ext cx="63500" cy="63500"/>
          </a:xfrm>
          <a:prstGeom prst="roundRect">
            <a:avLst>
              <a:gd name="adj" fmla="val 20000"/>
            </a:avLst>
          </a:prstGeom>
          <a:solidFill>
            <a:srgbClr val="1F5FBF"/>
          </a:solidFill>
          <a:ln/>
        </p:spPr>
      </p:sp>
      <p:sp>
        <p:nvSpPr>
          <p:cNvPr id="10" name="Text 8"/>
          <p:cNvSpPr/>
          <p:nvPr/>
        </p:nvSpPr>
        <p:spPr>
          <a:xfrm>
            <a:off x="5745857" y="3821509"/>
            <a:ext cx="5802343" cy="288230"/>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Heavy tails?</a:t>
            </a:r>
            <a:r>
              <a:rPr lang="en-US" sz="1500" dirty="0">
                <a:solidFill>
                  <a:srgbClr val="3D4A59"/>
                </a:solidFill>
                <a:latin typeface="IBM Plex Sans" pitchFamily="34" charset="0"/>
                <a:ea typeface="IBM Plex Sans" pitchFamily="34" charset="-122"/>
                <a:cs typeface="IBM Plex Sans" pitchFamily="34" charset="-120"/>
              </a:rPr>
              <a:t> Use Huber loss. Count targets? Use a Poisson loss.</a:t>
            </a:r>
            <a:endParaRPr lang="en-US" sz="1500" dirty="0"/>
          </a:p>
        </p:txBody>
      </p:sp>
      <p:sp>
        <p:nvSpPr>
          <p:cNvPr id="11" name="Shape 9"/>
          <p:cNvSpPr/>
          <p:nvPr/>
        </p:nvSpPr>
        <p:spPr>
          <a:xfrm>
            <a:off x="5542657" y="4357390"/>
            <a:ext cx="63500" cy="63500"/>
          </a:xfrm>
          <a:prstGeom prst="roundRect">
            <a:avLst>
              <a:gd name="adj" fmla="val 20000"/>
            </a:avLst>
          </a:prstGeom>
          <a:solidFill>
            <a:srgbClr val="1F5FBF"/>
          </a:solidFill>
          <a:ln/>
        </p:spPr>
      </p:sp>
      <p:sp>
        <p:nvSpPr>
          <p:cNvPr id="12" name="Text 10"/>
          <p:cNvSpPr/>
          <p:nvPr/>
        </p:nvSpPr>
        <p:spPr>
          <a:xfrm>
            <a:off x="5745857" y="4262140"/>
            <a:ext cx="5802343" cy="55106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The ½ is cosmetic.</a:t>
            </a:r>
            <a:r>
              <a:rPr lang="en-US" sz="1500" dirty="0">
                <a:solidFill>
                  <a:srgbClr val="3D4A59"/>
                </a:solidFill>
                <a:latin typeface="IBM Plex Sans" pitchFamily="34" charset="0"/>
                <a:ea typeface="IBM Plex Sans" pitchFamily="34" charset="-122"/>
                <a:cs typeface="IBM Plex Sans" pitchFamily="34" charset="-120"/>
              </a:rPr>
              <a:t> PyTorch’s MSE omits it, and the factor is absorbed into η.</a:t>
            </a:r>
            <a:endParaRPr lang="en-US" sz="1500" dirty="0"/>
          </a:p>
        </p:txBody>
      </p:sp>
      <p:sp>
        <p:nvSpPr>
          <p:cNvPr id="13" name="Text 11"/>
          <p:cNvSpPr/>
          <p:nvPr/>
        </p:nvSpPr>
        <p:spPr>
          <a:xfrm>
            <a:off x="812800" y="6281440"/>
            <a:ext cx="518017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2 · Learning: losses, backpropagation, gradient descent</a:t>
            </a:r>
            <a:endParaRPr lang="en-US" sz="1200" dirty="0"/>
          </a:p>
        </p:txBody>
      </p:sp>
      <p:sp>
        <p:nvSpPr>
          <p:cNvPr id="14" name="Text 12"/>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05 / 31</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§5 · LOSS FUNCTIONS</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Huber loss is quadratic near zero and linear for outliers, so one bad point cannot dominate.</a:t>
            </a:r>
            <a:endParaRPr lang="en-US" sz="2800" dirty="0"/>
          </a:p>
        </p:txBody>
      </p:sp>
      <p:pic>
        <p:nvPicPr>
          <p:cNvPr id="4" name="Image 0" descr="Regression losses against error: half squared error grows quadratically, absolute error linearly, Huber is quadratic within delta and linear beyond">    </p:cNvPr>
          <p:cNvPicPr>
            <a:picLocks noChangeAspect="1"/>
          </p:cNvPicPr>
          <p:nvPr/>
        </p:nvPicPr>
        <p:blipFill>
          <a:blip r:embed="rId1"/>
          <a:srcRect l="0" r="0" t="0" b="0"/>
          <a:stretch/>
        </p:blipFill>
        <p:spPr>
          <a:xfrm>
            <a:off x="812800" y="2063948"/>
            <a:ext cx="5461000" cy="3429000"/>
          </a:xfrm>
          <a:prstGeom prst="rect">
            <a:avLst/>
          </a:prstGeom>
        </p:spPr>
      </p:pic>
      <p:sp>
        <p:nvSpPr>
          <p:cNvPr id="5" name="Text 2"/>
          <p:cNvSpPr/>
          <p:nvPr/>
        </p:nvSpPr>
        <p:spPr>
          <a:xfrm>
            <a:off x="4902200" y="2425898"/>
            <a:ext cx="685800"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5212E"/>
                </a:solidFill>
                <a:latin typeface="JetBrains Mono" pitchFamily="49" charset="0"/>
                <a:ea typeface="JetBrains Mono" pitchFamily="49" charset="-122"/>
                <a:cs typeface="JetBrains Mono" pitchFamily="49" charset="-120"/>
              </a:rPr>
              <a:t>½e²</a:t>
            </a:r>
            <a:endParaRPr lang="en-US" sz="1500" dirty="0"/>
          </a:p>
        </p:txBody>
      </p:sp>
      <p:sp>
        <p:nvSpPr>
          <p:cNvPr id="6" name="Text 3"/>
          <p:cNvSpPr/>
          <p:nvPr/>
        </p:nvSpPr>
        <p:spPr>
          <a:xfrm>
            <a:off x="5473700" y="2959298"/>
            <a:ext cx="5588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6B7785"/>
                </a:solidFill>
                <a:latin typeface="JetBrains Mono" pitchFamily="49" charset="0"/>
                <a:ea typeface="JetBrains Mono" pitchFamily="49" charset="-122"/>
                <a:cs typeface="JetBrains Mono" pitchFamily="49" charset="-120"/>
              </a:rPr>
              <a:t>|e|</a:t>
            </a:r>
            <a:endParaRPr lang="en-US" sz="1400" dirty="0"/>
          </a:p>
        </p:txBody>
      </p:sp>
      <p:sp>
        <p:nvSpPr>
          <p:cNvPr id="7" name="Text 4"/>
          <p:cNvSpPr/>
          <p:nvPr/>
        </p:nvSpPr>
        <p:spPr>
          <a:xfrm>
            <a:off x="5346700" y="3562548"/>
            <a:ext cx="876300"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F5FBF"/>
                </a:solidFill>
                <a:latin typeface="IBM Plex Sans" pitchFamily="34" charset="0"/>
                <a:ea typeface="IBM Plex Sans" pitchFamily="34" charset="-122"/>
                <a:cs typeface="IBM Plex Sans" pitchFamily="34" charset="-120"/>
              </a:rPr>
              <a:t>Huber</a:t>
            </a:r>
            <a:endParaRPr lang="en-US" sz="1500" dirty="0"/>
          </a:p>
        </p:txBody>
      </p:sp>
      <p:sp>
        <p:nvSpPr>
          <p:cNvPr id="8" name="Text 5"/>
          <p:cNvSpPr/>
          <p:nvPr/>
        </p:nvSpPr>
        <p:spPr>
          <a:xfrm>
            <a:off x="2482850" y="4781748"/>
            <a:ext cx="6858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−δ</a:t>
            </a:r>
            <a:endParaRPr lang="en-US" sz="1300" dirty="0"/>
          </a:p>
        </p:txBody>
      </p:sp>
      <p:sp>
        <p:nvSpPr>
          <p:cNvPr id="9" name="Text 6"/>
          <p:cNvSpPr/>
          <p:nvPr/>
        </p:nvSpPr>
        <p:spPr>
          <a:xfrm>
            <a:off x="3295650" y="4781748"/>
            <a:ext cx="6858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0</a:t>
            </a:r>
            <a:endParaRPr lang="en-US" sz="1300" dirty="0"/>
          </a:p>
        </p:txBody>
      </p:sp>
      <p:sp>
        <p:nvSpPr>
          <p:cNvPr id="10" name="Text 7"/>
          <p:cNvSpPr/>
          <p:nvPr/>
        </p:nvSpPr>
        <p:spPr>
          <a:xfrm>
            <a:off x="4108450" y="4781748"/>
            <a:ext cx="6858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δ = 1</a:t>
            </a:r>
            <a:endParaRPr lang="en-US" sz="1300" dirty="0"/>
          </a:p>
        </p:txBody>
      </p:sp>
      <p:sp>
        <p:nvSpPr>
          <p:cNvPr id="11" name="Text 8"/>
          <p:cNvSpPr/>
          <p:nvPr/>
        </p:nvSpPr>
        <p:spPr>
          <a:xfrm>
            <a:off x="2657475" y="5073848"/>
            <a:ext cx="196215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3D4A59"/>
                </a:solidFill>
                <a:latin typeface="IBM Plex Sans" pitchFamily="34" charset="0"/>
                <a:ea typeface="IBM Plex Sans" pitchFamily="34" charset="-122"/>
                <a:cs typeface="IBM Plex Sans" pitchFamily="34" charset="-120"/>
              </a:rPr>
              <a:t>error e = ŷ − y</a:t>
            </a:r>
            <a:endParaRPr lang="en-US" sz="1300" dirty="0"/>
          </a:p>
        </p:txBody>
      </p:sp>
      <p:sp>
        <p:nvSpPr>
          <p:cNvPr id="12" name="Shape 9"/>
          <p:cNvSpPr/>
          <p:nvPr/>
        </p:nvSpPr>
        <p:spPr>
          <a:xfrm>
            <a:off x="6683375" y="2067123"/>
            <a:ext cx="4438650" cy="1191220"/>
          </a:xfrm>
          <a:prstGeom prst="roundRect">
            <a:avLst>
              <a:gd name="adj" fmla="val 7196"/>
            </a:avLst>
          </a:prstGeom>
          <a:solidFill>
            <a:srgbClr val="F2F5F8"/>
          </a:solidFill>
          <a:ln w="6350">
            <a:solidFill>
              <a:srgbClr val="D2D9E1"/>
            </a:solidFill>
            <a:prstDash val="solid"/>
          </a:ln>
        </p:spPr>
      </p:sp>
      <p:sp>
        <p:nvSpPr>
          <p:cNvPr id="13" name="Text 10"/>
          <p:cNvSpPr/>
          <p:nvPr/>
        </p:nvSpPr>
        <p:spPr>
          <a:xfrm>
            <a:off x="6877050" y="2222698"/>
            <a:ext cx="417283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HUBER LOSS, THRESHOLD Δ</a:t>
            </a:r>
            <a:endParaRPr lang="en-US" sz="1200" dirty="0"/>
          </a:p>
        </p:txBody>
      </p:sp>
      <p:sp>
        <p:nvSpPr>
          <p:cNvPr id="14" name="Text 11"/>
          <p:cNvSpPr/>
          <p:nvPr/>
        </p:nvSpPr>
        <p:spPr>
          <a:xfrm>
            <a:off x="6877050" y="2512219"/>
            <a:ext cx="4172839" cy="615950"/>
          </a:xfrm>
          <a:prstGeom prst="rect">
            <a:avLst/>
          </a:prstGeom>
          <a:noFill/>
          <a:ln/>
        </p:spPr>
        <p:txBody>
          <a:bodyPr wrap="none" lIns="0" tIns="0" rIns="0" bIns="0" rtlCol="0" anchor="t">
            <a:normAutofit/>
          </a:bodyPr>
          <a:lstStyle/>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L = ½ e² if |e| ≤ δ</a:t>
            </a:r>
            <a:endParaRPr lang="en-US" sz="1500" dirty="0"/>
          </a:p>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L = δ(|e| − ½δ) otherwise</a:t>
            </a:r>
            <a:endParaRPr lang="en-US" sz="1500" dirty="0"/>
          </a:p>
        </p:txBody>
      </p:sp>
      <p:sp>
        <p:nvSpPr>
          <p:cNvPr id="15" name="Shape 12"/>
          <p:cNvSpPr/>
          <p:nvPr/>
        </p:nvSpPr>
        <p:spPr>
          <a:xfrm>
            <a:off x="6680200" y="3559969"/>
            <a:ext cx="63500" cy="63500"/>
          </a:xfrm>
          <a:prstGeom prst="roundRect">
            <a:avLst>
              <a:gd name="adj" fmla="val 20000"/>
            </a:avLst>
          </a:prstGeom>
          <a:solidFill>
            <a:srgbClr val="1F5FBF"/>
          </a:solidFill>
          <a:ln/>
        </p:spPr>
      </p:sp>
      <p:sp>
        <p:nvSpPr>
          <p:cNvPr id="16" name="Text 13"/>
          <p:cNvSpPr/>
          <p:nvPr/>
        </p:nvSpPr>
        <p:spPr>
          <a:xfrm>
            <a:off x="6883400" y="3464719"/>
            <a:ext cx="4369054" cy="288230"/>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Quadratic near 0,</a:t>
            </a:r>
            <a:r>
              <a:rPr lang="en-US" sz="1500" dirty="0">
                <a:solidFill>
                  <a:srgbClr val="3D4A59"/>
                </a:solidFill>
                <a:latin typeface="IBM Plex Sans" pitchFamily="34" charset="0"/>
                <a:ea typeface="IBM Plex Sans" pitchFamily="34" charset="-122"/>
                <a:cs typeface="IBM Plex Sans" pitchFamily="34" charset="-120"/>
              </a:rPr>
              <a:t> so it converges cleanly.</a:t>
            </a:r>
            <a:endParaRPr lang="en-US" sz="1500" dirty="0"/>
          </a:p>
        </p:txBody>
      </p:sp>
      <p:sp>
        <p:nvSpPr>
          <p:cNvPr id="17" name="Shape 14"/>
          <p:cNvSpPr/>
          <p:nvPr/>
        </p:nvSpPr>
        <p:spPr>
          <a:xfrm>
            <a:off x="6680200" y="3975199"/>
            <a:ext cx="63500" cy="63500"/>
          </a:xfrm>
          <a:prstGeom prst="roundRect">
            <a:avLst>
              <a:gd name="adj" fmla="val 20000"/>
            </a:avLst>
          </a:prstGeom>
          <a:solidFill>
            <a:srgbClr val="1F5FBF"/>
          </a:solidFill>
          <a:ln/>
        </p:spPr>
      </p:sp>
      <p:sp>
        <p:nvSpPr>
          <p:cNvPr id="18" name="Text 15"/>
          <p:cNvSpPr/>
          <p:nvPr/>
        </p:nvSpPr>
        <p:spPr>
          <a:xfrm>
            <a:off x="6883400" y="3879949"/>
            <a:ext cx="4369054" cy="81389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linear far away,</a:t>
            </a:r>
            <a:r>
              <a:rPr lang="en-US" sz="1500" dirty="0">
                <a:solidFill>
                  <a:srgbClr val="3D4A59"/>
                </a:solidFill>
                <a:latin typeface="IBM Plex Sans" pitchFamily="34" charset="0"/>
                <a:ea typeface="IBM Plex Sans" pitchFamily="34" charset="-122"/>
                <a:cs typeface="IBM Plex Sans" pitchFamily="34" charset="-120"/>
              </a:rPr>
              <a:t> so one wild outlier cannot dominate the gradient. Standard in object detection.</a:t>
            </a:r>
            <a:endParaRPr lang="en-US" sz="1500" dirty="0"/>
          </a:p>
        </p:txBody>
      </p:sp>
      <p:sp>
        <p:nvSpPr>
          <p:cNvPr id="19" name="Text 16"/>
          <p:cNvSpPr/>
          <p:nvPr/>
        </p:nvSpPr>
        <p:spPr>
          <a:xfrm>
            <a:off x="812800" y="6281440"/>
            <a:ext cx="518017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2 · Learning: losses, backpropagation, gradient descent</a:t>
            </a:r>
            <a:endParaRPr lang="en-US" sz="1200" dirty="0"/>
          </a:p>
        </p:txBody>
      </p:sp>
      <p:sp>
        <p:nvSpPr>
          <p:cNvPr id="20" name="Text 17"/>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06 / 31</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§5 · LOSS FUNCTIONS</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Binary cross-entropy is minus the log of the probability assigned to the correct class.</a:t>
            </a:r>
            <a:endParaRPr lang="en-US" sz="2800" dirty="0"/>
          </a:p>
        </p:txBody>
      </p:sp>
      <p:pic>
        <p:nvPicPr>
          <p:cNvPr id="4" name="Image 0" descr="Binary cross-entropy: minus log y-hat falls to zero as y-hat approaches 1; minus log of one minus y-hat rises without bound as y-hat approaches 1">    </p:cNvPr>
          <p:cNvPicPr>
            <a:picLocks noChangeAspect="1"/>
          </p:cNvPicPr>
          <p:nvPr/>
        </p:nvPicPr>
        <p:blipFill>
          <a:blip r:embed="rId1"/>
          <a:srcRect l="0" r="0" t="0" b="0"/>
          <a:stretch/>
        </p:blipFill>
        <p:spPr>
          <a:xfrm>
            <a:off x="812800" y="2063948"/>
            <a:ext cx="5080000" cy="3429000"/>
          </a:xfrm>
          <a:prstGeom prst="rect">
            <a:avLst/>
          </a:prstGeom>
        </p:spPr>
      </p:pic>
      <p:sp>
        <p:nvSpPr>
          <p:cNvPr id="5" name="Text 2"/>
          <p:cNvSpPr/>
          <p:nvPr/>
        </p:nvSpPr>
        <p:spPr>
          <a:xfrm>
            <a:off x="1422400" y="2559248"/>
            <a:ext cx="196215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F5FBF"/>
                </a:solidFill>
                <a:latin typeface="JetBrains Mono" pitchFamily="49" charset="0"/>
                <a:ea typeface="JetBrains Mono" pitchFamily="49" charset="-122"/>
                <a:cs typeface="JetBrains Mono" pitchFamily="49" charset="-120"/>
              </a:rPr>
              <a:t>y = 1: −log ŷ</a:t>
            </a:r>
            <a:endParaRPr lang="en-US" sz="1400" dirty="0"/>
          </a:p>
        </p:txBody>
      </p:sp>
      <p:sp>
        <p:nvSpPr>
          <p:cNvPr id="6" name="Text 3"/>
          <p:cNvSpPr/>
          <p:nvPr/>
        </p:nvSpPr>
        <p:spPr>
          <a:xfrm>
            <a:off x="3314700" y="2559248"/>
            <a:ext cx="2158365"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5212E"/>
                </a:solidFill>
                <a:latin typeface="JetBrains Mono" pitchFamily="49" charset="0"/>
                <a:ea typeface="JetBrains Mono" pitchFamily="49" charset="-122"/>
                <a:cs typeface="JetBrains Mono" pitchFamily="49" charset="-120"/>
              </a:rPr>
              <a:t>y = 0: −log(1 − ŷ)</a:t>
            </a:r>
            <a:endParaRPr lang="en-US" sz="1400" dirty="0"/>
          </a:p>
        </p:txBody>
      </p:sp>
      <p:sp>
        <p:nvSpPr>
          <p:cNvPr id="7" name="Text 4"/>
          <p:cNvSpPr/>
          <p:nvPr/>
        </p:nvSpPr>
        <p:spPr>
          <a:xfrm>
            <a:off x="946150" y="4908748"/>
            <a:ext cx="4953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0</a:t>
            </a:r>
            <a:endParaRPr lang="en-US" sz="1300" dirty="0"/>
          </a:p>
        </p:txBody>
      </p:sp>
      <p:sp>
        <p:nvSpPr>
          <p:cNvPr id="8" name="Text 5"/>
          <p:cNvSpPr/>
          <p:nvPr/>
        </p:nvSpPr>
        <p:spPr>
          <a:xfrm>
            <a:off x="3200400" y="4908748"/>
            <a:ext cx="4953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0.5</a:t>
            </a:r>
            <a:endParaRPr lang="en-US" sz="1300" dirty="0"/>
          </a:p>
        </p:txBody>
      </p:sp>
      <p:sp>
        <p:nvSpPr>
          <p:cNvPr id="9" name="Text 6"/>
          <p:cNvSpPr/>
          <p:nvPr/>
        </p:nvSpPr>
        <p:spPr>
          <a:xfrm>
            <a:off x="5422900" y="4908748"/>
            <a:ext cx="4953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1</a:t>
            </a:r>
            <a:endParaRPr lang="en-US" sz="1300" dirty="0"/>
          </a:p>
        </p:txBody>
      </p:sp>
      <p:sp>
        <p:nvSpPr>
          <p:cNvPr id="10" name="Text 7"/>
          <p:cNvSpPr/>
          <p:nvPr/>
        </p:nvSpPr>
        <p:spPr>
          <a:xfrm>
            <a:off x="1812925" y="5162748"/>
            <a:ext cx="327025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3D4A59"/>
                </a:solidFill>
                <a:latin typeface="IBM Plex Sans" pitchFamily="34" charset="0"/>
                <a:ea typeface="IBM Plex Sans" pitchFamily="34" charset="-122"/>
                <a:cs typeface="IBM Plex Sans" pitchFamily="34" charset="-120"/>
              </a:rPr>
              <a:t>predicted probability ŷ = σ(z)</a:t>
            </a:r>
            <a:endParaRPr lang="en-US" sz="1300" dirty="0"/>
          </a:p>
        </p:txBody>
      </p:sp>
      <p:sp>
        <p:nvSpPr>
          <p:cNvPr id="11" name="Text 8"/>
          <p:cNvSpPr/>
          <p:nvPr/>
        </p:nvSpPr>
        <p:spPr>
          <a:xfrm>
            <a:off x="762000" y="3657798"/>
            <a:ext cx="368300" cy="231775"/>
          </a:xfrm>
          <a:prstGeom prst="rect">
            <a:avLst/>
          </a:prstGeom>
          <a:noFill/>
          <a:ln/>
        </p:spPr>
        <p:txBody>
          <a:bodyPr wrap="square" lIns="0" tIns="0" rIns="0" bIns="0" rtlCol="0" anchor="t">
            <a:normAutofit/>
          </a:bodyPr>
          <a:lstStyle/>
          <a:p>
            <a:pPr algn="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2</a:t>
            </a:r>
            <a:endParaRPr lang="en-US" sz="1300" dirty="0"/>
          </a:p>
        </p:txBody>
      </p:sp>
      <p:sp>
        <p:nvSpPr>
          <p:cNvPr id="12" name="Text 9"/>
          <p:cNvSpPr/>
          <p:nvPr/>
        </p:nvSpPr>
        <p:spPr>
          <a:xfrm>
            <a:off x="762000" y="2610048"/>
            <a:ext cx="368300" cy="231775"/>
          </a:xfrm>
          <a:prstGeom prst="rect">
            <a:avLst/>
          </a:prstGeom>
          <a:noFill/>
          <a:ln/>
        </p:spPr>
        <p:txBody>
          <a:bodyPr wrap="square" lIns="0" tIns="0" rIns="0" bIns="0" rtlCol="0" anchor="t">
            <a:normAutofit/>
          </a:bodyPr>
          <a:lstStyle/>
          <a:p>
            <a:pPr algn="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4</a:t>
            </a:r>
            <a:endParaRPr lang="en-US" sz="1300" dirty="0"/>
          </a:p>
        </p:txBody>
      </p:sp>
      <p:sp>
        <p:nvSpPr>
          <p:cNvPr id="13" name="Shape 10"/>
          <p:cNvSpPr/>
          <p:nvPr/>
        </p:nvSpPr>
        <p:spPr>
          <a:xfrm>
            <a:off x="6302375" y="2067123"/>
            <a:ext cx="5073650" cy="895945"/>
          </a:xfrm>
          <a:prstGeom prst="roundRect">
            <a:avLst>
              <a:gd name="adj" fmla="val 9568"/>
            </a:avLst>
          </a:prstGeom>
          <a:solidFill>
            <a:srgbClr val="F2F5F8"/>
          </a:solidFill>
          <a:ln w="6350">
            <a:solidFill>
              <a:srgbClr val="D2D9E1"/>
            </a:solidFill>
            <a:prstDash val="solid"/>
          </a:ln>
        </p:spPr>
      </p:sp>
      <p:sp>
        <p:nvSpPr>
          <p:cNvPr id="14" name="Text 11"/>
          <p:cNvSpPr/>
          <p:nvPr/>
        </p:nvSpPr>
        <p:spPr>
          <a:xfrm>
            <a:off x="6496050" y="2222698"/>
            <a:ext cx="482688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ONE TERM SURVIVES</a:t>
            </a:r>
            <a:endParaRPr lang="en-US" sz="1200" dirty="0"/>
          </a:p>
        </p:txBody>
      </p:sp>
      <p:sp>
        <p:nvSpPr>
          <p:cNvPr id="15" name="Text 12"/>
          <p:cNvSpPr/>
          <p:nvPr/>
        </p:nvSpPr>
        <p:spPr>
          <a:xfrm>
            <a:off x="6496050" y="2512219"/>
            <a:ext cx="4826889" cy="320675"/>
          </a:xfrm>
          <a:prstGeom prst="rect">
            <a:avLst/>
          </a:prstGeom>
          <a:noFill/>
          <a:ln/>
        </p:spPr>
        <p:txBody>
          <a:bodyPr wrap="none" lIns="0" tIns="0" rIns="0" bIns="0" rtlCol="0" anchor="t">
            <a:normAutofit/>
          </a:bodyPr>
          <a:lstStyle/>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L = −[y log ŷ + (1 − y) log(1 − ŷ)]</a:t>
            </a:r>
            <a:endParaRPr lang="en-US" sz="1500" dirty="0"/>
          </a:p>
        </p:txBody>
      </p:sp>
      <p:sp>
        <p:nvSpPr>
          <p:cNvPr id="16" name="Shape 13"/>
          <p:cNvSpPr/>
          <p:nvPr/>
        </p:nvSpPr>
        <p:spPr>
          <a:xfrm>
            <a:off x="6302375" y="3121819"/>
            <a:ext cx="5073650" cy="1191220"/>
          </a:xfrm>
          <a:prstGeom prst="roundRect">
            <a:avLst>
              <a:gd name="adj" fmla="val 7196"/>
            </a:avLst>
          </a:prstGeom>
          <a:solidFill>
            <a:srgbClr val="F2F5F8"/>
          </a:solidFill>
          <a:ln w="6350">
            <a:solidFill>
              <a:srgbClr val="D2D9E1"/>
            </a:solidFill>
            <a:prstDash val="solid"/>
          </a:ln>
        </p:spPr>
      </p:sp>
      <p:sp>
        <p:nvSpPr>
          <p:cNvPr id="17" name="Text 14"/>
          <p:cNvSpPr/>
          <p:nvPr/>
        </p:nvSpPr>
        <p:spPr>
          <a:xfrm>
            <a:off x="6496050" y="3277394"/>
            <a:ext cx="482688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BERNOULLI LIKELIHOOD</a:t>
            </a:r>
            <a:endParaRPr lang="en-US" sz="1200" dirty="0"/>
          </a:p>
        </p:txBody>
      </p:sp>
      <p:sp>
        <p:nvSpPr>
          <p:cNvPr id="18" name="Text 15"/>
          <p:cNvSpPr/>
          <p:nvPr/>
        </p:nvSpPr>
        <p:spPr>
          <a:xfrm>
            <a:off x="6496050" y="3566914"/>
            <a:ext cx="4826889" cy="615950"/>
          </a:xfrm>
          <a:prstGeom prst="rect">
            <a:avLst/>
          </a:prstGeom>
          <a:noFill/>
          <a:ln/>
        </p:spPr>
        <p:txBody>
          <a:bodyPr wrap="none" lIns="0" tIns="0" rIns="0" bIns="0" rtlCol="0" anchor="t">
            <a:normAutofit/>
          </a:bodyPr>
          <a:lstStyle/>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P(y | x) = ŷʸ (1 − ŷ)¹⁻ʸ</a:t>
            </a:r>
            <a:endParaRPr lang="en-US" sz="1500" dirty="0"/>
          </a:p>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−log P(y | x) = L</a:t>
            </a:r>
            <a:endParaRPr lang="en-US" sz="1500" dirty="0"/>
          </a:p>
        </p:txBody>
      </p:sp>
      <p:sp>
        <p:nvSpPr>
          <p:cNvPr id="19" name="Text 16"/>
          <p:cNvSpPr/>
          <p:nvPr/>
        </p:nvSpPr>
        <p:spPr>
          <a:xfrm>
            <a:off x="6299200" y="4468614"/>
            <a:ext cx="5232400" cy="551061"/>
          </a:xfrm>
          <a:prstGeom prst="rect">
            <a:avLst/>
          </a:prstGeom>
          <a:noFill/>
          <a:ln/>
        </p:spPr>
        <p:txBody>
          <a:bodyPr wrap="square" lIns="0" tIns="0" rIns="0" bIns="0" rtlCol="0" anchor="t">
            <a:normAutofit/>
          </a:bodyPr>
          <a:lstStyle/>
          <a:p>
            <a:pPr algn="l" indent="0" marL="0">
              <a:lnSpc>
                <a:spcPts val="2070"/>
              </a:lnSpc>
              <a:buNone/>
            </a:pPr>
            <a:r>
              <a:rPr lang="en-US" sz="1500" dirty="0">
                <a:solidFill>
                  <a:srgbClr val="15212E"/>
                </a:solidFill>
                <a:latin typeface="IBM Plex Sans" pitchFamily="34" charset="0"/>
                <a:ea typeface="IBM Plex Sans" pitchFamily="34" charset="-122"/>
                <a:cs typeface="IBM Plex Sans" pitchFamily="34" charset="-120"/>
              </a:rPr>
              <a:t>Confidently wrong costs without limit, and gives the biggest gradient when it is most needed.</a:t>
            </a:r>
            <a:endParaRPr lang="en-US" sz="1500" dirty="0"/>
          </a:p>
        </p:txBody>
      </p:sp>
      <p:sp>
        <p:nvSpPr>
          <p:cNvPr id="20" name="Text 17"/>
          <p:cNvSpPr/>
          <p:nvPr/>
        </p:nvSpPr>
        <p:spPr>
          <a:xfrm>
            <a:off x="812800" y="6281440"/>
            <a:ext cx="518017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2 · Learning: losses, backpropagation, gradient descent</a:t>
            </a:r>
            <a:endParaRPr lang="en-US" sz="1200" dirty="0"/>
          </a:p>
        </p:txBody>
      </p:sp>
      <p:sp>
        <p:nvSpPr>
          <p:cNvPr id="21" name="Text 18"/>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07 / 31</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§5 · LOSS FUNCTIONS</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Softmax turns K logits into a probability distribution over the classes.</a:t>
            </a:r>
            <a:endParaRPr lang="en-US" sz="2800" dirty="0"/>
          </a:p>
        </p:txBody>
      </p:sp>
      <p:pic>
        <p:nvPicPr>
          <p:cNvPr id="4" name="Image 0" descr="Logits 2.0, 1.0 and 0.1 are converted by softmax into probabilities 0.659, 0.242 and 0.099, which sum to 1">    </p:cNvPr>
          <p:cNvPicPr>
            <a:picLocks noChangeAspect="1"/>
          </p:cNvPicPr>
          <p:nvPr/>
        </p:nvPicPr>
        <p:blipFill>
          <a:blip r:embed="rId1"/>
          <a:srcRect l="0" r="0" t="0" b="0"/>
          <a:stretch/>
        </p:blipFill>
        <p:spPr>
          <a:xfrm>
            <a:off x="812800" y="2063948"/>
            <a:ext cx="5207000" cy="3175000"/>
          </a:xfrm>
          <a:prstGeom prst="rect">
            <a:avLst/>
          </a:prstGeom>
        </p:spPr>
      </p:pic>
      <p:sp>
        <p:nvSpPr>
          <p:cNvPr id="5" name="Text 2"/>
          <p:cNvSpPr/>
          <p:nvPr/>
        </p:nvSpPr>
        <p:spPr>
          <a:xfrm>
            <a:off x="933450" y="2444948"/>
            <a:ext cx="6223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15212E"/>
                </a:solidFill>
                <a:latin typeface="JetBrains Mono" pitchFamily="49" charset="0"/>
                <a:ea typeface="JetBrains Mono" pitchFamily="49" charset="-122"/>
                <a:cs typeface="JetBrains Mono" pitchFamily="49" charset="-120"/>
              </a:rPr>
              <a:t>2.0</a:t>
            </a:r>
            <a:endParaRPr lang="en-US" sz="1300" dirty="0"/>
          </a:p>
        </p:txBody>
      </p:sp>
      <p:sp>
        <p:nvSpPr>
          <p:cNvPr id="6" name="Text 3"/>
          <p:cNvSpPr/>
          <p:nvPr/>
        </p:nvSpPr>
        <p:spPr>
          <a:xfrm>
            <a:off x="996950" y="4540448"/>
            <a:ext cx="4953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z₁</a:t>
            </a:r>
            <a:endParaRPr lang="en-US" sz="1300" dirty="0"/>
          </a:p>
        </p:txBody>
      </p:sp>
      <p:sp>
        <p:nvSpPr>
          <p:cNvPr id="7" name="Text 4"/>
          <p:cNvSpPr/>
          <p:nvPr/>
        </p:nvSpPr>
        <p:spPr>
          <a:xfrm>
            <a:off x="1631950" y="3333948"/>
            <a:ext cx="6223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15212E"/>
                </a:solidFill>
                <a:latin typeface="JetBrains Mono" pitchFamily="49" charset="0"/>
                <a:ea typeface="JetBrains Mono" pitchFamily="49" charset="-122"/>
                <a:cs typeface="JetBrains Mono" pitchFamily="49" charset="-120"/>
              </a:rPr>
              <a:t>1.0</a:t>
            </a:r>
            <a:endParaRPr lang="en-US" sz="1300" dirty="0"/>
          </a:p>
        </p:txBody>
      </p:sp>
      <p:sp>
        <p:nvSpPr>
          <p:cNvPr id="8" name="Text 5"/>
          <p:cNvSpPr/>
          <p:nvPr/>
        </p:nvSpPr>
        <p:spPr>
          <a:xfrm>
            <a:off x="1695450" y="4540448"/>
            <a:ext cx="4953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z₂</a:t>
            </a:r>
            <a:endParaRPr lang="en-US" sz="1300" dirty="0"/>
          </a:p>
        </p:txBody>
      </p:sp>
      <p:sp>
        <p:nvSpPr>
          <p:cNvPr id="9" name="Text 6"/>
          <p:cNvSpPr/>
          <p:nvPr/>
        </p:nvSpPr>
        <p:spPr>
          <a:xfrm>
            <a:off x="2330450" y="4134048"/>
            <a:ext cx="6223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15212E"/>
                </a:solidFill>
                <a:latin typeface="JetBrains Mono" pitchFamily="49" charset="0"/>
                <a:ea typeface="JetBrains Mono" pitchFamily="49" charset="-122"/>
                <a:cs typeface="JetBrains Mono" pitchFamily="49" charset="-120"/>
              </a:rPr>
              <a:t>0.1</a:t>
            </a:r>
            <a:endParaRPr lang="en-US" sz="1300" dirty="0"/>
          </a:p>
        </p:txBody>
      </p:sp>
      <p:sp>
        <p:nvSpPr>
          <p:cNvPr id="10" name="Text 7"/>
          <p:cNvSpPr/>
          <p:nvPr/>
        </p:nvSpPr>
        <p:spPr>
          <a:xfrm>
            <a:off x="2393950" y="4540448"/>
            <a:ext cx="4953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z₃</a:t>
            </a:r>
            <a:endParaRPr lang="en-US" sz="1300" dirty="0"/>
          </a:p>
        </p:txBody>
      </p:sp>
      <p:sp>
        <p:nvSpPr>
          <p:cNvPr id="11" name="Text 8"/>
          <p:cNvSpPr/>
          <p:nvPr/>
        </p:nvSpPr>
        <p:spPr>
          <a:xfrm>
            <a:off x="3727450" y="2546548"/>
            <a:ext cx="7493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15212E"/>
                </a:solidFill>
                <a:latin typeface="JetBrains Mono" pitchFamily="49" charset="0"/>
                <a:ea typeface="JetBrains Mono" pitchFamily="49" charset="-122"/>
                <a:cs typeface="JetBrains Mono" pitchFamily="49" charset="-120"/>
              </a:rPr>
              <a:t>0.659</a:t>
            </a:r>
            <a:endParaRPr lang="en-US" sz="1300" dirty="0"/>
          </a:p>
        </p:txBody>
      </p:sp>
      <p:sp>
        <p:nvSpPr>
          <p:cNvPr id="12" name="Text 9"/>
          <p:cNvSpPr/>
          <p:nvPr/>
        </p:nvSpPr>
        <p:spPr>
          <a:xfrm>
            <a:off x="3854450" y="4540448"/>
            <a:ext cx="4953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ŷ₁</a:t>
            </a:r>
            <a:endParaRPr lang="en-US" sz="1300" dirty="0"/>
          </a:p>
        </p:txBody>
      </p:sp>
      <p:sp>
        <p:nvSpPr>
          <p:cNvPr id="13" name="Text 10"/>
          <p:cNvSpPr/>
          <p:nvPr/>
        </p:nvSpPr>
        <p:spPr>
          <a:xfrm>
            <a:off x="4425950" y="3606998"/>
            <a:ext cx="7493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15212E"/>
                </a:solidFill>
                <a:latin typeface="JetBrains Mono" pitchFamily="49" charset="0"/>
                <a:ea typeface="JetBrains Mono" pitchFamily="49" charset="-122"/>
                <a:cs typeface="JetBrains Mono" pitchFamily="49" charset="-120"/>
              </a:rPr>
              <a:t>0.242</a:t>
            </a:r>
            <a:endParaRPr lang="en-US" sz="1300" dirty="0"/>
          </a:p>
        </p:txBody>
      </p:sp>
      <p:sp>
        <p:nvSpPr>
          <p:cNvPr id="14" name="Text 11"/>
          <p:cNvSpPr/>
          <p:nvPr/>
        </p:nvSpPr>
        <p:spPr>
          <a:xfrm>
            <a:off x="4552950" y="4540448"/>
            <a:ext cx="4953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ŷ₂</a:t>
            </a:r>
            <a:endParaRPr lang="en-US" sz="1300" dirty="0"/>
          </a:p>
        </p:txBody>
      </p:sp>
      <p:sp>
        <p:nvSpPr>
          <p:cNvPr id="15" name="Text 12"/>
          <p:cNvSpPr/>
          <p:nvPr/>
        </p:nvSpPr>
        <p:spPr>
          <a:xfrm>
            <a:off x="5124450" y="3968948"/>
            <a:ext cx="7493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15212E"/>
                </a:solidFill>
                <a:latin typeface="JetBrains Mono" pitchFamily="49" charset="0"/>
                <a:ea typeface="JetBrains Mono" pitchFamily="49" charset="-122"/>
                <a:cs typeface="JetBrains Mono" pitchFamily="49" charset="-120"/>
              </a:rPr>
              <a:t>0.099</a:t>
            </a:r>
            <a:endParaRPr lang="en-US" sz="1300" dirty="0"/>
          </a:p>
        </p:txBody>
      </p:sp>
      <p:sp>
        <p:nvSpPr>
          <p:cNvPr id="16" name="Text 13"/>
          <p:cNvSpPr/>
          <p:nvPr/>
        </p:nvSpPr>
        <p:spPr>
          <a:xfrm>
            <a:off x="5251450" y="4540448"/>
            <a:ext cx="4953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ŷ₃</a:t>
            </a:r>
            <a:endParaRPr lang="en-US" sz="1300" dirty="0"/>
          </a:p>
        </p:txBody>
      </p:sp>
      <p:sp>
        <p:nvSpPr>
          <p:cNvPr id="17" name="Text 14"/>
          <p:cNvSpPr/>
          <p:nvPr/>
        </p:nvSpPr>
        <p:spPr>
          <a:xfrm>
            <a:off x="942975" y="4781748"/>
            <a:ext cx="196215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15212E"/>
                </a:solidFill>
                <a:latin typeface="IBM Plex Sans" pitchFamily="34" charset="0"/>
                <a:ea typeface="IBM Plex Sans" pitchFamily="34" charset="-122"/>
                <a:cs typeface="IBM Plex Sans" pitchFamily="34" charset="-120"/>
              </a:rPr>
              <a:t>logits z</a:t>
            </a:r>
            <a:endParaRPr lang="en-US" sz="1400" dirty="0"/>
          </a:p>
        </p:txBody>
      </p:sp>
      <p:sp>
        <p:nvSpPr>
          <p:cNvPr id="18" name="Text 15"/>
          <p:cNvSpPr/>
          <p:nvPr/>
        </p:nvSpPr>
        <p:spPr>
          <a:xfrm>
            <a:off x="3796665" y="4781748"/>
            <a:ext cx="222377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1F5FBF"/>
                </a:solidFill>
                <a:latin typeface="IBM Plex Sans" pitchFamily="34" charset="0"/>
                <a:ea typeface="IBM Plex Sans" pitchFamily="34" charset="-122"/>
                <a:cs typeface="IBM Plex Sans" pitchFamily="34" charset="-120"/>
              </a:rPr>
              <a:t>probabilities, sum = 1</a:t>
            </a:r>
            <a:endParaRPr lang="en-US" sz="1400" dirty="0"/>
          </a:p>
        </p:txBody>
      </p:sp>
      <p:sp>
        <p:nvSpPr>
          <p:cNvPr id="19" name="Text 16"/>
          <p:cNvSpPr/>
          <p:nvPr/>
        </p:nvSpPr>
        <p:spPr>
          <a:xfrm>
            <a:off x="2914650" y="3397448"/>
            <a:ext cx="1003300" cy="231775"/>
          </a:xfrm>
          <a:prstGeom prst="rect">
            <a:avLst/>
          </a:prstGeom>
          <a:noFill/>
          <a:ln/>
        </p:spPr>
        <p:txBody>
          <a:bodyPr wrap="square" lIns="0" tIns="0" rIns="0" bIns="0" rtlCol="0" anchor="t">
            <a:normAutofit/>
          </a:bodyPr>
          <a:lstStyle/>
          <a:p>
            <a:pPr algn="ctr" indent="0" marL="0">
              <a:lnSpc>
                <a:spcPts val="1625"/>
              </a:lnSpc>
              <a:buNone/>
            </a:pPr>
            <a:r>
              <a:rPr lang="en-US" sz="1300" b="1" dirty="0">
                <a:solidFill>
                  <a:srgbClr val="1F5FBF"/>
                </a:solidFill>
                <a:latin typeface="IBM Plex Sans" pitchFamily="34" charset="0"/>
                <a:ea typeface="IBM Plex Sans" pitchFamily="34" charset="-122"/>
                <a:cs typeface="IBM Plex Sans" pitchFamily="34" charset="-120"/>
              </a:rPr>
              <a:t>softmax</a:t>
            </a:r>
            <a:endParaRPr lang="en-US" sz="1300" dirty="0"/>
          </a:p>
        </p:txBody>
      </p:sp>
      <p:sp>
        <p:nvSpPr>
          <p:cNvPr id="20" name="Shape 17"/>
          <p:cNvSpPr/>
          <p:nvPr/>
        </p:nvSpPr>
        <p:spPr>
          <a:xfrm>
            <a:off x="6429375" y="2067123"/>
            <a:ext cx="4946650" cy="1486495"/>
          </a:xfrm>
          <a:prstGeom prst="roundRect">
            <a:avLst>
              <a:gd name="adj" fmla="val 5767"/>
            </a:avLst>
          </a:prstGeom>
          <a:solidFill>
            <a:srgbClr val="F2F5F8"/>
          </a:solidFill>
          <a:ln w="6350">
            <a:solidFill>
              <a:srgbClr val="D2D9E1"/>
            </a:solidFill>
            <a:prstDash val="solid"/>
          </a:ln>
        </p:spPr>
      </p:sp>
      <p:sp>
        <p:nvSpPr>
          <p:cNvPr id="21" name="Text 18"/>
          <p:cNvSpPr/>
          <p:nvPr/>
        </p:nvSpPr>
        <p:spPr>
          <a:xfrm>
            <a:off x="6623050" y="2222698"/>
            <a:ext cx="469607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SOFTMAX AND CATEGORICAL CROSS-ENTROPY</a:t>
            </a:r>
            <a:endParaRPr lang="en-US" sz="1200" dirty="0"/>
          </a:p>
        </p:txBody>
      </p:sp>
      <p:sp>
        <p:nvSpPr>
          <p:cNvPr id="22" name="Text 19"/>
          <p:cNvSpPr/>
          <p:nvPr/>
        </p:nvSpPr>
        <p:spPr>
          <a:xfrm>
            <a:off x="6623050" y="2512219"/>
            <a:ext cx="4696079" cy="911225"/>
          </a:xfrm>
          <a:prstGeom prst="rect">
            <a:avLst/>
          </a:prstGeom>
          <a:noFill/>
          <a:ln/>
        </p:spPr>
        <p:txBody>
          <a:bodyPr wrap="none" lIns="0" tIns="0" rIns="0" bIns="0" rtlCol="0" anchor="t">
            <a:normAutofit/>
          </a:bodyPr>
          <a:lstStyle/>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ŷₖ = exp(zₖ) / Σⱼ exp(zⱼ)</a:t>
            </a:r>
            <a:endParaRPr lang="en-US" sz="1500" dirty="0"/>
          </a:p>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L = −Σₖ yₖ log ŷₖ</a:t>
            </a:r>
            <a:endParaRPr lang="en-US" sz="1500" dirty="0"/>
          </a:p>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 −log ŷₖ (k = true class)</a:t>
            </a:r>
            <a:endParaRPr lang="en-US" sz="1500" dirty="0"/>
          </a:p>
        </p:txBody>
      </p:sp>
      <p:sp>
        <p:nvSpPr>
          <p:cNvPr id="23" name="Shape 20"/>
          <p:cNvSpPr/>
          <p:nvPr/>
        </p:nvSpPr>
        <p:spPr>
          <a:xfrm>
            <a:off x="6426200" y="3829844"/>
            <a:ext cx="63500" cy="63500"/>
          </a:xfrm>
          <a:prstGeom prst="roundRect">
            <a:avLst>
              <a:gd name="adj" fmla="val 20000"/>
            </a:avLst>
          </a:prstGeom>
          <a:solidFill>
            <a:srgbClr val="1F5FBF"/>
          </a:solidFill>
          <a:ln/>
        </p:spPr>
      </p:sp>
      <p:sp>
        <p:nvSpPr>
          <p:cNvPr id="24" name="Text 21"/>
          <p:cNvSpPr/>
          <p:nvPr/>
        </p:nvSpPr>
        <p:spPr>
          <a:xfrm>
            <a:off x="6629400" y="3734594"/>
            <a:ext cx="4892294" cy="55106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Shift-invariant.</a:t>
            </a:r>
            <a:r>
              <a:rPr lang="en-US" sz="1500" dirty="0">
                <a:solidFill>
                  <a:srgbClr val="3D4A59"/>
                </a:solidFill>
                <a:latin typeface="IBM Plex Sans" pitchFamily="34" charset="0"/>
                <a:ea typeface="IBM Plex Sans" pitchFamily="34" charset="-122"/>
                <a:cs typeface="IBM Plex Sans" pitchFamily="34" charset="-120"/>
              </a:rPr>
              <a:t> softmax(z + c) = softmax(z) for any constant c.</a:t>
            </a:r>
            <a:endParaRPr lang="en-US" sz="1500" dirty="0"/>
          </a:p>
        </p:txBody>
      </p:sp>
      <p:sp>
        <p:nvSpPr>
          <p:cNvPr id="25" name="Shape 22"/>
          <p:cNvSpPr/>
          <p:nvPr/>
        </p:nvSpPr>
        <p:spPr>
          <a:xfrm>
            <a:off x="6426200" y="4507905"/>
            <a:ext cx="63500" cy="63500"/>
          </a:xfrm>
          <a:prstGeom prst="roundRect">
            <a:avLst>
              <a:gd name="adj" fmla="val 20000"/>
            </a:avLst>
          </a:prstGeom>
          <a:solidFill>
            <a:srgbClr val="1F5FBF"/>
          </a:solidFill>
          <a:ln/>
        </p:spPr>
      </p:sp>
      <p:sp>
        <p:nvSpPr>
          <p:cNvPr id="26" name="Text 23"/>
          <p:cNvSpPr/>
          <p:nvPr/>
        </p:nvSpPr>
        <p:spPr>
          <a:xfrm>
            <a:off x="6629400" y="4412655"/>
            <a:ext cx="4892294" cy="55106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Temperature.</a:t>
            </a:r>
            <a:r>
              <a:rPr lang="en-US" sz="1500" dirty="0">
                <a:solidFill>
                  <a:srgbClr val="3D4A59"/>
                </a:solidFill>
                <a:latin typeface="IBM Plex Sans" pitchFamily="34" charset="0"/>
                <a:ea typeface="IBM Plex Sans" pitchFamily="34" charset="-122"/>
                <a:cs typeface="IBM Plex Sans" pitchFamily="34" charset="-120"/>
              </a:rPr>
              <a:t> softmax(z/T) flattens for T &gt; 1 and sharpens for T &lt; 1.</a:t>
            </a:r>
            <a:endParaRPr lang="en-US" sz="1500" dirty="0"/>
          </a:p>
        </p:txBody>
      </p:sp>
      <p:sp>
        <p:nvSpPr>
          <p:cNvPr id="27" name="Text 24"/>
          <p:cNvSpPr/>
          <p:nvPr/>
        </p:nvSpPr>
        <p:spPr>
          <a:xfrm>
            <a:off x="812800" y="6281440"/>
            <a:ext cx="518017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2 · Learning: losses, backpropagation, gradient descent</a:t>
            </a:r>
            <a:endParaRPr lang="en-US" sz="1200" dirty="0"/>
          </a:p>
        </p:txBody>
      </p:sp>
      <p:sp>
        <p:nvSpPr>
          <p:cNvPr id="28" name="Text 25"/>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08 / 31</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DF2F7"/>
        </a:solidFill>
      </p:bgPr>
    </p:bg>
    <p:spTree>
      <p:nvGrpSpPr>
        <p:cNvPr id="1" name=""/>
        <p:cNvGrpSpPr/>
        <p:nvPr/>
      </p:nvGrpSpPr>
      <p:grpSpPr>
        <a:xfrm>
          <a:off x="0" y="0"/>
          <a:ext cx="0" cy="0"/>
          <a:chOff x="0" y="0"/>
          <a:chExt cx="0" cy="0"/>
        </a:xfrm>
      </p:grpSpPr>
      <p:sp>
        <p:nvSpPr>
          <p:cNvPr id="2" name="Text 0"/>
          <p:cNvSpPr/>
          <p:nvPr/>
        </p:nvSpPr>
        <p:spPr>
          <a:xfrm>
            <a:off x="812800" y="2084784"/>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§5 · THE CHEAPEST BUG DETECTOR IN DEEP LEARNING</a:t>
            </a:r>
            <a:endParaRPr lang="en-US" sz="1200" dirty="0"/>
          </a:p>
        </p:txBody>
      </p:sp>
      <p:sp>
        <p:nvSpPr>
          <p:cNvPr id="3" name="Text 1"/>
          <p:cNvSpPr/>
          <p:nvPr>
            <p:ph type="title"/>
          </p:nvPr>
        </p:nvSpPr>
        <p:spPr>
          <a:xfrm>
            <a:off x="812800" y="2552105"/>
            <a:ext cx="10883392" cy="1163241"/>
          </a:xfrm>
          <a:prstGeom prst="rect">
            <a:avLst/>
          </a:prstGeom>
          <a:noFill/>
          <a:ln/>
        </p:spPr>
        <p:txBody>
          <a:bodyPr wrap="square" lIns="0" tIns="0" rIns="0" bIns="0" rtlCol="0" anchor="t">
            <a:normAutofit/>
          </a:bodyPr>
          <a:lstStyle/>
          <a:p>
            <a:pPr algn="l" indent="0" marL="0">
              <a:lnSpc>
                <a:spcPts val="4480"/>
              </a:lnSpc>
              <a:buNone/>
            </a:pPr>
            <a:r>
              <a:rPr lang="en-US" sz="4000" b="1" i="0" dirty="0">
                <a:solidFill>
                  <a:srgbClr val="15212E"/>
                </a:solidFill>
                <a:latin typeface="IBM Plex Sans" pitchFamily="34" charset="0"/>
                <a:ea typeface="IBM Plex Sans" pitchFamily="34" charset="-122"/>
                <a:cs typeface="IBM Plex Sans" pitchFamily="34" charset="-120"/>
              </a:rPr>
              <a:t>A randomly initialized K-class model should start at a loss of about ln K.</a:t>
            </a:r>
            <a:endParaRPr lang="en-US" sz="4000" dirty="0"/>
          </a:p>
        </p:txBody>
      </p:sp>
      <p:sp>
        <p:nvSpPr>
          <p:cNvPr id="4" name="Text 2"/>
          <p:cNvSpPr/>
          <p:nvPr/>
        </p:nvSpPr>
        <p:spPr>
          <a:xfrm>
            <a:off x="812800" y="3943945"/>
            <a:ext cx="8502650" cy="651470"/>
          </a:xfrm>
          <a:prstGeom prst="rect">
            <a:avLst/>
          </a:prstGeom>
          <a:noFill/>
          <a:ln/>
        </p:spPr>
        <p:txBody>
          <a:bodyPr wrap="square" lIns="0" tIns="0" rIns="0" bIns="0" rtlCol="0" anchor="t">
            <a:normAutofit/>
          </a:bodyPr>
          <a:lstStyle/>
          <a:p>
            <a:pPr algn="l" indent="0" marL="0">
              <a:lnSpc>
                <a:spcPts val="2465"/>
              </a:lnSpc>
              <a:buNone/>
            </a:pPr>
            <a:r>
              <a:rPr lang="en-US" sz="1700" dirty="0">
                <a:solidFill>
                  <a:srgbClr val="3D4A59"/>
                </a:solidFill>
                <a:latin typeface="IBM Plex Sans" pitchFamily="34" charset="0"/>
                <a:ea typeface="IBM Plex Sans" pitchFamily="34" charset="-122"/>
                <a:cs typeface="IBM Plex Sans" pitchFamily="34" charset="-120"/>
              </a:rPr>
              <a:t>For 10 classes that is ln 10 ≈ 2.303. A first loss far from ln K means something is wrong before training begins: the labels, the output size, or an extra softmax.</a:t>
            </a:r>
            <a:endParaRPr lang="en-US" sz="1700" dirty="0"/>
          </a:p>
        </p:txBody>
      </p:sp>
      <p:sp>
        <p:nvSpPr>
          <p:cNvPr id="5" name="Text 3"/>
          <p:cNvSpPr/>
          <p:nvPr/>
        </p:nvSpPr>
        <p:spPr>
          <a:xfrm>
            <a:off x="812800" y="6281440"/>
            <a:ext cx="518017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2 · Learning: losses, backpropagation, gradient descent</a:t>
            </a:r>
            <a:endParaRPr lang="en-US" sz="1200" dirty="0"/>
          </a:p>
        </p:txBody>
      </p:sp>
      <p:sp>
        <p:nvSpPr>
          <p:cNvPr id="6" name="Text 4"/>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09 / 31</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§5 · LOSS FUNCTIONS</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Cross-entropy keeps a full gradient when the model is confidently wrong, and MSE does not.</a:t>
            </a:r>
            <a:endParaRPr lang="en-US" sz="2800" dirty="0"/>
          </a:p>
        </p:txBody>
      </p:sp>
      <p:pic>
        <p:nvPicPr>
          <p:cNvPr id="4" name="Image 0" descr="Gradient magnitude with respect to the logit for a true label of 1: cross-entropy stays near 1 when z is very negative, while MSE collapses toward zero">    </p:cNvPr>
          <p:cNvPicPr>
            <a:picLocks noChangeAspect="1"/>
          </p:cNvPicPr>
          <p:nvPr/>
        </p:nvPicPr>
        <p:blipFill>
          <a:blip r:embed="rId1"/>
          <a:srcRect l="0" r="0" t="0" b="0"/>
          <a:stretch/>
        </p:blipFill>
        <p:spPr>
          <a:xfrm>
            <a:off x="812800" y="2063948"/>
            <a:ext cx="5080000" cy="3429000"/>
          </a:xfrm>
          <a:prstGeom prst="rect">
            <a:avLst/>
          </a:prstGeom>
        </p:spPr>
      </p:pic>
      <p:sp>
        <p:nvSpPr>
          <p:cNvPr id="5" name="Text 2"/>
          <p:cNvSpPr/>
          <p:nvPr/>
        </p:nvSpPr>
        <p:spPr>
          <a:xfrm>
            <a:off x="1447800" y="2502098"/>
            <a:ext cx="300863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F5FBF"/>
                </a:solidFill>
                <a:latin typeface="IBM Plex Sans" pitchFamily="34" charset="0"/>
                <a:ea typeface="IBM Plex Sans" pitchFamily="34" charset="-122"/>
                <a:cs typeface="IBM Plex Sans" pitchFamily="34" charset="-120"/>
              </a:rPr>
              <a:t>cross-entropy: |ŷ − y| ≈ 1</a:t>
            </a:r>
            <a:endParaRPr lang="en-US" sz="1400" dirty="0"/>
          </a:p>
        </p:txBody>
      </p:sp>
      <p:sp>
        <p:nvSpPr>
          <p:cNvPr id="6" name="Text 3"/>
          <p:cNvSpPr/>
          <p:nvPr/>
        </p:nvSpPr>
        <p:spPr>
          <a:xfrm>
            <a:off x="1447800" y="4305498"/>
            <a:ext cx="274701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A04F00"/>
                </a:solidFill>
                <a:latin typeface="IBM Plex Sans" pitchFamily="34" charset="0"/>
                <a:ea typeface="IBM Plex Sans" pitchFamily="34" charset="-122"/>
                <a:cs typeface="IBM Plex Sans" pitchFamily="34" charset="-120"/>
              </a:rPr>
              <a:t>MSE ≈ 0.0001: stalled</a:t>
            </a:r>
            <a:endParaRPr lang="en-US" sz="1400" dirty="0"/>
          </a:p>
        </p:txBody>
      </p:sp>
      <p:sp>
        <p:nvSpPr>
          <p:cNvPr id="7" name="Text 4"/>
          <p:cNvSpPr/>
          <p:nvPr/>
        </p:nvSpPr>
        <p:spPr>
          <a:xfrm>
            <a:off x="1676400" y="4769048"/>
            <a:ext cx="4318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−8</a:t>
            </a:r>
            <a:endParaRPr lang="en-US" sz="1300" dirty="0"/>
          </a:p>
        </p:txBody>
      </p:sp>
      <p:sp>
        <p:nvSpPr>
          <p:cNvPr id="8" name="Text 5"/>
          <p:cNvSpPr/>
          <p:nvPr/>
        </p:nvSpPr>
        <p:spPr>
          <a:xfrm>
            <a:off x="2946400" y="4769048"/>
            <a:ext cx="4318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−4</a:t>
            </a:r>
            <a:endParaRPr lang="en-US" sz="1300" dirty="0"/>
          </a:p>
        </p:txBody>
      </p:sp>
      <p:sp>
        <p:nvSpPr>
          <p:cNvPr id="9" name="Text 6"/>
          <p:cNvSpPr/>
          <p:nvPr/>
        </p:nvSpPr>
        <p:spPr>
          <a:xfrm>
            <a:off x="4216400" y="4769048"/>
            <a:ext cx="4318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0</a:t>
            </a:r>
            <a:endParaRPr lang="en-US" sz="1300" dirty="0"/>
          </a:p>
        </p:txBody>
      </p:sp>
      <p:sp>
        <p:nvSpPr>
          <p:cNvPr id="10" name="Text 7"/>
          <p:cNvSpPr/>
          <p:nvPr/>
        </p:nvSpPr>
        <p:spPr>
          <a:xfrm>
            <a:off x="1975485" y="5023048"/>
            <a:ext cx="300863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3D4A59"/>
                </a:solidFill>
                <a:latin typeface="IBM Plex Sans" pitchFamily="34" charset="0"/>
                <a:ea typeface="IBM Plex Sans" pitchFamily="34" charset="-122"/>
                <a:cs typeface="IBM Plex Sans" pitchFamily="34" charset="-120"/>
              </a:rPr>
              <a:t>logit z (true label y = 1)</a:t>
            </a:r>
            <a:endParaRPr lang="en-US" sz="1300" dirty="0"/>
          </a:p>
        </p:txBody>
      </p:sp>
      <p:sp>
        <p:nvSpPr>
          <p:cNvPr id="11" name="Text 8"/>
          <p:cNvSpPr/>
          <p:nvPr/>
        </p:nvSpPr>
        <p:spPr>
          <a:xfrm>
            <a:off x="762000" y="2273498"/>
            <a:ext cx="406400" cy="231775"/>
          </a:xfrm>
          <a:prstGeom prst="rect">
            <a:avLst/>
          </a:prstGeom>
          <a:noFill/>
          <a:ln/>
        </p:spPr>
        <p:txBody>
          <a:bodyPr wrap="square" lIns="0" tIns="0" rIns="0" bIns="0" rtlCol="0" anchor="t">
            <a:normAutofit/>
          </a:bodyPr>
          <a:lstStyle/>
          <a:p>
            <a:pPr algn="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1</a:t>
            </a:r>
            <a:endParaRPr lang="en-US" sz="1300" dirty="0"/>
          </a:p>
        </p:txBody>
      </p:sp>
      <p:sp>
        <p:nvSpPr>
          <p:cNvPr id="12" name="Text 9"/>
          <p:cNvSpPr/>
          <p:nvPr/>
        </p:nvSpPr>
        <p:spPr>
          <a:xfrm>
            <a:off x="1257300" y="5315148"/>
            <a:ext cx="3924300"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5B6878"/>
                </a:solidFill>
                <a:latin typeface="IBM Plex Sans" pitchFamily="34" charset="0"/>
                <a:ea typeface="IBM Plex Sans" pitchFamily="34" charset="-122"/>
                <a:cs typeface="IBM Plex Sans" pitchFamily="34" charset="-120"/>
              </a:rPr>
              <a:t>|∂L/∂z| for a model that is wrong</a:t>
            </a:r>
            <a:endParaRPr lang="en-US" sz="1300" dirty="0"/>
          </a:p>
        </p:txBody>
      </p:sp>
      <p:sp>
        <p:nvSpPr>
          <p:cNvPr id="13" name="Shape 10"/>
          <p:cNvSpPr/>
          <p:nvPr/>
        </p:nvSpPr>
        <p:spPr>
          <a:xfrm>
            <a:off x="6302375" y="2067123"/>
            <a:ext cx="5073650" cy="1151731"/>
          </a:xfrm>
          <a:prstGeom prst="roundRect">
            <a:avLst>
              <a:gd name="adj" fmla="val 7443"/>
            </a:avLst>
          </a:prstGeom>
          <a:solidFill>
            <a:srgbClr val="F2F5F8"/>
          </a:solidFill>
          <a:ln w="6350">
            <a:solidFill>
              <a:srgbClr val="D2D9E1"/>
            </a:solidFill>
            <a:prstDash val="solid"/>
          </a:ln>
        </p:spPr>
      </p:sp>
      <p:sp>
        <p:nvSpPr>
          <p:cNvPr id="14" name="Text 11"/>
          <p:cNvSpPr/>
          <p:nvPr/>
        </p:nvSpPr>
        <p:spPr>
          <a:xfrm>
            <a:off x="6496050" y="2222698"/>
            <a:ext cx="482688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04F00"/>
                </a:solidFill>
                <a:latin typeface="IBM Plex Sans" pitchFamily="34" charset="0"/>
                <a:ea typeface="IBM Plex Sans" pitchFamily="34" charset="-122"/>
                <a:cs typeface="IBM Plex Sans" pitchFamily="34" charset="-120"/>
              </a:rPr>
              <a:t>MSE WITH A SIGMOID</a:t>
            </a:r>
            <a:endParaRPr lang="en-US" sz="1200" dirty="0"/>
          </a:p>
        </p:txBody>
      </p:sp>
      <p:sp>
        <p:nvSpPr>
          <p:cNvPr id="15" name="Text 12"/>
          <p:cNvSpPr/>
          <p:nvPr/>
        </p:nvSpPr>
        <p:spPr>
          <a:xfrm>
            <a:off x="6496050" y="2512219"/>
            <a:ext cx="4826889" cy="576461"/>
          </a:xfrm>
          <a:prstGeom prst="rect">
            <a:avLst/>
          </a:prstGeom>
          <a:noFill/>
          <a:ln/>
        </p:spPr>
        <p:txBody>
          <a:bodyPr wrap="none" lIns="0" tIns="0" rIns="0" bIns="0" rtlCol="0" anchor="t">
            <a:normAutofit/>
          </a:bodyPr>
          <a:lstStyle/>
          <a:p>
            <a:pPr algn="l" indent="0" marL="0">
              <a:lnSpc>
                <a:spcPts val="2170"/>
              </a:lnSpc>
              <a:buNone/>
            </a:pPr>
            <a:r>
              <a:rPr lang="en-US" sz="1400" dirty="0">
                <a:solidFill>
                  <a:srgbClr val="15212E"/>
                </a:solidFill>
                <a:latin typeface="JetBrains Mono" pitchFamily="49" charset="0"/>
                <a:ea typeface="JetBrains Mono" pitchFamily="49" charset="-122"/>
                <a:cs typeface="JetBrains Mono" pitchFamily="49" charset="-120"/>
              </a:rPr>
              <a:t>dL/dz = (σ(z) − y)·σ(z)(1 − σ(z))</a:t>
            </a:r>
            <a:endParaRPr lang="en-US" sz="1400" dirty="0"/>
          </a:p>
          <a:p>
            <a:pPr algn="l" indent="0" marL="0">
              <a:lnSpc>
                <a:spcPts val="2170"/>
              </a:lnSpc>
              <a:buNone/>
            </a:pPr>
            <a:r>
              <a:rPr lang="en-US" sz="1400" dirty="0">
                <a:solidFill>
                  <a:srgbClr val="15212E"/>
                </a:solidFill>
                <a:latin typeface="JetBrains Mono" pitchFamily="49" charset="0"/>
                <a:ea typeface="JetBrains Mono" pitchFamily="49" charset="-122"/>
                <a:cs typeface="JetBrains Mono" pitchFamily="49" charset="-120"/>
              </a:rPr>
              <a:t>z ≈ −9: ≈ (−1)(0.0001)</a:t>
            </a:r>
            <a:endParaRPr lang="en-US" sz="1400" dirty="0"/>
          </a:p>
        </p:txBody>
      </p:sp>
      <p:sp>
        <p:nvSpPr>
          <p:cNvPr id="16" name="Shape 13"/>
          <p:cNvSpPr/>
          <p:nvPr/>
        </p:nvSpPr>
        <p:spPr>
          <a:xfrm>
            <a:off x="6302375" y="3377605"/>
            <a:ext cx="5073650" cy="876201"/>
          </a:xfrm>
          <a:prstGeom prst="roundRect">
            <a:avLst>
              <a:gd name="adj" fmla="val 9784"/>
            </a:avLst>
          </a:prstGeom>
          <a:solidFill>
            <a:srgbClr val="F2F5F8"/>
          </a:solidFill>
          <a:ln w="6350">
            <a:solidFill>
              <a:srgbClr val="D2D9E1"/>
            </a:solidFill>
            <a:prstDash val="solid"/>
          </a:ln>
        </p:spPr>
      </p:sp>
      <p:sp>
        <p:nvSpPr>
          <p:cNvPr id="17" name="Text 14"/>
          <p:cNvSpPr/>
          <p:nvPr/>
        </p:nvSpPr>
        <p:spPr>
          <a:xfrm>
            <a:off x="6496050" y="3533180"/>
            <a:ext cx="482688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CROSS-ENTROPY WITH A SIGMOID</a:t>
            </a:r>
            <a:endParaRPr lang="en-US" sz="1200" dirty="0"/>
          </a:p>
        </p:txBody>
      </p:sp>
      <p:sp>
        <p:nvSpPr>
          <p:cNvPr id="18" name="Text 15"/>
          <p:cNvSpPr/>
          <p:nvPr/>
        </p:nvSpPr>
        <p:spPr>
          <a:xfrm>
            <a:off x="6496050" y="3822700"/>
            <a:ext cx="4826889" cy="300930"/>
          </a:xfrm>
          <a:prstGeom prst="rect">
            <a:avLst/>
          </a:prstGeom>
          <a:noFill/>
          <a:ln/>
        </p:spPr>
        <p:txBody>
          <a:bodyPr wrap="none" lIns="0" tIns="0" rIns="0" bIns="0" rtlCol="0" anchor="t">
            <a:normAutofit/>
          </a:bodyPr>
          <a:lstStyle/>
          <a:p>
            <a:pPr algn="l" indent="0" marL="0">
              <a:lnSpc>
                <a:spcPts val="2170"/>
              </a:lnSpc>
              <a:buNone/>
            </a:pPr>
            <a:r>
              <a:rPr lang="en-US" sz="1400" dirty="0">
                <a:solidFill>
                  <a:srgbClr val="15212E"/>
                </a:solidFill>
                <a:latin typeface="JetBrains Mono" pitchFamily="49" charset="0"/>
                <a:ea typeface="JetBrains Mono" pitchFamily="49" charset="-122"/>
                <a:cs typeface="JetBrains Mono" pitchFamily="49" charset="-120"/>
              </a:rPr>
              <a:t>dL/dz = σ(z) − y = ŷ − y</a:t>
            </a:r>
            <a:endParaRPr lang="en-US" sz="1400" dirty="0"/>
          </a:p>
        </p:txBody>
      </p:sp>
      <p:sp>
        <p:nvSpPr>
          <p:cNvPr id="19" name="Text 16"/>
          <p:cNvSpPr/>
          <p:nvPr/>
        </p:nvSpPr>
        <p:spPr>
          <a:xfrm>
            <a:off x="6299200" y="4409380"/>
            <a:ext cx="5232400" cy="551061"/>
          </a:xfrm>
          <a:prstGeom prst="rect">
            <a:avLst/>
          </a:prstGeom>
          <a:noFill/>
          <a:ln/>
        </p:spPr>
        <p:txBody>
          <a:bodyPr wrap="square" lIns="0" tIns="0" rIns="0" bIns="0" rtlCol="0" anchor="t">
            <a:normAutofit/>
          </a:bodyPr>
          <a:lstStyle/>
          <a:p>
            <a:pPr algn="l" indent="0" marL="0">
              <a:lnSpc>
                <a:spcPts val="2070"/>
              </a:lnSpc>
              <a:buNone/>
            </a:pPr>
            <a:r>
              <a:rPr lang="en-US" sz="1500" dirty="0">
                <a:solidFill>
                  <a:srgbClr val="3D4A59"/>
                </a:solidFill>
                <a:latin typeface="IBM Plex Sans" pitchFamily="34" charset="0"/>
                <a:ea typeface="IBM Plex Sans" pitchFamily="34" charset="-122"/>
                <a:cs typeface="IBM Plex Sans" pitchFamily="34" charset="-120"/>
              </a:rPr>
              <a:t>MSE is also the wrong likelihood for labels, and is non-convex even for one sigmoid neuron.</a:t>
            </a:r>
            <a:endParaRPr lang="en-US" sz="1500" dirty="0"/>
          </a:p>
        </p:txBody>
      </p:sp>
      <p:sp>
        <p:nvSpPr>
          <p:cNvPr id="20" name="Text 17"/>
          <p:cNvSpPr/>
          <p:nvPr/>
        </p:nvSpPr>
        <p:spPr>
          <a:xfrm>
            <a:off x="812800" y="6281440"/>
            <a:ext cx="518017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2 · Learning: losses, backpropagation, gradient descent</a:t>
            </a:r>
            <a:endParaRPr lang="en-US" sz="1200" dirty="0"/>
          </a:p>
        </p:txBody>
      </p:sp>
      <p:sp>
        <p:nvSpPr>
          <p:cNvPr id="21" name="Text 18"/>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10 / 31</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§5 · LOSS FUNCTIONS</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Pass raw logits to a fused loss, which stays numerically stable through log-sum-exp.</a:t>
            </a:r>
            <a:endParaRPr lang="en-US" sz="2800" dirty="0"/>
          </a:p>
        </p:txBody>
      </p:sp>
      <p:pic>
        <p:nvPicPr>
          <p:cNvPr id="4" name="Image 0" descr="Correct pipeline passes raw logits into the cross-entropy loss; the wrong pipeline applies softmax first, so softmax is applied twice">    </p:cNvPr>
          <p:cNvPicPr>
            <a:picLocks noChangeAspect="1"/>
          </p:cNvPicPr>
          <p:nvPr/>
        </p:nvPicPr>
        <p:blipFill>
          <a:blip r:embed="rId1"/>
          <a:srcRect l="0" r="0" t="0" b="0"/>
          <a:stretch/>
        </p:blipFill>
        <p:spPr>
          <a:xfrm>
            <a:off x="812800" y="2063948"/>
            <a:ext cx="5207000" cy="2984500"/>
          </a:xfrm>
          <a:prstGeom prst="rect">
            <a:avLst/>
          </a:prstGeom>
        </p:spPr>
      </p:pic>
      <p:sp>
        <p:nvSpPr>
          <p:cNvPr id="5" name="Text 2"/>
          <p:cNvSpPr/>
          <p:nvPr/>
        </p:nvSpPr>
        <p:spPr>
          <a:xfrm>
            <a:off x="812800" y="2089348"/>
            <a:ext cx="196215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F5FBF"/>
                </a:solidFill>
                <a:latin typeface="IBM Plex Sans" pitchFamily="34" charset="0"/>
                <a:ea typeface="IBM Plex Sans" pitchFamily="34" charset="-122"/>
                <a:cs typeface="IBM Plex Sans" pitchFamily="34" charset="-120"/>
              </a:rPr>
              <a:t>Do this</a:t>
            </a:r>
            <a:endParaRPr lang="en-US" sz="1400" dirty="0"/>
          </a:p>
        </p:txBody>
      </p:sp>
      <p:sp>
        <p:nvSpPr>
          <p:cNvPr id="6" name="Text 3"/>
          <p:cNvSpPr/>
          <p:nvPr/>
        </p:nvSpPr>
        <p:spPr>
          <a:xfrm>
            <a:off x="812800" y="2546548"/>
            <a:ext cx="120650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15212E"/>
                </a:solidFill>
                <a:latin typeface="IBM Plex Sans" pitchFamily="34" charset="0"/>
                <a:ea typeface="IBM Plex Sans" pitchFamily="34" charset="-122"/>
                <a:cs typeface="IBM Plex Sans" pitchFamily="34" charset="-120"/>
              </a:rPr>
              <a:t>Model</a:t>
            </a:r>
            <a:endParaRPr lang="en-US" sz="1400" dirty="0"/>
          </a:p>
        </p:txBody>
      </p:sp>
      <p:sp>
        <p:nvSpPr>
          <p:cNvPr id="7" name="Text 4"/>
          <p:cNvSpPr/>
          <p:nvPr/>
        </p:nvSpPr>
        <p:spPr>
          <a:xfrm>
            <a:off x="2654300" y="2546548"/>
            <a:ext cx="127000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15212E"/>
                </a:solidFill>
                <a:latin typeface="IBM Plex Sans" pitchFamily="34" charset="0"/>
                <a:ea typeface="IBM Plex Sans" pitchFamily="34" charset="-122"/>
                <a:cs typeface="IBM Plex Sans" pitchFamily="34" charset="-120"/>
              </a:rPr>
              <a:t>Raw logits</a:t>
            </a:r>
            <a:endParaRPr lang="en-US" sz="1400" dirty="0"/>
          </a:p>
        </p:txBody>
      </p:sp>
      <p:sp>
        <p:nvSpPr>
          <p:cNvPr id="8" name="Text 5"/>
          <p:cNvSpPr/>
          <p:nvPr/>
        </p:nvSpPr>
        <p:spPr>
          <a:xfrm>
            <a:off x="4559300" y="2546548"/>
            <a:ext cx="146050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15212E"/>
                </a:solidFill>
                <a:latin typeface="IBM Plex Sans" pitchFamily="34" charset="0"/>
                <a:ea typeface="IBM Plex Sans" pitchFamily="34" charset="-122"/>
                <a:cs typeface="IBM Plex Sans" pitchFamily="34" charset="-120"/>
              </a:rPr>
              <a:t>CE loss</a:t>
            </a:r>
            <a:endParaRPr lang="en-US" sz="1400" dirty="0"/>
          </a:p>
        </p:txBody>
      </p:sp>
      <p:sp>
        <p:nvSpPr>
          <p:cNvPr id="9" name="Text 6"/>
          <p:cNvSpPr/>
          <p:nvPr/>
        </p:nvSpPr>
        <p:spPr>
          <a:xfrm>
            <a:off x="812800" y="3029148"/>
            <a:ext cx="5363210"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3D4A59"/>
                </a:solidFill>
                <a:latin typeface="IBM Plex Sans" pitchFamily="34" charset="0"/>
                <a:ea typeface="IBM Plex Sans" pitchFamily="34" charset="-122"/>
                <a:cs typeface="IBM Plex Sans" pitchFamily="34" charset="-120"/>
              </a:rPr>
              <a:t>log-softmax is applied once, inside the loss</a:t>
            </a:r>
            <a:endParaRPr lang="en-US" sz="1300" dirty="0"/>
          </a:p>
        </p:txBody>
      </p:sp>
      <p:sp>
        <p:nvSpPr>
          <p:cNvPr id="10" name="Text 7"/>
          <p:cNvSpPr/>
          <p:nvPr/>
        </p:nvSpPr>
        <p:spPr>
          <a:xfrm>
            <a:off x="812800" y="3562548"/>
            <a:ext cx="196215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A04F00"/>
                </a:solidFill>
                <a:latin typeface="IBM Plex Sans" pitchFamily="34" charset="0"/>
                <a:ea typeface="IBM Plex Sans" pitchFamily="34" charset="-122"/>
                <a:cs typeface="IBM Plex Sans" pitchFamily="34" charset="-120"/>
              </a:rPr>
              <a:t>Not this</a:t>
            </a:r>
            <a:endParaRPr lang="en-US" sz="1400" dirty="0"/>
          </a:p>
        </p:txBody>
      </p:sp>
      <p:sp>
        <p:nvSpPr>
          <p:cNvPr id="11" name="Text 8"/>
          <p:cNvSpPr/>
          <p:nvPr/>
        </p:nvSpPr>
        <p:spPr>
          <a:xfrm>
            <a:off x="812800" y="4019748"/>
            <a:ext cx="120650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15212E"/>
                </a:solidFill>
                <a:latin typeface="IBM Plex Sans" pitchFamily="34" charset="0"/>
                <a:ea typeface="IBM Plex Sans" pitchFamily="34" charset="-122"/>
                <a:cs typeface="IBM Plex Sans" pitchFamily="34" charset="-120"/>
              </a:rPr>
              <a:t>Model</a:t>
            </a:r>
            <a:endParaRPr lang="en-US" sz="1400" dirty="0"/>
          </a:p>
        </p:txBody>
      </p:sp>
      <p:sp>
        <p:nvSpPr>
          <p:cNvPr id="12" name="Text 9"/>
          <p:cNvSpPr/>
          <p:nvPr/>
        </p:nvSpPr>
        <p:spPr>
          <a:xfrm>
            <a:off x="2654300" y="4019748"/>
            <a:ext cx="127000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15212E"/>
                </a:solidFill>
                <a:latin typeface="IBM Plex Sans" pitchFamily="34" charset="0"/>
                <a:ea typeface="IBM Plex Sans" pitchFamily="34" charset="-122"/>
                <a:cs typeface="IBM Plex Sans" pitchFamily="34" charset="-120"/>
              </a:rPr>
              <a:t>Softmax</a:t>
            </a:r>
            <a:endParaRPr lang="en-US" sz="1400" dirty="0"/>
          </a:p>
        </p:txBody>
      </p:sp>
      <p:sp>
        <p:nvSpPr>
          <p:cNvPr id="13" name="Text 10"/>
          <p:cNvSpPr/>
          <p:nvPr/>
        </p:nvSpPr>
        <p:spPr>
          <a:xfrm>
            <a:off x="4559300" y="4019748"/>
            <a:ext cx="146050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15212E"/>
                </a:solidFill>
                <a:latin typeface="IBM Plex Sans" pitchFamily="34" charset="0"/>
                <a:ea typeface="IBM Plex Sans" pitchFamily="34" charset="-122"/>
                <a:cs typeface="IBM Plex Sans" pitchFamily="34" charset="-120"/>
              </a:rPr>
              <a:t>CE loss</a:t>
            </a:r>
            <a:endParaRPr lang="en-US" sz="1400" dirty="0"/>
          </a:p>
        </p:txBody>
      </p:sp>
      <p:sp>
        <p:nvSpPr>
          <p:cNvPr id="14" name="Text 11"/>
          <p:cNvSpPr/>
          <p:nvPr/>
        </p:nvSpPr>
        <p:spPr>
          <a:xfrm>
            <a:off x="812800" y="4502348"/>
            <a:ext cx="5363210"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A04F00"/>
                </a:solidFill>
                <a:latin typeface="IBM Plex Sans" pitchFamily="34" charset="0"/>
                <a:ea typeface="IBM Plex Sans" pitchFamily="34" charset="-122"/>
                <a:cs typeface="IBM Plex Sans" pitchFamily="34" charset="-120"/>
              </a:rPr>
              <a:t>softmax applied twice: no error, damped gradients, low accuracy</a:t>
            </a:r>
            <a:endParaRPr lang="en-US" sz="1300" dirty="0"/>
          </a:p>
        </p:txBody>
      </p:sp>
      <p:sp>
        <p:nvSpPr>
          <p:cNvPr id="15" name="Shape 12"/>
          <p:cNvSpPr/>
          <p:nvPr/>
        </p:nvSpPr>
        <p:spPr>
          <a:xfrm>
            <a:off x="6302375" y="2067123"/>
            <a:ext cx="5073650" cy="1397794"/>
          </a:xfrm>
          <a:prstGeom prst="roundRect">
            <a:avLst>
              <a:gd name="adj" fmla="val 6133"/>
            </a:avLst>
          </a:prstGeom>
          <a:solidFill>
            <a:srgbClr val="F2F5F8"/>
          </a:solidFill>
          <a:ln w="6350">
            <a:solidFill>
              <a:srgbClr val="D2D9E1"/>
            </a:solidFill>
            <a:prstDash val="solid"/>
          </a:ln>
        </p:spPr>
      </p:sp>
      <p:sp>
        <p:nvSpPr>
          <p:cNvPr id="16" name="Text 13"/>
          <p:cNvSpPr/>
          <p:nvPr/>
        </p:nvSpPr>
        <p:spPr>
          <a:xfrm>
            <a:off x="6496050" y="2222698"/>
            <a:ext cx="482688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LOG-SUM-EXP TRICK</a:t>
            </a:r>
            <a:endParaRPr lang="en-US" sz="1200" dirty="0"/>
          </a:p>
        </p:txBody>
      </p:sp>
      <p:sp>
        <p:nvSpPr>
          <p:cNvPr id="17" name="Text 14"/>
          <p:cNvSpPr/>
          <p:nvPr/>
        </p:nvSpPr>
        <p:spPr>
          <a:xfrm>
            <a:off x="6496050" y="2512219"/>
            <a:ext cx="4826889" cy="822523"/>
          </a:xfrm>
          <a:prstGeom prst="rect">
            <a:avLst/>
          </a:prstGeom>
          <a:noFill/>
          <a:ln/>
        </p:spPr>
        <p:txBody>
          <a:bodyPr wrap="none" lIns="0" tIns="0" rIns="0" bIns="0" rtlCol="0" anchor="t">
            <a:normAutofit/>
          </a:bodyPr>
          <a:lstStyle/>
          <a:p>
            <a:pPr algn="l" indent="0" marL="0">
              <a:lnSpc>
                <a:spcPts val="2093"/>
              </a:lnSpc>
              <a:buNone/>
            </a:pPr>
            <a:r>
              <a:rPr lang="en-US" sz="1350" dirty="0">
                <a:solidFill>
                  <a:srgbClr val="15212E"/>
                </a:solidFill>
                <a:latin typeface="JetBrains Mono" pitchFamily="49" charset="0"/>
                <a:ea typeface="JetBrains Mono" pitchFamily="49" charset="-122"/>
                <a:cs typeface="JetBrains Mono" pitchFamily="49" charset="-120"/>
              </a:rPr>
              <a:t>exp(1000) → inf ⇒ softmax → nan</a:t>
            </a:r>
            <a:endParaRPr lang="en-US" sz="1350" dirty="0"/>
          </a:p>
          <a:p>
            <a:pPr algn="l" indent="0" marL="0">
              <a:lnSpc>
                <a:spcPts val="2093"/>
              </a:lnSpc>
              <a:buNone/>
            </a:pPr>
            <a:r>
              <a:rPr lang="en-US" sz="1350" dirty="0">
                <a:solidFill>
                  <a:srgbClr val="15212E"/>
                </a:solidFill>
                <a:latin typeface="JetBrains Mono" pitchFamily="49" charset="0"/>
                <a:ea typeface="JetBrains Mono" pitchFamily="49" charset="-122"/>
                <a:cs typeface="JetBrains Mono" pitchFamily="49" charset="-120"/>
              </a:rPr>
              <a:t>c = maxⱼ zⱼ</a:t>
            </a:r>
            <a:endParaRPr lang="en-US" sz="1350" dirty="0"/>
          </a:p>
          <a:p>
            <a:pPr algn="l" indent="0" marL="0">
              <a:lnSpc>
                <a:spcPts val="2093"/>
              </a:lnSpc>
              <a:buNone/>
            </a:pPr>
            <a:r>
              <a:rPr lang="en-US" sz="1350" dirty="0">
                <a:solidFill>
                  <a:srgbClr val="15212E"/>
                </a:solidFill>
                <a:latin typeface="JetBrains Mono" pitchFamily="49" charset="0"/>
                <a:ea typeface="JetBrains Mono" pitchFamily="49" charset="-122"/>
                <a:cs typeface="JetBrains Mono" pitchFamily="49" charset="-120"/>
              </a:rPr>
              <a:t>log softmax(z)ₖ = zₖ − c − log Σⱼ exp(zⱼ − c)</a:t>
            </a:r>
            <a:endParaRPr lang="en-US" sz="1350" dirty="0"/>
          </a:p>
        </p:txBody>
      </p:sp>
      <p:sp>
        <p:nvSpPr>
          <p:cNvPr id="18" name="Shape 15"/>
          <p:cNvSpPr/>
          <p:nvPr/>
        </p:nvSpPr>
        <p:spPr>
          <a:xfrm>
            <a:off x="6299200" y="3741142"/>
            <a:ext cx="63500" cy="63500"/>
          </a:xfrm>
          <a:prstGeom prst="roundRect">
            <a:avLst>
              <a:gd name="adj" fmla="val 20000"/>
            </a:avLst>
          </a:prstGeom>
          <a:solidFill>
            <a:srgbClr val="1F5FBF"/>
          </a:solidFill>
          <a:ln/>
        </p:spPr>
      </p:sp>
      <p:sp>
        <p:nvSpPr>
          <p:cNvPr id="19" name="Text 16"/>
          <p:cNvSpPr/>
          <p:nvPr/>
        </p:nvSpPr>
        <p:spPr>
          <a:xfrm>
            <a:off x="6502400" y="3645892"/>
            <a:ext cx="5023104" cy="288230"/>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No overflow.</a:t>
            </a:r>
            <a:r>
              <a:rPr lang="en-US" sz="1500" dirty="0">
                <a:solidFill>
                  <a:srgbClr val="3D4A59"/>
                </a:solidFill>
                <a:latin typeface="IBM Plex Sans" pitchFamily="34" charset="0"/>
                <a:ea typeface="IBM Plex Sans" pitchFamily="34" charset="-122"/>
                <a:cs typeface="IBM Plex Sans" pitchFamily="34" charset="-120"/>
              </a:rPr>
              <a:t> Every exponent zⱼ − c ≤ 0.</a:t>
            </a:r>
            <a:endParaRPr lang="en-US" sz="1500" dirty="0"/>
          </a:p>
        </p:txBody>
      </p:sp>
      <p:sp>
        <p:nvSpPr>
          <p:cNvPr id="20" name="Shape 17"/>
          <p:cNvSpPr/>
          <p:nvPr/>
        </p:nvSpPr>
        <p:spPr>
          <a:xfrm>
            <a:off x="6299200" y="4156373"/>
            <a:ext cx="63500" cy="63500"/>
          </a:xfrm>
          <a:prstGeom prst="roundRect">
            <a:avLst>
              <a:gd name="adj" fmla="val 20000"/>
            </a:avLst>
          </a:prstGeom>
          <a:solidFill>
            <a:srgbClr val="1F5FBF"/>
          </a:solidFill>
          <a:ln/>
        </p:spPr>
      </p:sp>
      <p:sp>
        <p:nvSpPr>
          <p:cNvPr id="21" name="Text 18"/>
          <p:cNvSpPr/>
          <p:nvPr/>
        </p:nvSpPr>
        <p:spPr>
          <a:xfrm>
            <a:off x="6502400" y="4061123"/>
            <a:ext cx="5023104" cy="288230"/>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No underflow.</a:t>
            </a:r>
            <a:r>
              <a:rPr lang="en-US" sz="1500" dirty="0">
                <a:solidFill>
                  <a:srgbClr val="3D4A59"/>
                </a:solidFill>
                <a:latin typeface="IBM Plex Sans" pitchFamily="34" charset="0"/>
                <a:ea typeface="IBM Plex Sans" pitchFamily="34" charset="-122"/>
                <a:cs typeface="IBM Plex Sans" pitchFamily="34" charset="-120"/>
              </a:rPr>
              <a:t> One term equals 1, so the sum is ≥ 1.</a:t>
            </a:r>
            <a:endParaRPr lang="en-US" sz="1500" dirty="0"/>
          </a:p>
        </p:txBody>
      </p:sp>
      <p:sp>
        <p:nvSpPr>
          <p:cNvPr id="22" name="Text 19"/>
          <p:cNvSpPr/>
          <p:nvPr/>
        </p:nvSpPr>
        <p:spPr>
          <a:xfrm>
            <a:off x="812800" y="6281440"/>
            <a:ext cx="518017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2 · Learning: losses, backpropagation, gradient descent</a:t>
            </a:r>
            <a:endParaRPr lang="en-US" sz="1200" dirty="0"/>
          </a:p>
        </p:txBody>
      </p:sp>
      <p:sp>
        <p:nvSpPr>
          <p:cNvPr id="23" name="Text 20"/>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11 / 31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§5 · LOSS FUNCTIONS</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Match the loss to the task, and give it raw logits with correctly formatted targets.</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76648"/>
          <a:ext cx="10553700" cy="2534047"/>
        </p:xfrm>
        <a:graphic>
          <a:graphicData uri="http://schemas.openxmlformats.org/drawingml/2006/table">
            <a:tbl>
              <a:tblPr/>
              <a:tblGrid>
                <a:gridCol w="2110740"/>
                <a:gridCol w="2849499"/>
                <a:gridCol w="2216277"/>
                <a:gridCol w="3377184"/>
              </a:tblGrid>
              <a:tr h="422275">
                <a:tc>
                  <a:txBody>
                    <a:bodyPr/>
                    <a:lstStyle/>
                    <a:p>
                      <a:pPr indent="0" marL="0">
                        <a:lnSpc>
                          <a:spcPts val="1825"/>
                        </a:lnSpc>
                        <a:buNone/>
                      </a:pPr>
                      <a:r>
                        <a:rPr lang="en-US" sz="1304" b="1" dirty="0">
                          <a:solidFill>
                            <a:srgbClr val="15212E"/>
                          </a:solidFill>
                          <a:latin typeface="IBM Plex Sans" pitchFamily="34" charset="0"/>
                          <a:ea typeface="IBM Plex Sans" pitchFamily="34" charset="-122"/>
                          <a:cs typeface="IBM Plex Sans" pitchFamily="34" charset="-120"/>
                        </a:rPr>
                        <a:t>Task</a:t>
                      </a:r>
                      <a:endParaRPr lang="en-US" sz="1304"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BCBCA"/>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BCBCA"/>
                      </a:solidFill>
                      <a:prstDash val="solid"/>
                      <a:round/>
                      <a:headEnd type="none" w="med" len="med"/>
                      <a:tailEnd type="none" w="med" len="med"/>
                    </a:lnB>
                    <a:solidFill>
                      <a:srgbClr val="FFFFFE"/>
                    </a:solidFill>
                  </a:tcPr>
                </a:tc>
                <a:tc>
                  <a:txBody>
                    <a:bodyPr/>
                    <a:lstStyle/>
                    <a:p>
                      <a:pPr indent="0" marL="0">
                        <a:lnSpc>
                          <a:spcPts val="1825"/>
                        </a:lnSpc>
                        <a:buNone/>
                      </a:pPr>
                      <a:r>
                        <a:rPr lang="en-US" sz="1304" b="1" dirty="0">
                          <a:solidFill>
                            <a:srgbClr val="15212E"/>
                          </a:solidFill>
                          <a:latin typeface="IBM Plex Sans" pitchFamily="34" charset="0"/>
                          <a:ea typeface="IBM Plex Sans" pitchFamily="34" charset="-122"/>
                          <a:cs typeface="IBM Plex Sans" pitchFamily="34" charset="-120"/>
                        </a:rPr>
                        <a:t>PyTorch loss</a:t>
                      </a:r>
                      <a:endParaRPr lang="en-US" sz="1304" dirty="0">
                        <a:latin typeface="IBM Plex Sans" charset="0"/>
                        <a:ea typeface="IBM Plex Sans" charset="0"/>
                        <a:cs typeface="IBM Plex Sans" charset="0"/>
                      </a:endParaRPr>
                    </a:p>
                  </a:txBody>
                  <a:tcPr marL="114300" marR="114300" marT="88900" marB="88900" anchor="t">
                    <a:lnL w="12700" cap="flat" cmpd="sng" algn="ctr">
                      <a:solidFill>
                        <a:srgbClr val="CBCBCA"/>
                      </a:solidFill>
                      <a:prstDash val="solid"/>
                      <a:round/>
                      <a:headEnd type="none" w="med" len="med"/>
                      <a:tailEnd type="none" w="med" len="med"/>
                    </a:lnL>
                    <a:lnR w="12700" cap="flat" cmpd="sng" algn="ctr">
                      <a:solidFill>
                        <a:srgbClr val="CBCBCA"/>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BCBCA"/>
                      </a:solidFill>
                      <a:prstDash val="solid"/>
                      <a:round/>
                      <a:headEnd type="none" w="med" len="med"/>
                      <a:tailEnd type="none" w="med" len="med"/>
                    </a:lnB>
                    <a:solidFill>
                      <a:srgbClr val="FFFFFE"/>
                    </a:solidFill>
                  </a:tcPr>
                </a:tc>
                <a:tc>
                  <a:txBody>
                    <a:bodyPr/>
                    <a:lstStyle/>
                    <a:p>
                      <a:pPr indent="0" marL="0">
                        <a:lnSpc>
                          <a:spcPts val="1825"/>
                        </a:lnSpc>
                        <a:buNone/>
                      </a:pPr>
                      <a:r>
                        <a:rPr lang="en-US" sz="1304" b="1" dirty="0">
                          <a:solidFill>
                            <a:srgbClr val="15212E"/>
                          </a:solidFill>
                          <a:latin typeface="IBM Plex Sans" pitchFamily="34" charset="0"/>
                          <a:ea typeface="IBM Plex Sans" pitchFamily="34" charset="-122"/>
                          <a:cs typeface="IBM Plex Sans" pitchFamily="34" charset="-120"/>
                        </a:rPr>
                        <a:t>Model output</a:t>
                      </a:r>
                      <a:endParaRPr lang="en-US" sz="1304" dirty="0">
                        <a:latin typeface="IBM Plex Sans" charset="0"/>
                        <a:ea typeface="IBM Plex Sans" charset="0"/>
                        <a:cs typeface="IBM Plex Sans" charset="0"/>
                      </a:endParaRPr>
                    </a:p>
                  </a:txBody>
                  <a:tcPr marL="114300" marR="114300" marT="88900" marB="88900" anchor="t">
                    <a:lnL w="12700" cap="flat" cmpd="sng" algn="ctr">
                      <a:solidFill>
                        <a:srgbClr val="CBCBCA"/>
                      </a:solidFill>
                      <a:prstDash val="solid"/>
                      <a:round/>
                      <a:headEnd type="none" w="med" len="med"/>
                      <a:tailEnd type="none" w="med" len="med"/>
                    </a:lnL>
                    <a:lnR w="12700" cap="flat" cmpd="sng" algn="ctr">
                      <a:solidFill>
                        <a:srgbClr val="CBCBCA"/>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BCBCA"/>
                      </a:solidFill>
                      <a:prstDash val="solid"/>
                      <a:round/>
                      <a:headEnd type="none" w="med" len="med"/>
                      <a:tailEnd type="none" w="med" len="med"/>
                    </a:lnB>
                    <a:solidFill>
                      <a:srgbClr val="FFFFFE"/>
                    </a:solidFill>
                  </a:tcPr>
                </a:tc>
                <a:tc>
                  <a:txBody>
                    <a:bodyPr/>
                    <a:lstStyle/>
                    <a:p>
                      <a:pPr indent="0" marL="0">
                        <a:lnSpc>
                          <a:spcPts val="1825"/>
                        </a:lnSpc>
                        <a:buNone/>
                      </a:pPr>
                      <a:r>
                        <a:rPr lang="en-US" sz="1304" b="1" dirty="0">
                          <a:solidFill>
                            <a:srgbClr val="15212E"/>
                          </a:solidFill>
                          <a:latin typeface="IBM Plex Sans" pitchFamily="34" charset="0"/>
                          <a:ea typeface="IBM Plex Sans" pitchFamily="34" charset="-122"/>
                          <a:cs typeface="IBM Plex Sans" pitchFamily="34" charset="-120"/>
                        </a:rPr>
                        <a:t>Target</a:t>
                      </a:r>
                      <a:endParaRPr lang="en-US" sz="1304" dirty="0">
                        <a:latin typeface="IBM Plex Sans" charset="0"/>
                        <a:ea typeface="IBM Plex Sans" charset="0"/>
                        <a:cs typeface="IBM Plex Sans" charset="0"/>
                      </a:endParaRPr>
                    </a:p>
                  </a:txBody>
                  <a:tcPr marL="114300" marR="114300" marT="88900" marB="88900" anchor="t">
                    <a:lnL w="12700" cap="flat" cmpd="sng" algn="ctr">
                      <a:solidFill>
                        <a:srgbClr val="CBCBCA"/>
                      </a:solidFill>
                      <a:prstDash val="solid"/>
                      <a:round/>
                      <a:headEnd type="none" w="med" len="med"/>
                      <a:tailEnd type="none" w="med" len="med"/>
                    </a:lnL>
                    <a:lnR w="12700" cap="flat" cmpd="sng" algn="ctr">
                      <a:solidFill>
                        <a:srgbClr val="CBCBCA"/>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BCBCA"/>
                      </a:solidFill>
                      <a:prstDash val="solid"/>
                      <a:round/>
                      <a:headEnd type="none" w="med" len="med"/>
                      <a:tailEnd type="none" w="med" len="med"/>
                    </a:lnB>
                    <a:solidFill>
                      <a:srgbClr val="FFFFFE"/>
                    </a:solidFill>
                  </a:tcPr>
                </a:tc>
              </a:tr>
              <a:tr h="422275">
                <a:tc>
                  <a:txBody>
                    <a:bodyPr/>
                    <a:lstStyle/>
                    <a:p>
                      <a:pPr indent="0" marL="0">
                        <a:lnSpc>
                          <a:spcPts val="1825"/>
                        </a:lnSpc>
                        <a:buNone/>
                      </a:pPr>
                      <a:r>
                        <a:rPr lang="en-US" sz="1304" dirty="0">
                          <a:solidFill>
                            <a:srgbClr val="15212E"/>
                          </a:solidFill>
                          <a:latin typeface="IBM Plex Sans" pitchFamily="34" charset="0"/>
                          <a:ea typeface="IBM Plex Sans" pitchFamily="34" charset="-122"/>
                          <a:cs typeface="IBM Plex Sans" pitchFamily="34" charset="-120"/>
                        </a:rPr>
                        <a:t>Regression</a:t>
                      </a:r>
                      <a:endParaRPr lang="en-US" sz="1304"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BCBCA"/>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825"/>
                        </a:lnSpc>
                        <a:buNone/>
                      </a:pPr>
                      <a:r>
                        <a:rPr lang="en-US" sz="1304" dirty="0">
                          <a:solidFill>
                            <a:srgbClr val="3D4A59"/>
                          </a:solidFill>
                          <a:latin typeface="IBM Plex Sans" pitchFamily="34" charset="0"/>
                          <a:ea typeface="IBM Plex Sans" pitchFamily="34" charset="-122"/>
                          <a:cs typeface="IBM Plex Sans" pitchFamily="34" charset="-120"/>
                        </a:rPr>
                        <a:t>MSELoss</a:t>
                      </a:r>
                      <a:endParaRPr lang="en-US" sz="1304"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BCBCA"/>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825"/>
                        </a:lnSpc>
                        <a:buNone/>
                      </a:pPr>
                      <a:r>
                        <a:rPr lang="en-US" sz="1304" dirty="0">
                          <a:solidFill>
                            <a:srgbClr val="3D4A59"/>
                          </a:solidFill>
                          <a:latin typeface="IBM Plex Sans" pitchFamily="34" charset="0"/>
                          <a:ea typeface="IBM Plex Sans" pitchFamily="34" charset="-122"/>
                          <a:cs typeface="IBM Plex Sans" pitchFamily="34" charset="-120"/>
                        </a:rPr>
                        <a:t>(m, 1) raw</a:t>
                      </a:r>
                      <a:endParaRPr lang="en-US" sz="1304"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BCBCA"/>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825"/>
                        </a:lnSpc>
                        <a:buNone/>
                      </a:pPr>
                      <a:r>
                        <a:rPr lang="en-US" sz="1304" dirty="0">
                          <a:solidFill>
                            <a:srgbClr val="3D4A59"/>
                          </a:solidFill>
                          <a:latin typeface="IBM Plex Sans" pitchFamily="34" charset="0"/>
                          <a:ea typeface="IBM Plex Sans" pitchFamily="34" charset="-122"/>
                          <a:cs typeface="IBM Plex Sans" pitchFamily="34" charset="-120"/>
                        </a:rPr>
                        <a:t>(m, 1) float</a:t>
                      </a:r>
                      <a:endParaRPr lang="en-US" sz="1304"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BCBCA"/>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22374">
                <a:tc>
                  <a:txBody>
                    <a:bodyPr/>
                    <a:lstStyle/>
                    <a:p>
                      <a:pPr indent="0" marL="0">
                        <a:lnSpc>
                          <a:spcPts val="1825"/>
                        </a:lnSpc>
                        <a:buNone/>
                      </a:pPr>
                      <a:r>
                        <a:rPr lang="en-US" sz="1304" dirty="0">
                          <a:solidFill>
                            <a:srgbClr val="15212E"/>
                          </a:solidFill>
                          <a:latin typeface="IBM Plex Sans" pitchFamily="34" charset="0"/>
                          <a:ea typeface="IBM Plex Sans" pitchFamily="34" charset="-122"/>
                          <a:cs typeface="IBM Plex Sans" pitchFamily="34" charset="-120"/>
                        </a:rPr>
                        <a:t>Robust regression</a:t>
                      </a:r>
                      <a:endParaRPr lang="en-US" sz="1304"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825"/>
                        </a:lnSpc>
                        <a:buNone/>
                      </a:pPr>
                      <a:r>
                        <a:rPr lang="en-US" sz="1304" dirty="0">
                          <a:solidFill>
                            <a:srgbClr val="3D4A59"/>
                          </a:solidFill>
                          <a:latin typeface="IBM Plex Sans" pitchFamily="34" charset="0"/>
                          <a:ea typeface="IBM Plex Sans" pitchFamily="34" charset="-122"/>
                          <a:cs typeface="IBM Plex Sans" pitchFamily="34" charset="-120"/>
                        </a:rPr>
                        <a:t>SmoothL1Loss</a:t>
                      </a:r>
                      <a:endParaRPr lang="en-US" sz="1304"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825"/>
                        </a:lnSpc>
                        <a:buNone/>
                      </a:pPr>
                      <a:r>
                        <a:rPr lang="en-US" sz="1304" dirty="0">
                          <a:solidFill>
                            <a:srgbClr val="3D4A59"/>
                          </a:solidFill>
                          <a:latin typeface="IBM Plex Sans" pitchFamily="34" charset="0"/>
                          <a:ea typeface="IBM Plex Sans" pitchFamily="34" charset="-122"/>
                          <a:cs typeface="IBM Plex Sans" pitchFamily="34" charset="-120"/>
                        </a:rPr>
                        <a:t>(m, 1) raw</a:t>
                      </a:r>
                      <a:endParaRPr lang="en-US" sz="1304"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825"/>
                        </a:lnSpc>
                        <a:buNone/>
                      </a:pPr>
                      <a:r>
                        <a:rPr lang="en-US" sz="1304" dirty="0">
                          <a:solidFill>
                            <a:srgbClr val="3D4A59"/>
                          </a:solidFill>
                          <a:latin typeface="IBM Plex Sans" pitchFamily="34" charset="0"/>
                          <a:ea typeface="IBM Plex Sans" pitchFamily="34" charset="-122"/>
                          <a:cs typeface="IBM Plex Sans" pitchFamily="34" charset="-120"/>
                        </a:rPr>
                        <a:t>(m, 1) float</a:t>
                      </a:r>
                      <a:endParaRPr lang="en-US" sz="1304"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22374">
                <a:tc>
                  <a:txBody>
                    <a:bodyPr/>
                    <a:lstStyle/>
                    <a:p>
                      <a:pPr indent="0" marL="0">
                        <a:lnSpc>
                          <a:spcPts val="1825"/>
                        </a:lnSpc>
                        <a:buNone/>
                      </a:pPr>
                      <a:r>
                        <a:rPr lang="en-US" sz="1304" dirty="0">
                          <a:solidFill>
                            <a:srgbClr val="15212E"/>
                          </a:solidFill>
                          <a:latin typeface="IBM Plex Sans" pitchFamily="34" charset="0"/>
                          <a:ea typeface="IBM Plex Sans" pitchFamily="34" charset="-122"/>
                          <a:cs typeface="IBM Plex Sans" pitchFamily="34" charset="-120"/>
                        </a:rPr>
                        <a:t>Binary</a:t>
                      </a:r>
                      <a:endParaRPr lang="en-US" sz="1304"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825"/>
                        </a:lnSpc>
                        <a:buNone/>
                      </a:pPr>
                      <a:r>
                        <a:rPr lang="en-US" sz="1304" dirty="0">
                          <a:solidFill>
                            <a:srgbClr val="3D4A59"/>
                          </a:solidFill>
                          <a:latin typeface="IBM Plex Sans" pitchFamily="34" charset="0"/>
                          <a:ea typeface="IBM Plex Sans" pitchFamily="34" charset="-122"/>
                          <a:cs typeface="IBM Plex Sans" pitchFamily="34" charset="-120"/>
                        </a:rPr>
                        <a:t>BCEWithLogitsLoss</a:t>
                      </a:r>
                      <a:endParaRPr lang="en-US" sz="1304"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825"/>
                        </a:lnSpc>
                        <a:buNone/>
                      </a:pPr>
                      <a:r>
                        <a:rPr lang="en-US" sz="1304" dirty="0">
                          <a:solidFill>
                            <a:srgbClr val="3D4A59"/>
                          </a:solidFill>
                          <a:latin typeface="IBM Plex Sans" pitchFamily="34" charset="0"/>
                          <a:ea typeface="IBM Plex Sans" pitchFamily="34" charset="-122"/>
                          <a:cs typeface="IBM Plex Sans" pitchFamily="34" charset="-120"/>
                        </a:rPr>
                        <a:t>(m, 1) logits</a:t>
                      </a:r>
                      <a:endParaRPr lang="en-US" sz="1304"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825"/>
                        </a:lnSpc>
                        <a:buNone/>
                      </a:pPr>
                      <a:r>
                        <a:rPr lang="en-US" sz="1304" dirty="0">
                          <a:solidFill>
                            <a:srgbClr val="3D4A59"/>
                          </a:solidFill>
                          <a:latin typeface="IBM Plex Sans" pitchFamily="34" charset="0"/>
                          <a:ea typeface="IBM Plex Sans" pitchFamily="34" charset="-122"/>
                          <a:cs typeface="IBM Plex Sans" pitchFamily="34" charset="-120"/>
                        </a:rPr>
                        <a:t>(m, 1) float 0/1</a:t>
                      </a:r>
                      <a:endParaRPr lang="en-US" sz="1304"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22374">
                <a:tc>
                  <a:txBody>
                    <a:bodyPr/>
                    <a:lstStyle/>
                    <a:p>
                      <a:pPr indent="0" marL="0">
                        <a:lnSpc>
                          <a:spcPts val="1825"/>
                        </a:lnSpc>
                        <a:buNone/>
                      </a:pPr>
                      <a:r>
                        <a:rPr lang="en-US" sz="1304" dirty="0">
                          <a:solidFill>
                            <a:srgbClr val="15212E"/>
                          </a:solidFill>
                          <a:latin typeface="IBM Plex Sans" pitchFamily="34" charset="0"/>
                          <a:ea typeface="IBM Plex Sans" pitchFamily="34" charset="-122"/>
                          <a:cs typeface="IBM Plex Sans" pitchFamily="34" charset="-120"/>
                        </a:rPr>
                        <a:t>Multi-class</a:t>
                      </a:r>
                      <a:endParaRPr lang="en-US" sz="1304"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B6BEC8"/>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6BEC8"/>
                      </a:solidFill>
                      <a:prstDash val="solid"/>
                      <a:round/>
                      <a:headEnd type="none" w="med" len="med"/>
                      <a:tailEnd type="none" w="med" len="med"/>
                    </a:lnB>
                    <a:solidFill>
                      <a:srgbClr val="E4EEFB"/>
                    </a:solidFill>
                  </a:tcPr>
                </a:tc>
                <a:tc>
                  <a:txBody>
                    <a:bodyPr/>
                    <a:lstStyle/>
                    <a:p>
                      <a:pPr indent="0" marL="0">
                        <a:lnSpc>
                          <a:spcPts val="1825"/>
                        </a:lnSpc>
                        <a:buNone/>
                      </a:pPr>
                      <a:r>
                        <a:rPr lang="en-US" sz="1304" dirty="0">
                          <a:solidFill>
                            <a:srgbClr val="3D4A59"/>
                          </a:solidFill>
                          <a:latin typeface="IBM Plex Sans" pitchFamily="34" charset="0"/>
                          <a:ea typeface="IBM Plex Sans" pitchFamily="34" charset="-122"/>
                          <a:cs typeface="IBM Plex Sans" pitchFamily="34" charset="-120"/>
                        </a:rPr>
                        <a:t>CrossEntropyLoss</a:t>
                      </a:r>
                      <a:endParaRPr lang="en-US" sz="1304" dirty="0">
                        <a:latin typeface="IBM Plex Sans" charset="0"/>
                        <a:ea typeface="IBM Plex Sans" charset="0"/>
                        <a:cs typeface="IBM Plex Sans" charset="0"/>
                      </a:endParaRPr>
                    </a:p>
                  </a:txBody>
                  <a:tcPr marL="114300" marR="114300" marT="88900" marB="88900" anchor="t">
                    <a:lnL w="12700" cap="flat" cmpd="sng" algn="ctr">
                      <a:solidFill>
                        <a:srgbClr val="B6BEC8"/>
                      </a:solidFill>
                      <a:prstDash val="solid"/>
                      <a:round/>
                      <a:headEnd type="none" w="med" len="med"/>
                      <a:tailEnd type="none" w="med" len="med"/>
                    </a:lnL>
                    <a:lnR w="12700" cap="flat" cmpd="sng" algn="ctr">
                      <a:solidFill>
                        <a:srgbClr val="B6BEC8"/>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6BEC8"/>
                      </a:solidFill>
                      <a:prstDash val="solid"/>
                      <a:round/>
                      <a:headEnd type="none" w="med" len="med"/>
                      <a:tailEnd type="none" w="med" len="med"/>
                    </a:lnB>
                    <a:solidFill>
                      <a:srgbClr val="E4EEFB"/>
                    </a:solidFill>
                  </a:tcPr>
                </a:tc>
                <a:tc>
                  <a:txBody>
                    <a:bodyPr/>
                    <a:lstStyle/>
                    <a:p>
                      <a:pPr indent="0" marL="0">
                        <a:lnSpc>
                          <a:spcPts val="1825"/>
                        </a:lnSpc>
                        <a:buNone/>
                      </a:pPr>
                      <a:r>
                        <a:rPr lang="en-US" sz="1304" dirty="0">
                          <a:solidFill>
                            <a:srgbClr val="3D4A59"/>
                          </a:solidFill>
                          <a:latin typeface="IBM Plex Sans" pitchFamily="34" charset="0"/>
                          <a:ea typeface="IBM Plex Sans" pitchFamily="34" charset="-122"/>
                          <a:cs typeface="IBM Plex Sans" pitchFamily="34" charset="-120"/>
                        </a:rPr>
                        <a:t>(m, K) logits</a:t>
                      </a:r>
                      <a:endParaRPr lang="en-US" sz="1304" dirty="0">
                        <a:latin typeface="IBM Plex Sans" charset="0"/>
                        <a:ea typeface="IBM Plex Sans" charset="0"/>
                        <a:cs typeface="IBM Plex Sans" charset="0"/>
                      </a:endParaRPr>
                    </a:p>
                  </a:txBody>
                  <a:tcPr marL="114300" marR="114300" marT="88900" marB="88900" anchor="t">
                    <a:lnL w="12700" cap="flat" cmpd="sng" algn="ctr">
                      <a:solidFill>
                        <a:srgbClr val="B6BEC8"/>
                      </a:solidFill>
                      <a:prstDash val="solid"/>
                      <a:round/>
                      <a:headEnd type="none" w="med" len="med"/>
                      <a:tailEnd type="none" w="med" len="med"/>
                    </a:lnL>
                    <a:lnR w="12700" cap="flat" cmpd="sng" algn="ctr">
                      <a:solidFill>
                        <a:srgbClr val="B6BEC8"/>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6BEC8"/>
                      </a:solidFill>
                      <a:prstDash val="solid"/>
                      <a:round/>
                      <a:headEnd type="none" w="med" len="med"/>
                      <a:tailEnd type="none" w="med" len="med"/>
                    </a:lnB>
                    <a:solidFill>
                      <a:srgbClr val="E4EEFB"/>
                    </a:solidFill>
                  </a:tcPr>
                </a:tc>
                <a:tc>
                  <a:txBody>
                    <a:bodyPr/>
                    <a:lstStyle/>
                    <a:p>
                      <a:pPr indent="0" marL="0">
                        <a:lnSpc>
                          <a:spcPts val="1825"/>
                        </a:lnSpc>
                        <a:buNone/>
                      </a:pPr>
                      <a:r>
                        <a:rPr lang="en-US" sz="1304" dirty="0">
                          <a:solidFill>
                            <a:srgbClr val="3D4A59"/>
                          </a:solidFill>
                          <a:latin typeface="IBM Plex Sans" pitchFamily="34" charset="0"/>
                          <a:ea typeface="IBM Plex Sans" pitchFamily="34" charset="-122"/>
                          <a:cs typeface="IBM Plex Sans" pitchFamily="34" charset="-120"/>
                        </a:rPr>
                        <a:t>(m,) integer class indices</a:t>
                      </a:r>
                      <a:endParaRPr lang="en-US" sz="1304" dirty="0">
                        <a:latin typeface="IBM Plex Sans" charset="0"/>
                        <a:ea typeface="IBM Plex Sans" charset="0"/>
                        <a:cs typeface="IBM Plex Sans" charset="0"/>
                      </a:endParaRPr>
                    </a:p>
                  </a:txBody>
                  <a:tcPr marL="114300" marR="114300" marT="88900" marB="88900" anchor="t">
                    <a:lnL w="12700" cap="flat" cmpd="sng" algn="ctr">
                      <a:solidFill>
                        <a:srgbClr val="B6BEC8"/>
                      </a:solidFill>
                      <a:prstDash val="solid"/>
                      <a:round/>
                      <a:headEnd type="none" w="med" len="med"/>
                      <a:tailEnd type="none" w="med" len="med"/>
                    </a:lnL>
                    <a:lnR w="12700" cap="flat" cmpd="sng" algn="ctr">
                      <a:solidFill>
                        <a:srgbClr val="B6BEC8"/>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6BEC8"/>
                      </a:solidFill>
                      <a:prstDash val="solid"/>
                      <a:round/>
                      <a:headEnd type="none" w="med" len="med"/>
                      <a:tailEnd type="none" w="med" len="med"/>
                    </a:lnB>
                    <a:solidFill>
                      <a:srgbClr val="E4EEFB"/>
                    </a:solidFill>
                  </a:tcPr>
                </a:tc>
              </a:tr>
              <a:tr h="422374">
                <a:tc>
                  <a:txBody>
                    <a:bodyPr/>
                    <a:lstStyle/>
                    <a:p>
                      <a:pPr indent="0" marL="0">
                        <a:lnSpc>
                          <a:spcPts val="1825"/>
                        </a:lnSpc>
                        <a:buNone/>
                      </a:pPr>
                      <a:r>
                        <a:rPr lang="en-US" sz="1304" dirty="0">
                          <a:solidFill>
                            <a:srgbClr val="15212E"/>
                          </a:solidFill>
                          <a:latin typeface="IBM Plex Sans" pitchFamily="34" charset="0"/>
                          <a:ea typeface="IBM Plex Sans" pitchFamily="34" charset="-122"/>
                          <a:cs typeface="IBM Plex Sans" pitchFamily="34" charset="-120"/>
                        </a:rPr>
                        <a:t>Multi-label</a:t>
                      </a:r>
                      <a:endParaRPr lang="en-US" sz="1304"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B6BEC8"/>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825"/>
                        </a:lnSpc>
                        <a:buNone/>
                      </a:pPr>
                      <a:r>
                        <a:rPr lang="en-US" sz="1304" dirty="0">
                          <a:solidFill>
                            <a:srgbClr val="3D4A59"/>
                          </a:solidFill>
                          <a:latin typeface="IBM Plex Sans" pitchFamily="34" charset="0"/>
                          <a:ea typeface="IBM Plex Sans" pitchFamily="34" charset="-122"/>
                          <a:cs typeface="IBM Plex Sans" pitchFamily="34" charset="-120"/>
                        </a:rPr>
                        <a:t>BCEWithLogitsLoss</a:t>
                      </a:r>
                      <a:endParaRPr lang="en-US" sz="1304"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B6BEC8"/>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825"/>
                        </a:lnSpc>
                        <a:buNone/>
                      </a:pPr>
                      <a:r>
                        <a:rPr lang="en-US" sz="1304" dirty="0">
                          <a:solidFill>
                            <a:srgbClr val="3D4A59"/>
                          </a:solidFill>
                          <a:latin typeface="IBM Plex Sans" pitchFamily="34" charset="0"/>
                          <a:ea typeface="IBM Plex Sans" pitchFamily="34" charset="-122"/>
                          <a:cs typeface="IBM Plex Sans" pitchFamily="34" charset="-120"/>
                        </a:rPr>
                        <a:t>(m, K) logits</a:t>
                      </a:r>
                      <a:endParaRPr lang="en-US" sz="1304"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B6BEC8"/>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825"/>
                        </a:lnSpc>
                        <a:buNone/>
                      </a:pPr>
                      <a:r>
                        <a:rPr lang="en-US" sz="1304" dirty="0">
                          <a:solidFill>
                            <a:srgbClr val="3D4A59"/>
                          </a:solidFill>
                          <a:latin typeface="IBM Plex Sans" pitchFamily="34" charset="0"/>
                          <a:ea typeface="IBM Plex Sans" pitchFamily="34" charset="-122"/>
                          <a:cs typeface="IBM Plex Sans" pitchFamily="34" charset="-120"/>
                        </a:rPr>
                        <a:t>(m, K) float 0/1</a:t>
                      </a:r>
                      <a:endParaRPr lang="en-US" sz="1304"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B6BEC8"/>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bl>
          </a:graphicData>
        </a:graphic>
      </p:graphicFrame>
      <p:sp>
        <p:nvSpPr>
          <p:cNvPr id="5" name="Shape 2"/>
          <p:cNvSpPr/>
          <p:nvPr/>
        </p:nvSpPr>
        <p:spPr>
          <a:xfrm>
            <a:off x="815975" y="4770537"/>
            <a:ext cx="3941366" cy="1089521"/>
          </a:xfrm>
          <a:prstGeom prst="roundRect">
            <a:avLst>
              <a:gd name="adj" fmla="val 7868"/>
            </a:avLst>
          </a:prstGeom>
          <a:solidFill>
            <a:srgbClr val="F2F5F8"/>
          </a:solidFill>
          <a:ln w="6350">
            <a:solidFill>
              <a:srgbClr val="D2D9E1"/>
            </a:solidFill>
            <a:prstDash val="solid"/>
          </a:ln>
        </p:spPr>
      </p:sp>
      <p:sp>
        <p:nvSpPr>
          <p:cNvPr id="6" name="Text 3"/>
          <p:cNvSpPr/>
          <p:nvPr/>
        </p:nvSpPr>
        <p:spPr>
          <a:xfrm>
            <a:off x="1009650" y="4926112"/>
            <a:ext cx="3660636" cy="452041"/>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LABEL SMOOTHING, PYTORCH CONVENTION</a:t>
            </a:r>
            <a:endParaRPr lang="en-US" sz="1200" dirty="0"/>
          </a:p>
        </p:txBody>
      </p:sp>
      <p:sp>
        <p:nvSpPr>
          <p:cNvPr id="7" name="Text 4"/>
          <p:cNvSpPr/>
          <p:nvPr/>
        </p:nvSpPr>
        <p:spPr>
          <a:xfrm>
            <a:off x="1009650" y="5428952"/>
            <a:ext cx="3660636" cy="300930"/>
          </a:xfrm>
          <a:prstGeom prst="rect">
            <a:avLst/>
          </a:prstGeom>
          <a:noFill/>
          <a:ln/>
        </p:spPr>
        <p:txBody>
          <a:bodyPr wrap="none" lIns="0" tIns="0" rIns="0" bIns="0" rtlCol="0" anchor="t">
            <a:normAutofit/>
          </a:bodyPr>
          <a:lstStyle/>
          <a:p>
            <a:pPr algn="l" indent="0" marL="0">
              <a:lnSpc>
                <a:spcPts val="2170"/>
              </a:lnSpc>
              <a:buNone/>
            </a:pPr>
            <a:r>
              <a:rPr lang="en-US" sz="1400" dirty="0">
                <a:solidFill>
                  <a:srgbClr val="15212E"/>
                </a:solidFill>
                <a:latin typeface="JetBrains Mono" pitchFamily="49" charset="0"/>
                <a:ea typeface="JetBrains Mono" pitchFamily="49" charset="-122"/>
                <a:cs typeface="JetBrains Mono" pitchFamily="49" charset="-120"/>
              </a:rPr>
              <a:t>target = (1 − ε) · one-hot + ε / K</a:t>
            </a:r>
            <a:r>
              <a:rPr lang="en-US" sz="1400" dirty="0">
                <a:solidFill>
                  <a:srgbClr val="5B6878"/>
                </a:solidFill>
                <a:latin typeface="JetBrains Mono" pitchFamily="49" charset="0"/>
                <a:ea typeface="JetBrains Mono" pitchFamily="49" charset="-122"/>
                <a:cs typeface="JetBrains Mono" pitchFamily="49" charset="-120"/>
              </a:rPr>
              <a:t> ε ≈ 0.1</a:t>
            </a:r>
            <a:endParaRPr lang="en-US" sz="1400" dirty="0"/>
          </a:p>
        </p:txBody>
      </p:sp>
      <p:sp>
        <p:nvSpPr>
          <p:cNvPr id="8" name="Text 5"/>
          <p:cNvSpPr/>
          <p:nvPr/>
        </p:nvSpPr>
        <p:spPr>
          <a:xfrm>
            <a:off x="5166916" y="5052417"/>
            <a:ext cx="6398653" cy="55106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A04F00"/>
                </a:solidFill>
                <a:latin typeface="IBM Plex Sans" pitchFamily="34" charset="0"/>
                <a:ea typeface="IBM Plex Sans" pitchFamily="34" charset="-122"/>
                <a:cs typeface="IBM Plex Sans" pitchFamily="34" charset="-120"/>
              </a:rPr>
              <a:t>Passing softmax outputs instead of logits raises no error and quietly degrades the model.</a:t>
            </a:r>
            <a:endParaRPr lang="en-US" sz="1500" dirty="0"/>
          </a:p>
        </p:txBody>
      </p:sp>
      <p:sp>
        <p:nvSpPr>
          <p:cNvPr id="9" name="Text 6"/>
          <p:cNvSpPr/>
          <p:nvPr/>
        </p:nvSpPr>
        <p:spPr>
          <a:xfrm>
            <a:off x="812800" y="6281440"/>
            <a:ext cx="518017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2 · Learning: losses, backpropagation, gradient descent</a:t>
            </a:r>
            <a:endParaRPr lang="en-US" sz="1200" dirty="0"/>
          </a:p>
        </p:txBody>
      </p:sp>
      <p:sp>
        <p:nvSpPr>
          <p:cNvPr id="10" name="Text 7"/>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12 / 31</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§6 · BACKPROPAGATION</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Backpropagation computes every gradient for roughly the cost of one extra forward pass.</a:t>
            </a:r>
            <a:endParaRPr lang="en-US" sz="2800" dirty="0"/>
          </a:p>
        </p:txBody>
      </p:sp>
      <p:sp>
        <p:nvSpPr>
          <p:cNvPr id="4" name="Shape 2"/>
          <p:cNvSpPr/>
          <p:nvPr/>
        </p:nvSpPr>
        <p:spPr>
          <a:xfrm>
            <a:off x="815975" y="2067123"/>
            <a:ext cx="3803650" cy="1744663"/>
          </a:xfrm>
          <a:prstGeom prst="roundRect">
            <a:avLst>
              <a:gd name="adj" fmla="val 4914"/>
            </a:avLst>
          </a:prstGeom>
          <a:solidFill>
            <a:srgbClr val="FBEBDC"/>
          </a:solidFill>
          <a:ln w="6350">
            <a:solidFill>
              <a:srgbClr val="D2D9E1"/>
            </a:solidFill>
            <a:prstDash val="solid"/>
          </a:ln>
        </p:spPr>
      </p:sp>
      <p:sp>
        <p:nvSpPr>
          <p:cNvPr id="5" name="Text 3"/>
          <p:cNvSpPr/>
          <p:nvPr/>
        </p:nvSpPr>
        <p:spPr>
          <a:xfrm>
            <a:off x="1009650" y="2235398"/>
            <a:ext cx="351878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04F00"/>
                </a:solidFill>
                <a:latin typeface="IBM Plex Sans" pitchFamily="34" charset="0"/>
                <a:ea typeface="IBM Plex Sans" pitchFamily="34" charset="-122"/>
                <a:cs typeface="IBM Plex Sans" pitchFamily="34" charset="-120"/>
              </a:rPr>
              <a:t>FINITE DIFFERENCES</a:t>
            </a:r>
            <a:endParaRPr lang="en-US" sz="1200" dirty="0"/>
          </a:p>
        </p:txBody>
      </p:sp>
      <p:sp>
        <p:nvSpPr>
          <p:cNvPr id="6" name="Text 4"/>
          <p:cNvSpPr/>
          <p:nvPr/>
        </p:nvSpPr>
        <p:spPr>
          <a:xfrm>
            <a:off x="1009650" y="2499519"/>
            <a:ext cx="3518789"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15212E"/>
                </a:solidFill>
                <a:latin typeface="JetBrains Mono" pitchFamily="49" charset="0"/>
                <a:ea typeface="JetBrains Mono" pitchFamily="49" charset="-122"/>
                <a:cs typeface="JetBrains Mono" pitchFamily="49" charset="-120"/>
              </a:rPr>
              <a:t>10⁸</a:t>
            </a:r>
            <a:endParaRPr lang="en-US" sz="4800" dirty="0"/>
          </a:p>
        </p:txBody>
      </p:sp>
      <p:sp>
        <p:nvSpPr>
          <p:cNvPr id="7" name="Text 5"/>
          <p:cNvSpPr/>
          <p:nvPr/>
        </p:nvSpPr>
        <p:spPr>
          <a:xfrm>
            <a:off x="1009650" y="3159919"/>
            <a:ext cx="3518789" cy="508992"/>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3D4A59"/>
                </a:solidFill>
                <a:latin typeface="IBM Plex Sans" pitchFamily="34" charset="0"/>
                <a:ea typeface="IBM Plex Sans" pitchFamily="34" charset="-122"/>
                <a:cs typeface="IBM Plex Sans" pitchFamily="34" charset="-120"/>
              </a:rPr>
              <a:t>forward passes per step for 10⁸ parameters: over a day</a:t>
            </a:r>
            <a:endParaRPr lang="en-US" sz="1400" dirty="0"/>
          </a:p>
        </p:txBody>
      </p:sp>
      <p:sp>
        <p:nvSpPr>
          <p:cNvPr id="8" name="Shape 6"/>
          <p:cNvSpPr/>
          <p:nvPr/>
        </p:nvSpPr>
        <p:spPr>
          <a:xfrm>
            <a:off x="815975" y="3970536"/>
            <a:ext cx="3803650" cy="1502866"/>
          </a:xfrm>
          <a:prstGeom prst="roundRect">
            <a:avLst>
              <a:gd name="adj" fmla="val 5704"/>
            </a:avLst>
          </a:prstGeom>
          <a:solidFill>
            <a:srgbClr val="E4EEFB"/>
          </a:solidFill>
          <a:ln w="6350">
            <a:solidFill>
              <a:srgbClr val="D2D9E1"/>
            </a:solidFill>
            <a:prstDash val="solid"/>
          </a:ln>
        </p:spPr>
      </p:sp>
      <p:sp>
        <p:nvSpPr>
          <p:cNvPr id="9" name="Text 7"/>
          <p:cNvSpPr/>
          <p:nvPr/>
        </p:nvSpPr>
        <p:spPr>
          <a:xfrm>
            <a:off x="1009650" y="4138811"/>
            <a:ext cx="351878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BACKPROPAGATION</a:t>
            </a:r>
            <a:endParaRPr lang="en-US" sz="1200" dirty="0"/>
          </a:p>
        </p:txBody>
      </p:sp>
      <p:sp>
        <p:nvSpPr>
          <p:cNvPr id="10" name="Text 8"/>
          <p:cNvSpPr/>
          <p:nvPr/>
        </p:nvSpPr>
        <p:spPr>
          <a:xfrm>
            <a:off x="1009650" y="4402931"/>
            <a:ext cx="3518789"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15212E"/>
                </a:solidFill>
                <a:latin typeface="JetBrains Mono" pitchFamily="49" charset="0"/>
                <a:ea typeface="JetBrains Mono" pitchFamily="49" charset="-122"/>
                <a:cs typeface="JetBrains Mono" pitchFamily="49" charset="-120"/>
              </a:rPr>
              <a:t>≈ 1</a:t>
            </a:r>
            <a:endParaRPr lang="en-US" sz="4800" dirty="0"/>
          </a:p>
        </p:txBody>
      </p:sp>
      <p:sp>
        <p:nvSpPr>
          <p:cNvPr id="11" name="Text 9"/>
          <p:cNvSpPr/>
          <p:nvPr/>
        </p:nvSpPr>
        <p:spPr>
          <a:xfrm>
            <a:off x="1009650" y="5063331"/>
            <a:ext cx="3518789" cy="267196"/>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3D4A59"/>
                </a:solidFill>
                <a:latin typeface="IBM Plex Sans" pitchFamily="34" charset="0"/>
                <a:ea typeface="IBM Plex Sans" pitchFamily="34" charset="-122"/>
                <a:cs typeface="IBM Plex Sans" pitchFamily="34" charset="-120"/>
              </a:rPr>
              <a:t>extra pass for every gradient at once</a:t>
            </a:r>
            <a:endParaRPr lang="en-US" sz="1400" dirty="0"/>
          </a:p>
        </p:txBody>
      </p:sp>
      <p:sp>
        <p:nvSpPr>
          <p:cNvPr id="12" name="Text 10"/>
          <p:cNvSpPr/>
          <p:nvPr/>
        </p:nvSpPr>
        <p:spPr>
          <a:xfrm>
            <a:off x="5029200" y="2063948"/>
            <a:ext cx="6540500" cy="55106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Backpropagation is the chain rule applied to a computational graph, organized so shared work is done once.</a:t>
            </a:r>
            <a:endParaRPr lang="en-US" sz="1500" dirty="0"/>
          </a:p>
        </p:txBody>
      </p:sp>
      <p:pic>
        <p:nvPicPr>
          <p:cNvPr id="13" name="Image 0" descr="Chain x to a to b to c to J; gradients flow backward from J, each reusing the product already accumulated">    </p:cNvPr>
          <p:cNvPicPr>
            <a:picLocks noChangeAspect="1"/>
          </p:cNvPicPr>
          <p:nvPr/>
        </p:nvPicPr>
        <p:blipFill>
          <a:blip r:embed="rId1"/>
          <a:srcRect l="0" r="0" t="0" b="0"/>
          <a:stretch/>
        </p:blipFill>
        <p:spPr>
          <a:xfrm>
            <a:off x="5029200" y="2742009"/>
            <a:ext cx="6350000" cy="1397000"/>
          </a:xfrm>
          <a:prstGeom prst="rect">
            <a:avLst/>
          </a:prstGeom>
        </p:spPr>
      </p:pic>
      <p:sp>
        <p:nvSpPr>
          <p:cNvPr id="14" name="Text 11"/>
          <p:cNvSpPr/>
          <p:nvPr/>
        </p:nvSpPr>
        <p:spPr>
          <a:xfrm>
            <a:off x="5194300" y="2996009"/>
            <a:ext cx="431800" cy="279400"/>
          </a:xfrm>
          <a:prstGeom prst="rect">
            <a:avLst/>
          </a:prstGeom>
          <a:noFill/>
          <a:ln/>
        </p:spPr>
        <p:txBody>
          <a:bodyPr wrap="square" lIns="0" tIns="0" rIns="0" bIns="0" rtlCol="0" anchor="t">
            <a:normAutofit/>
          </a:bodyPr>
          <a:lstStyle/>
          <a:p>
            <a:pPr algn="ctr" indent="0" marL="0">
              <a:lnSpc>
                <a:spcPts val="2000"/>
              </a:lnSpc>
              <a:buNone/>
            </a:pPr>
            <a:r>
              <a:rPr lang="en-US" sz="1600" dirty="0">
                <a:solidFill>
                  <a:srgbClr val="15212E"/>
                </a:solidFill>
                <a:latin typeface="JetBrains Mono" pitchFamily="49" charset="0"/>
                <a:ea typeface="JetBrains Mono" pitchFamily="49" charset="-122"/>
                <a:cs typeface="JetBrains Mono" pitchFamily="49" charset="-120"/>
              </a:rPr>
              <a:t>x</a:t>
            </a:r>
            <a:endParaRPr lang="en-US" sz="1600" dirty="0"/>
          </a:p>
        </p:txBody>
      </p:sp>
      <p:sp>
        <p:nvSpPr>
          <p:cNvPr id="15" name="Text 12"/>
          <p:cNvSpPr/>
          <p:nvPr/>
        </p:nvSpPr>
        <p:spPr>
          <a:xfrm>
            <a:off x="6591300" y="2996009"/>
            <a:ext cx="431800" cy="279400"/>
          </a:xfrm>
          <a:prstGeom prst="rect">
            <a:avLst/>
          </a:prstGeom>
          <a:noFill/>
          <a:ln/>
        </p:spPr>
        <p:txBody>
          <a:bodyPr wrap="square" lIns="0" tIns="0" rIns="0" bIns="0" rtlCol="0" anchor="t">
            <a:normAutofit/>
          </a:bodyPr>
          <a:lstStyle/>
          <a:p>
            <a:pPr algn="ctr" indent="0" marL="0">
              <a:lnSpc>
                <a:spcPts val="2000"/>
              </a:lnSpc>
              <a:buNone/>
            </a:pPr>
            <a:r>
              <a:rPr lang="en-US" sz="1600" dirty="0">
                <a:solidFill>
                  <a:srgbClr val="15212E"/>
                </a:solidFill>
                <a:latin typeface="JetBrains Mono" pitchFamily="49" charset="0"/>
                <a:ea typeface="JetBrains Mono" pitchFamily="49" charset="-122"/>
                <a:cs typeface="JetBrains Mono" pitchFamily="49" charset="-120"/>
              </a:rPr>
              <a:t>a</a:t>
            </a:r>
            <a:endParaRPr lang="en-US" sz="1600" dirty="0"/>
          </a:p>
        </p:txBody>
      </p:sp>
      <p:sp>
        <p:nvSpPr>
          <p:cNvPr id="16" name="Text 13"/>
          <p:cNvSpPr/>
          <p:nvPr/>
        </p:nvSpPr>
        <p:spPr>
          <a:xfrm>
            <a:off x="7988300" y="2996009"/>
            <a:ext cx="431800" cy="279400"/>
          </a:xfrm>
          <a:prstGeom prst="rect">
            <a:avLst/>
          </a:prstGeom>
          <a:noFill/>
          <a:ln/>
        </p:spPr>
        <p:txBody>
          <a:bodyPr wrap="square" lIns="0" tIns="0" rIns="0" bIns="0" rtlCol="0" anchor="t">
            <a:normAutofit/>
          </a:bodyPr>
          <a:lstStyle/>
          <a:p>
            <a:pPr algn="ctr" indent="0" marL="0">
              <a:lnSpc>
                <a:spcPts val="2000"/>
              </a:lnSpc>
              <a:buNone/>
            </a:pPr>
            <a:r>
              <a:rPr lang="en-US" sz="1600" dirty="0">
                <a:solidFill>
                  <a:srgbClr val="15212E"/>
                </a:solidFill>
                <a:latin typeface="JetBrains Mono" pitchFamily="49" charset="0"/>
                <a:ea typeface="JetBrains Mono" pitchFamily="49" charset="-122"/>
                <a:cs typeface="JetBrains Mono" pitchFamily="49" charset="-120"/>
              </a:rPr>
              <a:t>b</a:t>
            </a:r>
            <a:endParaRPr lang="en-US" sz="1600" dirty="0"/>
          </a:p>
        </p:txBody>
      </p:sp>
      <p:sp>
        <p:nvSpPr>
          <p:cNvPr id="17" name="Text 14"/>
          <p:cNvSpPr/>
          <p:nvPr/>
        </p:nvSpPr>
        <p:spPr>
          <a:xfrm>
            <a:off x="9385300" y="2996009"/>
            <a:ext cx="431800" cy="279400"/>
          </a:xfrm>
          <a:prstGeom prst="rect">
            <a:avLst/>
          </a:prstGeom>
          <a:noFill/>
          <a:ln/>
        </p:spPr>
        <p:txBody>
          <a:bodyPr wrap="square" lIns="0" tIns="0" rIns="0" bIns="0" rtlCol="0" anchor="t">
            <a:normAutofit/>
          </a:bodyPr>
          <a:lstStyle/>
          <a:p>
            <a:pPr algn="ctr" indent="0" marL="0">
              <a:lnSpc>
                <a:spcPts val="2000"/>
              </a:lnSpc>
              <a:buNone/>
            </a:pPr>
            <a:r>
              <a:rPr lang="en-US" sz="1600" dirty="0">
                <a:solidFill>
                  <a:srgbClr val="15212E"/>
                </a:solidFill>
                <a:latin typeface="JetBrains Mono" pitchFamily="49" charset="0"/>
                <a:ea typeface="JetBrains Mono" pitchFamily="49" charset="-122"/>
                <a:cs typeface="JetBrains Mono" pitchFamily="49" charset="-120"/>
              </a:rPr>
              <a:t>c</a:t>
            </a:r>
            <a:endParaRPr lang="en-US" sz="1600" dirty="0"/>
          </a:p>
        </p:txBody>
      </p:sp>
      <p:sp>
        <p:nvSpPr>
          <p:cNvPr id="18" name="Text 15"/>
          <p:cNvSpPr/>
          <p:nvPr/>
        </p:nvSpPr>
        <p:spPr>
          <a:xfrm>
            <a:off x="10782300" y="2996009"/>
            <a:ext cx="431800" cy="279400"/>
          </a:xfrm>
          <a:prstGeom prst="rect">
            <a:avLst/>
          </a:prstGeom>
          <a:noFill/>
          <a:ln/>
        </p:spPr>
        <p:txBody>
          <a:bodyPr wrap="square" lIns="0" tIns="0" rIns="0" bIns="0" rtlCol="0" anchor="t">
            <a:normAutofit/>
          </a:bodyPr>
          <a:lstStyle/>
          <a:p>
            <a:pPr algn="ctr" indent="0" marL="0">
              <a:lnSpc>
                <a:spcPts val="2000"/>
              </a:lnSpc>
              <a:buNone/>
            </a:pPr>
            <a:r>
              <a:rPr lang="en-US" sz="1600" dirty="0">
                <a:solidFill>
                  <a:srgbClr val="15212E"/>
                </a:solidFill>
                <a:latin typeface="JetBrains Mono" pitchFamily="49" charset="0"/>
                <a:ea typeface="JetBrains Mono" pitchFamily="49" charset="-122"/>
                <a:cs typeface="JetBrains Mono" pitchFamily="49" charset="-120"/>
              </a:rPr>
              <a:t>J</a:t>
            </a:r>
            <a:endParaRPr lang="en-US" sz="1600" dirty="0"/>
          </a:p>
        </p:txBody>
      </p:sp>
      <p:sp>
        <p:nvSpPr>
          <p:cNvPr id="19" name="Text 16"/>
          <p:cNvSpPr/>
          <p:nvPr/>
        </p:nvSpPr>
        <p:spPr>
          <a:xfrm>
            <a:off x="5448300" y="3770709"/>
            <a:ext cx="1320800"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F5FBF"/>
                </a:solidFill>
                <a:latin typeface="JetBrains Mono" pitchFamily="49" charset="0"/>
                <a:ea typeface="JetBrains Mono" pitchFamily="49" charset="-122"/>
                <a:cs typeface="JetBrains Mono" pitchFamily="49" charset="-120"/>
              </a:rPr>
              <a:t>∂a/∂x</a:t>
            </a:r>
            <a:endParaRPr lang="en-US" sz="1400" dirty="0"/>
          </a:p>
        </p:txBody>
      </p:sp>
      <p:sp>
        <p:nvSpPr>
          <p:cNvPr id="20" name="Text 17"/>
          <p:cNvSpPr/>
          <p:nvPr/>
        </p:nvSpPr>
        <p:spPr>
          <a:xfrm>
            <a:off x="6845300" y="3770709"/>
            <a:ext cx="1320800"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F5FBF"/>
                </a:solidFill>
                <a:latin typeface="JetBrains Mono" pitchFamily="49" charset="0"/>
                <a:ea typeface="JetBrains Mono" pitchFamily="49" charset="-122"/>
                <a:cs typeface="JetBrains Mono" pitchFamily="49" charset="-120"/>
              </a:rPr>
              <a:t>∂b/∂a</a:t>
            </a:r>
            <a:endParaRPr lang="en-US" sz="1400" dirty="0"/>
          </a:p>
        </p:txBody>
      </p:sp>
      <p:sp>
        <p:nvSpPr>
          <p:cNvPr id="21" name="Text 18"/>
          <p:cNvSpPr/>
          <p:nvPr/>
        </p:nvSpPr>
        <p:spPr>
          <a:xfrm>
            <a:off x="8242300" y="3770709"/>
            <a:ext cx="1320800"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F5FBF"/>
                </a:solidFill>
                <a:latin typeface="JetBrains Mono" pitchFamily="49" charset="0"/>
                <a:ea typeface="JetBrains Mono" pitchFamily="49" charset="-122"/>
                <a:cs typeface="JetBrains Mono" pitchFamily="49" charset="-120"/>
              </a:rPr>
              <a:t>∂c/∂b</a:t>
            </a:r>
            <a:endParaRPr lang="en-US" sz="1400" dirty="0"/>
          </a:p>
        </p:txBody>
      </p:sp>
      <p:sp>
        <p:nvSpPr>
          <p:cNvPr id="22" name="Text 19"/>
          <p:cNvSpPr/>
          <p:nvPr/>
        </p:nvSpPr>
        <p:spPr>
          <a:xfrm>
            <a:off x="9639300" y="3770709"/>
            <a:ext cx="1320800"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F5FBF"/>
                </a:solidFill>
                <a:latin typeface="JetBrains Mono" pitchFamily="49" charset="0"/>
                <a:ea typeface="JetBrains Mono" pitchFamily="49" charset="-122"/>
                <a:cs typeface="JetBrains Mono" pitchFamily="49" charset="-120"/>
              </a:rPr>
              <a:t>∂J/∂c</a:t>
            </a:r>
            <a:endParaRPr lang="en-US" sz="1400" dirty="0"/>
          </a:p>
        </p:txBody>
      </p:sp>
      <p:sp>
        <p:nvSpPr>
          <p:cNvPr id="23" name="Text 20"/>
          <p:cNvSpPr/>
          <p:nvPr/>
        </p:nvSpPr>
        <p:spPr>
          <a:xfrm>
            <a:off x="5032375" y="4294584"/>
            <a:ext cx="6343650" cy="586680"/>
          </a:xfrm>
          <a:prstGeom prst="roundRect">
            <a:avLst>
              <a:gd name="adj" fmla="val 14612"/>
            </a:avLst>
          </a:prstGeom>
          <a:solidFill>
            <a:srgbClr val="F2F5F8"/>
          </a:solidFill>
          <a:ln w="6350">
            <a:solidFill>
              <a:srgbClr val="D2D9E1"/>
            </a:solidFill>
            <a:prstDash val="solid"/>
          </a:ln>
        </p:spPr>
        <p:txBody>
          <a:bodyPr wrap="none" lIns="168567" tIns="130467" rIns="0" bIns="105067" rtlCol="0" anchor="t">
            <a:normAutofit/>
          </a:bodyPr>
          <a:lstStyle/>
          <a:p>
            <a:pPr algn="l" indent="0" marL="0">
              <a:lnSpc>
                <a:spcPts val="2170"/>
              </a:lnSpc>
              <a:buNone/>
            </a:pPr>
            <a:r>
              <a:rPr lang="en-US" sz="1400" dirty="0">
                <a:solidFill>
                  <a:srgbClr val="15212E"/>
                </a:solidFill>
                <a:latin typeface="JetBrains Mono" pitchFamily="49" charset="0"/>
                <a:ea typeface="JetBrains Mono" pitchFamily="49" charset="-122"/>
                <a:cs typeface="JetBrains Mono" pitchFamily="49" charset="-120"/>
              </a:rPr>
              <a:t>dy/dx = Σᵢ (∂y/∂uᵢ)(duᵢ/dx)</a:t>
            </a:r>
            <a:r>
              <a:rPr lang="en-US" sz="1400" dirty="0">
                <a:solidFill>
                  <a:srgbClr val="5B6878"/>
                </a:solidFill>
                <a:latin typeface="JetBrains Mono" pitchFamily="49" charset="0"/>
                <a:ea typeface="JetBrains Mono" pitchFamily="49" charset="-122"/>
                <a:cs typeface="JetBrains Mono" pitchFamily="49" charset="-120"/>
              </a:rPr>
              <a:t> paths add</a:t>
            </a:r>
            <a:endParaRPr lang="en-US" sz="1400" dirty="0"/>
          </a:p>
        </p:txBody>
      </p:sp>
      <p:sp>
        <p:nvSpPr>
          <p:cNvPr id="24" name="Text 21"/>
          <p:cNvSpPr/>
          <p:nvPr/>
        </p:nvSpPr>
        <p:spPr>
          <a:xfrm>
            <a:off x="812800" y="6281440"/>
            <a:ext cx="518017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2 · Learning: losses, backpropagation, gradient descent</a:t>
            </a:r>
            <a:endParaRPr lang="en-US" sz="1200" dirty="0"/>
          </a:p>
        </p:txBody>
      </p:sp>
      <p:sp>
        <p:nvSpPr>
          <p:cNvPr id="25" name="Text 22"/>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13 / 31</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§6 · BACKPROPAGATION</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Walking a one-unit network backward shows the error signal shrinking 6.7× in one layer.</a:t>
            </a:r>
            <a:endParaRPr lang="en-US" sz="2800" dirty="0"/>
          </a:p>
        </p:txBody>
      </p:sp>
      <p:pic>
        <p:nvPicPr>
          <p:cNvPr id="4" name="Image 0" descr="Worked example graph x, z1, a1, z2, a2, L with forward values above each node and backward gradients below, revealed one at a time">    </p:cNvPr>
          <p:cNvPicPr>
            <a:picLocks noChangeAspect="1"/>
          </p:cNvPicPr>
          <p:nvPr/>
        </p:nvPicPr>
        <p:blipFill>
          <a:blip r:embed="rId1"/>
          <a:srcRect l="-60" r="-60" t="0" b="0"/>
          <a:stretch/>
        </p:blipFill>
        <p:spPr>
          <a:xfrm>
            <a:off x="812800" y="2095500"/>
            <a:ext cx="10566400" cy="1968500"/>
          </a:xfrm>
          <a:prstGeom prst="rect">
            <a:avLst/>
          </a:prstGeom>
        </p:spPr>
      </p:pic>
      <p:sp>
        <p:nvSpPr>
          <p:cNvPr id="5" name="Text 2"/>
          <p:cNvSpPr/>
          <p:nvPr/>
        </p:nvSpPr>
        <p:spPr>
          <a:xfrm>
            <a:off x="800100" y="2768600"/>
            <a:ext cx="1295400" cy="263525"/>
          </a:xfrm>
          <a:prstGeom prst="rect">
            <a:avLst/>
          </a:prstGeom>
          <a:noFill/>
          <a:ln/>
        </p:spPr>
        <p:txBody>
          <a:bodyPr wrap="square" lIns="0" tIns="0" rIns="0" bIns="0" rtlCol="0" anchor="t">
            <a:normAutofit/>
          </a:bodyPr>
          <a:lstStyle/>
          <a:p>
            <a:pPr algn="ctr" indent="0" marL="0">
              <a:lnSpc>
                <a:spcPts val="1875"/>
              </a:lnSpc>
              <a:buNone/>
            </a:pPr>
            <a:r>
              <a:rPr lang="en-US" sz="1500" b="1" dirty="0">
                <a:solidFill>
                  <a:srgbClr val="15212E"/>
                </a:solidFill>
                <a:latin typeface="JetBrains Mono" pitchFamily="49" charset="0"/>
                <a:ea typeface="JetBrains Mono" pitchFamily="49" charset="-122"/>
                <a:cs typeface="JetBrains Mono" pitchFamily="49" charset="-120"/>
              </a:rPr>
              <a:t>x = 2.0</a:t>
            </a:r>
            <a:endParaRPr lang="en-US" sz="1500" dirty="0"/>
          </a:p>
        </p:txBody>
      </p:sp>
      <p:sp>
        <p:nvSpPr>
          <p:cNvPr id="6" name="Text 3"/>
          <p:cNvSpPr/>
          <p:nvPr/>
        </p:nvSpPr>
        <p:spPr>
          <a:xfrm>
            <a:off x="787400" y="2235200"/>
            <a:ext cx="1574800"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5B6878"/>
                </a:solidFill>
                <a:latin typeface="IBM Plex Sans" pitchFamily="34" charset="0"/>
                <a:ea typeface="IBM Plex Sans" pitchFamily="34" charset="-122"/>
                <a:cs typeface="IBM Plex Sans" pitchFamily="34" charset="-120"/>
              </a:rPr>
              <a:t>forward →</a:t>
            </a:r>
            <a:endParaRPr lang="en-US" sz="1400" dirty="0"/>
          </a:p>
        </p:txBody>
      </p:sp>
      <p:sp>
        <p:nvSpPr>
          <p:cNvPr id="7" name="Text 4"/>
          <p:cNvSpPr/>
          <p:nvPr/>
        </p:nvSpPr>
        <p:spPr>
          <a:xfrm>
            <a:off x="786130" y="3289300"/>
            <a:ext cx="183134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IBM Plex Sans" pitchFamily="34" charset="0"/>
                <a:ea typeface="IBM Plex Sans" pitchFamily="34" charset="-122"/>
                <a:cs typeface="IBM Plex Sans" pitchFamily="34" charset="-120"/>
              </a:rPr>
              <a:t>← backward</a:t>
            </a:r>
            <a:endParaRPr lang="en-US" sz="1300" dirty="0"/>
          </a:p>
        </p:txBody>
      </p:sp>
      <p:sp>
        <p:nvSpPr>
          <p:cNvPr id="8" name="Text 5"/>
          <p:cNvSpPr/>
          <p:nvPr/>
        </p:nvSpPr>
        <p:spPr>
          <a:xfrm>
            <a:off x="2654300" y="2768600"/>
            <a:ext cx="1295400" cy="263525"/>
          </a:xfrm>
          <a:prstGeom prst="rect">
            <a:avLst/>
          </a:prstGeom>
          <a:noFill/>
          <a:ln/>
        </p:spPr>
        <p:txBody>
          <a:bodyPr wrap="square" lIns="0" tIns="0" rIns="0" bIns="0" rtlCol="0" anchor="t">
            <a:normAutofit/>
          </a:bodyPr>
          <a:lstStyle/>
          <a:p>
            <a:pPr algn="ctr" indent="0" marL="0">
              <a:lnSpc>
                <a:spcPts val="1875"/>
              </a:lnSpc>
              <a:buNone/>
            </a:pPr>
            <a:r>
              <a:rPr lang="en-US" sz="1500" b="1" dirty="0">
                <a:solidFill>
                  <a:srgbClr val="15212E"/>
                </a:solidFill>
                <a:latin typeface="JetBrains Mono" pitchFamily="49" charset="0"/>
                <a:ea typeface="JetBrains Mono" pitchFamily="49" charset="-122"/>
                <a:cs typeface="JetBrains Mono" pitchFamily="49" charset="-120"/>
              </a:rPr>
              <a:t>z₁</a:t>
            </a:r>
            <a:endParaRPr lang="en-US" sz="1500" dirty="0"/>
          </a:p>
        </p:txBody>
      </p:sp>
      <p:sp>
        <p:nvSpPr>
          <p:cNvPr id="9" name="Text 6"/>
          <p:cNvSpPr/>
          <p:nvPr/>
        </p:nvSpPr>
        <p:spPr>
          <a:xfrm>
            <a:off x="2514600" y="2235200"/>
            <a:ext cx="1574800"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5212E"/>
                </a:solidFill>
                <a:latin typeface="JetBrains Mono" pitchFamily="49" charset="0"/>
                <a:ea typeface="JetBrains Mono" pitchFamily="49" charset="-122"/>
                <a:cs typeface="JetBrains Mono" pitchFamily="49" charset="-120"/>
              </a:rPr>
              <a:t>1.1</a:t>
            </a:r>
            <a:endParaRPr lang="en-US" sz="1400" dirty="0"/>
          </a:p>
        </p:txBody>
      </p:sp>
      <p:sp>
        <p:nvSpPr>
          <p:cNvPr id="10" name="Text 7"/>
          <p:cNvSpPr/>
          <p:nvPr/>
        </p:nvSpPr>
        <p:spPr>
          <a:xfrm>
            <a:off x="2386330" y="3289300"/>
            <a:ext cx="183134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1F5FBF"/>
                </a:solidFill>
                <a:latin typeface="JetBrains Mono" pitchFamily="49" charset="0"/>
                <a:ea typeface="JetBrains Mono" pitchFamily="49" charset="-122"/>
                <a:cs typeface="JetBrains Mono" pitchFamily="49" charset="-120"/>
              </a:rPr>
              <a:t>δ₁ = −0.0156</a:t>
            </a:r>
            <a:endParaRPr lang="en-US" sz="1300" dirty="0"/>
          </a:p>
        </p:txBody>
      </p:sp>
      <p:sp>
        <p:nvSpPr>
          <p:cNvPr id="11" name="Text 8"/>
          <p:cNvSpPr/>
          <p:nvPr/>
        </p:nvSpPr>
        <p:spPr>
          <a:xfrm>
            <a:off x="4508500" y="2768600"/>
            <a:ext cx="1295400" cy="263525"/>
          </a:xfrm>
          <a:prstGeom prst="rect">
            <a:avLst/>
          </a:prstGeom>
          <a:noFill/>
          <a:ln/>
        </p:spPr>
        <p:txBody>
          <a:bodyPr wrap="square" lIns="0" tIns="0" rIns="0" bIns="0" rtlCol="0" anchor="t">
            <a:normAutofit/>
          </a:bodyPr>
          <a:lstStyle/>
          <a:p>
            <a:pPr algn="ctr" indent="0" marL="0">
              <a:lnSpc>
                <a:spcPts val="1875"/>
              </a:lnSpc>
              <a:buNone/>
            </a:pPr>
            <a:r>
              <a:rPr lang="en-US" sz="1500" b="1" dirty="0">
                <a:solidFill>
                  <a:srgbClr val="15212E"/>
                </a:solidFill>
                <a:latin typeface="JetBrains Mono" pitchFamily="49" charset="0"/>
                <a:ea typeface="JetBrains Mono" pitchFamily="49" charset="-122"/>
                <a:cs typeface="JetBrains Mono" pitchFamily="49" charset="-120"/>
              </a:rPr>
              <a:t>a₁</a:t>
            </a:r>
            <a:endParaRPr lang="en-US" sz="1500" dirty="0"/>
          </a:p>
        </p:txBody>
      </p:sp>
      <p:sp>
        <p:nvSpPr>
          <p:cNvPr id="12" name="Text 9"/>
          <p:cNvSpPr/>
          <p:nvPr/>
        </p:nvSpPr>
        <p:spPr>
          <a:xfrm>
            <a:off x="4368800" y="2235200"/>
            <a:ext cx="1574800"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5212E"/>
                </a:solidFill>
                <a:latin typeface="JetBrains Mono" pitchFamily="49" charset="0"/>
                <a:ea typeface="JetBrains Mono" pitchFamily="49" charset="-122"/>
                <a:cs typeface="JetBrains Mono" pitchFamily="49" charset="-120"/>
              </a:rPr>
              <a:t>0.7503</a:t>
            </a:r>
            <a:endParaRPr lang="en-US" sz="1400" dirty="0"/>
          </a:p>
        </p:txBody>
      </p:sp>
      <p:sp>
        <p:nvSpPr>
          <p:cNvPr id="13" name="Text 10"/>
          <p:cNvSpPr/>
          <p:nvPr/>
        </p:nvSpPr>
        <p:spPr>
          <a:xfrm>
            <a:off x="4240530" y="3289300"/>
            <a:ext cx="183134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1F5FBF"/>
                </a:solidFill>
                <a:latin typeface="JetBrains Mono" pitchFamily="49" charset="0"/>
                <a:ea typeface="JetBrains Mono" pitchFamily="49" charset="-122"/>
                <a:cs typeface="JetBrains Mono" pitchFamily="49" charset="-120"/>
              </a:rPr>
              <a:t>∂L/∂a₁ = −0.0832</a:t>
            </a:r>
            <a:endParaRPr lang="en-US" sz="1300" dirty="0"/>
          </a:p>
        </p:txBody>
      </p:sp>
      <p:sp>
        <p:nvSpPr>
          <p:cNvPr id="14" name="Text 11"/>
          <p:cNvSpPr/>
          <p:nvPr/>
        </p:nvSpPr>
        <p:spPr>
          <a:xfrm>
            <a:off x="6362700" y="2768600"/>
            <a:ext cx="1295400" cy="263525"/>
          </a:xfrm>
          <a:prstGeom prst="rect">
            <a:avLst/>
          </a:prstGeom>
          <a:noFill/>
          <a:ln/>
        </p:spPr>
        <p:txBody>
          <a:bodyPr wrap="square" lIns="0" tIns="0" rIns="0" bIns="0" rtlCol="0" anchor="t">
            <a:normAutofit/>
          </a:bodyPr>
          <a:lstStyle/>
          <a:p>
            <a:pPr algn="ctr" indent="0" marL="0">
              <a:lnSpc>
                <a:spcPts val="1875"/>
              </a:lnSpc>
              <a:buNone/>
            </a:pPr>
            <a:r>
              <a:rPr lang="en-US" sz="1500" b="1" dirty="0">
                <a:solidFill>
                  <a:srgbClr val="15212E"/>
                </a:solidFill>
                <a:latin typeface="JetBrains Mono" pitchFamily="49" charset="0"/>
                <a:ea typeface="JetBrains Mono" pitchFamily="49" charset="-122"/>
                <a:cs typeface="JetBrains Mono" pitchFamily="49" charset="-120"/>
              </a:rPr>
              <a:t>z₂</a:t>
            </a:r>
            <a:endParaRPr lang="en-US" sz="1500" dirty="0"/>
          </a:p>
        </p:txBody>
      </p:sp>
      <p:sp>
        <p:nvSpPr>
          <p:cNvPr id="15" name="Text 12"/>
          <p:cNvSpPr/>
          <p:nvPr/>
        </p:nvSpPr>
        <p:spPr>
          <a:xfrm>
            <a:off x="6223000" y="2235200"/>
            <a:ext cx="1574800"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5212E"/>
                </a:solidFill>
                <a:latin typeface="JetBrains Mono" pitchFamily="49" charset="0"/>
                <a:ea typeface="JetBrains Mono" pitchFamily="49" charset="-122"/>
                <a:cs typeface="JetBrains Mono" pitchFamily="49" charset="-120"/>
              </a:rPr>
              <a:t>0.3002</a:t>
            </a:r>
            <a:endParaRPr lang="en-US" sz="1400" dirty="0"/>
          </a:p>
        </p:txBody>
      </p:sp>
      <p:sp>
        <p:nvSpPr>
          <p:cNvPr id="16" name="Text 13"/>
          <p:cNvSpPr/>
          <p:nvPr/>
        </p:nvSpPr>
        <p:spPr>
          <a:xfrm>
            <a:off x="6094730" y="3289300"/>
            <a:ext cx="183134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1F5FBF"/>
                </a:solidFill>
                <a:latin typeface="JetBrains Mono" pitchFamily="49" charset="0"/>
                <a:ea typeface="JetBrains Mono" pitchFamily="49" charset="-122"/>
                <a:cs typeface="JetBrains Mono" pitchFamily="49" charset="-120"/>
              </a:rPr>
              <a:t>δ₂ = −0.1040</a:t>
            </a:r>
            <a:endParaRPr lang="en-US" sz="1300" dirty="0"/>
          </a:p>
        </p:txBody>
      </p:sp>
      <p:sp>
        <p:nvSpPr>
          <p:cNvPr id="17" name="Text 14"/>
          <p:cNvSpPr/>
          <p:nvPr/>
        </p:nvSpPr>
        <p:spPr>
          <a:xfrm>
            <a:off x="8216900" y="2768600"/>
            <a:ext cx="1295400" cy="263525"/>
          </a:xfrm>
          <a:prstGeom prst="rect">
            <a:avLst/>
          </a:prstGeom>
          <a:noFill/>
          <a:ln/>
        </p:spPr>
        <p:txBody>
          <a:bodyPr wrap="square" lIns="0" tIns="0" rIns="0" bIns="0" rtlCol="0" anchor="t">
            <a:normAutofit/>
          </a:bodyPr>
          <a:lstStyle/>
          <a:p>
            <a:pPr algn="ctr" indent="0" marL="0">
              <a:lnSpc>
                <a:spcPts val="1875"/>
              </a:lnSpc>
              <a:buNone/>
            </a:pPr>
            <a:r>
              <a:rPr lang="en-US" sz="1500" b="1" dirty="0">
                <a:solidFill>
                  <a:srgbClr val="15212E"/>
                </a:solidFill>
                <a:latin typeface="JetBrains Mono" pitchFamily="49" charset="0"/>
                <a:ea typeface="JetBrains Mono" pitchFamily="49" charset="-122"/>
                <a:cs typeface="JetBrains Mono" pitchFamily="49" charset="-120"/>
              </a:rPr>
              <a:t>a₂</a:t>
            </a:r>
            <a:endParaRPr lang="en-US" sz="1500" dirty="0"/>
          </a:p>
        </p:txBody>
      </p:sp>
      <p:sp>
        <p:nvSpPr>
          <p:cNvPr id="18" name="Text 15"/>
          <p:cNvSpPr/>
          <p:nvPr/>
        </p:nvSpPr>
        <p:spPr>
          <a:xfrm>
            <a:off x="8077200" y="2235200"/>
            <a:ext cx="1574800"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5212E"/>
                </a:solidFill>
                <a:latin typeface="JetBrains Mono" pitchFamily="49" charset="0"/>
                <a:ea typeface="JetBrains Mono" pitchFamily="49" charset="-122"/>
                <a:cs typeface="JetBrains Mono" pitchFamily="49" charset="-120"/>
              </a:rPr>
              <a:t>0.5745</a:t>
            </a:r>
            <a:endParaRPr lang="en-US" sz="1400" dirty="0"/>
          </a:p>
        </p:txBody>
      </p:sp>
      <p:sp>
        <p:nvSpPr>
          <p:cNvPr id="19" name="Text 16"/>
          <p:cNvSpPr/>
          <p:nvPr/>
        </p:nvSpPr>
        <p:spPr>
          <a:xfrm>
            <a:off x="7948930" y="3289300"/>
            <a:ext cx="183134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1F5FBF"/>
                </a:solidFill>
                <a:latin typeface="JetBrains Mono" pitchFamily="49" charset="0"/>
                <a:ea typeface="JetBrains Mono" pitchFamily="49" charset="-122"/>
                <a:cs typeface="JetBrains Mono" pitchFamily="49" charset="-120"/>
              </a:rPr>
              <a:t>∂L/∂a₂ = −0.4255</a:t>
            </a:r>
            <a:endParaRPr lang="en-US" sz="1300" dirty="0"/>
          </a:p>
        </p:txBody>
      </p:sp>
      <p:sp>
        <p:nvSpPr>
          <p:cNvPr id="20" name="Text 17"/>
          <p:cNvSpPr/>
          <p:nvPr/>
        </p:nvSpPr>
        <p:spPr>
          <a:xfrm>
            <a:off x="10071100" y="2768600"/>
            <a:ext cx="1295400" cy="263525"/>
          </a:xfrm>
          <a:prstGeom prst="rect">
            <a:avLst/>
          </a:prstGeom>
          <a:noFill/>
          <a:ln/>
        </p:spPr>
        <p:txBody>
          <a:bodyPr wrap="square" lIns="0" tIns="0" rIns="0" bIns="0" rtlCol="0" anchor="t">
            <a:normAutofit/>
          </a:bodyPr>
          <a:lstStyle/>
          <a:p>
            <a:pPr algn="ctr" indent="0" marL="0">
              <a:lnSpc>
                <a:spcPts val="1875"/>
              </a:lnSpc>
              <a:buNone/>
            </a:pPr>
            <a:r>
              <a:rPr lang="en-US" sz="1500" b="1" dirty="0">
                <a:solidFill>
                  <a:srgbClr val="15212E"/>
                </a:solidFill>
                <a:latin typeface="JetBrains Mono" pitchFamily="49" charset="0"/>
                <a:ea typeface="JetBrains Mono" pitchFamily="49" charset="-122"/>
                <a:cs typeface="JetBrains Mono" pitchFamily="49" charset="-120"/>
              </a:rPr>
              <a:t>L</a:t>
            </a:r>
            <a:endParaRPr lang="en-US" sz="1500" dirty="0"/>
          </a:p>
        </p:txBody>
      </p:sp>
      <p:sp>
        <p:nvSpPr>
          <p:cNvPr id="21" name="Text 18"/>
          <p:cNvSpPr/>
          <p:nvPr/>
        </p:nvSpPr>
        <p:spPr>
          <a:xfrm>
            <a:off x="9829800" y="2235200"/>
            <a:ext cx="1574800"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5212E"/>
                </a:solidFill>
                <a:latin typeface="JetBrains Mono" pitchFamily="49" charset="0"/>
                <a:ea typeface="JetBrains Mono" pitchFamily="49" charset="-122"/>
                <a:cs typeface="JetBrains Mono" pitchFamily="49" charset="-120"/>
              </a:rPr>
              <a:t>0.0905</a:t>
            </a:r>
            <a:endParaRPr lang="en-US" sz="1400" dirty="0"/>
          </a:p>
        </p:txBody>
      </p:sp>
      <p:sp>
        <p:nvSpPr>
          <p:cNvPr id="22" name="Text 19"/>
          <p:cNvSpPr/>
          <p:nvPr/>
        </p:nvSpPr>
        <p:spPr>
          <a:xfrm>
            <a:off x="1426528" y="3733800"/>
            <a:ext cx="1896745"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3D4A59"/>
                </a:solidFill>
                <a:latin typeface="JetBrains Mono" pitchFamily="49" charset="0"/>
                <a:ea typeface="JetBrains Mono" pitchFamily="49" charset="-122"/>
                <a:cs typeface="JetBrains Mono" pitchFamily="49" charset="-120"/>
              </a:rPr>
              <a:t>w₁ = 0.5, b₁ = 0.1</a:t>
            </a:r>
            <a:endParaRPr lang="en-US" sz="1300" dirty="0"/>
          </a:p>
        </p:txBody>
      </p:sp>
      <p:sp>
        <p:nvSpPr>
          <p:cNvPr id="23" name="Text 20"/>
          <p:cNvSpPr/>
          <p:nvPr/>
        </p:nvSpPr>
        <p:spPr>
          <a:xfrm>
            <a:off x="5134928" y="3733800"/>
            <a:ext cx="1896745" cy="438150"/>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3D4A59"/>
                </a:solidFill>
                <a:latin typeface="JetBrains Mono" pitchFamily="49" charset="0"/>
                <a:ea typeface="JetBrains Mono" pitchFamily="49" charset="-122"/>
                <a:cs typeface="JetBrains Mono" pitchFamily="49" charset="-120"/>
              </a:rPr>
              <a:t>w₂ = 0.8, b₂ = −0.3</a:t>
            </a:r>
            <a:endParaRPr lang="en-US" sz="1300" dirty="0"/>
          </a:p>
        </p:txBody>
      </p:sp>
      <p:sp>
        <p:nvSpPr>
          <p:cNvPr id="24" name="Text 21"/>
          <p:cNvSpPr/>
          <p:nvPr/>
        </p:nvSpPr>
        <p:spPr>
          <a:xfrm>
            <a:off x="8547100" y="3733800"/>
            <a:ext cx="25146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3D4A59"/>
                </a:solidFill>
                <a:latin typeface="JetBrains Mono" pitchFamily="49" charset="0"/>
                <a:ea typeface="JetBrains Mono" pitchFamily="49" charset="-122"/>
                <a:cs typeface="JetBrains Mono" pitchFamily="49" charset="-120"/>
              </a:rPr>
              <a:t>L = ½(a₂ − y)², y = 1</a:t>
            </a:r>
            <a:endParaRPr lang="en-US" sz="1300" dirty="0"/>
          </a:p>
        </p:txBody>
      </p:sp>
      <p:sp>
        <p:nvSpPr>
          <p:cNvPr id="25" name="Text 22"/>
          <p:cNvSpPr/>
          <p:nvPr/>
        </p:nvSpPr>
        <p:spPr>
          <a:xfrm>
            <a:off x="815975" y="4295775"/>
            <a:ext cx="5200650" cy="1327150"/>
          </a:xfrm>
          <a:prstGeom prst="roundRect">
            <a:avLst>
              <a:gd name="adj" fmla="val 5502"/>
            </a:avLst>
          </a:prstGeom>
          <a:solidFill>
            <a:srgbClr val="F2F5F8"/>
          </a:solidFill>
          <a:ln w="6350">
            <a:solidFill>
              <a:srgbClr val="D2D9E1"/>
            </a:solidFill>
            <a:prstDash val="solid"/>
          </a:ln>
        </p:spPr>
        <p:txBody>
          <a:bodyPr wrap="none" lIns="146887" tIns="108787" rIns="964" bIns="83387" rtlCol="0" anchor="t">
            <a:normAutofit/>
          </a:bodyPr>
          <a:lstStyle/>
          <a:p>
            <a:pPr algn="l" indent="0" marL="0">
              <a:lnSpc>
                <a:spcPts val="2100"/>
              </a:lnSpc>
              <a:buNone/>
            </a:pPr>
            <a:r>
              <a:rPr lang="en-US" sz="1400" dirty="0">
                <a:solidFill>
                  <a:srgbClr val="15212E"/>
                </a:solidFill>
                <a:latin typeface="JetBrains Mono" pitchFamily="49" charset="0"/>
                <a:ea typeface="JetBrains Mono" pitchFamily="49" charset="-122"/>
                <a:cs typeface="JetBrains Mono" pitchFamily="49" charset="-120"/>
              </a:rPr>
              <a:t>∂L/∂w₂ = δ₂ · a₁ = −0.0780</a:t>
            </a:r>
            <a:endParaRPr lang="en-US" sz="1400" dirty="0"/>
          </a:p>
          <a:p>
            <a:pPr algn="l" indent="0" marL="0">
              <a:lnSpc>
                <a:spcPts val="2100"/>
              </a:lnSpc>
              <a:buNone/>
            </a:pPr>
            <a:r>
              <a:rPr lang="en-US" sz="1400" dirty="0">
                <a:solidFill>
                  <a:srgbClr val="15212E"/>
                </a:solidFill>
                <a:latin typeface="JetBrains Mono" pitchFamily="49" charset="0"/>
                <a:ea typeface="JetBrains Mono" pitchFamily="49" charset="-122"/>
                <a:cs typeface="JetBrains Mono" pitchFamily="49" charset="-120"/>
              </a:rPr>
              <a:t>∂L/∂b₂ = δ₂ = −0.1040</a:t>
            </a:r>
            <a:endParaRPr lang="en-US" sz="1400" dirty="0"/>
          </a:p>
          <a:p>
            <a:pPr algn="l" indent="0" marL="0">
              <a:lnSpc>
                <a:spcPts val="2100"/>
              </a:lnSpc>
              <a:buNone/>
            </a:pPr>
            <a:r>
              <a:rPr lang="en-US" sz="1400" dirty="0">
                <a:solidFill>
                  <a:srgbClr val="15212E"/>
                </a:solidFill>
                <a:latin typeface="JetBrains Mono" pitchFamily="49" charset="0"/>
                <a:ea typeface="JetBrains Mono" pitchFamily="49" charset="-122"/>
                <a:cs typeface="JetBrains Mono" pitchFamily="49" charset="-120"/>
              </a:rPr>
              <a:t>∂L/∂w₁ = δ₁ · x = −0.0312</a:t>
            </a:r>
            <a:endParaRPr lang="en-US" sz="1400" dirty="0"/>
          </a:p>
          <a:p>
            <a:pPr algn="l" indent="0" marL="0">
              <a:lnSpc>
                <a:spcPts val="2100"/>
              </a:lnSpc>
              <a:buNone/>
            </a:pPr>
            <a:r>
              <a:rPr lang="en-US" sz="1400" dirty="0">
                <a:solidFill>
                  <a:srgbClr val="15212E"/>
                </a:solidFill>
                <a:latin typeface="JetBrains Mono" pitchFamily="49" charset="0"/>
                <a:ea typeface="JetBrains Mono" pitchFamily="49" charset="-122"/>
                <a:cs typeface="JetBrains Mono" pitchFamily="49" charset="-120"/>
              </a:rPr>
              <a:t>∂L/∂b₁ = δ₁ = −0.0156</a:t>
            </a:r>
            <a:endParaRPr lang="en-US" sz="1400" dirty="0"/>
          </a:p>
        </p:txBody>
      </p:sp>
      <p:sp>
        <p:nvSpPr>
          <p:cNvPr id="26" name="Text 23"/>
          <p:cNvSpPr/>
          <p:nvPr/>
        </p:nvSpPr>
        <p:spPr>
          <a:xfrm>
            <a:off x="6429375" y="4295775"/>
            <a:ext cx="4946650" cy="786011"/>
          </a:xfrm>
          <a:prstGeom prst="roundRect">
            <a:avLst>
              <a:gd name="adj" fmla="val 9291"/>
            </a:avLst>
          </a:prstGeom>
          <a:solidFill>
            <a:srgbClr val="E4EEFB"/>
          </a:solidFill>
          <a:ln w="6350">
            <a:solidFill>
              <a:srgbClr val="E4EEFB"/>
            </a:solidFill>
            <a:prstDash val="solid"/>
          </a:ln>
        </p:spPr>
        <p:txBody>
          <a:bodyPr wrap="square" lIns="146887" tIns="108787" rIns="8584" bIns="83387"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Pattern.</a:t>
            </a:r>
            <a:r>
              <a:rPr lang="en-US" sz="1500" dirty="0">
                <a:solidFill>
                  <a:srgbClr val="15212E"/>
                </a:solidFill>
                <a:latin typeface="IBM Plex Sans" pitchFamily="34" charset="0"/>
                <a:ea typeface="IBM Plex Sans" pitchFamily="34" charset="-122"/>
                <a:cs typeface="IBM Plex Sans" pitchFamily="34" charset="-120"/>
              </a:rPr>
              <a:t> Weight gradient = error at its output × activation at its input. Bias gradient = the error itself.</a:t>
            </a:r>
            <a:endParaRPr lang="en-US" sz="1500" dirty="0"/>
          </a:p>
        </p:txBody>
      </p:sp>
      <p:sp>
        <p:nvSpPr>
          <p:cNvPr id="27" name="Text 24"/>
          <p:cNvSpPr/>
          <p:nvPr/>
        </p:nvSpPr>
        <p:spPr>
          <a:xfrm>
            <a:off x="6426200" y="5384800"/>
            <a:ext cx="5101590"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A04F00"/>
                </a:solidFill>
                <a:latin typeface="IBM Plex Sans" pitchFamily="34" charset="0"/>
                <a:ea typeface="IBM Plex Sans" pitchFamily="34" charset="-122"/>
                <a:cs typeface="IBM Plex Sans" pitchFamily="34" charset="-120"/>
              </a:rPr>
              <a:t>δ shrank 6.7× in one layer because σ′ ≤ 0.25.</a:t>
            </a:r>
            <a:endParaRPr lang="en-US" sz="1500" dirty="0"/>
          </a:p>
        </p:txBody>
      </p:sp>
      <p:sp>
        <p:nvSpPr>
          <p:cNvPr id="28" name="Text 25"/>
          <p:cNvSpPr/>
          <p:nvPr/>
        </p:nvSpPr>
        <p:spPr>
          <a:xfrm>
            <a:off x="812800" y="6281440"/>
            <a:ext cx="518017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2 · Learning: losses, backpropagation, gradient descent</a:t>
            </a:r>
            <a:endParaRPr lang="en-US" sz="1200" dirty="0"/>
          </a:p>
        </p:txBody>
      </p:sp>
      <p:sp>
        <p:nvSpPr>
          <p:cNvPr id="29" name="Text 26"/>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14 / 31</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§6 · BACKPROPAGATION</a:t>
            </a:r>
            <a:endParaRPr lang="en-US" sz="1200" dirty="0"/>
          </a:p>
        </p:txBody>
      </p:sp>
      <p:sp>
        <p:nvSpPr>
          <p:cNvPr id="3" name="Text 1"/>
          <p:cNvSpPr/>
          <p:nvPr>
            <p:ph type="title"/>
          </p:nvPr>
        </p:nvSpPr>
        <p:spPr>
          <a:xfrm>
            <a:off x="812800" y="1013420"/>
            <a:ext cx="11379200" cy="423664"/>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Four equations, BP1 to BP4, are the whole of backpropagation.</a:t>
            </a:r>
            <a:endParaRPr lang="en-US" sz="2800" dirty="0"/>
          </a:p>
        </p:txBody>
      </p:sp>
      <p:sp>
        <p:nvSpPr>
          <p:cNvPr id="4" name="Text 2"/>
          <p:cNvSpPr/>
          <p:nvPr/>
        </p:nvSpPr>
        <p:spPr>
          <a:xfrm>
            <a:off x="812800" y="1665684"/>
            <a:ext cx="10883392" cy="288230"/>
          </a:xfrm>
          <a:prstGeom prst="rect">
            <a:avLst/>
          </a:prstGeom>
          <a:noFill/>
          <a:ln/>
        </p:spPr>
        <p:txBody>
          <a:bodyPr wrap="square" lIns="0" tIns="0" rIns="0" bIns="0" rtlCol="0" anchor="t">
            <a:normAutofit/>
          </a:bodyPr>
          <a:lstStyle/>
          <a:p>
            <a:pPr algn="l" indent="0" marL="0">
              <a:lnSpc>
                <a:spcPts val="2070"/>
              </a:lnSpc>
              <a:buNone/>
            </a:pPr>
            <a:r>
              <a:rPr lang="en-US" sz="1500" dirty="0">
                <a:solidFill>
                  <a:srgbClr val="15212E"/>
                </a:solidFill>
                <a:latin typeface="IBM Plex Sans" pitchFamily="34" charset="0"/>
                <a:ea typeface="IBM Plex Sans" pitchFamily="34" charset="-122"/>
                <a:cs typeface="IBM Plex Sans" pitchFamily="34" charset="-120"/>
              </a:rPr>
              <a:t>The error signal δ[l] = ∂L/∂z[l] is defined on the pre-activation, so weight gradients fall out directly.</a:t>
            </a:r>
            <a:endParaRPr lang="en-US" sz="1500" dirty="0"/>
          </a:p>
        </p:txBody>
      </p:sp>
      <p:sp>
        <p:nvSpPr>
          <p:cNvPr id="5" name="Shape 3"/>
          <p:cNvSpPr/>
          <p:nvPr/>
        </p:nvSpPr>
        <p:spPr>
          <a:xfrm>
            <a:off x="815975" y="2109490"/>
            <a:ext cx="5200650" cy="1233587"/>
          </a:xfrm>
          <a:prstGeom prst="roundRect">
            <a:avLst>
              <a:gd name="adj" fmla="val 6949"/>
            </a:avLst>
          </a:prstGeom>
          <a:solidFill>
            <a:srgbClr val="FFFFFE"/>
          </a:solidFill>
          <a:ln w="6350">
            <a:solidFill>
              <a:srgbClr val="D2D9E1"/>
            </a:solidFill>
            <a:prstDash val="solid"/>
          </a:ln>
        </p:spPr>
      </p:sp>
      <p:sp>
        <p:nvSpPr>
          <p:cNvPr id="6" name="Text 4"/>
          <p:cNvSpPr/>
          <p:nvPr/>
        </p:nvSpPr>
        <p:spPr>
          <a:xfrm>
            <a:off x="1009650" y="2277765"/>
            <a:ext cx="495769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BP1 · OUTPUT ERROR</a:t>
            </a:r>
            <a:endParaRPr lang="en-US" sz="1200" dirty="0"/>
          </a:p>
        </p:txBody>
      </p:sp>
      <p:sp>
        <p:nvSpPr>
          <p:cNvPr id="7" name="Text 5"/>
          <p:cNvSpPr/>
          <p:nvPr/>
        </p:nvSpPr>
        <p:spPr>
          <a:xfrm>
            <a:off x="1009650" y="2579985"/>
            <a:ext cx="4957699" cy="289520"/>
          </a:xfrm>
          <a:prstGeom prst="rect">
            <a:avLst/>
          </a:prstGeom>
          <a:noFill/>
          <a:ln/>
        </p:spPr>
        <p:txBody>
          <a:bodyPr wrap="none" lIns="0" tIns="0" rIns="0" bIns="0" rtlCol="0" anchor="t">
            <a:normAutofit/>
          </a:bodyPr>
          <a:lstStyle/>
          <a:p>
            <a:pPr algn="l" indent="0" marL="0">
              <a:lnSpc>
                <a:spcPts val="2080"/>
              </a:lnSpc>
              <a:buNone/>
            </a:pPr>
            <a:r>
              <a:rPr lang="en-US" sz="1600" dirty="0">
                <a:solidFill>
                  <a:srgbClr val="15212E"/>
                </a:solidFill>
                <a:latin typeface="JetBrains Mono" pitchFamily="49" charset="0"/>
                <a:ea typeface="JetBrains Mono" pitchFamily="49" charset="-122"/>
                <a:cs typeface="JetBrains Mono" pitchFamily="49" charset="-120"/>
              </a:rPr>
              <a:t>δ[L] = ∇ₐL ⊙ g′(z[L])</a:t>
            </a:r>
            <a:endParaRPr lang="en-US" sz="1600" dirty="0"/>
          </a:p>
        </p:txBody>
      </p:sp>
      <p:sp>
        <p:nvSpPr>
          <p:cNvPr id="8" name="Text 6"/>
          <p:cNvSpPr/>
          <p:nvPr/>
        </p:nvSpPr>
        <p:spPr>
          <a:xfrm>
            <a:off x="1009650" y="2933005"/>
            <a:ext cx="4957699" cy="267196"/>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3D4A59"/>
                </a:solidFill>
                <a:latin typeface="IBM Plex Sans" pitchFamily="34" charset="0"/>
                <a:ea typeface="IBM Plex Sans" pitchFamily="34" charset="-122"/>
                <a:cs typeface="IBM Plex Sans" pitchFamily="34" charset="-120"/>
              </a:rPr>
              <a:t>Softmax with cross-entropy: δ[L] = a[L] − y.</a:t>
            </a:r>
            <a:endParaRPr lang="en-US" sz="1400" dirty="0"/>
          </a:p>
        </p:txBody>
      </p:sp>
      <p:sp>
        <p:nvSpPr>
          <p:cNvPr id="9" name="Shape 7"/>
          <p:cNvSpPr/>
          <p:nvPr/>
        </p:nvSpPr>
        <p:spPr>
          <a:xfrm>
            <a:off x="6175375" y="2109490"/>
            <a:ext cx="5200650" cy="1233587"/>
          </a:xfrm>
          <a:prstGeom prst="roundRect">
            <a:avLst>
              <a:gd name="adj" fmla="val 6949"/>
            </a:avLst>
          </a:prstGeom>
          <a:solidFill>
            <a:srgbClr val="FFFFFE"/>
          </a:solidFill>
          <a:ln w="6350">
            <a:solidFill>
              <a:srgbClr val="D2D9E1"/>
            </a:solidFill>
            <a:prstDash val="solid"/>
          </a:ln>
        </p:spPr>
      </p:sp>
      <p:sp>
        <p:nvSpPr>
          <p:cNvPr id="10" name="Text 8"/>
          <p:cNvSpPr/>
          <p:nvPr/>
        </p:nvSpPr>
        <p:spPr>
          <a:xfrm>
            <a:off x="6369050" y="2277765"/>
            <a:ext cx="495769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BP2 · PROPAGATE BACK</a:t>
            </a:r>
            <a:endParaRPr lang="en-US" sz="1200" dirty="0"/>
          </a:p>
        </p:txBody>
      </p:sp>
      <p:sp>
        <p:nvSpPr>
          <p:cNvPr id="11" name="Text 9"/>
          <p:cNvSpPr/>
          <p:nvPr/>
        </p:nvSpPr>
        <p:spPr>
          <a:xfrm>
            <a:off x="6369050" y="2579985"/>
            <a:ext cx="4957699" cy="289520"/>
          </a:xfrm>
          <a:prstGeom prst="rect">
            <a:avLst/>
          </a:prstGeom>
          <a:noFill/>
          <a:ln/>
        </p:spPr>
        <p:txBody>
          <a:bodyPr wrap="none" lIns="0" tIns="0" rIns="0" bIns="0" rtlCol="0" anchor="t">
            <a:normAutofit/>
          </a:bodyPr>
          <a:lstStyle/>
          <a:p>
            <a:pPr algn="l" indent="0" marL="0">
              <a:lnSpc>
                <a:spcPts val="2080"/>
              </a:lnSpc>
              <a:buNone/>
            </a:pPr>
            <a:r>
              <a:rPr lang="en-US" sz="1600" dirty="0">
                <a:solidFill>
                  <a:srgbClr val="15212E"/>
                </a:solidFill>
                <a:latin typeface="JetBrains Mono" pitchFamily="49" charset="0"/>
                <a:ea typeface="JetBrains Mono" pitchFamily="49" charset="-122"/>
                <a:cs typeface="JetBrains Mono" pitchFamily="49" charset="-120"/>
              </a:rPr>
              <a:t>δ[l] = (W[l+1]ᵀ δ[l+1]) ⊙ g′(z[l])</a:t>
            </a:r>
            <a:endParaRPr lang="en-US" sz="1600" dirty="0"/>
          </a:p>
        </p:txBody>
      </p:sp>
      <p:sp>
        <p:nvSpPr>
          <p:cNvPr id="12" name="Text 10"/>
          <p:cNvSpPr/>
          <p:nvPr/>
        </p:nvSpPr>
        <p:spPr>
          <a:xfrm>
            <a:off x="6369050" y="2933005"/>
            <a:ext cx="4957699" cy="267196"/>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3D4A59"/>
                </a:solidFill>
                <a:latin typeface="IBM Plex Sans" pitchFamily="34" charset="0"/>
                <a:ea typeface="IBM Plex Sans" pitchFamily="34" charset="-122"/>
                <a:cs typeface="IBM Plex Sans" pitchFamily="34" charset="-120"/>
              </a:rPr>
              <a:t>Send error back through Wᵀ, gated by g′.</a:t>
            </a:r>
            <a:endParaRPr lang="en-US" sz="1400" dirty="0"/>
          </a:p>
        </p:txBody>
      </p:sp>
      <p:sp>
        <p:nvSpPr>
          <p:cNvPr id="13" name="Shape 11"/>
          <p:cNvSpPr/>
          <p:nvPr/>
        </p:nvSpPr>
        <p:spPr>
          <a:xfrm>
            <a:off x="815975" y="3501827"/>
            <a:ext cx="5200650" cy="1233587"/>
          </a:xfrm>
          <a:prstGeom prst="roundRect">
            <a:avLst>
              <a:gd name="adj" fmla="val 6949"/>
            </a:avLst>
          </a:prstGeom>
          <a:solidFill>
            <a:srgbClr val="FFFFFE"/>
          </a:solidFill>
          <a:ln w="6350">
            <a:solidFill>
              <a:srgbClr val="D2D9E1"/>
            </a:solidFill>
            <a:prstDash val="solid"/>
          </a:ln>
        </p:spPr>
      </p:sp>
      <p:sp>
        <p:nvSpPr>
          <p:cNvPr id="14" name="Text 12"/>
          <p:cNvSpPr/>
          <p:nvPr/>
        </p:nvSpPr>
        <p:spPr>
          <a:xfrm>
            <a:off x="1009650" y="3670102"/>
            <a:ext cx="495769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BP3 · BIAS GRADIENT</a:t>
            </a:r>
            <a:endParaRPr lang="en-US" sz="1200" dirty="0"/>
          </a:p>
        </p:txBody>
      </p:sp>
      <p:sp>
        <p:nvSpPr>
          <p:cNvPr id="15" name="Text 13"/>
          <p:cNvSpPr/>
          <p:nvPr/>
        </p:nvSpPr>
        <p:spPr>
          <a:xfrm>
            <a:off x="1009650" y="3972322"/>
            <a:ext cx="4957699" cy="289520"/>
          </a:xfrm>
          <a:prstGeom prst="rect">
            <a:avLst/>
          </a:prstGeom>
          <a:noFill/>
          <a:ln/>
        </p:spPr>
        <p:txBody>
          <a:bodyPr wrap="none" lIns="0" tIns="0" rIns="0" bIns="0" rtlCol="0" anchor="t">
            <a:normAutofit/>
          </a:bodyPr>
          <a:lstStyle/>
          <a:p>
            <a:pPr algn="l" indent="0" marL="0">
              <a:lnSpc>
                <a:spcPts val="2080"/>
              </a:lnSpc>
              <a:buNone/>
            </a:pPr>
            <a:r>
              <a:rPr lang="en-US" sz="1600" dirty="0">
                <a:solidFill>
                  <a:srgbClr val="15212E"/>
                </a:solidFill>
                <a:latin typeface="JetBrains Mono" pitchFamily="49" charset="0"/>
                <a:ea typeface="JetBrains Mono" pitchFamily="49" charset="-122"/>
                <a:cs typeface="JetBrains Mono" pitchFamily="49" charset="-120"/>
              </a:rPr>
              <a:t>∂L/∂b[l] = δ[l]</a:t>
            </a:r>
            <a:endParaRPr lang="en-US" sz="1600" dirty="0"/>
          </a:p>
        </p:txBody>
      </p:sp>
      <p:sp>
        <p:nvSpPr>
          <p:cNvPr id="16" name="Text 14"/>
          <p:cNvSpPr/>
          <p:nvPr/>
        </p:nvSpPr>
        <p:spPr>
          <a:xfrm>
            <a:off x="1009650" y="4325342"/>
            <a:ext cx="4957699" cy="267196"/>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3D4A59"/>
                </a:solidFill>
                <a:latin typeface="IBM Plex Sans" pitchFamily="34" charset="0"/>
                <a:ea typeface="IBM Plex Sans" pitchFamily="34" charset="-122"/>
                <a:cs typeface="IBM Plex Sans" pitchFamily="34" charset="-120"/>
              </a:rPr>
              <a:t>Because ∂z[l]/∂b[l] = 1.</a:t>
            </a:r>
            <a:endParaRPr lang="en-US" sz="1400" dirty="0"/>
          </a:p>
        </p:txBody>
      </p:sp>
      <p:sp>
        <p:nvSpPr>
          <p:cNvPr id="17" name="Shape 15"/>
          <p:cNvSpPr/>
          <p:nvPr/>
        </p:nvSpPr>
        <p:spPr>
          <a:xfrm>
            <a:off x="6175375" y="3501827"/>
            <a:ext cx="5200650" cy="1233587"/>
          </a:xfrm>
          <a:prstGeom prst="roundRect">
            <a:avLst>
              <a:gd name="adj" fmla="val 6949"/>
            </a:avLst>
          </a:prstGeom>
          <a:solidFill>
            <a:srgbClr val="FFFFFE"/>
          </a:solidFill>
          <a:ln w="6350">
            <a:solidFill>
              <a:srgbClr val="D2D9E1"/>
            </a:solidFill>
            <a:prstDash val="solid"/>
          </a:ln>
        </p:spPr>
      </p:sp>
      <p:sp>
        <p:nvSpPr>
          <p:cNvPr id="18" name="Text 16"/>
          <p:cNvSpPr/>
          <p:nvPr/>
        </p:nvSpPr>
        <p:spPr>
          <a:xfrm>
            <a:off x="6369050" y="3670102"/>
            <a:ext cx="495769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BP4 · WEIGHT GRADIENT</a:t>
            </a:r>
            <a:endParaRPr lang="en-US" sz="1200" dirty="0"/>
          </a:p>
        </p:txBody>
      </p:sp>
      <p:sp>
        <p:nvSpPr>
          <p:cNvPr id="19" name="Text 17"/>
          <p:cNvSpPr/>
          <p:nvPr/>
        </p:nvSpPr>
        <p:spPr>
          <a:xfrm>
            <a:off x="6369050" y="3972322"/>
            <a:ext cx="4957699" cy="289520"/>
          </a:xfrm>
          <a:prstGeom prst="rect">
            <a:avLst/>
          </a:prstGeom>
          <a:noFill/>
          <a:ln/>
        </p:spPr>
        <p:txBody>
          <a:bodyPr wrap="none" lIns="0" tIns="0" rIns="0" bIns="0" rtlCol="0" anchor="t">
            <a:normAutofit/>
          </a:bodyPr>
          <a:lstStyle/>
          <a:p>
            <a:pPr algn="l" indent="0" marL="0">
              <a:lnSpc>
                <a:spcPts val="2080"/>
              </a:lnSpc>
              <a:buNone/>
            </a:pPr>
            <a:r>
              <a:rPr lang="en-US" sz="1600" dirty="0">
                <a:solidFill>
                  <a:srgbClr val="15212E"/>
                </a:solidFill>
                <a:latin typeface="JetBrains Mono" pitchFamily="49" charset="0"/>
                <a:ea typeface="JetBrains Mono" pitchFamily="49" charset="-122"/>
                <a:cs typeface="JetBrains Mono" pitchFamily="49" charset="-120"/>
              </a:rPr>
              <a:t>∂L/∂W[l] = δ[l] a[l−1]ᵀ</a:t>
            </a:r>
            <a:endParaRPr lang="en-US" sz="1600" dirty="0"/>
          </a:p>
        </p:txBody>
      </p:sp>
      <p:sp>
        <p:nvSpPr>
          <p:cNvPr id="20" name="Text 18"/>
          <p:cNvSpPr/>
          <p:nvPr/>
        </p:nvSpPr>
        <p:spPr>
          <a:xfrm>
            <a:off x="6369050" y="4325342"/>
            <a:ext cx="4957699" cy="267196"/>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3D4A59"/>
                </a:solidFill>
                <a:latin typeface="IBM Plex Sans" pitchFamily="34" charset="0"/>
                <a:ea typeface="IBM Plex Sans" pitchFamily="34" charset="-122"/>
                <a:cs typeface="IBM Plex Sans" pitchFamily="34" charset="-120"/>
              </a:rPr>
              <a:t>Outer product, shape (n[l], n[l−1]).</a:t>
            </a:r>
            <a:endParaRPr lang="en-US" sz="1400" dirty="0"/>
          </a:p>
        </p:txBody>
      </p:sp>
      <p:sp>
        <p:nvSpPr>
          <p:cNvPr id="21" name="Text 19"/>
          <p:cNvSpPr/>
          <p:nvPr/>
        </p:nvSpPr>
        <p:spPr>
          <a:xfrm>
            <a:off x="812800" y="6281440"/>
            <a:ext cx="518017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2 · Learning: losses, backpropagation, gradient descent</a:t>
            </a:r>
            <a:endParaRPr lang="en-US" sz="1200" dirty="0"/>
          </a:p>
        </p:txBody>
      </p:sp>
      <p:sp>
        <p:nvSpPr>
          <p:cNvPr id="22" name="Text 20"/>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15 / 31</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§6 · BACKPROPAGATION</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A saturated unit blocks the error, and an inactive input leaves its weight almost unchanged.</a:t>
            </a:r>
            <a:endParaRPr lang="en-US" sz="2800" dirty="0"/>
          </a:p>
        </p:txBody>
      </p:sp>
      <p:pic>
        <p:nvPicPr>
          <p:cNvPr id="4" name="Image 0" descr="Error signals from layer l+1 flow back through W-transpose into layer l, where each unit's derivative gates them; a saturated unit with g' near zero blocks its error">    </p:cNvPr>
          <p:cNvPicPr>
            <a:picLocks noChangeAspect="1"/>
          </p:cNvPicPr>
          <p:nvPr/>
        </p:nvPicPr>
        <p:blipFill>
          <a:blip r:embed="rId1"/>
          <a:srcRect l="0" r="0" t="0" b="0"/>
          <a:stretch/>
        </p:blipFill>
        <p:spPr>
          <a:xfrm>
            <a:off x="812800" y="2063948"/>
            <a:ext cx="5080000" cy="3429000"/>
          </a:xfrm>
          <a:prstGeom prst="rect">
            <a:avLst/>
          </a:prstGeom>
        </p:spPr>
      </p:pic>
      <p:sp>
        <p:nvSpPr>
          <p:cNvPr id="5" name="Text 2"/>
          <p:cNvSpPr/>
          <p:nvPr/>
        </p:nvSpPr>
        <p:spPr>
          <a:xfrm>
            <a:off x="2565400" y="2711648"/>
            <a:ext cx="812800"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5212E"/>
                </a:solidFill>
                <a:latin typeface="JetBrains Mono" pitchFamily="49" charset="0"/>
                <a:ea typeface="JetBrains Mono" pitchFamily="49" charset="-122"/>
                <a:cs typeface="JetBrains Mono" pitchFamily="49" charset="-120"/>
              </a:rPr>
              <a:t>⊙ g′</a:t>
            </a:r>
            <a:endParaRPr lang="en-US" sz="1400" dirty="0"/>
          </a:p>
        </p:txBody>
      </p:sp>
      <p:sp>
        <p:nvSpPr>
          <p:cNvPr id="6" name="Text 3"/>
          <p:cNvSpPr/>
          <p:nvPr/>
        </p:nvSpPr>
        <p:spPr>
          <a:xfrm>
            <a:off x="2514600" y="3105348"/>
            <a:ext cx="144780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3D4A59"/>
                </a:solidFill>
                <a:latin typeface="JetBrains Mono" pitchFamily="49" charset="0"/>
                <a:ea typeface="JetBrains Mono" pitchFamily="49" charset="-122"/>
                <a:cs typeface="JetBrains Mono" pitchFamily="49" charset="-120"/>
              </a:rPr>
              <a:t>g′ = 0.9</a:t>
            </a:r>
            <a:endParaRPr lang="en-US" sz="1300" dirty="0"/>
          </a:p>
        </p:txBody>
      </p:sp>
      <p:sp>
        <p:nvSpPr>
          <p:cNvPr id="7" name="Text 4"/>
          <p:cNvSpPr/>
          <p:nvPr/>
        </p:nvSpPr>
        <p:spPr>
          <a:xfrm>
            <a:off x="2565400" y="3664148"/>
            <a:ext cx="812800"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5212E"/>
                </a:solidFill>
                <a:latin typeface="JetBrains Mono" pitchFamily="49" charset="0"/>
                <a:ea typeface="JetBrains Mono" pitchFamily="49" charset="-122"/>
                <a:cs typeface="JetBrains Mono" pitchFamily="49" charset="-120"/>
              </a:rPr>
              <a:t>⊙ g′</a:t>
            </a:r>
            <a:endParaRPr lang="en-US" sz="1400" dirty="0"/>
          </a:p>
        </p:txBody>
      </p:sp>
      <p:sp>
        <p:nvSpPr>
          <p:cNvPr id="8" name="Text 5"/>
          <p:cNvSpPr/>
          <p:nvPr/>
        </p:nvSpPr>
        <p:spPr>
          <a:xfrm>
            <a:off x="2514600" y="4057848"/>
            <a:ext cx="144780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A04F00"/>
                </a:solidFill>
                <a:latin typeface="JetBrains Mono" pitchFamily="49" charset="0"/>
                <a:ea typeface="JetBrains Mono" pitchFamily="49" charset="-122"/>
                <a:cs typeface="JetBrains Mono" pitchFamily="49" charset="-120"/>
              </a:rPr>
              <a:t>g′ ≈ 0.02</a:t>
            </a:r>
            <a:endParaRPr lang="en-US" sz="1300" dirty="0"/>
          </a:p>
        </p:txBody>
      </p:sp>
      <p:sp>
        <p:nvSpPr>
          <p:cNvPr id="9" name="Text 6"/>
          <p:cNvSpPr/>
          <p:nvPr/>
        </p:nvSpPr>
        <p:spPr>
          <a:xfrm>
            <a:off x="2565400" y="4616648"/>
            <a:ext cx="812800"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15212E"/>
                </a:solidFill>
                <a:latin typeface="JetBrains Mono" pitchFamily="49" charset="0"/>
                <a:ea typeface="JetBrains Mono" pitchFamily="49" charset="-122"/>
                <a:cs typeface="JetBrains Mono" pitchFamily="49" charset="-120"/>
              </a:rPr>
              <a:t>⊙ g′</a:t>
            </a:r>
            <a:endParaRPr lang="en-US" sz="1400" dirty="0"/>
          </a:p>
        </p:txBody>
      </p:sp>
      <p:sp>
        <p:nvSpPr>
          <p:cNvPr id="10" name="Text 7"/>
          <p:cNvSpPr/>
          <p:nvPr/>
        </p:nvSpPr>
        <p:spPr>
          <a:xfrm>
            <a:off x="2514600" y="5010348"/>
            <a:ext cx="144780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3D4A59"/>
                </a:solidFill>
                <a:latin typeface="JetBrains Mono" pitchFamily="49" charset="0"/>
                <a:ea typeface="JetBrains Mono" pitchFamily="49" charset="-122"/>
                <a:cs typeface="JetBrains Mono" pitchFamily="49" charset="-120"/>
              </a:rPr>
              <a:t>g′ = 0.7</a:t>
            </a:r>
            <a:endParaRPr lang="en-US" sz="1300" dirty="0"/>
          </a:p>
        </p:txBody>
      </p:sp>
      <p:sp>
        <p:nvSpPr>
          <p:cNvPr id="11" name="Text 8"/>
          <p:cNvSpPr/>
          <p:nvPr/>
        </p:nvSpPr>
        <p:spPr>
          <a:xfrm>
            <a:off x="4660900" y="2171898"/>
            <a:ext cx="1066800" cy="263525"/>
          </a:xfrm>
          <a:prstGeom prst="rect">
            <a:avLst/>
          </a:prstGeom>
          <a:noFill/>
          <a:ln/>
        </p:spPr>
        <p:txBody>
          <a:bodyPr wrap="square" lIns="0" tIns="0" rIns="0" bIns="0" rtlCol="0" anchor="t">
            <a:normAutofit/>
          </a:bodyPr>
          <a:lstStyle/>
          <a:p>
            <a:pPr algn="ctr" indent="0" marL="0">
              <a:lnSpc>
                <a:spcPts val="1875"/>
              </a:lnSpc>
              <a:buNone/>
            </a:pPr>
            <a:r>
              <a:rPr lang="en-US" sz="1500" b="1" dirty="0">
                <a:solidFill>
                  <a:srgbClr val="15212E"/>
                </a:solidFill>
                <a:latin typeface="JetBrains Mono" pitchFamily="49" charset="0"/>
                <a:ea typeface="JetBrains Mono" pitchFamily="49" charset="-122"/>
                <a:cs typeface="JetBrains Mono" pitchFamily="49" charset="-120"/>
              </a:rPr>
              <a:t>δ[l+1]</a:t>
            </a:r>
            <a:endParaRPr lang="en-US" sz="1500" dirty="0"/>
          </a:p>
        </p:txBody>
      </p:sp>
      <p:sp>
        <p:nvSpPr>
          <p:cNvPr id="12" name="Text 9"/>
          <p:cNvSpPr/>
          <p:nvPr/>
        </p:nvSpPr>
        <p:spPr>
          <a:xfrm>
            <a:off x="914400" y="2171898"/>
            <a:ext cx="939800" cy="263525"/>
          </a:xfrm>
          <a:prstGeom prst="rect">
            <a:avLst/>
          </a:prstGeom>
          <a:noFill/>
          <a:ln/>
        </p:spPr>
        <p:txBody>
          <a:bodyPr wrap="square" lIns="0" tIns="0" rIns="0" bIns="0" rtlCol="0" anchor="t">
            <a:normAutofit/>
          </a:bodyPr>
          <a:lstStyle/>
          <a:p>
            <a:pPr algn="ctr" indent="0" marL="0">
              <a:lnSpc>
                <a:spcPts val="1875"/>
              </a:lnSpc>
              <a:buNone/>
            </a:pPr>
            <a:r>
              <a:rPr lang="en-US" sz="1500" b="1" dirty="0">
                <a:solidFill>
                  <a:srgbClr val="1F5FBF"/>
                </a:solidFill>
                <a:latin typeface="JetBrains Mono" pitchFamily="49" charset="0"/>
                <a:ea typeface="JetBrains Mono" pitchFamily="49" charset="-122"/>
                <a:cs typeface="JetBrains Mono" pitchFamily="49" charset="-120"/>
              </a:rPr>
              <a:t>δ[l]</a:t>
            </a:r>
            <a:endParaRPr lang="en-US" sz="1500" dirty="0"/>
          </a:p>
        </p:txBody>
      </p:sp>
      <p:sp>
        <p:nvSpPr>
          <p:cNvPr id="13" name="Text 10"/>
          <p:cNvSpPr/>
          <p:nvPr/>
        </p:nvSpPr>
        <p:spPr>
          <a:xfrm>
            <a:off x="3517900" y="2178248"/>
            <a:ext cx="1130300" cy="247650"/>
          </a:xfrm>
          <a:prstGeom prst="rect">
            <a:avLst/>
          </a:prstGeom>
          <a:noFill/>
          <a:ln/>
        </p:spPr>
        <p:txBody>
          <a:bodyPr wrap="square" lIns="0" tIns="0" rIns="0" bIns="0" rtlCol="0" anchor="t">
            <a:normAutofit/>
          </a:bodyPr>
          <a:lstStyle/>
          <a:p>
            <a:pPr algn="ctr" indent="0" marL="0">
              <a:lnSpc>
                <a:spcPts val="1750"/>
              </a:lnSpc>
              <a:buNone/>
            </a:pPr>
            <a:r>
              <a:rPr lang="en-US" sz="1400" dirty="0">
                <a:solidFill>
                  <a:srgbClr val="3D4A59"/>
                </a:solidFill>
                <a:latin typeface="JetBrains Mono" pitchFamily="49" charset="0"/>
                <a:ea typeface="JetBrains Mono" pitchFamily="49" charset="-122"/>
                <a:cs typeface="JetBrains Mono" pitchFamily="49" charset="-120"/>
              </a:rPr>
              <a:t>W[l+1]ᵀ</a:t>
            </a:r>
            <a:endParaRPr lang="en-US" sz="1400" dirty="0"/>
          </a:p>
        </p:txBody>
      </p:sp>
      <p:sp>
        <p:nvSpPr>
          <p:cNvPr id="14" name="Text 11"/>
          <p:cNvSpPr/>
          <p:nvPr/>
        </p:nvSpPr>
        <p:spPr>
          <a:xfrm>
            <a:off x="1701800" y="5238948"/>
            <a:ext cx="366268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A04F00"/>
                </a:solidFill>
                <a:latin typeface="IBM Plex Sans" pitchFamily="34" charset="0"/>
                <a:ea typeface="IBM Plex Sans" pitchFamily="34" charset="-122"/>
                <a:cs typeface="IBM Plex Sans" pitchFamily="34" charset="-120"/>
              </a:rPr>
              <a:t>saturated unit: its error is blocked</a:t>
            </a:r>
            <a:endParaRPr lang="en-US" sz="1300" dirty="0"/>
          </a:p>
        </p:txBody>
      </p:sp>
      <p:sp>
        <p:nvSpPr>
          <p:cNvPr id="15" name="Shape 12"/>
          <p:cNvSpPr/>
          <p:nvPr/>
        </p:nvSpPr>
        <p:spPr>
          <a:xfrm>
            <a:off x="6299200" y="2159198"/>
            <a:ext cx="63500" cy="63500"/>
          </a:xfrm>
          <a:prstGeom prst="roundRect">
            <a:avLst>
              <a:gd name="adj" fmla="val 20000"/>
            </a:avLst>
          </a:prstGeom>
          <a:solidFill>
            <a:srgbClr val="1F5FBF"/>
          </a:solidFill>
          <a:ln/>
        </p:spPr>
      </p:sp>
      <p:sp>
        <p:nvSpPr>
          <p:cNvPr id="16" name="Text 13"/>
          <p:cNvSpPr/>
          <p:nvPr/>
        </p:nvSpPr>
        <p:spPr>
          <a:xfrm>
            <a:off x="6502400" y="2063948"/>
            <a:ext cx="5023104" cy="55106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Why the transpose.</a:t>
            </a:r>
            <a:r>
              <a:rPr lang="en-US" sz="1500" dirty="0">
                <a:solidFill>
                  <a:srgbClr val="3D4A59"/>
                </a:solidFill>
                <a:latin typeface="IBM Plex Sans" pitchFamily="34" charset="0"/>
                <a:ea typeface="IBM Plex Sans" pitchFamily="34" charset="-122"/>
                <a:cs typeface="IBM Plex Sans" pitchFamily="34" charset="-120"/>
              </a:rPr>
              <a:t> Forward maps n[l] → n[l+1], so sending error back needs Wᵀ.</a:t>
            </a:r>
            <a:endParaRPr lang="en-US" sz="1500" dirty="0"/>
          </a:p>
        </p:txBody>
      </p:sp>
      <p:sp>
        <p:nvSpPr>
          <p:cNvPr id="17" name="Shape 14"/>
          <p:cNvSpPr/>
          <p:nvPr/>
        </p:nvSpPr>
        <p:spPr>
          <a:xfrm>
            <a:off x="6299200" y="2862659"/>
            <a:ext cx="63500" cy="63500"/>
          </a:xfrm>
          <a:prstGeom prst="roundRect">
            <a:avLst>
              <a:gd name="adj" fmla="val 20000"/>
            </a:avLst>
          </a:prstGeom>
          <a:solidFill>
            <a:srgbClr val="1F5FBF"/>
          </a:solidFill>
          <a:ln/>
        </p:spPr>
      </p:sp>
      <p:sp>
        <p:nvSpPr>
          <p:cNvPr id="18" name="Text 15"/>
          <p:cNvSpPr/>
          <p:nvPr/>
        </p:nvSpPr>
        <p:spPr>
          <a:xfrm>
            <a:off x="6502400" y="2767409"/>
            <a:ext cx="5023104" cy="55106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Why the gate.</a:t>
            </a:r>
            <a:r>
              <a:rPr lang="en-US" sz="1500" dirty="0">
                <a:solidFill>
                  <a:srgbClr val="3D4A59"/>
                </a:solidFill>
                <a:latin typeface="IBM Plex Sans" pitchFamily="34" charset="0"/>
                <a:ea typeface="IBM Plex Sans" pitchFamily="34" charset="-122"/>
                <a:cs typeface="IBM Plex Sans" pitchFamily="34" charset="-120"/>
              </a:rPr>
              <a:t> A saturated unit has g′ ≈ 0 and blocks the error.</a:t>
            </a:r>
            <a:endParaRPr lang="en-US" sz="1500" dirty="0"/>
          </a:p>
        </p:txBody>
      </p:sp>
      <p:sp>
        <p:nvSpPr>
          <p:cNvPr id="19" name="Shape 16"/>
          <p:cNvSpPr/>
          <p:nvPr/>
        </p:nvSpPr>
        <p:spPr>
          <a:xfrm>
            <a:off x="6299200" y="3566120"/>
            <a:ext cx="63500" cy="63500"/>
          </a:xfrm>
          <a:prstGeom prst="roundRect">
            <a:avLst>
              <a:gd name="adj" fmla="val 20000"/>
            </a:avLst>
          </a:prstGeom>
          <a:solidFill>
            <a:srgbClr val="1F5FBF"/>
          </a:solidFill>
          <a:ln/>
        </p:spPr>
      </p:sp>
      <p:sp>
        <p:nvSpPr>
          <p:cNvPr id="20" name="Text 17"/>
          <p:cNvSpPr/>
          <p:nvPr/>
        </p:nvSpPr>
        <p:spPr>
          <a:xfrm>
            <a:off x="6502400" y="3470870"/>
            <a:ext cx="5023104" cy="55106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BP4 by entry.</a:t>
            </a:r>
            <a:r>
              <a:rPr lang="en-US" sz="1500" dirty="0">
                <a:solidFill>
                  <a:srgbClr val="3D4A59"/>
                </a:solidFill>
                <a:latin typeface="IBM Plex Sans" pitchFamily="34" charset="0"/>
                <a:ea typeface="IBM Plex Sans" pitchFamily="34" charset="-122"/>
                <a:cs typeface="IBM Plex Sans" pitchFamily="34" charset="-120"/>
              </a:rPr>
              <a:t> ∂L/∂W[l]ⱼᵢ = δ[l]ⱼ · a[l−1]ᵢ, so inactive inputs barely move their weights.</a:t>
            </a:r>
            <a:endParaRPr lang="en-US" sz="1500" dirty="0"/>
          </a:p>
        </p:txBody>
      </p:sp>
      <p:sp>
        <p:nvSpPr>
          <p:cNvPr id="21" name="Text 18"/>
          <p:cNvSpPr/>
          <p:nvPr/>
        </p:nvSpPr>
        <p:spPr>
          <a:xfrm>
            <a:off x="812800" y="6281440"/>
            <a:ext cx="518017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2 · Learning: losses, backpropagation, gradient descent</a:t>
            </a:r>
            <a:endParaRPr lang="en-US" sz="1200" dirty="0"/>
          </a:p>
        </p:txBody>
      </p:sp>
      <p:sp>
        <p:nvSpPr>
          <p:cNvPr id="22" name="Text 19"/>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16 / 31</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§6 · BACKPROPAGATION</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In batched code, one matrix product sums every example’s gradient automatically.</a:t>
            </a:r>
            <a:endParaRPr lang="en-US" sz="2800" dirty="0"/>
          </a:p>
        </p:txBody>
      </p:sp>
      <p:sp>
        <p:nvSpPr>
          <p:cNvPr id="4" name="Shape 2"/>
          <p:cNvSpPr/>
          <p:nvPr/>
        </p:nvSpPr>
        <p:spPr>
          <a:xfrm>
            <a:off x="815975" y="3062089"/>
            <a:ext cx="4502249" cy="1781770"/>
          </a:xfrm>
          <a:prstGeom prst="roundRect">
            <a:avLst>
              <a:gd name="adj" fmla="val 4811"/>
            </a:avLst>
          </a:prstGeom>
          <a:solidFill>
            <a:srgbClr val="F2F5F8"/>
          </a:solidFill>
          <a:ln w="6350">
            <a:solidFill>
              <a:srgbClr val="D2D9E1"/>
            </a:solidFill>
            <a:prstDash val="solid"/>
          </a:ln>
        </p:spPr>
      </p:sp>
      <p:sp>
        <p:nvSpPr>
          <p:cNvPr id="5" name="Text 3"/>
          <p:cNvSpPr/>
          <p:nvPr/>
        </p:nvSpPr>
        <p:spPr>
          <a:xfrm>
            <a:off x="1009650" y="3217664"/>
            <a:ext cx="423834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ROW CONVENTION, BATCH OF M</a:t>
            </a:r>
            <a:endParaRPr lang="en-US" sz="1200" dirty="0"/>
          </a:p>
        </p:txBody>
      </p:sp>
      <p:sp>
        <p:nvSpPr>
          <p:cNvPr id="6" name="Text 4"/>
          <p:cNvSpPr/>
          <p:nvPr/>
        </p:nvSpPr>
        <p:spPr>
          <a:xfrm>
            <a:off x="1009650" y="3507184"/>
            <a:ext cx="4238346" cy="1206500"/>
          </a:xfrm>
          <a:prstGeom prst="rect">
            <a:avLst/>
          </a:prstGeom>
          <a:noFill/>
          <a:ln/>
        </p:spPr>
        <p:txBody>
          <a:bodyPr wrap="none" lIns="0" tIns="0" rIns="0" bIns="0" rtlCol="0" anchor="t">
            <a:normAutofit/>
          </a:bodyPr>
          <a:lstStyle/>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Δ[L] = (A[L] − Y) / m</a:t>
            </a:r>
            <a:r>
              <a:rPr lang="en-US" sz="1500" dirty="0">
                <a:solidFill>
                  <a:srgbClr val="5B6878"/>
                </a:solidFill>
                <a:latin typeface="JetBrains Mono" pitchFamily="49" charset="0"/>
                <a:ea typeface="JetBrains Mono" pitchFamily="49" charset="-122"/>
                <a:cs typeface="JetBrains Mono" pitchFamily="49" charset="-120"/>
              </a:rPr>
              <a:t> softmax + CE</a:t>
            </a:r>
            <a:endParaRPr lang="en-US" sz="1500" dirty="0"/>
          </a:p>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Δ[l] = (Δ[l+1] W[l+1]) ⊙ g′(Z[l])</a:t>
            </a:r>
            <a:endParaRPr lang="en-US" sz="1500" dirty="0"/>
          </a:p>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∂J/∂W[l] = Δ[l]ᵀ A[l−1]</a:t>
            </a:r>
            <a:endParaRPr lang="en-US" sz="1500" dirty="0"/>
          </a:p>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∂J/∂b[l] = Δ[l] summed over examples</a:t>
            </a:r>
            <a:endParaRPr lang="en-US" sz="1500" dirty="0"/>
          </a:p>
        </p:txBody>
      </p:sp>
      <p:sp>
        <p:nvSpPr>
          <p:cNvPr id="7" name="Shape 5"/>
          <p:cNvSpPr/>
          <p:nvPr/>
        </p:nvSpPr>
        <p:spPr>
          <a:xfrm>
            <a:off x="5730974" y="2874169"/>
            <a:ext cx="4057650" cy="1191220"/>
          </a:xfrm>
          <a:prstGeom prst="roundRect">
            <a:avLst>
              <a:gd name="adj" fmla="val 7196"/>
            </a:avLst>
          </a:prstGeom>
          <a:solidFill>
            <a:srgbClr val="F2F5F8"/>
          </a:solidFill>
          <a:ln w="6350">
            <a:solidFill>
              <a:srgbClr val="D2D9E1"/>
            </a:solidFill>
            <a:prstDash val="solid"/>
          </a:ln>
        </p:spPr>
      </p:sp>
      <p:sp>
        <p:nvSpPr>
          <p:cNvPr id="8" name="Text 6"/>
          <p:cNvSpPr/>
          <p:nvPr/>
        </p:nvSpPr>
        <p:spPr>
          <a:xfrm>
            <a:off x="5924649" y="3029744"/>
            <a:ext cx="378040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SHAPE CHECK</a:t>
            </a:r>
            <a:endParaRPr lang="en-US" sz="1200" dirty="0"/>
          </a:p>
        </p:txBody>
      </p:sp>
      <p:sp>
        <p:nvSpPr>
          <p:cNvPr id="9" name="Text 7"/>
          <p:cNvSpPr/>
          <p:nvPr/>
        </p:nvSpPr>
        <p:spPr>
          <a:xfrm>
            <a:off x="5924649" y="3319264"/>
            <a:ext cx="3780409" cy="615950"/>
          </a:xfrm>
          <a:prstGeom prst="rect">
            <a:avLst/>
          </a:prstGeom>
          <a:noFill/>
          <a:ln/>
        </p:spPr>
        <p:txBody>
          <a:bodyPr wrap="none" lIns="0" tIns="0" rIns="0" bIns="0" rtlCol="0" anchor="t">
            <a:normAutofit/>
          </a:bodyPr>
          <a:lstStyle/>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(n[l], m) × (m, n[l−1])</a:t>
            </a:r>
            <a:endParaRPr lang="en-US" sz="1500" dirty="0"/>
          </a:p>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 (n[l], n[l−1]) ✓</a:t>
            </a:r>
            <a:endParaRPr lang="en-US" sz="1500" dirty="0"/>
          </a:p>
        </p:txBody>
      </p:sp>
      <p:sp>
        <p:nvSpPr>
          <p:cNvPr id="10" name="Text 8"/>
          <p:cNvSpPr/>
          <p:nvPr/>
        </p:nvSpPr>
        <p:spPr>
          <a:xfrm>
            <a:off x="5727799" y="4246364"/>
            <a:ext cx="4185920" cy="813891"/>
          </a:xfrm>
          <a:prstGeom prst="rect">
            <a:avLst/>
          </a:prstGeom>
          <a:noFill/>
          <a:ln/>
        </p:spPr>
        <p:txBody>
          <a:bodyPr wrap="square" lIns="0" tIns="0" rIns="0" bIns="0" rtlCol="0" anchor="t">
            <a:normAutofit/>
          </a:bodyPr>
          <a:lstStyle/>
          <a:p>
            <a:pPr algn="l" indent="0" marL="0">
              <a:lnSpc>
                <a:spcPts val="2070"/>
              </a:lnSpc>
              <a:buNone/>
            </a:pPr>
            <a:r>
              <a:rPr lang="en-US" sz="1500" dirty="0">
                <a:solidFill>
                  <a:srgbClr val="15212E"/>
                </a:solidFill>
                <a:latin typeface="IBM Plex Sans" pitchFamily="34" charset="0"/>
                <a:ea typeface="IBM Plex Sans" pitchFamily="34" charset="-122"/>
                <a:cs typeface="IBM Plex Sans" pitchFamily="34" charset="-120"/>
              </a:rPr>
              <a:t>Only one arrangement produces the parameter’s shape. Use that to place every transpose.</a:t>
            </a:r>
            <a:endParaRPr lang="en-US" sz="1500" dirty="0"/>
          </a:p>
        </p:txBody>
      </p:sp>
      <p:sp>
        <p:nvSpPr>
          <p:cNvPr id="11" name="Text 9"/>
          <p:cNvSpPr/>
          <p:nvPr/>
        </p:nvSpPr>
        <p:spPr>
          <a:xfrm>
            <a:off x="812800" y="6281440"/>
            <a:ext cx="518017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2 · Learning: losses, backpropagation, gradient descent</a:t>
            </a:r>
            <a:endParaRPr lang="en-US" sz="1200" dirty="0"/>
          </a:p>
        </p:txBody>
      </p:sp>
      <p:sp>
        <p:nvSpPr>
          <p:cNvPr id="12" name="Text 10"/>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17 / 31</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§6 · BACKPROPAGATION</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A training step costs about three forward passes, and stored activations dominate memory.</a:t>
            </a:r>
            <a:endParaRPr lang="en-US" sz="2800" dirty="0"/>
          </a:p>
        </p:txBody>
      </p:sp>
      <p:pic>
        <p:nvPicPr>
          <p:cNvPr id="4" name="Image 0" descr="Training step cost: forward pass one unit, backward input gradient one unit, backward weight gradient one unit, about three times inference">    </p:cNvPr>
          <p:cNvPicPr>
            <a:picLocks noChangeAspect="1"/>
          </p:cNvPicPr>
          <p:nvPr/>
        </p:nvPicPr>
        <p:blipFill>
          <a:blip r:embed="rId1"/>
          <a:srcRect l="0" r="0" t="0" b="0"/>
          <a:stretch/>
        </p:blipFill>
        <p:spPr>
          <a:xfrm>
            <a:off x="812800" y="2063948"/>
            <a:ext cx="5080000" cy="1905000"/>
          </a:xfrm>
          <a:prstGeom prst="rect">
            <a:avLst/>
          </a:prstGeom>
        </p:spPr>
      </p:pic>
      <p:sp>
        <p:nvSpPr>
          <p:cNvPr id="5" name="Text 2"/>
          <p:cNvSpPr/>
          <p:nvPr/>
        </p:nvSpPr>
        <p:spPr>
          <a:xfrm>
            <a:off x="819150" y="2673548"/>
            <a:ext cx="1511300" cy="263525"/>
          </a:xfrm>
          <a:prstGeom prst="rect">
            <a:avLst/>
          </a:prstGeom>
          <a:noFill/>
          <a:ln/>
        </p:spPr>
        <p:txBody>
          <a:bodyPr wrap="square" lIns="0" tIns="0" rIns="0" bIns="0" rtlCol="0" anchor="t">
            <a:normAutofit/>
          </a:bodyPr>
          <a:lstStyle/>
          <a:p>
            <a:pPr algn="ctr" indent="0" marL="0">
              <a:lnSpc>
                <a:spcPts val="1875"/>
              </a:lnSpc>
              <a:buNone/>
            </a:pPr>
            <a:r>
              <a:rPr lang="en-US" sz="1500" b="1" dirty="0">
                <a:solidFill>
                  <a:srgbClr val="15212E"/>
                </a:solidFill>
                <a:latin typeface="JetBrains Mono" pitchFamily="49" charset="0"/>
                <a:ea typeface="JetBrains Mono" pitchFamily="49" charset="-122"/>
                <a:cs typeface="JetBrains Mono" pitchFamily="49" charset="-120"/>
              </a:rPr>
              <a:t>1 unit</a:t>
            </a:r>
            <a:endParaRPr lang="en-US" sz="1500" dirty="0"/>
          </a:p>
        </p:txBody>
      </p:sp>
      <p:sp>
        <p:nvSpPr>
          <p:cNvPr id="6" name="Text 3"/>
          <p:cNvSpPr/>
          <p:nvPr/>
        </p:nvSpPr>
        <p:spPr>
          <a:xfrm>
            <a:off x="787400" y="2140148"/>
            <a:ext cx="1701800" cy="231775"/>
          </a:xfrm>
          <a:prstGeom prst="rect">
            <a:avLst/>
          </a:prstGeom>
          <a:noFill/>
          <a:ln/>
        </p:spPr>
        <p:txBody>
          <a:bodyPr wrap="square" lIns="0" tIns="0" rIns="0" bIns="0" rtlCol="0" anchor="t">
            <a:normAutofit/>
          </a:bodyPr>
          <a:lstStyle/>
          <a:p>
            <a:pPr algn="ctr" indent="0" marL="0">
              <a:lnSpc>
                <a:spcPts val="1625"/>
              </a:lnSpc>
              <a:buNone/>
            </a:pPr>
            <a:r>
              <a:rPr lang="en-US" sz="1300" b="1" dirty="0">
                <a:solidFill>
                  <a:srgbClr val="15212E"/>
                </a:solidFill>
                <a:latin typeface="IBM Plex Sans" pitchFamily="34" charset="0"/>
                <a:ea typeface="IBM Plex Sans" pitchFamily="34" charset="-122"/>
                <a:cs typeface="IBM Plex Sans" pitchFamily="34" charset="-120"/>
              </a:rPr>
              <a:t>Forward</a:t>
            </a:r>
            <a:endParaRPr lang="en-US" sz="1300" dirty="0"/>
          </a:p>
        </p:txBody>
      </p:sp>
      <p:sp>
        <p:nvSpPr>
          <p:cNvPr id="7" name="Text 4"/>
          <p:cNvSpPr/>
          <p:nvPr/>
        </p:nvSpPr>
        <p:spPr>
          <a:xfrm>
            <a:off x="2533650" y="2673548"/>
            <a:ext cx="1511300" cy="263525"/>
          </a:xfrm>
          <a:prstGeom prst="rect">
            <a:avLst/>
          </a:prstGeom>
          <a:noFill/>
          <a:ln/>
        </p:spPr>
        <p:txBody>
          <a:bodyPr wrap="square" lIns="0" tIns="0" rIns="0" bIns="0" rtlCol="0" anchor="t">
            <a:normAutofit/>
          </a:bodyPr>
          <a:lstStyle/>
          <a:p>
            <a:pPr algn="ctr" indent="0" marL="0">
              <a:lnSpc>
                <a:spcPts val="1875"/>
              </a:lnSpc>
              <a:buNone/>
            </a:pPr>
            <a:r>
              <a:rPr lang="en-US" sz="1500" b="1" dirty="0">
                <a:solidFill>
                  <a:srgbClr val="15212E"/>
                </a:solidFill>
                <a:latin typeface="JetBrains Mono" pitchFamily="49" charset="0"/>
                <a:ea typeface="JetBrains Mono" pitchFamily="49" charset="-122"/>
                <a:cs typeface="JetBrains Mono" pitchFamily="49" charset="-120"/>
              </a:rPr>
              <a:t>1 unit</a:t>
            </a:r>
            <a:endParaRPr lang="en-US" sz="1500" dirty="0"/>
          </a:p>
        </p:txBody>
      </p:sp>
      <p:sp>
        <p:nvSpPr>
          <p:cNvPr id="8" name="Text 5"/>
          <p:cNvSpPr/>
          <p:nvPr/>
        </p:nvSpPr>
        <p:spPr>
          <a:xfrm>
            <a:off x="2438400" y="2140148"/>
            <a:ext cx="1701800" cy="231775"/>
          </a:xfrm>
          <a:prstGeom prst="rect">
            <a:avLst/>
          </a:prstGeom>
          <a:noFill/>
          <a:ln/>
        </p:spPr>
        <p:txBody>
          <a:bodyPr wrap="square" lIns="0" tIns="0" rIns="0" bIns="0" rtlCol="0" anchor="t">
            <a:normAutofit/>
          </a:bodyPr>
          <a:lstStyle/>
          <a:p>
            <a:pPr algn="ctr" indent="0" marL="0">
              <a:lnSpc>
                <a:spcPts val="1625"/>
              </a:lnSpc>
              <a:buNone/>
            </a:pPr>
            <a:r>
              <a:rPr lang="en-US" sz="1300" b="1" dirty="0">
                <a:solidFill>
                  <a:srgbClr val="15212E"/>
                </a:solidFill>
                <a:latin typeface="IBM Plex Sans" pitchFamily="34" charset="0"/>
                <a:ea typeface="IBM Plex Sans" pitchFamily="34" charset="-122"/>
                <a:cs typeface="IBM Plex Sans" pitchFamily="34" charset="-120"/>
              </a:rPr>
              <a:t>Input gradient</a:t>
            </a:r>
            <a:endParaRPr lang="en-US" sz="1300" dirty="0"/>
          </a:p>
        </p:txBody>
      </p:sp>
      <p:sp>
        <p:nvSpPr>
          <p:cNvPr id="9" name="Text 6"/>
          <p:cNvSpPr/>
          <p:nvPr/>
        </p:nvSpPr>
        <p:spPr>
          <a:xfrm>
            <a:off x="4248150" y="2673548"/>
            <a:ext cx="1511300" cy="263525"/>
          </a:xfrm>
          <a:prstGeom prst="rect">
            <a:avLst/>
          </a:prstGeom>
          <a:noFill/>
          <a:ln/>
        </p:spPr>
        <p:txBody>
          <a:bodyPr wrap="square" lIns="0" tIns="0" rIns="0" bIns="0" rtlCol="0" anchor="t">
            <a:normAutofit/>
          </a:bodyPr>
          <a:lstStyle/>
          <a:p>
            <a:pPr algn="ctr" indent="0" marL="0">
              <a:lnSpc>
                <a:spcPts val="1875"/>
              </a:lnSpc>
              <a:buNone/>
            </a:pPr>
            <a:r>
              <a:rPr lang="en-US" sz="1500" b="1" dirty="0">
                <a:solidFill>
                  <a:srgbClr val="15212E"/>
                </a:solidFill>
                <a:latin typeface="JetBrains Mono" pitchFamily="49" charset="0"/>
                <a:ea typeface="JetBrains Mono" pitchFamily="49" charset="-122"/>
                <a:cs typeface="JetBrains Mono" pitchFamily="49" charset="-120"/>
              </a:rPr>
              <a:t>1 unit</a:t>
            </a:r>
            <a:endParaRPr lang="en-US" sz="1500" dirty="0"/>
          </a:p>
        </p:txBody>
      </p:sp>
      <p:sp>
        <p:nvSpPr>
          <p:cNvPr id="10" name="Text 7"/>
          <p:cNvSpPr/>
          <p:nvPr/>
        </p:nvSpPr>
        <p:spPr>
          <a:xfrm>
            <a:off x="4152900" y="2140148"/>
            <a:ext cx="1701800" cy="231775"/>
          </a:xfrm>
          <a:prstGeom prst="rect">
            <a:avLst/>
          </a:prstGeom>
          <a:noFill/>
          <a:ln/>
        </p:spPr>
        <p:txBody>
          <a:bodyPr wrap="square" lIns="0" tIns="0" rIns="0" bIns="0" rtlCol="0" anchor="t">
            <a:normAutofit/>
          </a:bodyPr>
          <a:lstStyle/>
          <a:p>
            <a:pPr algn="ctr" indent="0" marL="0">
              <a:lnSpc>
                <a:spcPts val="1625"/>
              </a:lnSpc>
              <a:buNone/>
            </a:pPr>
            <a:r>
              <a:rPr lang="en-US" sz="1300" b="1" dirty="0">
                <a:solidFill>
                  <a:srgbClr val="15212E"/>
                </a:solidFill>
                <a:latin typeface="IBM Plex Sans" pitchFamily="34" charset="0"/>
                <a:ea typeface="IBM Plex Sans" pitchFamily="34" charset="-122"/>
                <a:cs typeface="IBM Plex Sans" pitchFamily="34" charset="-120"/>
              </a:rPr>
              <a:t>Weight gradient</a:t>
            </a:r>
            <a:endParaRPr lang="en-US" sz="1300" dirty="0"/>
          </a:p>
        </p:txBody>
      </p:sp>
      <p:sp>
        <p:nvSpPr>
          <p:cNvPr id="11" name="Text 8"/>
          <p:cNvSpPr/>
          <p:nvPr/>
        </p:nvSpPr>
        <p:spPr>
          <a:xfrm>
            <a:off x="736600" y="3352998"/>
            <a:ext cx="5232400" cy="263525"/>
          </a:xfrm>
          <a:prstGeom prst="rect">
            <a:avLst/>
          </a:prstGeom>
          <a:noFill/>
          <a:ln/>
        </p:spPr>
        <p:txBody>
          <a:bodyPr wrap="square" lIns="0" tIns="0" rIns="0" bIns="0" rtlCol="0" anchor="t">
            <a:normAutofit/>
          </a:bodyPr>
          <a:lstStyle/>
          <a:p>
            <a:pPr algn="ctr" indent="0" marL="0">
              <a:lnSpc>
                <a:spcPts val="1875"/>
              </a:lnSpc>
              <a:buNone/>
            </a:pPr>
            <a:r>
              <a:rPr lang="en-US" sz="1500" b="1" dirty="0">
                <a:solidFill>
                  <a:srgbClr val="1F5FBF"/>
                </a:solidFill>
                <a:latin typeface="IBM Plex Sans" pitchFamily="34" charset="0"/>
                <a:ea typeface="IBM Plex Sans" pitchFamily="34" charset="-122"/>
                <a:cs typeface="IBM Plex Sans" pitchFamily="34" charset="-120"/>
              </a:rPr>
              <a:t>one training step ≈ 3 × one inference step</a:t>
            </a:r>
            <a:endParaRPr lang="en-US" sz="1500" dirty="0"/>
          </a:p>
        </p:txBody>
      </p:sp>
      <p:sp>
        <p:nvSpPr>
          <p:cNvPr id="12" name="Text 9"/>
          <p:cNvSpPr/>
          <p:nvPr/>
        </p:nvSpPr>
        <p:spPr>
          <a:xfrm>
            <a:off x="736600" y="3676848"/>
            <a:ext cx="52324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IBM Plex Sans" pitchFamily="34" charset="0"/>
                <a:ea typeface="IBM Plex Sans" pitchFamily="34" charset="-122"/>
                <a:cs typeface="IBM Plex Sans" pitchFamily="34" charset="-120"/>
              </a:rPr>
              <a:t>each unit = one matrix product, O(m · n[l] · n[l−1])</a:t>
            </a:r>
            <a:endParaRPr lang="en-US" sz="1300" dirty="0"/>
          </a:p>
        </p:txBody>
      </p:sp>
      <p:sp>
        <p:nvSpPr>
          <p:cNvPr id="13" name="Shape 10"/>
          <p:cNvSpPr/>
          <p:nvPr/>
        </p:nvSpPr>
        <p:spPr>
          <a:xfrm>
            <a:off x="6299200" y="3225998"/>
            <a:ext cx="63500" cy="63500"/>
          </a:xfrm>
          <a:prstGeom prst="roundRect">
            <a:avLst>
              <a:gd name="adj" fmla="val 20000"/>
            </a:avLst>
          </a:prstGeom>
          <a:solidFill>
            <a:srgbClr val="1F5FBF"/>
          </a:solidFill>
          <a:ln/>
        </p:spPr>
      </p:sp>
      <p:sp>
        <p:nvSpPr>
          <p:cNvPr id="14" name="Text 11"/>
          <p:cNvSpPr/>
          <p:nvPr/>
        </p:nvSpPr>
        <p:spPr>
          <a:xfrm>
            <a:off x="6502400" y="3130748"/>
            <a:ext cx="5023104" cy="55106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Stored activations.</a:t>
            </a:r>
            <a:r>
              <a:rPr lang="en-US" sz="1500" dirty="0">
                <a:solidFill>
                  <a:srgbClr val="3D4A59"/>
                </a:solidFill>
                <a:latin typeface="IBM Plex Sans" pitchFamily="34" charset="0"/>
                <a:ea typeface="IBM Plex Sans" pitchFamily="34" charset="-122"/>
                <a:cs typeface="IBM Plex Sans" pitchFamily="34" charset="-120"/>
              </a:rPr>
              <a:t> BP4 needs a[l−1], so every layer’s activations wait in memory for the backward pass.</a:t>
            </a:r>
            <a:endParaRPr lang="en-US" sz="1500" dirty="0"/>
          </a:p>
        </p:txBody>
      </p:sp>
      <p:sp>
        <p:nvSpPr>
          <p:cNvPr id="15" name="Shape 12"/>
          <p:cNvSpPr/>
          <p:nvPr/>
        </p:nvSpPr>
        <p:spPr>
          <a:xfrm>
            <a:off x="6299200" y="3916759"/>
            <a:ext cx="63500" cy="63500"/>
          </a:xfrm>
          <a:prstGeom prst="roundRect">
            <a:avLst>
              <a:gd name="adj" fmla="val 20000"/>
            </a:avLst>
          </a:prstGeom>
          <a:solidFill>
            <a:srgbClr val="1F5FBF"/>
          </a:solidFill>
          <a:ln/>
        </p:spPr>
      </p:sp>
      <p:sp>
        <p:nvSpPr>
          <p:cNvPr id="16" name="Text 13"/>
          <p:cNvSpPr/>
          <p:nvPr/>
        </p:nvSpPr>
        <p:spPr>
          <a:xfrm>
            <a:off x="6502400" y="3821509"/>
            <a:ext cx="5023104" cy="288230"/>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Out of memory?</a:t>
            </a:r>
            <a:r>
              <a:rPr lang="en-US" sz="1500" dirty="0">
                <a:solidFill>
                  <a:srgbClr val="3D4A59"/>
                </a:solidFill>
                <a:latin typeface="IBM Plex Sans" pitchFamily="34" charset="0"/>
                <a:ea typeface="IBM Plex Sans" pitchFamily="34" charset="-122"/>
                <a:cs typeface="IBM Plex Sans" pitchFamily="34" charset="-120"/>
              </a:rPr>
              <a:t> Reduce the batch size first.</a:t>
            </a:r>
            <a:endParaRPr lang="en-US" sz="1500" dirty="0"/>
          </a:p>
        </p:txBody>
      </p:sp>
      <p:sp>
        <p:nvSpPr>
          <p:cNvPr id="17" name="Shape 14"/>
          <p:cNvSpPr/>
          <p:nvPr/>
        </p:nvSpPr>
        <p:spPr>
          <a:xfrm>
            <a:off x="6299200" y="4344690"/>
            <a:ext cx="63500" cy="63500"/>
          </a:xfrm>
          <a:prstGeom prst="roundRect">
            <a:avLst>
              <a:gd name="adj" fmla="val 20000"/>
            </a:avLst>
          </a:prstGeom>
          <a:solidFill>
            <a:srgbClr val="1F5FBF"/>
          </a:solidFill>
          <a:ln/>
        </p:spPr>
      </p:sp>
      <p:sp>
        <p:nvSpPr>
          <p:cNvPr id="18" name="Text 15"/>
          <p:cNvSpPr/>
          <p:nvPr/>
        </p:nvSpPr>
        <p:spPr>
          <a:xfrm>
            <a:off x="6502400" y="4249440"/>
            <a:ext cx="5023104" cy="55106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Checkpointing.</a:t>
            </a:r>
            <a:r>
              <a:rPr lang="en-US" sz="1500" dirty="0">
                <a:solidFill>
                  <a:srgbClr val="3D4A59"/>
                </a:solidFill>
                <a:latin typeface="IBM Plex Sans" pitchFamily="34" charset="0"/>
                <a:ea typeface="IBM Plex Sans" pitchFamily="34" charset="-122"/>
                <a:cs typeface="IBM Plex Sans" pitchFamily="34" charset="-120"/>
              </a:rPr>
              <a:t> Store some activations, recompute the rest: about 30% more compute.</a:t>
            </a:r>
            <a:endParaRPr lang="en-US" sz="1500" dirty="0"/>
          </a:p>
        </p:txBody>
      </p:sp>
      <p:sp>
        <p:nvSpPr>
          <p:cNvPr id="19" name="Text 16"/>
          <p:cNvSpPr/>
          <p:nvPr/>
        </p:nvSpPr>
        <p:spPr>
          <a:xfrm>
            <a:off x="812800" y="6281440"/>
            <a:ext cx="518017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2 · Learning: losses, backpropagation, gradient descent</a:t>
            </a:r>
            <a:endParaRPr lang="en-US" sz="1200" dirty="0"/>
          </a:p>
        </p:txBody>
      </p:sp>
      <p:sp>
        <p:nvSpPr>
          <p:cNvPr id="20" name="Text 17"/>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18 / 31</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§6 · BACKPROPAGATION</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The softmax plus cross-entropy gradient collapses to prediction minus target.</a:t>
            </a:r>
            <a:endParaRPr lang="en-US" sz="2800" dirty="0"/>
          </a:p>
        </p:txBody>
      </p:sp>
      <p:sp>
        <p:nvSpPr>
          <p:cNvPr id="4" name="Text 2"/>
          <p:cNvSpPr/>
          <p:nvPr/>
        </p:nvSpPr>
        <p:spPr>
          <a:xfrm>
            <a:off x="812800" y="2095500"/>
            <a:ext cx="654050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5212E"/>
                </a:solidFill>
                <a:latin typeface="IBM Plex Sans" pitchFamily="34" charset="0"/>
                <a:ea typeface="IBM Plex Sans" pitchFamily="34" charset="-122"/>
                <a:cs typeface="IBM Plex Sans" pitchFamily="34" charset="-120"/>
              </a:rPr>
              <a:t>Quotient rule, then the chain rule through L = −Σₖ yₖ log ŷₖ:</a:t>
            </a:r>
            <a:endParaRPr lang="en-US" sz="1500" dirty="0"/>
          </a:p>
        </p:txBody>
      </p:sp>
      <p:sp>
        <p:nvSpPr>
          <p:cNvPr id="5" name="Text 3"/>
          <p:cNvSpPr/>
          <p:nvPr/>
        </p:nvSpPr>
        <p:spPr>
          <a:xfrm>
            <a:off x="812800" y="2540000"/>
            <a:ext cx="654050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5212E"/>
                </a:solidFill>
                <a:latin typeface="JetBrains Mono" pitchFamily="49" charset="0"/>
                <a:ea typeface="JetBrains Mono" pitchFamily="49" charset="-122"/>
                <a:cs typeface="JetBrains Mono" pitchFamily="49" charset="-120"/>
              </a:rPr>
              <a:t>S = Σⱼ exp(zⱼ), ŷₖ = exp(zₖ) / S</a:t>
            </a:r>
            <a:endParaRPr lang="en-US" sz="1500" dirty="0"/>
          </a:p>
        </p:txBody>
      </p:sp>
      <p:sp>
        <p:nvSpPr>
          <p:cNvPr id="6" name="Text 4"/>
          <p:cNvSpPr/>
          <p:nvPr/>
        </p:nvSpPr>
        <p:spPr>
          <a:xfrm>
            <a:off x="812800" y="3009900"/>
            <a:ext cx="654050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5212E"/>
                </a:solidFill>
                <a:latin typeface="JetBrains Mono" pitchFamily="49" charset="0"/>
                <a:ea typeface="JetBrains Mono" pitchFamily="49" charset="-122"/>
                <a:cs typeface="JetBrains Mono" pitchFamily="49" charset="-120"/>
              </a:rPr>
              <a:t>k = i: ∂ŷₖ/∂zₖ = ŷₖ (1 − ŷₖ)</a:t>
            </a:r>
            <a:endParaRPr lang="en-US" sz="1500" dirty="0"/>
          </a:p>
        </p:txBody>
      </p:sp>
      <p:sp>
        <p:nvSpPr>
          <p:cNvPr id="7" name="Text 5"/>
          <p:cNvSpPr/>
          <p:nvPr/>
        </p:nvSpPr>
        <p:spPr>
          <a:xfrm>
            <a:off x="812800" y="3479800"/>
            <a:ext cx="654050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5212E"/>
                </a:solidFill>
                <a:latin typeface="JetBrains Mono" pitchFamily="49" charset="0"/>
                <a:ea typeface="JetBrains Mono" pitchFamily="49" charset="-122"/>
                <a:cs typeface="JetBrains Mono" pitchFamily="49" charset="-120"/>
              </a:rPr>
              <a:t>k ≠ i: ∂ŷₖ/∂zᵢ = −ŷₖ ŷᵢ</a:t>
            </a:r>
            <a:endParaRPr lang="en-US" sz="1500" dirty="0"/>
          </a:p>
        </p:txBody>
      </p:sp>
      <p:sp>
        <p:nvSpPr>
          <p:cNvPr id="8" name="Text 6"/>
          <p:cNvSpPr/>
          <p:nvPr/>
        </p:nvSpPr>
        <p:spPr>
          <a:xfrm>
            <a:off x="812800" y="3949700"/>
            <a:ext cx="654050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5212E"/>
                </a:solidFill>
                <a:latin typeface="JetBrains Mono" pitchFamily="49" charset="0"/>
                <a:ea typeface="JetBrains Mono" pitchFamily="49" charset="-122"/>
                <a:cs typeface="JetBrains Mono" pitchFamily="49" charset="-120"/>
              </a:rPr>
              <a:t>both: ∂ŷₖ/∂zᵢ = ŷₖ ([k = i] − ŷᵢ)</a:t>
            </a:r>
            <a:endParaRPr lang="en-US" sz="1500" dirty="0"/>
          </a:p>
        </p:txBody>
      </p:sp>
      <p:sp>
        <p:nvSpPr>
          <p:cNvPr id="9" name="Text 7"/>
          <p:cNvSpPr/>
          <p:nvPr/>
        </p:nvSpPr>
        <p:spPr>
          <a:xfrm>
            <a:off x="812800" y="4419600"/>
            <a:ext cx="654050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5212E"/>
                </a:solidFill>
                <a:latin typeface="JetBrains Mono" pitchFamily="49" charset="0"/>
                <a:ea typeface="JetBrains Mono" pitchFamily="49" charset="-122"/>
                <a:cs typeface="JetBrains Mono" pitchFamily="49" charset="-120"/>
              </a:rPr>
              <a:t>∂L/∂zᵢ = Σₖ (−yₖ/ŷₖ) · ŷₖ ([k = i] − ŷᵢ)</a:t>
            </a:r>
            <a:endParaRPr lang="en-US" sz="1500" dirty="0"/>
          </a:p>
        </p:txBody>
      </p:sp>
      <p:sp>
        <p:nvSpPr>
          <p:cNvPr id="10" name="Text 8"/>
          <p:cNvSpPr/>
          <p:nvPr/>
        </p:nvSpPr>
        <p:spPr>
          <a:xfrm>
            <a:off x="812800" y="4889500"/>
            <a:ext cx="654050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5212E"/>
                </a:solidFill>
                <a:latin typeface="JetBrains Mono" pitchFamily="49" charset="0"/>
                <a:ea typeface="JetBrains Mono" pitchFamily="49" charset="-122"/>
                <a:cs typeface="JetBrains Mono" pitchFamily="49" charset="-120"/>
              </a:rPr>
              <a:t>= −yᵢ + ŷᵢ Σₖ yₖ = ŷᵢ − yᵢ</a:t>
            </a:r>
            <a:endParaRPr lang="en-US" sz="1500" dirty="0"/>
          </a:p>
        </p:txBody>
      </p:sp>
      <p:sp>
        <p:nvSpPr>
          <p:cNvPr id="11" name="Shape 9"/>
          <p:cNvSpPr/>
          <p:nvPr/>
        </p:nvSpPr>
        <p:spPr>
          <a:xfrm>
            <a:off x="7559675" y="2543175"/>
            <a:ext cx="3816350" cy="1886942"/>
          </a:xfrm>
          <a:prstGeom prst="roundRect">
            <a:avLst>
              <a:gd name="adj" fmla="val 3870"/>
            </a:avLst>
          </a:prstGeom>
          <a:solidFill>
            <a:srgbClr val="E4EEFB"/>
          </a:solidFill>
          <a:ln w="6350">
            <a:solidFill>
              <a:srgbClr val="E4EEFB"/>
            </a:solidFill>
            <a:prstDash val="solid"/>
          </a:ln>
        </p:spPr>
      </p:sp>
      <p:sp>
        <p:nvSpPr>
          <p:cNvPr id="12" name="Text 10"/>
          <p:cNvSpPr/>
          <p:nvPr/>
        </p:nvSpPr>
        <p:spPr>
          <a:xfrm>
            <a:off x="7778750" y="2736850"/>
            <a:ext cx="347954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RESULT</a:t>
            </a:r>
            <a:endParaRPr lang="en-US" sz="1200" dirty="0"/>
          </a:p>
        </p:txBody>
      </p:sp>
      <p:sp>
        <p:nvSpPr>
          <p:cNvPr id="13" name="Text 11"/>
          <p:cNvSpPr/>
          <p:nvPr/>
        </p:nvSpPr>
        <p:spPr>
          <a:xfrm>
            <a:off x="7778750" y="3000970"/>
            <a:ext cx="3479546" cy="463550"/>
          </a:xfrm>
          <a:prstGeom prst="rect">
            <a:avLst/>
          </a:prstGeom>
          <a:noFill/>
          <a:ln/>
        </p:spPr>
        <p:txBody>
          <a:bodyPr wrap="square" lIns="0" tIns="0" rIns="0" bIns="0" rtlCol="0" anchor="t">
            <a:normAutofit/>
          </a:bodyPr>
          <a:lstStyle/>
          <a:p>
            <a:pPr algn="l" indent="0" marL="0">
              <a:lnSpc>
                <a:spcPts val="3450"/>
              </a:lnSpc>
              <a:buNone/>
            </a:pPr>
            <a:r>
              <a:rPr lang="en-US" sz="3000" b="1" dirty="0">
                <a:solidFill>
                  <a:srgbClr val="15212E"/>
                </a:solidFill>
                <a:latin typeface="JetBrains Mono" pitchFamily="49" charset="0"/>
                <a:ea typeface="JetBrains Mono" pitchFamily="49" charset="-122"/>
                <a:cs typeface="JetBrains Mono" pitchFamily="49" charset="-120"/>
              </a:rPr>
              <a:t>∂L/∂z = ŷ − y</a:t>
            </a:r>
            <a:endParaRPr lang="en-US" sz="3000" dirty="0"/>
          </a:p>
        </p:txBody>
      </p:sp>
      <p:sp>
        <p:nvSpPr>
          <p:cNvPr id="14" name="Text 12"/>
          <p:cNvSpPr/>
          <p:nvPr/>
        </p:nvSpPr>
        <p:spPr>
          <a:xfrm>
            <a:off x="7778750" y="3489920"/>
            <a:ext cx="3479546"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The softmax Jacobian cancels against the log. Frameworks fuse the two, so the backward pass is a subtraction.</a:t>
            </a:r>
            <a:endParaRPr lang="en-US" sz="1400" dirty="0"/>
          </a:p>
        </p:txBody>
      </p:sp>
      <p:sp>
        <p:nvSpPr>
          <p:cNvPr id="15" name="Text 13"/>
          <p:cNvSpPr/>
          <p:nvPr/>
        </p:nvSpPr>
        <p:spPr>
          <a:xfrm>
            <a:off x="7556500" y="5016500"/>
            <a:ext cx="3937381"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B6878"/>
                </a:solidFill>
                <a:latin typeface="IBM Plex Sans" pitchFamily="34" charset="0"/>
                <a:ea typeface="IBM Plex Sans" pitchFamily="34" charset="-122"/>
                <a:cs typeface="IBM Plex Sans" pitchFamily="34" charset="-120"/>
              </a:rPr>
              <a:t>[k = i] is 1 if k = i, else 0. One-hot y gives Σₖ yₖ = 1.</a:t>
            </a:r>
            <a:endParaRPr lang="en-US" sz="1300" dirty="0"/>
          </a:p>
        </p:txBody>
      </p:sp>
      <p:sp>
        <p:nvSpPr>
          <p:cNvPr id="16" name="Text 14"/>
          <p:cNvSpPr/>
          <p:nvPr/>
        </p:nvSpPr>
        <p:spPr>
          <a:xfrm>
            <a:off x="812800" y="6281440"/>
            <a:ext cx="518017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2 · Learning: losses, backpropagation, gradient descent</a:t>
            </a:r>
            <a:endParaRPr lang="en-US" sz="1200" dirty="0"/>
          </a:p>
        </p:txBody>
      </p:sp>
      <p:sp>
        <p:nvSpPr>
          <p:cNvPr id="17" name="Text 15"/>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19 / 31</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§6 · BACKPROPAGATION</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Check a hand-derived gradient with a centred difference and a relative-error threshold.</a:t>
            </a:r>
            <a:endParaRPr lang="en-US" sz="2800" dirty="0"/>
          </a:p>
        </p:txBody>
      </p:sp>
      <p:sp>
        <p:nvSpPr>
          <p:cNvPr id="4" name="Shape 2"/>
          <p:cNvSpPr/>
          <p:nvPr/>
        </p:nvSpPr>
        <p:spPr>
          <a:xfrm>
            <a:off x="815975" y="2569964"/>
            <a:ext cx="5581650" cy="1191220"/>
          </a:xfrm>
          <a:prstGeom prst="roundRect">
            <a:avLst>
              <a:gd name="adj" fmla="val 7196"/>
            </a:avLst>
          </a:prstGeom>
          <a:solidFill>
            <a:srgbClr val="F2F5F8"/>
          </a:solidFill>
          <a:ln w="6350">
            <a:solidFill>
              <a:srgbClr val="D2D9E1"/>
            </a:solidFill>
            <a:prstDash val="solid"/>
          </a:ln>
        </p:spPr>
      </p:sp>
      <p:sp>
        <p:nvSpPr>
          <p:cNvPr id="5" name="Text 3"/>
          <p:cNvSpPr/>
          <p:nvPr/>
        </p:nvSpPr>
        <p:spPr>
          <a:xfrm>
            <a:off x="1009650" y="2725539"/>
            <a:ext cx="53501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CENTRED DIFFERENCE, ERROR O(Ε²)</a:t>
            </a:r>
            <a:endParaRPr lang="en-US" sz="1200" dirty="0"/>
          </a:p>
        </p:txBody>
      </p:sp>
      <p:sp>
        <p:nvSpPr>
          <p:cNvPr id="6" name="Text 4"/>
          <p:cNvSpPr/>
          <p:nvPr/>
        </p:nvSpPr>
        <p:spPr>
          <a:xfrm>
            <a:off x="1009650" y="3015059"/>
            <a:ext cx="5350129" cy="615950"/>
          </a:xfrm>
          <a:prstGeom prst="rect">
            <a:avLst/>
          </a:prstGeom>
          <a:noFill/>
          <a:ln/>
        </p:spPr>
        <p:txBody>
          <a:bodyPr wrap="none" lIns="0" tIns="0" rIns="0" bIns="0" rtlCol="0" anchor="t">
            <a:normAutofit/>
          </a:bodyPr>
          <a:lstStyle/>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∂J/∂w ≈ [J(w + ε) − J(w − ε)] / 2ε</a:t>
            </a:r>
            <a:endParaRPr lang="en-US" sz="1500" dirty="0"/>
          </a:p>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rel = |a − n| / max(|a|, |n|, 10⁻⁸)</a:t>
            </a:r>
            <a:endParaRPr lang="en-US" sz="1500" dirty="0"/>
          </a:p>
        </p:txBody>
      </p:sp>
      <p:pic>
        <p:nvPicPr>
          <p:cNvPr id="7" name="Image 0" descr="Relative-error scale on a log axis: below 1e-7 correct, 1e-7 to 1e-4 suspicious, above 1e-3 a bug">    </p:cNvPr>
          <p:cNvPicPr>
            <a:picLocks noChangeAspect="1"/>
          </p:cNvPicPr>
          <p:nvPr/>
        </p:nvPicPr>
        <p:blipFill>
          <a:blip r:embed="rId1"/>
          <a:srcRect l="0" r="0" t="0" b="0"/>
          <a:stretch/>
        </p:blipFill>
        <p:spPr>
          <a:xfrm>
            <a:off x="812800" y="3942159"/>
            <a:ext cx="5588000" cy="1397000"/>
          </a:xfrm>
          <a:prstGeom prst="rect">
            <a:avLst/>
          </a:prstGeom>
        </p:spPr>
      </p:pic>
      <p:sp>
        <p:nvSpPr>
          <p:cNvPr id="8" name="Text 5"/>
          <p:cNvSpPr/>
          <p:nvPr/>
        </p:nvSpPr>
        <p:spPr>
          <a:xfrm>
            <a:off x="1041400" y="4386659"/>
            <a:ext cx="157480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FFFFFE"/>
                </a:solidFill>
                <a:latin typeface="IBM Plex Sans" pitchFamily="34" charset="0"/>
                <a:ea typeface="IBM Plex Sans" pitchFamily="34" charset="-122"/>
                <a:cs typeface="IBM Plex Sans" pitchFamily="34" charset="-120"/>
              </a:rPr>
              <a:t>correct</a:t>
            </a:r>
            <a:endParaRPr lang="en-US" sz="1400" dirty="0"/>
          </a:p>
        </p:txBody>
      </p:sp>
      <p:sp>
        <p:nvSpPr>
          <p:cNvPr id="9" name="Text 6"/>
          <p:cNvSpPr/>
          <p:nvPr/>
        </p:nvSpPr>
        <p:spPr>
          <a:xfrm>
            <a:off x="2755900" y="4386659"/>
            <a:ext cx="170180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15212E"/>
                </a:solidFill>
                <a:latin typeface="IBM Plex Sans" pitchFamily="34" charset="0"/>
                <a:ea typeface="IBM Plex Sans" pitchFamily="34" charset="-122"/>
                <a:cs typeface="IBM Plex Sans" pitchFamily="34" charset="-120"/>
              </a:rPr>
              <a:t>suspicious</a:t>
            </a:r>
            <a:endParaRPr lang="en-US" sz="1400" dirty="0"/>
          </a:p>
        </p:txBody>
      </p:sp>
      <p:sp>
        <p:nvSpPr>
          <p:cNvPr id="10" name="Text 7"/>
          <p:cNvSpPr/>
          <p:nvPr/>
        </p:nvSpPr>
        <p:spPr>
          <a:xfrm>
            <a:off x="5149850" y="4386659"/>
            <a:ext cx="106680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FFFFFE"/>
                </a:solidFill>
                <a:latin typeface="IBM Plex Sans" pitchFamily="34" charset="0"/>
                <a:ea typeface="IBM Plex Sans" pitchFamily="34" charset="-122"/>
                <a:cs typeface="IBM Plex Sans" pitchFamily="34" charset="-120"/>
              </a:rPr>
              <a:t>bug</a:t>
            </a:r>
            <a:endParaRPr lang="en-US" sz="1400" dirty="0"/>
          </a:p>
        </p:txBody>
      </p:sp>
      <p:sp>
        <p:nvSpPr>
          <p:cNvPr id="11" name="Text 8"/>
          <p:cNvSpPr/>
          <p:nvPr/>
        </p:nvSpPr>
        <p:spPr>
          <a:xfrm>
            <a:off x="787400" y="4881959"/>
            <a:ext cx="7493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1e-10</a:t>
            </a:r>
            <a:endParaRPr lang="en-US" sz="1300" dirty="0"/>
          </a:p>
        </p:txBody>
      </p:sp>
      <p:sp>
        <p:nvSpPr>
          <p:cNvPr id="12" name="Text 9"/>
          <p:cNvSpPr/>
          <p:nvPr/>
        </p:nvSpPr>
        <p:spPr>
          <a:xfrm>
            <a:off x="2343150" y="4881959"/>
            <a:ext cx="7493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1e-7</a:t>
            </a:r>
            <a:endParaRPr lang="en-US" sz="1300" dirty="0"/>
          </a:p>
        </p:txBody>
      </p:sp>
      <p:sp>
        <p:nvSpPr>
          <p:cNvPr id="13" name="Text 10"/>
          <p:cNvSpPr/>
          <p:nvPr/>
        </p:nvSpPr>
        <p:spPr>
          <a:xfrm>
            <a:off x="4121150" y="4881959"/>
            <a:ext cx="7493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1e-4</a:t>
            </a:r>
            <a:endParaRPr lang="en-US" sz="1300" dirty="0"/>
          </a:p>
        </p:txBody>
      </p:sp>
      <p:sp>
        <p:nvSpPr>
          <p:cNvPr id="14" name="Text 11"/>
          <p:cNvSpPr/>
          <p:nvPr/>
        </p:nvSpPr>
        <p:spPr>
          <a:xfrm>
            <a:off x="5676900" y="4881959"/>
            <a:ext cx="7493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1e-1</a:t>
            </a:r>
            <a:endParaRPr lang="en-US" sz="1300" dirty="0"/>
          </a:p>
        </p:txBody>
      </p:sp>
      <p:sp>
        <p:nvSpPr>
          <p:cNvPr id="15" name="Text 12"/>
          <p:cNvSpPr/>
          <p:nvPr/>
        </p:nvSpPr>
        <p:spPr>
          <a:xfrm>
            <a:off x="4845050" y="5110559"/>
            <a:ext cx="6858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1e-3</a:t>
            </a:r>
            <a:endParaRPr lang="en-US" sz="1300" dirty="0"/>
          </a:p>
        </p:txBody>
      </p:sp>
      <p:sp>
        <p:nvSpPr>
          <p:cNvPr id="16" name="Text 13"/>
          <p:cNvSpPr/>
          <p:nvPr/>
        </p:nvSpPr>
        <p:spPr>
          <a:xfrm>
            <a:off x="939800" y="3980259"/>
            <a:ext cx="2747010"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3D4A59"/>
                </a:solidFill>
                <a:latin typeface="IBM Plex Sans" pitchFamily="34" charset="0"/>
                <a:ea typeface="IBM Plex Sans" pitchFamily="34" charset="-122"/>
                <a:cs typeface="IBM Plex Sans" pitchFamily="34" charset="-120"/>
              </a:rPr>
              <a:t>relative error, log scale</a:t>
            </a:r>
            <a:endParaRPr lang="en-US" sz="1300" dirty="0"/>
          </a:p>
        </p:txBody>
      </p:sp>
      <p:sp>
        <p:nvSpPr>
          <p:cNvPr id="17" name="Shape 14"/>
          <p:cNvSpPr/>
          <p:nvPr/>
        </p:nvSpPr>
        <p:spPr>
          <a:xfrm>
            <a:off x="6807200" y="3081933"/>
            <a:ext cx="63500" cy="63500"/>
          </a:xfrm>
          <a:prstGeom prst="roundRect">
            <a:avLst>
              <a:gd name="adj" fmla="val 20000"/>
            </a:avLst>
          </a:prstGeom>
          <a:solidFill>
            <a:srgbClr val="1F5FBF"/>
          </a:solidFill>
          <a:ln/>
        </p:spPr>
      </p:sp>
      <p:sp>
        <p:nvSpPr>
          <p:cNvPr id="18" name="Text 15"/>
          <p:cNvSpPr/>
          <p:nvPr/>
        </p:nvSpPr>
        <p:spPr>
          <a:xfrm>
            <a:off x="7010400" y="2986683"/>
            <a:ext cx="4499864" cy="55106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Use float64.</a:t>
            </a:r>
            <a:r>
              <a:rPr lang="en-US" sz="1500" dirty="0">
                <a:solidFill>
                  <a:srgbClr val="3D4A59"/>
                </a:solidFill>
                <a:latin typeface="IBM Plex Sans" pitchFamily="34" charset="0"/>
                <a:ea typeface="IBM Plex Sans" pitchFamily="34" charset="-122"/>
                <a:cs typeface="IBM Plex Sans" pitchFamily="34" charset="-120"/>
              </a:rPr>
              <a:t> Single-precision rounding swamps the signal.</a:t>
            </a:r>
            <a:endParaRPr lang="en-US" sz="1500" dirty="0"/>
          </a:p>
        </p:txBody>
      </p:sp>
      <p:sp>
        <p:nvSpPr>
          <p:cNvPr id="19" name="Shape 16"/>
          <p:cNvSpPr/>
          <p:nvPr/>
        </p:nvSpPr>
        <p:spPr>
          <a:xfrm>
            <a:off x="6807200" y="3785394"/>
            <a:ext cx="63500" cy="63500"/>
          </a:xfrm>
          <a:prstGeom prst="roundRect">
            <a:avLst>
              <a:gd name="adj" fmla="val 20000"/>
            </a:avLst>
          </a:prstGeom>
          <a:solidFill>
            <a:srgbClr val="1F5FBF"/>
          </a:solidFill>
          <a:ln/>
        </p:spPr>
      </p:sp>
      <p:sp>
        <p:nvSpPr>
          <p:cNvPr id="20" name="Text 17"/>
          <p:cNvSpPr/>
          <p:nvPr/>
        </p:nvSpPr>
        <p:spPr>
          <a:xfrm>
            <a:off x="7010400" y="3690144"/>
            <a:ext cx="4499864" cy="55106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Make it deterministic.</a:t>
            </a:r>
            <a:r>
              <a:rPr lang="en-US" sz="1500" dirty="0">
                <a:solidFill>
                  <a:srgbClr val="3D4A59"/>
                </a:solidFill>
                <a:latin typeface="IBM Plex Sans" pitchFamily="34" charset="0"/>
                <a:ea typeface="IBM Plex Sans" pitchFamily="34" charset="-122"/>
                <a:cs typeface="IBM Plex Sans" pitchFamily="34" charset="-120"/>
              </a:rPr>
              <a:t> Turn off dropout and other randomness.</a:t>
            </a:r>
            <a:endParaRPr lang="en-US" sz="1500" dirty="0"/>
          </a:p>
        </p:txBody>
      </p:sp>
      <p:sp>
        <p:nvSpPr>
          <p:cNvPr id="21" name="Shape 18"/>
          <p:cNvSpPr/>
          <p:nvPr/>
        </p:nvSpPr>
        <p:spPr>
          <a:xfrm>
            <a:off x="6807200" y="4488855"/>
            <a:ext cx="63500" cy="63500"/>
          </a:xfrm>
          <a:prstGeom prst="roundRect">
            <a:avLst>
              <a:gd name="adj" fmla="val 20000"/>
            </a:avLst>
          </a:prstGeom>
          <a:solidFill>
            <a:srgbClr val="1F5FBF"/>
          </a:solidFill>
          <a:ln/>
        </p:spPr>
      </p:sp>
      <p:sp>
        <p:nvSpPr>
          <p:cNvPr id="22" name="Text 19"/>
          <p:cNvSpPr/>
          <p:nvPr/>
        </p:nvSpPr>
        <p:spPr>
          <a:xfrm>
            <a:off x="7010400" y="4393605"/>
            <a:ext cx="4499864" cy="55106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Sample parameters.</a:t>
            </a:r>
            <a:r>
              <a:rPr lang="en-US" sz="1500" dirty="0">
                <a:solidFill>
                  <a:srgbClr val="3D4A59"/>
                </a:solidFill>
                <a:latin typeface="IBM Plex Sans" pitchFamily="34" charset="0"/>
                <a:ea typeface="IBM Plex Sans" pitchFamily="34" charset="-122"/>
                <a:cs typeface="IBM Plex Sans" pitchFamily="34" charset="-120"/>
              </a:rPr>
              <a:t> Each one costs two forward passes.</a:t>
            </a:r>
            <a:endParaRPr lang="en-US" sz="1500" dirty="0"/>
          </a:p>
        </p:txBody>
      </p:sp>
      <p:sp>
        <p:nvSpPr>
          <p:cNvPr id="23" name="Text 20"/>
          <p:cNvSpPr/>
          <p:nvPr/>
        </p:nvSpPr>
        <p:spPr>
          <a:xfrm>
            <a:off x="812800" y="6281440"/>
            <a:ext cx="518017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2 · Learning: losses, backpropagation, gradient descent</a:t>
            </a:r>
            <a:endParaRPr lang="en-US" sz="1200" dirty="0"/>
          </a:p>
        </p:txBody>
      </p:sp>
      <p:sp>
        <p:nvSpPr>
          <p:cNvPr id="24" name="Text 21"/>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20 / 31</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§6 · BACKPROPAGATION</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Backpropagation computes gradients, and the optimizer decides what to do with them.</a:t>
            </a:r>
            <a:endParaRPr lang="en-US" sz="2800" dirty="0"/>
          </a:p>
        </p:txBody>
      </p:sp>
      <p:sp>
        <p:nvSpPr>
          <p:cNvPr id="4" name="Shape 2"/>
          <p:cNvSpPr/>
          <p:nvPr/>
        </p:nvSpPr>
        <p:spPr>
          <a:xfrm>
            <a:off x="815975" y="2067123"/>
            <a:ext cx="5200650" cy="1152823"/>
          </a:xfrm>
          <a:prstGeom prst="roundRect">
            <a:avLst>
              <a:gd name="adj" fmla="val 7436"/>
            </a:avLst>
          </a:prstGeom>
          <a:solidFill>
            <a:srgbClr val="FFFFFE"/>
          </a:solidFill>
          <a:ln w="6350">
            <a:solidFill>
              <a:srgbClr val="D2D9E1"/>
            </a:solidFill>
            <a:prstDash val="solid"/>
          </a:ln>
        </p:spPr>
      </p:sp>
      <p:sp>
        <p:nvSpPr>
          <p:cNvPr id="5" name="Text 3"/>
          <p:cNvSpPr/>
          <p:nvPr/>
        </p:nvSpPr>
        <p:spPr>
          <a:xfrm>
            <a:off x="996950" y="2248098"/>
            <a:ext cx="4983861"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12E"/>
                </a:solidFill>
                <a:latin typeface="IBM Plex Sans" pitchFamily="34" charset="0"/>
                <a:ea typeface="IBM Plex Sans" pitchFamily="34" charset="-122"/>
                <a:cs typeface="IBM Plex Sans" pitchFamily="34" charset="-120"/>
              </a:rPr>
              <a:t>Is backprop gradient descent?</a:t>
            </a:r>
            <a:endParaRPr lang="en-US" sz="1600" dirty="0"/>
          </a:p>
        </p:txBody>
      </p:sp>
      <p:sp>
        <p:nvSpPr>
          <p:cNvPr id="6" name="Text 4"/>
          <p:cNvSpPr/>
          <p:nvPr/>
        </p:nvSpPr>
        <p:spPr>
          <a:xfrm>
            <a:off x="996950" y="2555379"/>
            <a:ext cx="4983861" cy="508992"/>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3D4A59"/>
                </a:solidFill>
                <a:latin typeface="IBM Plex Sans" pitchFamily="34" charset="0"/>
                <a:ea typeface="IBM Plex Sans" pitchFamily="34" charset="-122"/>
                <a:cs typeface="IBM Plex Sans" pitchFamily="34" charset="-120"/>
              </a:rPr>
              <a:t>No. Backprop computes gradients. An optimizer such as SGD or Adam decides how to use them.</a:t>
            </a:r>
            <a:endParaRPr lang="en-US" sz="1400" dirty="0"/>
          </a:p>
        </p:txBody>
      </p:sp>
      <p:sp>
        <p:nvSpPr>
          <p:cNvPr id="7" name="Shape 5"/>
          <p:cNvSpPr/>
          <p:nvPr/>
        </p:nvSpPr>
        <p:spPr>
          <a:xfrm>
            <a:off x="6175375" y="2067123"/>
            <a:ext cx="5200650" cy="1152823"/>
          </a:xfrm>
          <a:prstGeom prst="roundRect">
            <a:avLst>
              <a:gd name="adj" fmla="val 7436"/>
            </a:avLst>
          </a:prstGeom>
          <a:solidFill>
            <a:srgbClr val="FFFFFE"/>
          </a:solidFill>
          <a:ln w="6350">
            <a:solidFill>
              <a:srgbClr val="D2D9E1"/>
            </a:solidFill>
            <a:prstDash val="solid"/>
          </a:ln>
        </p:spPr>
      </p:sp>
      <p:sp>
        <p:nvSpPr>
          <p:cNvPr id="8" name="Text 6"/>
          <p:cNvSpPr/>
          <p:nvPr/>
        </p:nvSpPr>
        <p:spPr>
          <a:xfrm>
            <a:off x="6356350" y="2248098"/>
            <a:ext cx="4983861"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12E"/>
                </a:solidFill>
                <a:latin typeface="IBM Plex Sans" pitchFamily="34" charset="0"/>
                <a:ea typeface="IBM Plex Sans" pitchFamily="34" charset="-122"/>
                <a:cs typeface="IBM Plex Sans" pitchFamily="34" charset="-120"/>
              </a:rPr>
              <a:t>Why clear gradients each step?</a:t>
            </a:r>
            <a:endParaRPr lang="en-US" sz="1600" dirty="0"/>
          </a:p>
        </p:txBody>
      </p:sp>
      <p:sp>
        <p:nvSpPr>
          <p:cNvPr id="9" name="Text 7"/>
          <p:cNvSpPr/>
          <p:nvPr/>
        </p:nvSpPr>
        <p:spPr>
          <a:xfrm>
            <a:off x="6356350" y="2555379"/>
            <a:ext cx="4983861" cy="508992"/>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3D4A59"/>
                </a:solidFill>
                <a:latin typeface="IBM Plex Sans" pitchFamily="34" charset="0"/>
                <a:ea typeface="IBM Plex Sans" pitchFamily="34" charset="-122"/>
                <a:cs typeface="IBM Plex Sans" pitchFamily="34" charset="-120"/>
              </a:rPr>
              <a:t>PyTorch adds new gradients to old ones. That is deliberate: it lets you simulate large batches.</a:t>
            </a:r>
            <a:endParaRPr lang="en-US" sz="1400" dirty="0"/>
          </a:p>
        </p:txBody>
      </p:sp>
      <p:sp>
        <p:nvSpPr>
          <p:cNvPr id="10" name="Shape 8"/>
          <p:cNvSpPr/>
          <p:nvPr/>
        </p:nvSpPr>
        <p:spPr>
          <a:xfrm>
            <a:off x="815975" y="3378696"/>
            <a:ext cx="5200650" cy="1152823"/>
          </a:xfrm>
          <a:prstGeom prst="roundRect">
            <a:avLst>
              <a:gd name="adj" fmla="val 7436"/>
            </a:avLst>
          </a:prstGeom>
          <a:solidFill>
            <a:srgbClr val="FFFFFE"/>
          </a:solidFill>
          <a:ln w="6350">
            <a:solidFill>
              <a:srgbClr val="D2D9E1"/>
            </a:solidFill>
            <a:prstDash val="solid"/>
          </a:ln>
        </p:spPr>
      </p:sp>
      <p:sp>
        <p:nvSpPr>
          <p:cNvPr id="11" name="Text 9"/>
          <p:cNvSpPr/>
          <p:nvPr/>
        </p:nvSpPr>
        <p:spPr>
          <a:xfrm>
            <a:off x="996950" y="3559671"/>
            <a:ext cx="4983861"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12E"/>
                </a:solidFill>
                <a:latin typeface="IBM Plex Sans" pitchFamily="34" charset="0"/>
                <a:ea typeface="IBM Plex Sans" pitchFamily="34" charset="-122"/>
                <a:cs typeface="IBM Plex Sans" pitchFamily="34" charset="-120"/>
              </a:rPr>
              <a:t>Why store activations?</a:t>
            </a:r>
            <a:endParaRPr lang="en-US" sz="1600" dirty="0"/>
          </a:p>
        </p:txBody>
      </p:sp>
      <p:sp>
        <p:nvSpPr>
          <p:cNvPr id="12" name="Text 10"/>
          <p:cNvSpPr/>
          <p:nvPr/>
        </p:nvSpPr>
        <p:spPr>
          <a:xfrm>
            <a:off x="996950" y="3866952"/>
            <a:ext cx="4983861" cy="508992"/>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3D4A59"/>
                </a:solidFill>
                <a:latin typeface="IBM Plex Sans" pitchFamily="34" charset="0"/>
                <a:ea typeface="IBM Plex Sans" pitchFamily="34" charset="-122"/>
                <a:cs typeface="IBM Plex Sans" pitchFamily="34" charset="-120"/>
              </a:rPr>
              <a:t>BP4 needs a[l−1]. The alternative is recomputing it, which is what checkpointing does.</a:t>
            </a:r>
            <a:endParaRPr lang="en-US" sz="1400" dirty="0"/>
          </a:p>
        </p:txBody>
      </p:sp>
      <p:sp>
        <p:nvSpPr>
          <p:cNvPr id="13" name="Shape 11"/>
          <p:cNvSpPr/>
          <p:nvPr/>
        </p:nvSpPr>
        <p:spPr>
          <a:xfrm>
            <a:off x="6175375" y="3378696"/>
            <a:ext cx="5200650" cy="1152823"/>
          </a:xfrm>
          <a:prstGeom prst="roundRect">
            <a:avLst>
              <a:gd name="adj" fmla="val 7436"/>
            </a:avLst>
          </a:prstGeom>
          <a:solidFill>
            <a:srgbClr val="FFFFFE"/>
          </a:solidFill>
          <a:ln w="6350">
            <a:solidFill>
              <a:srgbClr val="D2D9E1"/>
            </a:solidFill>
            <a:prstDash val="solid"/>
          </a:ln>
        </p:spPr>
      </p:sp>
      <p:sp>
        <p:nvSpPr>
          <p:cNvPr id="14" name="Text 12"/>
          <p:cNvSpPr/>
          <p:nvPr/>
        </p:nvSpPr>
        <p:spPr>
          <a:xfrm>
            <a:off x="6356350" y="3559671"/>
            <a:ext cx="4983861"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12E"/>
                </a:solidFill>
                <a:latin typeface="IBM Plex Sans" pitchFamily="34" charset="0"/>
                <a:ea typeface="IBM Plex Sans" pitchFamily="34" charset="-122"/>
                <a:cs typeface="IBM Plex Sans" pitchFamily="34" charset="-120"/>
              </a:rPr>
              <a:t>Does it find the global minimum?</a:t>
            </a:r>
            <a:endParaRPr lang="en-US" sz="1600" dirty="0"/>
          </a:p>
        </p:txBody>
      </p:sp>
      <p:sp>
        <p:nvSpPr>
          <p:cNvPr id="15" name="Text 13"/>
          <p:cNvSpPr/>
          <p:nvPr/>
        </p:nvSpPr>
        <p:spPr>
          <a:xfrm>
            <a:off x="6356350" y="3866952"/>
            <a:ext cx="4983861" cy="508992"/>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3D4A59"/>
                </a:solidFill>
                <a:latin typeface="IBM Plex Sans" pitchFamily="34" charset="0"/>
                <a:ea typeface="IBM Plex Sans" pitchFamily="34" charset="-122"/>
                <a:cs typeface="IBM Plex Sans" pitchFamily="34" charset="-120"/>
              </a:rPr>
              <a:t>No. But most critical points are saddles, and reachable minima have similar loss (§7).</a:t>
            </a:r>
            <a:endParaRPr lang="en-US" sz="1400" dirty="0"/>
          </a:p>
        </p:txBody>
      </p:sp>
      <p:sp>
        <p:nvSpPr>
          <p:cNvPr id="16" name="Text 14"/>
          <p:cNvSpPr/>
          <p:nvPr/>
        </p:nvSpPr>
        <p:spPr>
          <a:xfrm>
            <a:off x="812800" y="6281440"/>
            <a:ext cx="518017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2 · Learning: losses, backpropagation, gradient descent</a:t>
            </a:r>
            <a:endParaRPr lang="en-US" sz="1200" dirty="0"/>
          </a:p>
        </p:txBody>
      </p:sp>
      <p:sp>
        <p:nvSpPr>
          <p:cNvPr id="17" name="Text 15"/>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21 / 31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§7 · GRADIENT DESCENT</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The negative gradient is the steepest-descent direction, but only for small steps.</a:t>
            </a:r>
            <a:endParaRPr lang="en-US" sz="2800" dirty="0"/>
          </a:p>
        </p:txBody>
      </p:sp>
      <p:pic>
        <p:nvPicPr>
          <p:cNvPr id="4" name="Image 0" descr="Elliptical contours of a loss; at one point the gradient points uphill perpendicular to the contour and the update steps the opposite way">    </p:cNvPr>
          <p:cNvPicPr>
            <a:picLocks noChangeAspect="1"/>
          </p:cNvPicPr>
          <p:nvPr/>
        </p:nvPicPr>
        <p:blipFill>
          <a:blip r:embed="rId1"/>
          <a:srcRect l="0" r="0" t="0" b="0"/>
          <a:stretch/>
        </p:blipFill>
        <p:spPr>
          <a:xfrm>
            <a:off x="812800" y="2063948"/>
            <a:ext cx="4826000" cy="3429000"/>
          </a:xfrm>
          <a:prstGeom prst="rect">
            <a:avLst/>
          </a:prstGeom>
        </p:spPr>
      </p:pic>
      <p:sp>
        <p:nvSpPr>
          <p:cNvPr id="5" name="Text 2"/>
          <p:cNvSpPr/>
          <p:nvPr/>
        </p:nvSpPr>
        <p:spPr>
          <a:xfrm>
            <a:off x="4241800" y="2305248"/>
            <a:ext cx="14478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5212E"/>
                </a:solidFill>
                <a:latin typeface="JetBrains Mono" pitchFamily="49" charset="0"/>
                <a:ea typeface="JetBrains Mono" pitchFamily="49" charset="-122"/>
                <a:cs typeface="JetBrains Mono" pitchFamily="49" charset="-120"/>
              </a:rPr>
              <a:t>∇J, uphill</a:t>
            </a:r>
            <a:endParaRPr lang="en-US" sz="1400" dirty="0"/>
          </a:p>
        </p:txBody>
      </p:sp>
      <p:sp>
        <p:nvSpPr>
          <p:cNvPr id="6" name="Text 3"/>
          <p:cNvSpPr/>
          <p:nvPr/>
        </p:nvSpPr>
        <p:spPr>
          <a:xfrm>
            <a:off x="2882900" y="4032448"/>
            <a:ext cx="1003300"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F5FBF"/>
                </a:solidFill>
                <a:latin typeface="JetBrains Mono" pitchFamily="49" charset="0"/>
                <a:ea typeface="JetBrains Mono" pitchFamily="49" charset="-122"/>
                <a:cs typeface="JetBrains Mono" pitchFamily="49" charset="-120"/>
              </a:rPr>
              <a:t>−η∇J</a:t>
            </a:r>
            <a:endParaRPr lang="en-US" sz="1500" dirty="0"/>
          </a:p>
        </p:txBody>
      </p:sp>
      <p:sp>
        <p:nvSpPr>
          <p:cNvPr id="7" name="Text 4"/>
          <p:cNvSpPr/>
          <p:nvPr/>
        </p:nvSpPr>
        <p:spPr>
          <a:xfrm>
            <a:off x="2971800" y="3803848"/>
            <a:ext cx="1066800"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5B6878"/>
                </a:solidFill>
                <a:latin typeface="IBM Plex Sans" pitchFamily="34" charset="0"/>
                <a:ea typeface="IBM Plex Sans" pitchFamily="34" charset="-122"/>
                <a:cs typeface="IBM Plex Sans" pitchFamily="34" charset="-120"/>
              </a:rPr>
              <a:t>minimum</a:t>
            </a:r>
            <a:endParaRPr lang="en-US" sz="1300" dirty="0"/>
          </a:p>
        </p:txBody>
      </p:sp>
      <p:sp>
        <p:nvSpPr>
          <p:cNvPr id="8" name="Text 5"/>
          <p:cNvSpPr/>
          <p:nvPr/>
        </p:nvSpPr>
        <p:spPr>
          <a:xfrm>
            <a:off x="939800" y="5238948"/>
            <a:ext cx="4839970"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5B6878"/>
                </a:solidFill>
                <a:latin typeface="IBM Plex Sans" pitchFamily="34" charset="0"/>
                <a:ea typeface="IBM Plex Sans" pitchFamily="34" charset="-122"/>
                <a:cs typeface="IBM Plex Sans" pitchFamily="34" charset="-120"/>
              </a:rPr>
              <a:t>contours of J(θ); the gradient is perpendicular to them</a:t>
            </a:r>
            <a:endParaRPr lang="en-US" sz="1300" dirty="0"/>
          </a:p>
        </p:txBody>
      </p:sp>
      <p:sp>
        <p:nvSpPr>
          <p:cNvPr id="9" name="Shape 6"/>
          <p:cNvSpPr/>
          <p:nvPr/>
        </p:nvSpPr>
        <p:spPr>
          <a:xfrm>
            <a:off x="6048375" y="2067123"/>
            <a:ext cx="5327650" cy="1427262"/>
          </a:xfrm>
          <a:prstGeom prst="roundRect">
            <a:avLst>
              <a:gd name="adj" fmla="val 6006"/>
            </a:avLst>
          </a:prstGeom>
          <a:solidFill>
            <a:srgbClr val="F2F5F8"/>
          </a:solidFill>
          <a:ln w="6350">
            <a:solidFill>
              <a:srgbClr val="D2D9E1"/>
            </a:solidFill>
            <a:prstDash val="solid"/>
          </a:ln>
        </p:spPr>
      </p:sp>
      <p:sp>
        <p:nvSpPr>
          <p:cNvPr id="10" name="Text 7"/>
          <p:cNvSpPr/>
          <p:nvPr/>
        </p:nvSpPr>
        <p:spPr>
          <a:xfrm>
            <a:off x="6242050" y="2222698"/>
            <a:ext cx="508850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F5FBF"/>
                </a:solidFill>
                <a:latin typeface="IBM Plex Sans" pitchFamily="34" charset="0"/>
                <a:ea typeface="IBM Plex Sans" pitchFamily="34" charset="-122"/>
                <a:cs typeface="IBM Plex Sans" pitchFamily="34" charset="-120"/>
              </a:rPr>
              <a:t>FIRST-ORDER TAYLOR ARGUMENT</a:t>
            </a:r>
            <a:endParaRPr lang="en-US" sz="1200" dirty="0"/>
          </a:p>
        </p:txBody>
      </p:sp>
      <p:sp>
        <p:nvSpPr>
          <p:cNvPr id="11" name="Text 8"/>
          <p:cNvSpPr/>
          <p:nvPr/>
        </p:nvSpPr>
        <p:spPr>
          <a:xfrm>
            <a:off x="6242050" y="2512219"/>
            <a:ext cx="5088509" cy="851991"/>
          </a:xfrm>
          <a:prstGeom prst="rect">
            <a:avLst/>
          </a:prstGeom>
          <a:noFill/>
          <a:ln/>
        </p:spPr>
        <p:txBody>
          <a:bodyPr wrap="none" lIns="0" tIns="0" rIns="0" bIns="0" rtlCol="0" anchor="t">
            <a:normAutofit/>
          </a:bodyPr>
          <a:lstStyle/>
          <a:p>
            <a:pPr algn="l" indent="0" marL="0">
              <a:lnSpc>
                <a:spcPts val="2170"/>
              </a:lnSpc>
              <a:buNone/>
            </a:pPr>
            <a:r>
              <a:rPr lang="en-US" sz="1400" dirty="0">
                <a:solidFill>
                  <a:srgbClr val="15212E"/>
                </a:solidFill>
                <a:latin typeface="JetBrains Mono" pitchFamily="49" charset="0"/>
                <a:ea typeface="JetBrains Mono" pitchFamily="49" charset="-122"/>
                <a:cs typeface="JetBrains Mono" pitchFamily="49" charset="-120"/>
              </a:rPr>
              <a:t>J(θ + Δθ) ≈ J(θ) + ∇J(θ)ᵀ Δθ</a:t>
            </a:r>
            <a:endParaRPr lang="en-US" sz="1400" dirty="0"/>
          </a:p>
          <a:p>
            <a:pPr algn="l" indent="0" marL="0">
              <a:lnSpc>
                <a:spcPts val="2170"/>
              </a:lnSpc>
              <a:buNone/>
            </a:pPr>
            <a:r>
              <a:rPr lang="en-US" sz="1400" dirty="0">
                <a:solidFill>
                  <a:srgbClr val="15212E"/>
                </a:solidFill>
                <a:latin typeface="JetBrains Mono" pitchFamily="49" charset="0"/>
                <a:ea typeface="JetBrains Mono" pitchFamily="49" charset="-122"/>
                <a:cs typeface="JetBrains Mono" pitchFamily="49" charset="-120"/>
              </a:rPr>
              <a:t>∇Jᵀ Δθ = ‖∇J‖ ‖Δθ‖ cos α</a:t>
            </a:r>
            <a:endParaRPr lang="en-US" sz="1400" dirty="0"/>
          </a:p>
          <a:p>
            <a:pPr algn="l" indent="0" marL="0">
              <a:lnSpc>
                <a:spcPts val="2170"/>
              </a:lnSpc>
              <a:buNone/>
            </a:pPr>
            <a:r>
              <a:rPr lang="en-US" sz="1400" dirty="0">
                <a:solidFill>
                  <a:srgbClr val="15212E"/>
                </a:solidFill>
                <a:latin typeface="JetBrains Mono" pitchFamily="49" charset="0"/>
                <a:ea typeface="JetBrains Mono" pitchFamily="49" charset="-122"/>
                <a:cs typeface="JetBrains Mono" pitchFamily="49" charset="-120"/>
              </a:rPr>
              <a:t>most negative at α = π: Δθ = −η ∇J</a:t>
            </a:r>
            <a:endParaRPr lang="en-US" sz="1400" dirty="0"/>
          </a:p>
        </p:txBody>
      </p:sp>
      <p:sp>
        <p:nvSpPr>
          <p:cNvPr id="12" name="Shape 9"/>
          <p:cNvSpPr/>
          <p:nvPr/>
        </p:nvSpPr>
        <p:spPr>
          <a:xfrm>
            <a:off x="6045200" y="3770610"/>
            <a:ext cx="63500" cy="63500"/>
          </a:xfrm>
          <a:prstGeom prst="roundRect">
            <a:avLst>
              <a:gd name="adj" fmla="val 20000"/>
            </a:avLst>
          </a:prstGeom>
          <a:solidFill>
            <a:srgbClr val="1F5FBF"/>
          </a:solidFill>
          <a:ln/>
        </p:spPr>
      </p:sp>
      <p:sp>
        <p:nvSpPr>
          <p:cNvPr id="13" name="Text 10"/>
          <p:cNvSpPr/>
          <p:nvPr/>
        </p:nvSpPr>
        <p:spPr>
          <a:xfrm>
            <a:off x="6248400" y="3675360"/>
            <a:ext cx="5284724" cy="55106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Only for small steps.</a:t>
            </a:r>
            <a:r>
              <a:rPr lang="en-US" sz="1500" dirty="0">
                <a:solidFill>
                  <a:srgbClr val="3D4A59"/>
                </a:solidFill>
                <a:latin typeface="IBM Plex Sans" pitchFamily="34" charset="0"/>
                <a:ea typeface="IBM Plex Sans" pitchFamily="34" charset="-122"/>
                <a:cs typeface="IBM Plex Sans" pitchFamily="34" charset="-120"/>
              </a:rPr>
              <a:t> The expansion is local. Too large a step is what divergence looks like.</a:t>
            </a:r>
            <a:endParaRPr lang="en-US" sz="1500" dirty="0"/>
          </a:p>
        </p:txBody>
      </p:sp>
      <p:sp>
        <p:nvSpPr>
          <p:cNvPr id="14" name="Shape 11"/>
          <p:cNvSpPr/>
          <p:nvPr/>
        </p:nvSpPr>
        <p:spPr>
          <a:xfrm>
            <a:off x="6045200" y="4448671"/>
            <a:ext cx="63500" cy="63500"/>
          </a:xfrm>
          <a:prstGeom prst="roundRect">
            <a:avLst>
              <a:gd name="adj" fmla="val 20000"/>
            </a:avLst>
          </a:prstGeom>
          <a:solidFill>
            <a:srgbClr val="1F5FBF"/>
          </a:solidFill>
          <a:ln/>
        </p:spPr>
      </p:sp>
      <p:sp>
        <p:nvSpPr>
          <p:cNvPr id="15" name="Text 12"/>
          <p:cNvSpPr/>
          <p:nvPr/>
        </p:nvSpPr>
        <p:spPr>
          <a:xfrm>
            <a:off x="6248400" y="4353421"/>
            <a:ext cx="5284724" cy="55106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Only in the Euclidean norm.</a:t>
            </a:r>
            <a:r>
              <a:rPr lang="en-US" sz="1500" dirty="0">
                <a:solidFill>
                  <a:srgbClr val="3D4A59"/>
                </a:solidFill>
                <a:latin typeface="IBM Plex Sans" pitchFamily="34" charset="0"/>
                <a:ea typeface="IBM Plex Sans" pitchFamily="34" charset="-122"/>
                <a:cs typeface="IBM Plex Sans" pitchFamily="34" charset="-120"/>
              </a:rPr>
              <a:t> Other norms give other update rules, one way to read Adam.</a:t>
            </a:r>
            <a:endParaRPr lang="en-US" sz="1500" dirty="0"/>
          </a:p>
        </p:txBody>
      </p:sp>
      <p:sp>
        <p:nvSpPr>
          <p:cNvPr id="16" name="Text 13"/>
          <p:cNvSpPr/>
          <p:nvPr/>
        </p:nvSpPr>
        <p:spPr>
          <a:xfrm>
            <a:off x="812800" y="6281440"/>
            <a:ext cx="518017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2 · Learning: losses, backpropagation, gradient descent</a:t>
            </a:r>
            <a:endParaRPr lang="en-US" sz="1200" dirty="0"/>
          </a:p>
        </p:txBody>
      </p:sp>
      <p:sp>
        <p:nvSpPr>
          <p:cNvPr id="17" name="Text 14"/>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22 / 31</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§7 · GRADIENT DESCENT</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Mini-batches balance noise against cost, because noise falls only as 1/√m.</a:t>
            </a:r>
            <a:endParaRPr lang="en-US" sz="2800" dirty="0"/>
          </a:p>
        </p:txBody>
      </p:sp>
      <p:pic>
        <p:nvPicPr>
          <p:cNvPr id="4" name="Image 0" descr="Gradient noise proportional to one over root m falls quickly from m = 1 to 100 and slowly from 100 to 10,000, while cost grows linearly">    </p:cNvPr>
          <p:cNvPicPr>
            <a:picLocks noChangeAspect="1"/>
          </p:cNvPicPr>
          <p:nvPr/>
        </p:nvPicPr>
        <p:blipFill>
          <a:blip r:embed="rId1"/>
          <a:srcRect l="0" r="0" t="0" b="0"/>
          <a:stretch/>
        </p:blipFill>
        <p:spPr>
          <a:xfrm>
            <a:off x="812800" y="2063948"/>
            <a:ext cx="4953000" cy="3429000"/>
          </a:xfrm>
          <a:prstGeom prst="rect">
            <a:avLst/>
          </a:prstGeom>
        </p:spPr>
      </p:pic>
      <p:sp>
        <p:nvSpPr>
          <p:cNvPr id="5" name="Text 2"/>
          <p:cNvSpPr/>
          <p:nvPr/>
        </p:nvSpPr>
        <p:spPr>
          <a:xfrm>
            <a:off x="1371600" y="2203648"/>
            <a:ext cx="1066800"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15212E"/>
                </a:solidFill>
                <a:latin typeface="IBM Plex Sans" pitchFamily="34" charset="0"/>
                <a:ea typeface="IBM Plex Sans" pitchFamily="34" charset="-122"/>
                <a:cs typeface="IBM Plex Sans" pitchFamily="34" charset="-120"/>
              </a:rPr>
              <a:t>m = 1</a:t>
            </a:r>
            <a:endParaRPr lang="en-US" sz="1300" dirty="0"/>
          </a:p>
        </p:txBody>
      </p:sp>
      <p:sp>
        <p:nvSpPr>
          <p:cNvPr id="6" name="Text 3"/>
          <p:cNvSpPr/>
          <p:nvPr/>
        </p:nvSpPr>
        <p:spPr>
          <a:xfrm>
            <a:off x="2933700" y="2305248"/>
            <a:ext cx="1765935"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F5FBF"/>
                </a:solidFill>
                <a:latin typeface="IBM Plex Sans" pitchFamily="34" charset="0"/>
                <a:ea typeface="IBM Plex Sans" pitchFamily="34" charset="-122"/>
                <a:cs typeface="IBM Plex Sans" pitchFamily="34" charset="-120"/>
              </a:rPr>
              <a:t>mini-batch 32–512</a:t>
            </a:r>
            <a:endParaRPr lang="en-US" sz="1300" dirty="0"/>
          </a:p>
        </p:txBody>
      </p:sp>
      <p:sp>
        <p:nvSpPr>
          <p:cNvPr id="7" name="Text 4"/>
          <p:cNvSpPr/>
          <p:nvPr/>
        </p:nvSpPr>
        <p:spPr>
          <a:xfrm>
            <a:off x="2921000" y="4476948"/>
            <a:ext cx="1320800" cy="231775"/>
          </a:xfrm>
          <a:prstGeom prst="rect">
            <a:avLst/>
          </a:prstGeom>
          <a:noFill/>
          <a:ln/>
        </p:spPr>
        <p:txBody>
          <a:bodyPr wrap="square" lIns="0" tIns="0" rIns="0" bIns="0" rtlCol="0" anchor="t">
            <a:normAutofit/>
          </a:bodyPr>
          <a:lstStyle/>
          <a:p>
            <a:pPr algn="r" indent="0" marL="0">
              <a:lnSpc>
                <a:spcPts val="1625"/>
              </a:lnSpc>
              <a:buNone/>
            </a:pPr>
            <a:r>
              <a:rPr lang="en-US" sz="1300" dirty="0">
                <a:solidFill>
                  <a:srgbClr val="15212E"/>
                </a:solidFill>
                <a:latin typeface="IBM Plex Sans" pitchFamily="34" charset="0"/>
                <a:ea typeface="IBM Plex Sans" pitchFamily="34" charset="-122"/>
                <a:cs typeface="IBM Plex Sans" pitchFamily="34" charset="-120"/>
              </a:rPr>
              <a:t>full batch</a:t>
            </a:r>
            <a:endParaRPr lang="en-US" sz="1300" dirty="0"/>
          </a:p>
        </p:txBody>
      </p:sp>
      <p:sp>
        <p:nvSpPr>
          <p:cNvPr id="8" name="Text 5"/>
          <p:cNvSpPr/>
          <p:nvPr/>
        </p:nvSpPr>
        <p:spPr>
          <a:xfrm>
            <a:off x="977900" y="4845248"/>
            <a:ext cx="5588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1</a:t>
            </a:r>
            <a:endParaRPr lang="en-US" sz="1300" dirty="0"/>
          </a:p>
        </p:txBody>
      </p:sp>
      <p:sp>
        <p:nvSpPr>
          <p:cNvPr id="9" name="Text 6"/>
          <p:cNvSpPr/>
          <p:nvPr/>
        </p:nvSpPr>
        <p:spPr>
          <a:xfrm>
            <a:off x="2057400" y="4845248"/>
            <a:ext cx="5588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10</a:t>
            </a:r>
            <a:endParaRPr lang="en-US" sz="1300" dirty="0"/>
          </a:p>
        </p:txBody>
      </p:sp>
      <p:sp>
        <p:nvSpPr>
          <p:cNvPr id="10" name="Text 7"/>
          <p:cNvSpPr/>
          <p:nvPr/>
        </p:nvSpPr>
        <p:spPr>
          <a:xfrm>
            <a:off x="3136900" y="4845248"/>
            <a:ext cx="5588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100</a:t>
            </a:r>
            <a:endParaRPr lang="en-US" sz="1300" dirty="0"/>
          </a:p>
        </p:txBody>
      </p:sp>
      <p:sp>
        <p:nvSpPr>
          <p:cNvPr id="11" name="Text 8"/>
          <p:cNvSpPr/>
          <p:nvPr/>
        </p:nvSpPr>
        <p:spPr>
          <a:xfrm>
            <a:off x="4216400" y="4845248"/>
            <a:ext cx="5588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10³</a:t>
            </a:r>
            <a:endParaRPr lang="en-US" sz="1300" dirty="0"/>
          </a:p>
        </p:txBody>
      </p:sp>
      <p:sp>
        <p:nvSpPr>
          <p:cNvPr id="12" name="Text 9"/>
          <p:cNvSpPr/>
          <p:nvPr/>
        </p:nvSpPr>
        <p:spPr>
          <a:xfrm>
            <a:off x="5232400" y="4845248"/>
            <a:ext cx="5588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10⁴</a:t>
            </a:r>
            <a:endParaRPr lang="en-US" sz="1300" dirty="0"/>
          </a:p>
        </p:txBody>
      </p:sp>
      <p:sp>
        <p:nvSpPr>
          <p:cNvPr id="13" name="Text 10"/>
          <p:cNvSpPr/>
          <p:nvPr/>
        </p:nvSpPr>
        <p:spPr>
          <a:xfrm>
            <a:off x="2108200" y="5099248"/>
            <a:ext cx="26162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3D4A59"/>
                </a:solidFill>
                <a:latin typeface="IBM Plex Sans" pitchFamily="34" charset="0"/>
                <a:ea typeface="IBM Plex Sans" pitchFamily="34" charset="-122"/>
                <a:cs typeface="IBM Plex Sans" pitchFamily="34" charset="-120"/>
              </a:rPr>
              <a:t>batch size m (log scale)</a:t>
            </a:r>
            <a:endParaRPr lang="en-US" sz="1300" dirty="0"/>
          </a:p>
        </p:txBody>
      </p:sp>
      <p:sp>
        <p:nvSpPr>
          <p:cNvPr id="14" name="Text 11"/>
          <p:cNvSpPr/>
          <p:nvPr/>
        </p:nvSpPr>
        <p:spPr>
          <a:xfrm>
            <a:off x="1257300" y="5365948"/>
            <a:ext cx="261620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F5FBF"/>
                </a:solidFill>
                <a:latin typeface="IBM Plex Sans" pitchFamily="34" charset="0"/>
                <a:ea typeface="IBM Plex Sans" pitchFamily="34" charset="-122"/>
                <a:cs typeface="IBM Plex Sans" pitchFamily="34" charset="-120"/>
              </a:rPr>
              <a:t>gradient noise ∝ 1/√m</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184900" y="2076648"/>
          <a:ext cx="5194300" cy="2445544"/>
        </p:xfrm>
        <a:graphic>
          <a:graphicData uri="http://schemas.openxmlformats.org/drawingml/2006/table">
            <a:tbl>
              <a:tblPr/>
              <a:tblGrid>
                <a:gridCol w="1558290"/>
                <a:gridCol w="1142746"/>
                <a:gridCol w="1350518"/>
                <a:gridCol w="1142746"/>
              </a:tblGrid>
              <a:tr h="439341">
                <a:tc>
                  <a:txBody>
                    <a:bodyPr/>
                    <a:lstStyle/>
                    <a:p>
                      <a:pPr indent="0" marL="0">
                        <a:lnSpc>
                          <a:spcPts val="1960"/>
                        </a:lnSpc>
                        <a:buNone/>
                      </a:pP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BCBCA"/>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BCBCA"/>
                      </a:solidFill>
                      <a:prstDash val="solid"/>
                      <a:round/>
                      <a:headEnd type="none" w="med" len="med"/>
                      <a:tailEnd type="none" w="med" len="med"/>
                    </a:lnB>
                    <a:solidFill>
                      <a:srgbClr val="FFFFFE"/>
                    </a:solidFill>
                  </a:tcPr>
                </a:tc>
                <a:tc>
                  <a:txBody>
                    <a:bodyPr/>
                    <a:lstStyle/>
                    <a:p>
                      <a:pPr indent="0" marL="0">
                        <a:lnSpc>
                          <a:spcPts val="1960"/>
                        </a:lnSpc>
                        <a:buNone/>
                      </a:pPr>
                      <a:r>
                        <a:rPr lang="en-US" sz="1400" b="1" dirty="0">
                          <a:solidFill>
                            <a:srgbClr val="15212E"/>
                          </a:solidFill>
                          <a:latin typeface="IBM Plex Sans" pitchFamily="34" charset="0"/>
                          <a:ea typeface="IBM Plex Sans" pitchFamily="34" charset="-122"/>
                          <a:cs typeface="IBM Plex Sans" pitchFamily="34" charset="-120"/>
                        </a:rPr>
                        <a:t>Full batch</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BCBCA"/>
                      </a:solidFill>
                      <a:prstDash val="solid"/>
                      <a:round/>
                      <a:headEnd type="none" w="med" len="med"/>
                      <a:tailEnd type="none" w="med" len="med"/>
                    </a:lnL>
                    <a:lnR w="12700" cap="flat" cmpd="sng" algn="ctr">
                      <a:solidFill>
                        <a:srgbClr val="CBCBCA"/>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BCBCA"/>
                      </a:solidFill>
                      <a:prstDash val="solid"/>
                      <a:round/>
                      <a:headEnd type="none" w="med" len="med"/>
                      <a:tailEnd type="none" w="med" len="med"/>
                    </a:lnB>
                    <a:solidFill>
                      <a:srgbClr val="FFFFFE"/>
                    </a:solidFill>
                  </a:tcPr>
                </a:tc>
                <a:tc>
                  <a:txBody>
                    <a:bodyPr/>
                    <a:lstStyle/>
                    <a:p>
                      <a:pPr indent="0" marL="0">
                        <a:lnSpc>
                          <a:spcPts val="1960"/>
                        </a:lnSpc>
                        <a:buNone/>
                      </a:pPr>
                      <a:r>
                        <a:rPr lang="en-US" sz="1400" b="1" dirty="0">
                          <a:solidFill>
                            <a:srgbClr val="15212E"/>
                          </a:solidFill>
                          <a:latin typeface="IBM Plex Sans" pitchFamily="34" charset="0"/>
                          <a:ea typeface="IBM Plex Sans" pitchFamily="34" charset="-122"/>
                          <a:cs typeface="IBM Plex Sans" pitchFamily="34" charset="-120"/>
                        </a:rPr>
                        <a:t>Mini-batch</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BCBCA"/>
                      </a:solidFill>
                      <a:prstDash val="solid"/>
                      <a:round/>
                      <a:headEnd type="none" w="med" len="med"/>
                      <a:tailEnd type="none" w="med" len="med"/>
                    </a:lnL>
                    <a:lnR w="12700" cap="flat" cmpd="sng" algn="ctr">
                      <a:solidFill>
                        <a:srgbClr val="CBCBCA"/>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BCBCA"/>
                      </a:solidFill>
                      <a:prstDash val="solid"/>
                      <a:round/>
                      <a:headEnd type="none" w="med" len="med"/>
                      <a:tailEnd type="none" w="med" len="med"/>
                    </a:lnB>
                    <a:solidFill>
                      <a:srgbClr val="FFFFFE"/>
                    </a:solidFill>
                  </a:tcPr>
                </a:tc>
                <a:tc>
                  <a:txBody>
                    <a:bodyPr/>
                    <a:lstStyle/>
                    <a:p>
                      <a:pPr indent="0" marL="0">
                        <a:lnSpc>
                          <a:spcPts val="1960"/>
                        </a:lnSpc>
                        <a:buNone/>
                      </a:pPr>
                      <a:r>
                        <a:rPr lang="en-US" sz="1400" b="1" dirty="0">
                          <a:solidFill>
                            <a:srgbClr val="15212E"/>
                          </a:solidFill>
                          <a:latin typeface="IBM Plex Sans" pitchFamily="34" charset="0"/>
                          <a:ea typeface="IBM Plex Sans" pitchFamily="34" charset="-122"/>
                          <a:cs typeface="IBM Plex Sans" pitchFamily="34" charset="-120"/>
                        </a:rPr>
                        <a:t>SGD (m=1)</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BCBCA"/>
                      </a:solidFill>
                      <a:prstDash val="solid"/>
                      <a:round/>
                      <a:headEnd type="none" w="med" len="med"/>
                      <a:tailEnd type="none" w="med" len="med"/>
                    </a:lnL>
                    <a:lnR w="12700" cap="flat" cmpd="sng" algn="ctr">
                      <a:solidFill>
                        <a:srgbClr val="CBCBCA"/>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BCBCA"/>
                      </a:solidFill>
                      <a:prstDash val="solid"/>
                      <a:round/>
                      <a:headEnd type="none" w="med" len="med"/>
                      <a:tailEnd type="none" w="med" len="med"/>
                    </a:lnB>
                    <a:solidFill>
                      <a:srgbClr val="FFFFFE"/>
                    </a:solidFill>
                  </a:tcPr>
                </a:tc>
              </a:tr>
              <a:tr h="68818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Gradient</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BCBCA"/>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exact</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BCBCA"/>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good estimate</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BCBCA"/>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noisy</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BCBCA"/>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Steps per epoch</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N/m</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N</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Hardware use</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good</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excellent</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poor</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15212E"/>
                          </a:solidFill>
                          <a:latin typeface="IBM Plex Sans" pitchFamily="34" charset="0"/>
                          <a:ea typeface="IBM Plex Sans" pitchFamily="34" charset="-122"/>
                          <a:cs typeface="IBM Plex Sans" pitchFamily="34" charset="-120"/>
                        </a:rPr>
                        <a:t>Verdict</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B6BEC8"/>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6BEC8"/>
                      </a:solidFill>
                      <a:prstDash val="solid"/>
                      <a:round/>
                      <a:headEnd type="none" w="med" len="med"/>
                      <a:tailEnd type="none" w="med" len="med"/>
                    </a:lnB>
                    <a:solidFill>
                      <a:srgbClr val="E4EEFB"/>
                    </a:solidFill>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too slow</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B6BEC8"/>
                      </a:solidFill>
                      <a:prstDash val="solid"/>
                      <a:round/>
                      <a:headEnd type="none" w="med" len="med"/>
                      <a:tailEnd type="none" w="med" len="med"/>
                    </a:lnL>
                    <a:lnR w="12700" cap="flat" cmpd="sng" algn="ctr">
                      <a:solidFill>
                        <a:srgbClr val="B6BEC8"/>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6BEC8"/>
                      </a:solidFill>
                      <a:prstDash val="solid"/>
                      <a:round/>
                      <a:headEnd type="none" w="med" len="med"/>
                      <a:tailEnd type="none" w="med" len="med"/>
                    </a:lnB>
                    <a:solidFill>
                      <a:srgbClr val="E4EEFB"/>
                    </a:solidFill>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use this</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B6BEC8"/>
                      </a:solidFill>
                      <a:prstDash val="solid"/>
                      <a:round/>
                      <a:headEnd type="none" w="med" len="med"/>
                      <a:tailEnd type="none" w="med" len="med"/>
                    </a:lnL>
                    <a:lnR w="12700" cap="flat" cmpd="sng" algn="ctr">
                      <a:solidFill>
                        <a:srgbClr val="B6BEC8"/>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6BEC8"/>
                      </a:solidFill>
                      <a:prstDash val="solid"/>
                      <a:round/>
                      <a:headEnd type="none" w="med" len="med"/>
                      <a:tailEnd type="none" w="med" len="med"/>
                    </a:lnB>
                    <a:solidFill>
                      <a:srgbClr val="E4EEFB"/>
                    </a:solidFill>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too noisy</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B6BEC8"/>
                      </a:solidFill>
                      <a:prstDash val="solid"/>
                      <a:round/>
                      <a:headEnd type="none" w="med" len="med"/>
                      <a:tailEnd type="none" w="med" len="med"/>
                    </a:lnL>
                    <a:lnR w="12700" cap="flat" cmpd="sng" algn="ctr">
                      <a:solidFill>
                        <a:srgbClr val="B6BEC8"/>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6BEC8"/>
                      </a:solidFill>
                      <a:prstDash val="solid"/>
                      <a:round/>
                      <a:headEnd type="none" w="med" len="med"/>
                      <a:tailEnd type="none" w="med" len="med"/>
                    </a:lnB>
                    <a:solidFill>
                      <a:srgbClr val="E4EEFB"/>
                    </a:solidFill>
                  </a:tcPr>
                </a:tc>
              </a:tr>
            </a:tbl>
          </a:graphicData>
        </a:graphic>
      </p:graphicFrame>
      <p:sp>
        <p:nvSpPr>
          <p:cNvPr id="16" name="Text 12"/>
          <p:cNvSpPr/>
          <p:nvPr/>
        </p:nvSpPr>
        <p:spPr>
          <a:xfrm>
            <a:off x="6172200" y="4699992"/>
            <a:ext cx="5363210" cy="551061"/>
          </a:xfrm>
          <a:prstGeom prst="rect">
            <a:avLst/>
          </a:prstGeom>
          <a:noFill/>
          <a:ln/>
        </p:spPr>
        <p:txBody>
          <a:bodyPr wrap="square" lIns="0" tIns="0" rIns="0" bIns="0" rtlCol="0" anchor="t">
            <a:normAutofit/>
          </a:bodyPr>
          <a:lstStyle/>
          <a:p>
            <a:pPr algn="l" indent="0" marL="0">
              <a:lnSpc>
                <a:spcPts val="2070"/>
              </a:lnSpc>
              <a:buNone/>
            </a:pPr>
            <a:r>
              <a:rPr lang="en-US" sz="1500" dirty="0">
                <a:solidFill>
                  <a:srgbClr val="15212E"/>
                </a:solidFill>
                <a:latin typeface="IBM Plex Sans" pitchFamily="34" charset="0"/>
                <a:ea typeface="IBM Plex Sans" pitchFamily="34" charset="-122"/>
                <a:cs typeface="IBM Plex Sans" pitchFamily="34" charset="-120"/>
              </a:rPr>
              <a:t>One epoch is one pass over the data. One iteration is one update.</a:t>
            </a:r>
            <a:endParaRPr lang="en-US" sz="1500" dirty="0"/>
          </a:p>
        </p:txBody>
      </p:sp>
      <p:sp>
        <p:nvSpPr>
          <p:cNvPr id="17" name="Text 13"/>
          <p:cNvSpPr/>
          <p:nvPr/>
        </p:nvSpPr>
        <p:spPr>
          <a:xfrm>
            <a:off x="812800" y="6281440"/>
            <a:ext cx="518017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2 · Learning: losses, backpropagation, gradient descent</a:t>
            </a:r>
            <a:endParaRPr lang="en-US" sz="1200" dirty="0"/>
          </a:p>
        </p:txBody>
      </p:sp>
      <p:sp>
        <p:nvSpPr>
          <p:cNvPr id="18" name="Text 14"/>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23 / 31</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§7 · GRADIENT DESCENT</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The sharpest curvature sets the learning-rate limit: η must stay below 2/λₘₐₓ.</a:t>
            </a:r>
            <a:endParaRPr lang="en-US" sz="2800" dirty="0"/>
          </a:p>
        </p:txBody>
      </p:sp>
      <p:pic>
        <p:nvPicPr>
          <p:cNvPr id="4" name="Image 0" descr="Small learning rate: slow creep toward the minimum">    </p:cNvPr>
          <p:cNvPicPr>
            <a:picLocks noChangeAspect="1"/>
          </p:cNvPicPr>
          <p:nvPr/>
        </p:nvPicPr>
        <p:blipFill>
          <a:blip r:embed="rId1"/>
          <a:srcRect l="0" r="0" t="0" b="0"/>
          <a:stretch/>
        </p:blipFill>
        <p:spPr>
          <a:xfrm>
            <a:off x="812800" y="2063948"/>
            <a:ext cx="3302000" cy="1714500"/>
          </a:xfrm>
          <a:prstGeom prst="rect">
            <a:avLst/>
          </a:prstGeom>
        </p:spPr>
      </p:pic>
      <p:sp>
        <p:nvSpPr>
          <p:cNvPr id="5" name="Text 2"/>
          <p:cNvSpPr/>
          <p:nvPr/>
        </p:nvSpPr>
        <p:spPr>
          <a:xfrm>
            <a:off x="812800" y="2063948"/>
            <a:ext cx="1701800"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6B7785"/>
                </a:solidFill>
                <a:latin typeface="IBM Plex Sans" pitchFamily="34" charset="0"/>
                <a:ea typeface="IBM Plex Sans" pitchFamily="34" charset="-122"/>
                <a:cs typeface="IBM Plex Sans" pitchFamily="34" charset="-120"/>
              </a:rPr>
              <a:t>η too small</a:t>
            </a:r>
            <a:endParaRPr lang="en-US" sz="1500" dirty="0"/>
          </a:p>
        </p:txBody>
      </p:sp>
      <p:sp>
        <p:nvSpPr>
          <p:cNvPr id="6" name="Text 3"/>
          <p:cNvSpPr/>
          <p:nvPr/>
        </p:nvSpPr>
        <p:spPr>
          <a:xfrm>
            <a:off x="761365" y="2089348"/>
            <a:ext cx="1765935" cy="231775"/>
          </a:xfrm>
          <a:prstGeom prst="rect">
            <a:avLst/>
          </a:prstGeom>
          <a:noFill/>
          <a:ln/>
        </p:spPr>
        <p:txBody>
          <a:bodyPr wrap="square" lIns="0" tIns="0" rIns="0" bIns="0" rtlCol="0" anchor="t">
            <a:normAutofit/>
          </a:bodyPr>
          <a:lstStyle/>
          <a:p>
            <a:pPr algn="r" indent="0" marL="0">
              <a:lnSpc>
                <a:spcPts val="1625"/>
              </a:lnSpc>
              <a:buNone/>
            </a:pPr>
            <a:r>
              <a:rPr lang="en-US" sz="1300" dirty="0">
                <a:solidFill>
                  <a:srgbClr val="3D4A59"/>
                </a:solidFill>
                <a:latin typeface="JetBrains Mono" pitchFamily="49" charset="0"/>
                <a:ea typeface="JetBrains Mono" pitchFamily="49" charset="-122"/>
                <a:cs typeface="JetBrains Mono" pitchFamily="49" charset="-120"/>
              </a:rPr>
              <a:t>θ ← 0.85 θ</a:t>
            </a:r>
            <a:endParaRPr lang="en-US" sz="1300" dirty="0"/>
          </a:p>
        </p:txBody>
      </p:sp>
      <p:pic>
        <p:nvPicPr>
          <p:cNvPr id="7" name="Image 1" descr="Moderate learning rate: oscillates but converges">    </p:cNvPr>
          <p:cNvPicPr>
            <a:picLocks noChangeAspect="1"/>
          </p:cNvPicPr>
          <p:nvPr/>
        </p:nvPicPr>
        <p:blipFill>
          <a:blip r:embed="rId2"/>
          <a:srcRect l="0" r="0" t="0" b="0"/>
          <a:stretch/>
        </p:blipFill>
        <p:spPr>
          <a:xfrm>
            <a:off x="4445000" y="2063948"/>
            <a:ext cx="3302000" cy="1714500"/>
          </a:xfrm>
          <a:prstGeom prst="rect">
            <a:avLst/>
          </a:prstGeom>
        </p:spPr>
      </p:pic>
      <p:sp>
        <p:nvSpPr>
          <p:cNvPr id="8" name="Text 4"/>
          <p:cNvSpPr/>
          <p:nvPr/>
        </p:nvSpPr>
        <p:spPr>
          <a:xfrm>
            <a:off x="4445000" y="2063948"/>
            <a:ext cx="1701800"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F5FBF"/>
                </a:solidFill>
                <a:latin typeface="IBM Plex Sans" pitchFamily="34" charset="0"/>
                <a:ea typeface="IBM Plex Sans" pitchFamily="34" charset="-122"/>
                <a:cs typeface="IBM Plex Sans" pitchFamily="34" charset="-120"/>
              </a:rPr>
              <a:t>η &lt; 2/λ</a:t>
            </a:r>
            <a:endParaRPr lang="en-US" sz="1500" dirty="0"/>
          </a:p>
        </p:txBody>
      </p:sp>
      <p:sp>
        <p:nvSpPr>
          <p:cNvPr id="9" name="Text 5"/>
          <p:cNvSpPr/>
          <p:nvPr/>
        </p:nvSpPr>
        <p:spPr>
          <a:xfrm>
            <a:off x="4393565" y="2089348"/>
            <a:ext cx="1765935" cy="231775"/>
          </a:xfrm>
          <a:prstGeom prst="rect">
            <a:avLst/>
          </a:prstGeom>
          <a:noFill/>
          <a:ln/>
        </p:spPr>
        <p:txBody>
          <a:bodyPr wrap="square" lIns="0" tIns="0" rIns="0" bIns="0" rtlCol="0" anchor="t">
            <a:normAutofit/>
          </a:bodyPr>
          <a:lstStyle/>
          <a:p>
            <a:pPr algn="r" indent="0" marL="0">
              <a:lnSpc>
                <a:spcPts val="1625"/>
              </a:lnSpc>
              <a:buNone/>
            </a:pPr>
            <a:r>
              <a:rPr lang="en-US" sz="1300" dirty="0">
                <a:solidFill>
                  <a:srgbClr val="3D4A59"/>
                </a:solidFill>
                <a:latin typeface="JetBrains Mono" pitchFamily="49" charset="0"/>
                <a:ea typeface="JetBrains Mono" pitchFamily="49" charset="-122"/>
                <a:cs typeface="JetBrains Mono" pitchFamily="49" charset="-120"/>
              </a:rPr>
              <a:t>θ ← −0.6 θ</a:t>
            </a:r>
            <a:endParaRPr lang="en-US" sz="1300" dirty="0"/>
          </a:p>
        </p:txBody>
      </p:sp>
      <p:pic>
        <p:nvPicPr>
          <p:cNvPr id="10" name="Image 2" descr="Too large: each step overshoots further and diverges">    </p:cNvPr>
          <p:cNvPicPr>
            <a:picLocks noChangeAspect="1"/>
          </p:cNvPicPr>
          <p:nvPr/>
        </p:nvPicPr>
        <p:blipFill>
          <a:blip r:embed="rId3"/>
          <a:srcRect l="0" r="0" t="0" b="0"/>
          <a:stretch/>
        </p:blipFill>
        <p:spPr>
          <a:xfrm>
            <a:off x="8077200" y="2063948"/>
            <a:ext cx="3302000" cy="1714500"/>
          </a:xfrm>
          <a:prstGeom prst="rect">
            <a:avLst/>
          </a:prstGeom>
        </p:spPr>
      </p:pic>
      <p:sp>
        <p:nvSpPr>
          <p:cNvPr id="11" name="Text 6"/>
          <p:cNvSpPr/>
          <p:nvPr/>
        </p:nvSpPr>
        <p:spPr>
          <a:xfrm>
            <a:off x="8077200" y="2063948"/>
            <a:ext cx="1701800"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A04F00"/>
                </a:solidFill>
                <a:latin typeface="IBM Plex Sans" pitchFamily="34" charset="0"/>
                <a:ea typeface="IBM Plex Sans" pitchFamily="34" charset="-122"/>
                <a:cs typeface="IBM Plex Sans" pitchFamily="34" charset="-120"/>
              </a:rPr>
              <a:t>η &gt; 2/λ</a:t>
            </a:r>
            <a:endParaRPr lang="en-US" sz="1500" dirty="0"/>
          </a:p>
        </p:txBody>
      </p:sp>
      <p:sp>
        <p:nvSpPr>
          <p:cNvPr id="12" name="Text 7"/>
          <p:cNvSpPr/>
          <p:nvPr/>
        </p:nvSpPr>
        <p:spPr>
          <a:xfrm>
            <a:off x="8025765" y="2089348"/>
            <a:ext cx="1765935" cy="231775"/>
          </a:xfrm>
          <a:prstGeom prst="rect">
            <a:avLst/>
          </a:prstGeom>
          <a:noFill/>
          <a:ln/>
        </p:spPr>
        <p:txBody>
          <a:bodyPr wrap="square" lIns="0" tIns="0" rIns="0" bIns="0" rtlCol="0" anchor="t">
            <a:normAutofit/>
          </a:bodyPr>
          <a:lstStyle/>
          <a:p>
            <a:pPr algn="r" indent="0" marL="0">
              <a:lnSpc>
                <a:spcPts val="1625"/>
              </a:lnSpc>
              <a:buNone/>
            </a:pPr>
            <a:r>
              <a:rPr lang="en-US" sz="1300" dirty="0">
                <a:solidFill>
                  <a:srgbClr val="3D4A59"/>
                </a:solidFill>
                <a:latin typeface="JetBrains Mono" pitchFamily="49" charset="0"/>
                <a:ea typeface="JetBrains Mono" pitchFamily="49" charset="-122"/>
                <a:cs typeface="JetBrains Mono" pitchFamily="49" charset="-120"/>
              </a:rPr>
              <a:t>θ ← −1.25 θ</a:t>
            </a:r>
            <a:endParaRPr lang="en-US" sz="1300" dirty="0"/>
          </a:p>
        </p:txBody>
      </p:sp>
      <p:sp>
        <p:nvSpPr>
          <p:cNvPr id="13" name="Text 8"/>
          <p:cNvSpPr/>
          <p:nvPr/>
        </p:nvSpPr>
        <p:spPr>
          <a:xfrm>
            <a:off x="815975" y="3984823"/>
            <a:ext cx="4158258" cy="901700"/>
          </a:xfrm>
          <a:prstGeom prst="roundRect">
            <a:avLst>
              <a:gd name="adj" fmla="val 9507"/>
            </a:avLst>
          </a:prstGeom>
          <a:solidFill>
            <a:srgbClr val="F2F5F8"/>
          </a:solidFill>
          <a:ln w="6350">
            <a:solidFill>
              <a:srgbClr val="D2D9E1"/>
            </a:solidFill>
            <a:prstDash val="solid"/>
          </a:ln>
        </p:spPr>
        <p:txBody>
          <a:bodyPr wrap="none" lIns="168567" tIns="130467" rIns="55440" bIns="105067" rtlCol="0" anchor="t">
            <a:normAutofit/>
          </a:bodyPr>
          <a:lstStyle/>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J = ½λθ² ⇒ θ ← (1 − ηλ) θ</a:t>
            </a:r>
            <a:endParaRPr lang="en-US" sz="1500" dirty="0"/>
          </a:p>
          <a:p>
            <a:pPr algn="l" indent="0" marL="0">
              <a:lnSpc>
                <a:spcPts val="2325"/>
              </a:lnSpc>
              <a:buNone/>
            </a:pPr>
            <a:r>
              <a:rPr lang="en-US" sz="1500" dirty="0">
                <a:solidFill>
                  <a:srgbClr val="15212E"/>
                </a:solidFill>
                <a:latin typeface="JetBrains Mono" pitchFamily="49" charset="0"/>
                <a:ea typeface="JetBrains Mono" pitchFamily="49" charset="-122"/>
                <a:cs typeface="JetBrains Mono" pitchFamily="49" charset="-120"/>
              </a:rPr>
              <a:t>converges only if |1 − ηλ| &lt; 1, i.e. η &lt; 2/λ</a:t>
            </a:r>
            <a:endParaRPr lang="en-US" sz="1500" dirty="0"/>
          </a:p>
        </p:txBody>
      </p:sp>
      <p:sp>
        <p:nvSpPr>
          <p:cNvPr id="14" name="Text 9"/>
          <p:cNvSpPr/>
          <p:nvPr/>
        </p:nvSpPr>
        <p:spPr>
          <a:xfrm>
            <a:off x="5383808" y="4172843"/>
            <a:ext cx="6175254" cy="551061"/>
          </a:xfrm>
          <a:prstGeom prst="rect">
            <a:avLst/>
          </a:prstGeom>
          <a:noFill/>
          <a:ln/>
        </p:spPr>
        <p:txBody>
          <a:bodyPr wrap="square" lIns="0" tIns="0" rIns="0" bIns="0" rtlCol="0" anchor="t">
            <a:normAutofit/>
          </a:bodyPr>
          <a:lstStyle/>
          <a:p>
            <a:pPr algn="l" indent="0" marL="0">
              <a:lnSpc>
                <a:spcPts val="2070"/>
              </a:lnSpc>
              <a:buNone/>
            </a:pPr>
            <a:r>
              <a:rPr lang="en-US" sz="1500" dirty="0">
                <a:solidFill>
                  <a:srgbClr val="15212E"/>
                </a:solidFill>
                <a:latin typeface="IBM Plex Sans" pitchFamily="34" charset="0"/>
                <a:ea typeface="IBM Plex Sans" pitchFamily="34" charset="-122"/>
                <a:cs typeface="IBM Plex Sans" pitchFamily="34" charset="-120"/>
              </a:rPr>
              <a:t>In a network λ is the largest Hessian eigenvalue, so the sharpest direction sets the limit for all.</a:t>
            </a:r>
            <a:endParaRPr lang="en-US" sz="1500" dirty="0"/>
          </a:p>
        </p:txBody>
      </p:sp>
      <p:sp>
        <p:nvSpPr>
          <p:cNvPr id="15" name="Text 10"/>
          <p:cNvSpPr/>
          <p:nvPr/>
        </p:nvSpPr>
        <p:spPr>
          <a:xfrm>
            <a:off x="812800" y="6281440"/>
            <a:ext cx="518017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2 · Learning: losses, backpropagation, gradient descent</a:t>
            </a:r>
            <a:endParaRPr lang="en-US" sz="1200" dirty="0"/>
          </a:p>
        </p:txBody>
      </p:sp>
      <p:sp>
        <p:nvSpPr>
          <p:cNvPr id="16" name="Text 11"/>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24 / 31</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§7 · GRADIENT DESCENT</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The learning-rate range test picks a rate about ten times below where the loss bottoms out.</a:t>
            </a:r>
            <a:endParaRPr lang="en-US" sz="2800" dirty="0"/>
          </a:p>
        </p:txBody>
      </p:sp>
      <p:pic>
        <p:nvPicPr>
          <p:cNvPr id="4" name="Image 0" descr="Schematic learning-rate range test: loss is flat at tiny rates, falls steeply, bottoms out, then explodes; the chosen rate is one decade below the minimum">    </p:cNvPr>
          <p:cNvPicPr>
            <a:picLocks noChangeAspect="1"/>
          </p:cNvPicPr>
          <p:nvPr/>
        </p:nvPicPr>
        <p:blipFill>
          <a:blip r:embed="rId1"/>
          <a:srcRect l="0" r="0" t="0" b="0"/>
          <a:stretch/>
        </p:blipFill>
        <p:spPr>
          <a:xfrm>
            <a:off x="812800" y="2063948"/>
            <a:ext cx="5715000" cy="3429000"/>
          </a:xfrm>
          <a:prstGeom prst="rect">
            <a:avLst/>
          </a:prstGeom>
        </p:spPr>
      </p:pic>
      <p:sp>
        <p:nvSpPr>
          <p:cNvPr id="5" name="Text 2"/>
          <p:cNvSpPr/>
          <p:nvPr/>
        </p:nvSpPr>
        <p:spPr>
          <a:xfrm>
            <a:off x="4876800" y="2254448"/>
            <a:ext cx="170180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A04F00"/>
                </a:solidFill>
                <a:latin typeface="IBM Plex Sans" pitchFamily="34" charset="0"/>
                <a:ea typeface="IBM Plex Sans" pitchFamily="34" charset="-122"/>
                <a:cs typeface="IBM Plex Sans" pitchFamily="34" charset="-120"/>
              </a:rPr>
              <a:t>loss bottoms out</a:t>
            </a:r>
            <a:endParaRPr lang="en-US" sz="1300" dirty="0"/>
          </a:p>
        </p:txBody>
      </p:sp>
      <p:sp>
        <p:nvSpPr>
          <p:cNvPr id="6" name="Text 3"/>
          <p:cNvSpPr/>
          <p:nvPr/>
        </p:nvSpPr>
        <p:spPr>
          <a:xfrm>
            <a:off x="956310" y="2254448"/>
            <a:ext cx="1831340" cy="231775"/>
          </a:xfrm>
          <a:prstGeom prst="rect">
            <a:avLst/>
          </a:prstGeom>
          <a:noFill/>
          <a:ln/>
        </p:spPr>
        <p:txBody>
          <a:bodyPr wrap="square" lIns="0" tIns="0" rIns="0" bIns="0" rtlCol="0" anchor="t">
            <a:normAutofit/>
          </a:bodyPr>
          <a:lstStyle/>
          <a:p>
            <a:pPr algn="r" indent="0" marL="0">
              <a:lnSpc>
                <a:spcPts val="1625"/>
              </a:lnSpc>
              <a:buNone/>
            </a:pPr>
            <a:r>
              <a:rPr lang="en-US" sz="1300" b="1" dirty="0">
                <a:solidFill>
                  <a:srgbClr val="15212E"/>
                </a:solidFill>
                <a:latin typeface="IBM Plex Sans" pitchFamily="34" charset="0"/>
                <a:ea typeface="IBM Plex Sans" pitchFamily="34" charset="-122"/>
                <a:cs typeface="IBM Plex Sans" pitchFamily="34" charset="-120"/>
              </a:rPr>
              <a:t>pick ≈ 10× lower</a:t>
            </a:r>
            <a:endParaRPr lang="en-US" sz="1300" dirty="0"/>
          </a:p>
        </p:txBody>
      </p:sp>
      <p:sp>
        <p:nvSpPr>
          <p:cNvPr id="7" name="Text 4"/>
          <p:cNvSpPr/>
          <p:nvPr/>
        </p:nvSpPr>
        <p:spPr>
          <a:xfrm>
            <a:off x="1581150" y="4781748"/>
            <a:ext cx="6223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10⁻⁶</a:t>
            </a:r>
            <a:endParaRPr lang="en-US" sz="1300" dirty="0"/>
          </a:p>
        </p:txBody>
      </p:sp>
      <p:sp>
        <p:nvSpPr>
          <p:cNvPr id="8" name="Text 5"/>
          <p:cNvSpPr/>
          <p:nvPr/>
        </p:nvSpPr>
        <p:spPr>
          <a:xfrm>
            <a:off x="2851150" y="4781748"/>
            <a:ext cx="6223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10⁻⁴</a:t>
            </a:r>
            <a:endParaRPr lang="en-US" sz="1300" dirty="0"/>
          </a:p>
        </p:txBody>
      </p:sp>
      <p:sp>
        <p:nvSpPr>
          <p:cNvPr id="9" name="Text 6"/>
          <p:cNvSpPr/>
          <p:nvPr/>
        </p:nvSpPr>
        <p:spPr>
          <a:xfrm>
            <a:off x="4121150" y="4781748"/>
            <a:ext cx="6223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10⁻²</a:t>
            </a:r>
            <a:endParaRPr lang="en-US" sz="1300" dirty="0"/>
          </a:p>
        </p:txBody>
      </p:sp>
      <p:sp>
        <p:nvSpPr>
          <p:cNvPr id="10" name="Text 7"/>
          <p:cNvSpPr/>
          <p:nvPr/>
        </p:nvSpPr>
        <p:spPr>
          <a:xfrm>
            <a:off x="5391150" y="4781748"/>
            <a:ext cx="6223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JetBrains Mono" pitchFamily="49" charset="0"/>
                <a:ea typeface="JetBrains Mono" pitchFamily="49" charset="-122"/>
                <a:cs typeface="JetBrains Mono" pitchFamily="49" charset="-120"/>
              </a:rPr>
              <a:t>1</a:t>
            </a:r>
            <a:endParaRPr lang="en-US" sz="1300" dirty="0"/>
          </a:p>
        </p:txBody>
      </p:sp>
      <p:sp>
        <p:nvSpPr>
          <p:cNvPr id="11" name="Text 8"/>
          <p:cNvSpPr/>
          <p:nvPr/>
        </p:nvSpPr>
        <p:spPr>
          <a:xfrm>
            <a:off x="1508125" y="5048448"/>
            <a:ext cx="457835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3D4A59"/>
                </a:solidFill>
                <a:latin typeface="IBM Plex Sans" pitchFamily="34" charset="0"/>
                <a:ea typeface="IBM Plex Sans" pitchFamily="34" charset="-122"/>
                <a:cs typeface="IBM Plex Sans" pitchFamily="34" charset="-120"/>
              </a:rPr>
              <a:t>learning rate η, raised exponentially (log scale)</a:t>
            </a:r>
            <a:endParaRPr lang="en-US" sz="1300" dirty="0"/>
          </a:p>
        </p:txBody>
      </p:sp>
      <p:sp>
        <p:nvSpPr>
          <p:cNvPr id="12" name="Text 9"/>
          <p:cNvSpPr/>
          <p:nvPr/>
        </p:nvSpPr>
        <p:spPr>
          <a:xfrm>
            <a:off x="1257300" y="5340548"/>
            <a:ext cx="2616200"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5B6878"/>
                </a:solidFill>
                <a:latin typeface="IBM Plex Sans" pitchFamily="34" charset="0"/>
                <a:ea typeface="IBM Plex Sans" pitchFamily="34" charset="-122"/>
                <a:cs typeface="IBM Plex Sans" pitchFamily="34" charset="-120"/>
              </a:rPr>
              <a:t>schematic curve</a:t>
            </a:r>
            <a:endParaRPr lang="en-US" sz="1300" dirty="0"/>
          </a:p>
        </p:txBody>
      </p:sp>
      <p:sp>
        <p:nvSpPr>
          <p:cNvPr id="13" name="Shape 10"/>
          <p:cNvSpPr/>
          <p:nvPr/>
        </p:nvSpPr>
        <p:spPr>
          <a:xfrm>
            <a:off x="6934200" y="2159198"/>
            <a:ext cx="63500" cy="63500"/>
          </a:xfrm>
          <a:prstGeom prst="roundRect">
            <a:avLst>
              <a:gd name="adj" fmla="val 20000"/>
            </a:avLst>
          </a:prstGeom>
          <a:solidFill>
            <a:srgbClr val="1F5FBF"/>
          </a:solidFill>
          <a:ln/>
        </p:spPr>
      </p:sp>
      <p:sp>
        <p:nvSpPr>
          <p:cNvPr id="14" name="Text 11"/>
          <p:cNvSpPr/>
          <p:nvPr/>
        </p:nvSpPr>
        <p:spPr>
          <a:xfrm>
            <a:off x="7137400" y="2063948"/>
            <a:ext cx="4369054" cy="55106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The test.</a:t>
            </a:r>
            <a:r>
              <a:rPr lang="en-US" sz="1500" dirty="0">
                <a:solidFill>
                  <a:srgbClr val="3D4A59"/>
                </a:solidFill>
                <a:latin typeface="IBM Plex Sans" pitchFamily="34" charset="0"/>
                <a:ea typeface="IBM Plex Sans" pitchFamily="34" charset="-122"/>
                <a:cs typeface="IBM Plex Sans" pitchFamily="34" charset="-120"/>
              </a:rPr>
              <a:t> Train a few hundred steps while raising η exponentially, and plot loss against η.</a:t>
            </a:r>
            <a:endParaRPr lang="en-US" sz="1500" dirty="0"/>
          </a:p>
        </p:txBody>
      </p:sp>
      <p:sp>
        <p:nvSpPr>
          <p:cNvPr id="15" name="Shape 12"/>
          <p:cNvSpPr/>
          <p:nvPr/>
        </p:nvSpPr>
        <p:spPr>
          <a:xfrm>
            <a:off x="6934200" y="2862659"/>
            <a:ext cx="63500" cy="63500"/>
          </a:xfrm>
          <a:prstGeom prst="roundRect">
            <a:avLst>
              <a:gd name="adj" fmla="val 20000"/>
            </a:avLst>
          </a:prstGeom>
          <a:solidFill>
            <a:srgbClr val="1F5FBF"/>
          </a:solidFill>
          <a:ln/>
        </p:spPr>
      </p:sp>
      <p:sp>
        <p:nvSpPr>
          <p:cNvPr id="16" name="Text 13"/>
          <p:cNvSpPr/>
          <p:nvPr/>
        </p:nvSpPr>
        <p:spPr>
          <a:xfrm>
            <a:off x="7137400" y="2767409"/>
            <a:ext cx="4369054" cy="55106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The pick.</a:t>
            </a:r>
            <a:r>
              <a:rPr lang="en-US" sz="1500" dirty="0">
                <a:solidFill>
                  <a:srgbClr val="3D4A59"/>
                </a:solidFill>
                <a:latin typeface="IBM Plex Sans" pitchFamily="34" charset="0"/>
                <a:ea typeface="IBM Plex Sans" pitchFamily="34" charset="-122"/>
                <a:cs typeface="IBM Plex Sans" pitchFamily="34" charset="-120"/>
              </a:rPr>
              <a:t> About ten times below the minimum, in the steepest descent.</a:t>
            </a:r>
            <a:endParaRPr lang="en-US" sz="1500" dirty="0"/>
          </a:p>
        </p:txBody>
      </p:sp>
      <p:sp>
        <p:nvSpPr>
          <p:cNvPr id="17" name="Shape 14"/>
          <p:cNvSpPr/>
          <p:nvPr/>
        </p:nvSpPr>
        <p:spPr>
          <a:xfrm>
            <a:off x="6934200" y="3566120"/>
            <a:ext cx="63500" cy="63500"/>
          </a:xfrm>
          <a:prstGeom prst="roundRect">
            <a:avLst>
              <a:gd name="adj" fmla="val 20000"/>
            </a:avLst>
          </a:prstGeom>
          <a:solidFill>
            <a:srgbClr val="1F5FBF"/>
          </a:solidFill>
          <a:ln/>
        </p:spPr>
      </p:sp>
      <p:sp>
        <p:nvSpPr>
          <p:cNvPr id="18" name="Text 15"/>
          <p:cNvSpPr/>
          <p:nvPr/>
        </p:nvSpPr>
        <p:spPr>
          <a:xfrm>
            <a:off x="7137400" y="3470870"/>
            <a:ext cx="4369054" cy="55106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Defaults.</a:t>
            </a:r>
            <a:r>
              <a:rPr lang="en-US" sz="1500" dirty="0">
                <a:solidFill>
                  <a:srgbClr val="3D4A59"/>
                </a:solidFill>
                <a:latin typeface="IBM Plex Sans" pitchFamily="34" charset="0"/>
                <a:ea typeface="IBM Plex Sans" pitchFamily="34" charset="-122"/>
                <a:cs typeface="IBM Plex Sans" pitchFamily="34" charset="-120"/>
              </a:rPr>
              <a:t> SGD + momentum: η = 0.1 with BatchNorm. Adam: η = 3 × 10⁻⁴.</a:t>
            </a:r>
            <a:endParaRPr lang="en-US" sz="1500" dirty="0"/>
          </a:p>
        </p:txBody>
      </p:sp>
      <p:sp>
        <p:nvSpPr>
          <p:cNvPr id="19" name="Text 16"/>
          <p:cNvSpPr/>
          <p:nvPr/>
        </p:nvSpPr>
        <p:spPr>
          <a:xfrm>
            <a:off x="812800" y="6281440"/>
            <a:ext cx="518017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2 · Learning: losses, backpropagation, gradient descent</a:t>
            </a:r>
            <a:endParaRPr lang="en-US" sz="1200" dirty="0"/>
          </a:p>
        </p:txBody>
      </p:sp>
      <p:sp>
        <p:nvSpPr>
          <p:cNvPr id="20" name="Text 17"/>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25 / 31</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§7 · GRADIENT DESCENT</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Every training step runs the same five operations in the same order.</a:t>
            </a:r>
            <a:endParaRPr lang="en-US" sz="2800" dirty="0"/>
          </a:p>
        </p:txBody>
      </p:sp>
      <p:pic>
        <p:nvPicPr>
          <p:cNvPr id="4" name="Image 0" descr="Training step: 1 clear gradients, 2 forward pass, 3 compute loss, 4 backward pass, 5 update weights, repeated for every mini-batch">    </p:cNvPr>
          <p:cNvPicPr>
            <a:picLocks noChangeAspect="1"/>
          </p:cNvPicPr>
          <p:nvPr/>
        </p:nvPicPr>
        <p:blipFill>
          <a:blip r:embed="rId1"/>
          <a:srcRect l="0" r="0" t="-46" b="-46"/>
          <a:stretch/>
        </p:blipFill>
        <p:spPr>
          <a:xfrm>
            <a:off x="812800" y="2063948"/>
            <a:ext cx="10566400" cy="1714500"/>
          </a:xfrm>
          <a:prstGeom prst="rect">
            <a:avLst/>
          </a:prstGeom>
        </p:spPr>
      </p:pic>
      <p:sp>
        <p:nvSpPr>
          <p:cNvPr id="5" name="Text 2"/>
          <p:cNvSpPr/>
          <p:nvPr/>
        </p:nvSpPr>
        <p:spPr>
          <a:xfrm>
            <a:off x="952500" y="2317948"/>
            <a:ext cx="1765935"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5212E"/>
                </a:solidFill>
                <a:latin typeface="IBM Plex Sans" pitchFamily="34" charset="0"/>
                <a:ea typeface="IBM Plex Sans" pitchFamily="34" charset="-122"/>
                <a:cs typeface="IBM Plex Sans" pitchFamily="34" charset="-120"/>
              </a:rPr>
              <a:t>1 · Clear gradients</a:t>
            </a:r>
            <a:endParaRPr lang="en-US" sz="1400" dirty="0"/>
          </a:p>
        </p:txBody>
      </p:sp>
      <p:sp>
        <p:nvSpPr>
          <p:cNvPr id="6" name="Text 3"/>
          <p:cNvSpPr/>
          <p:nvPr/>
        </p:nvSpPr>
        <p:spPr>
          <a:xfrm>
            <a:off x="952500" y="2648148"/>
            <a:ext cx="1765935"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3D4A59"/>
                </a:solidFill>
                <a:latin typeface="IBM Plex Sans" pitchFamily="34" charset="0"/>
                <a:ea typeface="IBM Plex Sans" pitchFamily="34" charset="-122"/>
                <a:cs typeface="IBM Plex Sans" pitchFamily="34" charset="-120"/>
              </a:rPr>
              <a:t>reset what was stored</a:t>
            </a:r>
            <a:endParaRPr lang="en-US" sz="1300" dirty="0"/>
          </a:p>
        </p:txBody>
      </p:sp>
      <p:sp>
        <p:nvSpPr>
          <p:cNvPr id="7" name="Text 4"/>
          <p:cNvSpPr/>
          <p:nvPr/>
        </p:nvSpPr>
        <p:spPr>
          <a:xfrm>
            <a:off x="3124200" y="2317948"/>
            <a:ext cx="1765935"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5212E"/>
                </a:solidFill>
                <a:latin typeface="IBM Plex Sans" pitchFamily="34" charset="0"/>
                <a:ea typeface="IBM Plex Sans" pitchFamily="34" charset="-122"/>
                <a:cs typeface="IBM Plex Sans" pitchFamily="34" charset="-120"/>
              </a:rPr>
              <a:t>2 · Forward pass</a:t>
            </a:r>
            <a:endParaRPr lang="en-US" sz="1400" dirty="0"/>
          </a:p>
        </p:txBody>
      </p:sp>
      <p:sp>
        <p:nvSpPr>
          <p:cNvPr id="8" name="Text 5"/>
          <p:cNvSpPr/>
          <p:nvPr/>
        </p:nvSpPr>
        <p:spPr>
          <a:xfrm>
            <a:off x="3124200" y="2648148"/>
            <a:ext cx="1765935" cy="438150"/>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3D4A59"/>
                </a:solidFill>
                <a:latin typeface="IBM Plex Sans" pitchFamily="34" charset="0"/>
                <a:ea typeface="IBM Plex Sans" pitchFamily="34" charset="-122"/>
                <a:cs typeface="IBM Plex Sans" pitchFamily="34" charset="-120"/>
              </a:rPr>
              <a:t>predictions for the batch</a:t>
            </a:r>
            <a:endParaRPr lang="en-US" sz="1300" dirty="0"/>
          </a:p>
        </p:txBody>
      </p:sp>
      <p:sp>
        <p:nvSpPr>
          <p:cNvPr id="9" name="Text 6"/>
          <p:cNvSpPr/>
          <p:nvPr/>
        </p:nvSpPr>
        <p:spPr>
          <a:xfrm>
            <a:off x="5295900" y="2317948"/>
            <a:ext cx="1765935"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5212E"/>
                </a:solidFill>
                <a:latin typeface="IBM Plex Sans" pitchFamily="34" charset="0"/>
                <a:ea typeface="IBM Plex Sans" pitchFamily="34" charset="-122"/>
                <a:cs typeface="IBM Plex Sans" pitchFamily="34" charset="-120"/>
              </a:rPr>
              <a:t>3 · Compute loss</a:t>
            </a:r>
            <a:endParaRPr lang="en-US" sz="1400" dirty="0"/>
          </a:p>
        </p:txBody>
      </p:sp>
      <p:sp>
        <p:nvSpPr>
          <p:cNvPr id="10" name="Text 7"/>
          <p:cNvSpPr/>
          <p:nvPr/>
        </p:nvSpPr>
        <p:spPr>
          <a:xfrm>
            <a:off x="5295900" y="2648148"/>
            <a:ext cx="1765935"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3D4A59"/>
                </a:solidFill>
                <a:latin typeface="IBM Plex Sans" pitchFamily="34" charset="0"/>
                <a:ea typeface="IBM Plex Sans" pitchFamily="34" charset="-122"/>
                <a:cs typeface="IBM Plex Sans" pitchFamily="34" charset="-120"/>
              </a:rPr>
              <a:t>compare with targets</a:t>
            </a:r>
            <a:endParaRPr lang="en-US" sz="1300" dirty="0"/>
          </a:p>
        </p:txBody>
      </p:sp>
      <p:sp>
        <p:nvSpPr>
          <p:cNvPr id="11" name="Text 8"/>
          <p:cNvSpPr/>
          <p:nvPr/>
        </p:nvSpPr>
        <p:spPr>
          <a:xfrm>
            <a:off x="7467600" y="2317948"/>
            <a:ext cx="1765935"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5212E"/>
                </a:solidFill>
                <a:latin typeface="IBM Plex Sans" pitchFamily="34" charset="0"/>
                <a:ea typeface="IBM Plex Sans" pitchFamily="34" charset="-122"/>
                <a:cs typeface="IBM Plex Sans" pitchFamily="34" charset="-120"/>
              </a:rPr>
              <a:t>4 · Backward pass</a:t>
            </a:r>
            <a:endParaRPr lang="en-US" sz="1400" dirty="0"/>
          </a:p>
        </p:txBody>
      </p:sp>
      <p:sp>
        <p:nvSpPr>
          <p:cNvPr id="12" name="Text 9"/>
          <p:cNvSpPr/>
          <p:nvPr/>
        </p:nvSpPr>
        <p:spPr>
          <a:xfrm>
            <a:off x="7467600" y="2648148"/>
            <a:ext cx="1765935"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3D4A59"/>
                </a:solidFill>
                <a:latin typeface="IBM Plex Sans" pitchFamily="34" charset="0"/>
                <a:ea typeface="IBM Plex Sans" pitchFamily="34" charset="-122"/>
                <a:cs typeface="IBM Plex Sans" pitchFamily="34" charset="-120"/>
              </a:rPr>
              <a:t>fill every gradient</a:t>
            </a:r>
            <a:endParaRPr lang="en-US" sz="1300" dirty="0"/>
          </a:p>
        </p:txBody>
      </p:sp>
      <p:sp>
        <p:nvSpPr>
          <p:cNvPr id="13" name="Text 10"/>
          <p:cNvSpPr/>
          <p:nvPr/>
        </p:nvSpPr>
        <p:spPr>
          <a:xfrm>
            <a:off x="9639300" y="2317948"/>
            <a:ext cx="1765935"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5212E"/>
                </a:solidFill>
                <a:latin typeface="IBM Plex Sans" pitchFamily="34" charset="0"/>
                <a:ea typeface="IBM Plex Sans" pitchFamily="34" charset="-122"/>
                <a:cs typeface="IBM Plex Sans" pitchFamily="34" charset="-120"/>
              </a:rPr>
              <a:t>5 · Update weights</a:t>
            </a:r>
            <a:endParaRPr lang="en-US" sz="1400" dirty="0"/>
          </a:p>
        </p:txBody>
      </p:sp>
      <p:sp>
        <p:nvSpPr>
          <p:cNvPr id="14" name="Text 11"/>
          <p:cNvSpPr/>
          <p:nvPr/>
        </p:nvSpPr>
        <p:spPr>
          <a:xfrm>
            <a:off x="9639300" y="2648148"/>
            <a:ext cx="1765935"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3D4A59"/>
                </a:solidFill>
                <a:latin typeface="IBM Plex Sans" pitchFamily="34" charset="0"/>
                <a:ea typeface="IBM Plex Sans" pitchFamily="34" charset="-122"/>
                <a:cs typeface="IBM Plex Sans" pitchFamily="34" charset="-120"/>
              </a:rPr>
              <a:t>optimizer takes a step</a:t>
            </a:r>
            <a:endParaRPr lang="en-US" sz="1300" dirty="0"/>
          </a:p>
        </p:txBody>
      </p:sp>
      <p:sp>
        <p:nvSpPr>
          <p:cNvPr id="15" name="Text 12"/>
          <p:cNvSpPr/>
          <p:nvPr/>
        </p:nvSpPr>
        <p:spPr>
          <a:xfrm>
            <a:off x="2825750" y="3524448"/>
            <a:ext cx="654050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IBM Plex Sans" pitchFamily="34" charset="0"/>
                <a:ea typeface="IBM Plex Sans" pitchFamily="34" charset="-122"/>
                <a:cs typeface="IBM Plex Sans" pitchFamily="34" charset="-120"/>
              </a:rPr>
              <a:t>repeat for every mini-batch, with the model in training mode</a:t>
            </a:r>
            <a:endParaRPr lang="en-US" sz="1300" dirty="0"/>
          </a:p>
        </p:txBody>
      </p:sp>
      <p:sp>
        <p:nvSpPr>
          <p:cNvPr id="16" name="Shape 13"/>
          <p:cNvSpPr/>
          <p:nvPr/>
        </p:nvSpPr>
        <p:spPr>
          <a:xfrm>
            <a:off x="815975" y="3959423"/>
            <a:ext cx="3262412" cy="1394619"/>
          </a:xfrm>
          <a:prstGeom prst="roundRect">
            <a:avLst>
              <a:gd name="adj" fmla="val 6147"/>
            </a:avLst>
          </a:prstGeom>
          <a:solidFill>
            <a:srgbClr val="FFFFFE"/>
          </a:solidFill>
          <a:ln w="6350">
            <a:solidFill>
              <a:srgbClr val="D2D9E1"/>
            </a:solidFill>
            <a:prstDash val="solid"/>
          </a:ln>
        </p:spPr>
      </p:sp>
      <p:sp>
        <p:nvSpPr>
          <p:cNvPr id="17" name="Text 14"/>
          <p:cNvSpPr/>
          <p:nvPr/>
        </p:nvSpPr>
        <p:spPr>
          <a:xfrm>
            <a:off x="996950" y="4140398"/>
            <a:ext cx="298747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12E"/>
                </a:solidFill>
                <a:latin typeface="IBM Plex Sans" pitchFamily="34" charset="0"/>
                <a:ea typeface="IBM Plex Sans" pitchFamily="34" charset="-122"/>
                <a:cs typeface="IBM Plex Sans" pitchFamily="34" charset="-120"/>
              </a:rPr>
              <a:t>Not clearing gradients</a:t>
            </a:r>
            <a:endParaRPr lang="en-US" sz="1600" dirty="0"/>
          </a:p>
        </p:txBody>
      </p:sp>
      <p:sp>
        <p:nvSpPr>
          <p:cNvPr id="18" name="Text 15"/>
          <p:cNvSpPr/>
          <p:nvPr/>
        </p:nvSpPr>
        <p:spPr>
          <a:xfrm>
            <a:off x="996950" y="4447679"/>
            <a:ext cx="2987476" cy="508992"/>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3D4A59"/>
                </a:solidFill>
                <a:latin typeface="IBM Plex Sans" pitchFamily="34" charset="0"/>
                <a:ea typeface="IBM Plex Sans" pitchFamily="34" charset="-122"/>
                <a:cs typeface="IBM Plex Sans" pitchFamily="34" charset="-120"/>
              </a:rPr>
              <a:t>They accumulate across steps, so training degrades gradually.</a:t>
            </a:r>
            <a:endParaRPr lang="en-US" sz="1400" dirty="0"/>
          </a:p>
        </p:txBody>
      </p:sp>
      <p:sp>
        <p:nvSpPr>
          <p:cNvPr id="19" name="Shape 16"/>
          <p:cNvSpPr/>
          <p:nvPr/>
        </p:nvSpPr>
        <p:spPr>
          <a:xfrm>
            <a:off x="4237137" y="3959423"/>
            <a:ext cx="2927052" cy="1394619"/>
          </a:xfrm>
          <a:prstGeom prst="roundRect">
            <a:avLst>
              <a:gd name="adj" fmla="val 6147"/>
            </a:avLst>
          </a:prstGeom>
          <a:solidFill>
            <a:srgbClr val="FFFFFE"/>
          </a:solidFill>
          <a:ln w="6350">
            <a:solidFill>
              <a:srgbClr val="D2D9E1"/>
            </a:solidFill>
            <a:prstDash val="solid"/>
          </a:ln>
        </p:spPr>
      </p:sp>
      <p:sp>
        <p:nvSpPr>
          <p:cNvPr id="20" name="Text 17"/>
          <p:cNvSpPr/>
          <p:nvPr/>
        </p:nvSpPr>
        <p:spPr>
          <a:xfrm>
            <a:off x="4418112" y="4140398"/>
            <a:ext cx="274290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12E"/>
                </a:solidFill>
                <a:latin typeface="IBM Plex Sans" pitchFamily="34" charset="0"/>
                <a:ea typeface="IBM Plex Sans" pitchFamily="34" charset="-122"/>
                <a:cs typeface="IBM Plex Sans" pitchFamily="34" charset="-120"/>
              </a:rPr>
              <a:t>Validating in training mode</a:t>
            </a:r>
            <a:endParaRPr lang="en-US" sz="1600" dirty="0"/>
          </a:p>
        </p:txBody>
      </p:sp>
      <p:sp>
        <p:nvSpPr>
          <p:cNvPr id="21" name="Text 18"/>
          <p:cNvSpPr/>
          <p:nvPr/>
        </p:nvSpPr>
        <p:spPr>
          <a:xfrm>
            <a:off x="4418112" y="4447679"/>
            <a:ext cx="2642055" cy="750788"/>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3D4A59"/>
                </a:solidFill>
                <a:latin typeface="IBM Plex Sans" pitchFamily="34" charset="0"/>
                <a:ea typeface="IBM Plex Sans" pitchFamily="34" charset="-122"/>
                <a:cs typeface="IBM Plex Sans" pitchFamily="34" charset="-120"/>
              </a:rPr>
              <a:t>Dropout stays on and BatchNorm uses batch statistics.</a:t>
            </a:r>
            <a:endParaRPr lang="en-US" sz="1400" dirty="0"/>
          </a:p>
        </p:txBody>
      </p:sp>
      <p:sp>
        <p:nvSpPr>
          <p:cNvPr id="22" name="Shape 19"/>
          <p:cNvSpPr/>
          <p:nvPr/>
        </p:nvSpPr>
        <p:spPr>
          <a:xfrm>
            <a:off x="7322939" y="3959423"/>
            <a:ext cx="4053086" cy="1394619"/>
          </a:xfrm>
          <a:prstGeom prst="roundRect">
            <a:avLst>
              <a:gd name="adj" fmla="val 6147"/>
            </a:avLst>
          </a:prstGeom>
          <a:solidFill>
            <a:srgbClr val="FFFFFE"/>
          </a:solidFill>
          <a:ln w="6350">
            <a:solidFill>
              <a:srgbClr val="D2D9E1"/>
            </a:solidFill>
            <a:prstDash val="solid"/>
          </a:ln>
        </p:spPr>
      </p:sp>
      <p:sp>
        <p:nvSpPr>
          <p:cNvPr id="23" name="Text 20"/>
          <p:cNvSpPr/>
          <p:nvPr/>
        </p:nvSpPr>
        <p:spPr>
          <a:xfrm>
            <a:off x="7503914" y="4140398"/>
            <a:ext cx="380187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12E"/>
                </a:solidFill>
                <a:latin typeface="IBM Plex Sans" pitchFamily="34" charset="0"/>
                <a:ea typeface="IBM Plex Sans" pitchFamily="34" charset="-122"/>
                <a:cs typeface="IBM Plex Sans" pitchFamily="34" charset="-120"/>
              </a:rPr>
              <a:t>Tracking gradients in validation</a:t>
            </a:r>
            <a:endParaRPr lang="en-US" sz="1600" dirty="0"/>
          </a:p>
        </p:txBody>
      </p:sp>
      <p:sp>
        <p:nvSpPr>
          <p:cNvPr id="24" name="Text 21"/>
          <p:cNvSpPr/>
          <p:nvPr/>
        </p:nvSpPr>
        <p:spPr>
          <a:xfrm>
            <a:off x="7503914" y="4447679"/>
            <a:ext cx="3801870" cy="508992"/>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3D4A59"/>
                </a:solidFill>
                <a:latin typeface="IBM Plex Sans" pitchFamily="34" charset="0"/>
                <a:ea typeface="IBM Plex Sans" pitchFamily="34" charset="-122"/>
                <a:cs typeface="IBM Plex Sans" pitchFamily="34" charset="-120"/>
              </a:rPr>
              <a:t>The graph is kept for a backward pass that never comes: memory rises sharply.</a:t>
            </a:r>
            <a:endParaRPr lang="en-US" sz="1400" dirty="0"/>
          </a:p>
        </p:txBody>
      </p:sp>
      <p:sp>
        <p:nvSpPr>
          <p:cNvPr id="25" name="Text 22"/>
          <p:cNvSpPr/>
          <p:nvPr/>
        </p:nvSpPr>
        <p:spPr>
          <a:xfrm>
            <a:off x="812800" y="6281440"/>
            <a:ext cx="518017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2 · Learning: losses, backpropagation, gradient descent</a:t>
            </a:r>
            <a:endParaRPr lang="en-US" sz="1200" dirty="0"/>
          </a:p>
        </p:txBody>
      </p:sp>
      <p:sp>
        <p:nvSpPr>
          <p:cNvPr id="26" name="Text 23"/>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26 / 31</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§7 · GRADIENT DESCENT</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Saddles and ravines, not bad local minima, slow optimization in high dimensions.</a:t>
            </a:r>
            <a:endParaRPr lang="en-US" sz="2800" dirty="0"/>
          </a:p>
        </p:txBody>
      </p:sp>
      <p:pic>
        <p:nvPicPr>
          <p:cNvPr id="4" name="Image 0" descr="A long narrow ravine: plain gradient descent zigzags across the steep walls while creeping along the flat floor">    </p:cNvPr>
          <p:cNvPicPr>
            <a:picLocks noChangeAspect="1"/>
          </p:cNvPicPr>
          <p:nvPr/>
        </p:nvPicPr>
        <p:blipFill>
          <a:blip r:embed="rId1"/>
          <a:srcRect l="0" r="0" t="0" b="0"/>
          <a:stretch/>
        </p:blipFill>
        <p:spPr>
          <a:xfrm>
            <a:off x="812800" y="2063948"/>
            <a:ext cx="4953000" cy="3429000"/>
          </a:xfrm>
          <a:prstGeom prst="rect">
            <a:avLst/>
          </a:prstGeom>
        </p:spPr>
      </p:pic>
      <p:sp>
        <p:nvSpPr>
          <p:cNvPr id="5" name="Text 2"/>
          <p:cNvSpPr/>
          <p:nvPr/>
        </p:nvSpPr>
        <p:spPr>
          <a:xfrm>
            <a:off x="1003300" y="4286448"/>
            <a:ext cx="3924300"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15212E"/>
                </a:solidFill>
                <a:latin typeface="IBM Plex Sans" pitchFamily="34" charset="0"/>
                <a:ea typeface="IBM Plex Sans" pitchFamily="34" charset="-122"/>
                <a:cs typeface="IBM Plex Sans" pitchFamily="34" charset="-120"/>
              </a:rPr>
              <a:t>steep across the ravine: large λ</a:t>
            </a:r>
            <a:endParaRPr lang="en-US" sz="1300" dirty="0"/>
          </a:p>
        </p:txBody>
      </p:sp>
      <p:sp>
        <p:nvSpPr>
          <p:cNvPr id="6" name="Text 3"/>
          <p:cNvSpPr/>
          <p:nvPr/>
        </p:nvSpPr>
        <p:spPr>
          <a:xfrm>
            <a:off x="1003300" y="4565848"/>
            <a:ext cx="3924300"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15212E"/>
                </a:solidFill>
                <a:latin typeface="IBM Plex Sans" pitchFamily="34" charset="0"/>
                <a:ea typeface="IBM Plex Sans" pitchFamily="34" charset="-122"/>
                <a:cs typeface="IBM Plex Sans" pitchFamily="34" charset="-120"/>
              </a:rPr>
              <a:t>gentle along the floor: small λ</a:t>
            </a:r>
            <a:endParaRPr lang="en-US" sz="1300" dirty="0"/>
          </a:p>
        </p:txBody>
      </p:sp>
      <p:sp>
        <p:nvSpPr>
          <p:cNvPr id="7" name="Text 4"/>
          <p:cNvSpPr/>
          <p:nvPr/>
        </p:nvSpPr>
        <p:spPr>
          <a:xfrm>
            <a:off x="1003300" y="4921448"/>
            <a:ext cx="3924300"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A04F00"/>
                </a:solidFill>
                <a:latin typeface="IBM Plex Sans" pitchFamily="34" charset="0"/>
                <a:ea typeface="IBM Plex Sans" pitchFamily="34" charset="-122"/>
                <a:cs typeface="IBM Plex Sans" pitchFamily="34" charset="-120"/>
              </a:rPr>
              <a:t>one scalar η must serve both</a:t>
            </a:r>
            <a:endParaRPr lang="en-US" sz="1500" dirty="0"/>
          </a:p>
        </p:txBody>
      </p:sp>
      <p:sp>
        <p:nvSpPr>
          <p:cNvPr id="8" name="Text 5"/>
          <p:cNvSpPr/>
          <p:nvPr/>
        </p:nvSpPr>
        <p:spPr>
          <a:xfrm>
            <a:off x="1003300" y="5277048"/>
            <a:ext cx="4578350"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5B6878"/>
                </a:solidFill>
                <a:latin typeface="IBM Plex Sans" pitchFamily="34" charset="0"/>
                <a:ea typeface="IBM Plex Sans" pitchFamily="34" charset="-122"/>
                <a:cs typeface="IBM Plex Sans" pitchFamily="34" charset="-120"/>
              </a:rPr>
              <a:t>illustrative path of plain gradient descent</a:t>
            </a:r>
            <a:endParaRPr lang="en-US" sz="1300" dirty="0"/>
          </a:p>
        </p:txBody>
      </p:sp>
      <p:sp>
        <p:nvSpPr>
          <p:cNvPr id="9" name="Shape 6"/>
          <p:cNvSpPr/>
          <p:nvPr/>
        </p:nvSpPr>
        <p:spPr>
          <a:xfrm>
            <a:off x="6172200" y="3081933"/>
            <a:ext cx="63500" cy="63500"/>
          </a:xfrm>
          <a:prstGeom prst="roundRect">
            <a:avLst>
              <a:gd name="adj" fmla="val 20000"/>
            </a:avLst>
          </a:prstGeom>
          <a:solidFill>
            <a:srgbClr val="1F5FBF"/>
          </a:solidFill>
          <a:ln/>
        </p:spPr>
      </p:sp>
      <p:sp>
        <p:nvSpPr>
          <p:cNvPr id="10" name="Text 7"/>
          <p:cNvSpPr/>
          <p:nvPr/>
        </p:nvSpPr>
        <p:spPr>
          <a:xfrm>
            <a:off x="6375400" y="2986683"/>
            <a:ext cx="5153914" cy="55106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Saddles dominate.</a:t>
            </a:r>
            <a:r>
              <a:rPr lang="en-US" sz="1500" dirty="0">
                <a:solidFill>
                  <a:srgbClr val="3D4A59"/>
                </a:solidFill>
                <a:latin typeface="IBM Plex Sans" pitchFamily="34" charset="0"/>
                <a:ea typeface="IBM Plex Sans" pitchFamily="34" charset="-122"/>
                <a:cs typeface="IBM Plex Sans" pitchFamily="34" charset="-120"/>
              </a:rPr>
              <a:t> If Hessian eigenvalue signs were independent, all d positive has probability ≈ 2⁻ᵈ.</a:t>
            </a:r>
            <a:endParaRPr lang="en-US" sz="1500" dirty="0"/>
          </a:p>
        </p:txBody>
      </p:sp>
      <p:sp>
        <p:nvSpPr>
          <p:cNvPr id="11" name="Shape 8"/>
          <p:cNvSpPr/>
          <p:nvPr/>
        </p:nvSpPr>
        <p:spPr>
          <a:xfrm>
            <a:off x="6172200" y="3785394"/>
            <a:ext cx="63500" cy="63500"/>
          </a:xfrm>
          <a:prstGeom prst="roundRect">
            <a:avLst>
              <a:gd name="adj" fmla="val 20000"/>
            </a:avLst>
          </a:prstGeom>
          <a:solidFill>
            <a:srgbClr val="1F5FBF"/>
          </a:solidFill>
          <a:ln/>
        </p:spPr>
      </p:sp>
      <p:sp>
        <p:nvSpPr>
          <p:cNvPr id="12" name="Text 9"/>
          <p:cNvSpPr/>
          <p:nvPr/>
        </p:nvSpPr>
        <p:spPr>
          <a:xfrm>
            <a:off x="6375400" y="3690144"/>
            <a:ext cx="5153914" cy="55106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Noise helps.</a:t>
            </a:r>
            <a:r>
              <a:rPr lang="en-US" sz="1500" dirty="0">
                <a:solidFill>
                  <a:srgbClr val="3D4A59"/>
                </a:solidFill>
                <a:latin typeface="IBM Plex Sans" pitchFamily="34" charset="0"/>
                <a:ea typeface="IBM Plex Sans" pitchFamily="34" charset="-122"/>
                <a:cs typeface="IBM Plex Sans" pitchFamily="34" charset="-120"/>
              </a:rPr>
              <a:t> Mini-batch noise knocks the optimizer off a saddle.</a:t>
            </a:r>
            <a:endParaRPr lang="en-US" sz="1500" dirty="0"/>
          </a:p>
        </p:txBody>
      </p:sp>
      <p:sp>
        <p:nvSpPr>
          <p:cNvPr id="13" name="Shape 10"/>
          <p:cNvSpPr/>
          <p:nvPr/>
        </p:nvSpPr>
        <p:spPr>
          <a:xfrm>
            <a:off x="6172200" y="4488855"/>
            <a:ext cx="63500" cy="63500"/>
          </a:xfrm>
          <a:prstGeom prst="roundRect">
            <a:avLst>
              <a:gd name="adj" fmla="val 20000"/>
            </a:avLst>
          </a:prstGeom>
          <a:solidFill>
            <a:srgbClr val="1F5FBF"/>
          </a:solidFill>
          <a:ln/>
        </p:spPr>
      </p:sp>
      <p:sp>
        <p:nvSpPr>
          <p:cNvPr id="14" name="Text 11"/>
          <p:cNvSpPr/>
          <p:nvPr/>
        </p:nvSpPr>
        <p:spPr>
          <a:xfrm>
            <a:off x="6375400" y="4393605"/>
            <a:ext cx="5153914" cy="551061"/>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The real enemy.</a:t>
            </a:r>
            <a:r>
              <a:rPr lang="en-US" sz="1500" dirty="0">
                <a:solidFill>
                  <a:srgbClr val="3D4A59"/>
                </a:solidFill>
                <a:latin typeface="IBM Plex Sans" pitchFamily="34" charset="0"/>
                <a:ea typeface="IBM Plex Sans" pitchFamily="34" charset="-122"/>
                <a:cs typeface="IBM Plex Sans" pitchFamily="34" charset="-120"/>
              </a:rPr>
              <a:t> Ill-conditioning: eigenvalues spanning orders of magnitude make a ravine.</a:t>
            </a:r>
            <a:endParaRPr lang="en-US" sz="1500" dirty="0"/>
          </a:p>
        </p:txBody>
      </p:sp>
      <p:sp>
        <p:nvSpPr>
          <p:cNvPr id="15" name="Text 12"/>
          <p:cNvSpPr/>
          <p:nvPr/>
        </p:nvSpPr>
        <p:spPr>
          <a:xfrm>
            <a:off x="812800" y="6281440"/>
            <a:ext cx="518017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2 · Learning: losses, backpropagation, gradient descent</a:t>
            </a:r>
            <a:endParaRPr lang="en-US" sz="1200" dirty="0"/>
          </a:p>
        </p:txBody>
      </p:sp>
      <p:sp>
        <p:nvSpPr>
          <p:cNvPr id="16" name="Text 13"/>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27 / 31</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§7 · GRADIENT DESCENT</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Larger batches need a scaled learning rate and warmup, and accumulation can simulate them.</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76648"/>
          <a:ext cx="5575300" cy="2445544"/>
        </p:xfrm>
        <a:graphic>
          <a:graphicData uri="http://schemas.openxmlformats.org/drawingml/2006/table">
            <a:tbl>
              <a:tblPr/>
              <a:tblGrid>
                <a:gridCol w="2787650"/>
                <a:gridCol w="2787650"/>
              </a:tblGrid>
              <a:tr h="439341">
                <a:tc>
                  <a:txBody>
                    <a:bodyPr/>
                    <a:lstStyle/>
                    <a:p>
                      <a:pPr indent="0" marL="0">
                        <a:lnSpc>
                          <a:spcPts val="1960"/>
                        </a:lnSpc>
                        <a:buNone/>
                      </a:pPr>
                      <a:r>
                        <a:rPr lang="en-US" sz="1400" b="1" dirty="0">
                          <a:solidFill>
                            <a:srgbClr val="15212E"/>
                          </a:solidFill>
                          <a:latin typeface="IBM Plex Sans" pitchFamily="34" charset="0"/>
                          <a:ea typeface="IBM Plex Sans" pitchFamily="34" charset="-122"/>
                          <a:cs typeface="IBM Plex Sans" pitchFamily="34" charset="-120"/>
                        </a:rPr>
                        <a:t>Larger batch</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BCBCA"/>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BCBCA"/>
                      </a:solidFill>
                      <a:prstDash val="solid"/>
                      <a:round/>
                      <a:headEnd type="none" w="med" len="med"/>
                      <a:tailEnd type="none" w="med" len="med"/>
                    </a:lnB>
                    <a:solidFill>
                      <a:srgbClr val="FFFFFE"/>
                    </a:solidFill>
                  </a:tcPr>
                </a:tc>
                <a:tc>
                  <a:txBody>
                    <a:bodyPr/>
                    <a:lstStyle/>
                    <a:p>
                      <a:pPr indent="0" marL="0">
                        <a:lnSpc>
                          <a:spcPts val="1960"/>
                        </a:lnSpc>
                        <a:buNone/>
                      </a:pPr>
                      <a:r>
                        <a:rPr lang="en-US" sz="1400" b="1" dirty="0">
                          <a:solidFill>
                            <a:srgbClr val="15212E"/>
                          </a:solidFill>
                          <a:latin typeface="IBM Plex Sans" pitchFamily="34" charset="0"/>
                          <a:ea typeface="IBM Plex Sans" pitchFamily="34" charset="-122"/>
                          <a:cs typeface="IBM Plex Sans" pitchFamily="34" charset="-120"/>
                        </a:rPr>
                        <a:t>Smaller batch</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BCBCA"/>
                      </a:solidFill>
                      <a:prstDash val="solid"/>
                      <a:round/>
                      <a:headEnd type="none" w="med" len="med"/>
                      <a:tailEnd type="none" w="med" len="med"/>
                    </a:lnL>
                    <a:lnR w="12700" cap="flat" cmpd="sng" algn="ctr">
                      <a:solidFill>
                        <a:srgbClr val="CBCBCA"/>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BCBCA"/>
                      </a:solidFill>
                      <a:prstDash val="solid"/>
                      <a:round/>
                      <a:headEnd type="none" w="med" len="med"/>
                      <a:tailEnd type="none" w="med" len="med"/>
                    </a:lnB>
                    <a:solidFill>
                      <a:srgbClr val="FFFFFE"/>
                    </a:solidFill>
                  </a:tcPr>
                </a:tc>
              </a:tr>
              <a:tr h="688181">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Less gradient noise</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BCBCA"/>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Noisier, sometimes generalizes better</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BCBCA"/>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Faster per epoch on a GPU</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Slower per epoch</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More memory</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Less memory</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Needs larger η and warmup</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1960"/>
                        </a:lnSpc>
                        <a:buNone/>
                      </a:pPr>
                      <a:r>
                        <a:rPr lang="en-US" sz="1400" dirty="0">
                          <a:solidFill>
                            <a:srgbClr val="3D4A59"/>
                          </a:solidFill>
                          <a:latin typeface="IBM Plex Sans" pitchFamily="34" charset="0"/>
                          <a:ea typeface="IBM Plex Sans" pitchFamily="34" charset="-122"/>
                          <a:cs typeface="IBM Plex Sans" pitchFamily="34" charset="-120"/>
                        </a:rPr>
                        <a:t>Tolerates a wide range of η</a:t>
                      </a:r>
                      <a:endParaRPr lang="en-US" sz="1400" dirty="0">
                        <a:latin typeface="IBM Plex Sans" charset="0"/>
                        <a:ea typeface="IBM Plex Sans" charset="0"/>
                        <a:cs typeface="IBM Plex Sans" charset="0"/>
                      </a:endParaRPr>
                    </a:p>
                  </a:txBody>
                  <a:tcPr marL="114300" marR="114300" marT="88900" marB="8890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bl>
          </a:graphicData>
        </a:graphic>
      </p:graphicFrame>
      <p:sp>
        <p:nvSpPr>
          <p:cNvPr id="5" name="Shape 2"/>
          <p:cNvSpPr/>
          <p:nvPr/>
        </p:nvSpPr>
        <p:spPr>
          <a:xfrm>
            <a:off x="6810375" y="2067123"/>
            <a:ext cx="4565650" cy="1152823"/>
          </a:xfrm>
          <a:prstGeom prst="roundRect">
            <a:avLst>
              <a:gd name="adj" fmla="val 7436"/>
            </a:avLst>
          </a:prstGeom>
          <a:solidFill>
            <a:srgbClr val="FFFFFE"/>
          </a:solidFill>
          <a:ln w="6350">
            <a:solidFill>
              <a:srgbClr val="D2D9E1"/>
            </a:solidFill>
            <a:prstDash val="solid"/>
          </a:ln>
        </p:spPr>
      </p:sp>
      <p:sp>
        <p:nvSpPr>
          <p:cNvPr id="6" name="Text 3"/>
          <p:cNvSpPr/>
          <p:nvPr/>
        </p:nvSpPr>
        <p:spPr>
          <a:xfrm>
            <a:off x="6991350" y="2248098"/>
            <a:ext cx="4329811"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212E"/>
                </a:solidFill>
                <a:latin typeface="IBM Plex Sans" pitchFamily="34" charset="0"/>
                <a:ea typeface="IBM Plex Sans" pitchFamily="34" charset="-122"/>
                <a:cs typeface="IBM Plex Sans" pitchFamily="34" charset="-120"/>
              </a:rPr>
              <a:t>Linear scaling rule</a:t>
            </a:r>
            <a:endParaRPr lang="en-US" sz="1600" dirty="0"/>
          </a:p>
        </p:txBody>
      </p:sp>
      <p:sp>
        <p:nvSpPr>
          <p:cNvPr id="7" name="Text 4"/>
          <p:cNvSpPr/>
          <p:nvPr/>
        </p:nvSpPr>
        <p:spPr>
          <a:xfrm>
            <a:off x="6991350" y="2555379"/>
            <a:ext cx="4329811" cy="508992"/>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3D4A59"/>
                </a:solidFill>
                <a:latin typeface="IBM Plex Sans" pitchFamily="34" charset="0"/>
                <a:ea typeface="IBM Plex Sans" pitchFamily="34" charset="-122"/>
                <a:cs typeface="IBM Plex Sans" pitchFamily="34" charset="-120"/>
              </a:rPr>
              <a:t>Scale η with the batch size and add a few epochs of warmup. Reliable up to a few thousand.</a:t>
            </a:r>
            <a:endParaRPr lang="en-US" sz="1400" dirty="0"/>
          </a:p>
        </p:txBody>
      </p:sp>
      <p:pic>
        <p:nvPicPr>
          <p:cNvPr id="8" name="Image 0" descr="Gradient accumulation: four forward-backward passes, each loss divided by 4, then one optimizer step">    </p:cNvPr>
          <p:cNvPicPr>
            <a:picLocks noChangeAspect="1"/>
          </p:cNvPicPr>
          <p:nvPr/>
        </p:nvPicPr>
        <p:blipFill>
          <a:blip r:embed="rId1"/>
          <a:srcRect l="0" r="0" t="0" b="0"/>
          <a:stretch/>
        </p:blipFill>
        <p:spPr>
          <a:xfrm>
            <a:off x="6807200" y="3375521"/>
            <a:ext cx="4572000" cy="1206500"/>
          </a:xfrm>
          <a:prstGeom prst="rect">
            <a:avLst/>
          </a:prstGeom>
        </p:spPr>
      </p:pic>
      <p:sp>
        <p:nvSpPr>
          <p:cNvPr id="9" name="Text 5"/>
          <p:cNvSpPr/>
          <p:nvPr/>
        </p:nvSpPr>
        <p:spPr>
          <a:xfrm>
            <a:off x="6794500" y="3769221"/>
            <a:ext cx="774700" cy="438150"/>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15212E"/>
                </a:solidFill>
                <a:latin typeface="JetBrains Mono" pitchFamily="49" charset="0"/>
                <a:ea typeface="JetBrains Mono" pitchFamily="49" charset="-122"/>
                <a:cs typeface="JetBrains Mono" pitchFamily="49" charset="-120"/>
              </a:rPr>
              <a:t>loss / 4</a:t>
            </a:r>
            <a:endParaRPr lang="en-US" sz="1300" dirty="0"/>
          </a:p>
        </p:txBody>
      </p:sp>
      <p:sp>
        <p:nvSpPr>
          <p:cNvPr id="10" name="Text 6"/>
          <p:cNvSpPr/>
          <p:nvPr/>
        </p:nvSpPr>
        <p:spPr>
          <a:xfrm>
            <a:off x="7658100" y="3769221"/>
            <a:ext cx="774700" cy="438150"/>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15212E"/>
                </a:solidFill>
                <a:latin typeface="JetBrains Mono" pitchFamily="49" charset="0"/>
                <a:ea typeface="JetBrains Mono" pitchFamily="49" charset="-122"/>
                <a:cs typeface="JetBrains Mono" pitchFamily="49" charset="-120"/>
              </a:rPr>
              <a:t>loss / 4</a:t>
            </a:r>
            <a:endParaRPr lang="en-US" sz="1300" dirty="0"/>
          </a:p>
        </p:txBody>
      </p:sp>
      <p:sp>
        <p:nvSpPr>
          <p:cNvPr id="11" name="Text 7"/>
          <p:cNvSpPr/>
          <p:nvPr/>
        </p:nvSpPr>
        <p:spPr>
          <a:xfrm>
            <a:off x="8521700" y="3769221"/>
            <a:ext cx="774700" cy="438150"/>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15212E"/>
                </a:solidFill>
                <a:latin typeface="JetBrains Mono" pitchFamily="49" charset="0"/>
                <a:ea typeface="JetBrains Mono" pitchFamily="49" charset="-122"/>
                <a:cs typeface="JetBrains Mono" pitchFamily="49" charset="-120"/>
              </a:rPr>
              <a:t>loss / 4</a:t>
            </a:r>
            <a:endParaRPr lang="en-US" sz="1300" dirty="0"/>
          </a:p>
        </p:txBody>
      </p:sp>
      <p:sp>
        <p:nvSpPr>
          <p:cNvPr id="12" name="Text 8"/>
          <p:cNvSpPr/>
          <p:nvPr/>
        </p:nvSpPr>
        <p:spPr>
          <a:xfrm>
            <a:off x="9385300" y="3769221"/>
            <a:ext cx="774700" cy="438150"/>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15212E"/>
                </a:solidFill>
                <a:latin typeface="JetBrains Mono" pitchFamily="49" charset="0"/>
                <a:ea typeface="JetBrains Mono" pitchFamily="49" charset="-122"/>
                <a:cs typeface="JetBrains Mono" pitchFamily="49" charset="-120"/>
              </a:rPr>
              <a:t>loss / 4</a:t>
            </a:r>
            <a:endParaRPr lang="en-US" sz="1300" dirty="0"/>
          </a:p>
        </p:txBody>
      </p:sp>
      <p:sp>
        <p:nvSpPr>
          <p:cNvPr id="13" name="Text 9"/>
          <p:cNvSpPr/>
          <p:nvPr/>
        </p:nvSpPr>
        <p:spPr>
          <a:xfrm>
            <a:off x="10287000" y="3756521"/>
            <a:ext cx="110490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15212E"/>
                </a:solidFill>
                <a:latin typeface="IBM Plex Sans" pitchFamily="34" charset="0"/>
                <a:ea typeface="IBM Plex Sans" pitchFamily="34" charset="-122"/>
                <a:cs typeface="IBM Plex Sans" pitchFamily="34" charset="-120"/>
              </a:rPr>
              <a:t>one step</a:t>
            </a:r>
            <a:endParaRPr lang="en-US" sz="1400" dirty="0"/>
          </a:p>
        </p:txBody>
      </p:sp>
      <p:sp>
        <p:nvSpPr>
          <p:cNvPr id="14" name="Text 10"/>
          <p:cNvSpPr/>
          <p:nvPr/>
        </p:nvSpPr>
        <p:spPr>
          <a:xfrm>
            <a:off x="6755765" y="4328021"/>
            <a:ext cx="3531870" cy="231775"/>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5B6878"/>
                </a:solidFill>
                <a:latin typeface="IBM Plex Sans" pitchFamily="34" charset="0"/>
                <a:ea typeface="IBM Plex Sans" pitchFamily="34" charset="-122"/>
                <a:cs typeface="IBM Plex Sans" pitchFamily="34" charset="-120"/>
              </a:rPr>
              <a:t>gradients add across the four passes</a:t>
            </a:r>
            <a:endParaRPr lang="en-US" sz="1300" dirty="0"/>
          </a:p>
        </p:txBody>
      </p:sp>
      <p:sp>
        <p:nvSpPr>
          <p:cNvPr id="15" name="Text 11"/>
          <p:cNvSpPr/>
          <p:nvPr/>
        </p:nvSpPr>
        <p:spPr>
          <a:xfrm>
            <a:off x="812800" y="6281440"/>
            <a:ext cx="518017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2 · Learning: losses, backpropagation, gradient descent</a:t>
            </a:r>
            <a:endParaRPr lang="en-US" sz="1200" dirty="0"/>
          </a:p>
        </p:txBody>
      </p:sp>
      <p:sp>
        <p:nvSpPr>
          <p:cNvPr id="16" name="Text 12"/>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28 / 31</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§7 · GRADIENT DESCENT</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Reading training and validation loss together tells you the regime and when to stop.</a:t>
            </a:r>
            <a:endParaRPr lang="en-US" sz="2800" dirty="0"/>
          </a:p>
        </p:txBody>
      </p:sp>
      <p:sp>
        <p:nvSpPr>
          <p:cNvPr id="4" name="Text 2"/>
          <p:cNvSpPr/>
          <p:nvPr/>
        </p:nvSpPr>
        <p:spPr>
          <a:xfrm>
            <a:off x="812800" y="2063948"/>
            <a:ext cx="10883392" cy="270669"/>
          </a:xfrm>
          <a:prstGeom prst="rect">
            <a:avLst/>
          </a:prstGeom>
          <a:noFill/>
          <a:ln/>
        </p:spPr>
        <p:txBody>
          <a:bodyPr wrap="square" lIns="0" tIns="0" rIns="0" bIns="0" rtlCol="0" anchor="t">
            <a:normAutofit/>
          </a:bodyPr>
          <a:lstStyle/>
          <a:p>
            <a:pPr algn="l" indent="0" marL="0">
              <a:lnSpc>
                <a:spcPts val="1932"/>
              </a:lnSpc>
              <a:buNone/>
            </a:pPr>
            <a:r>
              <a:rPr lang="en-US" sz="1400" dirty="0">
                <a:solidFill>
                  <a:srgbClr val="1F5FBF"/>
                </a:solidFill>
                <a:latin typeface="IBM Plex Sans" pitchFamily="34" charset="0"/>
                <a:ea typeface="IBM Plex Sans" pitchFamily="34" charset="-122"/>
                <a:cs typeface="IBM Plex Sans" pitchFamily="34" charset="-120"/>
              </a:rPr>
              <a:t>━ training loss</a:t>
            </a:r>
            <a:r>
              <a:rPr lang="en-US" sz="1400" dirty="0">
                <a:solidFill>
                  <a:srgbClr val="3D4A59"/>
                </a:solidFill>
                <a:latin typeface="IBM Plex Sans" pitchFamily="34" charset="0"/>
                <a:ea typeface="IBM Plex Sans" pitchFamily="34" charset="-122"/>
                <a:cs typeface="IBM Plex Sans" pitchFamily="34" charset="-120"/>
              </a:rPr>
              <a:t> </a:t>
            </a:r>
            <a:r>
              <a:rPr lang="en-US" sz="1400" dirty="0">
                <a:solidFill>
                  <a:srgbClr val="15212E"/>
                </a:solidFill>
                <a:latin typeface="IBM Plex Sans" pitchFamily="34" charset="0"/>
                <a:ea typeface="IBM Plex Sans" pitchFamily="34" charset="-122"/>
                <a:cs typeface="IBM Plex Sans" pitchFamily="34" charset="-120"/>
              </a:rPr>
              <a:t>╍ validation loss</a:t>
            </a:r>
            <a:r>
              <a:rPr lang="en-US" sz="1400" dirty="0">
                <a:solidFill>
                  <a:srgbClr val="3D4A59"/>
                </a:solidFill>
                <a:latin typeface="IBM Plex Sans" pitchFamily="34" charset="0"/>
                <a:ea typeface="IBM Plex Sans" pitchFamily="34" charset="-122"/>
                <a:cs typeface="IBM Plex Sans" pitchFamily="34" charset="-120"/>
              </a:rPr>
              <a:t> </a:t>
            </a:r>
            <a:r>
              <a:rPr lang="en-US" sz="1400" dirty="0">
                <a:solidFill>
                  <a:srgbClr val="A04F00"/>
                </a:solidFill>
                <a:latin typeface="IBM Plex Sans" pitchFamily="34" charset="0"/>
                <a:ea typeface="IBM Plex Sans" pitchFamily="34" charset="-122"/>
                <a:cs typeface="IBM Plex Sans" pitchFamily="34" charset="-120"/>
              </a:rPr>
              <a:t>│ best epoch</a:t>
            </a:r>
            <a:r>
              <a:rPr lang="en-US" sz="1400" dirty="0">
                <a:solidFill>
                  <a:srgbClr val="3D4A59"/>
                </a:solidFill>
                <a:latin typeface="IBM Plex Sans" pitchFamily="34" charset="0"/>
                <a:ea typeface="IBM Plex Sans" pitchFamily="34" charset="-122"/>
                <a:cs typeface="IBM Plex Sans" pitchFamily="34" charset="-120"/>
              </a:rPr>
              <a:t> </a:t>
            </a:r>
            <a:r>
              <a:rPr lang="en-US" sz="1400" dirty="0">
                <a:solidFill>
                  <a:srgbClr val="5B6878"/>
                </a:solidFill>
                <a:latin typeface="IBM Plex Sans" pitchFamily="34" charset="0"/>
                <a:ea typeface="IBM Plex Sans" pitchFamily="34" charset="-122"/>
                <a:cs typeface="IBM Plex Sans" pitchFamily="34" charset="-120"/>
              </a:rPr>
              <a:t>schematic curves</a:t>
            </a:r>
            <a:endParaRPr lang="en-US" sz="1400" dirty="0"/>
          </a:p>
        </p:txBody>
      </p:sp>
      <p:pic>
        <p:nvPicPr>
          <p:cNvPr id="5" name="Image 0" descr="Schematic underfitting curves: training and validation loss over epochs">    </p:cNvPr>
          <p:cNvPicPr>
            <a:picLocks noChangeAspect="1"/>
          </p:cNvPicPr>
          <p:nvPr/>
        </p:nvPicPr>
        <p:blipFill>
          <a:blip r:embed="rId1"/>
          <a:srcRect l="0" r="0" t="0" b="0"/>
          <a:stretch/>
        </p:blipFill>
        <p:spPr>
          <a:xfrm>
            <a:off x="812800" y="2461617"/>
            <a:ext cx="2527300" cy="1524000"/>
          </a:xfrm>
          <a:prstGeom prst="rect">
            <a:avLst/>
          </a:prstGeom>
        </p:spPr>
      </p:pic>
      <p:sp>
        <p:nvSpPr>
          <p:cNvPr id="6" name="Text 3"/>
          <p:cNvSpPr/>
          <p:nvPr/>
        </p:nvSpPr>
        <p:spPr>
          <a:xfrm>
            <a:off x="812800" y="2461617"/>
            <a:ext cx="2603119"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5212E"/>
                </a:solidFill>
                <a:latin typeface="IBM Plex Sans" pitchFamily="34" charset="0"/>
                <a:ea typeface="IBM Plex Sans" pitchFamily="34" charset="-122"/>
                <a:cs typeface="IBM Plex Sans" pitchFamily="34" charset="-120"/>
              </a:rPr>
              <a:t>Underfitting</a:t>
            </a:r>
            <a:endParaRPr lang="en-US" sz="1500" dirty="0"/>
          </a:p>
        </p:txBody>
      </p:sp>
      <p:sp>
        <p:nvSpPr>
          <p:cNvPr id="7" name="Text 4"/>
          <p:cNvSpPr/>
          <p:nvPr/>
        </p:nvSpPr>
        <p:spPr>
          <a:xfrm>
            <a:off x="812800" y="4049117"/>
            <a:ext cx="2603119" cy="270669"/>
          </a:xfrm>
          <a:prstGeom prst="rect">
            <a:avLst/>
          </a:prstGeom>
          <a:noFill/>
          <a:ln/>
        </p:spPr>
        <p:txBody>
          <a:bodyPr wrap="square" lIns="0" tIns="0" rIns="0" bIns="0" rtlCol="0" anchor="t">
            <a:normAutofit/>
          </a:bodyPr>
          <a:lstStyle/>
          <a:p>
            <a:pPr algn="l" indent="0" marL="0">
              <a:lnSpc>
                <a:spcPts val="1932"/>
              </a:lnSpc>
              <a:buNone/>
            </a:pPr>
            <a:r>
              <a:rPr lang="en-US" sz="1400" dirty="0">
                <a:solidFill>
                  <a:srgbClr val="3D4A59"/>
                </a:solidFill>
                <a:latin typeface="IBM Plex Sans" pitchFamily="34" charset="0"/>
                <a:ea typeface="IBM Plex Sans" pitchFamily="34" charset="-122"/>
                <a:cs typeface="IBM Plex Sans" pitchFamily="34" charset="-120"/>
              </a:rPr>
              <a:t>Bigger model, longer, higher η.</a:t>
            </a:r>
            <a:endParaRPr lang="en-US" sz="1400" dirty="0"/>
          </a:p>
        </p:txBody>
      </p:sp>
      <p:pic>
        <p:nvPicPr>
          <p:cNvPr id="8" name="Image 1" descr="Schematic healthy curves: training and validation loss over epochs">    </p:cNvPr>
          <p:cNvPicPr>
            <a:picLocks noChangeAspect="1"/>
          </p:cNvPicPr>
          <p:nvPr/>
        </p:nvPicPr>
        <p:blipFill>
          <a:blip r:embed="rId2"/>
          <a:srcRect l="0" r="0" t="0" b="0"/>
          <a:stretch/>
        </p:blipFill>
        <p:spPr>
          <a:xfrm>
            <a:off x="3492500" y="2461617"/>
            <a:ext cx="2527300" cy="1524000"/>
          </a:xfrm>
          <a:prstGeom prst="rect">
            <a:avLst/>
          </a:prstGeom>
        </p:spPr>
      </p:pic>
      <p:sp>
        <p:nvSpPr>
          <p:cNvPr id="9" name="Text 5"/>
          <p:cNvSpPr/>
          <p:nvPr/>
        </p:nvSpPr>
        <p:spPr>
          <a:xfrm>
            <a:off x="3492500" y="2461617"/>
            <a:ext cx="2603119"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F5FBF"/>
                </a:solidFill>
                <a:latin typeface="IBM Plex Sans" pitchFamily="34" charset="0"/>
                <a:ea typeface="IBM Plex Sans" pitchFamily="34" charset="-122"/>
                <a:cs typeface="IBM Plex Sans" pitchFamily="34" charset="-120"/>
              </a:rPr>
              <a:t>Healthy</a:t>
            </a:r>
            <a:endParaRPr lang="en-US" sz="1500" dirty="0"/>
          </a:p>
        </p:txBody>
      </p:sp>
      <p:sp>
        <p:nvSpPr>
          <p:cNvPr id="10" name="Text 6"/>
          <p:cNvSpPr/>
          <p:nvPr/>
        </p:nvSpPr>
        <p:spPr>
          <a:xfrm>
            <a:off x="3492500" y="4049117"/>
            <a:ext cx="2603119" cy="270669"/>
          </a:xfrm>
          <a:prstGeom prst="rect">
            <a:avLst/>
          </a:prstGeom>
          <a:noFill/>
          <a:ln/>
        </p:spPr>
        <p:txBody>
          <a:bodyPr wrap="square" lIns="0" tIns="0" rIns="0" bIns="0" rtlCol="0" anchor="t">
            <a:normAutofit/>
          </a:bodyPr>
          <a:lstStyle/>
          <a:p>
            <a:pPr algn="l" indent="0" marL="0">
              <a:lnSpc>
                <a:spcPts val="1932"/>
              </a:lnSpc>
              <a:buNone/>
            </a:pPr>
            <a:r>
              <a:rPr lang="en-US" sz="1400" dirty="0">
                <a:solidFill>
                  <a:srgbClr val="3D4A59"/>
                </a:solidFill>
                <a:latin typeface="IBM Plex Sans" pitchFamily="34" charset="0"/>
                <a:ea typeface="IBM Plex Sans" pitchFamily="34" charset="-122"/>
                <a:cs typeface="IBM Plex Sans" pitchFamily="34" charset="-120"/>
              </a:rPr>
              <a:t>Keep going.</a:t>
            </a:r>
            <a:endParaRPr lang="en-US" sz="1400" dirty="0"/>
          </a:p>
        </p:txBody>
      </p:sp>
      <p:pic>
        <p:nvPicPr>
          <p:cNvPr id="11" name="Image 2" descr="Schematic overfitting curves: training and validation loss over epochs">    </p:cNvPr>
          <p:cNvPicPr>
            <a:picLocks noChangeAspect="1"/>
          </p:cNvPicPr>
          <p:nvPr/>
        </p:nvPicPr>
        <p:blipFill>
          <a:blip r:embed="rId3"/>
          <a:srcRect l="0" r="0" t="0" b="0"/>
          <a:stretch/>
        </p:blipFill>
        <p:spPr>
          <a:xfrm>
            <a:off x="6172200" y="2461617"/>
            <a:ext cx="2527300" cy="1524000"/>
          </a:xfrm>
          <a:prstGeom prst="rect">
            <a:avLst/>
          </a:prstGeom>
        </p:spPr>
      </p:pic>
      <p:sp>
        <p:nvSpPr>
          <p:cNvPr id="12" name="Text 7"/>
          <p:cNvSpPr/>
          <p:nvPr/>
        </p:nvSpPr>
        <p:spPr>
          <a:xfrm>
            <a:off x="6172200" y="2461617"/>
            <a:ext cx="2603119"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A04F00"/>
                </a:solidFill>
                <a:latin typeface="IBM Plex Sans" pitchFamily="34" charset="0"/>
                <a:ea typeface="IBM Plex Sans" pitchFamily="34" charset="-122"/>
                <a:cs typeface="IBM Plex Sans" pitchFamily="34" charset="-120"/>
              </a:rPr>
              <a:t>Overfitting</a:t>
            </a:r>
            <a:endParaRPr lang="en-US" sz="1500" dirty="0"/>
          </a:p>
        </p:txBody>
      </p:sp>
      <p:sp>
        <p:nvSpPr>
          <p:cNvPr id="13" name="Text 8"/>
          <p:cNvSpPr/>
          <p:nvPr/>
        </p:nvSpPr>
        <p:spPr>
          <a:xfrm>
            <a:off x="6172200" y="4049117"/>
            <a:ext cx="2603119" cy="270669"/>
          </a:xfrm>
          <a:prstGeom prst="rect">
            <a:avLst/>
          </a:prstGeom>
          <a:noFill/>
          <a:ln/>
        </p:spPr>
        <p:txBody>
          <a:bodyPr wrap="square" lIns="0" tIns="0" rIns="0" bIns="0" rtlCol="0" anchor="t">
            <a:normAutofit/>
          </a:bodyPr>
          <a:lstStyle/>
          <a:p>
            <a:pPr algn="l" indent="0" marL="0">
              <a:lnSpc>
                <a:spcPts val="1932"/>
              </a:lnSpc>
              <a:buNone/>
            </a:pPr>
            <a:r>
              <a:rPr lang="en-US" sz="1400" dirty="0">
                <a:solidFill>
                  <a:srgbClr val="3D4A59"/>
                </a:solidFill>
                <a:latin typeface="IBM Plex Sans" pitchFamily="34" charset="0"/>
                <a:ea typeface="IBM Plex Sans" pitchFamily="34" charset="-122"/>
                <a:cs typeface="IBM Plex Sans" pitchFamily="34" charset="-120"/>
              </a:rPr>
              <a:t>Regularize, or stop early.</a:t>
            </a:r>
            <a:endParaRPr lang="en-US" sz="1400" dirty="0"/>
          </a:p>
        </p:txBody>
      </p:sp>
      <p:pic>
        <p:nvPicPr>
          <p:cNvPr id="14" name="Image 3" descr="Schematic broken curves: training and validation loss over epochs">    </p:cNvPr>
          <p:cNvPicPr>
            <a:picLocks noChangeAspect="1"/>
          </p:cNvPicPr>
          <p:nvPr/>
        </p:nvPicPr>
        <p:blipFill>
          <a:blip r:embed="rId4"/>
          <a:srcRect l="0" r="0" t="0" b="0"/>
          <a:stretch/>
        </p:blipFill>
        <p:spPr>
          <a:xfrm>
            <a:off x="8851900" y="2461617"/>
            <a:ext cx="2527300" cy="1524000"/>
          </a:xfrm>
          <a:prstGeom prst="rect">
            <a:avLst/>
          </a:prstGeom>
        </p:spPr>
      </p:pic>
      <p:sp>
        <p:nvSpPr>
          <p:cNvPr id="15" name="Text 9"/>
          <p:cNvSpPr/>
          <p:nvPr/>
        </p:nvSpPr>
        <p:spPr>
          <a:xfrm>
            <a:off x="8851900" y="2461617"/>
            <a:ext cx="2603119"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A04F00"/>
                </a:solidFill>
                <a:latin typeface="IBM Plex Sans" pitchFamily="34" charset="0"/>
                <a:ea typeface="IBM Plex Sans" pitchFamily="34" charset="-122"/>
                <a:cs typeface="IBM Plex Sans" pitchFamily="34" charset="-120"/>
              </a:rPr>
              <a:t>Broken</a:t>
            </a:r>
            <a:endParaRPr lang="en-US" sz="1500" dirty="0"/>
          </a:p>
        </p:txBody>
      </p:sp>
      <p:sp>
        <p:nvSpPr>
          <p:cNvPr id="16" name="Text 10"/>
          <p:cNvSpPr/>
          <p:nvPr/>
        </p:nvSpPr>
        <p:spPr>
          <a:xfrm>
            <a:off x="8851900" y="4049117"/>
            <a:ext cx="2603119" cy="270669"/>
          </a:xfrm>
          <a:prstGeom prst="rect">
            <a:avLst/>
          </a:prstGeom>
          <a:noFill/>
          <a:ln/>
        </p:spPr>
        <p:txBody>
          <a:bodyPr wrap="square" lIns="0" tIns="0" rIns="0" bIns="0" rtlCol="0" anchor="t">
            <a:normAutofit/>
          </a:bodyPr>
          <a:lstStyle/>
          <a:p>
            <a:pPr algn="l" indent="0" marL="0">
              <a:lnSpc>
                <a:spcPts val="1932"/>
              </a:lnSpc>
              <a:buNone/>
            </a:pPr>
            <a:r>
              <a:rPr lang="en-US" sz="1400" dirty="0">
                <a:solidFill>
                  <a:srgbClr val="3D4A59"/>
                </a:solidFill>
                <a:latin typeface="IBM Plex Sans" pitchFamily="34" charset="0"/>
                <a:ea typeface="IBM Plex Sans" pitchFamily="34" charset="-122"/>
                <a:cs typeface="IBM Plex Sans" pitchFamily="34" charset="-120"/>
              </a:rPr>
              <a:t>Flat from step one: a bug.</a:t>
            </a:r>
            <a:endParaRPr lang="en-US" sz="1400" dirty="0"/>
          </a:p>
        </p:txBody>
      </p:sp>
      <p:sp>
        <p:nvSpPr>
          <p:cNvPr id="17" name="Text 11"/>
          <p:cNvSpPr/>
          <p:nvPr/>
        </p:nvSpPr>
        <p:spPr>
          <a:xfrm>
            <a:off x="812800" y="4446786"/>
            <a:ext cx="10883392" cy="288230"/>
          </a:xfrm>
          <a:prstGeom prst="rect">
            <a:avLst/>
          </a:prstGeom>
          <a:noFill/>
          <a:ln/>
        </p:spPr>
        <p:txBody>
          <a:bodyPr wrap="square" lIns="0" tIns="0" rIns="0" bIns="0" rtlCol="0" anchor="t">
            <a:normAutofit/>
          </a:bodyPr>
          <a:lstStyle/>
          <a:p>
            <a:pPr algn="l" indent="0" marL="0">
              <a:lnSpc>
                <a:spcPts val="2070"/>
              </a:lnSpc>
              <a:buNone/>
            </a:pPr>
            <a:r>
              <a:rPr lang="en-US" sz="1500" b="1" dirty="0">
                <a:solidFill>
                  <a:srgbClr val="15212E"/>
                </a:solidFill>
                <a:latin typeface="IBM Plex Sans" pitchFamily="34" charset="0"/>
                <a:ea typeface="IBM Plex Sans" pitchFamily="34" charset="-122"/>
                <a:cs typeface="IBM Plex Sans" pitchFamily="34" charset="-120"/>
              </a:rPr>
              <a:t>Early stopping: keep the parameters from the best validation epoch, not the last one.</a:t>
            </a:r>
            <a:endParaRPr lang="en-US" sz="1500" dirty="0"/>
          </a:p>
        </p:txBody>
      </p:sp>
      <p:sp>
        <p:nvSpPr>
          <p:cNvPr id="18" name="Text 12"/>
          <p:cNvSpPr/>
          <p:nvPr/>
        </p:nvSpPr>
        <p:spPr>
          <a:xfrm>
            <a:off x="812800" y="6281440"/>
            <a:ext cx="518017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2 · Learning: losses, backpropagation, gradient descent</a:t>
            </a:r>
            <a:endParaRPr lang="en-US" sz="1200" dirty="0"/>
          </a:p>
        </p:txBody>
      </p:sp>
      <p:sp>
        <p:nvSpPr>
          <p:cNvPr id="19" name="Text 13"/>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29 / 31</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RECAP</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Each section of today’s lecture reduces to one sentence worth remembering.</a:t>
            </a:r>
            <a:endParaRPr lang="en-US" sz="2800" dirty="0"/>
          </a:p>
        </p:txBody>
      </p:sp>
      <p:sp>
        <p:nvSpPr>
          <p:cNvPr id="4" name="Shape 2"/>
          <p:cNvSpPr/>
          <p:nvPr/>
        </p:nvSpPr>
        <p:spPr>
          <a:xfrm>
            <a:off x="815975" y="2067123"/>
            <a:ext cx="10560050" cy="517525"/>
          </a:xfrm>
          <a:prstGeom prst="roundRect">
            <a:avLst>
              <a:gd name="adj" fmla="val 14110"/>
            </a:avLst>
          </a:prstGeom>
          <a:solidFill>
            <a:srgbClr val="FFFFFE"/>
          </a:solidFill>
          <a:ln w="6350">
            <a:solidFill>
              <a:srgbClr val="D2D9E1"/>
            </a:solidFill>
            <a:prstDash val="solid"/>
          </a:ln>
        </p:spPr>
      </p:sp>
      <p:sp>
        <p:nvSpPr>
          <p:cNvPr id="5" name="Text 3"/>
          <p:cNvSpPr/>
          <p:nvPr/>
        </p:nvSpPr>
        <p:spPr>
          <a:xfrm>
            <a:off x="996950" y="2201466"/>
            <a:ext cx="1003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5FBF"/>
                </a:solidFill>
                <a:latin typeface="JetBrains Mono" pitchFamily="49" charset="0"/>
                <a:ea typeface="JetBrains Mono" pitchFamily="49" charset="-122"/>
                <a:cs typeface="JetBrains Mono" pitchFamily="49" charset="-120"/>
              </a:rPr>
              <a:t>§5</a:t>
            </a:r>
            <a:endParaRPr lang="en-US" sz="1400" dirty="0"/>
          </a:p>
        </p:txBody>
      </p:sp>
      <p:sp>
        <p:nvSpPr>
          <p:cNvPr id="6" name="Text 4"/>
          <p:cNvSpPr/>
          <p:nvPr/>
        </p:nvSpPr>
        <p:spPr>
          <a:xfrm>
            <a:off x="2152650" y="2197298"/>
            <a:ext cx="9313672"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5212E"/>
                </a:solidFill>
                <a:latin typeface="IBM Plex Sans" pitchFamily="34" charset="0"/>
                <a:ea typeface="IBM Plex Sans" pitchFamily="34" charset="-122"/>
                <a:cs typeface="IBM Plex Sans" pitchFamily="34" charset="-120"/>
              </a:rPr>
              <a:t>Losses are negative log-likelihoods. Use cross-entropy on raw logits for classification.</a:t>
            </a:r>
            <a:endParaRPr lang="en-US" sz="1500" dirty="0"/>
          </a:p>
        </p:txBody>
      </p:sp>
      <p:sp>
        <p:nvSpPr>
          <p:cNvPr id="7" name="Shape 5"/>
          <p:cNvSpPr/>
          <p:nvPr/>
        </p:nvSpPr>
        <p:spPr>
          <a:xfrm>
            <a:off x="815975" y="2705298"/>
            <a:ext cx="10560050" cy="517525"/>
          </a:xfrm>
          <a:prstGeom prst="roundRect">
            <a:avLst>
              <a:gd name="adj" fmla="val 14110"/>
            </a:avLst>
          </a:prstGeom>
          <a:solidFill>
            <a:srgbClr val="FFFFFE"/>
          </a:solidFill>
          <a:ln w="6350">
            <a:solidFill>
              <a:srgbClr val="D2D9E1"/>
            </a:solidFill>
            <a:prstDash val="solid"/>
          </a:ln>
        </p:spPr>
      </p:sp>
      <p:sp>
        <p:nvSpPr>
          <p:cNvPr id="8" name="Text 6"/>
          <p:cNvSpPr/>
          <p:nvPr/>
        </p:nvSpPr>
        <p:spPr>
          <a:xfrm>
            <a:off x="996950" y="2839641"/>
            <a:ext cx="1003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5FBF"/>
                </a:solidFill>
                <a:latin typeface="JetBrains Mono" pitchFamily="49" charset="0"/>
                <a:ea typeface="JetBrains Mono" pitchFamily="49" charset="-122"/>
                <a:cs typeface="JetBrains Mono" pitchFamily="49" charset="-120"/>
              </a:rPr>
              <a:t>§6</a:t>
            </a:r>
            <a:endParaRPr lang="en-US" sz="1400" dirty="0"/>
          </a:p>
        </p:txBody>
      </p:sp>
      <p:sp>
        <p:nvSpPr>
          <p:cNvPr id="9" name="Text 7"/>
          <p:cNvSpPr/>
          <p:nvPr/>
        </p:nvSpPr>
        <p:spPr>
          <a:xfrm>
            <a:off x="2152650" y="2835473"/>
            <a:ext cx="9313672"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5212E"/>
                </a:solidFill>
                <a:latin typeface="IBM Plex Sans" pitchFamily="34" charset="0"/>
                <a:ea typeface="IBM Plex Sans" pitchFamily="34" charset="-122"/>
                <a:cs typeface="IBM Plex Sans" pitchFamily="34" charset="-120"/>
              </a:rPr>
              <a:t>Backprop is the chain rule run backward: four equations, all gradients for ≈ one extra pass.</a:t>
            </a:r>
            <a:endParaRPr lang="en-US" sz="1500" dirty="0"/>
          </a:p>
        </p:txBody>
      </p:sp>
      <p:sp>
        <p:nvSpPr>
          <p:cNvPr id="10" name="Shape 8"/>
          <p:cNvSpPr/>
          <p:nvPr/>
        </p:nvSpPr>
        <p:spPr>
          <a:xfrm>
            <a:off x="815975" y="3343473"/>
            <a:ext cx="10560050" cy="517525"/>
          </a:xfrm>
          <a:prstGeom prst="roundRect">
            <a:avLst>
              <a:gd name="adj" fmla="val 14110"/>
            </a:avLst>
          </a:prstGeom>
          <a:solidFill>
            <a:srgbClr val="FFFFFE"/>
          </a:solidFill>
          <a:ln w="6350">
            <a:solidFill>
              <a:srgbClr val="D2D9E1"/>
            </a:solidFill>
            <a:prstDash val="solid"/>
          </a:ln>
        </p:spPr>
      </p:sp>
      <p:sp>
        <p:nvSpPr>
          <p:cNvPr id="11" name="Text 9"/>
          <p:cNvSpPr/>
          <p:nvPr/>
        </p:nvSpPr>
        <p:spPr>
          <a:xfrm>
            <a:off x="996950" y="3477816"/>
            <a:ext cx="1003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5FBF"/>
                </a:solidFill>
                <a:latin typeface="JetBrains Mono" pitchFamily="49" charset="0"/>
                <a:ea typeface="JetBrains Mono" pitchFamily="49" charset="-122"/>
                <a:cs typeface="JetBrains Mono" pitchFamily="49" charset="-120"/>
              </a:rPr>
              <a:t>§7</a:t>
            </a:r>
            <a:endParaRPr lang="en-US" sz="1400" dirty="0"/>
          </a:p>
        </p:txBody>
      </p:sp>
      <p:sp>
        <p:nvSpPr>
          <p:cNvPr id="12" name="Text 10"/>
          <p:cNvSpPr/>
          <p:nvPr/>
        </p:nvSpPr>
        <p:spPr>
          <a:xfrm>
            <a:off x="2152650" y="3473648"/>
            <a:ext cx="9313672"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5212E"/>
                </a:solidFill>
                <a:latin typeface="IBM Plex Sans" pitchFamily="34" charset="0"/>
                <a:ea typeface="IBM Plex Sans" pitchFamily="34" charset="-122"/>
                <a:cs typeface="IBM Plex Sans" pitchFamily="34" charset="-120"/>
              </a:rPr>
              <a:t>Step against the gradient, keep η below 2/λₘₐₓ, and read train and validation curves together.</a:t>
            </a:r>
            <a:endParaRPr lang="en-US" sz="1500" dirty="0"/>
          </a:p>
        </p:txBody>
      </p:sp>
      <p:sp>
        <p:nvSpPr>
          <p:cNvPr id="13" name="Text 11"/>
          <p:cNvSpPr/>
          <p:nvPr/>
        </p:nvSpPr>
        <p:spPr>
          <a:xfrm>
            <a:off x="812800" y="6281440"/>
            <a:ext cx="518017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2 · Learning: losses, backpropagation, gradient descent</a:t>
            </a:r>
            <a:endParaRPr lang="en-US" sz="1200" dirty="0"/>
          </a:p>
        </p:txBody>
      </p:sp>
      <p:sp>
        <p:nvSpPr>
          <p:cNvPr id="14" name="Text 12"/>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30 / 31</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5FBF"/>
                </a:solidFill>
                <a:latin typeface="IBM Plex Sans" pitchFamily="34" charset="0"/>
                <a:ea typeface="IBM Plex Sans" pitchFamily="34" charset="-122"/>
                <a:cs typeface="IBM Plex Sans" pitchFamily="34" charset="-120"/>
              </a:rPr>
              <a:t>REFERENCES</a:t>
            </a:r>
            <a:endParaRPr lang="en-US" sz="1200" dirty="0"/>
          </a:p>
        </p:txBody>
      </p:sp>
      <p:sp>
        <p:nvSpPr>
          <p:cNvPr id="3" name="Text 1"/>
          <p:cNvSpPr/>
          <p:nvPr>
            <p:ph type="title"/>
          </p:nvPr>
        </p:nvSpPr>
        <p:spPr>
          <a:xfrm>
            <a:off x="812800" y="1013420"/>
            <a:ext cx="10883392" cy="821928"/>
          </a:xfrm>
          <a:prstGeom prst="rect">
            <a:avLst/>
          </a:prstGeom>
          <a:noFill/>
          <a:ln/>
        </p:spPr>
        <p:txBody>
          <a:bodyPr wrap="square" lIns="0" tIns="0" rIns="0" bIns="0" rtlCol="0" anchor="t">
            <a:normAutofit/>
          </a:bodyPr>
          <a:lstStyle/>
          <a:p>
            <a:pPr algn="l" indent="0" marL="0">
              <a:lnSpc>
                <a:spcPts val="3136"/>
              </a:lnSpc>
              <a:buNone/>
            </a:pPr>
            <a:r>
              <a:rPr lang="en-US" sz="2800" b="1" i="0" dirty="0">
                <a:solidFill>
                  <a:srgbClr val="15212E"/>
                </a:solidFill>
                <a:latin typeface="IBM Plex Sans" pitchFamily="34" charset="0"/>
                <a:ea typeface="IBM Plex Sans" pitchFamily="34" charset="-122"/>
                <a:cs typeface="IBM Plex Sans" pitchFamily="34" charset="-120"/>
              </a:rPr>
              <a:t>These are the primary sources behind today’s claims, for further reading.</a:t>
            </a:r>
            <a:endParaRPr lang="en-US" sz="2800" dirty="0"/>
          </a:p>
        </p:txBody>
      </p:sp>
      <p:sp>
        <p:nvSpPr>
          <p:cNvPr id="4" name="Text 2"/>
          <p:cNvSpPr/>
          <p:nvPr/>
        </p:nvSpPr>
        <p:spPr>
          <a:xfrm>
            <a:off x="812800" y="2063948"/>
            <a:ext cx="5232400" cy="427633"/>
          </a:xfrm>
          <a:prstGeom prst="rect">
            <a:avLst/>
          </a:prstGeom>
          <a:noFill/>
          <a:ln/>
        </p:spPr>
        <p:txBody>
          <a:bodyPr wrap="square" lIns="0" tIns="0" rIns="0" bIns="0" rtlCol="0" anchor="t">
            <a:normAutofit/>
          </a:bodyPr>
          <a:lstStyle/>
          <a:p>
            <a:pPr algn="l" indent="0" marL="0">
              <a:lnSpc>
                <a:spcPts val="1584"/>
              </a:lnSpc>
              <a:buNone/>
            </a:pPr>
            <a:r>
              <a:rPr lang="en-US" sz="1200" dirty="0">
                <a:solidFill>
                  <a:srgbClr val="3D4A59"/>
                </a:solidFill>
                <a:latin typeface="IBM Plex Sans" pitchFamily="34" charset="0"/>
                <a:ea typeface="IBM Plex Sans" pitchFamily="34" charset="-122"/>
                <a:cs typeface="IBM Plex Sans" pitchFamily="34" charset="-120"/>
              </a:rPr>
              <a:t>Huber, P. (1964). Robust estimation of a location parameter. Annals of Mathematical Statistics.</a:t>
            </a:r>
            <a:endParaRPr lang="en-US" sz="1200" dirty="0"/>
          </a:p>
        </p:txBody>
      </p:sp>
      <p:sp>
        <p:nvSpPr>
          <p:cNvPr id="5" name="Text 3"/>
          <p:cNvSpPr/>
          <p:nvPr/>
        </p:nvSpPr>
        <p:spPr>
          <a:xfrm>
            <a:off x="812800" y="2542381"/>
            <a:ext cx="5232400" cy="427633"/>
          </a:xfrm>
          <a:prstGeom prst="rect">
            <a:avLst/>
          </a:prstGeom>
          <a:noFill/>
          <a:ln/>
        </p:spPr>
        <p:txBody>
          <a:bodyPr wrap="square" lIns="0" tIns="0" rIns="0" bIns="0" rtlCol="0" anchor="t">
            <a:normAutofit/>
          </a:bodyPr>
          <a:lstStyle/>
          <a:p>
            <a:pPr algn="l" indent="0" marL="0">
              <a:lnSpc>
                <a:spcPts val="1584"/>
              </a:lnSpc>
              <a:buNone/>
            </a:pPr>
            <a:r>
              <a:rPr lang="en-US" sz="1200" dirty="0">
                <a:solidFill>
                  <a:srgbClr val="3D4A59"/>
                </a:solidFill>
                <a:latin typeface="IBM Plex Sans" pitchFamily="34" charset="0"/>
                <a:ea typeface="IBM Plex Sans" pitchFamily="34" charset="-122"/>
                <a:cs typeface="IBM Plex Sans" pitchFamily="34" charset="-120"/>
              </a:rPr>
              <a:t>Rumelhart, D., Hinton, G. &amp; Williams, R. (1986). Learning representations by back-propagating errors. Nature.</a:t>
            </a:r>
            <a:endParaRPr lang="en-US" sz="1200" dirty="0"/>
          </a:p>
        </p:txBody>
      </p:sp>
      <p:sp>
        <p:nvSpPr>
          <p:cNvPr id="6" name="Text 4"/>
          <p:cNvSpPr/>
          <p:nvPr/>
        </p:nvSpPr>
        <p:spPr>
          <a:xfrm>
            <a:off x="812800" y="3020814"/>
            <a:ext cx="5232400" cy="427633"/>
          </a:xfrm>
          <a:prstGeom prst="rect">
            <a:avLst/>
          </a:prstGeom>
          <a:noFill/>
          <a:ln/>
        </p:spPr>
        <p:txBody>
          <a:bodyPr wrap="square" lIns="0" tIns="0" rIns="0" bIns="0" rtlCol="0" anchor="t">
            <a:normAutofit/>
          </a:bodyPr>
          <a:lstStyle/>
          <a:p>
            <a:pPr algn="l" indent="0" marL="0">
              <a:lnSpc>
                <a:spcPts val="1584"/>
              </a:lnSpc>
              <a:buNone/>
            </a:pPr>
            <a:r>
              <a:rPr lang="en-US" sz="1200" dirty="0">
                <a:solidFill>
                  <a:srgbClr val="3D4A59"/>
                </a:solidFill>
                <a:latin typeface="IBM Plex Sans" pitchFamily="34" charset="0"/>
                <a:ea typeface="IBM Plex Sans" pitchFamily="34" charset="-122"/>
                <a:cs typeface="IBM Plex Sans" pitchFamily="34" charset="-120"/>
              </a:rPr>
              <a:t>Baydin, A. et al. (2018). Automatic differentiation in machine learning: a survey. JMLR.</a:t>
            </a:r>
            <a:endParaRPr lang="en-US" sz="1200" dirty="0"/>
          </a:p>
        </p:txBody>
      </p:sp>
      <p:sp>
        <p:nvSpPr>
          <p:cNvPr id="7" name="Text 5"/>
          <p:cNvSpPr/>
          <p:nvPr/>
        </p:nvSpPr>
        <p:spPr>
          <a:xfrm>
            <a:off x="812800" y="3499247"/>
            <a:ext cx="5232400" cy="427633"/>
          </a:xfrm>
          <a:prstGeom prst="rect">
            <a:avLst/>
          </a:prstGeom>
          <a:noFill/>
          <a:ln/>
        </p:spPr>
        <p:txBody>
          <a:bodyPr wrap="square" lIns="0" tIns="0" rIns="0" bIns="0" rtlCol="0" anchor="t">
            <a:normAutofit/>
          </a:bodyPr>
          <a:lstStyle/>
          <a:p>
            <a:pPr algn="l" indent="0" marL="0">
              <a:lnSpc>
                <a:spcPts val="1584"/>
              </a:lnSpc>
              <a:buNone/>
            </a:pPr>
            <a:r>
              <a:rPr lang="en-US" sz="1200" dirty="0">
                <a:solidFill>
                  <a:srgbClr val="3D4A59"/>
                </a:solidFill>
                <a:latin typeface="IBM Plex Sans" pitchFamily="34" charset="0"/>
                <a:ea typeface="IBM Plex Sans" pitchFamily="34" charset="-122"/>
                <a:cs typeface="IBM Plex Sans" pitchFamily="34" charset="-120"/>
              </a:rPr>
              <a:t>Chen, T. et al. (2016). Training deep nets with sublinear memory cost (gradient checkpointing).</a:t>
            </a:r>
            <a:endParaRPr lang="en-US" sz="1200" dirty="0"/>
          </a:p>
        </p:txBody>
      </p:sp>
      <p:sp>
        <p:nvSpPr>
          <p:cNvPr id="8" name="Text 6"/>
          <p:cNvSpPr/>
          <p:nvPr/>
        </p:nvSpPr>
        <p:spPr>
          <a:xfrm>
            <a:off x="812800" y="3977680"/>
            <a:ext cx="5232400" cy="427633"/>
          </a:xfrm>
          <a:prstGeom prst="rect">
            <a:avLst/>
          </a:prstGeom>
          <a:noFill/>
          <a:ln/>
        </p:spPr>
        <p:txBody>
          <a:bodyPr wrap="square" lIns="0" tIns="0" rIns="0" bIns="0" rtlCol="0" anchor="t">
            <a:normAutofit/>
          </a:bodyPr>
          <a:lstStyle/>
          <a:p>
            <a:pPr algn="l" indent="0" marL="0">
              <a:lnSpc>
                <a:spcPts val="1584"/>
              </a:lnSpc>
              <a:buNone/>
            </a:pPr>
            <a:r>
              <a:rPr lang="en-US" sz="1200" dirty="0">
                <a:solidFill>
                  <a:srgbClr val="3D4A59"/>
                </a:solidFill>
                <a:latin typeface="IBM Plex Sans" pitchFamily="34" charset="0"/>
                <a:ea typeface="IBM Plex Sans" pitchFamily="34" charset="-122"/>
                <a:cs typeface="IBM Plex Sans" pitchFamily="34" charset="-120"/>
              </a:rPr>
              <a:t>Szegedy, C. et al. (2016). Rethinking the Inception architecture (label smoothing). CVPR.</a:t>
            </a:r>
            <a:endParaRPr lang="en-US" sz="1200" dirty="0"/>
          </a:p>
        </p:txBody>
      </p:sp>
      <p:sp>
        <p:nvSpPr>
          <p:cNvPr id="9" name="Text 7"/>
          <p:cNvSpPr/>
          <p:nvPr/>
        </p:nvSpPr>
        <p:spPr>
          <a:xfrm>
            <a:off x="6299200" y="2063948"/>
            <a:ext cx="5232400" cy="427633"/>
          </a:xfrm>
          <a:prstGeom prst="rect">
            <a:avLst/>
          </a:prstGeom>
          <a:noFill/>
          <a:ln/>
        </p:spPr>
        <p:txBody>
          <a:bodyPr wrap="square" lIns="0" tIns="0" rIns="0" bIns="0" rtlCol="0" anchor="t">
            <a:normAutofit/>
          </a:bodyPr>
          <a:lstStyle/>
          <a:p>
            <a:pPr algn="l" indent="0" marL="0">
              <a:lnSpc>
                <a:spcPts val="1584"/>
              </a:lnSpc>
              <a:buNone/>
            </a:pPr>
            <a:r>
              <a:rPr lang="en-US" sz="1200" dirty="0">
                <a:solidFill>
                  <a:srgbClr val="3D4A59"/>
                </a:solidFill>
                <a:latin typeface="IBM Plex Sans" pitchFamily="34" charset="0"/>
                <a:ea typeface="IBM Plex Sans" pitchFamily="34" charset="-122"/>
                <a:cs typeface="IBM Plex Sans" pitchFamily="34" charset="-120"/>
              </a:rPr>
              <a:t>Smith, L. (2017). Cyclical learning rates for training neural networks (range test). WACV.</a:t>
            </a:r>
            <a:endParaRPr lang="en-US" sz="1200" dirty="0"/>
          </a:p>
        </p:txBody>
      </p:sp>
      <p:sp>
        <p:nvSpPr>
          <p:cNvPr id="10" name="Text 8"/>
          <p:cNvSpPr/>
          <p:nvPr/>
        </p:nvSpPr>
        <p:spPr>
          <a:xfrm>
            <a:off x="6299200" y="2542381"/>
            <a:ext cx="5232400" cy="427633"/>
          </a:xfrm>
          <a:prstGeom prst="rect">
            <a:avLst/>
          </a:prstGeom>
          <a:noFill/>
          <a:ln/>
        </p:spPr>
        <p:txBody>
          <a:bodyPr wrap="square" lIns="0" tIns="0" rIns="0" bIns="0" rtlCol="0" anchor="t">
            <a:normAutofit/>
          </a:bodyPr>
          <a:lstStyle/>
          <a:p>
            <a:pPr algn="l" indent="0" marL="0">
              <a:lnSpc>
                <a:spcPts val="1584"/>
              </a:lnSpc>
              <a:buNone/>
            </a:pPr>
            <a:r>
              <a:rPr lang="en-US" sz="1200" dirty="0">
                <a:solidFill>
                  <a:srgbClr val="3D4A59"/>
                </a:solidFill>
                <a:latin typeface="IBM Plex Sans" pitchFamily="34" charset="0"/>
                <a:ea typeface="IBM Plex Sans" pitchFamily="34" charset="-122"/>
                <a:cs typeface="IBM Plex Sans" pitchFamily="34" charset="-120"/>
              </a:rPr>
              <a:t>Goyal, P. et al. (2017). Accurate, large minibatch SGD: training ImageNet in 1 hour.</a:t>
            </a:r>
            <a:endParaRPr lang="en-US" sz="1200" dirty="0"/>
          </a:p>
        </p:txBody>
      </p:sp>
      <p:sp>
        <p:nvSpPr>
          <p:cNvPr id="11" name="Text 9"/>
          <p:cNvSpPr/>
          <p:nvPr/>
        </p:nvSpPr>
        <p:spPr>
          <a:xfrm>
            <a:off x="6299200" y="3020814"/>
            <a:ext cx="5232400" cy="427633"/>
          </a:xfrm>
          <a:prstGeom prst="rect">
            <a:avLst/>
          </a:prstGeom>
          <a:noFill/>
          <a:ln/>
        </p:spPr>
        <p:txBody>
          <a:bodyPr wrap="square" lIns="0" tIns="0" rIns="0" bIns="0" rtlCol="0" anchor="t">
            <a:normAutofit/>
          </a:bodyPr>
          <a:lstStyle/>
          <a:p>
            <a:pPr algn="l" indent="0" marL="0">
              <a:lnSpc>
                <a:spcPts val="1584"/>
              </a:lnSpc>
              <a:buNone/>
            </a:pPr>
            <a:r>
              <a:rPr lang="en-US" sz="1200" dirty="0">
                <a:solidFill>
                  <a:srgbClr val="3D4A59"/>
                </a:solidFill>
                <a:latin typeface="IBM Plex Sans" pitchFamily="34" charset="0"/>
                <a:ea typeface="IBM Plex Sans" pitchFamily="34" charset="-122"/>
                <a:cs typeface="IBM Plex Sans" pitchFamily="34" charset="-120"/>
              </a:rPr>
              <a:t>Dauphin, Y. et al. (2014). Identifying and attacking the saddle point problem in high-dimensional non-convex optimization.</a:t>
            </a:r>
            <a:endParaRPr lang="en-US" sz="1200" dirty="0"/>
          </a:p>
        </p:txBody>
      </p:sp>
      <p:sp>
        <p:nvSpPr>
          <p:cNvPr id="12" name="Text 10"/>
          <p:cNvSpPr/>
          <p:nvPr/>
        </p:nvSpPr>
        <p:spPr>
          <a:xfrm>
            <a:off x="6299200" y="3499247"/>
            <a:ext cx="5232400" cy="427633"/>
          </a:xfrm>
          <a:prstGeom prst="rect">
            <a:avLst/>
          </a:prstGeom>
          <a:noFill/>
          <a:ln/>
        </p:spPr>
        <p:txBody>
          <a:bodyPr wrap="square" lIns="0" tIns="0" rIns="0" bIns="0" rtlCol="0" anchor="t">
            <a:normAutofit/>
          </a:bodyPr>
          <a:lstStyle/>
          <a:p>
            <a:pPr algn="l" indent="0" marL="0">
              <a:lnSpc>
                <a:spcPts val="1584"/>
              </a:lnSpc>
              <a:buNone/>
            </a:pPr>
            <a:r>
              <a:rPr lang="en-US" sz="1200" dirty="0">
                <a:solidFill>
                  <a:srgbClr val="3D4A59"/>
                </a:solidFill>
                <a:latin typeface="IBM Plex Sans" pitchFamily="34" charset="0"/>
                <a:ea typeface="IBM Plex Sans" pitchFamily="34" charset="-122"/>
                <a:cs typeface="IBM Plex Sans" pitchFamily="34" charset="-120"/>
              </a:rPr>
              <a:t>Keskar, N. et al. (2017). On large-batch training for deep learning: generalization gap and sharp minima. ICLR.</a:t>
            </a:r>
            <a:endParaRPr lang="en-US" sz="1200" dirty="0"/>
          </a:p>
        </p:txBody>
      </p:sp>
      <p:sp>
        <p:nvSpPr>
          <p:cNvPr id="13" name="Text 11"/>
          <p:cNvSpPr/>
          <p:nvPr/>
        </p:nvSpPr>
        <p:spPr>
          <a:xfrm>
            <a:off x="6299200" y="3977680"/>
            <a:ext cx="5232400" cy="226516"/>
          </a:xfrm>
          <a:prstGeom prst="rect">
            <a:avLst/>
          </a:prstGeom>
          <a:noFill/>
          <a:ln/>
        </p:spPr>
        <p:txBody>
          <a:bodyPr wrap="square" lIns="0" tIns="0" rIns="0" bIns="0" rtlCol="0" anchor="t">
            <a:normAutofit/>
          </a:bodyPr>
          <a:lstStyle/>
          <a:p>
            <a:pPr algn="l" indent="0" marL="0">
              <a:lnSpc>
                <a:spcPts val="1584"/>
              </a:lnSpc>
              <a:buNone/>
            </a:pPr>
            <a:r>
              <a:rPr lang="en-US" sz="1200" dirty="0">
                <a:solidFill>
                  <a:srgbClr val="3D4A59"/>
                </a:solidFill>
                <a:latin typeface="IBM Plex Sans" pitchFamily="34" charset="0"/>
                <a:ea typeface="IBM Plex Sans" pitchFamily="34" charset="-122"/>
                <a:cs typeface="IBM Plex Sans" pitchFamily="34" charset="-120"/>
              </a:rPr>
              <a:t>Dinh, L. et al. (2017). Sharp minima can generalize for deep nets. ICML.</a:t>
            </a:r>
            <a:endParaRPr lang="en-US" sz="1200" dirty="0"/>
          </a:p>
        </p:txBody>
      </p:sp>
      <p:sp>
        <p:nvSpPr>
          <p:cNvPr id="14" name="Text 12"/>
          <p:cNvSpPr/>
          <p:nvPr/>
        </p:nvSpPr>
        <p:spPr>
          <a:xfrm>
            <a:off x="812800" y="6281440"/>
            <a:ext cx="518017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878"/>
                </a:solidFill>
                <a:latin typeface="IBM Plex Sans" pitchFamily="34" charset="0"/>
                <a:ea typeface="IBM Plex Sans" pitchFamily="34" charset="-122"/>
                <a:cs typeface="IBM Plex Sans" pitchFamily="34" charset="-120"/>
              </a:rPr>
              <a:t>Lecture 2 · Learning: losses, backpropagation, gradient descent</a:t>
            </a:r>
            <a:endParaRPr lang="en-US" sz="1200" dirty="0"/>
          </a:p>
        </p:txBody>
      </p:sp>
      <p:sp>
        <p:nvSpPr>
          <p:cNvPr id="15" name="Text 13"/>
          <p:cNvSpPr/>
          <p:nvPr/>
        </p:nvSpPr>
        <p:spPr>
          <a:xfrm>
            <a:off x="10611009" y="6281440"/>
            <a:ext cx="7681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878"/>
                </a:solidFill>
                <a:latin typeface="JetBrains Mono" pitchFamily="49" charset="0"/>
                <a:ea typeface="JetBrains Mono" pitchFamily="49" charset="-122"/>
                <a:cs typeface="JetBrains Mono" pitchFamily="49" charset="-120"/>
              </a:rPr>
              <a:t>31 / 31</a:t>
            </a:r>
            <a:endParaRPr lang="en-US" sz="1200" dirty="0"/>
          </a:p>
        </p:txBody>
      </p:sp>
    </p:spTree>
  </p:cSld>
  <p:clrMapOvr>
    <a:masterClrMapping/>
  </p:clrMapOvr>
</p:sld>
</file>

<file path=ppt/theme/theme1.xml><?xml version="1.0" encoding="utf-8"?>
<a:theme xmlns:a="http://schemas.openxmlformats.org/drawingml/2006/main" name="Lecture 2 · Learning: Losses, Backpropagation and Gradient Descent">
  <a:themeElements>
    <a:clrScheme name="Lecture 2 · Learning: Losses, Backpropagation and Gradient Descent">
      <a:dk1>
        <a:srgbClr val="15212E"/>
      </a:dk1>
      <a:lt1>
        <a:srgbClr val="FAF9F6"/>
      </a:lt1>
      <a:dk2>
        <a:srgbClr val="4E5760"/>
      </a:dk2>
      <a:lt2>
        <a:srgbClr val="E3E3E2"/>
      </a:lt2>
      <a:accent1>
        <a:srgbClr val="1F5FBF"/>
      </a:accent1>
      <a:accent2>
        <a:srgbClr val="A04F00"/>
      </a:accent2>
      <a:accent3>
        <a:srgbClr val="5B6878"/>
      </a:accent3>
      <a:accent4>
        <a:srgbClr val="3D4A59"/>
      </a:accent4>
      <a:accent5>
        <a:srgbClr val="6B7785"/>
      </a:accent5>
      <a:accent6>
        <a:srgbClr val="FBEBDC"/>
      </a:accent6>
      <a:hlink>
        <a:srgbClr val="0563C1"/>
      </a:hlink>
      <a:folHlink>
        <a:srgbClr val="954F72"/>
      </a:folHlink>
    </a:clrScheme>
    <a:fontScheme name="Lecture 2 · Learning: Losses, Backpropagation and Gradient Descent">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2 · Learning: Losses, Backpropagation and Gradient Descent</dc:title>
  <dc:subject/>
  <dc:creator/>
  <cp:lastModifiedBy/>
  <cp:revision>1</cp:revision>
  <dcterms:created xsi:type="dcterms:W3CDTF">2026-10-01T19:08:54Z</dcterms:created>
  <dcterms:modified xsi:type="dcterms:W3CDTF">2026-10-01T19:08:54Z</dcterms:modified>
</cp:coreProperties>
</file>