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6.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bfb2658-e1e5-fcf3-23fa-00bdba4824f3}">
          <p14:sldIdLst>
            <p14:sldId id="256"/>
            <p14:sldId id="257"/>
            <p14:sldId id="258"/>
          </p14:sldIdLst>
        </p14:section>
        <p14:section name="§5 Loss functions" id="{6388ad41-d88f-a2ef-3c76-0aa6a579d416}">
          <p14:sldIdLst>
            <p14:sldId id="259"/>
            <p14:sldId id="260"/>
            <p14:sldId id="261"/>
            <p14:sldId id="262"/>
            <p14:sldId id="263"/>
            <p14:sldId id="264"/>
            <p14:sldId id="265"/>
            <p14:sldId id="266"/>
            <p14:sldId id="267"/>
            <p14:sldId id="268"/>
            <p14:sldId id="269"/>
            <p14:sldId id="270"/>
            <p14:sldId id="271"/>
            <p14:sldId id="272"/>
          </p14:sldIdLst>
        </p14:section>
        <p14:section name="§6 Backpropagation" id="{3d5bb22c-15fa-d2b6-fcd0-eee6f4ab5162}">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Lst>
        </p14:section>
        <p14:section name="§7 Gradient descent" id="{ac8d4fa6-81a7-797c-ef54-c352a6b10bb5}">
          <p14:sldIdLst>
            <p14:sldId id="291"/>
            <p14:sldId id="292"/>
            <p14:sldId id="293"/>
            <p14:sldId id="294"/>
            <p14:sldId id="295"/>
            <p14:sldId id="296"/>
            <p14:sldId id="297"/>
            <p14:sldId id="298"/>
            <p14:sldId id="299"/>
            <p14:sldId id="300"/>
            <p14:sldId id="301"/>
            <p14:sldId id="302"/>
          </p14:sldIdLst>
        </p14:section>
        <p14:section name="§8 Why deep?" id="{43451692-1911-1e2f-d2fe-ccf1020641ba}">
          <p14:sldIdLst>
            <p14:sldId id="303"/>
            <p14:sldId id="304"/>
            <p14:sldId id="305"/>
            <p14:sldId id="306"/>
            <p14:sldId id="307"/>
            <p14:sldId id="308"/>
            <p14:sldId id="309"/>
            <p14:sldId id="310"/>
          </p14:sldIdLst>
        </p14:section>
        <p14:section name="Wrap-up" id="{8ff0d906-941e-ae55-a9e5-1b61e7bca3ce}">
          <p14:sldIdLst>
            <p14:sldId id="311"/>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MSE  ½e²</c:v>
                </c:pt>
              </c:strCache>
            </c:strRef>
          </c:tx>
          <c:spPr>
            <a:solidFill>
              <a:srgbClr val="556270"/>
            </a:solidFill>
            <a:ln w="44450" cap="flat">
              <a:solidFill>
                <a:srgbClr val="556270"/>
              </a:solidFill>
              <a:prstDash val="solid"/>
              <a:round/>
            </a:ln>
            <a:effectLst/>
          </c:spPr>
          <c:marker>
            <c:symbol val="none"/>
            <c:size val="7"/>
            <c:spPr>
              <a:solidFill>
                <a:srgbClr val="556270"/>
              </a:solidFill>
              <a:ln w="9525" cap="flat">
                <a:solidFill>
                  <a:srgbClr val="556270"/>
                </a:solidFill>
                <a:prstDash val="solid"/>
                <a:round/>
              </a:ln>
              <a:effectLst/>
            </c:spPr>
          </c:marker>
          <c:xVal>
            <c:numRef>
              <c:f>Sheet1!$A$2:$A$122</c:f>
              <c:numCache>
                <c:formatCode>General</c:formatCode>
                <c:ptCount val="121"/>
                <c:pt idx="0">
                  <c:v>-3</c:v>
                </c:pt>
                <c:pt idx="1">
                  <c:v>-2.95</c:v>
                </c:pt>
                <c:pt idx="2">
                  <c:v>-2.9</c:v>
                </c:pt>
                <c:pt idx="3">
                  <c:v>-2.85</c:v>
                </c:pt>
                <c:pt idx="4">
                  <c:v>-2.8</c:v>
                </c:pt>
                <c:pt idx="5">
                  <c:v>-2.75</c:v>
                </c:pt>
                <c:pt idx="6">
                  <c:v>-2.7</c:v>
                </c:pt>
                <c:pt idx="7">
                  <c:v>-2.65</c:v>
                </c:pt>
                <c:pt idx="8">
                  <c:v>-2.6</c:v>
                </c:pt>
                <c:pt idx="9">
                  <c:v>-2.55</c:v>
                </c:pt>
                <c:pt idx="10">
                  <c:v>-2.5</c:v>
                </c:pt>
                <c:pt idx="11">
                  <c:v>-2.45</c:v>
                </c:pt>
                <c:pt idx="12">
                  <c:v>-2.4</c:v>
                </c:pt>
                <c:pt idx="13">
                  <c:v>-2.35</c:v>
                </c:pt>
                <c:pt idx="14">
                  <c:v>-2.3</c:v>
                </c:pt>
                <c:pt idx="15">
                  <c:v>-2.25</c:v>
                </c:pt>
                <c:pt idx="16">
                  <c:v>-2.2</c:v>
                </c:pt>
                <c:pt idx="17">
                  <c:v>-2.15</c:v>
                </c:pt>
                <c:pt idx="18">
                  <c:v>-2.1</c:v>
                </c:pt>
                <c:pt idx="19">
                  <c:v>-2.05</c:v>
                </c:pt>
                <c:pt idx="20">
                  <c:v>-2</c:v>
                </c:pt>
                <c:pt idx="21">
                  <c:v>-1.95</c:v>
                </c:pt>
                <c:pt idx="22">
                  <c:v>-1.9</c:v>
                </c:pt>
                <c:pt idx="23">
                  <c:v>-1.85</c:v>
                </c:pt>
                <c:pt idx="24">
                  <c:v>-1.8</c:v>
                </c:pt>
                <c:pt idx="25">
                  <c:v>-1.75</c:v>
                </c:pt>
                <c:pt idx="26">
                  <c:v>-1.7</c:v>
                </c:pt>
                <c:pt idx="27">
                  <c:v>-1.65</c:v>
                </c:pt>
                <c:pt idx="28">
                  <c:v>-1.6</c:v>
                </c:pt>
                <c:pt idx="29">
                  <c:v>-1.55</c:v>
                </c:pt>
                <c:pt idx="30">
                  <c:v>-1.5</c:v>
                </c:pt>
                <c:pt idx="31">
                  <c:v>-1.45</c:v>
                </c:pt>
                <c:pt idx="32">
                  <c:v>-1.4</c:v>
                </c:pt>
                <c:pt idx="33">
                  <c:v>-1.35</c:v>
                </c:pt>
                <c:pt idx="34">
                  <c:v>-1.3</c:v>
                </c:pt>
                <c:pt idx="35">
                  <c:v>-1.25</c:v>
                </c:pt>
                <c:pt idx="36">
                  <c:v>-1.2</c:v>
                </c:pt>
                <c:pt idx="37">
                  <c:v>-1.15</c:v>
                </c:pt>
                <c:pt idx="38">
                  <c:v>-1.1</c:v>
                </c:pt>
                <c:pt idx="39">
                  <c:v>-1.05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0.05</c:v>
                </c:pt>
                <c:pt idx="62">
                  <c:v>0.1</c:v>
                </c:pt>
                <c:pt idx="63">
                  <c:v>0.15</c:v>
                </c:pt>
                <c:pt idx="64">
                  <c:v>0.2</c:v>
                </c:pt>
                <c:pt idx="65">
                  <c:v>0.25</c:v>
                </c:pt>
                <c:pt idx="66">
                  <c:v>0.3</c:v>
                </c:pt>
                <c:pt idx="67">
                  <c:v>0.35</c:v>
                </c:pt>
                <c:pt idx="68">
                  <c:v>0.4</c:v>
                </c:pt>
                <c:pt idx="69">
                  <c:v>0.45</c:v>
                </c:pt>
                <c:pt idx="70">
                  <c:v>0.5</c:v>
                </c:pt>
                <c:pt idx="71">
                  <c:v>0.55</c:v>
                </c:pt>
                <c:pt idx="72">
                  <c:v>0.6</c:v>
                </c:pt>
                <c:pt idx="73">
                  <c:v>0.65</c:v>
                </c:pt>
                <c:pt idx="74">
                  <c:v>0.7</c:v>
                </c:pt>
                <c:pt idx="75">
                  <c:v>0.75</c:v>
                </c:pt>
                <c:pt idx="76">
                  <c:v>0.8</c:v>
                </c:pt>
                <c:pt idx="77">
                  <c:v>0.85</c:v>
                </c:pt>
                <c:pt idx="78">
                  <c:v>0.9</c:v>
                </c:pt>
                <c:pt idx="79">
                  <c:v>0.95</c:v>
                </c:pt>
                <c:pt idx="80">
                  <c:v>1</c:v>
                </c:pt>
                <c:pt idx="81">
                  <c:v>1.05</c:v>
                </c:pt>
                <c:pt idx="82">
                  <c:v>1.1</c:v>
                </c:pt>
                <c:pt idx="83">
                  <c:v>1.15</c:v>
                </c:pt>
                <c:pt idx="84">
                  <c:v>1.2</c:v>
                </c:pt>
                <c:pt idx="85">
                  <c:v>1.25</c:v>
                </c:pt>
                <c:pt idx="86">
                  <c:v>1.3</c:v>
                </c:pt>
                <c:pt idx="87">
                  <c:v>1.35</c:v>
                </c:pt>
                <c:pt idx="88">
                  <c:v>1.4</c:v>
                </c:pt>
                <c:pt idx="89">
                  <c:v>1.45</c:v>
                </c:pt>
                <c:pt idx="90">
                  <c:v>1.5</c:v>
                </c:pt>
                <c:pt idx="91">
                  <c:v>1.55</c:v>
                </c:pt>
                <c:pt idx="92">
                  <c:v>1.6</c:v>
                </c:pt>
                <c:pt idx="93">
                  <c:v>1.65</c:v>
                </c:pt>
                <c:pt idx="94">
                  <c:v>1.7</c:v>
                </c:pt>
                <c:pt idx="95">
                  <c:v>1.75</c:v>
                </c:pt>
                <c:pt idx="96">
                  <c:v>1.8</c:v>
                </c:pt>
                <c:pt idx="97">
                  <c:v>1.85</c:v>
                </c:pt>
                <c:pt idx="98">
                  <c:v>1.9</c:v>
                </c:pt>
                <c:pt idx="99">
                  <c:v>1.95</c:v>
                </c:pt>
                <c:pt idx="100">
                  <c:v>2</c:v>
                </c:pt>
                <c:pt idx="101">
                  <c:v>2.05</c:v>
                </c:pt>
                <c:pt idx="102">
                  <c:v>2.1</c:v>
                </c:pt>
                <c:pt idx="103">
                  <c:v>2.15</c:v>
                </c:pt>
                <c:pt idx="104">
                  <c:v>2.2</c:v>
                </c:pt>
                <c:pt idx="105">
                  <c:v>2.25</c:v>
                </c:pt>
                <c:pt idx="106">
                  <c:v>2.3</c:v>
                </c:pt>
                <c:pt idx="107">
                  <c:v>2.35</c:v>
                </c:pt>
                <c:pt idx="108">
                  <c:v>2.4</c:v>
                </c:pt>
                <c:pt idx="109">
                  <c:v>2.45</c:v>
                </c:pt>
                <c:pt idx="110">
                  <c:v>2.5</c:v>
                </c:pt>
                <c:pt idx="111">
                  <c:v>2.55</c:v>
                </c:pt>
                <c:pt idx="112">
                  <c:v>2.6</c:v>
                </c:pt>
                <c:pt idx="113">
                  <c:v>2.65</c:v>
                </c:pt>
                <c:pt idx="114">
                  <c:v>2.7</c:v>
                </c:pt>
                <c:pt idx="115">
                  <c:v>2.75</c:v>
                </c:pt>
                <c:pt idx="116">
                  <c:v>2.8</c:v>
                </c:pt>
                <c:pt idx="117">
                  <c:v>2.85</c:v>
                </c:pt>
                <c:pt idx="118">
                  <c:v>2.9</c:v>
                </c:pt>
                <c:pt idx="119">
                  <c:v>2.95</c:v>
                </c:pt>
                <c:pt idx="120">
                  <c:v>3</c:v>
                </c:pt>
              </c:numCache>
            </c:numRef>
          </c:xVal>
          <c:yVal>
            <c:numRef>
              <c:f>Sheet1!$B$2:$B$122</c:f>
              <c:numCache>
                <c:formatCode>General</c:formatCode>
                <c:ptCount val="121"/>
                <c:pt idx="0">
                  <c:v>4.5</c:v>
                </c:pt>
                <c:pt idx="1">
                  <c:v>4.35125</c:v>
                </c:pt>
                <c:pt idx="2">
                  <c:v>4.205</c:v>
                </c:pt>
                <c:pt idx="3">
                  <c:v>4.06125</c:v>
                </c:pt>
                <c:pt idx="4">
                  <c:v>3.9199999999999995</c:v>
                </c:pt>
                <c:pt idx="5">
                  <c:v>3.78125</c:v>
                </c:pt>
                <c:pt idx="6">
                  <c:v>3.6450000000000005</c:v>
                </c:pt>
                <c:pt idx="7">
                  <c:v>3.51125</c:v>
                </c:pt>
                <c:pt idx="8">
                  <c:v>3.3800000000000003</c:v>
                </c:pt>
                <c:pt idx="9">
                  <c:v>3.2512499999999998</c:v>
                </c:pt>
                <c:pt idx="10">
                  <c:v>3.125</c:v>
                </c:pt>
                <c:pt idx="11">
                  <c:v>3.0012500000000006</c:v>
                </c:pt>
                <c:pt idx="12">
                  <c:v>2.88</c:v>
                </c:pt>
                <c:pt idx="13">
                  <c:v>2.7612500000000004</c:v>
                </c:pt>
                <c:pt idx="14">
                  <c:v>2.6449999999999996</c:v>
                </c:pt>
                <c:pt idx="15">
                  <c:v>2.53125</c:v>
                </c:pt>
                <c:pt idx="16">
                  <c:v>2.4200000000000004</c:v>
                </c:pt>
                <c:pt idx="17">
                  <c:v>2.31125</c:v>
                </c:pt>
                <c:pt idx="18">
                  <c:v>2.205</c:v>
                </c:pt>
                <c:pt idx="19">
                  <c:v>2.10125</c:v>
                </c:pt>
                <c:pt idx="20">
                  <c:v>2</c:v>
                </c:pt>
                <c:pt idx="21">
                  <c:v>1.9012499999999999</c:v>
                </c:pt>
                <c:pt idx="22">
                  <c:v>1.805</c:v>
                </c:pt>
                <c:pt idx="23">
                  <c:v>1.7112500000000002</c:v>
                </c:pt>
                <c:pt idx="24">
                  <c:v>1.62</c:v>
                </c:pt>
                <c:pt idx="25">
                  <c:v>1.53125</c:v>
                </c:pt>
                <c:pt idx="26">
                  <c:v>1.4449999999999998</c:v>
                </c:pt>
                <c:pt idx="27">
                  <c:v>1.3612499999999998</c:v>
                </c:pt>
                <c:pt idx="28">
                  <c:v>1.2800000000000002</c:v>
                </c:pt>
                <c:pt idx="29">
                  <c:v>1.2012500000000002</c:v>
                </c:pt>
                <c:pt idx="30">
                  <c:v>1.125</c:v>
                </c:pt>
                <c:pt idx="31">
                  <c:v>1.05125</c:v>
                </c:pt>
                <c:pt idx="32">
                  <c:v>0.9799999999999999</c:v>
                </c:pt>
                <c:pt idx="33">
                  <c:v>0.9112500000000001</c:v>
                </c:pt>
                <c:pt idx="34">
                  <c:v>0.8450000000000001</c:v>
                </c:pt>
                <c:pt idx="35">
                  <c:v>0.78125</c:v>
                </c:pt>
                <c:pt idx="36">
                  <c:v>0.72</c:v>
                </c:pt>
                <c:pt idx="37">
                  <c:v>0.6612499999999999</c:v>
                </c:pt>
                <c:pt idx="38">
                  <c:v>0.6050000000000001</c:v>
                </c:pt>
                <c:pt idx="39">
                  <c:v>0.55125</c:v>
                </c:pt>
                <c:pt idx="40">
                  <c:v>0.5</c:v>
                </c:pt>
                <c:pt idx="41">
                  <c:v>0.45125</c:v>
                </c:pt>
                <c:pt idx="42">
                  <c:v>0.405</c:v>
                </c:pt>
                <c:pt idx="43">
                  <c:v>0.36124999999999996</c:v>
                </c:pt>
                <c:pt idx="44">
                  <c:v>0.32000000000000006</c:v>
                </c:pt>
                <c:pt idx="45">
                  <c:v>0.28125</c:v>
                </c:pt>
                <c:pt idx="46">
                  <c:v>0.24499999999999997</c:v>
                </c:pt>
                <c:pt idx="47">
                  <c:v>0.21125000000000002</c:v>
                </c:pt>
                <c:pt idx="48">
                  <c:v>0.18</c:v>
                </c:pt>
                <c:pt idx="49">
                  <c:v>0.15125000000000002</c:v>
                </c:pt>
                <c:pt idx="50">
                  <c:v>0.125</c:v>
                </c:pt>
                <c:pt idx="51">
                  <c:v>0.10125</c:v>
                </c:pt>
                <c:pt idx="52">
                  <c:v>0.08000000000000002</c:v>
                </c:pt>
                <c:pt idx="53">
                  <c:v>0.06124999999999999</c:v>
                </c:pt>
                <c:pt idx="54">
                  <c:v>0.045</c:v>
                </c:pt>
                <c:pt idx="55">
                  <c:v>0.03125</c:v>
                </c:pt>
                <c:pt idx="56">
                  <c:v>0.020000000000000004</c:v>
                </c:pt>
                <c:pt idx="57">
                  <c:v>0.01125</c:v>
                </c:pt>
                <c:pt idx="58">
                  <c:v>0.005000000000000001</c:v>
                </c:pt>
                <c:pt idx="59">
                  <c:v>0.0012500000000000002</c:v>
                </c:pt>
                <c:pt idx="60">
                  <c:v>0</c:v>
                </c:pt>
                <c:pt idx="61">
                  <c:v>0.0012500000000000002</c:v>
                </c:pt>
                <c:pt idx="62">
                  <c:v>0.005000000000000001</c:v>
                </c:pt>
                <c:pt idx="63">
                  <c:v>0.01125</c:v>
                </c:pt>
                <c:pt idx="64">
                  <c:v>0.020000000000000004</c:v>
                </c:pt>
                <c:pt idx="65">
                  <c:v>0.03125</c:v>
                </c:pt>
                <c:pt idx="66">
                  <c:v>0.045</c:v>
                </c:pt>
                <c:pt idx="67">
                  <c:v>0.06124999999999999</c:v>
                </c:pt>
                <c:pt idx="68">
                  <c:v>0.08000000000000002</c:v>
                </c:pt>
                <c:pt idx="69">
                  <c:v>0.10125</c:v>
                </c:pt>
                <c:pt idx="70">
                  <c:v>0.125</c:v>
                </c:pt>
                <c:pt idx="71">
                  <c:v>0.15125000000000002</c:v>
                </c:pt>
                <c:pt idx="72">
                  <c:v>0.18</c:v>
                </c:pt>
                <c:pt idx="73">
                  <c:v>0.21125000000000002</c:v>
                </c:pt>
                <c:pt idx="74">
                  <c:v>0.24499999999999997</c:v>
                </c:pt>
                <c:pt idx="75">
                  <c:v>0.28125</c:v>
                </c:pt>
                <c:pt idx="76">
                  <c:v>0.32000000000000006</c:v>
                </c:pt>
                <c:pt idx="77">
                  <c:v>0.36124999999999996</c:v>
                </c:pt>
                <c:pt idx="78">
                  <c:v>0.405</c:v>
                </c:pt>
                <c:pt idx="79">
                  <c:v>0.45125</c:v>
                </c:pt>
                <c:pt idx="80">
                  <c:v>0.5</c:v>
                </c:pt>
                <c:pt idx="81">
                  <c:v>0.55125</c:v>
                </c:pt>
                <c:pt idx="82">
                  <c:v>0.6050000000000001</c:v>
                </c:pt>
                <c:pt idx="83">
                  <c:v>0.6612499999999999</c:v>
                </c:pt>
                <c:pt idx="84">
                  <c:v>0.72</c:v>
                </c:pt>
                <c:pt idx="85">
                  <c:v>0.78125</c:v>
                </c:pt>
                <c:pt idx="86">
                  <c:v>0.8450000000000001</c:v>
                </c:pt>
                <c:pt idx="87">
                  <c:v>0.9112500000000001</c:v>
                </c:pt>
                <c:pt idx="88">
                  <c:v>0.9799999999999999</c:v>
                </c:pt>
                <c:pt idx="89">
                  <c:v>1.05125</c:v>
                </c:pt>
                <c:pt idx="90">
                  <c:v>1.125</c:v>
                </c:pt>
                <c:pt idx="91">
                  <c:v>1.2012500000000002</c:v>
                </c:pt>
                <c:pt idx="92">
                  <c:v>1.2800000000000002</c:v>
                </c:pt>
                <c:pt idx="93">
                  <c:v>1.3612499999999998</c:v>
                </c:pt>
                <c:pt idx="94">
                  <c:v>1.4449999999999998</c:v>
                </c:pt>
                <c:pt idx="95">
                  <c:v>1.53125</c:v>
                </c:pt>
                <c:pt idx="96">
                  <c:v>1.62</c:v>
                </c:pt>
                <c:pt idx="97">
                  <c:v>1.7112500000000002</c:v>
                </c:pt>
                <c:pt idx="98">
                  <c:v>1.805</c:v>
                </c:pt>
                <c:pt idx="99">
                  <c:v>1.9012499999999999</c:v>
                </c:pt>
                <c:pt idx="100">
                  <c:v>2</c:v>
                </c:pt>
                <c:pt idx="101">
                  <c:v>2.10125</c:v>
                </c:pt>
                <c:pt idx="102">
                  <c:v>2.205</c:v>
                </c:pt>
                <c:pt idx="103">
                  <c:v>2.31125</c:v>
                </c:pt>
                <c:pt idx="104">
                  <c:v>2.4200000000000004</c:v>
                </c:pt>
                <c:pt idx="105">
                  <c:v>2.53125</c:v>
                </c:pt>
                <c:pt idx="106">
                  <c:v>2.6449999999999996</c:v>
                </c:pt>
                <c:pt idx="107">
                  <c:v>2.7612500000000004</c:v>
                </c:pt>
                <c:pt idx="108">
                  <c:v>2.88</c:v>
                </c:pt>
                <c:pt idx="109">
                  <c:v>3.0012500000000006</c:v>
                </c:pt>
                <c:pt idx="110">
                  <c:v>3.125</c:v>
                </c:pt>
                <c:pt idx="111">
                  <c:v>3.2512499999999998</c:v>
                </c:pt>
                <c:pt idx="112">
                  <c:v>3.3800000000000003</c:v>
                </c:pt>
                <c:pt idx="113">
                  <c:v>3.51125</c:v>
                </c:pt>
                <c:pt idx="114">
                  <c:v>3.6450000000000005</c:v>
                </c:pt>
                <c:pt idx="115">
                  <c:v>3.78125</c:v>
                </c:pt>
                <c:pt idx="116">
                  <c:v>3.9199999999999995</c:v>
                </c:pt>
                <c:pt idx="117">
                  <c:v>4.06125</c:v>
                </c:pt>
                <c:pt idx="118">
                  <c:v>4.205</c:v>
                </c:pt>
                <c:pt idx="119">
                  <c:v>4.35125</c:v>
                </c:pt>
                <c:pt idx="120">
                  <c:v>4.5</c:v>
                </c:pt>
              </c:numCache>
            </c:numRef>
          </c:yVal>
          <c:smooth val="0"/>
        </c:ser>
        <c:ser>
          <c:idx val="1"/>
          <c:order val="1"/>
          <c:tx>
            <c:strRef>
              <c:f>Sheet1!$C$1</c:f>
              <c:strCache>
                <c:ptCount val="1"/>
                <c:pt idx="0">
                  <c:v>MAE  |e|</c:v>
                </c:pt>
              </c:strCache>
            </c:strRef>
          </c:tx>
          <c:spPr>
            <a:solidFill>
              <a:srgbClr val="4C5FD5"/>
            </a:solidFill>
            <a:ln w="44450" cap="flat">
              <a:solidFill>
                <a:srgbClr val="4C5FD5"/>
              </a:solidFill>
              <a:prstDash val="solid"/>
              <a:round/>
            </a:ln>
            <a:effectLst/>
          </c:spPr>
          <c:marker>
            <c:symbol val="none"/>
            <c:size val="7"/>
            <c:spPr>
              <a:solidFill>
                <a:srgbClr val="4C5FD5"/>
              </a:solidFill>
              <a:ln w="9525" cap="flat">
                <a:solidFill>
                  <a:srgbClr val="4C5FD5"/>
                </a:solidFill>
                <a:prstDash val="solid"/>
                <a:round/>
              </a:ln>
              <a:effectLst/>
            </c:spPr>
          </c:marker>
          <c:xVal>
            <c:numRef>
              <c:f>Sheet1!$A$2:$A$122</c:f>
              <c:numCache>
                <c:formatCode>General</c:formatCode>
                <c:ptCount val="121"/>
                <c:pt idx="0">
                  <c:v>-3</c:v>
                </c:pt>
                <c:pt idx="1">
                  <c:v>-2.95</c:v>
                </c:pt>
                <c:pt idx="2">
                  <c:v>-2.9</c:v>
                </c:pt>
                <c:pt idx="3">
                  <c:v>-2.85</c:v>
                </c:pt>
                <c:pt idx="4">
                  <c:v>-2.8</c:v>
                </c:pt>
                <c:pt idx="5">
                  <c:v>-2.75</c:v>
                </c:pt>
                <c:pt idx="6">
                  <c:v>-2.7</c:v>
                </c:pt>
                <c:pt idx="7">
                  <c:v>-2.65</c:v>
                </c:pt>
                <c:pt idx="8">
                  <c:v>-2.6</c:v>
                </c:pt>
                <c:pt idx="9">
                  <c:v>-2.55</c:v>
                </c:pt>
                <c:pt idx="10">
                  <c:v>-2.5</c:v>
                </c:pt>
                <c:pt idx="11">
                  <c:v>-2.45</c:v>
                </c:pt>
                <c:pt idx="12">
                  <c:v>-2.4</c:v>
                </c:pt>
                <c:pt idx="13">
                  <c:v>-2.35</c:v>
                </c:pt>
                <c:pt idx="14">
                  <c:v>-2.3</c:v>
                </c:pt>
                <c:pt idx="15">
                  <c:v>-2.25</c:v>
                </c:pt>
                <c:pt idx="16">
                  <c:v>-2.2</c:v>
                </c:pt>
                <c:pt idx="17">
                  <c:v>-2.15</c:v>
                </c:pt>
                <c:pt idx="18">
                  <c:v>-2.1</c:v>
                </c:pt>
                <c:pt idx="19">
                  <c:v>-2.05</c:v>
                </c:pt>
                <c:pt idx="20">
                  <c:v>-2</c:v>
                </c:pt>
                <c:pt idx="21">
                  <c:v>-1.95</c:v>
                </c:pt>
                <c:pt idx="22">
                  <c:v>-1.9</c:v>
                </c:pt>
                <c:pt idx="23">
                  <c:v>-1.85</c:v>
                </c:pt>
                <c:pt idx="24">
                  <c:v>-1.8</c:v>
                </c:pt>
                <c:pt idx="25">
                  <c:v>-1.75</c:v>
                </c:pt>
                <c:pt idx="26">
                  <c:v>-1.7</c:v>
                </c:pt>
                <c:pt idx="27">
                  <c:v>-1.65</c:v>
                </c:pt>
                <c:pt idx="28">
                  <c:v>-1.6</c:v>
                </c:pt>
                <c:pt idx="29">
                  <c:v>-1.55</c:v>
                </c:pt>
                <c:pt idx="30">
                  <c:v>-1.5</c:v>
                </c:pt>
                <c:pt idx="31">
                  <c:v>-1.45</c:v>
                </c:pt>
                <c:pt idx="32">
                  <c:v>-1.4</c:v>
                </c:pt>
                <c:pt idx="33">
                  <c:v>-1.35</c:v>
                </c:pt>
                <c:pt idx="34">
                  <c:v>-1.3</c:v>
                </c:pt>
                <c:pt idx="35">
                  <c:v>-1.25</c:v>
                </c:pt>
                <c:pt idx="36">
                  <c:v>-1.2</c:v>
                </c:pt>
                <c:pt idx="37">
                  <c:v>-1.15</c:v>
                </c:pt>
                <c:pt idx="38">
                  <c:v>-1.1</c:v>
                </c:pt>
                <c:pt idx="39">
                  <c:v>-1.05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0.05</c:v>
                </c:pt>
                <c:pt idx="62">
                  <c:v>0.1</c:v>
                </c:pt>
                <c:pt idx="63">
                  <c:v>0.15</c:v>
                </c:pt>
                <c:pt idx="64">
                  <c:v>0.2</c:v>
                </c:pt>
                <c:pt idx="65">
                  <c:v>0.25</c:v>
                </c:pt>
                <c:pt idx="66">
                  <c:v>0.3</c:v>
                </c:pt>
                <c:pt idx="67">
                  <c:v>0.35</c:v>
                </c:pt>
                <c:pt idx="68">
                  <c:v>0.4</c:v>
                </c:pt>
                <c:pt idx="69">
                  <c:v>0.45</c:v>
                </c:pt>
                <c:pt idx="70">
                  <c:v>0.5</c:v>
                </c:pt>
                <c:pt idx="71">
                  <c:v>0.55</c:v>
                </c:pt>
                <c:pt idx="72">
                  <c:v>0.6</c:v>
                </c:pt>
                <c:pt idx="73">
                  <c:v>0.65</c:v>
                </c:pt>
                <c:pt idx="74">
                  <c:v>0.7</c:v>
                </c:pt>
                <c:pt idx="75">
                  <c:v>0.75</c:v>
                </c:pt>
                <c:pt idx="76">
                  <c:v>0.8</c:v>
                </c:pt>
                <c:pt idx="77">
                  <c:v>0.85</c:v>
                </c:pt>
                <c:pt idx="78">
                  <c:v>0.9</c:v>
                </c:pt>
                <c:pt idx="79">
                  <c:v>0.95</c:v>
                </c:pt>
                <c:pt idx="80">
                  <c:v>1</c:v>
                </c:pt>
                <c:pt idx="81">
                  <c:v>1.05</c:v>
                </c:pt>
                <c:pt idx="82">
                  <c:v>1.1</c:v>
                </c:pt>
                <c:pt idx="83">
                  <c:v>1.15</c:v>
                </c:pt>
                <c:pt idx="84">
                  <c:v>1.2</c:v>
                </c:pt>
                <c:pt idx="85">
                  <c:v>1.25</c:v>
                </c:pt>
                <c:pt idx="86">
                  <c:v>1.3</c:v>
                </c:pt>
                <c:pt idx="87">
                  <c:v>1.35</c:v>
                </c:pt>
                <c:pt idx="88">
                  <c:v>1.4</c:v>
                </c:pt>
                <c:pt idx="89">
                  <c:v>1.45</c:v>
                </c:pt>
                <c:pt idx="90">
                  <c:v>1.5</c:v>
                </c:pt>
                <c:pt idx="91">
                  <c:v>1.55</c:v>
                </c:pt>
                <c:pt idx="92">
                  <c:v>1.6</c:v>
                </c:pt>
                <c:pt idx="93">
                  <c:v>1.65</c:v>
                </c:pt>
                <c:pt idx="94">
                  <c:v>1.7</c:v>
                </c:pt>
                <c:pt idx="95">
                  <c:v>1.75</c:v>
                </c:pt>
                <c:pt idx="96">
                  <c:v>1.8</c:v>
                </c:pt>
                <c:pt idx="97">
                  <c:v>1.85</c:v>
                </c:pt>
                <c:pt idx="98">
                  <c:v>1.9</c:v>
                </c:pt>
                <c:pt idx="99">
                  <c:v>1.95</c:v>
                </c:pt>
                <c:pt idx="100">
                  <c:v>2</c:v>
                </c:pt>
                <c:pt idx="101">
                  <c:v>2.05</c:v>
                </c:pt>
                <c:pt idx="102">
                  <c:v>2.1</c:v>
                </c:pt>
                <c:pt idx="103">
                  <c:v>2.15</c:v>
                </c:pt>
                <c:pt idx="104">
                  <c:v>2.2</c:v>
                </c:pt>
                <c:pt idx="105">
                  <c:v>2.25</c:v>
                </c:pt>
                <c:pt idx="106">
                  <c:v>2.3</c:v>
                </c:pt>
                <c:pt idx="107">
                  <c:v>2.35</c:v>
                </c:pt>
                <c:pt idx="108">
                  <c:v>2.4</c:v>
                </c:pt>
                <c:pt idx="109">
                  <c:v>2.45</c:v>
                </c:pt>
                <c:pt idx="110">
                  <c:v>2.5</c:v>
                </c:pt>
                <c:pt idx="111">
                  <c:v>2.55</c:v>
                </c:pt>
                <c:pt idx="112">
                  <c:v>2.6</c:v>
                </c:pt>
                <c:pt idx="113">
                  <c:v>2.65</c:v>
                </c:pt>
                <c:pt idx="114">
                  <c:v>2.7</c:v>
                </c:pt>
                <c:pt idx="115">
                  <c:v>2.75</c:v>
                </c:pt>
                <c:pt idx="116">
                  <c:v>2.8</c:v>
                </c:pt>
                <c:pt idx="117">
                  <c:v>2.85</c:v>
                </c:pt>
                <c:pt idx="118">
                  <c:v>2.9</c:v>
                </c:pt>
                <c:pt idx="119">
                  <c:v>2.95</c:v>
                </c:pt>
                <c:pt idx="120">
                  <c:v>3</c:v>
                </c:pt>
              </c:numCache>
            </c:numRef>
          </c:xVal>
          <c:yVal>
            <c:numRef>
              <c:f>Sheet1!$C$2:$C$122</c:f>
              <c:numCache>
                <c:formatCode>General</c:formatCode>
                <c:ptCount val="121"/>
                <c:pt idx="0">
                  <c:v>3</c:v>
                </c:pt>
                <c:pt idx="1">
                  <c:v>2.95</c:v>
                </c:pt>
                <c:pt idx="2">
                  <c:v>2.9</c:v>
                </c:pt>
                <c:pt idx="3">
                  <c:v>2.85</c:v>
                </c:pt>
                <c:pt idx="4">
                  <c:v>2.8</c:v>
                </c:pt>
                <c:pt idx="5">
                  <c:v>2.75</c:v>
                </c:pt>
                <c:pt idx="6">
                  <c:v>2.7</c:v>
                </c:pt>
                <c:pt idx="7">
                  <c:v>2.65</c:v>
                </c:pt>
                <c:pt idx="8">
                  <c:v>2.6</c:v>
                </c:pt>
                <c:pt idx="9">
                  <c:v>2.55</c:v>
                </c:pt>
                <c:pt idx="10">
                  <c:v>2.5</c:v>
                </c:pt>
                <c:pt idx="11">
                  <c:v>2.45</c:v>
                </c:pt>
                <c:pt idx="12">
                  <c:v>2.4</c:v>
                </c:pt>
                <c:pt idx="13">
                  <c:v>2.35</c:v>
                </c:pt>
                <c:pt idx="14">
                  <c:v>2.3</c:v>
                </c:pt>
                <c:pt idx="15">
                  <c:v>2.25</c:v>
                </c:pt>
                <c:pt idx="16">
                  <c:v>2.2</c:v>
                </c:pt>
                <c:pt idx="17">
                  <c:v>2.15</c:v>
                </c:pt>
                <c:pt idx="18">
                  <c:v>2.1</c:v>
                </c:pt>
                <c:pt idx="19">
                  <c:v>2.05</c:v>
                </c:pt>
                <c:pt idx="20">
                  <c:v>2</c:v>
                </c:pt>
                <c:pt idx="21">
                  <c:v>1.95</c:v>
                </c:pt>
                <c:pt idx="22">
                  <c:v>1.9</c:v>
                </c:pt>
                <c:pt idx="23">
                  <c:v>1.85</c:v>
                </c:pt>
                <c:pt idx="24">
                  <c:v>1.8</c:v>
                </c:pt>
                <c:pt idx="25">
                  <c:v>1.75</c:v>
                </c:pt>
                <c:pt idx="26">
                  <c:v>1.7</c:v>
                </c:pt>
                <c:pt idx="27">
                  <c:v>1.65</c:v>
                </c:pt>
                <c:pt idx="28">
                  <c:v>1.6</c:v>
                </c:pt>
                <c:pt idx="29">
                  <c:v>1.55</c:v>
                </c:pt>
                <c:pt idx="30">
                  <c:v>1.5</c:v>
                </c:pt>
                <c:pt idx="31">
                  <c:v>1.45</c:v>
                </c:pt>
                <c:pt idx="32">
                  <c:v>1.4</c:v>
                </c:pt>
                <c:pt idx="33">
                  <c:v>1.35</c:v>
                </c:pt>
                <c:pt idx="34">
                  <c:v>1.3</c:v>
                </c:pt>
                <c:pt idx="35">
                  <c:v>1.25</c:v>
                </c:pt>
                <c:pt idx="36">
                  <c:v>1.2</c:v>
                </c:pt>
                <c:pt idx="37">
                  <c:v>1.15</c:v>
                </c:pt>
                <c:pt idx="38">
                  <c:v>1.1</c:v>
                </c:pt>
                <c:pt idx="39">
                  <c:v>1.05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0.05</c:v>
                </c:pt>
                <c:pt idx="62">
                  <c:v>0.1</c:v>
                </c:pt>
                <c:pt idx="63">
                  <c:v>0.15</c:v>
                </c:pt>
                <c:pt idx="64">
                  <c:v>0.2</c:v>
                </c:pt>
                <c:pt idx="65">
                  <c:v>0.25</c:v>
                </c:pt>
                <c:pt idx="66">
                  <c:v>0.3</c:v>
                </c:pt>
                <c:pt idx="67">
                  <c:v>0.35</c:v>
                </c:pt>
                <c:pt idx="68">
                  <c:v>0.4</c:v>
                </c:pt>
                <c:pt idx="69">
                  <c:v>0.45</c:v>
                </c:pt>
                <c:pt idx="70">
                  <c:v>0.5</c:v>
                </c:pt>
                <c:pt idx="71">
                  <c:v>0.55</c:v>
                </c:pt>
                <c:pt idx="72">
                  <c:v>0.6</c:v>
                </c:pt>
                <c:pt idx="73">
                  <c:v>0.65</c:v>
                </c:pt>
                <c:pt idx="74">
                  <c:v>0.7</c:v>
                </c:pt>
                <c:pt idx="75">
                  <c:v>0.75</c:v>
                </c:pt>
                <c:pt idx="76">
                  <c:v>0.8</c:v>
                </c:pt>
                <c:pt idx="77">
                  <c:v>0.85</c:v>
                </c:pt>
                <c:pt idx="78">
                  <c:v>0.9</c:v>
                </c:pt>
                <c:pt idx="79">
                  <c:v>0.95</c:v>
                </c:pt>
                <c:pt idx="80">
                  <c:v>1</c:v>
                </c:pt>
                <c:pt idx="81">
                  <c:v>1.05</c:v>
                </c:pt>
                <c:pt idx="82">
                  <c:v>1.1</c:v>
                </c:pt>
                <c:pt idx="83">
                  <c:v>1.15</c:v>
                </c:pt>
                <c:pt idx="84">
                  <c:v>1.2</c:v>
                </c:pt>
                <c:pt idx="85">
                  <c:v>1.25</c:v>
                </c:pt>
                <c:pt idx="86">
                  <c:v>1.3</c:v>
                </c:pt>
                <c:pt idx="87">
                  <c:v>1.35</c:v>
                </c:pt>
                <c:pt idx="88">
                  <c:v>1.4</c:v>
                </c:pt>
                <c:pt idx="89">
                  <c:v>1.45</c:v>
                </c:pt>
                <c:pt idx="90">
                  <c:v>1.5</c:v>
                </c:pt>
                <c:pt idx="91">
                  <c:v>1.55</c:v>
                </c:pt>
                <c:pt idx="92">
                  <c:v>1.6</c:v>
                </c:pt>
                <c:pt idx="93">
                  <c:v>1.65</c:v>
                </c:pt>
                <c:pt idx="94">
                  <c:v>1.7</c:v>
                </c:pt>
                <c:pt idx="95">
                  <c:v>1.75</c:v>
                </c:pt>
                <c:pt idx="96">
                  <c:v>1.8</c:v>
                </c:pt>
                <c:pt idx="97">
                  <c:v>1.85</c:v>
                </c:pt>
                <c:pt idx="98">
                  <c:v>1.9</c:v>
                </c:pt>
                <c:pt idx="99">
                  <c:v>1.95</c:v>
                </c:pt>
                <c:pt idx="100">
                  <c:v>2</c:v>
                </c:pt>
                <c:pt idx="101">
                  <c:v>2.05</c:v>
                </c:pt>
                <c:pt idx="102">
                  <c:v>2.1</c:v>
                </c:pt>
                <c:pt idx="103">
                  <c:v>2.15</c:v>
                </c:pt>
                <c:pt idx="104">
                  <c:v>2.2</c:v>
                </c:pt>
                <c:pt idx="105">
                  <c:v>2.25</c:v>
                </c:pt>
                <c:pt idx="106">
                  <c:v>2.3</c:v>
                </c:pt>
                <c:pt idx="107">
                  <c:v>2.35</c:v>
                </c:pt>
                <c:pt idx="108">
                  <c:v>2.4</c:v>
                </c:pt>
                <c:pt idx="109">
                  <c:v>2.45</c:v>
                </c:pt>
                <c:pt idx="110">
                  <c:v>2.5</c:v>
                </c:pt>
                <c:pt idx="111">
                  <c:v>2.55</c:v>
                </c:pt>
                <c:pt idx="112">
                  <c:v>2.6</c:v>
                </c:pt>
                <c:pt idx="113">
                  <c:v>2.65</c:v>
                </c:pt>
                <c:pt idx="114">
                  <c:v>2.7</c:v>
                </c:pt>
                <c:pt idx="115">
                  <c:v>2.75</c:v>
                </c:pt>
                <c:pt idx="116">
                  <c:v>2.8</c:v>
                </c:pt>
                <c:pt idx="117">
                  <c:v>2.85</c:v>
                </c:pt>
                <c:pt idx="118">
                  <c:v>2.9</c:v>
                </c:pt>
                <c:pt idx="119">
                  <c:v>2.95</c:v>
                </c:pt>
                <c:pt idx="120">
                  <c:v>3</c:v>
                </c:pt>
              </c:numCache>
            </c:numRef>
          </c:yVal>
          <c:smooth val="0"/>
        </c:ser>
        <c:ser>
          <c:idx val="2"/>
          <c:order val="2"/>
          <c:tx>
            <c:strRef>
              <c:f>Sheet1!$D$1</c:f>
              <c:strCache>
                <c:ptCount val="1"/>
                <c:pt idx="0">
                  <c:v>Huber, δ = 1</c:v>
                </c:pt>
              </c:strCache>
            </c:strRef>
          </c:tx>
          <c:spPr>
            <a:solidFill>
              <a:srgbClr val="0F7B78"/>
            </a:solidFill>
            <a:ln w="4445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Sheet1!$A$2:$A$122</c:f>
              <c:numCache>
                <c:formatCode>General</c:formatCode>
                <c:ptCount val="121"/>
                <c:pt idx="0">
                  <c:v>-3</c:v>
                </c:pt>
                <c:pt idx="1">
                  <c:v>-2.95</c:v>
                </c:pt>
                <c:pt idx="2">
                  <c:v>-2.9</c:v>
                </c:pt>
                <c:pt idx="3">
                  <c:v>-2.85</c:v>
                </c:pt>
                <c:pt idx="4">
                  <c:v>-2.8</c:v>
                </c:pt>
                <c:pt idx="5">
                  <c:v>-2.75</c:v>
                </c:pt>
                <c:pt idx="6">
                  <c:v>-2.7</c:v>
                </c:pt>
                <c:pt idx="7">
                  <c:v>-2.65</c:v>
                </c:pt>
                <c:pt idx="8">
                  <c:v>-2.6</c:v>
                </c:pt>
                <c:pt idx="9">
                  <c:v>-2.55</c:v>
                </c:pt>
                <c:pt idx="10">
                  <c:v>-2.5</c:v>
                </c:pt>
                <c:pt idx="11">
                  <c:v>-2.45</c:v>
                </c:pt>
                <c:pt idx="12">
                  <c:v>-2.4</c:v>
                </c:pt>
                <c:pt idx="13">
                  <c:v>-2.35</c:v>
                </c:pt>
                <c:pt idx="14">
                  <c:v>-2.3</c:v>
                </c:pt>
                <c:pt idx="15">
                  <c:v>-2.25</c:v>
                </c:pt>
                <c:pt idx="16">
                  <c:v>-2.2</c:v>
                </c:pt>
                <c:pt idx="17">
                  <c:v>-2.15</c:v>
                </c:pt>
                <c:pt idx="18">
                  <c:v>-2.1</c:v>
                </c:pt>
                <c:pt idx="19">
                  <c:v>-2.05</c:v>
                </c:pt>
                <c:pt idx="20">
                  <c:v>-2</c:v>
                </c:pt>
                <c:pt idx="21">
                  <c:v>-1.95</c:v>
                </c:pt>
                <c:pt idx="22">
                  <c:v>-1.9</c:v>
                </c:pt>
                <c:pt idx="23">
                  <c:v>-1.85</c:v>
                </c:pt>
                <c:pt idx="24">
                  <c:v>-1.8</c:v>
                </c:pt>
                <c:pt idx="25">
                  <c:v>-1.75</c:v>
                </c:pt>
                <c:pt idx="26">
                  <c:v>-1.7</c:v>
                </c:pt>
                <c:pt idx="27">
                  <c:v>-1.65</c:v>
                </c:pt>
                <c:pt idx="28">
                  <c:v>-1.6</c:v>
                </c:pt>
                <c:pt idx="29">
                  <c:v>-1.55</c:v>
                </c:pt>
                <c:pt idx="30">
                  <c:v>-1.5</c:v>
                </c:pt>
                <c:pt idx="31">
                  <c:v>-1.45</c:v>
                </c:pt>
                <c:pt idx="32">
                  <c:v>-1.4</c:v>
                </c:pt>
                <c:pt idx="33">
                  <c:v>-1.35</c:v>
                </c:pt>
                <c:pt idx="34">
                  <c:v>-1.3</c:v>
                </c:pt>
                <c:pt idx="35">
                  <c:v>-1.25</c:v>
                </c:pt>
                <c:pt idx="36">
                  <c:v>-1.2</c:v>
                </c:pt>
                <c:pt idx="37">
                  <c:v>-1.15</c:v>
                </c:pt>
                <c:pt idx="38">
                  <c:v>-1.1</c:v>
                </c:pt>
                <c:pt idx="39">
                  <c:v>-1.05</c:v>
                </c:pt>
                <c:pt idx="40">
                  <c:v>-1</c:v>
                </c:pt>
                <c:pt idx="41">
                  <c:v>-0.95</c:v>
                </c:pt>
                <c:pt idx="42">
                  <c:v>-0.9</c:v>
                </c:pt>
                <c:pt idx="43">
                  <c:v>-0.85</c:v>
                </c:pt>
                <c:pt idx="44">
                  <c:v>-0.8</c:v>
                </c:pt>
                <c:pt idx="45">
                  <c:v>-0.75</c:v>
                </c:pt>
                <c:pt idx="46">
                  <c:v>-0.7</c:v>
                </c:pt>
                <c:pt idx="47">
                  <c:v>-0.65</c:v>
                </c:pt>
                <c:pt idx="48">
                  <c:v>-0.6</c:v>
                </c:pt>
                <c:pt idx="49">
                  <c:v>-0.55</c:v>
                </c:pt>
                <c:pt idx="50">
                  <c:v>-0.5</c:v>
                </c:pt>
                <c:pt idx="51">
                  <c:v>-0.45</c:v>
                </c:pt>
                <c:pt idx="52">
                  <c:v>-0.4</c:v>
                </c:pt>
                <c:pt idx="53">
                  <c:v>-0.35</c:v>
                </c:pt>
                <c:pt idx="54">
                  <c:v>-0.3</c:v>
                </c:pt>
                <c:pt idx="55">
                  <c:v>-0.25</c:v>
                </c:pt>
                <c:pt idx="56">
                  <c:v>-0.2</c:v>
                </c:pt>
                <c:pt idx="57">
                  <c:v>-0.15</c:v>
                </c:pt>
                <c:pt idx="58">
                  <c:v>-0.1</c:v>
                </c:pt>
                <c:pt idx="59">
                  <c:v>-0.05</c:v>
                </c:pt>
                <c:pt idx="60">
                  <c:v>0</c:v>
                </c:pt>
                <c:pt idx="61">
                  <c:v>0.05</c:v>
                </c:pt>
                <c:pt idx="62">
                  <c:v>0.1</c:v>
                </c:pt>
                <c:pt idx="63">
                  <c:v>0.15</c:v>
                </c:pt>
                <c:pt idx="64">
                  <c:v>0.2</c:v>
                </c:pt>
                <c:pt idx="65">
                  <c:v>0.25</c:v>
                </c:pt>
                <c:pt idx="66">
                  <c:v>0.3</c:v>
                </c:pt>
                <c:pt idx="67">
                  <c:v>0.35</c:v>
                </c:pt>
                <c:pt idx="68">
                  <c:v>0.4</c:v>
                </c:pt>
                <c:pt idx="69">
                  <c:v>0.45</c:v>
                </c:pt>
                <c:pt idx="70">
                  <c:v>0.5</c:v>
                </c:pt>
                <c:pt idx="71">
                  <c:v>0.55</c:v>
                </c:pt>
                <c:pt idx="72">
                  <c:v>0.6</c:v>
                </c:pt>
                <c:pt idx="73">
                  <c:v>0.65</c:v>
                </c:pt>
                <c:pt idx="74">
                  <c:v>0.7</c:v>
                </c:pt>
                <c:pt idx="75">
                  <c:v>0.75</c:v>
                </c:pt>
                <c:pt idx="76">
                  <c:v>0.8</c:v>
                </c:pt>
                <c:pt idx="77">
                  <c:v>0.85</c:v>
                </c:pt>
                <c:pt idx="78">
                  <c:v>0.9</c:v>
                </c:pt>
                <c:pt idx="79">
                  <c:v>0.95</c:v>
                </c:pt>
                <c:pt idx="80">
                  <c:v>1</c:v>
                </c:pt>
                <c:pt idx="81">
                  <c:v>1.05</c:v>
                </c:pt>
                <c:pt idx="82">
                  <c:v>1.1</c:v>
                </c:pt>
                <c:pt idx="83">
                  <c:v>1.15</c:v>
                </c:pt>
                <c:pt idx="84">
                  <c:v>1.2</c:v>
                </c:pt>
                <c:pt idx="85">
                  <c:v>1.25</c:v>
                </c:pt>
                <c:pt idx="86">
                  <c:v>1.3</c:v>
                </c:pt>
                <c:pt idx="87">
                  <c:v>1.35</c:v>
                </c:pt>
                <c:pt idx="88">
                  <c:v>1.4</c:v>
                </c:pt>
                <c:pt idx="89">
                  <c:v>1.45</c:v>
                </c:pt>
                <c:pt idx="90">
                  <c:v>1.5</c:v>
                </c:pt>
                <c:pt idx="91">
                  <c:v>1.55</c:v>
                </c:pt>
                <c:pt idx="92">
                  <c:v>1.6</c:v>
                </c:pt>
                <c:pt idx="93">
                  <c:v>1.65</c:v>
                </c:pt>
                <c:pt idx="94">
                  <c:v>1.7</c:v>
                </c:pt>
                <c:pt idx="95">
                  <c:v>1.75</c:v>
                </c:pt>
                <c:pt idx="96">
                  <c:v>1.8</c:v>
                </c:pt>
                <c:pt idx="97">
                  <c:v>1.85</c:v>
                </c:pt>
                <c:pt idx="98">
                  <c:v>1.9</c:v>
                </c:pt>
                <c:pt idx="99">
                  <c:v>1.95</c:v>
                </c:pt>
                <c:pt idx="100">
                  <c:v>2</c:v>
                </c:pt>
                <c:pt idx="101">
                  <c:v>2.05</c:v>
                </c:pt>
                <c:pt idx="102">
                  <c:v>2.1</c:v>
                </c:pt>
                <c:pt idx="103">
                  <c:v>2.15</c:v>
                </c:pt>
                <c:pt idx="104">
                  <c:v>2.2</c:v>
                </c:pt>
                <c:pt idx="105">
                  <c:v>2.25</c:v>
                </c:pt>
                <c:pt idx="106">
                  <c:v>2.3</c:v>
                </c:pt>
                <c:pt idx="107">
                  <c:v>2.35</c:v>
                </c:pt>
                <c:pt idx="108">
                  <c:v>2.4</c:v>
                </c:pt>
                <c:pt idx="109">
                  <c:v>2.45</c:v>
                </c:pt>
                <c:pt idx="110">
                  <c:v>2.5</c:v>
                </c:pt>
                <c:pt idx="111">
                  <c:v>2.55</c:v>
                </c:pt>
                <c:pt idx="112">
                  <c:v>2.6</c:v>
                </c:pt>
                <c:pt idx="113">
                  <c:v>2.65</c:v>
                </c:pt>
                <c:pt idx="114">
                  <c:v>2.7</c:v>
                </c:pt>
                <c:pt idx="115">
                  <c:v>2.75</c:v>
                </c:pt>
                <c:pt idx="116">
                  <c:v>2.8</c:v>
                </c:pt>
                <c:pt idx="117">
                  <c:v>2.85</c:v>
                </c:pt>
                <c:pt idx="118">
                  <c:v>2.9</c:v>
                </c:pt>
                <c:pt idx="119">
                  <c:v>2.95</c:v>
                </c:pt>
                <c:pt idx="120">
                  <c:v>3</c:v>
                </c:pt>
              </c:numCache>
            </c:numRef>
          </c:xVal>
          <c:yVal>
            <c:numRef>
              <c:f>Sheet1!$D$2:$D$122</c:f>
              <c:numCache>
                <c:formatCode>General</c:formatCode>
                <c:ptCount val="121"/>
                <c:pt idx="0">
                  <c:v>2.5</c:v>
                </c:pt>
                <c:pt idx="1">
                  <c:v>2.45</c:v>
                </c:pt>
                <c:pt idx="2">
                  <c:v>2.4</c:v>
                </c:pt>
                <c:pt idx="3">
                  <c:v>2.35</c:v>
                </c:pt>
                <c:pt idx="4">
                  <c:v>2.3</c:v>
                </c:pt>
                <c:pt idx="5">
                  <c:v>2.25</c:v>
                </c:pt>
                <c:pt idx="6">
                  <c:v>2.2</c:v>
                </c:pt>
                <c:pt idx="7">
                  <c:v>2.15</c:v>
                </c:pt>
                <c:pt idx="8">
                  <c:v>2.1</c:v>
                </c:pt>
                <c:pt idx="9">
                  <c:v>2.05</c:v>
                </c:pt>
                <c:pt idx="10">
                  <c:v>2</c:v>
                </c:pt>
                <c:pt idx="11">
                  <c:v>1.9500000000000002</c:v>
                </c:pt>
                <c:pt idx="12">
                  <c:v>1.9</c:v>
                </c:pt>
                <c:pt idx="13">
                  <c:v>1.85</c:v>
                </c:pt>
                <c:pt idx="14">
                  <c:v>1.7999999999999998</c:v>
                </c:pt>
                <c:pt idx="15">
                  <c:v>1.75</c:v>
                </c:pt>
                <c:pt idx="16">
                  <c:v>1.7000000000000002</c:v>
                </c:pt>
                <c:pt idx="17">
                  <c:v>1.65</c:v>
                </c:pt>
                <c:pt idx="18">
                  <c:v>1.6</c:v>
                </c:pt>
                <c:pt idx="19">
                  <c:v>1.5499999999999998</c:v>
                </c:pt>
                <c:pt idx="20">
                  <c:v>1.5</c:v>
                </c:pt>
                <c:pt idx="21">
                  <c:v>1.45</c:v>
                </c:pt>
                <c:pt idx="22">
                  <c:v>1.4</c:v>
                </c:pt>
                <c:pt idx="23">
                  <c:v>1.35</c:v>
                </c:pt>
                <c:pt idx="24">
                  <c:v>1.3</c:v>
                </c:pt>
                <c:pt idx="25">
                  <c:v>1.25</c:v>
                </c:pt>
                <c:pt idx="26">
                  <c:v>1.2</c:v>
                </c:pt>
                <c:pt idx="27">
                  <c:v>1.15</c:v>
                </c:pt>
                <c:pt idx="28">
                  <c:v>1.1</c:v>
                </c:pt>
                <c:pt idx="29">
                  <c:v>1.05</c:v>
                </c:pt>
                <c:pt idx="30">
                  <c:v>1</c:v>
                </c:pt>
                <c:pt idx="31">
                  <c:v>0.95</c:v>
                </c:pt>
                <c:pt idx="32">
                  <c:v>0.8999999999999999</c:v>
                </c:pt>
                <c:pt idx="33">
                  <c:v>0.8500000000000001</c:v>
                </c:pt>
                <c:pt idx="34">
                  <c:v>0.8</c:v>
                </c:pt>
                <c:pt idx="35">
                  <c:v>0.75</c:v>
                </c:pt>
                <c:pt idx="36">
                  <c:v>0.7</c:v>
                </c:pt>
                <c:pt idx="37">
                  <c:v>0.6499999999999999</c:v>
                </c:pt>
                <c:pt idx="38">
                  <c:v>0.6000000000000001</c:v>
                </c:pt>
                <c:pt idx="39">
                  <c:v>0.55</c:v>
                </c:pt>
                <c:pt idx="40">
                  <c:v>0.5</c:v>
                </c:pt>
                <c:pt idx="41">
                  <c:v>0.45125</c:v>
                </c:pt>
                <c:pt idx="42">
                  <c:v>0.405</c:v>
                </c:pt>
                <c:pt idx="43">
                  <c:v>0.36124999999999996</c:v>
                </c:pt>
                <c:pt idx="44">
                  <c:v>0.32000000000000006</c:v>
                </c:pt>
                <c:pt idx="45">
                  <c:v>0.28125</c:v>
                </c:pt>
                <c:pt idx="46">
                  <c:v>0.24499999999999997</c:v>
                </c:pt>
                <c:pt idx="47">
                  <c:v>0.21125000000000002</c:v>
                </c:pt>
                <c:pt idx="48">
                  <c:v>0.18</c:v>
                </c:pt>
                <c:pt idx="49">
                  <c:v>0.15125000000000002</c:v>
                </c:pt>
                <c:pt idx="50">
                  <c:v>0.125</c:v>
                </c:pt>
                <c:pt idx="51">
                  <c:v>0.10125</c:v>
                </c:pt>
                <c:pt idx="52">
                  <c:v>0.08000000000000002</c:v>
                </c:pt>
                <c:pt idx="53">
                  <c:v>0.06124999999999999</c:v>
                </c:pt>
                <c:pt idx="54">
                  <c:v>0.045</c:v>
                </c:pt>
                <c:pt idx="55">
                  <c:v>0.03125</c:v>
                </c:pt>
                <c:pt idx="56">
                  <c:v>0.020000000000000004</c:v>
                </c:pt>
                <c:pt idx="57">
                  <c:v>0.01125</c:v>
                </c:pt>
                <c:pt idx="58">
                  <c:v>0.005000000000000001</c:v>
                </c:pt>
                <c:pt idx="59">
                  <c:v>0.0012500000000000002</c:v>
                </c:pt>
                <c:pt idx="60">
                  <c:v>0</c:v>
                </c:pt>
                <c:pt idx="61">
                  <c:v>0.0012500000000000002</c:v>
                </c:pt>
                <c:pt idx="62">
                  <c:v>0.005000000000000001</c:v>
                </c:pt>
                <c:pt idx="63">
                  <c:v>0.01125</c:v>
                </c:pt>
                <c:pt idx="64">
                  <c:v>0.020000000000000004</c:v>
                </c:pt>
                <c:pt idx="65">
                  <c:v>0.03125</c:v>
                </c:pt>
                <c:pt idx="66">
                  <c:v>0.045</c:v>
                </c:pt>
                <c:pt idx="67">
                  <c:v>0.06124999999999999</c:v>
                </c:pt>
                <c:pt idx="68">
                  <c:v>0.08000000000000002</c:v>
                </c:pt>
                <c:pt idx="69">
                  <c:v>0.10125</c:v>
                </c:pt>
                <c:pt idx="70">
                  <c:v>0.125</c:v>
                </c:pt>
                <c:pt idx="71">
                  <c:v>0.15125000000000002</c:v>
                </c:pt>
                <c:pt idx="72">
                  <c:v>0.18</c:v>
                </c:pt>
                <c:pt idx="73">
                  <c:v>0.21125000000000002</c:v>
                </c:pt>
                <c:pt idx="74">
                  <c:v>0.24499999999999997</c:v>
                </c:pt>
                <c:pt idx="75">
                  <c:v>0.28125</c:v>
                </c:pt>
                <c:pt idx="76">
                  <c:v>0.32000000000000006</c:v>
                </c:pt>
                <c:pt idx="77">
                  <c:v>0.36124999999999996</c:v>
                </c:pt>
                <c:pt idx="78">
                  <c:v>0.405</c:v>
                </c:pt>
                <c:pt idx="79">
                  <c:v>0.45125</c:v>
                </c:pt>
                <c:pt idx="80">
                  <c:v>0.5</c:v>
                </c:pt>
                <c:pt idx="81">
                  <c:v>0.55</c:v>
                </c:pt>
                <c:pt idx="82">
                  <c:v>0.6000000000000001</c:v>
                </c:pt>
                <c:pt idx="83">
                  <c:v>0.6499999999999999</c:v>
                </c:pt>
                <c:pt idx="84">
                  <c:v>0.7</c:v>
                </c:pt>
                <c:pt idx="85">
                  <c:v>0.75</c:v>
                </c:pt>
                <c:pt idx="86">
                  <c:v>0.8</c:v>
                </c:pt>
                <c:pt idx="87">
                  <c:v>0.8500000000000001</c:v>
                </c:pt>
                <c:pt idx="88">
                  <c:v>0.8999999999999999</c:v>
                </c:pt>
                <c:pt idx="89">
                  <c:v>0.95</c:v>
                </c:pt>
                <c:pt idx="90">
                  <c:v>1</c:v>
                </c:pt>
                <c:pt idx="91">
                  <c:v>1.05</c:v>
                </c:pt>
                <c:pt idx="92">
                  <c:v>1.1</c:v>
                </c:pt>
                <c:pt idx="93">
                  <c:v>1.15</c:v>
                </c:pt>
                <c:pt idx="94">
                  <c:v>1.2</c:v>
                </c:pt>
                <c:pt idx="95">
                  <c:v>1.25</c:v>
                </c:pt>
                <c:pt idx="96">
                  <c:v>1.3</c:v>
                </c:pt>
                <c:pt idx="97">
                  <c:v>1.35</c:v>
                </c:pt>
                <c:pt idx="98">
                  <c:v>1.4</c:v>
                </c:pt>
                <c:pt idx="99">
                  <c:v>1.45</c:v>
                </c:pt>
                <c:pt idx="100">
                  <c:v>1.5</c:v>
                </c:pt>
                <c:pt idx="101">
                  <c:v>1.5499999999999998</c:v>
                </c:pt>
                <c:pt idx="102">
                  <c:v>1.6</c:v>
                </c:pt>
                <c:pt idx="103">
                  <c:v>1.65</c:v>
                </c:pt>
                <c:pt idx="104">
                  <c:v>1.7000000000000002</c:v>
                </c:pt>
                <c:pt idx="105">
                  <c:v>1.75</c:v>
                </c:pt>
                <c:pt idx="106">
                  <c:v>1.7999999999999998</c:v>
                </c:pt>
                <c:pt idx="107">
                  <c:v>1.85</c:v>
                </c:pt>
                <c:pt idx="108">
                  <c:v>1.9</c:v>
                </c:pt>
                <c:pt idx="109">
                  <c:v>1.9500000000000002</c:v>
                </c:pt>
                <c:pt idx="110">
                  <c:v>2</c:v>
                </c:pt>
                <c:pt idx="111">
                  <c:v>2.05</c:v>
                </c:pt>
                <c:pt idx="112">
                  <c:v>2.1</c:v>
                </c:pt>
                <c:pt idx="113">
                  <c:v>2.15</c:v>
                </c:pt>
                <c:pt idx="114">
                  <c:v>2.2</c:v>
                </c:pt>
                <c:pt idx="115">
                  <c:v>2.25</c:v>
                </c:pt>
                <c:pt idx="116">
                  <c:v>2.3</c:v>
                </c:pt>
                <c:pt idx="117">
                  <c:v>2.35</c:v>
                </c:pt>
                <c:pt idx="118">
                  <c:v>2.4</c:v>
                </c:pt>
                <c:pt idx="119">
                  <c:v>2.45</c:v>
                </c:pt>
                <c:pt idx="120">
                  <c:v>2.5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error e = ŷ − y</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3"/>
        <c:auto val="1"/>
        <c:lblAlgn val="ctr"/>
        <c:noMultiLvlLbl val="1"/>
        <c:majorUnit val="1"/>
      </c:valAx>
      <c:valAx>
        <c:axId val="2094734552"/>
        <c:scaling>
          <c:orientation val="minMax"/>
          <c:max val="4"/>
          <c:min val="0"/>
        </c:scaling>
        <c:delete val="0"/>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1"/>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y = 1:  −log ŷ</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Sheet1!$A$2:$A$100</c:f>
              <c:numCache>
                <c:formatCode>General</c:formatCode>
                <c:ptCount val="99"/>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numCache>
            </c:numRef>
          </c:xVal>
          <c:yVal>
            <c:numRef>
              <c:f>Sheet1!$B$2:$B$100</c:f>
              <c:numCache>
                <c:formatCode>General</c:formatCode>
                <c:ptCount val="99"/>
                <c:pt idx="0">
                  <c:v>4.605170185988091</c:v>
                </c:pt>
                <c:pt idx="1">
                  <c:v>3.912023005428146</c:v>
                </c:pt>
                <c:pt idx="2">
                  <c:v>3.506557897319982</c:v>
                </c:pt>
                <c:pt idx="3">
                  <c:v>3.2188758248682006</c:v>
                </c:pt>
                <c:pt idx="4">
                  <c:v>2.995732273553991</c:v>
                </c:pt>
                <c:pt idx="5">
                  <c:v>2.8134107167600364</c:v>
                </c:pt>
                <c:pt idx="6">
                  <c:v>2.659260036932778</c:v>
                </c:pt>
                <c:pt idx="7">
                  <c:v>2.5257286443082556</c:v>
                </c:pt>
                <c:pt idx="8">
                  <c:v>2.407945608651872</c:v>
                </c:pt>
                <c:pt idx="9">
                  <c:v>2.3025850929940455</c:v>
                </c:pt>
                <c:pt idx="10">
                  <c:v>2.2072749131897207</c:v>
                </c:pt>
                <c:pt idx="11">
                  <c:v>2.120263536200091</c:v>
                </c:pt>
                <c:pt idx="12">
                  <c:v>2.0402208285265546</c:v>
                </c:pt>
                <c:pt idx="13">
                  <c:v>1.9661128563728327</c:v>
                </c:pt>
                <c:pt idx="14">
                  <c:v>1.8971199848858813</c:v>
                </c:pt>
                <c:pt idx="15">
                  <c:v>1.8325814637483102</c:v>
                </c:pt>
                <c:pt idx="16">
                  <c:v>1.7719568419318752</c:v>
                </c:pt>
                <c:pt idx="17">
                  <c:v>1.7147984280919268</c:v>
                </c:pt>
                <c:pt idx="18">
                  <c:v>1.6607312068216509</c:v>
                </c:pt>
                <c:pt idx="19">
                  <c:v>1.6094379124341003</c:v>
                </c:pt>
                <c:pt idx="20">
                  <c:v>1.5606477482646683</c:v>
                </c:pt>
                <c:pt idx="21">
                  <c:v>1.5141277326297755</c:v>
                </c:pt>
                <c:pt idx="22">
                  <c:v>1.4696759700589417</c:v>
                </c:pt>
                <c:pt idx="23">
                  <c:v>1.4271163556401458</c:v>
                </c:pt>
                <c:pt idx="24">
                  <c:v>1.3862943611198906</c:v>
                </c:pt>
                <c:pt idx="25">
                  <c:v>1.3470736479666092</c:v>
                </c:pt>
                <c:pt idx="26">
                  <c:v>1.3093333199837622</c:v>
                </c:pt>
                <c:pt idx="27">
                  <c:v>1.2729656758128873</c:v>
                </c:pt>
                <c:pt idx="28">
                  <c:v>1.2378743560016174</c:v>
                </c:pt>
                <c:pt idx="29">
                  <c:v>1.2039728043259361</c:v>
                </c:pt>
                <c:pt idx="30">
                  <c:v>1.171182981502945</c:v>
                </c:pt>
                <c:pt idx="31">
                  <c:v>1.1394342831883648</c:v>
                </c:pt>
                <c:pt idx="32">
                  <c:v>1.1086626245216111</c:v>
                </c:pt>
                <c:pt idx="33">
                  <c:v>1.0788096613719298</c:v>
                </c:pt>
                <c:pt idx="34">
                  <c:v>1.0498221244986778</c:v>
                </c:pt>
                <c:pt idx="35">
                  <c:v>1.0216512475319814</c:v>
                </c:pt>
                <c:pt idx="36">
                  <c:v>0.994252273343867</c:v>
                </c:pt>
                <c:pt idx="37">
                  <c:v>0.9675840262617056</c:v>
                </c:pt>
                <c:pt idx="38">
                  <c:v>0.9416085398584448</c:v>
                </c:pt>
                <c:pt idx="39">
                  <c:v>0.916290731874155</c:v>
                </c:pt>
                <c:pt idx="40">
                  <c:v>0.8915981192837836</c:v>
                </c:pt>
                <c:pt idx="41">
                  <c:v>0.8675005677047232</c:v>
                </c:pt>
                <c:pt idx="42">
                  <c:v>0.843970070294529</c:v>
                </c:pt>
                <c:pt idx="43">
                  <c:v>0.8209805520698302</c:v>
                </c:pt>
                <c:pt idx="44">
                  <c:v>0.7985076962177716</c:v>
                </c:pt>
                <c:pt idx="45">
                  <c:v>0.7765287894989963</c:v>
                </c:pt>
                <c:pt idx="46">
                  <c:v>0.7550225842780328</c:v>
                </c:pt>
                <c:pt idx="47">
                  <c:v>0.7339691750802004</c:v>
                </c:pt>
                <c:pt idx="48">
                  <c:v>0.7133498878774648</c:v>
                </c:pt>
                <c:pt idx="49">
                  <c:v>0.6931471805599453</c:v>
                </c:pt>
                <c:pt idx="50">
                  <c:v>0.6733445532637656</c:v>
                </c:pt>
                <c:pt idx="51">
                  <c:v>0.6539264674066639</c:v>
                </c:pt>
                <c:pt idx="52">
                  <c:v>0.6348782724359695</c:v>
                </c:pt>
                <c:pt idx="53">
                  <c:v>0.616186139423817</c:v>
                </c:pt>
                <c:pt idx="54">
                  <c:v>0.5978370007556204</c:v>
                </c:pt>
                <c:pt idx="55">
                  <c:v>0.579818495252942</c:v>
                </c:pt>
                <c:pt idx="56">
                  <c:v>0.5621189181535413</c:v>
                </c:pt>
                <c:pt idx="57">
                  <c:v>0.544727175441672</c:v>
                </c:pt>
                <c:pt idx="58">
                  <c:v>0.527632742082372</c:v>
                </c:pt>
                <c:pt idx="59">
                  <c:v>0.5108256237659907</c:v>
                </c:pt>
                <c:pt idx="60">
                  <c:v>0.4942963218147801</c:v>
                </c:pt>
                <c:pt idx="61">
                  <c:v>0.4780358009429998</c:v>
                </c:pt>
                <c:pt idx="62">
                  <c:v>0.4620354595965587</c:v>
                </c:pt>
                <c:pt idx="63">
                  <c:v>0.4462871026284195</c:v>
                </c:pt>
                <c:pt idx="64">
                  <c:v>0.4307829160924542</c:v>
                </c:pt>
                <c:pt idx="65">
                  <c:v>0.4155154439616658</c:v>
                </c:pt>
                <c:pt idx="66">
                  <c:v>0.40047756659712525</c:v>
                </c:pt>
                <c:pt idx="67">
                  <c:v>0.38566248081198456</c:v>
                </c:pt>
                <c:pt idx="68">
                  <c:v>0.37106368139083207</c:v>
                </c:pt>
                <c:pt idx="69">
                  <c:v>0.35667494393873245</c:v>
                </c:pt>
                <c:pt idx="70">
                  <c:v>0.342490308946776</c:v>
                </c:pt>
                <c:pt idx="71">
                  <c:v>0.3285040669720361</c:v>
                </c:pt>
                <c:pt idx="72">
                  <c:v>0.31471074483970024</c:v>
                </c:pt>
                <c:pt idx="73">
                  <c:v>0.3011050927839216</c:v>
                </c:pt>
                <c:pt idx="74">
                  <c:v>0.2876820724517809</c:v>
                </c:pt>
                <c:pt idx="75">
                  <c:v>0.2744368457017603</c:v>
                </c:pt>
                <c:pt idx="76">
                  <c:v>0.2613647641344075</c:v>
                </c:pt>
                <c:pt idx="77">
                  <c:v>0.2484613592984996</c:v>
                </c:pt>
                <c:pt idx="78">
                  <c:v>0.23572233352106983</c:v>
                </c:pt>
                <c:pt idx="79">
                  <c:v>0.2231435513142097</c:v>
                </c:pt>
                <c:pt idx="80">
                  <c:v>0.21072103131565253</c:v>
                </c:pt>
                <c:pt idx="81">
                  <c:v>0.19845093872383832</c:v>
                </c:pt>
                <c:pt idx="82">
                  <c:v>0.18632957819149348</c:v>
                </c:pt>
                <c:pt idx="83">
                  <c:v>0.1743533871447778</c:v>
                </c:pt>
                <c:pt idx="84">
                  <c:v>0.16251892949777494</c:v>
                </c:pt>
                <c:pt idx="85">
                  <c:v>0.15082288973458366</c:v>
                </c:pt>
                <c:pt idx="86">
                  <c:v>0.13926206733350766</c:v>
                </c:pt>
                <c:pt idx="87">
                  <c:v>0.12783337150988489</c:v>
                </c:pt>
                <c:pt idx="88">
                  <c:v>0.11653381625595151</c:v>
                </c:pt>
                <c:pt idx="89">
                  <c:v>0.10536051565782628</c:v>
                </c:pt>
                <c:pt idx="90">
                  <c:v>0.09431067947124129</c:v>
                </c:pt>
                <c:pt idx="91">
                  <c:v>0.08338160893905101</c:v>
                </c:pt>
                <c:pt idx="92">
                  <c:v>0.07257069283483537</c:v>
                </c:pt>
                <c:pt idx="93">
                  <c:v>0.06187540371808753</c:v>
                </c:pt>
                <c:pt idx="94">
                  <c:v>0.05129329438755058</c:v>
                </c:pt>
                <c:pt idx="95">
                  <c:v>0.040821994520255166</c:v>
                </c:pt>
                <c:pt idx="96">
                  <c:v>0.030459207484708574</c:v>
                </c:pt>
                <c:pt idx="97">
                  <c:v>0.020202707317519466</c:v>
                </c:pt>
                <c:pt idx="98">
                  <c:v>0.01005033585350145</c:v>
                </c:pt>
              </c:numCache>
            </c:numRef>
          </c:yVal>
          <c:smooth val="0"/>
        </c:ser>
        <c:ser>
          <c:idx val="1"/>
          <c:order val="1"/>
          <c:tx>
            <c:strRef>
              <c:f>Sheet1!$C$1</c:f>
              <c:strCache>
                <c:ptCount val="1"/>
                <c:pt idx="0">
                  <c:v>y = 0:  −log(1 − ŷ)</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Sheet1!$A$2:$A$100</c:f>
              <c:numCache>
                <c:formatCode>General</c:formatCode>
                <c:ptCount val="99"/>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numCache>
            </c:numRef>
          </c:xVal>
          <c:yVal>
            <c:numRef>
              <c:f>Sheet1!$C$2:$C$100</c:f>
              <c:numCache>
                <c:formatCode>General</c:formatCode>
                <c:ptCount val="99"/>
                <c:pt idx="0">
                  <c:v>0.01005033585350145</c:v>
                </c:pt>
                <c:pt idx="1">
                  <c:v>0.020202707317519466</c:v>
                </c:pt>
                <c:pt idx="2">
                  <c:v>0.030459207484708574</c:v>
                </c:pt>
                <c:pt idx="3">
                  <c:v>0.040821994520255166</c:v>
                </c:pt>
                <c:pt idx="4">
                  <c:v>0.05129329438755058</c:v>
                </c:pt>
                <c:pt idx="5">
                  <c:v>0.06187540371808753</c:v>
                </c:pt>
                <c:pt idx="6">
                  <c:v>0.0725706928348355</c:v>
                </c:pt>
                <c:pt idx="7">
                  <c:v>0.08338160893905101</c:v>
                </c:pt>
                <c:pt idx="8">
                  <c:v>0.09431067947124129</c:v>
                </c:pt>
                <c:pt idx="9">
                  <c:v>0.10536051565782628</c:v>
                </c:pt>
                <c:pt idx="10">
                  <c:v>0.11653381625595151</c:v>
                </c:pt>
                <c:pt idx="11">
                  <c:v>0.12783337150988489</c:v>
                </c:pt>
                <c:pt idx="12">
                  <c:v>0.13926206733350766</c:v>
                </c:pt>
                <c:pt idx="13">
                  <c:v>0.15082288973458366</c:v>
                </c:pt>
                <c:pt idx="14">
                  <c:v>0.16251892949777494</c:v>
                </c:pt>
                <c:pt idx="15">
                  <c:v>0.1743533871447778</c:v>
                </c:pt>
                <c:pt idx="16">
                  <c:v>0.18632957819149348</c:v>
                </c:pt>
                <c:pt idx="17">
                  <c:v>0.19845093872383818</c:v>
                </c:pt>
                <c:pt idx="18">
                  <c:v>0.21072103131565253</c:v>
                </c:pt>
                <c:pt idx="19">
                  <c:v>0.2231435513142097</c:v>
                </c:pt>
                <c:pt idx="20">
                  <c:v>0.23572233352106983</c:v>
                </c:pt>
                <c:pt idx="21">
                  <c:v>0.2484613592984996</c:v>
                </c:pt>
                <c:pt idx="22">
                  <c:v>0.2613647641344075</c:v>
                </c:pt>
                <c:pt idx="23">
                  <c:v>0.2744368457017603</c:v>
                </c:pt>
                <c:pt idx="24">
                  <c:v>0.2876820724517809</c:v>
                </c:pt>
                <c:pt idx="25">
                  <c:v>0.3011050927839216</c:v>
                </c:pt>
                <c:pt idx="26">
                  <c:v>0.31471074483970024</c:v>
                </c:pt>
                <c:pt idx="27">
                  <c:v>0.3285040669720361</c:v>
                </c:pt>
                <c:pt idx="28">
                  <c:v>0.342490308946776</c:v>
                </c:pt>
                <c:pt idx="29">
                  <c:v>0.35667494393873245</c:v>
                </c:pt>
                <c:pt idx="30">
                  <c:v>0.37106368139083207</c:v>
                </c:pt>
                <c:pt idx="31">
                  <c:v>0.38566248081198473</c:v>
                </c:pt>
                <c:pt idx="32">
                  <c:v>0.4004775665971254</c:v>
                </c:pt>
                <c:pt idx="33">
                  <c:v>0.41551544396166595</c:v>
                </c:pt>
                <c:pt idx="34">
                  <c:v>0.4307829160924542</c:v>
                </c:pt>
                <c:pt idx="35">
                  <c:v>0.4462871026284195</c:v>
                </c:pt>
                <c:pt idx="36">
                  <c:v>0.4620354595965587</c:v>
                </c:pt>
                <c:pt idx="37">
                  <c:v>0.4780358009429998</c:v>
                </c:pt>
                <c:pt idx="38">
                  <c:v>0.4942963218147801</c:v>
                </c:pt>
                <c:pt idx="39">
                  <c:v>0.5108256237659907</c:v>
                </c:pt>
                <c:pt idx="40">
                  <c:v>0.5276327420823718</c:v>
                </c:pt>
                <c:pt idx="41">
                  <c:v>0.5447271754416719</c:v>
                </c:pt>
                <c:pt idx="42">
                  <c:v>0.5621189181535411</c:v>
                </c:pt>
                <c:pt idx="43">
                  <c:v>0.579818495252942</c:v>
                </c:pt>
                <c:pt idx="44">
                  <c:v>0.5978370007556204</c:v>
                </c:pt>
                <c:pt idx="45">
                  <c:v>0.616186139423817</c:v>
                </c:pt>
                <c:pt idx="46">
                  <c:v>0.6348782724359695</c:v>
                </c:pt>
                <c:pt idx="47">
                  <c:v>0.6539264674066639</c:v>
                </c:pt>
                <c:pt idx="48">
                  <c:v>0.6733445532637656</c:v>
                </c:pt>
                <c:pt idx="49">
                  <c:v>0.6931471805599453</c:v>
                </c:pt>
                <c:pt idx="50">
                  <c:v>0.7133498878774648</c:v>
                </c:pt>
                <c:pt idx="51">
                  <c:v>0.7339691750802004</c:v>
                </c:pt>
                <c:pt idx="52">
                  <c:v>0.7550225842780328</c:v>
                </c:pt>
                <c:pt idx="53">
                  <c:v>0.7765287894989964</c:v>
                </c:pt>
                <c:pt idx="54">
                  <c:v>0.7985076962177717</c:v>
                </c:pt>
                <c:pt idx="55">
                  <c:v>0.8209805520698303</c:v>
                </c:pt>
                <c:pt idx="56">
                  <c:v>0.8439700702945289</c:v>
                </c:pt>
                <c:pt idx="57">
                  <c:v>0.867500567704723</c:v>
                </c:pt>
                <c:pt idx="58">
                  <c:v>0.8915981192837835</c:v>
                </c:pt>
                <c:pt idx="59">
                  <c:v>0.916290731874155</c:v>
                </c:pt>
                <c:pt idx="60">
                  <c:v>0.9416085398584448</c:v>
                </c:pt>
                <c:pt idx="61">
                  <c:v>0.9675840262617056</c:v>
                </c:pt>
                <c:pt idx="62">
                  <c:v>0.994252273343867</c:v>
                </c:pt>
                <c:pt idx="63">
                  <c:v>1.0216512475319814</c:v>
                </c:pt>
                <c:pt idx="64">
                  <c:v>1.0498221244986778</c:v>
                </c:pt>
                <c:pt idx="65">
                  <c:v>1.07880966137193</c:v>
                </c:pt>
                <c:pt idx="66">
                  <c:v>1.1086626245216111</c:v>
                </c:pt>
                <c:pt idx="67">
                  <c:v>1.139434283188365</c:v>
                </c:pt>
                <c:pt idx="68">
                  <c:v>1.1711829815029449</c:v>
                </c:pt>
                <c:pt idx="69">
                  <c:v>1.203972804325936</c:v>
                </c:pt>
                <c:pt idx="70">
                  <c:v>1.2378743560016172</c:v>
                </c:pt>
                <c:pt idx="71">
                  <c:v>1.2729656758128873</c:v>
                </c:pt>
                <c:pt idx="72">
                  <c:v>1.3093333199837622</c:v>
                </c:pt>
                <c:pt idx="73">
                  <c:v>1.3470736479666092</c:v>
                </c:pt>
                <c:pt idx="74">
                  <c:v>1.3862943611198906</c:v>
                </c:pt>
                <c:pt idx="75">
                  <c:v>1.4271163556401458</c:v>
                </c:pt>
                <c:pt idx="76">
                  <c:v>1.4696759700589417</c:v>
                </c:pt>
                <c:pt idx="77">
                  <c:v>1.5141277326297757</c:v>
                </c:pt>
                <c:pt idx="78">
                  <c:v>1.5606477482646686</c:v>
                </c:pt>
                <c:pt idx="79">
                  <c:v>1.6094379124341005</c:v>
                </c:pt>
                <c:pt idx="80">
                  <c:v>1.660731206821651</c:v>
                </c:pt>
                <c:pt idx="81">
                  <c:v>1.7147984280919264</c:v>
                </c:pt>
                <c:pt idx="82">
                  <c:v>1.7719568419318752</c:v>
                </c:pt>
                <c:pt idx="83">
                  <c:v>1.83258146374831</c:v>
                </c:pt>
                <c:pt idx="84">
                  <c:v>1.897119984885881</c:v>
                </c:pt>
                <c:pt idx="85">
                  <c:v>1.9661128563728327</c:v>
                </c:pt>
                <c:pt idx="86">
                  <c:v>2.0402208285265546</c:v>
                </c:pt>
                <c:pt idx="87">
                  <c:v>2.120263536200091</c:v>
                </c:pt>
                <c:pt idx="88">
                  <c:v>2.207274913189721</c:v>
                </c:pt>
                <c:pt idx="89">
                  <c:v>2.302585092994046</c:v>
                </c:pt>
                <c:pt idx="90">
                  <c:v>2.4079456086518722</c:v>
                </c:pt>
                <c:pt idx="91">
                  <c:v>2.525728644308256</c:v>
                </c:pt>
                <c:pt idx="92">
                  <c:v>2.659260036932779</c:v>
                </c:pt>
                <c:pt idx="93">
                  <c:v>2.8134107167600355</c:v>
                </c:pt>
                <c:pt idx="94">
                  <c:v>2.99573227355399</c:v>
                </c:pt>
                <c:pt idx="95">
                  <c:v>3.2188758248681997</c:v>
                </c:pt>
                <c:pt idx="96">
                  <c:v>3.506557897319981</c:v>
                </c:pt>
                <c:pt idx="97">
                  <c:v>3.912023005428145</c:v>
                </c:pt>
                <c:pt idx="98">
                  <c:v>4.60517018598809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predicted probability ŷ = σ(z)</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majorUnit val="0.25"/>
      </c:valAx>
      <c:valAx>
        <c:axId val="2094734552"/>
        <c:scaling>
          <c:orientation val="minMax"/>
          <c:max val="4.5"/>
          <c:min val="0"/>
        </c:scaling>
        <c:delete val="0"/>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1"/>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5232D"/>
                </a:solidFill>
                <a:latin typeface="+mn-lt"/>
              </a:defRPr>
            </a:pPr>
            <a:r>
              <a:rPr sz="1500" b="0" i="0" u="none" strike="noStrike">
                <a:solidFill>
                  <a:srgbClr val="15232D"/>
                </a:solidFill>
                <a:latin typeface="+mn-lt"/>
              </a:rPr>
              <a:t>Logits z</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556270"/>
            </a:solidFill>
            <a:effectLst/>
          </c:spPr>
          <c:invertIfNegative val="0"/>
          <c:dLbls>
            <c:numFmt formatCode="General" sourceLinked="0"/>
            <c:txPr>
              <a:bodyPr/>
              <a:lstStyle/>
              <a:p>
                <a:pPr>
                  <a:defRPr b="0" i="0" strike="noStrike" sz="1400" u="none">
                    <a:solidFill>
                      <a:srgbClr val="15232D"/>
                    </a:solidFill>
                    <a:latin typeface="+mn-lt"/>
                  </a:defRPr>
                </a:pPr>
              </a:p>
            </c:txPr>
            <c:showLegendKey val="0"/>
            <c:showVal val="1"/>
            <c:showCatName val="0"/>
            <c:showSerName val="0"/>
            <c:showPercent val="0"/>
            <c:showBubbleSize val="0"/>
            <c:showLeaderLines val="0"/>
          </c:dLbls>
          <c:cat>
            <c:multiLvlStrRef>
              <c:f>Sheet1!$A$2:$A$4</c:f>
              <c:multiLvlStrCache>
                <c:ptCount val="3"/>
                <c:lvl>
                  <c:pt idx="0">
                    <c:v>z₁</c:v>
                  </c:pt>
                  <c:pt idx="1">
                    <c:v>z₂</c:v>
                  </c:pt>
                  <c:pt idx="2">
                    <c:v>z₃</c:v>
                  </c:pt>
                </c:lvl>
              </c:multiLvlStrCache>
            </c:multiLvlStrRef>
          </c:cat>
          <c:val>
            <c:numRef>
              <c:f>Sheet1!$B$2:$B$4</c:f>
              <c:numCache>
                <c:formatCode>General</c:formatCode>
                <c:ptCount val="3"/>
                <c:pt idx="0">
                  <c:v>2</c:v>
                </c:pt>
                <c:pt idx="1">
                  <c:v>1</c:v>
                </c:pt>
                <c:pt idx="2">
                  <c:v>0.1</c:v>
                </c:pt>
              </c:numCache>
            </c:numRef>
          </c:val>
        </c:ser>
        <c:dLbls>
          <c:numFmt formatCode="General" sourceLinked="0"/>
          <c:txPr>
            <a:bodyPr/>
            <a:lstStyle/>
            <a:p>
              <a:pPr>
                <a:defRPr b="0" i="0" strike="noStrike" sz="1400" u="none">
                  <a:solidFill>
                    <a:srgbClr val="1523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3CCD4"/>
            </a:solidFill>
            <a:prstDash val="solid"/>
            <a:round/>
          </a:ln>
        </c:spPr>
        <c:txPr>
          <a:bodyPr/>
          <a:lstStyle/>
          <a:p>
            <a:pPr>
              <a:defRPr sz="1400" b="0" i="0" u="none" strike="noStrike">
                <a:solidFill>
                  <a:srgbClr val="556270"/>
                </a:solidFill>
                <a:latin typeface="+mn-lt"/>
              </a:defRPr>
            </a:pPr>
            <a:endParaRPr lang="en-US"/>
          </a:p>
        </c:txPr>
        <c:crossAx val="2094734552"/>
        <c:crosses val="autoZero"/>
        <c:auto val="1"/>
        <c:lblAlgn val="ctr"/>
        <c:noMultiLvlLbl val="1"/>
      </c:catAx>
      <c:valAx>
        <c:axId val="2094734552"/>
        <c:scaling>
          <c:orientation val="minMax"/>
          <c:max val="2.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5232D"/>
                </a:solidFill>
                <a:latin typeface="+mn-lt"/>
              </a:defRPr>
            </a:pPr>
            <a:r>
              <a:rPr sz="1500" b="0" i="0" u="none" strike="noStrike">
                <a:solidFill>
                  <a:srgbClr val="15232D"/>
                </a:solidFill>
                <a:latin typeface="+mn-lt"/>
              </a:rPr>
              <a:t>Probabilities, sum = 1</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0F7B78"/>
            </a:solidFill>
            <a:effectLst/>
          </c:spPr>
          <c:invertIfNegative val="0"/>
          <c:dLbls>
            <c:numFmt formatCode="General" sourceLinked="0"/>
            <c:txPr>
              <a:bodyPr/>
              <a:lstStyle/>
              <a:p>
                <a:pPr>
                  <a:defRPr b="0" i="0" strike="noStrike" sz="1400" u="none">
                    <a:solidFill>
                      <a:srgbClr val="15232D"/>
                    </a:solidFill>
                    <a:latin typeface="+mn-lt"/>
                  </a:defRPr>
                </a:pPr>
              </a:p>
            </c:txPr>
            <c:showLegendKey val="0"/>
            <c:showVal val="1"/>
            <c:showCatName val="0"/>
            <c:showSerName val="0"/>
            <c:showPercent val="0"/>
            <c:showBubbleSize val="0"/>
            <c:showLeaderLines val="0"/>
          </c:dLbls>
          <c:cat>
            <c:multiLvlStrRef>
              <c:f>Sheet1!$A$2:$A$4</c:f>
              <c:multiLvlStrCache>
                <c:ptCount val="3"/>
                <c:lvl>
                  <c:pt idx="0">
                    <c:v>ŷ₁</c:v>
                  </c:pt>
                  <c:pt idx="1">
                    <c:v>ŷ₂</c:v>
                  </c:pt>
                  <c:pt idx="2">
                    <c:v>ŷ₃</c:v>
                  </c:pt>
                </c:lvl>
              </c:multiLvlStrCache>
            </c:multiLvlStrRef>
          </c:cat>
          <c:val>
            <c:numRef>
              <c:f>Sheet1!$B$2:$B$4</c:f>
              <c:numCache>
                <c:formatCode>General</c:formatCode>
                <c:ptCount val="3"/>
                <c:pt idx="0">
                  <c:v>0.659</c:v>
                </c:pt>
                <c:pt idx="1">
                  <c:v>0.242</c:v>
                </c:pt>
                <c:pt idx="2">
                  <c:v>0.099</c:v>
                </c:pt>
              </c:numCache>
            </c:numRef>
          </c:val>
        </c:ser>
        <c:dLbls>
          <c:numFmt formatCode="General" sourceLinked="0"/>
          <c:txPr>
            <a:bodyPr/>
            <a:lstStyle/>
            <a:p>
              <a:pPr>
                <a:defRPr b="0" i="0" strike="noStrike" sz="1400" u="none">
                  <a:solidFill>
                    <a:srgbClr val="1523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3CCD4"/>
            </a:solidFill>
            <a:prstDash val="solid"/>
            <a:round/>
          </a:ln>
        </c:spPr>
        <c:txPr>
          <a:bodyPr/>
          <a:lstStyle/>
          <a:p>
            <a:pPr>
              <a:defRPr sz="1400" b="0" i="0" u="none" strike="noStrike">
                <a:solidFill>
                  <a:srgbClr val="556270"/>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cross-entropy |ŷ − y|</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Sheet1!$A$2:$A$122</c:f>
              <c:numCache>
                <c:formatCode>General</c:formatCode>
                <c:ptCount val="121"/>
                <c:pt idx="0">
                  <c:v>-8</c:v>
                </c:pt>
                <c:pt idx="1">
                  <c:v>-7.9</c:v>
                </c:pt>
                <c:pt idx="2">
                  <c:v>-7.8</c:v>
                </c:pt>
                <c:pt idx="3">
                  <c:v>-7.7</c:v>
                </c:pt>
                <c:pt idx="4">
                  <c:v>-7.6</c:v>
                </c:pt>
                <c:pt idx="5">
                  <c:v>-7.5</c:v>
                </c:pt>
                <c:pt idx="6">
                  <c:v>-7.4</c:v>
                </c:pt>
                <c:pt idx="7">
                  <c:v>-7.3</c:v>
                </c:pt>
                <c:pt idx="8">
                  <c:v>-7.2</c:v>
                </c:pt>
                <c:pt idx="9">
                  <c:v>-7.1</c:v>
                </c:pt>
                <c:pt idx="10">
                  <c:v>-7</c:v>
                </c:pt>
                <c:pt idx="11">
                  <c:v>-6.9</c:v>
                </c:pt>
                <c:pt idx="12">
                  <c:v>-6.8</c:v>
                </c:pt>
                <c:pt idx="13">
                  <c:v>-6.7</c:v>
                </c:pt>
                <c:pt idx="14">
                  <c:v>-6.6</c:v>
                </c:pt>
                <c:pt idx="15">
                  <c:v>-6.5</c:v>
                </c:pt>
                <c:pt idx="16">
                  <c:v>-6.4</c:v>
                </c:pt>
                <c:pt idx="17">
                  <c:v>-6.3</c:v>
                </c:pt>
                <c:pt idx="18">
                  <c:v>-6.2</c:v>
                </c:pt>
                <c:pt idx="19">
                  <c:v>-6.1</c:v>
                </c:pt>
                <c:pt idx="20">
                  <c:v>-6</c:v>
                </c:pt>
                <c:pt idx="21">
                  <c:v>-5.9</c:v>
                </c:pt>
                <c:pt idx="22">
                  <c:v>-5.8</c:v>
                </c:pt>
                <c:pt idx="23">
                  <c:v>-5.7</c:v>
                </c:pt>
                <c:pt idx="24">
                  <c:v>-5.6</c:v>
                </c:pt>
                <c:pt idx="25">
                  <c:v>-5.5</c:v>
                </c:pt>
                <c:pt idx="26">
                  <c:v>-5.4</c:v>
                </c:pt>
                <c:pt idx="27">
                  <c:v>-5.3</c:v>
                </c:pt>
                <c:pt idx="28">
                  <c:v>-5.2</c:v>
                </c:pt>
                <c:pt idx="29">
                  <c:v>-5.1</c:v>
                </c:pt>
                <c:pt idx="30">
                  <c:v>-5</c:v>
                </c:pt>
                <c:pt idx="31">
                  <c:v>-4.9</c:v>
                </c:pt>
                <c:pt idx="32">
                  <c:v>-4.8</c:v>
                </c:pt>
                <c:pt idx="33">
                  <c:v>-4.7</c:v>
                </c:pt>
                <c:pt idx="34">
                  <c:v>-4.6</c:v>
                </c:pt>
                <c:pt idx="35">
                  <c:v>-4.5</c:v>
                </c:pt>
                <c:pt idx="36">
                  <c:v>-4.4</c:v>
                </c:pt>
                <c:pt idx="37">
                  <c:v>-4.3</c:v>
                </c:pt>
                <c:pt idx="38">
                  <c:v>-4.2</c:v>
                </c:pt>
                <c:pt idx="39">
                  <c:v>-4.1</c:v>
                </c:pt>
                <c:pt idx="40">
                  <c:v>-4</c:v>
                </c:pt>
                <c:pt idx="41">
                  <c:v>-3.9</c:v>
                </c:pt>
                <c:pt idx="42">
                  <c:v>-3.8</c:v>
                </c:pt>
                <c:pt idx="43">
                  <c:v>-3.7</c:v>
                </c:pt>
                <c:pt idx="44">
                  <c:v>-3.6</c:v>
                </c:pt>
                <c:pt idx="45">
                  <c:v>-3.5</c:v>
                </c:pt>
                <c:pt idx="46">
                  <c:v>-3.4</c:v>
                </c:pt>
                <c:pt idx="47">
                  <c:v>-3.3</c:v>
                </c:pt>
                <c:pt idx="48">
                  <c:v>-3.2</c:v>
                </c:pt>
                <c:pt idx="49">
                  <c:v>-3.1</c:v>
                </c:pt>
                <c:pt idx="50">
                  <c:v>-3</c:v>
                </c:pt>
                <c:pt idx="51">
                  <c:v>-2.9</c:v>
                </c:pt>
                <c:pt idx="52">
                  <c:v>-2.8</c:v>
                </c:pt>
                <c:pt idx="53">
                  <c:v>-2.7</c:v>
                </c:pt>
                <c:pt idx="54">
                  <c:v>-2.6</c:v>
                </c:pt>
                <c:pt idx="55">
                  <c:v>-2.5</c:v>
                </c:pt>
                <c:pt idx="56">
                  <c:v>-2.4</c:v>
                </c:pt>
                <c:pt idx="57">
                  <c:v>-2.3</c:v>
                </c:pt>
                <c:pt idx="58">
                  <c:v>-2.2</c:v>
                </c:pt>
                <c:pt idx="59">
                  <c:v>-2.1</c:v>
                </c:pt>
                <c:pt idx="60">
                  <c:v>-2</c:v>
                </c:pt>
                <c:pt idx="61">
                  <c:v>-1.9</c:v>
                </c:pt>
                <c:pt idx="62">
                  <c:v>-1.8</c:v>
                </c:pt>
                <c:pt idx="63">
                  <c:v>-1.7</c:v>
                </c:pt>
                <c:pt idx="64">
                  <c:v>-1.6</c:v>
                </c:pt>
                <c:pt idx="65">
                  <c:v>-1.5</c:v>
                </c:pt>
                <c:pt idx="66">
                  <c:v>-1.4</c:v>
                </c:pt>
                <c:pt idx="67">
                  <c:v>-1.3</c:v>
                </c:pt>
                <c:pt idx="68">
                  <c:v>-1.2</c:v>
                </c:pt>
                <c:pt idx="69">
                  <c:v>-1.1</c:v>
                </c:pt>
                <c:pt idx="70">
                  <c:v>-1</c:v>
                </c:pt>
                <c:pt idx="71">
                  <c:v>-0.9</c:v>
                </c:pt>
                <c:pt idx="72">
                  <c:v>-0.8</c:v>
                </c:pt>
                <c:pt idx="73">
                  <c:v>-0.7</c:v>
                </c:pt>
                <c:pt idx="74">
                  <c:v>-0.6</c:v>
                </c:pt>
                <c:pt idx="75">
                  <c:v>-0.5</c:v>
                </c:pt>
                <c:pt idx="76">
                  <c:v>-0.4</c:v>
                </c:pt>
                <c:pt idx="77">
                  <c:v>-0.3</c:v>
                </c:pt>
                <c:pt idx="78">
                  <c:v>-0.2</c:v>
                </c:pt>
                <c:pt idx="79">
                  <c:v>-0.1</c:v>
                </c:pt>
                <c:pt idx="80">
                  <c:v>0</c:v>
                </c:pt>
                <c:pt idx="81">
                  <c:v>0.1</c:v>
                </c:pt>
                <c:pt idx="82">
                  <c:v>0.2</c:v>
                </c:pt>
                <c:pt idx="83">
                  <c:v>0.3</c:v>
                </c:pt>
                <c:pt idx="84">
                  <c:v>0.4</c:v>
                </c:pt>
                <c:pt idx="85">
                  <c:v>0.5</c:v>
                </c:pt>
                <c:pt idx="86">
                  <c:v>0.6</c:v>
                </c:pt>
                <c:pt idx="87">
                  <c:v>0.7</c:v>
                </c:pt>
                <c:pt idx="88">
                  <c:v>0.8</c:v>
                </c:pt>
                <c:pt idx="89">
                  <c:v>0.9</c:v>
                </c:pt>
                <c:pt idx="90">
                  <c:v>1</c:v>
                </c:pt>
                <c:pt idx="91">
                  <c:v>1.1</c:v>
                </c:pt>
                <c:pt idx="92">
                  <c:v>1.2</c:v>
                </c:pt>
                <c:pt idx="93">
                  <c:v>1.3</c:v>
                </c:pt>
                <c:pt idx="94">
                  <c:v>1.4</c:v>
                </c:pt>
                <c:pt idx="95">
                  <c:v>1.5</c:v>
                </c:pt>
                <c:pt idx="96">
                  <c:v>1.6</c:v>
                </c:pt>
                <c:pt idx="97">
                  <c:v>1.7</c:v>
                </c:pt>
                <c:pt idx="98">
                  <c:v>1.8</c:v>
                </c:pt>
                <c:pt idx="99">
                  <c:v>1.9</c:v>
                </c:pt>
                <c:pt idx="100">
                  <c:v>2</c:v>
                </c:pt>
                <c:pt idx="101">
                  <c:v>2.1</c:v>
                </c:pt>
                <c:pt idx="102">
                  <c:v>2.2</c:v>
                </c:pt>
                <c:pt idx="103">
                  <c:v>2.3</c:v>
                </c:pt>
                <c:pt idx="104">
                  <c:v>2.4</c:v>
                </c:pt>
                <c:pt idx="105">
                  <c:v>2.5</c:v>
                </c:pt>
                <c:pt idx="106">
                  <c:v>2.6</c:v>
                </c:pt>
                <c:pt idx="107">
                  <c:v>2.7</c:v>
                </c:pt>
                <c:pt idx="108">
                  <c:v>2.8</c:v>
                </c:pt>
                <c:pt idx="109">
                  <c:v>2.9</c:v>
                </c:pt>
                <c:pt idx="110">
                  <c:v>3</c:v>
                </c:pt>
                <c:pt idx="111">
                  <c:v>3.1</c:v>
                </c:pt>
                <c:pt idx="112">
                  <c:v>3.2</c:v>
                </c:pt>
                <c:pt idx="113">
                  <c:v>3.3</c:v>
                </c:pt>
                <c:pt idx="114">
                  <c:v>3.4</c:v>
                </c:pt>
                <c:pt idx="115">
                  <c:v>3.5</c:v>
                </c:pt>
                <c:pt idx="116">
                  <c:v>3.6</c:v>
                </c:pt>
                <c:pt idx="117">
                  <c:v>3.7</c:v>
                </c:pt>
                <c:pt idx="118">
                  <c:v>3.8</c:v>
                </c:pt>
                <c:pt idx="119">
                  <c:v>3.9</c:v>
                </c:pt>
                <c:pt idx="120">
                  <c:v>4</c:v>
                </c:pt>
              </c:numCache>
            </c:numRef>
          </c:xVal>
          <c:yVal>
            <c:numRef>
              <c:f>Sheet1!$B$2:$B$122</c:f>
              <c:numCache>
                <c:formatCode>General</c:formatCode>
                <c:ptCount val="121"/>
                <c:pt idx="0">
                  <c:v>0.9996646498695335</c:v>
                </c:pt>
                <c:pt idx="1">
                  <c:v>0.9996293938593735</c:v>
                </c:pt>
                <c:pt idx="2">
                  <c:v>0.9995904328350139</c:v>
                </c:pt>
                <c:pt idx="3">
                  <c:v>0.9995473777767595</c:v>
                </c:pt>
                <c:pt idx="4">
                  <c:v>0.9994997988929204</c:v>
                </c:pt>
                <c:pt idx="5">
                  <c:v>0.9994472213630764</c:v>
                </c:pt>
                <c:pt idx="6">
                  <c:v>0.9993891206405656</c:v>
                </c:pt>
                <c:pt idx="7">
                  <c:v>0.9993249172693671</c:v>
                </c:pt>
                <c:pt idx="8">
                  <c:v>0.9992539711661633</c:v>
                </c:pt>
                <c:pt idx="9">
                  <c:v>0.9991755753136017</c:v>
                </c:pt>
                <c:pt idx="10">
                  <c:v>0.9990889488055994</c:v>
                </c:pt>
                <c:pt idx="11">
                  <c:v>0.9989932291799144</c:v>
                </c:pt>
                <c:pt idx="12">
                  <c:v>0.9988874639671397</c:v>
                </c:pt>
                <c:pt idx="13">
                  <c:v>0.9987706013787225</c:v>
                </c:pt>
                <c:pt idx="14">
                  <c:v>0.9986414800495711</c:v>
                </c:pt>
                <c:pt idx="15">
                  <c:v>0.998498817743263</c:v>
                </c:pt>
                <c:pt idx="16">
                  <c:v>0.9983411989198255</c:v>
                </c:pt>
                <c:pt idx="17">
                  <c:v>0.9981670610575072</c:v>
                </c:pt>
                <c:pt idx="18">
                  <c:v>0.9979746796109501</c:v>
                </c:pt>
                <c:pt idx="19">
                  <c:v>0.9977621514787237</c:v>
                </c:pt>
                <c:pt idx="20">
                  <c:v>0.9975273768433652</c:v>
                </c:pt>
                <c:pt idx="21">
                  <c:v>0.9972680392369889</c:v>
                </c:pt>
                <c:pt idx="22">
                  <c:v>0.9969815836752915</c:v>
                </c:pt>
                <c:pt idx="23">
                  <c:v>0.9966651926925867</c:v>
                </c:pt>
                <c:pt idx="24">
                  <c:v>0.996315760100564</c:v>
                </c:pt>
                <c:pt idx="25">
                  <c:v>0.9959298622841039</c:v>
                </c:pt>
                <c:pt idx="26">
                  <c:v>0.9955037268390589</c:v>
                </c:pt>
                <c:pt idx="27">
                  <c:v>0.9950331983499431</c:v>
                </c:pt>
                <c:pt idx="28">
                  <c:v>0.9945137011005496</c:v>
                </c:pt>
                <c:pt idx="29">
                  <c:v>0.9939401985084159</c:v>
                </c:pt>
                <c:pt idx="30">
                  <c:v>0.9933071490757152</c:v>
                </c:pt>
                <c:pt idx="31">
                  <c:v>0.992608458655718</c:v>
                </c:pt>
                <c:pt idx="32">
                  <c:v>0.9918374288468401</c:v>
                </c:pt>
                <c:pt idx="33">
                  <c:v>0.9909867013471522</c:v>
                </c:pt>
                <c:pt idx="34">
                  <c:v>0.9900481981330956</c:v>
                </c:pt>
                <c:pt idx="35">
                  <c:v>0.9890130573694068</c:v>
                </c:pt>
                <c:pt idx="36">
                  <c:v>0.9878715650157258</c:v>
                </c:pt>
                <c:pt idx="37">
                  <c:v>0.9866130821723352</c:v>
                </c:pt>
                <c:pt idx="38">
                  <c:v>0.9852259683067269</c:v>
                </c:pt>
                <c:pt idx="39">
                  <c:v>0.9836975006285591</c:v>
                </c:pt>
                <c:pt idx="40">
                  <c:v>0.9820137900379085</c:v>
                </c:pt>
                <c:pt idx="41">
                  <c:v>0.9801596942659225</c:v>
                </c:pt>
                <c:pt idx="42">
                  <c:v>0.9781187290638695</c:v>
                </c:pt>
                <c:pt idx="43">
                  <c:v>0.9758729785823308</c:v>
                </c:pt>
                <c:pt idx="44">
                  <c:v>0.9734030064231342</c:v>
                </c:pt>
                <c:pt idx="45">
                  <c:v>0.9706877692486436</c:v>
                </c:pt>
                <c:pt idx="46">
                  <c:v>0.9677045353015494</c:v>
                </c:pt>
                <c:pt idx="47">
                  <c:v>0.9644288107273639</c:v>
                </c:pt>
                <c:pt idx="48">
                  <c:v>0.9608342772032357</c:v>
                </c:pt>
                <c:pt idx="49">
                  <c:v>0.9568927450589139</c:v>
                </c:pt>
                <c:pt idx="50">
                  <c:v>0.9525741268224333</c:v>
                </c:pt>
                <c:pt idx="51">
                  <c:v>0.9478464369215822</c:v>
                </c:pt>
                <c:pt idx="52">
                  <c:v>0.9426758241011313</c:v>
                </c:pt>
                <c:pt idx="53">
                  <c:v>0.9370266439430035</c:v>
                </c:pt>
                <c:pt idx="54">
                  <c:v>0.9308615796566532</c:v>
                </c:pt>
                <c:pt idx="55">
                  <c:v>0.9241418199787564</c:v>
                </c:pt>
                <c:pt idx="56">
                  <c:v>0.9168273035060777</c:v>
                </c:pt>
                <c:pt idx="57">
                  <c:v>0.9088770389851438</c:v>
                </c:pt>
                <c:pt idx="58">
                  <c:v>0.9002495108803149</c:v>
                </c:pt>
                <c:pt idx="59">
                  <c:v>0.8909031788043871</c:v>
                </c:pt>
                <c:pt idx="60">
                  <c:v>0.8807970779778824</c:v>
                </c:pt>
                <c:pt idx="61">
                  <c:v>0.8698915256370021</c:v>
                </c:pt>
                <c:pt idx="62">
                  <c:v>0.8581489350995122</c:v>
                </c:pt>
                <c:pt idx="63">
                  <c:v>0.8455347349164652</c:v>
                </c:pt>
                <c:pt idx="64">
                  <c:v>0.8320183851339245</c:v>
                </c:pt>
                <c:pt idx="65">
                  <c:v>0.8175744761936437</c:v>
                </c:pt>
                <c:pt idx="66">
                  <c:v>0.8021838885585817</c:v>
                </c:pt>
                <c:pt idx="67">
                  <c:v>0.7858349830425586</c:v>
                </c:pt>
                <c:pt idx="68">
                  <c:v>0.7685247834990176</c:v>
                </c:pt>
                <c:pt idx="69">
                  <c:v>0.7502601055951177</c:v>
                </c:pt>
                <c:pt idx="70">
                  <c:v>0.7310585786300049</c:v>
                </c:pt>
                <c:pt idx="71">
                  <c:v>0.710949502625004</c:v>
                </c:pt>
                <c:pt idx="72">
                  <c:v>0.6899744811276125</c:v>
                </c:pt>
                <c:pt idx="73">
                  <c:v>0.6681877721681662</c:v>
                </c:pt>
                <c:pt idx="74">
                  <c:v>0.6456563062257954</c:v>
                </c:pt>
                <c:pt idx="75">
                  <c:v>0.6224593312018546</c:v>
                </c:pt>
                <c:pt idx="76">
                  <c:v>0.598687660112452</c:v>
                </c:pt>
                <c:pt idx="77">
                  <c:v>0.5744425168116589</c:v>
                </c:pt>
                <c:pt idx="78">
                  <c:v>0.5498339973124778</c:v>
                </c:pt>
                <c:pt idx="79">
                  <c:v>0.52497918747894</c:v>
                </c:pt>
                <c:pt idx="80">
                  <c:v>0.5</c:v>
                </c:pt>
                <c:pt idx="81">
                  <c:v>0.47502081252106</c:v>
                </c:pt>
                <c:pt idx="82">
                  <c:v>0.45016600268752205</c:v>
                </c:pt>
                <c:pt idx="83">
                  <c:v>0.42555748318834097</c:v>
                </c:pt>
                <c:pt idx="84">
                  <c:v>0.401312339887548</c:v>
                </c:pt>
                <c:pt idx="85">
                  <c:v>0.3775406687981454</c:v>
                </c:pt>
                <c:pt idx="86">
                  <c:v>0.3543436937742046</c:v>
                </c:pt>
                <c:pt idx="87">
                  <c:v>0.33181222783183384</c:v>
                </c:pt>
                <c:pt idx="88">
                  <c:v>0.3100255188723875</c:v>
                </c:pt>
                <c:pt idx="89">
                  <c:v>0.2890504973749961</c:v>
                </c:pt>
                <c:pt idx="90">
                  <c:v>0.2689414213699951</c:v>
                </c:pt>
                <c:pt idx="91">
                  <c:v>0.2497398944048823</c:v>
                </c:pt>
                <c:pt idx="92">
                  <c:v>0.23147521650098246</c:v>
                </c:pt>
                <c:pt idx="93">
                  <c:v>0.2141650169574414</c:v>
                </c:pt>
                <c:pt idx="94">
                  <c:v>0.1978161114414183</c:v>
                </c:pt>
                <c:pt idx="95">
                  <c:v>0.18242552380635635</c:v>
                </c:pt>
                <c:pt idx="96">
                  <c:v>0.16798161486607555</c:v>
                </c:pt>
                <c:pt idx="97">
                  <c:v>0.15446526508353475</c:v>
                </c:pt>
                <c:pt idx="98">
                  <c:v>0.1418510649004877</c:v>
                </c:pt>
                <c:pt idx="99">
                  <c:v>0.13010847436299788</c:v>
                </c:pt>
                <c:pt idx="100">
                  <c:v>0.11920292202211769</c:v>
                </c:pt>
                <c:pt idx="101">
                  <c:v>0.10909682119561293</c:v>
                </c:pt>
                <c:pt idx="102">
                  <c:v>0.0997504891196852</c:v>
                </c:pt>
                <c:pt idx="103">
                  <c:v>0.09112296101485617</c:v>
                </c:pt>
                <c:pt idx="104">
                  <c:v>0.08317269649392234</c:v>
                </c:pt>
                <c:pt idx="105">
                  <c:v>0.07585818002124345</c:v>
                </c:pt>
                <c:pt idx="106">
                  <c:v>0.06913842034334672</c:v>
                </c:pt>
                <c:pt idx="107">
                  <c:v>0.0629733560569965</c:v>
                </c:pt>
                <c:pt idx="108">
                  <c:v>0.057324175898868734</c:v>
                </c:pt>
                <c:pt idx="109">
                  <c:v>0.052153563078417675</c:v>
                </c:pt>
                <c:pt idx="110">
                  <c:v>0.047425873177566635</c:v>
                </c:pt>
                <c:pt idx="111">
                  <c:v>0.04310725494108614</c:v>
                </c:pt>
                <c:pt idx="112">
                  <c:v>0.039165722796764335</c:v>
                </c:pt>
                <c:pt idx="113">
                  <c:v>0.03557118927263614</c:v>
                </c:pt>
                <c:pt idx="114">
                  <c:v>0.03229546469845057</c:v>
                </c:pt>
                <c:pt idx="115">
                  <c:v>0.02931223075135636</c:v>
                </c:pt>
                <c:pt idx="116">
                  <c:v>0.026596993576865957</c:v>
                </c:pt>
                <c:pt idx="117">
                  <c:v>0.024127021417669203</c:v>
                </c:pt>
                <c:pt idx="118">
                  <c:v>0.02188127093613057</c:v>
                </c:pt>
                <c:pt idx="119">
                  <c:v>0.019840305734077468</c:v>
                </c:pt>
                <c:pt idx="120">
                  <c:v>0.01798620996209155</c:v>
                </c:pt>
              </c:numCache>
            </c:numRef>
          </c:yVal>
          <c:smooth val="0"/>
        </c:ser>
        <c:ser>
          <c:idx val="1"/>
          <c:order val="1"/>
          <c:tx>
            <c:strRef>
              <c:f>Sheet1!$C$1</c:f>
              <c:strCache>
                <c:ptCount val="1"/>
                <c:pt idx="0">
                  <c:v>MSE |(ŷ − y)σ′|</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Sheet1!$A$2:$A$122</c:f>
              <c:numCache>
                <c:formatCode>General</c:formatCode>
                <c:ptCount val="121"/>
                <c:pt idx="0">
                  <c:v>-8</c:v>
                </c:pt>
                <c:pt idx="1">
                  <c:v>-7.9</c:v>
                </c:pt>
                <c:pt idx="2">
                  <c:v>-7.8</c:v>
                </c:pt>
                <c:pt idx="3">
                  <c:v>-7.7</c:v>
                </c:pt>
                <c:pt idx="4">
                  <c:v>-7.6</c:v>
                </c:pt>
                <c:pt idx="5">
                  <c:v>-7.5</c:v>
                </c:pt>
                <c:pt idx="6">
                  <c:v>-7.4</c:v>
                </c:pt>
                <c:pt idx="7">
                  <c:v>-7.3</c:v>
                </c:pt>
                <c:pt idx="8">
                  <c:v>-7.2</c:v>
                </c:pt>
                <c:pt idx="9">
                  <c:v>-7.1</c:v>
                </c:pt>
                <c:pt idx="10">
                  <c:v>-7</c:v>
                </c:pt>
                <c:pt idx="11">
                  <c:v>-6.9</c:v>
                </c:pt>
                <c:pt idx="12">
                  <c:v>-6.8</c:v>
                </c:pt>
                <c:pt idx="13">
                  <c:v>-6.7</c:v>
                </c:pt>
                <c:pt idx="14">
                  <c:v>-6.6</c:v>
                </c:pt>
                <c:pt idx="15">
                  <c:v>-6.5</c:v>
                </c:pt>
                <c:pt idx="16">
                  <c:v>-6.4</c:v>
                </c:pt>
                <c:pt idx="17">
                  <c:v>-6.3</c:v>
                </c:pt>
                <c:pt idx="18">
                  <c:v>-6.2</c:v>
                </c:pt>
                <c:pt idx="19">
                  <c:v>-6.1</c:v>
                </c:pt>
                <c:pt idx="20">
                  <c:v>-6</c:v>
                </c:pt>
                <c:pt idx="21">
                  <c:v>-5.9</c:v>
                </c:pt>
                <c:pt idx="22">
                  <c:v>-5.8</c:v>
                </c:pt>
                <c:pt idx="23">
                  <c:v>-5.7</c:v>
                </c:pt>
                <c:pt idx="24">
                  <c:v>-5.6</c:v>
                </c:pt>
                <c:pt idx="25">
                  <c:v>-5.5</c:v>
                </c:pt>
                <c:pt idx="26">
                  <c:v>-5.4</c:v>
                </c:pt>
                <c:pt idx="27">
                  <c:v>-5.3</c:v>
                </c:pt>
                <c:pt idx="28">
                  <c:v>-5.2</c:v>
                </c:pt>
                <c:pt idx="29">
                  <c:v>-5.1</c:v>
                </c:pt>
                <c:pt idx="30">
                  <c:v>-5</c:v>
                </c:pt>
                <c:pt idx="31">
                  <c:v>-4.9</c:v>
                </c:pt>
                <c:pt idx="32">
                  <c:v>-4.8</c:v>
                </c:pt>
                <c:pt idx="33">
                  <c:v>-4.7</c:v>
                </c:pt>
                <c:pt idx="34">
                  <c:v>-4.6</c:v>
                </c:pt>
                <c:pt idx="35">
                  <c:v>-4.5</c:v>
                </c:pt>
                <c:pt idx="36">
                  <c:v>-4.4</c:v>
                </c:pt>
                <c:pt idx="37">
                  <c:v>-4.3</c:v>
                </c:pt>
                <c:pt idx="38">
                  <c:v>-4.2</c:v>
                </c:pt>
                <c:pt idx="39">
                  <c:v>-4.1</c:v>
                </c:pt>
                <c:pt idx="40">
                  <c:v>-4</c:v>
                </c:pt>
                <c:pt idx="41">
                  <c:v>-3.9</c:v>
                </c:pt>
                <c:pt idx="42">
                  <c:v>-3.8</c:v>
                </c:pt>
                <c:pt idx="43">
                  <c:v>-3.7</c:v>
                </c:pt>
                <c:pt idx="44">
                  <c:v>-3.6</c:v>
                </c:pt>
                <c:pt idx="45">
                  <c:v>-3.5</c:v>
                </c:pt>
                <c:pt idx="46">
                  <c:v>-3.4</c:v>
                </c:pt>
                <c:pt idx="47">
                  <c:v>-3.3</c:v>
                </c:pt>
                <c:pt idx="48">
                  <c:v>-3.2</c:v>
                </c:pt>
                <c:pt idx="49">
                  <c:v>-3.1</c:v>
                </c:pt>
                <c:pt idx="50">
                  <c:v>-3</c:v>
                </c:pt>
                <c:pt idx="51">
                  <c:v>-2.9</c:v>
                </c:pt>
                <c:pt idx="52">
                  <c:v>-2.8</c:v>
                </c:pt>
                <c:pt idx="53">
                  <c:v>-2.7</c:v>
                </c:pt>
                <c:pt idx="54">
                  <c:v>-2.6</c:v>
                </c:pt>
                <c:pt idx="55">
                  <c:v>-2.5</c:v>
                </c:pt>
                <c:pt idx="56">
                  <c:v>-2.4</c:v>
                </c:pt>
                <c:pt idx="57">
                  <c:v>-2.3</c:v>
                </c:pt>
                <c:pt idx="58">
                  <c:v>-2.2</c:v>
                </c:pt>
                <c:pt idx="59">
                  <c:v>-2.1</c:v>
                </c:pt>
                <c:pt idx="60">
                  <c:v>-2</c:v>
                </c:pt>
                <c:pt idx="61">
                  <c:v>-1.9</c:v>
                </c:pt>
                <c:pt idx="62">
                  <c:v>-1.8</c:v>
                </c:pt>
                <c:pt idx="63">
                  <c:v>-1.7</c:v>
                </c:pt>
                <c:pt idx="64">
                  <c:v>-1.6</c:v>
                </c:pt>
                <c:pt idx="65">
                  <c:v>-1.5</c:v>
                </c:pt>
                <c:pt idx="66">
                  <c:v>-1.4</c:v>
                </c:pt>
                <c:pt idx="67">
                  <c:v>-1.3</c:v>
                </c:pt>
                <c:pt idx="68">
                  <c:v>-1.2</c:v>
                </c:pt>
                <c:pt idx="69">
                  <c:v>-1.1</c:v>
                </c:pt>
                <c:pt idx="70">
                  <c:v>-1</c:v>
                </c:pt>
                <c:pt idx="71">
                  <c:v>-0.9</c:v>
                </c:pt>
                <c:pt idx="72">
                  <c:v>-0.8</c:v>
                </c:pt>
                <c:pt idx="73">
                  <c:v>-0.7</c:v>
                </c:pt>
                <c:pt idx="74">
                  <c:v>-0.6</c:v>
                </c:pt>
                <c:pt idx="75">
                  <c:v>-0.5</c:v>
                </c:pt>
                <c:pt idx="76">
                  <c:v>-0.4</c:v>
                </c:pt>
                <c:pt idx="77">
                  <c:v>-0.3</c:v>
                </c:pt>
                <c:pt idx="78">
                  <c:v>-0.2</c:v>
                </c:pt>
                <c:pt idx="79">
                  <c:v>-0.1</c:v>
                </c:pt>
                <c:pt idx="80">
                  <c:v>0</c:v>
                </c:pt>
                <c:pt idx="81">
                  <c:v>0.1</c:v>
                </c:pt>
                <c:pt idx="82">
                  <c:v>0.2</c:v>
                </c:pt>
                <c:pt idx="83">
                  <c:v>0.3</c:v>
                </c:pt>
                <c:pt idx="84">
                  <c:v>0.4</c:v>
                </c:pt>
                <c:pt idx="85">
                  <c:v>0.5</c:v>
                </c:pt>
                <c:pt idx="86">
                  <c:v>0.6</c:v>
                </c:pt>
                <c:pt idx="87">
                  <c:v>0.7</c:v>
                </c:pt>
                <c:pt idx="88">
                  <c:v>0.8</c:v>
                </c:pt>
                <c:pt idx="89">
                  <c:v>0.9</c:v>
                </c:pt>
                <c:pt idx="90">
                  <c:v>1</c:v>
                </c:pt>
                <c:pt idx="91">
                  <c:v>1.1</c:v>
                </c:pt>
                <c:pt idx="92">
                  <c:v>1.2</c:v>
                </c:pt>
                <c:pt idx="93">
                  <c:v>1.3</c:v>
                </c:pt>
                <c:pt idx="94">
                  <c:v>1.4</c:v>
                </c:pt>
                <c:pt idx="95">
                  <c:v>1.5</c:v>
                </c:pt>
                <c:pt idx="96">
                  <c:v>1.6</c:v>
                </c:pt>
                <c:pt idx="97">
                  <c:v>1.7</c:v>
                </c:pt>
                <c:pt idx="98">
                  <c:v>1.8</c:v>
                </c:pt>
                <c:pt idx="99">
                  <c:v>1.9</c:v>
                </c:pt>
                <c:pt idx="100">
                  <c:v>2</c:v>
                </c:pt>
                <c:pt idx="101">
                  <c:v>2.1</c:v>
                </c:pt>
                <c:pt idx="102">
                  <c:v>2.2</c:v>
                </c:pt>
                <c:pt idx="103">
                  <c:v>2.3</c:v>
                </c:pt>
                <c:pt idx="104">
                  <c:v>2.4</c:v>
                </c:pt>
                <c:pt idx="105">
                  <c:v>2.5</c:v>
                </c:pt>
                <c:pt idx="106">
                  <c:v>2.6</c:v>
                </c:pt>
                <c:pt idx="107">
                  <c:v>2.7</c:v>
                </c:pt>
                <c:pt idx="108">
                  <c:v>2.8</c:v>
                </c:pt>
                <c:pt idx="109">
                  <c:v>2.9</c:v>
                </c:pt>
                <c:pt idx="110">
                  <c:v>3</c:v>
                </c:pt>
                <c:pt idx="111">
                  <c:v>3.1</c:v>
                </c:pt>
                <c:pt idx="112">
                  <c:v>3.2</c:v>
                </c:pt>
                <c:pt idx="113">
                  <c:v>3.3</c:v>
                </c:pt>
                <c:pt idx="114">
                  <c:v>3.4</c:v>
                </c:pt>
                <c:pt idx="115">
                  <c:v>3.5</c:v>
                </c:pt>
                <c:pt idx="116">
                  <c:v>3.6</c:v>
                </c:pt>
                <c:pt idx="117">
                  <c:v>3.7</c:v>
                </c:pt>
                <c:pt idx="118">
                  <c:v>3.8</c:v>
                </c:pt>
                <c:pt idx="119">
                  <c:v>3.9</c:v>
                </c:pt>
                <c:pt idx="120">
                  <c:v>4</c:v>
                </c:pt>
              </c:numCache>
            </c:numRef>
          </c:xVal>
          <c:yVal>
            <c:numRef>
              <c:f>Sheet1!$C$2:$C$122</c:f>
              <c:numCache>
                <c:formatCode>General</c:formatCode>
                <c:ptCount val="121"/>
                <c:pt idx="0">
                  <c:v>0.0003351252487598488</c:v>
                </c:pt>
                <c:pt idx="1">
                  <c:v>0.0003703314937058065</c:v>
                </c:pt>
                <c:pt idx="2">
                  <c:v>0.0004092317431637326</c:v>
                </c:pt>
                <c:pt idx="3">
                  <c:v>0.00045221258221389397</c:v>
                </c:pt>
                <c:pt idx="4">
                  <c:v>0.000499700829935408</c:v>
                </c:pt>
                <c:pt idx="5">
                  <c:v>0.0005521676773900951</c:v>
                </c:pt>
                <c:pt idx="6">
                  <c:v>0.0006101332402148798</c:v>
                </c:pt>
                <c:pt idx="7">
                  <c:v>0.0006741715649064119</c:v>
                </c:pt>
                <c:pt idx="8">
                  <c:v>0.0007449161310039429</c:v>
                </c:pt>
                <c:pt idx="9">
                  <c:v>0.0008230658946129349</c:v>
                </c:pt>
                <c:pt idx="10">
                  <c:v>0.0009093919220285079</c:v>
                </c:pt>
                <c:pt idx="11">
                  <c:v>0.0010047446655675877</c:v>
                </c:pt>
                <c:pt idx="12">
                  <c:v>0.0011100619370378677</c:v>
                </c:pt>
                <c:pt idx="13">
                  <c:v>0.001226377637476279</c:v>
                </c:pt>
                <c:pt idx="14">
                  <c:v>0.0013548313047699674</c:v>
                </c:pt>
                <c:pt idx="15">
                  <c:v>0.001496678543387632</c:v>
                </c:pt>
                <c:pt idx="16">
                  <c:v>0.0016533024025191718</c:v>
                </c:pt>
                <c:pt idx="17">
                  <c:v>0.00182622577022011</c:v>
                </c:pt>
                <c:pt idx="18">
                  <c:v>0.002017124851400914</c:v>
                </c:pt>
                <c:pt idx="19">
                  <c:v>0.0022278437963372936</c:v>
                </c:pt>
                <c:pt idx="20">
                  <c:v>0.0024604105433701762</c:v>
                </c:pt>
                <c:pt idx="21">
                  <c:v>0.002717053934078402</c:v>
                </c:pt>
                <c:pt idx="22">
                  <c:v>0.003000222150789354</c:v>
                </c:pt>
                <c:pt idx="23">
                  <c:v>0.0033126025140494254</c:v>
                </c:pt>
                <c:pt idx="24">
                  <c:v>0.0036571426606485783</c:v>
                </c:pt>
                <c:pt idx="25">
                  <c:v>0.004037073099830389</c:v>
                </c:pt>
                <c:pt idx="26">
                  <c:v>0.00445593111504756</c:v>
                </c:pt>
                <c:pt idx="27">
                  <c:v>0.004917585939414067</c:v>
                </c:pt>
                <c:pt idx="28">
                  <c:v>0.005426265082942118</c:v>
                </c:pt>
                <c:pt idx="29">
                  <c:v>0.005986581626496192</c:v>
                </c:pt>
                <c:pt idx="30">
                  <c:v>0.006603562218556359</c:v>
                </c:pt>
                <c:pt idx="31">
                  <c:v>0.007282675413393329</c:v>
                </c:pt>
                <c:pt idx="32">
                  <c:v>0.008029859869762278</c:v>
                </c:pt>
                <c:pt idx="33">
                  <c:v>0.008851551783987024</c:v>
                </c:pt>
                <c:pt idx="34">
                  <c:v>0.009754710756247988</c:v>
                </c:pt>
                <c:pt idx="35">
                  <c:v>0.0107468430796563</c:v>
                </c:pt>
                <c:pt idx="36">
                  <c:v>0.011836021193810142</c:v>
                </c:pt>
                <c:pt idx="37">
                  <c:v>0.013030897753588606</c:v>
                </c:pt>
                <c:pt idx="38">
                  <c:v>0.014340712425955424</c:v>
                </c:pt>
                <c:pt idx="39">
                  <c:v>0.015775289139408764</c:v>
                </c:pt>
                <c:pt idx="40">
                  <c:v>0.017345021070840124</c:v>
                </c:pt>
                <c:pt idx="41">
                  <c:v>0.019060840163778014</c:v>
                </c:pt>
                <c:pt idx="42">
                  <c:v>0.02093416743467035</c:v>
                </c:pt>
                <c:pt idx="43">
                  <c:v>0.02297683974943073</c:v>
                </c:pt>
                <c:pt idx="44">
                  <c:v>0.025201008157257163</c:v>
                </c:pt>
                <c:pt idx="45">
                  <c:v>0.027619002278198898</c:v>
                </c:pt>
                <c:pt idx="46">
                  <c:v>0.03024315469236156</c:v>
                </c:pt>
                <c:pt idx="47">
                  <c:v>0.033085578824032756</c:v>
                </c:pt>
                <c:pt idx="48">
                  <c:v>0.036157893523344746</c:v>
                </c:pt>
                <c:pt idx="49">
                  <c:v>0.03947088751233384</c:v>
                </c:pt>
                <c:pt idx="50">
                  <c:v>0.04303411719592781</c:v>
                </c:pt>
                <c:pt idx="51">
                  <c:v>0.0468554321809147</c:v>
                </c:pt>
                <c:pt idx="52">
                  <c:v>0.05094042436084608</c:v>
                </c:pt>
                <c:pt idx="53">
                  <c:v>0.05529179879555676</c:v>
                </c:pt>
                <c:pt idx="54">
                  <c:v>0.059908668034776</c:v>
                </c:pt>
                <c:pt idx="55">
                  <c:v>0.06478577619527111</c:v>
                </c:pt>
                <c:pt idx="56">
                  <c:v>0.0699126651595682</c:v>
                </c:pt>
                <c:pt idx="57">
                  <c:v>0.07527280281657658</c:v>
                </c:pt>
                <c:pt idx="58">
                  <c:v>0.08084270229521319</c:v>
                </c:pt>
                <c:pt idx="59">
                  <c:v>0.0865910714698312</c:v>
                </c:pt>
                <c:pt idx="60">
                  <c:v>0.09247804322982978</c:v>
                </c:pt>
                <c:pt idx="61">
                  <c:v>0.09845454840135258</c:v>
                </c:pt>
                <c:pt idx="62">
                  <c:v>0.10446190373772844</c:v>
                </c:pt>
                <c:pt idx="63">
                  <c:v>0.11043169563963968</c:v>
                </c:pt>
                <c:pt idx="64">
                  <c:v>0.11628604446433922</c:v>
                </c:pt>
                <c:pt idx="65">
                  <c:v>0.12193833242754278</c:v>
                </c:pt>
                <c:pt idx="66">
                  <c:v>0.12729446812855208</c:v>
                </c:pt>
                <c:pt idx="67">
                  <c:v>0.13225474081696434</c:v>
                </c:pt>
                <c:pt idx="68">
                  <c:v>0.13671628648376521</c:v>
                </c:pt>
                <c:pt idx="69">
                  <c:v>0.14057614561466727</c:v>
                </c:pt>
                <c:pt idx="70">
                  <c:v>0.14373484045721513</c:v>
                </c:pt>
                <c:pt idx="71">
                  <c:v>0.14610034129426763</c:v>
                </c:pt>
                <c:pt idx="72">
                  <c:v>0.1475922318647552</c:v>
                </c:pt>
                <c:pt idx="73">
                  <c:v>0.14814583086672545</c:v>
                </c:pt>
                <c:pt idx="74">
                  <c:v>0.14771598761591953</c:v>
                </c:pt>
                <c:pt idx="75">
                  <c:v>0.14628025352695762</c:v>
                </c:pt>
                <c:pt idx="76">
                  <c:v>0.14384114368486886</c:v>
                </c:pt>
                <c:pt idx="77">
                  <c:v>0.14042724782316104</c:v>
                </c:pt>
                <c:pt idx="78">
                  <c:v>0.13609302657524652</c:v>
                </c:pt>
                <c:pt idx="79">
                  <c:v>0.13091723095717991</c:v>
                </c:pt>
                <c:pt idx="80">
                  <c:v>0.125</c:v>
                </c:pt>
                <c:pt idx="81">
                  <c:v>0.11845880923571206</c:v>
                </c:pt>
                <c:pt idx="82">
                  <c:v>0.1114235461366134</c:v>
                </c:pt>
                <c:pt idx="83">
                  <c:v>0.1040310638675848</c:v>
                </c:pt>
                <c:pt idx="84">
                  <c:v>0.0964196020566603</c:v>
                </c:pt>
                <c:pt idx="85">
                  <c:v>0.08872345867463687</c:v>
                </c:pt>
                <c:pt idx="86">
                  <c:v>0.08106825284073778</c:v>
                </c:pt>
                <c:pt idx="87">
                  <c:v>0.07356704242638361</c:v>
                </c:pt>
                <c:pt idx="88">
                  <c:v>0.06631746465553921</c:v>
                </c:pt>
                <c:pt idx="89">
                  <c:v>0.05939996604799583</c:v>
                </c:pt>
                <c:pt idx="90">
                  <c:v>0.052877092784266715</c:v>
                </c:pt>
                <c:pt idx="91">
                  <c:v>0.0467937339328533</c:v>
                </c:pt>
                <c:pt idx="92">
                  <c:v>0.04117815416304054</c:v>
                </c:pt>
                <c:pt idx="93">
                  <c:v>0.0360436216520959</c:v>
                </c:pt>
                <c:pt idx="94">
                  <c:v>0.03139042936706255</c:v>
                </c:pt>
                <c:pt idx="95">
                  <c:v>0.027208119642790095</c:v>
                </c:pt>
                <c:pt idx="96">
                  <c:v>0.023477747468721773</c:v>
                </c:pt>
                <c:pt idx="97">
                  <c:v>0.020174051326568396</c:v>
                </c:pt>
                <c:pt idx="98">
                  <c:v>0.017267436549356894</c:v>
                </c:pt>
                <c:pt idx="99">
                  <c:v>0.014725710860578405</c:v>
                </c:pt>
                <c:pt idx="100">
                  <c:v>0.012515542173676753</c:v>
                </c:pt>
                <c:pt idx="101">
                  <c:v>0.01060363333079421</c:v>
                </c:pt>
                <c:pt idx="102">
                  <c:v>0.008957626744855531</c:v>
                </c:pt>
                <c:pt idx="103">
                  <c:v>0.007546764174164578</c:v>
                </c:pt>
                <c:pt idx="104">
                  <c:v>0.00634233389228404</c:v>
                </c:pt>
                <c:pt idx="105">
                  <c:v>0.00531794034983703</c:v>
                </c:pt>
                <c:pt idx="106">
                  <c:v>0.004449631140997487</c:v>
                </c:pt>
                <c:pt idx="107">
                  <c:v>0.0037159136883584717</c:v>
                </c:pt>
                <c:pt idx="108">
                  <c:v>0.0030976903955382273</c:v>
                </c:pt>
                <c:pt idx="109">
                  <c:v>0.0025781367557285288</c:v>
                </c:pt>
                <c:pt idx="110">
                  <c:v>0.002142542534984314</c:v>
                </c:pt>
                <c:pt idx="111">
                  <c:v>0.0017781320001964821</c:v>
                </c:pt>
                <c:pt idx="112">
                  <c:v>0.0014738754312266233</c:v>
                </c:pt>
                <c:pt idx="113">
                  <c:v>0.0012203009423337188</c:v>
                </c:pt>
                <c:pt idx="114">
                  <c:v>0.0010093129660000886</c:v>
                </c:pt>
                <c:pt idx="115">
                  <c:v>0.0008340216015366626</c:v>
                </c:pt>
                <c:pt idx="116">
                  <c:v>0.0006885853522808557</c:v>
                </c:pt>
                <c:pt idx="117">
                  <c:v>0.0005680685057497972</c:v>
                </c:pt>
                <c:pt idx="118">
                  <c:v>0.0004683134836797857</c:v>
                </c:pt>
                <c:pt idx="119">
                  <c:v>0.0003858278386778246</c:v>
                </c:pt>
                <c:pt idx="120">
                  <c:v>0.0003176851424509928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8"/>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logit z when the true label is 1</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8"/>
        <c:auto val="1"/>
        <c:lblAlgn val="ctr"/>
        <c:noMultiLvlLbl val="1"/>
        <c:majorUnit val="2"/>
      </c:valAx>
      <c:valAx>
        <c:axId val="2094734552"/>
        <c:scaling>
          <c:orientation val="minMax"/>
          <c:max val="1"/>
          <c:min val="0"/>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|dL/dz|</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0.25"/>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loss</c:v>
                </c:pt>
              </c:strCache>
            </c:strRef>
          </c:tx>
          <c:spPr>
            <a:solidFill>
              <a:srgbClr val="0F7B78"/>
            </a:solidFill>
            <a:ln w="3810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Sheet1!$A$2:$A$68</c:f>
              <c:numCache>
                <c:formatCode>General</c:formatCode>
                <c:ptCount val="67"/>
                <c:pt idx="0">
                  <c:v>-6</c:v>
                </c:pt>
                <c:pt idx="1">
                  <c:v>-5.9</c:v>
                </c:pt>
                <c:pt idx="2">
                  <c:v>-5.8</c:v>
                </c:pt>
                <c:pt idx="3">
                  <c:v>-5.7</c:v>
                </c:pt>
                <c:pt idx="4">
                  <c:v>-5.6</c:v>
                </c:pt>
                <c:pt idx="5">
                  <c:v>-5.5</c:v>
                </c:pt>
                <c:pt idx="6">
                  <c:v>-5.4</c:v>
                </c:pt>
                <c:pt idx="7">
                  <c:v>-5.3</c:v>
                </c:pt>
                <c:pt idx="8">
                  <c:v>-5.2</c:v>
                </c:pt>
                <c:pt idx="9">
                  <c:v>-5.1</c:v>
                </c:pt>
                <c:pt idx="10">
                  <c:v>-5</c:v>
                </c:pt>
                <c:pt idx="11">
                  <c:v>-4.9</c:v>
                </c:pt>
                <c:pt idx="12">
                  <c:v>-4.8</c:v>
                </c:pt>
                <c:pt idx="13">
                  <c:v>-4.7</c:v>
                </c:pt>
                <c:pt idx="14">
                  <c:v>-4.6</c:v>
                </c:pt>
                <c:pt idx="15">
                  <c:v>-4.5</c:v>
                </c:pt>
                <c:pt idx="16">
                  <c:v>-4.4</c:v>
                </c:pt>
                <c:pt idx="17">
                  <c:v>-4.3</c:v>
                </c:pt>
                <c:pt idx="18">
                  <c:v>-4.2</c:v>
                </c:pt>
                <c:pt idx="19">
                  <c:v>-4.1</c:v>
                </c:pt>
                <c:pt idx="20">
                  <c:v>-4</c:v>
                </c:pt>
                <c:pt idx="21">
                  <c:v>-3.9</c:v>
                </c:pt>
                <c:pt idx="22">
                  <c:v>-3.8</c:v>
                </c:pt>
                <c:pt idx="23">
                  <c:v>-3.7</c:v>
                </c:pt>
                <c:pt idx="24">
                  <c:v>-3.6</c:v>
                </c:pt>
                <c:pt idx="25">
                  <c:v>-3.5</c:v>
                </c:pt>
                <c:pt idx="26">
                  <c:v>-3.4</c:v>
                </c:pt>
                <c:pt idx="27">
                  <c:v>-3.3</c:v>
                </c:pt>
                <c:pt idx="28">
                  <c:v>-3.2</c:v>
                </c:pt>
                <c:pt idx="29">
                  <c:v>-3.1</c:v>
                </c:pt>
                <c:pt idx="30">
                  <c:v>-3</c:v>
                </c:pt>
                <c:pt idx="31">
                  <c:v>-2.9</c:v>
                </c:pt>
                <c:pt idx="32">
                  <c:v>-2.8</c:v>
                </c:pt>
                <c:pt idx="33">
                  <c:v>-2.7</c:v>
                </c:pt>
                <c:pt idx="34">
                  <c:v>-2.6</c:v>
                </c:pt>
                <c:pt idx="35">
                  <c:v>-2.5</c:v>
                </c:pt>
                <c:pt idx="36">
                  <c:v>-2.4</c:v>
                </c:pt>
                <c:pt idx="37">
                  <c:v>-2.3</c:v>
                </c:pt>
                <c:pt idx="38">
                  <c:v>-2.2</c:v>
                </c:pt>
                <c:pt idx="39">
                  <c:v>-2.1</c:v>
                </c:pt>
                <c:pt idx="40">
                  <c:v>-2</c:v>
                </c:pt>
                <c:pt idx="41">
                  <c:v>-1.9</c:v>
                </c:pt>
                <c:pt idx="42">
                  <c:v>-1.8</c:v>
                </c:pt>
                <c:pt idx="43">
                  <c:v>-1.7</c:v>
                </c:pt>
                <c:pt idx="44">
                  <c:v>-1.6</c:v>
                </c:pt>
                <c:pt idx="45">
                  <c:v>-1.5</c:v>
                </c:pt>
                <c:pt idx="46">
                  <c:v>-1.4</c:v>
                </c:pt>
                <c:pt idx="47">
                  <c:v>-1.3</c:v>
                </c:pt>
                <c:pt idx="48">
                  <c:v>-1.2</c:v>
                </c:pt>
                <c:pt idx="49">
                  <c:v>-1.1</c:v>
                </c:pt>
                <c:pt idx="50">
                  <c:v>-1</c:v>
                </c:pt>
                <c:pt idx="51">
                  <c:v>-0.9</c:v>
                </c:pt>
                <c:pt idx="52">
                  <c:v>-0.8</c:v>
                </c:pt>
                <c:pt idx="53">
                  <c:v>-0.7</c:v>
                </c:pt>
                <c:pt idx="54">
                  <c:v>-0.6</c:v>
                </c:pt>
                <c:pt idx="55">
                  <c:v>-0.5</c:v>
                </c:pt>
                <c:pt idx="56">
                  <c:v>-0.4</c:v>
                </c:pt>
                <c:pt idx="57">
                  <c:v>-0.3</c:v>
                </c:pt>
                <c:pt idx="58">
                  <c:v>-0.2</c:v>
                </c:pt>
                <c:pt idx="59">
                  <c:v>-0.1</c:v>
                </c:pt>
                <c:pt idx="60">
                  <c:v>0</c:v>
                </c:pt>
                <c:pt idx="61">
                  <c:v>0.1</c:v>
                </c:pt>
                <c:pt idx="62">
                  <c:v>0.2</c:v>
                </c:pt>
                <c:pt idx="63">
                  <c:v>0.3</c:v>
                </c:pt>
                <c:pt idx="64">
                  <c:v>0.4</c:v>
                </c:pt>
                <c:pt idx="65">
                  <c:v>-2</c:v>
                </c:pt>
                <c:pt idx="66">
                  <c:v>-2</c:v>
                </c:pt>
              </c:numCache>
            </c:numRef>
          </c:xVal>
          <c:yVal>
            <c:numRef>
              <c:f>Sheet1!$B$2:$B$68</c:f>
              <c:numCache>
                <c:formatCode>General</c:formatCode>
                <c:ptCount val="67"/>
                <c:pt idx="0">
                  <c:v>2.3</c:v>
                </c:pt>
                <c:pt idx="1">
                  <c:v>2.3</c:v>
                </c:pt>
                <c:pt idx="2">
                  <c:v>2.3</c:v>
                </c:pt>
                <c:pt idx="3">
                  <c:v>2.3</c:v>
                </c:pt>
                <c:pt idx="4">
                  <c:v>2.3</c:v>
                </c:pt>
                <c:pt idx="5">
                  <c:v>2.3</c:v>
                </c:pt>
                <c:pt idx="6">
                  <c:v>2.3</c:v>
                </c:pt>
                <c:pt idx="7">
                  <c:v>2.3</c:v>
                </c:pt>
                <c:pt idx="8">
                  <c:v>2.3</c:v>
                </c:pt>
                <c:pt idx="9">
                  <c:v>2.3</c:v>
                </c:pt>
                <c:pt idx="10">
                  <c:v>2.3</c:v>
                </c:pt>
                <c:pt idx="11">
                  <c:v>2.3</c:v>
                </c:pt>
                <c:pt idx="12">
                  <c:v>2.3</c:v>
                </c:pt>
                <c:pt idx="13">
                  <c:v>2.3</c:v>
                </c:pt>
                <c:pt idx="14">
                  <c:v>2.3</c:v>
                </c:pt>
                <c:pt idx="15">
                  <c:v>2.3</c:v>
                </c:pt>
                <c:pt idx="16">
                  <c:v>2.3</c:v>
                </c:pt>
                <c:pt idx="17">
                  <c:v>2.3</c:v>
                </c:pt>
                <c:pt idx="18">
                  <c:v>2.3</c:v>
                </c:pt>
                <c:pt idx="19">
                  <c:v>2.3</c:v>
                </c:pt>
                <c:pt idx="20">
                  <c:v>2.3</c:v>
                </c:pt>
                <c:pt idx="21">
                  <c:v>2.285462853578628</c:v>
                </c:pt>
                <c:pt idx="22">
                  <c:v>2.2616362405938726</c:v>
                </c:pt>
                <c:pt idx="23">
                  <c:v>2.2323217810059055</c:v>
                </c:pt>
                <c:pt idx="24">
                  <c:v>2.1987574319532546</c:v>
                </c:pt>
                <c:pt idx="25">
                  <c:v>2.1616315197863334</c:v>
                </c:pt>
                <c:pt idx="26">
                  <c:v>2.1213961093005436</c:v>
                </c:pt>
                <c:pt idx="27">
                  <c:v>2.0783761879067373</c:v>
                </c:pt>
                <c:pt idx="28">
                  <c:v>2.0328192611107125</c:v>
                </c:pt>
                <c:pt idx="29">
                  <c:v>1.9849215662106197</c:v>
                </c:pt>
                <c:pt idx="30">
                  <c:v>1.934843391512889</c:v>
                </c:pt>
                <c:pt idx="31">
                  <c:v>1.8827186987784015</c:v>
                </c:pt>
                <c:pt idx="32">
                  <c:v>1.8286615066545</c:v>
                </c:pt>
                <c:pt idx="33">
                  <c:v>1.7727703109635728</c:v>
                </c:pt>
                <c:pt idx="34">
                  <c:v>1.7151312534545888</c:v>
                </c:pt>
                <c:pt idx="35">
                  <c:v>1.6558204592330807</c:v>
                </c:pt>
                <c:pt idx="36">
                  <c:v>1.5949058028588765</c:v>
                </c:pt>
                <c:pt idx="37">
                  <c:v>1.5324482703419469</c:v>
                </c:pt>
                <c:pt idx="38">
                  <c:v>1.4685030282019587</c:v>
                </c:pt>
                <c:pt idx="39">
                  <c:v>1.4031202756067256</c:v>
                </c:pt>
                <c:pt idx="40">
                  <c:v>1.3363459328605134</c:v>
                </c:pt>
                <c:pt idx="41">
                  <c:v>1.2682222043864628</c:v>
                </c:pt>
                <c:pt idx="42">
                  <c:v>1.1987880440409877</c:v>
                </c:pt>
                <c:pt idx="43">
                  <c:v>1.128079543423881</c:v>
                </c:pt>
                <c:pt idx="44">
                  <c:v>1.0561302587576722</c:v>
                </c:pt>
                <c:pt idx="45">
                  <c:v>0.98297148823562</c:v>
                </c:pt>
                <c:pt idx="46">
                  <c:v>0.9086325090442027</c:v>
                </c:pt>
                <c:pt idx="47">
                  <c:v>0.8331407812633003</c:v>
                </c:pt>
                <c:pt idx="48">
                  <c:v>0.756522124339007</c:v>
                </c:pt>
                <c:pt idx="49">
                  <c:v>0.6788008706746289</c:v>
                </c:pt>
                <c:pt idx="50">
                  <c:v>0.6</c:v>
                </c:pt>
                <c:pt idx="51">
                  <c:v>0.6599999999999999</c:v>
                </c:pt>
                <c:pt idx="52">
                  <c:v>0.8399999999999999</c:v>
                </c:pt>
                <c:pt idx="53">
                  <c:v>1.1400000000000001</c:v>
                </c:pt>
                <c:pt idx="54">
                  <c:v>1.56</c:v>
                </c:pt>
                <c:pt idx="55">
                  <c:v>2.1</c:v>
                </c:pt>
                <c:pt idx="56">
                  <c:v>2.7600000000000002</c:v>
                </c:pt>
                <c:pt idx="57">
                  <c:v>3.5399999999999996</c:v>
                </c:pt>
                <c:pt idx="58">
                  <c:v>4.44</c:v>
                </c:pt>
                <c:pt idx="59">
                  <c:v>4.5</c:v>
                </c:pt>
                <c:pt idx="60">
                  <c:v>4.5</c:v>
                </c:pt>
                <c:pt idx="61">
                  <c:v>4.5</c:v>
                </c:pt>
                <c:pt idx="62">
                  <c:v>4.5</c:v>
                </c:pt>
                <c:pt idx="63">
                  <c:v>4.5</c:v>
                </c:pt>
                <c:pt idx="64">
                  <c:v>4.5</c:v>
                </c:pt>
              </c:numCache>
            </c:numRef>
          </c:yVal>
          <c:smooth val="0"/>
        </c:ser>
        <c:ser>
          <c:idx val="1"/>
          <c:order val="1"/>
          <c:tx>
            <c:strRef>
              <c:f>Sheet1!$C$1</c:f>
              <c:strCache>
                <c:ptCount val="1"/>
                <c:pt idx="0">
                  <c:v>pick: 10× below the minimum</c:v>
                </c:pt>
              </c:strCache>
            </c:strRef>
          </c:tx>
          <c:spPr>
            <a:solidFill>
              <a:srgbClr val="D45D27"/>
            </a:solidFill>
            <a:ln w="3810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Sheet1!$A$2:$A$68</c:f>
              <c:numCache>
                <c:formatCode>General</c:formatCode>
                <c:ptCount val="67"/>
                <c:pt idx="0">
                  <c:v>-6</c:v>
                </c:pt>
                <c:pt idx="1">
                  <c:v>-5.9</c:v>
                </c:pt>
                <c:pt idx="2">
                  <c:v>-5.8</c:v>
                </c:pt>
                <c:pt idx="3">
                  <c:v>-5.7</c:v>
                </c:pt>
                <c:pt idx="4">
                  <c:v>-5.6</c:v>
                </c:pt>
                <c:pt idx="5">
                  <c:v>-5.5</c:v>
                </c:pt>
                <c:pt idx="6">
                  <c:v>-5.4</c:v>
                </c:pt>
                <c:pt idx="7">
                  <c:v>-5.3</c:v>
                </c:pt>
                <c:pt idx="8">
                  <c:v>-5.2</c:v>
                </c:pt>
                <c:pt idx="9">
                  <c:v>-5.1</c:v>
                </c:pt>
                <c:pt idx="10">
                  <c:v>-5</c:v>
                </c:pt>
                <c:pt idx="11">
                  <c:v>-4.9</c:v>
                </c:pt>
                <c:pt idx="12">
                  <c:v>-4.8</c:v>
                </c:pt>
                <c:pt idx="13">
                  <c:v>-4.7</c:v>
                </c:pt>
                <c:pt idx="14">
                  <c:v>-4.6</c:v>
                </c:pt>
                <c:pt idx="15">
                  <c:v>-4.5</c:v>
                </c:pt>
                <c:pt idx="16">
                  <c:v>-4.4</c:v>
                </c:pt>
                <c:pt idx="17">
                  <c:v>-4.3</c:v>
                </c:pt>
                <c:pt idx="18">
                  <c:v>-4.2</c:v>
                </c:pt>
                <c:pt idx="19">
                  <c:v>-4.1</c:v>
                </c:pt>
                <c:pt idx="20">
                  <c:v>-4</c:v>
                </c:pt>
                <c:pt idx="21">
                  <c:v>-3.9</c:v>
                </c:pt>
                <c:pt idx="22">
                  <c:v>-3.8</c:v>
                </c:pt>
                <c:pt idx="23">
                  <c:v>-3.7</c:v>
                </c:pt>
                <c:pt idx="24">
                  <c:v>-3.6</c:v>
                </c:pt>
                <c:pt idx="25">
                  <c:v>-3.5</c:v>
                </c:pt>
                <c:pt idx="26">
                  <c:v>-3.4</c:v>
                </c:pt>
                <c:pt idx="27">
                  <c:v>-3.3</c:v>
                </c:pt>
                <c:pt idx="28">
                  <c:v>-3.2</c:v>
                </c:pt>
                <c:pt idx="29">
                  <c:v>-3.1</c:v>
                </c:pt>
                <c:pt idx="30">
                  <c:v>-3</c:v>
                </c:pt>
                <c:pt idx="31">
                  <c:v>-2.9</c:v>
                </c:pt>
                <c:pt idx="32">
                  <c:v>-2.8</c:v>
                </c:pt>
                <c:pt idx="33">
                  <c:v>-2.7</c:v>
                </c:pt>
                <c:pt idx="34">
                  <c:v>-2.6</c:v>
                </c:pt>
                <c:pt idx="35">
                  <c:v>-2.5</c:v>
                </c:pt>
                <c:pt idx="36">
                  <c:v>-2.4</c:v>
                </c:pt>
                <c:pt idx="37">
                  <c:v>-2.3</c:v>
                </c:pt>
                <c:pt idx="38">
                  <c:v>-2.2</c:v>
                </c:pt>
                <c:pt idx="39">
                  <c:v>-2.1</c:v>
                </c:pt>
                <c:pt idx="40">
                  <c:v>-2</c:v>
                </c:pt>
                <c:pt idx="41">
                  <c:v>-1.9</c:v>
                </c:pt>
                <c:pt idx="42">
                  <c:v>-1.8</c:v>
                </c:pt>
                <c:pt idx="43">
                  <c:v>-1.7</c:v>
                </c:pt>
                <c:pt idx="44">
                  <c:v>-1.6</c:v>
                </c:pt>
                <c:pt idx="45">
                  <c:v>-1.5</c:v>
                </c:pt>
                <c:pt idx="46">
                  <c:v>-1.4</c:v>
                </c:pt>
                <c:pt idx="47">
                  <c:v>-1.3</c:v>
                </c:pt>
                <c:pt idx="48">
                  <c:v>-1.2</c:v>
                </c:pt>
                <c:pt idx="49">
                  <c:v>-1.1</c:v>
                </c:pt>
                <c:pt idx="50">
                  <c:v>-1</c:v>
                </c:pt>
                <c:pt idx="51">
                  <c:v>-0.9</c:v>
                </c:pt>
                <c:pt idx="52">
                  <c:v>-0.8</c:v>
                </c:pt>
                <c:pt idx="53">
                  <c:v>-0.7</c:v>
                </c:pt>
                <c:pt idx="54">
                  <c:v>-0.6</c:v>
                </c:pt>
                <c:pt idx="55">
                  <c:v>-0.5</c:v>
                </c:pt>
                <c:pt idx="56">
                  <c:v>-0.4</c:v>
                </c:pt>
                <c:pt idx="57">
                  <c:v>-0.3</c:v>
                </c:pt>
                <c:pt idx="58">
                  <c:v>-0.2</c:v>
                </c:pt>
                <c:pt idx="59">
                  <c:v>-0.1</c:v>
                </c:pt>
                <c:pt idx="60">
                  <c:v>0</c:v>
                </c:pt>
                <c:pt idx="61">
                  <c:v>0.1</c:v>
                </c:pt>
                <c:pt idx="62">
                  <c:v>0.2</c:v>
                </c:pt>
                <c:pt idx="63">
                  <c:v>0.3</c:v>
                </c:pt>
                <c:pt idx="64">
                  <c:v>0.4</c:v>
                </c:pt>
                <c:pt idx="65">
                  <c:v>-2</c:v>
                </c:pt>
                <c:pt idx="66">
                  <c:v>-2</c:v>
                </c:pt>
              </c:numCache>
            </c:numRef>
          </c:xVal>
          <c:yVal>
            <c:numRef>
              <c:f>Sheet1!$C$2:$C$68</c:f>
              <c:numCache>
                <c:formatCode>General</c:formatCode>
                <c:ptCount val="67"/>
                <c:pt idx="65">
                  <c:v>0</c:v>
                </c:pt>
                <c:pt idx="66">
                  <c:v>4.5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0.5"/>
          <c:min val="-6"/>
        </c:scaling>
        <c:delete val="0"/>
        <c:axPos val="b"/>
        <c:title>
          <c:tx>
            <c:rich>
              <a:bodyPr/>
              <a:lstStyle/>
              <a:p>
                <a:pPr>
                  <a:defRPr sz="1400" b="0" i="0" u="none" strike="noStrike">
                    <a:solidFill>
                      <a:srgbClr val="556270"/>
                    </a:solidFill>
                    <a:latin typeface="Arial"/>
                  </a:defRPr>
                </a:pPr>
                <a:r>
                  <a:rPr sz="1400" b="0" i="0" u="none" strike="noStrike">
                    <a:solidFill>
                      <a:srgbClr val="556270"/>
                    </a:solidFill>
                    <a:latin typeface="Arial"/>
                  </a:rPr>
                  <a:t>log₁₀ η (increased exponentially)</a:t>
                </a:r>
              </a:p>
            </c:rich>
          </c:tx>
          <c:layout/>
          <c:overlay val="0"/>
        </c:title>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6"/>
        <c:auto val="1"/>
        <c:lblAlgn val="ctr"/>
        <c:noMultiLvlLbl val="1"/>
        <c:majorUnit val="1"/>
      </c:valAx>
      <c:valAx>
        <c:axId val="2094734552"/>
        <c:scaling>
          <c:orientation val="minMax"/>
          <c:max val="4.5"/>
          <c:min val="0"/>
        </c:scaling>
        <c:delete val="0"/>
        <c:axPos val="l"/>
        <c:majorGridlines>
          <c:spPr>
            <a:ln w="9525" cap="flat">
              <a:solidFill>
                <a:srgbClr val="E1E6EA"/>
              </a:solidFill>
              <a:prstDash val="solid"/>
              <a:round/>
            </a:ln>
          </c:spPr>
        </c:majorGridlines>
        <c:title>
          <c:tx>
            <c:rich>
              <a:bodyPr/>
              <a:lstStyle/>
              <a:p>
                <a:pPr>
                  <a:defRPr sz="1400" b="0" i="0" u="none" strike="noStrike">
                    <a:solidFill>
                      <a:srgbClr val="556270"/>
                    </a:solidFill>
                    <a:latin typeface="Arial"/>
                  </a:defRPr>
                </a:pPr>
                <a:r>
                  <a:rPr sz="1400" b="0" i="0" u="none" strike="noStrike">
                    <a:solidFill>
                      <a:srgbClr val="556270"/>
                    </a:solidFill>
                    <a:latin typeface="Arial"/>
                  </a:rPr>
                  <a:t>training loss</a:t>
                </a:r>
              </a:p>
            </c:rich>
          </c:tx>
          <c:layout/>
          <c:overlay val="0"/>
        </c:title>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majorUnit val="1"/>
      </c:valAx>
      <c:spPr>
        <a:noFill/>
        <a:ln>
          <a:noFill/>
        </a:ln>
        <a:effectLst/>
      </c:spPr>
    </c:plotArea>
    <c:legend>
      <c:legendPos val="b"/>
      <c:overlay val="0"/>
      <c:txPr>
        <a:bodyPr/>
        <a:lstStyle/>
        <a:p>
          <a:pPr>
            <a:defRPr sz="1400">
              <a:solidFill>
                <a:srgbClr val="15232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train</c:v>
                </c:pt>
              </c:strCache>
            </c:strRef>
          </c:tx>
          <c:spPr>
            <a:solidFill>
              <a:srgbClr val="0F7B78"/>
            </a:solidFill>
            <a:ln w="3175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Sheet1!$A$2:$A$42</c:f>
              <c:numCache>
                <c:formatCode>General</c:formatCod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numCache>
            </c:numRef>
          </c:xVal>
          <c:yVal>
            <c:numRef>
              <c:f>Sheet1!$B$2:$B$42</c:f>
              <c:numCache>
                <c:formatCode>General</c:formatCode>
                <c:ptCount val="41"/>
                <c:pt idx="0">
                  <c:v>1.6</c:v>
                </c:pt>
                <c:pt idx="1">
                  <c:v>1.580011103657331</c:v>
                </c:pt>
                <c:pt idx="2">
                  <c:v>1.5616204312226536</c:v>
                </c:pt>
                <c:pt idx="3">
                  <c:v>1.5447001957678512</c:v>
                </c:pt>
                <c:pt idx="4">
                  <c:v>1.5291328276434475</c:v>
                </c:pt>
                <c:pt idx="5">
                  <c:v>1.514810157550111</c:v>
                </c:pt>
                <c:pt idx="6">
                  <c:v>1.5016326649281584</c:v>
                </c:pt>
                <c:pt idx="7">
                  <c:v>1.4895087864425118</c:v>
                </c:pt>
                <c:pt idx="8">
                  <c:v>1.4783542797581481</c:v>
                </c:pt>
                <c:pt idx="9">
                  <c:v>1.4680916381852538</c:v>
                </c:pt>
                <c:pt idx="10">
                  <c:v>1.4586495521267697</c:v>
                </c:pt>
                <c:pt idx="11">
                  <c:v>1.449962413586212</c:v>
                </c:pt>
                <c:pt idx="12">
                  <c:v>1.4419698602928608</c:v>
                </c:pt>
                <c:pt idx="13">
                  <c:v>1.4346163562766856</c:v>
                </c:pt>
                <c:pt idx="14">
                  <c:v>1.4278508059786494</c:v>
                </c:pt>
                <c:pt idx="15">
                  <c:v>1.4216261992150476</c:v>
                </c:pt>
                <c:pt idx="16">
                  <c:v>1.4158992845289318</c:v>
                </c:pt>
                <c:pt idx="17">
                  <c:v>1.4106302686589123</c:v>
                </c:pt>
                <c:pt idx="18">
                  <c:v>1.4057825400371076</c:v>
                </c:pt>
                <c:pt idx="19">
                  <c:v>1.4013224143949774</c:v>
                </c:pt>
                <c:pt idx="20">
                  <c:v>1.3972189007093905</c:v>
                </c:pt>
                <c:pt idx="21">
                  <c:v>1.3934434858626115</c:v>
                </c:pt>
                <c:pt idx="22">
                  <c:v>1.3899699365199236</c:v>
                </c:pt>
                <c:pt idx="23">
                  <c:v>1.3867741168482444</c:v>
                </c:pt>
                <c:pt idx="24">
                  <c:v>1.3838338208091532</c:v>
                </c:pt>
                <c:pt idx="25">
                  <c:v>1.381128617861031</c:v>
                </c:pt>
                <c:pt idx="26">
                  <c:v>1.378639710998172</c:v>
                </c:pt>
                <c:pt idx="27">
                  <c:v>1.3763498061404662</c:v>
                </c:pt>
                <c:pt idx="28">
                  <c:v>1.3742429919661014</c:v>
                </c:pt>
                <c:pt idx="29">
                  <c:v>1.3723046293523151</c:v>
                </c:pt>
                <c:pt idx="30">
                  <c:v>1.3705212496559749</c:v>
                </c:pt>
                <c:pt idx="31">
                  <c:v>1.3688804611271936</c:v>
                </c:pt>
                <c:pt idx="32">
                  <c:v>1.3673708628057004</c:v>
                </c:pt>
                <c:pt idx="33">
                  <c:v>1.365981965301677</c:v>
                </c:pt>
                <c:pt idx="34">
                  <c:v>1.3647041179106076</c:v>
                </c:pt>
                <c:pt idx="35">
                  <c:v>1.3635284415557054</c:v>
                </c:pt>
                <c:pt idx="36">
                  <c:v>1.362446767091966</c:v>
                </c:pt>
                <c:pt idx="37">
                  <c:v>1.3614515785431553</c:v>
                </c:pt>
                <c:pt idx="38">
                  <c:v>1.360535960877319</c:v>
                </c:pt>
                <c:pt idx="39">
                  <c:v>1.3596935519579305</c:v>
                </c:pt>
                <c:pt idx="40">
                  <c:v>1.3589184983368132</c:v>
                </c:pt>
              </c:numCache>
            </c:numRef>
          </c:yVal>
          <c:smooth val="0"/>
        </c:ser>
        <c:ser>
          <c:idx val="1"/>
          <c:order val="1"/>
          <c:tx>
            <c:strRef>
              <c:f>Sheet1!$C$1</c:f>
              <c:strCache>
                <c:ptCount val="1"/>
                <c:pt idx="0">
                  <c:v>validation</c:v>
                </c:pt>
              </c:strCache>
            </c:strRef>
          </c:tx>
          <c:spPr>
            <a:solidFill>
              <a:srgbClr val="D45D27"/>
            </a:solidFill>
            <a:ln w="3175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Sheet1!$A$2:$A$42</c:f>
              <c:numCache>
                <c:formatCode>General</c:formatCod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numCache>
            </c:numRef>
          </c:xVal>
          <c:yVal>
            <c:numRef>
              <c:f>Sheet1!$C$2:$C$42</c:f>
              <c:numCache>
                <c:formatCode>General</c:formatCode>
                <c:ptCount val="41"/>
                <c:pt idx="0">
                  <c:v>1.68</c:v>
                </c:pt>
                <c:pt idx="1">
                  <c:v>1.6608106595110375</c:v>
                </c:pt>
                <c:pt idx="2">
                  <c:v>1.6431556139737473</c:v>
                </c:pt>
                <c:pt idx="3">
                  <c:v>1.626912187937137</c:v>
                </c:pt>
                <c:pt idx="4">
                  <c:v>1.6119675145377093</c:v>
                </c:pt>
                <c:pt idx="5">
                  <c:v>1.5982177512481064</c:v>
                </c:pt>
                <c:pt idx="6">
                  <c:v>1.585567358331032</c:v>
                </c:pt>
                <c:pt idx="7">
                  <c:v>1.5739284349848113</c:v>
                </c:pt>
                <c:pt idx="8">
                  <c:v>1.5632201085678221</c:v>
                </c:pt>
                <c:pt idx="9">
                  <c:v>1.5533679726578435</c:v>
                </c:pt>
                <c:pt idx="10">
                  <c:v>1.5443035700416987</c:v>
                </c:pt>
                <c:pt idx="11">
                  <c:v>1.5359639170427632</c:v>
                </c:pt>
                <c:pt idx="12">
                  <c:v>1.5282910658811462</c:v>
                </c:pt>
                <c:pt idx="13">
                  <c:v>1.521231702025618</c:v>
                </c:pt>
                <c:pt idx="14">
                  <c:v>1.5147367737395034</c:v>
                </c:pt>
                <c:pt idx="15">
                  <c:v>1.5087611512464456</c:v>
                </c:pt>
                <c:pt idx="16">
                  <c:v>1.5032633131477744</c:v>
                </c:pt>
                <c:pt idx="17">
                  <c:v>1.4982050579125556</c:v>
                </c:pt>
                <c:pt idx="18">
                  <c:v>1.493551238435623</c:v>
                </c:pt>
                <c:pt idx="19">
                  <c:v>1.4892695178191782</c:v>
                </c:pt>
                <c:pt idx="20">
                  <c:v>1.4853301446810148</c:v>
                </c:pt>
                <c:pt idx="21">
                  <c:v>1.4817057464281067</c:v>
                </c:pt>
                <c:pt idx="22">
                  <c:v>1.4783711390591265</c:v>
                </c:pt>
                <c:pt idx="23">
                  <c:v>1.4753031521743143</c:v>
                </c:pt>
                <c:pt idx="24">
                  <c:v>1.472480467976787</c:v>
                </c:pt>
                <c:pt idx="25">
                  <c:v>1.4698834731465895</c:v>
                </c:pt>
                <c:pt idx="26">
                  <c:v>1.467494122558245</c:v>
                </c:pt>
                <c:pt idx="27">
                  <c:v>1.4652958138948473</c:v>
                </c:pt>
                <c:pt idx="28">
                  <c:v>1.463273272287457</c:v>
                </c:pt>
                <c:pt idx="29">
                  <c:v>1.4614124441782224</c:v>
                </c:pt>
                <c:pt idx="30">
                  <c:v>1.4597003996697357</c:v>
                </c:pt>
                <c:pt idx="31">
                  <c:v>1.4581252426821056</c:v>
                </c:pt>
                <c:pt idx="32">
                  <c:v>1.4566760282934723</c:v>
                </c:pt>
                <c:pt idx="33">
                  <c:v>1.4553426866896098</c:v>
                </c:pt>
                <c:pt idx="34">
                  <c:v>1.4541159531941832</c:v>
                </c:pt>
                <c:pt idx="35">
                  <c:v>1.452987303893477</c:v>
                </c:pt>
                <c:pt idx="36">
                  <c:v>1.4519488964082874</c:v>
                </c:pt>
                <c:pt idx="37">
                  <c:v>1.450993515401429</c:v>
                </c:pt>
                <c:pt idx="38">
                  <c:v>1.4501145224422263</c:v>
                </c:pt>
                <c:pt idx="39">
                  <c:v>1.4493058098796132</c:v>
                </c:pt>
                <c:pt idx="40">
                  <c:v>1.4485617584033406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0"/>
        </c:scaling>
        <c:delete val="1"/>
        <c:axPos val="b"/>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valAx>
      <c:valAx>
        <c:axId val="2094734552"/>
        <c:scaling>
          <c:orientation val="minMax"/>
          <c:max val="1.8"/>
          <c:min val="0"/>
        </c:scaling>
        <c:delete val="1"/>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train</c:v>
                </c:pt>
              </c:strCache>
            </c:strRef>
          </c:tx>
          <c:spPr>
            <a:solidFill>
              <a:srgbClr val="0F7B78"/>
            </a:solidFill>
            <a:ln w="3175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Sheet1!$A$2:$A$42</c:f>
              <c:numCache>
                <c:formatCode>General</c:formatCod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numCache>
            </c:numRef>
          </c:xVal>
          <c:yVal>
            <c:numRef>
              <c:f>Sheet1!$B$2:$B$42</c:f>
              <c:numCache>
                <c:formatCode>General</c:formatCode>
                <c:ptCount val="41"/>
                <c:pt idx="0">
                  <c:v>1.5999999999999999</c:v>
                </c:pt>
                <c:pt idx="1">
                  <c:v>1.4620142561521412</c:v>
                </c:pt>
                <c:pt idx="2">
                  <c:v>1.3371595919630734</c:v>
                </c:pt>
                <c:pt idx="3">
                  <c:v>1.2241864199884909</c:v>
                </c:pt>
                <c:pt idx="4">
                  <c:v>1.121964066751677</c:v>
                </c:pt>
                <c:pt idx="5">
                  <c:v>1.0294694565833185</c:v>
                </c:pt>
                <c:pt idx="6">
                  <c:v>0.9457768723363384</c:v>
                </c:pt>
                <c:pt idx="7">
                  <c:v>0.8700486904975439</c:v>
                </c:pt>
                <c:pt idx="8">
                  <c:v>0.8015269979699713</c:v>
                </c:pt>
                <c:pt idx="9">
                  <c:v>0.7395260066238687</c:v>
                </c:pt>
                <c:pt idx="10">
                  <c:v>0.6834251896985913</c:v>
                </c:pt>
                <c:pt idx="11">
                  <c:v>0.6326630713622152</c:v>
                </c:pt>
                <c:pt idx="12">
                  <c:v>0.586731607272693</c:v>
                </c:pt>
                <c:pt idx="13">
                  <c:v>0.5451710998993182</c:v>
                </c:pt>
                <c:pt idx="14">
                  <c:v>0.5075655977153294</c:v>
                </c:pt>
                <c:pt idx="15">
                  <c:v>0.47353873221522325</c:v>
                </c:pt>
                <c:pt idx="16">
                  <c:v>0.44274995109225024</c:v>
                </c:pt>
                <c:pt idx="17">
                  <c:v>0.41489110987646527</c:v>
                </c:pt>
                <c:pt idx="18">
                  <c:v>0.3896833879213004</c:v>
                </c:pt>
                <c:pt idx="19">
                  <c:v>0.36687449787282084</c:v>
                </c:pt>
                <c:pt idx="20">
                  <c:v>0.3462361606930884</c:v>
                </c:pt>
                <c:pt idx="21">
                  <c:v>0.32756182096682374</c:v>
                </c:pt>
                <c:pt idx="22">
                  <c:v>0.3106645796253841</c:v>
                </c:pt>
                <c:pt idx="23">
                  <c:v>0.29537532339806544</c:v>
                </c:pt>
                <c:pt idx="24">
                  <c:v>0.2815410322696481</c:v>
                </c:pt>
                <c:pt idx="25">
                  <c:v>0.26902324800465327</c:v>
                </c:pt>
                <c:pt idx="26">
                  <c:v>0.2576966884107841</c:v>
                </c:pt>
                <c:pt idx="27">
                  <c:v>0.24744799347263713</c:v>
                </c:pt>
                <c:pt idx="28">
                  <c:v>0.23817459080656606</c:v>
                </c:pt>
                <c:pt idx="29">
                  <c:v>0.2297836690817905</c:v>
                </c:pt>
                <c:pt idx="30">
                  <c:v>0.2221912491334027</c:v>
                </c:pt>
                <c:pt idx="31">
                  <c:v>0.2153213434706588</c:v>
                </c:pt>
                <c:pt idx="32">
                  <c:v>0.20910519576863099</c:v>
                </c:pt>
                <c:pt idx="33">
                  <c:v>0.20348059273179803</c:v>
                </c:pt>
                <c:pt idx="34">
                  <c:v>0.1983912414424728</c:v>
                </c:pt>
                <c:pt idx="35">
                  <c:v>0.19378620596236182</c:v>
                </c:pt>
                <c:pt idx="36">
                  <c:v>0.1896193975485742</c:v>
                </c:pt>
                <c:pt idx="37">
                  <c:v>0.18584911338199211</c:v>
                </c:pt>
                <c:pt idx="38">
                  <c:v>0.1824376191914401</c:v>
                </c:pt>
                <c:pt idx="39">
                  <c:v>0.17935077159641635</c:v>
                </c:pt>
                <c:pt idx="40">
                  <c:v>0.17655767638866454</c:v>
                </c:pt>
              </c:numCache>
            </c:numRef>
          </c:yVal>
          <c:smooth val="0"/>
        </c:ser>
        <c:ser>
          <c:idx val="1"/>
          <c:order val="1"/>
          <c:tx>
            <c:strRef>
              <c:f>Sheet1!$C$1</c:f>
              <c:strCache>
                <c:ptCount val="1"/>
                <c:pt idx="0">
                  <c:v>validation</c:v>
                </c:pt>
              </c:strCache>
            </c:strRef>
          </c:tx>
          <c:spPr>
            <a:solidFill>
              <a:srgbClr val="D45D27"/>
            </a:solidFill>
            <a:ln w="3175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Sheet1!$A$2:$A$42</c:f>
              <c:numCache>
                <c:formatCode>General</c:formatCod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numCache>
            </c:numRef>
          </c:xVal>
          <c:yVal>
            <c:numRef>
              <c:f>Sheet1!$C$2:$C$42</c:f>
              <c:numCache>
                <c:formatCode>General</c:formatCode>
                <c:ptCount val="41"/>
                <c:pt idx="0">
                  <c:v>1.7</c:v>
                </c:pt>
                <c:pt idx="1">
                  <c:v>1.5667723852503432</c:v>
                </c:pt>
                <c:pt idx="2">
                  <c:v>1.4462230543091745</c:v>
                </c:pt>
                <c:pt idx="3">
                  <c:v>1.337145508954405</c:v>
                </c:pt>
                <c:pt idx="4">
                  <c:v>1.238448064449895</c:v>
                </c:pt>
                <c:pt idx="5">
                  <c:v>1.1491429235976867</c:v>
                </c:pt>
                <c:pt idx="6">
                  <c:v>1.0683362905316371</c:v>
                </c:pt>
                <c:pt idx="7">
                  <c:v>0.9952194253079734</c:v>
                </c:pt>
                <c:pt idx="8">
                  <c:v>0.9290605497641102</c:v>
                </c:pt>
                <c:pt idx="9">
                  <c:v>0.8691975236368388</c:v>
                </c:pt>
                <c:pt idx="10">
                  <c:v>0.8150312176400192</c:v>
                </c:pt>
                <c:pt idx="11">
                  <c:v>0.7660195171773112</c:v>
                </c:pt>
                <c:pt idx="12">
                  <c:v>0.7216718966770829</c:v>
                </c:pt>
                <c:pt idx="13">
                  <c:v>0.6815445102476176</c:v>
                </c:pt>
                <c:pt idx="14">
                  <c:v>0.645235749518249</c:v>
                </c:pt>
                <c:pt idx="15">
                  <c:v>0.6123822242078016</c:v>
                </c:pt>
                <c:pt idx="16">
                  <c:v>0.5826551251925175</c:v>
                </c:pt>
                <c:pt idx="17">
                  <c:v>0.5557569336738285</c:v>
                </c:pt>
                <c:pt idx="18">
                  <c:v>0.5314184435102212</c:v>
                </c:pt>
                <c:pt idx="19">
                  <c:v>0.509396066911689</c:v>
                </c:pt>
                <c:pt idx="20">
                  <c:v>0.48946939653125776</c:v>
                </c:pt>
                <c:pt idx="21">
                  <c:v>0.4714389995541747</c:v>
                </c:pt>
                <c:pt idx="22">
                  <c:v>0.4551244217072674</c:v>
                </c:pt>
                <c:pt idx="23">
                  <c:v>0.4403623812119252</c:v>
                </c:pt>
                <c:pt idx="24">
                  <c:v>0.4270051346051775</c:v>
                </c:pt>
                <c:pt idx="25">
                  <c:v>0.41491899807345833</c:v>
                </c:pt>
                <c:pt idx="26">
                  <c:v>0.4039830095000674</c:v>
                </c:pt>
                <c:pt idx="27">
                  <c:v>0.39408771783564966</c:v>
                </c:pt>
                <c:pt idx="28">
                  <c:v>0.38513408767530516</c:v>
                </c:pt>
                <c:pt idx="29">
                  <c:v>0.3770325080789701</c:v>
                </c:pt>
                <c:pt idx="30">
                  <c:v>0.3697018957150095</c:v>
                </c:pt>
                <c:pt idx="31">
                  <c:v>0.3630688833509809</c:v>
                </c:pt>
                <c:pt idx="32">
                  <c:v>0.35706708556971267</c:v>
                </c:pt>
                <c:pt idx="33">
                  <c:v>0.351636434361736</c:v>
                </c:pt>
                <c:pt idx="34">
                  <c:v>0.3467225779444565</c:v>
                </c:pt>
                <c:pt idx="35">
                  <c:v>0.3422763367912459</c:v>
                </c:pt>
                <c:pt idx="36">
                  <c:v>0.33825321142620957</c:v>
                </c:pt>
                <c:pt idx="37">
                  <c:v>0.3346129370584751</c:v>
                </c:pt>
                <c:pt idx="38">
                  <c:v>0.3313190805986318</c:v>
                </c:pt>
                <c:pt idx="39">
                  <c:v>0.32833867602412614</c:v>
                </c:pt>
                <c:pt idx="40">
                  <c:v>0.32564189444422786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0"/>
        </c:scaling>
        <c:delete val="1"/>
        <c:axPos val="b"/>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valAx>
      <c:valAx>
        <c:axId val="2094734552"/>
        <c:scaling>
          <c:orientation val="minMax"/>
          <c:max val="1.8"/>
          <c:min val="0"/>
        </c:scaling>
        <c:delete val="1"/>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train</c:v>
                </c:pt>
              </c:strCache>
            </c:strRef>
          </c:tx>
          <c:spPr>
            <a:solidFill>
              <a:srgbClr val="0F7B78"/>
            </a:solidFill>
            <a:ln w="3175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Sheet1!$A$2:$A$42</c:f>
              <c:numCache>
                <c:formatCode>General</c:formatCod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numCache>
            </c:numRef>
          </c:xVal>
          <c:yVal>
            <c:numRef>
              <c:f>Sheet1!$B$2:$B$42</c:f>
              <c:numCache>
                <c:formatCode>General</c:formatCode>
                <c:ptCount val="41"/>
                <c:pt idx="0">
                  <c:v>1.6</c:v>
                </c:pt>
                <c:pt idx="1">
                  <c:v>1.417870199006123</c:v>
                </c:pt>
                <c:pt idx="2">
                  <c:v>1.2571412137606777</c:v>
                </c:pt>
                <c:pt idx="3">
                  <c:v>1.115298382126007</c:v>
                </c:pt>
                <c:pt idx="4">
                  <c:v>0.9901225225545819</c:v>
                </c:pt>
                <c:pt idx="5">
                  <c:v>0.879655214204435</c:v>
                </c:pt>
                <c:pt idx="6">
                  <c:v>0.7821681567485729</c:v>
                </c:pt>
                <c:pt idx="7">
                  <c:v>0.6961361305016881</c:v>
                </c:pt>
                <c:pt idx="8">
                  <c:v>0.6202131338157357</c:v>
                </c:pt>
                <c:pt idx="9">
                  <c:v>0.5532113244054422</c:v>
                </c:pt>
                <c:pt idx="10">
                  <c:v>0.49408243513329464</c:v>
                </c:pt>
                <c:pt idx="11">
                  <c:v>0.44190137349735703</c:v>
                </c:pt>
                <c:pt idx="12">
                  <c:v>0.3958517482300662</c:v>
                </c:pt>
                <c:pt idx="13">
                  <c:v>0.3552130965665008</c:v>
                </c:pt>
                <c:pt idx="14">
                  <c:v>0.3193496123481899</c:v>
                </c:pt>
                <c:pt idx="15">
                  <c:v>0.28770019860963914</c:v>
                </c:pt>
                <c:pt idx="16">
                  <c:v>0.2597696890167497</c:v>
                </c:pt>
                <c:pt idx="17">
                  <c:v>0.23512110081341542</c:v>
                </c:pt>
                <c:pt idx="18">
                  <c:v>0.2133687980708897</c:v>
                </c:pt>
                <c:pt idx="19">
                  <c:v>0.1941724582765284</c:v>
                </c:pt>
                <c:pt idx="20">
                  <c:v>0.17723174786704315</c:v>
                </c:pt>
                <c:pt idx="21">
                  <c:v>0.16228162340308977</c:v>
                </c:pt>
                <c:pt idx="22">
                  <c:v>0.14908818487039674</c:v>
                </c:pt>
                <c:pt idx="23">
                  <c:v>0.1374450162308549</c:v>
                </c:pt>
                <c:pt idx="24">
                  <c:v>0.12716995597018912</c:v>
                </c:pt>
                <c:pt idx="25">
                  <c:v>0.1181022471162815</c:v>
                </c:pt>
                <c:pt idx="26">
                  <c:v>0.11010002213916911</c:v>
                </c:pt>
                <c:pt idx="27">
                  <c:v>0.10303808338308235</c:v>
                </c:pt>
                <c:pt idx="28">
                  <c:v>0.09680594430459369</c:v>
                </c:pt>
                <c:pt idx="29">
                  <c:v>0.091306100871351</c:v>
                </c:pt>
                <c:pt idx="30">
                  <c:v>0.08645250607681412</c:v>
                </c:pt>
                <c:pt idx="31">
                  <c:v>0.0821692237042346</c:v>
                </c:pt>
                <c:pt idx="32">
                  <c:v>0.07838924027753798</c:v>
                </c:pt>
                <c:pt idx="33">
                  <c:v>0.07505341661165711</c:v>
                </c:pt>
                <c:pt idx="34">
                  <c:v>0.07210956255894885</c:v>
                </c:pt>
                <c:pt idx="35">
                  <c:v>0.0695116204757727</c:v>
                </c:pt>
                <c:pt idx="36">
                  <c:v>0.06721894463427558</c:v>
                </c:pt>
                <c:pt idx="37">
                  <c:v>0.06519566530552384</c:v>
                </c:pt>
                <c:pt idx="38">
                  <c:v>0.063410127564837</c:v>
                </c:pt>
                <c:pt idx="39">
                  <c:v>0.06183439603923294</c:v>
                </c:pt>
                <c:pt idx="40">
                  <c:v>0.06044381784858248</c:v>
                </c:pt>
              </c:numCache>
            </c:numRef>
          </c:yVal>
          <c:smooth val="0"/>
        </c:ser>
        <c:ser>
          <c:idx val="1"/>
          <c:order val="1"/>
          <c:tx>
            <c:strRef>
              <c:f>Sheet1!$C$1</c:f>
              <c:strCache>
                <c:ptCount val="1"/>
                <c:pt idx="0">
                  <c:v>validation</c:v>
                </c:pt>
              </c:strCache>
            </c:strRef>
          </c:tx>
          <c:spPr>
            <a:solidFill>
              <a:srgbClr val="D45D27"/>
            </a:solidFill>
            <a:ln w="3175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Sheet1!$A$2:$A$42</c:f>
              <c:numCache>
                <c:formatCode>General</c:formatCod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numCache>
            </c:numRef>
          </c:xVal>
          <c:yVal>
            <c:numRef>
              <c:f>Sheet1!$C$2:$C$42</c:f>
              <c:numCache>
                <c:formatCode>General</c:formatCode>
                <c:ptCount val="41"/>
                <c:pt idx="0">
                  <c:v>1.7</c:v>
                </c:pt>
                <c:pt idx="1">
                  <c:v>1.5531211282307442</c:v>
                </c:pt>
                <c:pt idx="2">
                  <c:v>1.423500978839256</c:v>
                </c:pt>
                <c:pt idx="3">
                  <c:v>1.3091115984887152</c:v>
                </c:pt>
                <c:pt idx="4">
                  <c:v>1.2081633246407917</c:v>
                </c:pt>
                <c:pt idx="5">
                  <c:v>1.1190767856487378</c:v>
                </c:pt>
                <c:pt idx="6">
                  <c:v>1.0404581909262685</c:v>
                </c:pt>
                <c:pt idx="7">
                  <c:v>0.9710775245981356</c:v>
                </c:pt>
                <c:pt idx="8">
                  <c:v>0.909849301464303</c:v>
                </c:pt>
                <c:pt idx="9">
                  <c:v>0.8558155841979371</c:v>
                </c:pt>
                <c:pt idx="10">
                  <c:v>0.8081309960752376</c:v>
                </c:pt>
                <c:pt idx="11">
                  <c:v>0.7660494947559331</c:v>
                </c:pt>
                <c:pt idx="12">
                  <c:v>0.7289127001855373</c:v>
                </c:pt>
                <c:pt idx="13">
                  <c:v>0.7136395940052426</c:v>
                </c:pt>
                <c:pt idx="14">
                  <c:v>0.7022174293130564</c:v>
                </c:pt>
                <c:pt idx="15">
                  <c:v>0.6941937085561606</c:v>
                </c:pt>
                <c:pt idx="16">
                  <c:v>0.6891691040457659</c:v>
                </c:pt>
                <c:pt idx="17">
                  <c:v>0.6867912103333996</c:v>
                </c:pt>
                <c:pt idx="18">
                  <c:v>0.6867490307023304</c:v>
                </c:pt>
                <c:pt idx="19">
                  <c:v>0.6887681115133294</c:v>
                </c:pt>
                <c:pt idx="20">
                  <c:v>0.6926062482798735</c:v>
                </c:pt>
                <c:pt idx="21">
                  <c:v>0.6980496962928144</c:v>
                </c:pt>
                <c:pt idx="22">
                  <c:v>0.7049098265083845</c:v>
                </c:pt>
                <c:pt idx="23">
                  <c:v>0.7130201743797216</c:v>
                </c:pt>
                <c:pt idx="24">
                  <c:v>0.7222338354598299</c:v>
                </c:pt>
                <c:pt idx="25">
                  <c:v>0.7324211670292593</c:v>
                </c:pt>
                <c:pt idx="26">
                  <c:v>0.7434677597896525</c:v>
                </c:pt>
                <c:pt idx="27">
                  <c:v>0.7552726478895826</c:v>
                </c:pt>
                <c:pt idx="28">
                  <c:v>0.7677467292778981</c:v>
                </c:pt>
                <c:pt idx="29">
                  <c:v>0.7808113716704443</c:v>
                </c:pt>
                <c:pt idx="30">
                  <c:v>0.7943971823200114</c:v>
                </c:pt>
                <c:pt idx="31">
                  <c:v>0.8084429223421248</c:v>
                </c:pt>
                <c:pt idx="32">
                  <c:v>0.8228945486109178</c:v>
                </c:pt>
                <c:pt idx="33">
                  <c:v>0.8377043682352074</c:v>
                </c:pt>
                <c:pt idx="34">
                  <c:v>0.8528302923862491</c:v>
                </c:pt>
                <c:pt idx="35">
                  <c:v>0.8682351778030426</c:v>
                </c:pt>
                <c:pt idx="36">
                  <c:v>0.8838862456728029</c:v>
                </c:pt>
                <c:pt idx="37">
                  <c:v>0.8997545687947773</c:v>
                </c:pt>
                <c:pt idx="38">
                  <c:v>0.9158146190039009</c:v>
                </c:pt>
                <c:pt idx="39">
                  <c:v>0.932043867773575</c:v>
                </c:pt>
                <c:pt idx="40">
                  <c:v>0.9484224337488569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0"/>
        </c:scaling>
        <c:delete val="1"/>
        <c:axPos val="b"/>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valAx>
      <c:valAx>
        <c:axId val="2094734552"/>
        <c:scaling>
          <c:orientation val="minMax"/>
          <c:max val="1.8"/>
          <c:min val="0"/>
        </c:scaling>
        <c:delete val="1"/>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train</c:v>
                </c:pt>
              </c:strCache>
            </c:strRef>
          </c:tx>
          <c:spPr>
            <a:solidFill>
              <a:srgbClr val="0F7B78"/>
            </a:solidFill>
            <a:ln w="31750" cap="flat">
              <a:solidFill>
                <a:srgbClr val="0F7B78"/>
              </a:solidFill>
              <a:prstDash val="solid"/>
              <a:round/>
            </a:ln>
            <a:effectLst/>
          </c:spPr>
          <c:marker>
            <c:symbol val="none"/>
            <c:size val="7"/>
            <c:spPr>
              <a:solidFill>
                <a:srgbClr val="0F7B78"/>
              </a:solidFill>
              <a:ln w="9525" cap="flat">
                <a:solidFill>
                  <a:srgbClr val="0F7B78"/>
                </a:solidFill>
                <a:prstDash val="solid"/>
                <a:round/>
              </a:ln>
              <a:effectLst/>
            </c:spPr>
          </c:marker>
          <c:xVal>
            <c:numRef>
              <c:f>Sheet1!$A$2:$A$42</c:f>
              <c:numCache>
                <c:formatCode>General</c:formatCod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numCache>
            </c:numRef>
          </c:xVal>
          <c:yVal>
            <c:numRef>
              <c:f>Sheet1!$B$2:$B$42</c:f>
              <c:numCache>
                <c:formatCode>General</c:formatCode>
                <c:ptCount val="41"/>
                <c:pt idx="0">
                  <c:v>1.62</c:v>
                </c:pt>
                <c:pt idx="1">
                  <c:v>1.62</c:v>
                </c:pt>
                <c:pt idx="2">
                  <c:v>1.62</c:v>
                </c:pt>
                <c:pt idx="3">
                  <c:v>1.62</c:v>
                </c:pt>
                <c:pt idx="4">
                  <c:v>1.62</c:v>
                </c:pt>
                <c:pt idx="5">
                  <c:v>1.62</c:v>
                </c:pt>
                <c:pt idx="6">
                  <c:v>1.62</c:v>
                </c:pt>
                <c:pt idx="7">
                  <c:v>1.62</c:v>
                </c:pt>
                <c:pt idx="8">
                  <c:v>1.62</c:v>
                </c:pt>
                <c:pt idx="9">
                  <c:v>1.62</c:v>
                </c:pt>
                <c:pt idx="10">
                  <c:v>1.62</c:v>
                </c:pt>
                <c:pt idx="11">
                  <c:v>1.62</c:v>
                </c:pt>
                <c:pt idx="12">
                  <c:v>1.62</c:v>
                </c:pt>
                <c:pt idx="13">
                  <c:v>1.62</c:v>
                </c:pt>
                <c:pt idx="14">
                  <c:v>1.62</c:v>
                </c:pt>
                <c:pt idx="15">
                  <c:v>1.62</c:v>
                </c:pt>
                <c:pt idx="16">
                  <c:v>1.62</c:v>
                </c:pt>
                <c:pt idx="17">
                  <c:v>1.62</c:v>
                </c:pt>
                <c:pt idx="18">
                  <c:v>1.62</c:v>
                </c:pt>
                <c:pt idx="19">
                  <c:v>1.62</c:v>
                </c:pt>
                <c:pt idx="20">
                  <c:v>1.62</c:v>
                </c:pt>
                <c:pt idx="21">
                  <c:v>1.62</c:v>
                </c:pt>
                <c:pt idx="22">
                  <c:v>1.62</c:v>
                </c:pt>
                <c:pt idx="23">
                  <c:v>1.62</c:v>
                </c:pt>
                <c:pt idx="24">
                  <c:v>1.62</c:v>
                </c:pt>
                <c:pt idx="25">
                  <c:v>1.62</c:v>
                </c:pt>
                <c:pt idx="26">
                  <c:v>1.62</c:v>
                </c:pt>
                <c:pt idx="27">
                  <c:v>1.62</c:v>
                </c:pt>
                <c:pt idx="28">
                  <c:v>1.62</c:v>
                </c:pt>
                <c:pt idx="29">
                  <c:v>1.62</c:v>
                </c:pt>
                <c:pt idx="30">
                  <c:v>1.62</c:v>
                </c:pt>
                <c:pt idx="31">
                  <c:v>1.62</c:v>
                </c:pt>
                <c:pt idx="32">
                  <c:v>1.62</c:v>
                </c:pt>
                <c:pt idx="33">
                  <c:v>1.62</c:v>
                </c:pt>
                <c:pt idx="34">
                  <c:v>1.62</c:v>
                </c:pt>
                <c:pt idx="35">
                  <c:v>1.62</c:v>
                </c:pt>
                <c:pt idx="36">
                  <c:v>1.62</c:v>
                </c:pt>
                <c:pt idx="37">
                  <c:v>1.62</c:v>
                </c:pt>
                <c:pt idx="38">
                  <c:v>1.62</c:v>
                </c:pt>
                <c:pt idx="39">
                  <c:v>1.62</c:v>
                </c:pt>
                <c:pt idx="40">
                  <c:v>1.62</c:v>
                </c:pt>
              </c:numCache>
            </c:numRef>
          </c:yVal>
          <c:smooth val="0"/>
        </c:ser>
        <c:ser>
          <c:idx val="1"/>
          <c:order val="1"/>
          <c:tx>
            <c:strRef>
              <c:f>Sheet1!$C$1</c:f>
              <c:strCache>
                <c:ptCount val="1"/>
                <c:pt idx="0">
                  <c:v>validation</c:v>
                </c:pt>
              </c:strCache>
            </c:strRef>
          </c:tx>
          <c:spPr>
            <a:solidFill>
              <a:srgbClr val="D45D27"/>
            </a:solidFill>
            <a:ln w="31750" cap="flat">
              <a:solidFill>
                <a:srgbClr val="D45D27"/>
              </a:solidFill>
              <a:prstDash val="solid"/>
              <a:round/>
            </a:ln>
            <a:effectLst/>
          </c:spPr>
          <c:marker>
            <c:symbol val="none"/>
            <c:size val="7"/>
            <c:spPr>
              <a:solidFill>
                <a:srgbClr val="D45D27"/>
              </a:solidFill>
              <a:ln w="9525" cap="flat">
                <a:solidFill>
                  <a:srgbClr val="D45D27"/>
                </a:solidFill>
                <a:prstDash val="solid"/>
                <a:round/>
              </a:ln>
              <a:effectLst/>
            </c:spPr>
          </c:marker>
          <c:xVal>
            <c:numRef>
              <c:f>Sheet1!$A$2:$A$42</c:f>
              <c:numCache>
                <c:formatCode>General</c:formatCode>
                <c:ptCount val="4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numCache>
            </c:numRef>
          </c:xVal>
          <c:yVal>
            <c:numRef>
              <c:f>Sheet1!$C$2:$C$42</c:f>
              <c:numCache>
                <c:formatCode>General</c:formatCode>
                <c:ptCount val="41"/>
                <c:pt idx="0">
                  <c:v>1.66</c:v>
                </c:pt>
                <c:pt idx="1">
                  <c:v>1.66</c:v>
                </c:pt>
                <c:pt idx="2">
                  <c:v>1.66</c:v>
                </c:pt>
                <c:pt idx="3">
                  <c:v>1.66</c:v>
                </c:pt>
                <c:pt idx="4">
                  <c:v>1.66</c:v>
                </c:pt>
                <c:pt idx="5">
                  <c:v>1.66</c:v>
                </c:pt>
                <c:pt idx="6">
                  <c:v>1.66</c:v>
                </c:pt>
                <c:pt idx="7">
                  <c:v>1.66</c:v>
                </c:pt>
                <c:pt idx="8">
                  <c:v>1.66</c:v>
                </c:pt>
                <c:pt idx="9">
                  <c:v>1.66</c:v>
                </c:pt>
                <c:pt idx="10">
                  <c:v>1.66</c:v>
                </c:pt>
                <c:pt idx="11">
                  <c:v>1.66</c:v>
                </c:pt>
                <c:pt idx="12">
                  <c:v>1.66</c:v>
                </c:pt>
                <c:pt idx="13">
                  <c:v>1.66</c:v>
                </c:pt>
                <c:pt idx="14">
                  <c:v>1.66</c:v>
                </c:pt>
                <c:pt idx="15">
                  <c:v>1.66</c:v>
                </c:pt>
                <c:pt idx="16">
                  <c:v>1.66</c:v>
                </c:pt>
                <c:pt idx="17">
                  <c:v>1.66</c:v>
                </c:pt>
                <c:pt idx="18">
                  <c:v>1.66</c:v>
                </c:pt>
                <c:pt idx="19">
                  <c:v>1.66</c:v>
                </c:pt>
                <c:pt idx="20">
                  <c:v>1.66</c:v>
                </c:pt>
                <c:pt idx="21">
                  <c:v>1.66</c:v>
                </c:pt>
                <c:pt idx="22">
                  <c:v>1.66</c:v>
                </c:pt>
                <c:pt idx="23">
                  <c:v>1.66</c:v>
                </c:pt>
                <c:pt idx="24">
                  <c:v>1.66</c:v>
                </c:pt>
                <c:pt idx="25">
                  <c:v>1.66</c:v>
                </c:pt>
                <c:pt idx="26">
                  <c:v>1.66</c:v>
                </c:pt>
                <c:pt idx="27">
                  <c:v>1.66</c:v>
                </c:pt>
                <c:pt idx="28">
                  <c:v>1.66</c:v>
                </c:pt>
                <c:pt idx="29">
                  <c:v>1.66</c:v>
                </c:pt>
                <c:pt idx="30">
                  <c:v>1.66</c:v>
                </c:pt>
                <c:pt idx="31">
                  <c:v>1.66</c:v>
                </c:pt>
                <c:pt idx="32">
                  <c:v>1.66</c:v>
                </c:pt>
                <c:pt idx="33">
                  <c:v>1.66</c:v>
                </c:pt>
                <c:pt idx="34">
                  <c:v>1.66</c:v>
                </c:pt>
                <c:pt idx="35">
                  <c:v>1.66</c:v>
                </c:pt>
                <c:pt idx="36">
                  <c:v>1.66</c:v>
                </c:pt>
                <c:pt idx="37">
                  <c:v>1.66</c:v>
                </c:pt>
                <c:pt idx="38">
                  <c:v>1.66</c:v>
                </c:pt>
                <c:pt idx="39">
                  <c:v>1.66</c:v>
                </c:pt>
                <c:pt idx="40">
                  <c:v>1.66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
          <c:min val="0"/>
        </c:scaling>
        <c:delete val="1"/>
        <c:axPos val="b"/>
        <c:numFmt formatCode="General" sourceLinked="1"/>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2"/>
        <c:crossesAt val="autoZero"/>
        <c:auto val="1"/>
        <c:lblAlgn val="ctr"/>
        <c:noMultiLvlLbl val="1"/>
      </c:valAx>
      <c:valAx>
        <c:axId val="2094734552"/>
        <c:scaling>
          <c:orientation val="minMax"/>
          <c:max val="1.8"/>
          <c:min val="0"/>
        </c:scaling>
        <c:delete val="1"/>
        <c:axPos val="l"/>
        <c:majorGridlines>
          <c:spPr>
            <a:ln w="9525" cap="flat">
              <a:solidFill>
                <a:srgbClr val="E1E6EA"/>
              </a:solidFill>
              <a:prstDash val="solid"/>
              <a:round/>
            </a:ln>
          </c:spPr>
        </c:majorGridlines>
        <c:numFmt formatCode="General" sourceLinked="0"/>
        <c:majorTickMark val="none"/>
        <c:minorTickMark val="none"/>
        <c:tickLblPos val="nextTo"/>
        <c:spPr>
          <a:ln w="12700" cap="flat">
            <a:solidFill>
              <a:srgbClr val="C3CCD4"/>
            </a:solidFill>
            <a:prstDash val="solid"/>
            <a:round/>
          </a:ln>
        </c:spPr>
        <c:txPr>
          <a:bodyPr/>
          <a:lstStyle/>
          <a:p>
            <a:pPr>
              <a:defRPr sz="1300" b="0" i="0" u="none" strike="noStrike">
                <a:solidFill>
                  <a:srgbClr val="556270"/>
                </a:solidFill>
                <a:latin typeface="+mn-lt"/>
              </a:defRPr>
            </a:pPr>
            <a:endParaRPr lang="en-US"/>
          </a:p>
        </c:txPr>
        <c:crossAx val="2094734554"/>
        <c:crossesAt val="0"/>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lecture built the forward pass. Today the network learns: we choose a loss, derive backpropagation in full, use the gradients with gradient descent, and finish with why depth is worth the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sections. Losses turn disagreement into a number. Backpropagation, the core of the course, gets every gradient efficiently. Gradient descent uses those gradients. And section 8 explains why we go deep at all. Backpropagation is the one to slow down for: get a pencil.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new symbols. Logits are raw scores before softmax. Delta is the error signal at a layer, defined on the pre-activation. Capital delta is its batched version. Theta collects all parameters and eta is the learning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loss turns “the prediction and the target disagree” into one number to minimize. For most tasks it follows from a probabilistic assumption, and that derivation explains both why cross-entropy works and why MSE for classification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average rather than sum, so the gradient magnitude does not depend on batch size — you can change batch size without re-tuning the learning rate from scratch. A good loss has three properties. The third, well-conditioning, is the one people forget, and it does most of the work in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the target is the model output plus Gaussian noise. Write the log-likelihood over m independent examples. Everything except the squared error is constant in the parameters, so maximizing likelihood is minimizing squared error. That is the whole justification, and it tells you when MSE is wrong: heavy-tailed noise, use Huber; counts, use a Poisson loss. The one-half is cosmetic: PyTorch’s MSELoss omits it and the factor is absorbed into the learning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regression losses. MSE penalizes large errors heavily. MAE is robust but its gradient has constant magnitude, even near the minimum. Huber, also called smooth L1, is quadratic near zero so it converges cleanly, and linear far away so a single wild outlier cannot dominate the gradient. It is the standard choice for bounding-box regression in object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outputs y-hat equals sigma of z, read as the probability of class 1. Because y is 0 or 1, exactly one term survives, so the loss is minus the log of the probability assigned to the correct class. Confidently wrong is punished without limit, and that is a feature: the gradient is huge exactly when the model most needs correcting. Model each label as a Bernoulli draw and BCE is the negative log-likelihood.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K classes the output layer produces K logits; softmax exponentiates and normalizes them. Every output is positive and they sum to one. Two properties: shift invariance — adding a constant to every logit changes nothing, which is what makes the stable implementation valid — and temperature: dividing by T greater than one flattens the distribution, less than one sharpens it. Temperature is used in distillation and in sampling from language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one-hot targets the sum collapses to minus log of the probability of the true class — nothing more. If the true class gets 0.9, the loss is 0.105; 0.5 gives 0.693; 0.01 gives 4.6. The sanity check to memorize: a randomly initialized K-class model gives roughly uniform probabilities, so its first loss should be about log K — 2.303 for ten classes. If it starts at 15, something is broken before training begins: usually labels, the output size, or an accidental extra softmax.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argument interviewers want. With MSE on a sigmoid output, the gradient with respect to the logit includes sigma prime. Suppose the truth is 1 and the model confidently predicts 0.0001. The error is large but sigma prime is tiny, so the gradient is about minus 0.0001: learning stalls. With cross-entropy the sigmoid derivative cancels against the log, leaving y-hat minus y — a full-strength gradient exactly when it is needed. The chart shows both magnitudes for a true label 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in total. The gradient argument you just saw. Second, the probabilistic assumption is simply wrong: class labels are not Gaussian-noisy real numbers. Third, even for one neuron, MSE composed with a sigmoid is non-convex with flat regions, while cross-entropy with a sigmoid is convex. The general lesson: pair a loss with its matching link function and the derivatives cancel.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rule to follow without exception: no sigmoid or softmax at the end of your model. Pass raw logits to BCEWithLogitsLoss or CrossEntropyLoss. In float32, e to the 1000 overflows and the loss becomes nan forever. The fused losses subtract the maximum logit first, which is valid by shift invariance: every exponent is then at most zero, so nothing overflows, and one term equals exactly one, so the sum cannot underflow. CrossEntropyLoss already includes log-softmax: applying softmax yourself applies it twice, and the model trains poorly without any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you will reference constantly. Note the two classification rows: both take logits. And CrossEntropyLoss wants integer class indices of dtype int64, not one-hot vectors. The two errors behind most CrossEntropyLoss failures: one-hot targets, which at least raises a dtype error, and softmax outputs instead of logits, which raises nothing and quietly degrades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examples, three classes, integer targets. The last example has equal logits, so softmax is one third each and its loss is ln 3, about 1.0986 — verify it by hand. Class weights up-weight rare classes. Label smoothing replaces the hard target with a mixture of the one-hot vector and the uniform distribution; it usually gives a small accuracy gain and better-calibrated probabilities, and is standard in modern image-classification recipes.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to slow down for. Backpropagation is how a network learns, the most-asked interview topic, and the one thing people routinely pretend to understand. The headline: it is the chain rule applied to a computational graph, organized so shared subexpressions are computed once. It is not a learning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approach, finite differences, nudges each parameter and reruns the forward pass. That is a useful debugging tool, but hopeless for training: a hundred-million-parameter model needs a hundred million forward passes per step — over a day per step at a millisecond each. Backpropagation gets all gradients in one backward pass costing about twice a forward pass. That factor of a hundred million is why deep learning exists. Backprop computes gradients; gradient descent is the learning algorithm that 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multivariable chain rule is the entire content of backpropagation: if a variable influences the output through several paths, its gradient is the sum over those paths. Now the efficiency insight. In a chain x to a to b to c to J, the gradient for a is a prefix of the gradient for x. Start from the output and move backward, and each new gradient reuses the product already accumulated. That is reverse-mode automatic differentiation. With one scalar loss and a hundred million parameters, reverse mode wins by a factor of a hundred million. Forward mode, torch.func.jvp, wins when you have few inputs and many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general derivation, one concrete case by hand — worth ten minutes with a pencil. One input, one sigmoid hidden unit, one sigmoid output, squared error. Weights 0.5 and 0.8, biases 0.1 and minus 0.3, input 2, target 1. Trace the values left to right; we will need every one of them on the backward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go backward one node at a time: write the local derivative and multiply. Delta two is minus 0.104. The weight gradient is delta times the activation feeding the weight. Send the error back through w2, multiply by the sigmoid derivative, and delta one is minus 0.0156 — a factor of 6.7 smaller in a single layer, mostly because sigma prime is at most a quarter. Twenty layers of that and nothing reaches the front: you have just watched the vanishing-gradient problem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pattern off the numbers. The gradient of a weight is the error at its output times the activation at its input — true for every fully connected layer in every network. The bias gradient is just the error signal. The error travels backward by multiplying by the weight and then by the activation derivative. And gradients shrink as they travel back. Each of these becomes one of the four general equations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general case. BP1: because g is applied elementwise, each output unit’s error is its loss gradient times its own activation derivative — no sum. For softmax with cross-entropy this collapses to y-hat minus y. BP2: a pre-activation in layer l affects the loss only through every unit of layer l plus one, so the chain rule sums over them. That sum is exactly a matrix product with the transpose of the next layer’s weights, gated by g prime.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BP2 as shapes. One matrix product with the transpose carries the error from n[l+1] units back to n[l] units — the transpose because information now flows the other way, and the shapes force it. Then an elementwise product with g prime gates each unit’s error by how responsive it was. A saturated unit, with g prime near zero, blocks its error entirely — highlighted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delta lives on the pre-activation, parameter gradients take one line each. The bias gradient is the error itself. The weight gradient is an outer product of the error with the input activation: one matrix of the same shape as W. This explains a lot. If an input activation is small, its weights barely learn: units that do not activate do not learn — why input standardization matters and why dead ReLUs stay dead. If a unit’s error is small, its whole row of W barely learns.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together. If you can reproduce these four lines and say why each is true, you understand backpropagation. Ask students to cover the slide and write them from memory now; give them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 examples in the row convention, the error Delta has shape m by n[l]. Two things change. The transpose moves, because examples are now rows. And the outer product becomes a matrix product, which sums over the batch automatically: each example contributes its own outer product and they add. The bias gradient must sum explicitly, because broadcasting b across m rows means it influenced all m outputs. When unsure about a transpose, check which arrangement produces the parameter’s shape — there is usually only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derivation appears in interviews constantly. Step one, the softmax derivative, has two cases by the quotient rule, combined with the Kronecker delta. Step two, chain through the loss: the y-hat terms cancel, and because y is one-hot its entries sum to one. The messy softmax derivative cancels exactly against the log: the gradient with respect to the logits is prediction minus target. That is why frameworks fuse softmax and cross-entropy: the fused backward pass is a subtraction.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layer, the forward pass is one matrix product, and the backward pass is two of the same size: one for the input gradient and one for the weight gradient. So a training step is about three times an inference step — the number to use when estimating training time. Memory is the other half: BP4 needs the activation from the forward pass, so every layer’s activations are stored until the backward pass reaches them. That is why memory scales with batch size, why an out-of-memory error in backward is fixed by reducing the batch, and why no_grad saves so much at inference. Gradient checkpointing stores only some activations and recomputes the rest, trading about 30 percent more compute for large memory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implement a gradient by hand, verify it numerically. Use the centred difference, whose error is order epsilon squared rather than epsilon, and compare with a relative error. Below ten to the minus seven is correct; up to ten to the minus four, investigate; above ten to the minus three, you have a bug. Use float64, make the loss deterministic by turning dropout off, and check a random subset of parameters, since this costs two forward passes per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backward method of a two-layer network written without autograd. Map each line to an equation: the first is BP1 using the softmax cross-entropy shortcut, averaged over the batch; then BP4 and BP3 for layer 2; then BP2 sends the error back through W2 and gates it by the ReLU derivative; then BP4 and BP3 again for layer 1. The full script in the tutorial trains this on XOR: the loss falls from about 0.69, which is ln 2, the two-class random baseline, to near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confusions. Backprop is not gradient descent: you could compute gradients by backprop and update with Adam, or not at all. PyTorch accumulates gradients deliberately, which is why zero_grad exists and why gradient accumulation works. Activations are stored because BP4 needs them. And no, backprop does not find the global minimum; in high dimensions that matters far less than theory suggests, as section 7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Backpropagation hands us the gradient for every parameter. Gradient descent decides what to do with it: move each parameter a little way against its gradient. This section is about how far and how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negative gradient? A first-order Taylor expansion says the change in loss is the gradient dotted with the step. For a fixed step length, the dot product is most negative when the step points exactly opposite the gradient. Two cautions follow. It is valid only for small steps — take too big a step and the approximation is worthless, which is what divergence looks like. And it is steepest only in the Euclidean norm; other norms give other update rules, which is one way to understand 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data per gradient estimate? Full batch is exact but one update needs a full pass over the data. Pure SGD uses one example: fast but noisy, and wasteful on parallel hardware. Mini-batch, 32 to 512 examples, is what everyone does — and what people mean by “SGD” today; PyTorch’s optim.SGD is mini-batch SGD. The reason is statistical: gradient noise falls only as one over root m, so going from 100 to 10,000 cuts noise tenfold but costs a hundred times more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among the most important — the most important. Learn the symptoms. Why does a large rate diverge? On a quadratic bowl the update multiplies theta by one minus eta lambda, which converges only if eta is below two over lambda. In a network lambda is the largest Hessian eigenvalue, so the sharpest direction sets the limit even though most directions are far flatter. That mismatch is the ill-conditioning that momentum and Adam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learning-rate range test, from Leslie Smith, is the fastest practical method. Train for a few hundred steps while increasing eta exponentially, and plot loss against eta on a log axis. The loss is flat, then falls steeply, then explodes. Pick roughly ten times below where the loss bottoms out — in the steepest part, not at the bottom. If you skip the test: SGD with momentum at 0.1 for CNNs with batch norm, Adam at 3 times ten to the minus four for almost everything else. Starting points, not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PyTorch training loop has this skeleton. Five numbered lines, in that order, every time: clear old gradients, forward, loss, backward, update. Commit them to memory — interviewers ask you to write this from scratch. Around them: model.train before the training loop, and model.eval plus torch.no_grad for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classic errors. Forgetting zero_grad: gradients accumulate and training degrades progressively rather than failing outright, which makes it hard to spot. Forgetting model.eval: dropout stays on and batch norm uses batch statistics, so validation accuracy is worse and fluctuates. Forgetting no_grad in evaluation: everything works, but memory roughly triples and it runs several times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worry about local minima. The high-dimensional reality is more encouraging. If eigenvalue signs were roughly independent, the chance that all d are positive is about two to the minus d, so almost every critical point is a saddle; mini-batch noise usually knocks gradient descent off it. Minima reached from different seeds have very similar test loss. Flat minima tend to generalize better — a useful heuristic, not a theorem, since flatness is not reparameterization-invariant. The real enemy is ill-conditioning: a long narrow ravine where one scalar learning rate must serve both a steep and a gentle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changes with batch size. A practical rule when you change it: the linear scaling rule from Goyal and colleagues — multiply the learning rate by the same factor as the batch size and add a few epochs of linear warmup. It works up to a few thousand and then breaks down; some prefer square-root scaling for adaptive optimizers. Treat both as heuristics to validate. If memory-limited, gradient accumulation gives a large effective batch. Note the division by accum_steps — without it you would quadruple the effective learning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both curves. High and high is underfitting: bigger model, train longer, higher learning rate. Both falling is healthy. Training falling while validation rises is overfitting: regularize, get data, stop early. Flat from the start means something is broken. Early stopping keeps the parameters from the best validation epoch, not the last; it costs nothing. Always save the best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universal approximation theorem says one hidden layer suffices. So why is the field called deep learning? Because “suffices in principle” and “is a good idea” are different claims, and the gap between them is enormous.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shallow network can represent anything, but it may need exponentially more units. Parity on n bits needs exponentially many units at depth two, but only order n units deep, chaining the XOR from lecture 1. A ReLU network is linear on regions of its input; Montúfar and colleagues showed the number of regions can grow exponentially with depth but only polynomially with width. Picture folding paper: after k folds one cut makes two to the k holes. Telgarsky proved clean separations. The caveat: these are worst-case constructions; that real data rewards depth is an empirical, well-supported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intuition to carry. Natural data is compositional: edges form corners, corners form motifs, motifs form parts, parts form objects. Speech is phonemes, syllables, words. A deep network mirrors that structure, and Zeiler and Fergus visualized exactly this progression in a trained CNN. Features get reused — one edge detector serves the eye detector, the wheel detector and the text detector — which is why learning is easier, and why transfer learning works: edges are edges in X-rays and satellite images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comparison. Depth is more parameter-efficient and builds a hierarchy, but is harder to optimize and less parallel. Beyond about twenty layers you need residual connections. For a new problem: start moderately deep, add residual connections past about twenty layers, tune width second. EfficientNet’s compound-scaling result is worth knowing: scale depth, width and input resolution together by a fixed ratio rather than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Backpropagation was usable in 1986; deep learning took over in 2012. Look at the shape of this list: six engineering advances and one architectural idea. That proportion is representative of the field, and it is why lecture 3 exists. Understanding backprop makes you literate; understanding initialization, optimizers, normalization and regularization makes you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depths and sizes. The striking row pair: ResNet-50 has fewer parameters than VGG-16 despite being three times deeper. Depth is not the same as size, and better architecture beats brute force. Large language models run to tens or over a hundred Transformer blocks with billions to trillions of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to three minutes per question. Ask them to commit to an answer on paper before discussing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ask who got it; spend the most time on the one most people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section. Next lecture: why deep networks are hard to train, and the four tools that fix it — initialization, optimizers, normalization and regularization.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today’s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rtlCol="0"/>
          <a:lstStyle>
            <a:lvl1pPr indent="0" marL="0">
              <a:buNone/>
              <a:defRPr lang="en-US" sz="1300" b="1" spc="150" kern="0" dirty="0">
                <a:solidFill>
                  <a:schemeClr val="accent1"/>
                </a:solidFill>
              </a:defRPr>
            </a:lvl1pPr>
          </a:lstStyle>
          <a:p>
            <a:pPr indent="0" marL="0">
              <a:buNone/>
            </a:pP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200" dirty="0">
                <a:solidFill>
                  <a:schemeClr val="tx2"/>
                </a:solidFill>
              </a:rPr>
              <a:t>Lecture 2 · Learning: losses, backpropagation, gradient descent</a:t>
            </a:r>
            <a:endParaRPr lang="en-US" sz="12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rtlCol="0"/>
          <a:lstStyle>
            <a:lvl1pPr indent="0" marL="0">
              <a:buNone/>
              <a:defRPr lang="en-US" sz="1600" b="1" spc="200" kern="0" dirty="0">
                <a:solidFill>
                  <a:schemeClr val="accent6"/>
                </a:solidFill>
              </a:defRPr>
            </a:lvl1pPr>
          </a:lstStyle>
          <a:p>
            <a:pPr indent="0" marL="0">
              <a:buNone/>
            </a:pP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chart" Target="/ppt/charts/chart10.xml"/><Relationship Id="rId5" Type="http://schemas.openxmlformats.org/officeDocument/2006/relationships/slideLayout" Target="../slideLayouts/slideLayout2.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LECTURE 2 OF 3</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Learning: losses, backpropagation and gradient descent</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How a network measures its error, computes every gradient at once, and uses those gradients to improve — and why depth is worth the trouble.</a:t>
            </a:r>
            <a:endParaRPr lang="en-US" sz="2000" dirty="0"/>
          </a:p>
        </p:txBody>
      </p:sp>
      <p:sp>
        <p:nvSpPr>
          <p:cNvPr id="5" name="Text 3"/>
          <p:cNvSpPr txBox="1"/>
          <p:nvPr/>
        </p:nvSpPr>
        <p:spPr>
          <a:xfrm>
            <a:off x="731520" y="5989320"/>
            <a:ext cx="7315200" cy="365760"/>
          </a:xfrm>
          <a:prstGeom prst="rect">
            <a:avLst/>
          </a:prstGeom>
          <a:noFill/>
          <a:ln/>
        </p:spPr>
        <p:txBody>
          <a:bodyPr wrap="square" lIns="0" tIns="0" rIns="0" bIns="0" rtlCol="0" anchor="t"/>
          <a:lstStyle/>
          <a:p>
            <a:pPr algn="l" indent="0" marL="0">
              <a:lnSpc>
                <a:spcPct val="105000"/>
              </a:lnSpc>
              <a:buNone/>
            </a:pPr>
            <a:r>
              <a:rPr lang="en-US" sz="1500" dirty="0">
                <a:solidFill>
                  <a:schemeClr val="accent6"/>
                </a:solidFill>
              </a:rPr>
              <a:t>Neural Networks &amp; Deep Learning  ·  Undergraduate Engineering</a:t>
            </a:r>
            <a:endParaRPr lang="en-US" sz="1500" dirty="0"/>
          </a:p>
        </p:txBody>
      </p:sp>
      <p:sp>
        <p:nvSpPr>
          <p:cNvPr id="6" name="Shape 4"/>
          <p:cNvSpPr/>
          <p:nvPr/>
        </p:nvSpPr>
        <p:spPr>
          <a:xfrm flipV="1">
            <a:off x="8449056" y="1956816"/>
            <a:ext cx="713232" cy="713232"/>
          </a:xfrm>
          <a:prstGeom prst="line">
            <a:avLst/>
          </a:prstGeom>
          <a:noFill/>
          <a:ln w="12700">
            <a:solidFill>
              <a:srgbClr val="3A4E5B"/>
            </a:solidFill>
            <a:prstDash val="solid"/>
          </a:ln>
        </p:spPr>
      </p:sp>
      <p:sp>
        <p:nvSpPr>
          <p:cNvPr id="7" name="Shape 5"/>
          <p:cNvSpPr/>
          <p:nvPr/>
        </p:nvSpPr>
        <p:spPr>
          <a:xfrm>
            <a:off x="8449056" y="2670048"/>
            <a:ext cx="713232" cy="0"/>
          </a:xfrm>
          <a:prstGeom prst="line">
            <a:avLst/>
          </a:prstGeom>
          <a:noFill/>
          <a:ln w="31750">
            <a:solidFill>
              <a:srgbClr val="7CCFC6"/>
            </a:solidFill>
            <a:prstDash val="solid"/>
          </a:ln>
        </p:spPr>
      </p:sp>
      <p:sp>
        <p:nvSpPr>
          <p:cNvPr id="8" name="Shape 6"/>
          <p:cNvSpPr/>
          <p:nvPr/>
        </p:nvSpPr>
        <p:spPr>
          <a:xfrm>
            <a:off x="8449056" y="2670048"/>
            <a:ext cx="713232" cy="713232"/>
          </a:xfrm>
          <a:prstGeom prst="line">
            <a:avLst/>
          </a:prstGeom>
          <a:noFill/>
          <a:ln w="12700">
            <a:solidFill>
              <a:srgbClr val="3A4E5B"/>
            </a:solidFill>
            <a:prstDash val="solid"/>
          </a:ln>
        </p:spPr>
      </p:sp>
      <p:sp>
        <p:nvSpPr>
          <p:cNvPr id="9" name="Shape 7"/>
          <p:cNvSpPr/>
          <p:nvPr/>
        </p:nvSpPr>
        <p:spPr>
          <a:xfrm>
            <a:off x="8449056" y="2670048"/>
            <a:ext cx="713232" cy="1426464"/>
          </a:xfrm>
          <a:prstGeom prst="line">
            <a:avLst/>
          </a:prstGeom>
          <a:noFill/>
          <a:ln w="12700">
            <a:solidFill>
              <a:srgbClr val="3A4E5B"/>
            </a:solidFill>
            <a:prstDash val="solid"/>
          </a:ln>
        </p:spPr>
      </p:sp>
      <p:sp>
        <p:nvSpPr>
          <p:cNvPr id="10" name="Shape 8"/>
          <p:cNvSpPr/>
          <p:nvPr/>
        </p:nvSpPr>
        <p:spPr>
          <a:xfrm>
            <a:off x="8449056" y="2670048"/>
            <a:ext cx="713232" cy="2139696"/>
          </a:xfrm>
          <a:prstGeom prst="line">
            <a:avLst/>
          </a:prstGeom>
          <a:noFill/>
          <a:ln w="12700">
            <a:solidFill>
              <a:srgbClr val="3A4E5B"/>
            </a:solidFill>
            <a:prstDash val="solid"/>
          </a:ln>
        </p:spPr>
      </p:sp>
      <p:sp>
        <p:nvSpPr>
          <p:cNvPr id="11" name="Shape 9"/>
          <p:cNvSpPr/>
          <p:nvPr/>
        </p:nvSpPr>
        <p:spPr>
          <a:xfrm flipV="1">
            <a:off x="8449056" y="1956816"/>
            <a:ext cx="713232" cy="1426464"/>
          </a:xfrm>
          <a:prstGeom prst="line">
            <a:avLst/>
          </a:prstGeom>
          <a:noFill/>
          <a:ln w="12700">
            <a:solidFill>
              <a:srgbClr val="3A4E5B"/>
            </a:solidFill>
            <a:prstDash val="solid"/>
          </a:ln>
        </p:spPr>
      </p:sp>
      <p:sp>
        <p:nvSpPr>
          <p:cNvPr id="12" name="Shape 10"/>
          <p:cNvSpPr/>
          <p:nvPr/>
        </p:nvSpPr>
        <p:spPr>
          <a:xfrm flipV="1">
            <a:off x="8449056" y="2670048"/>
            <a:ext cx="713232" cy="713232"/>
          </a:xfrm>
          <a:prstGeom prst="line">
            <a:avLst/>
          </a:prstGeom>
          <a:noFill/>
          <a:ln w="12700">
            <a:solidFill>
              <a:srgbClr val="3A4E5B"/>
            </a:solidFill>
            <a:prstDash val="solid"/>
          </a:ln>
        </p:spPr>
      </p:sp>
      <p:sp>
        <p:nvSpPr>
          <p:cNvPr id="13" name="Shape 11"/>
          <p:cNvSpPr/>
          <p:nvPr/>
        </p:nvSpPr>
        <p:spPr>
          <a:xfrm>
            <a:off x="8449056" y="3383280"/>
            <a:ext cx="713232" cy="0"/>
          </a:xfrm>
          <a:prstGeom prst="line">
            <a:avLst/>
          </a:prstGeom>
          <a:noFill/>
          <a:ln w="12700">
            <a:solidFill>
              <a:srgbClr val="3A4E5B"/>
            </a:solidFill>
            <a:prstDash val="solid"/>
          </a:ln>
        </p:spPr>
      </p:sp>
      <p:sp>
        <p:nvSpPr>
          <p:cNvPr id="14" name="Shape 12"/>
          <p:cNvSpPr/>
          <p:nvPr/>
        </p:nvSpPr>
        <p:spPr>
          <a:xfrm>
            <a:off x="8449056" y="3383280"/>
            <a:ext cx="713232" cy="713232"/>
          </a:xfrm>
          <a:prstGeom prst="line">
            <a:avLst/>
          </a:prstGeom>
          <a:noFill/>
          <a:ln w="12700">
            <a:solidFill>
              <a:srgbClr val="3A4E5B"/>
            </a:solidFill>
            <a:prstDash val="solid"/>
          </a:ln>
        </p:spPr>
      </p:sp>
      <p:sp>
        <p:nvSpPr>
          <p:cNvPr id="15" name="Shape 13"/>
          <p:cNvSpPr/>
          <p:nvPr/>
        </p:nvSpPr>
        <p:spPr>
          <a:xfrm>
            <a:off x="8449056" y="3383280"/>
            <a:ext cx="713232" cy="1426464"/>
          </a:xfrm>
          <a:prstGeom prst="line">
            <a:avLst/>
          </a:prstGeom>
          <a:noFill/>
          <a:ln w="12700">
            <a:solidFill>
              <a:srgbClr val="3A4E5B"/>
            </a:solidFill>
            <a:prstDash val="solid"/>
          </a:ln>
        </p:spPr>
      </p:sp>
      <p:sp>
        <p:nvSpPr>
          <p:cNvPr id="16" name="Shape 14"/>
          <p:cNvSpPr/>
          <p:nvPr/>
        </p:nvSpPr>
        <p:spPr>
          <a:xfrm flipV="1">
            <a:off x="8449056" y="1956816"/>
            <a:ext cx="713232" cy="2139696"/>
          </a:xfrm>
          <a:prstGeom prst="line">
            <a:avLst/>
          </a:prstGeom>
          <a:noFill/>
          <a:ln w="12700">
            <a:solidFill>
              <a:srgbClr val="3A4E5B"/>
            </a:solidFill>
            <a:prstDash val="solid"/>
          </a:ln>
        </p:spPr>
      </p:sp>
      <p:sp>
        <p:nvSpPr>
          <p:cNvPr id="17" name="Shape 15"/>
          <p:cNvSpPr/>
          <p:nvPr/>
        </p:nvSpPr>
        <p:spPr>
          <a:xfrm flipV="1">
            <a:off x="8449056" y="2670048"/>
            <a:ext cx="713232" cy="1426464"/>
          </a:xfrm>
          <a:prstGeom prst="line">
            <a:avLst/>
          </a:prstGeom>
          <a:noFill/>
          <a:ln w="12700">
            <a:solidFill>
              <a:srgbClr val="3A4E5B"/>
            </a:solidFill>
            <a:prstDash val="solid"/>
          </a:ln>
        </p:spPr>
      </p:sp>
      <p:sp>
        <p:nvSpPr>
          <p:cNvPr id="18" name="Shape 16"/>
          <p:cNvSpPr/>
          <p:nvPr/>
        </p:nvSpPr>
        <p:spPr>
          <a:xfrm flipV="1">
            <a:off x="8449056" y="3383280"/>
            <a:ext cx="713232" cy="713232"/>
          </a:xfrm>
          <a:prstGeom prst="line">
            <a:avLst/>
          </a:prstGeom>
          <a:noFill/>
          <a:ln w="12700">
            <a:solidFill>
              <a:srgbClr val="3A4E5B"/>
            </a:solidFill>
            <a:prstDash val="solid"/>
          </a:ln>
        </p:spPr>
      </p:sp>
      <p:sp>
        <p:nvSpPr>
          <p:cNvPr id="19" name="Shape 17"/>
          <p:cNvSpPr/>
          <p:nvPr/>
        </p:nvSpPr>
        <p:spPr>
          <a:xfrm>
            <a:off x="8449056" y="4096512"/>
            <a:ext cx="713232" cy="0"/>
          </a:xfrm>
          <a:prstGeom prst="line">
            <a:avLst/>
          </a:prstGeom>
          <a:noFill/>
          <a:ln w="12700">
            <a:solidFill>
              <a:srgbClr val="3A4E5B"/>
            </a:solidFill>
            <a:prstDash val="solid"/>
          </a:ln>
        </p:spPr>
      </p:sp>
      <p:sp>
        <p:nvSpPr>
          <p:cNvPr id="20" name="Shape 18"/>
          <p:cNvSpPr/>
          <p:nvPr/>
        </p:nvSpPr>
        <p:spPr>
          <a:xfrm>
            <a:off x="8449056" y="4096512"/>
            <a:ext cx="713232" cy="713232"/>
          </a:xfrm>
          <a:prstGeom prst="line">
            <a:avLst/>
          </a:prstGeom>
          <a:noFill/>
          <a:ln w="12700">
            <a:solidFill>
              <a:srgbClr val="3A4E5B"/>
            </a:solidFill>
            <a:prstDash val="solid"/>
          </a:ln>
        </p:spPr>
      </p:sp>
      <p:sp>
        <p:nvSpPr>
          <p:cNvPr id="21" name="Shape 19"/>
          <p:cNvSpPr/>
          <p:nvPr/>
        </p:nvSpPr>
        <p:spPr>
          <a:xfrm>
            <a:off x="9473184" y="1956816"/>
            <a:ext cx="713232" cy="0"/>
          </a:xfrm>
          <a:prstGeom prst="line">
            <a:avLst/>
          </a:prstGeom>
          <a:noFill/>
          <a:ln w="12700">
            <a:solidFill>
              <a:srgbClr val="3A4E5B"/>
            </a:solidFill>
            <a:prstDash val="solid"/>
          </a:ln>
        </p:spPr>
      </p:sp>
      <p:sp>
        <p:nvSpPr>
          <p:cNvPr id="22" name="Shape 20"/>
          <p:cNvSpPr/>
          <p:nvPr/>
        </p:nvSpPr>
        <p:spPr>
          <a:xfrm>
            <a:off x="9473184" y="1956816"/>
            <a:ext cx="713232" cy="713232"/>
          </a:xfrm>
          <a:prstGeom prst="line">
            <a:avLst/>
          </a:prstGeom>
          <a:noFill/>
          <a:ln w="12700">
            <a:solidFill>
              <a:srgbClr val="3A4E5B"/>
            </a:solidFill>
            <a:prstDash val="solid"/>
          </a:ln>
        </p:spPr>
      </p:sp>
      <p:sp>
        <p:nvSpPr>
          <p:cNvPr id="23" name="Shape 21"/>
          <p:cNvSpPr/>
          <p:nvPr/>
        </p:nvSpPr>
        <p:spPr>
          <a:xfrm>
            <a:off x="9473184" y="1956816"/>
            <a:ext cx="713232" cy="1426464"/>
          </a:xfrm>
          <a:prstGeom prst="line">
            <a:avLst/>
          </a:prstGeom>
          <a:noFill/>
          <a:ln w="12700">
            <a:solidFill>
              <a:srgbClr val="3A4E5B"/>
            </a:solidFill>
            <a:prstDash val="solid"/>
          </a:ln>
        </p:spPr>
      </p:sp>
      <p:sp>
        <p:nvSpPr>
          <p:cNvPr id="24" name="Shape 22"/>
          <p:cNvSpPr/>
          <p:nvPr/>
        </p:nvSpPr>
        <p:spPr>
          <a:xfrm>
            <a:off x="9473184" y="1956816"/>
            <a:ext cx="713232" cy="2139696"/>
          </a:xfrm>
          <a:prstGeom prst="line">
            <a:avLst/>
          </a:prstGeom>
          <a:noFill/>
          <a:ln w="12700">
            <a:solidFill>
              <a:srgbClr val="3A4E5B"/>
            </a:solidFill>
            <a:prstDash val="solid"/>
          </a:ln>
        </p:spPr>
      </p:sp>
      <p:sp>
        <p:nvSpPr>
          <p:cNvPr id="25" name="Shape 23"/>
          <p:cNvSpPr/>
          <p:nvPr/>
        </p:nvSpPr>
        <p:spPr>
          <a:xfrm>
            <a:off x="9473184" y="1956816"/>
            <a:ext cx="713232" cy="2852928"/>
          </a:xfrm>
          <a:prstGeom prst="line">
            <a:avLst/>
          </a:prstGeom>
          <a:noFill/>
          <a:ln w="12700">
            <a:solidFill>
              <a:srgbClr val="3A4E5B"/>
            </a:solidFill>
            <a:prstDash val="solid"/>
          </a:ln>
        </p:spPr>
      </p:sp>
      <p:sp>
        <p:nvSpPr>
          <p:cNvPr id="26" name="Shape 24"/>
          <p:cNvSpPr/>
          <p:nvPr/>
        </p:nvSpPr>
        <p:spPr>
          <a:xfrm flipV="1">
            <a:off x="9473184" y="1956816"/>
            <a:ext cx="713232" cy="713232"/>
          </a:xfrm>
          <a:prstGeom prst="line">
            <a:avLst/>
          </a:prstGeom>
          <a:noFill/>
          <a:ln w="12700">
            <a:solidFill>
              <a:srgbClr val="3A4E5B"/>
            </a:solidFill>
            <a:prstDash val="solid"/>
          </a:ln>
        </p:spPr>
      </p:sp>
      <p:sp>
        <p:nvSpPr>
          <p:cNvPr id="27" name="Shape 25"/>
          <p:cNvSpPr/>
          <p:nvPr/>
        </p:nvSpPr>
        <p:spPr>
          <a:xfrm>
            <a:off x="9473184" y="2670048"/>
            <a:ext cx="713232" cy="0"/>
          </a:xfrm>
          <a:prstGeom prst="line">
            <a:avLst/>
          </a:prstGeom>
          <a:noFill/>
          <a:ln w="31750">
            <a:solidFill>
              <a:srgbClr val="7CCFC6"/>
            </a:solidFill>
            <a:prstDash val="solid"/>
          </a:ln>
        </p:spPr>
      </p:sp>
      <p:sp>
        <p:nvSpPr>
          <p:cNvPr id="28" name="Shape 26"/>
          <p:cNvSpPr/>
          <p:nvPr/>
        </p:nvSpPr>
        <p:spPr>
          <a:xfrm>
            <a:off x="9473184" y="2670048"/>
            <a:ext cx="713232" cy="713232"/>
          </a:xfrm>
          <a:prstGeom prst="line">
            <a:avLst/>
          </a:prstGeom>
          <a:noFill/>
          <a:ln w="31750">
            <a:solidFill>
              <a:srgbClr val="7CCFC6"/>
            </a:solidFill>
            <a:prstDash val="solid"/>
          </a:ln>
        </p:spPr>
      </p:sp>
      <p:sp>
        <p:nvSpPr>
          <p:cNvPr id="29" name="Shape 27"/>
          <p:cNvSpPr/>
          <p:nvPr/>
        </p:nvSpPr>
        <p:spPr>
          <a:xfrm>
            <a:off x="9473184" y="2670048"/>
            <a:ext cx="713232" cy="1426464"/>
          </a:xfrm>
          <a:prstGeom prst="line">
            <a:avLst/>
          </a:prstGeom>
          <a:noFill/>
          <a:ln w="12700">
            <a:solidFill>
              <a:srgbClr val="3A4E5B"/>
            </a:solidFill>
            <a:prstDash val="solid"/>
          </a:ln>
        </p:spPr>
      </p:sp>
      <p:sp>
        <p:nvSpPr>
          <p:cNvPr id="30" name="Shape 28"/>
          <p:cNvSpPr/>
          <p:nvPr/>
        </p:nvSpPr>
        <p:spPr>
          <a:xfrm>
            <a:off x="9473184" y="2670048"/>
            <a:ext cx="713232" cy="2139696"/>
          </a:xfrm>
          <a:prstGeom prst="line">
            <a:avLst/>
          </a:prstGeom>
          <a:noFill/>
          <a:ln w="12700">
            <a:solidFill>
              <a:srgbClr val="3A4E5B"/>
            </a:solidFill>
            <a:prstDash val="solid"/>
          </a:ln>
        </p:spPr>
      </p:sp>
      <p:sp>
        <p:nvSpPr>
          <p:cNvPr id="31" name="Shape 29"/>
          <p:cNvSpPr/>
          <p:nvPr/>
        </p:nvSpPr>
        <p:spPr>
          <a:xfrm flipV="1">
            <a:off x="9473184" y="1956816"/>
            <a:ext cx="713232" cy="1426464"/>
          </a:xfrm>
          <a:prstGeom prst="line">
            <a:avLst/>
          </a:prstGeom>
          <a:noFill/>
          <a:ln w="12700">
            <a:solidFill>
              <a:srgbClr val="3A4E5B"/>
            </a:solidFill>
            <a:prstDash val="solid"/>
          </a:ln>
        </p:spPr>
      </p:sp>
      <p:sp>
        <p:nvSpPr>
          <p:cNvPr id="32" name="Shape 30"/>
          <p:cNvSpPr/>
          <p:nvPr/>
        </p:nvSpPr>
        <p:spPr>
          <a:xfrm flipV="1">
            <a:off x="9473184" y="2670048"/>
            <a:ext cx="713232" cy="713232"/>
          </a:xfrm>
          <a:prstGeom prst="line">
            <a:avLst/>
          </a:prstGeom>
          <a:noFill/>
          <a:ln w="12700">
            <a:solidFill>
              <a:srgbClr val="3A4E5B"/>
            </a:solidFill>
            <a:prstDash val="solid"/>
          </a:ln>
        </p:spPr>
      </p:sp>
      <p:sp>
        <p:nvSpPr>
          <p:cNvPr id="33" name="Shape 31"/>
          <p:cNvSpPr/>
          <p:nvPr/>
        </p:nvSpPr>
        <p:spPr>
          <a:xfrm>
            <a:off x="9473184" y="3383280"/>
            <a:ext cx="713232" cy="0"/>
          </a:xfrm>
          <a:prstGeom prst="line">
            <a:avLst/>
          </a:prstGeom>
          <a:noFill/>
          <a:ln w="12700">
            <a:solidFill>
              <a:srgbClr val="3A4E5B"/>
            </a:solidFill>
            <a:prstDash val="solid"/>
          </a:ln>
        </p:spPr>
      </p:sp>
      <p:sp>
        <p:nvSpPr>
          <p:cNvPr id="34" name="Shape 32"/>
          <p:cNvSpPr/>
          <p:nvPr/>
        </p:nvSpPr>
        <p:spPr>
          <a:xfrm>
            <a:off x="9473184" y="3383280"/>
            <a:ext cx="713232" cy="713232"/>
          </a:xfrm>
          <a:prstGeom prst="line">
            <a:avLst/>
          </a:prstGeom>
          <a:noFill/>
          <a:ln w="12700">
            <a:solidFill>
              <a:srgbClr val="3A4E5B"/>
            </a:solidFill>
            <a:prstDash val="solid"/>
          </a:ln>
        </p:spPr>
      </p:sp>
      <p:sp>
        <p:nvSpPr>
          <p:cNvPr id="35" name="Shape 33"/>
          <p:cNvSpPr/>
          <p:nvPr/>
        </p:nvSpPr>
        <p:spPr>
          <a:xfrm>
            <a:off x="9473184" y="3383280"/>
            <a:ext cx="713232" cy="1426464"/>
          </a:xfrm>
          <a:prstGeom prst="line">
            <a:avLst/>
          </a:prstGeom>
          <a:noFill/>
          <a:ln w="12700">
            <a:solidFill>
              <a:srgbClr val="3A4E5B"/>
            </a:solidFill>
            <a:prstDash val="solid"/>
          </a:ln>
        </p:spPr>
      </p:sp>
      <p:sp>
        <p:nvSpPr>
          <p:cNvPr id="36" name="Shape 34"/>
          <p:cNvSpPr/>
          <p:nvPr/>
        </p:nvSpPr>
        <p:spPr>
          <a:xfrm flipV="1">
            <a:off x="9473184" y="1956816"/>
            <a:ext cx="713232" cy="2139696"/>
          </a:xfrm>
          <a:prstGeom prst="line">
            <a:avLst/>
          </a:prstGeom>
          <a:noFill/>
          <a:ln w="12700">
            <a:solidFill>
              <a:srgbClr val="3A4E5B"/>
            </a:solidFill>
            <a:prstDash val="solid"/>
          </a:ln>
        </p:spPr>
      </p:sp>
      <p:sp>
        <p:nvSpPr>
          <p:cNvPr id="37" name="Shape 35"/>
          <p:cNvSpPr/>
          <p:nvPr/>
        </p:nvSpPr>
        <p:spPr>
          <a:xfrm flipV="1">
            <a:off x="9473184" y="2670048"/>
            <a:ext cx="713232" cy="1426464"/>
          </a:xfrm>
          <a:prstGeom prst="line">
            <a:avLst/>
          </a:prstGeom>
          <a:noFill/>
          <a:ln w="12700">
            <a:solidFill>
              <a:srgbClr val="3A4E5B"/>
            </a:solidFill>
            <a:prstDash val="solid"/>
          </a:ln>
        </p:spPr>
      </p:sp>
      <p:sp>
        <p:nvSpPr>
          <p:cNvPr id="38" name="Shape 36"/>
          <p:cNvSpPr/>
          <p:nvPr/>
        </p:nvSpPr>
        <p:spPr>
          <a:xfrm flipV="1">
            <a:off x="9473184" y="3383280"/>
            <a:ext cx="713232" cy="713232"/>
          </a:xfrm>
          <a:prstGeom prst="line">
            <a:avLst/>
          </a:prstGeom>
          <a:noFill/>
          <a:ln w="12700">
            <a:solidFill>
              <a:srgbClr val="3A4E5B"/>
            </a:solidFill>
            <a:prstDash val="solid"/>
          </a:ln>
        </p:spPr>
      </p:sp>
      <p:sp>
        <p:nvSpPr>
          <p:cNvPr id="39" name="Shape 37"/>
          <p:cNvSpPr/>
          <p:nvPr/>
        </p:nvSpPr>
        <p:spPr>
          <a:xfrm>
            <a:off x="9473184" y="4096512"/>
            <a:ext cx="713232" cy="0"/>
          </a:xfrm>
          <a:prstGeom prst="line">
            <a:avLst/>
          </a:prstGeom>
          <a:noFill/>
          <a:ln w="12700">
            <a:solidFill>
              <a:srgbClr val="3A4E5B"/>
            </a:solidFill>
            <a:prstDash val="solid"/>
          </a:ln>
        </p:spPr>
      </p:sp>
      <p:sp>
        <p:nvSpPr>
          <p:cNvPr id="40" name="Shape 38"/>
          <p:cNvSpPr/>
          <p:nvPr/>
        </p:nvSpPr>
        <p:spPr>
          <a:xfrm>
            <a:off x="9473184" y="4096512"/>
            <a:ext cx="713232" cy="713232"/>
          </a:xfrm>
          <a:prstGeom prst="line">
            <a:avLst/>
          </a:prstGeom>
          <a:noFill/>
          <a:ln w="12700">
            <a:solidFill>
              <a:srgbClr val="3A4E5B"/>
            </a:solidFill>
            <a:prstDash val="solid"/>
          </a:ln>
        </p:spPr>
      </p:sp>
      <p:sp>
        <p:nvSpPr>
          <p:cNvPr id="41" name="Shape 39"/>
          <p:cNvSpPr/>
          <p:nvPr/>
        </p:nvSpPr>
        <p:spPr>
          <a:xfrm flipV="1">
            <a:off x="9473184" y="1956816"/>
            <a:ext cx="713232" cy="2852928"/>
          </a:xfrm>
          <a:prstGeom prst="line">
            <a:avLst/>
          </a:prstGeom>
          <a:noFill/>
          <a:ln w="12700">
            <a:solidFill>
              <a:srgbClr val="3A4E5B"/>
            </a:solidFill>
            <a:prstDash val="solid"/>
          </a:ln>
        </p:spPr>
      </p:sp>
      <p:sp>
        <p:nvSpPr>
          <p:cNvPr id="42" name="Shape 40"/>
          <p:cNvSpPr/>
          <p:nvPr/>
        </p:nvSpPr>
        <p:spPr>
          <a:xfrm flipV="1">
            <a:off x="9473184" y="2670048"/>
            <a:ext cx="713232" cy="2139696"/>
          </a:xfrm>
          <a:prstGeom prst="line">
            <a:avLst/>
          </a:prstGeom>
          <a:noFill/>
          <a:ln w="12700">
            <a:solidFill>
              <a:srgbClr val="3A4E5B"/>
            </a:solidFill>
            <a:prstDash val="solid"/>
          </a:ln>
        </p:spPr>
      </p:sp>
      <p:sp>
        <p:nvSpPr>
          <p:cNvPr id="43" name="Shape 41"/>
          <p:cNvSpPr/>
          <p:nvPr/>
        </p:nvSpPr>
        <p:spPr>
          <a:xfrm flipV="1">
            <a:off x="9473184" y="3383280"/>
            <a:ext cx="713232" cy="1426464"/>
          </a:xfrm>
          <a:prstGeom prst="line">
            <a:avLst/>
          </a:prstGeom>
          <a:noFill/>
          <a:ln w="12700">
            <a:solidFill>
              <a:srgbClr val="3A4E5B"/>
            </a:solidFill>
            <a:prstDash val="solid"/>
          </a:ln>
        </p:spPr>
      </p:sp>
      <p:sp>
        <p:nvSpPr>
          <p:cNvPr id="44" name="Shape 42"/>
          <p:cNvSpPr/>
          <p:nvPr/>
        </p:nvSpPr>
        <p:spPr>
          <a:xfrm flipV="1">
            <a:off x="9473184" y="4096512"/>
            <a:ext cx="713232" cy="713232"/>
          </a:xfrm>
          <a:prstGeom prst="line">
            <a:avLst/>
          </a:prstGeom>
          <a:noFill/>
          <a:ln w="12700">
            <a:solidFill>
              <a:srgbClr val="3A4E5B"/>
            </a:solidFill>
            <a:prstDash val="solid"/>
          </a:ln>
        </p:spPr>
      </p:sp>
      <p:sp>
        <p:nvSpPr>
          <p:cNvPr id="45" name="Shape 43"/>
          <p:cNvSpPr/>
          <p:nvPr/>
        </p:nvSpPr>
        <p:spPr>
          <a:xfrm>
            <a:off x="9473184" y="4809744"/>
            <a:ext cx="713232" cy="0"/>
          </a:xfrm>
          <a:prstGeom prst="line">
            <a:avLst/>
          </a:prstGeom>
          <a:noFill/>
          <a:ln w="12700">
            <a:solidFill>
              <a:srgbClr val="3A4E5B"/>
            </a:solidFill>
            <a:prstDash val="solid"/>
          </a:ln>
        </p:spPr>
      </p:sp>
      <p:sp>
        <p:nvSpPr>
          <p:cNvPr id="46" name="Shape 44"/>
          <p:cNvSpPr/>
          <p:nvPr/>
        </p:nvSpPr>
        <p:spPr>
          <a:xfrm>
            <a:off x="10497312" y="1956816"/>
            <a:ext cx="713232" cy="1069848"/>
          </a:xfrm>
          <a:prstGeom prst="line">
            <a:avLst/>
          </a:prstGeom>
          <a:noFill/>
          <a:ln w="12700">
            <a:solidFill>
              <a:srgbClr val="3A4E5B"/>
            </a:solidFill>
            <a:prstDash val="solid"/>
          </a:ln>
        </p:spPr>
      </p:sp>
      <p:sp>
        <p:nvSpPr>
          <p:cNvPr id="47" name="Shape 45"/>
          <p:cNvSpPr/>
          <p:nvPr/>
        </p:nvSpPr>
        <p:spPr>
          <a:xfrm>
            <a:off x="10497312" y="1956816"/>
            <a:ext cx="713232" cy="1783080"/>
          </a:xfrm>
          <a:prstGeom prst="line">
            <a:avLst/>
          </a:prstGeom>
          <a:noFill/>
          <a:ln w="12700">
            <a:solidFill>
              <a:srgbClr val="3A4E5B"/>
            </a:solidFill>
            <a:prstDash val="solid"/>
          </a:ln>
        </p:spPr>
      </p:sp>
      <p:sp>
        <p:nvSpPr>
          <p:cNvPr id="48" name="Shape 46"/>
          <p:cNvSpPr/>
          <p:nvPr/>
        </p:nvSpPr>
        <p:spPr>
          <a:xfrm>
            <a:off x="10497312" y="2670048"/>
            <a:ext cx="713232" cy="356616"/>
          </a:xfrm>
          <a:prstGeom prst="line">
            <a:avLst/>
          </a:prstGeom>
          <a:noFill/>
          <a:ln w="12700">
            <a:solidFill>
              <a:srgbClr val="3A4E5B"/>
            </a:solidFill>
            <a:prstDash val="solid"/>
          </a:ln>
        </p:spPr>
      </p:sp>
      <p:sp>
        <p:nvSpPr>
          <p:cNvPr id="49" name="Shape 47"/>
          <p:cNvSpPr/>
          <p:nvPr/>
        </p:nvSpPr>
        <p:spPr>
          <a:xfrm>
            <a:off x="10497312" y="2670048"/>
            <a:ext cx="713232" cy="1069848"/>
          </a:xfrm>
          <a:prstGeom prst="line">
            <a:avLst/>
          </a:prstGeom>
          <a:noFill/>
          <a:ln w="12700">
            <a:solidFill>
              <a:srgbClr val="3A4E5B"/>
            </a:solidFill>
            <a:prstDash val="solid"/>
          </a:ln>
        </p:spPr>
      </p:sp>
      <p:sp>
        <p:nvSpPr>
          <p:cNvPr id="50" name="Shape 48"/>
          <p:cNvSpPr/>
          <p:nvPr/>
        </p:nvSpPr>
        <p:spPr>
          <a:xfrm flipV="1">
            <a:off x="10497312" y="3026664"/>
            <a:ext cx="713232" cy="356616"/>
          </a:xfrm>
          <a:prstGeom prst="line">
            <a:avLst/>
          </a:prstGeom>
          <a:noFill/>
          <a:ln w="31750">
            <a:solidFill>
              <a:srgbClr val="7CCFC6"/>
            </a:solidFill>
            <a:prstDash val="solid"/>
          </a:ln>
        </p:spPr>
      </p:sp>
      <p:sp>
        <p:nvSpPr>
          <p:cNvPr id="51" name="Shape 49"/>
          <p:cNvSpPr/>
          <p:nvPr/>
        </p:nvSpPr>
        <p:spPr>
          <a:xfrm>
            <a:off x="10497312" y="3383280"/>
            <a:ext cx="713232" cy="356616"/>
          </a:xfrm>
          <a:prstGeom prst="line">
            <a:avLst/>
          </a:prstGeom>
          <a:noFill/>
          <a:ln w="12700">
            <a:solidFill>
              <a:srgbClr val="3A4E5B"/>
            </a:solidFill>
            <a:prstDash val="solid"/>
          </a:ln>
        </p:spPr>
      </p:sp>
      <p:sp>
        <p:nvSpPr>
          <p:cNvPr id="52" name="Shape 50"/>
          <p:cNvSpPr/>
          <p:nvPr/>
        </p:nvSpPr>
        <p:spPr>
          <a:xfrm flipV="1">
            <a:off x="10497312" y="3026664"/>
            <a:ext cx="713232" cy="1069848"/>
          </a:xfrm>
          <a:prstGeom prst="line">
            <a:avLst/>
          </a:prstGeom>
          <a:noFill/>
          <a:ln w="12700">
            <a:solidFill>
              <a:srgbClr val="3A4E5B"/>
            </a:solidFill>
            <a:prstDash val="solid"/>
          </a:ln>
        </p:spPr>
      </p:sp>
      <p:sp>
        <p:nvSpPr>
          <p:cNvPr id="53" name="Shape 51"/>
          <p:cNvSpPr/>
          <p:nvPr/>
        </p:nvSpPr>
        <p:spPr>
          <a:xfrm flipV="1">
            <a:off x="10497312" y="3739896"/>
            <a:ext cx="713232" cy="356616"/>
          </a:xfrm>
          <a:prstGeom prst="line">
            <a:avLst/>
          </a:prstGeom>
          <a:noFill/>
          <a:ln w="12700">
            <a:solidFill>
              <a:srgbClr val="3A4E5B"/>
            </a:solidFill>
            <a:prstDash val="solid"/>
          </a:ln>
        </p:spPr>
      </p:sp>
      <p:sp>
        <p:nvSpPr>
          <p:cNvPr id="54" name="Shape 52"/>
          <p:cNvSpPr/>
          <p:nvPr/>
        </p:nvSpPr>
        <p:spPr>
          <a:xfrm flipV="1">
            <a:off x="10497312" y="3026664"/>
            <a:ext cx="713232" cy="1783080"/>
          </a:xfrm>
          <a:prstGeom prst="line">
            <a:avLst/>
          </a:prstGeom>
          <a:noFill/>
          <a:ln w="12700">
            <a:solidFill>
              <a:srgbClr val="3A4E5B"/>
            </a:solidFill>
            <a:prstDash val="solid"/>
          </a:ln>
        </p:spPr>
      </p:sp>
      <p:sp>
        <p:nvSpPr>
          <p:cNvPr id="55" name="Shape 53"/>
          <p:cNvSpPr/>
          <p:nvPr/>
        </p:nvSpPr>
        <p:spPr>
          <a:xfrm flipV="1">
            <a:off x="10497312" y="3739896"/>
            <a:ext cx="713232" cy="1069848"/>
          </a:xfrm>
          <a:prstGeom prst="line">
            <a:avLst/>
          </a:prstGeom>
          <a:noFill/>
          <a:ln w="12700">
            <a:solidFill>
              <a:srgbClr val="3A4E5B"/>
            </a:solidFill>
            <a:prstDash val="solid"/>
          </a:ln>
        </p:spPr>
      </p:sp>
      <p:sp>
        <p:nvSpPr>
          <p:cNvPr id="56" name="Shape 54"/>
          <p:cNvSpPr/>
          <p:nvPr/>
        </p:nvSpPr>
        <p:spPr>
          <a:xfrm flipH="1">
            <a:off x="10497312" y="3739896"/>
            <a:ext cx="713232" cy="356616"/>
          </a:xfrm>
          <a:prstGeom prst="line">
            <a:avLst/>
          </a:prstGeom>
          <a:noFill/>
          <a:ln w="31750">
            <a:solidFill>
              <a:srgbClr val="D45D27"/>
            </a:solidFill>
            <a:prstDash val="solid"/>
          </a:ln>
        </p:spPr>
      </p:sp>
      <p:sp>
        <p:nvSpPr>
          <p:cNvPr id="57" name="Shape 55"/>
          <p:cNvSpPr/>
          <p:nvPr/>
        </p:nvSpPr>
        <p:spPr>
          <a:xfrm flipH="1">
            <a:off x="9473184" y="4096512"/>
            <a:ext cx="713232" cy="0"/>
          </a:xfrm>
          <a:prstGeom prst="line">
            <a:avLst/>
          </a:prstGeom>
          <a:noFill/>
          <a:ln w="31750">
            <a:solidFill>
              <a:srgbClr val="D45D27"/>
            </a:solidFill>
            <a:prstDash val="solid"/>
          </a:ln>
        </p:spPr>
      </p:sp>
      <p:sp>
        <p:nvSpPr>
          <p:cNvPr id="58" name="Shape 56"/>
          <p:cNvSpPr/>
          <p:nvPr/>
        </p:nvSpPr>
        <p:spPr>
          <a:xfrm>
            <a:off x="8138160" y="2514600"/>
            <a:ext cx="310896" cy="310896"/>
          </a:xfrm>
          <a:prstGeom prst="ellipse">
            <a:avLst/>
          </a:prstGeom>
          <a:solidFill>
            <a:srgbClr val="1F3440"/>
          </a:solidFill>
          <a:ln w="19050">
            <a:solidFill>
              <a:srgbClr val="7CCFC6"/>
            </a:solidFill>
            <a:prstDash val="solid"/>
          </a:ln>
        </p:spPr>
      </p:sp>
      <p:sp>
        <p:nvSpPr>
          <p:cNvPr id="59" name="Shape 57"/>
          <p:cNvSpPr/>
          <p:nvPr/>
        </p:nvSpPr>
        <p:spPr>
          <a:xfrm>
            <a:off x="8138160" y="3227832"/>
            <a:ext cx="310896" cy="310896"/>
          </a:xfrm>
          <a:prstGeom prst="ellipse">
            <a:avLst/>
          </a:prstGeom>
          <a:solidFill>
            <a:srgbClr val="1F3440"/>
          </a:solidFill>
          <a:ln w="19050">
            <a:solidFill>
              <a:srgbClr val="7CCFC6"/>
            </a:solidFill>
            <a:prstDash val="solid"/>
          </a:ln>
        </p:spPr>
      </p:sp>
      <p:sp>
        <p:nvSpPr>
          <p:cNvPr id="60" name="Shape 58"/>
          <p:cNvSpPr/>
          <p:nvPr/>
        </p:nvSpPr>
        <p:spPr>
          <a:xfrm>
            <a:off x="8138160" y="3941064"/>
            <a:ext cx="310896" cy="310896"/>
          </a:xfrm>
          <a:prstGeom prst="ellipse">
            <a:avLst/>
          </a:prstGeom>
          <a:solidFill>
            <a:srgbClr val="1F3440"/>
          </a:solidFill>
          <a:ln w="19050">
            <a:solidFill>
              <a:srgbClr val="7CCFC6"/>
            </a:solidFill>
            <a:prstDash val="solid"/>
          </a:ln>
        </p:spPr>
      </p:sp>
      <p:sp>
        <p:nvSpPr>
          <p:cNvPr id="61" name="Shape 59"/>
          <p:cNvSpPr/>
          <p:nvPr/>
        </p:nvSpPr>
        <p:spPr>
          <a:xfrm>
            <a:off x="9162288" y="1801368"/>
            <a:ext cx="310896" cy="310896"/>
          </a:xfrm>
          <a:prstGeom prst="ellipse">
            <a:avLst/>
          </a:prstGeom>
          <a:solidFill>
            <a:srgbClr val="1F3440"/>
          </a:solidFill>
          <a:ln w="19050">
            <a:solidFill>
              <a:srgbClr val="7CCFC6"/>
            </a:solidFill>
            <a:prstDash val="solid"/>
          </a:ln>
        </p:spPr>
      </p:sp>
      <p:sp>
        <p:nvSpPr>
          <p:cNvPr id="62" name="Shape 60"/>
          <p:cNvSpPr/>
          <p:nvPr/>
        </p:nvSpPr>
        <p:spPr>
          <a:xfrm>
            <a:off x="9162288" y="2514600"/>
            <a:ext cx="310896" cy="310896"/>
          </a:xfrm>
          <a:prstGeom prst="ellipse">
            <a:avLst/>
          </a:prstGeom>
          <a:solidFill>
            <a:srgbClr val="1F3440"/>
          </a:solidFill>
          <a:ln w="19050">
            <a:solidFill>
              <a:srgbClr val="7CCFC6"/>
            </a:solidFill>
            <a:prstDash val="solid"/>
          </a:ln>
        </p:spPr>
      </p:sp>
      <p:sp>
        <p:nvSpPr>
          <p:cNvPr id="63" name="Shape 61"/>
          <p:cNvSpPr/>
          <p:nvPr/>
        </p:nvSpPr>
        <p:spPr>
          <a:xfrm>
            <a:off x="9162288" y="3227832"/>
            <a:ext cx="310896" cy="310896"/>
          </a:xfrm>
          <a:prstGeom prst="ellipse">
            <a:avLst/>
          </a:prstGeom>
          <a:solidFill>
            <a:srgbClr val="1F3440"/>
          </a:solidFill>
          <a:ln w="19050">
            <a:solidFill>
              <a:srgbClr val="7CCFC6"/>
            </a:solidFill>
            <a:prstDash val="solid"/>
          </a:ln>
        </p:spPr>
      </p:sp>
      <p:sp>
        <p:nvSpPr>
          <p:cNvPr id="64" name="Shape 62"/>
          <p:cNvSpPr/>
          <p:nvPr/>
        </p:nvSpPr>
        <p:spPr>
          <a:xfrm>
            <a:off x="9162288" y="3941064"/>
            <a:ext cx="310896" cy="310896"/>
          </a:xfrm>
          <a:prstGeom prst="ellipse">
            <a:avLst/>
          </a:prstGeom>
          <a:solidFill>
            <a:srgbClr val="1F3440"/>
          </a:solidFill>
          <a:ln w="19050">
            <a:solidFill>
              <a:srgbClr val="7CCFC6"/>
            </a:solidFill>
            <a:prstDash val="solid"/>
          </a:ln>
        </p:spPr>
      </p:sp>
      <p:sp>
        <p:nvSpPr>
          <p:cNvPr id="65" name="Shape 63"/>
          <p:cNvSpPr/>
          <p:nvPr/>
        </p:nvSpPr>
        <p:spPr>
          <a:xfrm>
            <a:off x="9162288" y="4654296"/>
            <a:ext cx="310896" cy="310896"/>
          </a:xfrm>
          <a:prstGeom prst="ellipse">
            <a:avLst/>
          </a:prstGeom>
          <a:solidFill>
            <a:srgbClr val="1F3440"/>
          </a:solidFill>
          <a:ln w="19050">
            <a:solidFill>
              <a:srgbClr val="7CCFC6"/>
            </a:solidFill>
            <a:prstDash val="solid"/>
          </a:ln>
        </p:spPr>
      </p:sp>
      <p:sp>
        <p:nvSpPr>
          <p:cNvPr id="66" name="Shape 64"/>
          <p:cNvSpPr/>
          <p:nvPr/>
        </p:nvSpPr>
        <p:spPr>
          <a:xfrm>
            <a:off x="10186416" y="1801368"/>
            <a:ext cx="310896" cy="310896"/>
          </a:xfrm>
          <a:prstGeom prst="ellipse">
            <a:avLst/>
          </a:prstGeom>
          <a:solidFill>
            <a:srgbClr val="1F3440"/>
          </a:solidFill>
          <a:ln w="19050">
            <a:solidFill>
              <a:srgbClr val="7CCFC6"/>
            </a:solidFill>
            <a:prstDash val="solid"/>
          </a:ln>
        </p:spPr>
      </p:sp>
      <p:sp>
        <p:nvSpPr>
          <p:cNvPr id="67" name="Shape 65"/>
          <p:cNvSpPr/>
          <p:nvPr/>
        </p:nvSpPr>
        <p:spPr>
          <a:xfrm>
            <a:off x="10186416" y="2514600"/>
            <a:ext cx="310896" cy="310896"/>
          </a:xfrm>
          <a:prstGeom prst="ellipse">
            <a:avLst/>
          </a:prstGeom>
          <a:solidFill>
            <a:srgbClr val="1F3440"/>
          </a:solidFill>
          <a:ln w="19050">
            <a:solidFill>
              <a:srgbClr val="7CCFC6"/>
            </a:solidFill>
            <a:prstDash val="solid"/>
          </a:ln>
        </p:spPr>
      </p:sp>
      <p:sp>
        <p:nvSpPr>
          <p:cNvPr id="68" name="Shape 66"/>
          <p:cNvSpPr/>
          <p:nvPr/>
        </p:nvSpPr>
        <p:spPr>
          <a:xfrm>
            <a:off x="10186416" y="3227832"/>
            <a:ext cx="310896" cy="310896"/>
          </a:xfrm>
          <a:prstGeom prst="ellipse">
            <a:avLst/>
          </a:prstGeom>
          <a:solidFill>
            <a:srgbClr val="1F3440"/>
          </a:solidFill>
          <a:ln w="19050">
            <a:solidFill>
              <a:srgbClr val="7CCFC6"/>
            </a:solidFill>
            <a:prstDash val="solid"/>
          </a:ln>
        </p:spPr>
      </p:sp>
      <p:sp>
        <p:nvSpPr>
          <p:cNvPr id="69" name="Shape 67"/>
          <p:cNvSpPr/>
          <p:nvPr/>
        </p:nvSpPr>
        <p:spPr>
          <a:xfrm>
            <a:off x="10186416" y="3941064"/>
            <a:ext cx="310896" cy="310896"/>
          </a:xfrm>
          <a:prstGeom prst="ellipse">
            <a:avLst/>
          </a:prstGeom>
          <a:solidFill>
            <a:srgbClr val="1F3440"/>
          </a:solidFill>
          <a:ln w="19050">
            <a:solidFill>
              <a:srgbClr val="7CCFC6"/>
            </a:solidFill>
            <a:prstDash val="solid"/>
          </a:ln>
        </p:spPr>
      </p:sp>
      <p:sp>
        <p:nvSpPr>
          <p:cNvPr id="70" name="Shape 68"/>
          <p:cNvSpPr/>
          <p:nvPr/>
        </p:nvSpPr>
        <p:spPr>
          <a:xfrm>
            <a:off x="10186416" y="4654296"/>
            <a:ext cx="310896" cy="310896"/>
          </a:xfrm>
          <a:prstGeom prst="ellipse">
            <a:avLst/>
          </a:prstGeom>
          <a:solidFill>
            <a:srgbClr val="1F3440"/>
          </a:solidFill>
          <a:ln w="19050">
            <a:solidFill>
              <a:srgbClr val="7CCFC6"/>
            </a:solidFill>
            <a:prstDash val="solid"/>
          </a:ln>
        </p:spPr>
      </p:sp>
      <p:sp>
        <p:nvSpPr>
          <p:cNvPr id="71" name="Shape 69"/>
          <p:cNvSpPr/>
          <p:nvPr/>
        </p:nvSpPr>
        <p:spPr>
          <a:xfrm>
            <a:off x="11210544" y="2871216"/>
            <a:ext cx="310896" cy="310896"/>
          </a:xfrm>
          <a:prstGeom prst="ellipse">
            <a:avLst/>
          </a:prstGeom>
          <a:solidFill>
            <a:srgbClr val="1F3440"/>
          </a:solidFill>
          <a:ln w="19050">
            <a:solidFill>
              <a:srgbClr val="7CCFC6"/>
            </a:solidFill>
            <a:prstDash val="solid"/>
          </a:ln>
        </p:spPr>
      </p:sp>
      <p:sp>
        <p:nvSpPr>
          <p:cNvPr id="72" name="Shape 70"/>
          <p:cNvSpPr/>
          <p:nvPr/>
        </p:nvSpPr>
        <p:spPr>
          <a:xfrm>
            <a:off x="11210544" y="3584448"/>
            <a:ext cx="310896" cy="310896"/>
          </a:xfrm>
          <a:prstGeom prst="ellipse">
            <a:avLst/>
          </a:prstGeom>
          <a:solidFill>
            <a:srgbClr val="1F3440"/>
          </a:solidFill>
          <a:ln w="19050">
            <a:solidFill>
              <a:srgbClr val="7CCFC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2 · ROADMAP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Today: from an error signal to an update</a:t>
            </a:r>
            <a:endParaRPr lang="en-US" sz="3000" dirty="0"/>
          </a:p>
        </p:txBody>
      </p:sp>
      <p:sp>
        <p:nvSpPr>
          <p:cNvPr id="5" name="Shape 2"/>
          <p:cNvSpPr/>
          <p:nvPr/>
        </p:nvSpPr>
        <p:spPr>
          <a:xfrm>
            <a:off x="822960" y="1920240"/>
            <a:ext cx="0" cy="3346704"/>
          </a:xfrm>
          <a:prstGeom prst="line">
            <a:avLst/>
          </a:prstGeom>
          <a:noFill/>
          <a:ln w="25400">
            <a:solidFill>
              <a:schemeClr val="accent1">
                <a:alpha val="50000"/>
              </a:schemeClr>
            </a:solidFill>
            <a:prstDash val="solid"/>
          </a:ln>
        </p:spPr>
      </p:sp>
      <p:sp>
        <p:nvSpPr>
          <p:cNvPr id="6" name="Shape 3"/>
          <p:cNvSpPr/>
          <p:nvPr/>
        </p:nvSpPr>
        <p:spPr>
          <a:xfrm>
            <a:off x="548640" y="1645920"/>
            <a:ext cx="548640" cy="548640"/>
          </a:xfrm>
          <a:prstGeom prst="ellipse">
            <a:avLst/>
          </a:prstGeom>
          <a:solidFill>
            <a:schemeClr val="accent1"/>
          </a:solidFill>
          <a:ln w="25400">
            <a:solidFill>
              <a:schemeClr val="bg1"/>
            </a:solidFill>
            <a:prstDash val="solid"/>
          </a:ln>
        </p:spPr>
      </p:sp>
      <p:sp>
        <p:nvSpPr>
          <p:cNvPr id="7" name="Text 4"/>
          <p:cNvSpPr txBox="1"/>
          <p:nvPr/>
        </p:nvSpPr>
        <p:spPr>
          <a:xfrm>
            <a:off x="548640" y="16459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8" name="Text 5"/>
          <p:cNvSpPr txBox="1"/>
          <p:nvPr/>
        </p:nvSpPr>
        <p:spPr>
          <a:xfrm>
            <a:off x="1325880" y="1682496"/>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Loss functions</a:t>
            </a:r>
            <a:endParaRPr lang="en-US" sz="1900" dirty="0"/>
          </a:p>
        </p:txBody>
      </p:sp>
      <p:sp>
        <p:nvSpPr>
          <p:cNvPr id="9" name="Text 6"/>
          <p:cNvSpPr txBox="1"/>
          <p:nvPr/>
        </p:nvSpPr>
        <p:spPr>
          <a:xfrm>
            <a:off x="1325880" y="1985518"/>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Derive MSE and cross-entropy as maximum likelihood; see why MSE fails for classification.</a:t>
            </a:r>
            <a:endParaRPr lang="en-US" sz="1600" dirty="0"/>
          </a:p>
        </p:txBody>
      </p:sp>
      <p:sp>
        <p:nvSpPr>
          <p:cNvPr id="10" name="Shape 7"/>
          <p:cNvSpPr/>
          <p:nvPr/>
        </p:nvSpPr>
        <p:spPr>
          <a:xfrm>
            <a:off x="548640" y="2761488"/>
            <a:ext cx="548640" cy="548640"/>
          </a:xfrm>
          <a:prstGeom prst="ellipse">
            <a:avLst/>
          </a:prstGeom>
          <a:solidFill>
            <a:schemeClr val="accent1"/>
          </a:solidFill>
          <a:ln w="25400">
            <a:solidFill>
              <a:schemeClr val="bg1"/>
            </a:solidFill>
            <a:prstDash val="solid"/>
          </a:ln>
        </p:spPr>
      </p:sp>
      <p:sp>
        <p:nvSpPr>
          <p:cNvPr id="11" name="Text 8"/>
          <p:cNvSpPr txBox="1"/>
          <p:nvPr/>
        </p:nvSpPr>
        <p:spPr>
          <a:xfrm>
            <a:off x="548640" y="2761488"/>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12" name="Text 9"/>
          <p:cNvSpPr txBox="1"/>
          <p:nvPr/>
        </p:nvSpPr>
        <p:spPr>
          <a:xfrm>
            <a:off x="1325880" y="2798064"/>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Backpropagation</a:t>
            </a:r>
            <a:endParaRPr lang="en-US" sz="1900" dirty="0"/>
          </a:p>
        </p:txBody>
      </p:sp>
      <p:sp>
        <p:nvSpPr>
          <p:cNvPr id="13" name="Text 10"/>
          <p:cNvSpPr txBox="1"/>
          <p:nvPr/>
        </p:nvSpPr>
        <p:spPr>
          <a:xfrm>
            <a:off x="1325880" y="3101086"/>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Derive and use the four backprop equations; check gradients numerically.</a:t>
            </a:r>
            <a:endParaRPr lang="en-US" sz="1600" dirty="0"/>
          </a:p>
        </p:txBody>
      </p:sp>
      <p:sp>
        <p:nvSpPr>
          <p:cNvPr id="14" name="Shape 11"/>
          <p:cNvSpPr/>
          <p:nvPr/>
        </p:nvSpPr>
        <p:spPr>
          <a:xfrm>
            <a:off x="548640" y="3877056"/>
            <a:ext cx="548640" cy="548640"/>
          </a:xfrm>
          <a:prstGeom prst="ellipse">
            <a:avLst/>
          </a:prstGeom>
          <a:solidFill>
            <a:schemeClr val="accent1"/>
          </a:solidFill>
          <a:ln w="25400">
            <a:solidFill>
              <a:schemeClr val="bg1"/>
            </a:solidFill>
            <a:prstDash val="solid"/>
          </a:ln>
        </p:spPr>
      </p:sp>
      <p:sp>
        <p:nvSpPr>
          <p:cNvPr id="15" name="Text 12"/>
          <p:cNvSpPr txBox="1"/>
          <p:nvPr/>
        </p:nvSpPr>
        <p:spPr>
          <a:xfrm>
            <a:off x="548640" y="3877056"/>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16" name="Text 13"/>
          <p:cNvSpPr txBox="1"/>
          <p:nvPr/>
        </p:nvSpPr>
        <p:spPr>
          <a:xfrm>
            <a:off x="1325880" y="3913632"/>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Gradient descent</a:t>
            </a:r>
            <a:endParaRPr lang="en-US" sz="1900" dirty="0"/>
          </a:p>
        </p:txBody>
      </p:sp>
      <p:sp>
        <p:nvSpPr>
          <p:cNvPr id="17" name="Text 14"/>
          <p:cNvSpPr txBox="1"/>
          <p:nvPr/>
        </p:nvSpPr>
        <p:spPr>
          <a:xfrm>
            <a:off x="1325880" y="4216654"/>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Choose a learning rate and batch size; read training curves.</a:t>
            </a:r>
            <a:endParaRPr lang="en-US" sz="1600" dirty="0"/>
          </a:p>
        </p:txBody>
      </p:sp>
      <p:sp>
        <p:nvSpPr>
          <p:cNvPr id="18" name="Shape 15"/>
          <p:cNvSpPr/>
          <p:nvPr/>
        </p:nvSpPr>
        <p:spPr>
          <a:xfrm>
            <a:off x="548640" y="4992624"/>
            <a:ext cx="548640" cy="548640"/>
          </a:xfrm>
          <a:prstGeom prst="ellipse">
            <a:avLst/>
          </a:prstGeom>
          <a:solidFill>
            <a:schemeClr val="accent1"/>
          </a:solidFill>
          <a:ln w="25400">
            <a:solidFill>
              <a:schemeClr val="bg1"/>
            </a:solidFill>
            <a:prstDash val="solid"/>
          </a:ln>
        </p:spPr>
      </p:sp>
      <p:sp>
        <p:nvSpPr>
          <p:cNvPr id="19" name="Text 16"/>
          <p:cNvSpPr txBox="1"/>
          <p:nvPr/>
        </p:nvSpPr>
        <p:spPr>
          <a:xfrm>
            <a:off x="548640" y="4992624"/>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20" name="Text 17"/>
          <p:cNvSpPr txBox="1"/>
          <p:nvPr/>
        </p:nvSpPr>
        <p:spPr>
          <a:xfrm>
            <a:off x="1325880" y="5029200"/>
            <a:ext cx="5989320"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Why deep?</a:t>
            </a:r>
            <a:endParaRPr lang="en-US" sz="1900" dirty="0"/>
          </a:p>
        </p:txBody>
      </p:sp>
      <p:sp>
        <p:nvSpPr>
          <p:cNvPr id="21" name="Text 18"/>
          <p:cNvSpPr txBox="1"/>
          <p:nvPr/>
        </p:nvSpPr>
        <p:spPr>
          <a:xfrm>
            <a:off x="1325880" y="5332222"/>
            <a:ext cx="5989320" cy="739394"/>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Why depth is efficient, and what changed around 2012.</a:t>
            </a:r>
            <a:endParaRPr lang="en-US" sz="1600" dirty="0"/>
          </a:p>
        </p:txBody>
      </p:sp>
      <p:sp>
        <p:nvSpPr>
          <p:cNvPr id="22" name="Shape 19"/>
          <p:cNvSpPr/>
          <p:nvPr/>
        </p:nvSpPr>
        <p:spPr>
          <a:xfrm>
            <a:off x="7818120" y="1645920"/>
            <a:ext cx="3822192" cy="1841373"/>
          </a:xfrm>
          <a:prstGeom prst="roundRect">
            <a:avLst>
              <a:gd name="adj" fmla="val 3973"/>
            </a:avLst>
          </a:prstGeom>
          <a:solidFill>
            <a:schemeClr val="accent1">
              <a:alpha val="10000"/>
            </a:schemeClr>
          </a:solidFill>
          <a:ln w="12700">
            <a:solidFill>
              <a:schemeClr val="accent1">
                <a:alpha val="10000"/>
              </a:schemeClr>
            </a:solidFill>
            <a:prstDash val="solid"/>
          </a:ln>
        </p:spPr>
      </p:sp>
      <p:sp>
        <p:nvSpPr>
          <p:cNvPr id="23" name="Text 20"/>
          <p:cNvSpPr txBox="1"/>
          <p:nvPr/>
        </p:nvSpPr>
        <p:spPr>
          <a:xfrm>
            <a:off x="8046720" y="1792224"/>
            <a:ext cx="336499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RECALL: THE FORWARD PASS</a:t>
            </a:r>
            <a:endParaRPr lang="en-US" sz="1200" dirty="0"/>
          </a:p>
        </p:txBody>
      </p:sp>
      <p:sp>
        <p:nvSpPr>
          <p:cNvPr id="24" name="Text 21"/>
          <p:cNvSpPr txBox="1"/>
          <p:nvPr/>
        </p:nvSpPr>
        <p:spPr>
          <a:xfrm>
            <a:off x="8046720" y="2221992"/>
            <a:ext cx="3364992" cy="1073277"/>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z[l] = W[l] a[l−1] + b[l]</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a[l] = g(z[l])</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ŷ = a[L]</a:t>
            </a:r>
            <a:endParaRPr lang="en-US" sz="2100" dirty="0"/>
          </a:p>
        </p:txBody>
      </p:sp>
      <p:sp>
        <p:nvSpPr>
          <p:cNvPr id="25" name="Shape 22"/>
          <p:cNvSpPr/>
          <p:nvPr/>
        </p:nvSpPr>
        <p:spPr>
          <a:xfrm>
            <a:off x="7818120" y="3794760"/>
            <a:ext cx="3822192" cy="2103120"/>
          </a:xfrm>
          <a:prstGeom prst="roundRect">
            <a:avLst>
              <a:gd name="adj" fmla="val 3478"/>
            </a:avLst>
          </a:prstGeom>
          <a:solidFill>
            <a:schemeClr val="accent2">
              <a:alpha val="12000"/>
            </a:schemeClr>
          </a:solidFill>
          <a:ln w="12700">
            <a:solidFill>
              <a:schemeClr val="accent2">
                <a:alpha val="12000"/>
              </a:schemeClr>
            </a:solidFill>
            <a:prstDash val="solid"/>
          </a:ln>
        </p:spPr>
      </p:sp>
      <p:sp>
        <p:nvSpPr>
          <p:cNvPr id="26" name="Text 23"/>
          <p:cNvSpPr txBox="1"/>
          <p:nvPr/>
        </p:nvSpPr>
        <p:spPr>
          <a:xfrm>
            <a:off x="8019288" y="3995928"/>
            <a:ext cx="34198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2"/>
                </a:solidFill>
              </a:rPr>
              <a:t>Today’s colour code</a:t>
            </a:r>
            <a:endParaRPr lang="en-US" sz="1900" dirty="0"/>
          </a:p>
        </p:txBody>
      </p:sp>
      <p:sp>
        <p:nvSpPr>
          <p:cNvPr id="27" name="Text 24"/>
          <p:cNvSpPr txBox="1"/>
          <p:nvPr/>
        </p:nvSpPr>
        <p:spPr>
          <a:xfrm>
            <a:off x="8019288" y="4353814"/>
            <a:ext cx="3419856" cy="134289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Teal arrows carry the forward signal. Orange arrows carry gradients backward.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2 · NOTATION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New symbols: logits, the error signal δ, and η</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498080" cy="914400"/>
        </p:xfrm>
        <a:graphic>
          <a:graphicData uri="http://schemas.openxmlformats.org/drawingml/2006/table">
            <a:tbl>
              <a:tblPr/>
              <a:tblGrid>
                <a:gridCol w="2377440"/>
                <a:gridCol w="5120640"/>
              </a:tblGrid>
              <a:tr h="438912">
                <a:tc>
                  <a:txBody>
                    <a:bodyPr/>
                    <a:lstStyle/>
                    <a:p>
                      <a:pPr indent="0" marL="0">
                        <a:buNone/>
                      </a:pPr>
                      <a:r>
                        <a:rPr lang="en-US" sz="1700" b="1" dirty="0">
                          <a:solidFill>
                            <a:schemeClr val="bg1"/>
                          </a:solidFill>
                        </a:rPr>
                        <a:t>Symbol</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Meaning</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38912">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ŷ, y</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Prediction and target (one-hot for classes)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38912">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z</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Logits: raw scores before softmax</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38912">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L, J</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Loss on one example; average over a batch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38912">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δ[l] = ∂L/∂z[l]</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Error signal at layer l</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38912">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Δ[l]</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Batched error signal, shape (m, n[l])</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38912">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Elementwise (Hadamard) product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38912">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θ, η</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All parameters; learning rate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38912">
                <a:tc>
                  <a:txBody>
                    <a:bodyPr/>
                    <a:lstStyle/>
                    <a:p>
                      <a:pPr indent="0" marL="0">
                        <a:buNone/>
                      </a:pPr>
                      <a:r>
                        <a:rPr lang="en-US" sz="1700" dirty="0">
                          <a:solidFill>
                            <a:schemeClr val="tx1"/>
                          </a:solidFill>
                          <a:latin typeface="Cambria Math" pitchFamily="34" charset="0"/>
                          <a:ea typeface="Cambria Math" pitchFamily="34" charset="-122"/>
                          <a:cs typeface="Cambria Math" pitchFamily="34" charset="-120"/>
                        </a:rPr>
                        <a:t>λₘₐₓ</a:t>
                      </a:r>
                      <a:endParaRPr lang="en-US" sz="17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Largest eigenvalue of the Hessian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6" name="Shape 2"/>
          <p:cNvSpPr/>
          <p:nvPr/>
        </p:nvSpPr>
        <p:spPr>
          <a:xfrm>
            <a:off x="8503920" y="1645920"/>
            <a:ext cx="3136392" cy="2377440"/>
          </a:xfrm>
          <a:prstGeom prst="roundRect">
            <a:avLst>
              <a:gd name="adj" fmla="val 3077"/>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8705088" y="1847088"/>
            <a:ext cx="27340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Why δ lives on z</a:t>
            </a:r>
            <a:endParaRPr lang="en-US" sz="1900" dirty="0"/>
          </a:p>
        </p:txBody>
      </p:sp>
      <p:sp>
        <p:nvSpPr>
          <p:cNvPr id="8" name="Text 4"/>
          <p:cNvSpPr txBox="1"/>
          <p:nvPr/>
        </p:nvSpPr>
        <p:spPr>
          <a:xfrm>
            <a:off x="8705088" y="2204974"/>
            <a:ext cx="2734056" cy="161721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Defining the error on the pre-activation makes the weight gradients fall out in one line (BP4).</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5</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Loss functions</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Most losses are negative log-likelihoods. That choice decides whether gradients survive.</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§5</a:t>
            </a:r>
            <a:endParaRPr lang="en-US" sz="15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 good loss is differentiable, aligned and well-conditioned</a:t>
            </a:r>
            <a:endParaRPr lang="en-US" sz="3000" dirty="0"/>
          </a:p>
        </p:txBody>
      </p:sp>
      <p:sp>
        <p:nvSpPr>
          <p:cNvPr id="5" name="Shape 2"/>
          <p:cNvSpPr/>
          <p:nvPr/>
        </p:nvSpPr>
        <p:spPr>
          <a:xfrm>
            <a:off x="548640" y="1645920"/>
            <a:ext cx="5486400" cy="1253998"/>
          </a:xfrm>
          <a:prstGeom prst="roundRect">
            <a:avLst>
              <a:gd name="adj" fmla="val 5834"/>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0292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BATCH OBJECTIVE</a:t>
            </a:r>
            <a:endParaRPr lang="en-US" sz="1200" dirty="0"/>
          </a:p>
        </p:txBody>
      </p:sp>
      <p:sp>
        <p:nvSpPr>
          <p:cNvPr id="7" name="Text 4"/>
          <p:cNvSpPr txBox="1"/>
          <p:nvPr/>
        </p:nvSpPr>
        <p:spPr>
          <a:xfrm>
            <a:off x="777240" y="2221992"/>
            <a:ext cx="5029200" cy="485902"/>
          </a:xfrm>
          <a:prstGeom prst="rect">
            <a:avLst/>
          </a:prstGeom>
          <a:noFill/>
          <a:ln/>
        </p:spPr>
        <p:txBody>
          <a:bodyPr wrap="square" lIns="0" tIns="0" rIns="0" bIns="0" rtlCol="0" anchor="t"/>
          <a:lstStyle/>
          <a:p>
            <a:pPr algn="l" indent="0" marL="0">
              <a:lnSpc>
                <a:spcPct val="112000"/>
              </a:lnSpc>
              <a:buNone/>
            </a:pPr>
            <a:r>
              <a:rPr lang="en-US" sz="2600" dirty="0">
                <a:solidFill>
                  <a:schemeClr val="tx1"/>
                </a:solidFill>
                <a:latin typeface="Cambria Math" pitchFamily="34" charset="0"/>
                <a:ea typeface="Cambria Math" pitchFamily="34" charset="-122"/>
                <a:cs typeface="Cambria Math" pitchFamily="34" charset="-120"/>
              </a:rPr>
              <a:t>J = (1/m) Σᵢ L(ŷ⁽ⁱ⁾, y⁽ⁱ⁾)</a:t>
            </a:r>
            <a:endParaRPr lang="en-US" sz="2600" dirty="0"/>
          </a:p>
        </p:txBody>
      </p:sp>
      <p:sp>
        <p:nvSpPr>
          <p:cNvPr id="8" name="Text 5"/>
          <p:cNvSpPr txBox="1"/>
          <p:nvPr/>
        </p:nvSpPr>
        <p:spPr>
          <a:xfrm>
            <a:off x="548640" y="3063240"/>
            <a:ext cx="5486400" cy="914400"/>
          </a:xfrm>
          <a:prstGeom prst="rect">
            <a:avLst/>
          </a:prstGeom>
          <a:noFill/>
          <a:ln/>
        </p:spPr>
        <p:txBody>
          <a:bodyPr wrap="square" lIns="0" tIns="0" rIns="0" bIns="0" rtlCol="0" anchor="t"/>
          <a:lstStyle/>
          <a:p>
            <a:pPr algn="l" indent="0" marL="0">
              <a:lnSpc>
                <a:spcPct val="105000"/>
              </a:lnSpc>
              <a:buNone/>
            </a:pPr>
            <a:r>
              <a:rPr lang="en-US" sz="1800" dirty="0">
                <a:solidFill>
                  <a:schemeClr val="tx2"/>
                </a:solidFill>
              </a:rPr>
              <a:t>Averaging keeps the gradient scale independent of batch size, so changing m does not force re-tuning η.</a:t>
            </a:r>
            <a:endParaRPr lang="en-US" sz="1800" dirty="0"/>
          </a:p>
        </p:txBody>
      </p:sp>
      <p:sp>
        <p:nvSpPr>
          <p:cNvPr id="9" name="Shape 6"/>
          <p:cNvSpPr/>
          <p:nvPr/>
        </p:nvSpPr>
        <p:spPr>
          <a:xfrm>
            <a:off x="6793992" y="1901952"/>
            <a:ext cx="0" cy="2743200"/>
          </a:xfrm>
          <a:prstGeom prst="line">
            <a:avLst/>
          </a:prstGeom>
          <a:noFill/>
          <a:ln w="25400">
            <a:solidFill>
              <a:schemeClr val="accent1">
                <a:alpha val="50000"/>
              </a:schemeClr>
            </a:solidFill>
            <a:prstDash val="solid"/>
          </a:ln>
        </p:spPr>
      </p:sp>
      <p:sp>
        <p:nvSpPr>
          <p:cNvPr id="10" name="Shape 7"/>
          <p:cNvSpPr/>
          <p:nvPr/>
        </p:nvSpPr>
        <p:spPr>
          <a:xfrm>
            <a:off x="6583680" y="1691640"/>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658368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Text 9"/>
          <p:cNvSpPr txBox="1"/>
          <p:nvPr/>
        </p:nvSpPr>
        <p:spPr>
          <a:xfrm>
            <a:off x="7232904" y="1728216"/>
            <a:ext cx="44074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Differentiable</a:t>
            </a:r>
            <a:endParaRPr lang="en-US" sz="1900" dirty="0"/>
          </a:p>
        </p:txBody>
      </p:sp>
      <p:sp>
        <p:nvSpPr>
          <p:cNvPr id="13" name="Text 10"/>
          <p:cNvSpPr txBox="1"/>
          <p:nvPr/>
        </p:nvSpPr>
        <p:spPr>
          <a:xfrm>
            <a:off x="7232904" y="2031238"/>
            <a:ext cx="440740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So gradients exist.</a:t>
            </a:r>
            <a:endParaRPr lang="en-US" sz="1600" dirty="0"/>
          </a:p>
        </p:txBody>
      </p:sp>
      <p:sp>
        <p:nvSpPr>
          <p:cNvPr id="14" name="Shape 11"/>
          <p:cNvSpPr/>
          <p:nvPr/>
        </p:nvSpPr>
        <p:spPr>
          <a:xfrm>
            <a:off x="6583680" y="3063240"/>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658368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6" name="Text 13"/>
          <p:cNvSpPr txBox="1"/>
          <p:nvPr/>
        </p:nvSpPr>
        <p:spPr>
          <a:xfrm>
            <a:off x="7232904" y="3099816"/>
            <a:ext cx="44074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Aligned with the goal</a:t>
            </a:r>
            <a:endParaRPr lang="en-US" sz="1900" dirty="0"/>
          </a:p>
        </p:txBody>
      </p:sp>
      <p:sp>
        <p:nvSpPr>
          <p:cNvPr id="17" name="Text 14"/>
          <p:cNvSpPr txBox="1"/>
          <p:nvPr/>
        </p:nvSpPr>
        <p:spPr>
          <a:xfrm>
            <a:off x="7232904" y="3402838"/>
            <a:ext cx="440740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Lower loss should mean a better model.</a:t>
            </a:r>
            <a:endParaRPr lang="en-US" sz="1600" dirty="0"/>
          </a:p>
        </p:txBody>
      </p:sp>
      <p:sp>
        <p:nvSpPr>
          <p:cNvPr id="18" name="Shape 15"/>
          <p:cNvSpPr/>
          <p:nvPr/>
        </p:nvSpPr>
        <p:spPr>
          <a:xfrm>
            <a:off x="6583680" y="4434840"/>
            <a:ext cx="420624" cy="420624"/>
          </a:xfrm>
          <a:prstGeom prst="ellipse">
            <a:avLst/>
          </a:prstGeom>
          <a:solidFill>
            <a:schemeClr val="accent2"/>
          </a:solidFill>
          <a:ln w="25400">
            <a:solidFill>
              <a:schemeClr val="bg1"/>
            </a:solidFill>
            <a:prstDash val="solid"/>
          </a:ln>
        </p:spPr>
      </p:sp>
      <p:sp>
        <p:nvSpPr>
          <p:cNvPr id="19" name="Text 16"/>
          <p:cNvSpPr txBox="1"/>
          <p:nvPr/>
        </p:nvSpPr>
        <p:spPr>
          <a:xfrm>
            <a:off x="6583680" y="4434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7"/>
          <p:cNvSpPr txBox="1"/>
          <p:nvPr/>
        </p:nvSpPr>
        <p:spPr>
          <a:xfrm>
            <a:off x="7232904" y="4471416"/>
            <a:ext cx="44074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Well-conditioned</a:t>
            </a:r>
            <a:endParaRPr lang="en-US" sz="1900" dirty="0"/>
          </a:p>
        </p:txBody>
      </p:sp>
      <p:sp>
        <p:nvSpPr>
          <p:cNvPr id="21" name="Text 18"/>
          <p:cNvSpPr txBox="1"/>
          <p:nvPr/>
        </p:nvSpPr>
        <p:spPr>
          <a:xfrm>
            <a:off x="7232904" y="4774438"/>
            <a:ext cx="440740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Gradients must stay large exactly when the model is badly wrong. This one does most of the work.</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MSE is maximum likelihood under Gaussian noise</a:t>
            </a:r>
            <a:endParaRPr lang="en-US" sz="3000" dirty="0"/>
          </a:p>
        </p:txBody>
      </p:sp>
      <p:sp>
        <p:nvSpPr>
          <p:cNvPr id="5" name="Shape 2"/>
          <p:cNvSpPr/>
          <p:nvPr/>
        </p:nvSpPr>
        <p:spPr>
          <a:xfrm>
            <a:off x="548640" y="1645920"/>
            <a:ext cx="6949440" cy="2111248"/>
          </a:xfrm>
          <a:prstGeom prst="roundRect">
            <a:avLst>
              <a:gd name="adj" fmla="val 3465"/>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649224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MAXIMUM LIKELIHOOD, GAUSSIAN NOISE</a:t>
            </a:r>
            <a:endParaRPr lang="en-US" sz="1200" dirty="0"/>
          </a:p>
        </p:txBody>
      </p:sp>
      <p:sp>
        <p:nvSpPr>
          <p:cNvPr id="7" name="Text 4"/>
          <p:cNvSpPr txBox="1"/>
          <p:nvPr/>
        </p:nvSpPr>
        <p:spPr>
          <a:xfrm>
            <a:off x="777240" y="2221992"/>
            <a:ext cx="6492240" cy="1343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Assume  y = f(x) + ε,   ε ~ N(0, σ²)</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log P(data) = Σᵢ [ −(y⁽ⁱ⁾ − f(x⁽ⁱ⁾))² / 2σ²  −  ½ log 2πσ² ]</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max log P   ⇔   min Σᵢ (y⁽ⁱ⁾ − f(x⁽ⁱ⁾))²</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L = ½ (ŷ − y)²,     dL/dŷ = ŷ − y</a:t>
            </a:r>
            <a:endParaRPr lang="en-US" sz="2000" dirty="0"/>
          </a:p>
        </p:txBody>
      </p:sp>
      <p:sp>
        <p:nvSpPr>
          <p:cNvPr id="8" name="Shape 5"/>
          <p:cNvSpPr/>
          <p:nvPr/>
        </p:nvSpPr>
        <p:spPr>
          <a:xfrm>
            <a:off x="8165592" y="1901952"/>
            <a:ext cx="0" cy="2377440"/>
          </a:xfrm>
          <a:prstGeom prst="line">
            <a:avLst/>
          </a:prstGeom>
          <a:noFill/>
          <a:ln w="25400">
            <a:solidFill>
              <a:schemeClr val="accent1">
                <a:alpha val="50000"/>
              </a:schemeClr>
            </a:solidFill>
            <a:prstDash val="solid"/>
          </a:ln>
        </p:spPr>
      </p:sp>
      <p:sp>
        <p:nvSpPr>
          <p:cNvPr id="9" name="Shape 6"/>
          <p:cNvSpPr/>
          <p:nvPr/>
        </p:nvSpPr>
        <p:spPr>
          <a:xfrm>
            <a:off x="7955280" y="1691640"/>
            <a:ext cx="420624" cy="420624"/>
          </a:xfrm>
          <a:prstGeom prst="ellipse">
            <a:avLst/>
          </a:prstGeom>
          <a:solidFill>
            <a:schemeClr val="accent1"/>
          </a:solidFill>
          <a:ln w="25400">
            <a:solidFill>
              <a:schemeClr val="bg1"/>
            </a:solidFill>
            <a:prstDash val="solid"/>
          </a:ln>
        </p:spPr>
      </p:sp>
      <p:sp>
        <p:nvSpPr>
          <p:cNvPr id="10" name="Text 7"/>
          <p:cNvSpPr txBox="1"/>
          <p:nvPr/>
        </p:nvSpPr>
        <p:spPr>
          <a:xfrm>
            <a:off x="795528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 8"/>
          <p:cNvSpPr txBox="1"/>
          <p:nvPr/>
        </p:nvSpPr>
        <p:spPr>
          <a:xfrm>
            <a:off x="8604504" y="1728216"/>
            <a:ext cx="3035808" cy="569468"/>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The assumption is the limit</a:t>
            </a:r>
            <a:endParaRPr lang="en-US" sz="1900" dirty="0"/>
          </a:p>
        </p:txBody>
      </p:sp>
      <p:sp>
        <p:nvSpPr>
          <p:cNvPr id="12" name="Text 9"/>
          <p:cNvSpPr txBox="1"/>
          <p:nvPr/>
        </p:nvSpPr>
        <p:spPr>
          <a:xfrm>
            <a:off x="8604504" y="2315972"/>
            <a:ext cx="3035808" cy="52781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MSE is right only if the noise is roughly Gaussian.</a:t>
            </a:r>
            <a:endParaRPr lang="en-US" sz="1600" dirty="0"/>
          </a:p>
        </p:txBody>
      </p:sp>
      <p:sp>
        <p:nvSpPr>
          <p:cNvPr id="13" name="Shape 10"/>
          <p:cNvSpPr/>
          <p:nvPr/>
        </p:nvSpPr>
        <p:spPr>
          <a:xfrm>
            <a:off x="7955280" y="2880360"/>
            <a:ext cx="420624" cy="420624"/>
          </a:xfrm>
          <a:prstGeom prst="ellipse">
            <a:avLst/>
          </a:prstGeom>
          <a:solidFill>
            <a:schemeClr val="accent1"/>
          </a:solidFill>
          <a:ln w="25400">
            <a:solidFill>
              <a:schemeClr val="bg1"/>
            </a:solidFill>
            <a:prstDash val="solid"/>
          </a:ln>
        </p:spPr>
      </p:sp>
      <p:sp>
        <p:nvSpPr>
          <p:cNvPr id="14" name="Text 11"/>
          <p:cNvSpPr txBox="1"/>
          <p:nvPr/>
        </p:nvSpPr>
        <p:spPr>
          <a:xfrm>
            <a:off x="7955280" y="2880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2"/>
          <p:cNvSpPr txBox="1"/>
          <p:nvPr/>
        </p:nvSpPr>
        <p:spPr>
          <a:xfrm>
            <a:off x="8604504" y="2916936"/>
            <a:ext cx="30358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Heavy-tailed noise</a:t>
            </a:r>
            <a:endParaRPr lang="en-US" sz="1900" dirty="0"/>
          </a:p>
        </p:txBody>
      </p:sp>
      <p:sp>
        <p:nvSpPr>
          <p:cNvPr id="16" name="Text 13"/>
          <p:cNvSpPr txBox="1"/>
          <p:nvPr/>
        </p:nvSpPr>
        <p:spPr>
          <a:xfrm>
            <a:off x="8604504" y="3219958"/>
            <a:ext cx="3035808" cy="8125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Use Huber loss (next slide).</a:t>
            </a:r>
            <a:endParaRPr lang="en-US" sz="1600" dirty="0"/>
          </a:p>
        </p:txBody>
      </p:sp>
      <p:sp>
        <p:nvSpPr>
          <p:cNvPr id="17" name="Shape 14"/>
          <p:cNvSpPr/>
          <p:nvPr/>
        </p:nvSpPr>
        <p:spPr>
          <a:xfrm>
            <a:off x="7955280" y="4069080"/>
            <a:ext cx="420624" cy="420624"/>
          </a:xfrm>
          <a:prstGeom prst="ellipse">
            <a:avLst/>
          </a:prstGeom>
          <a:solidFill>
            <a:schemeClr val="accent1"/>
          </a:solidFill>
          <a:ln w="25400">
            <a:solidFill>
              <a:schemeClr val="bg1"/>
            </a:solidFill>
            <a:prstDash val="solid"/>
          </a:ln>
        </p:spPr>
      </p:sp>
      <p:sp>
        <p:nvSpPr>
          <p:cNvPr id="18" name="Text 15"/>
          <p:cNvSpPr txBox="1"/>
          <p:nvPr/>
        </p:nvSpPr>
        <p:spPr>
          <a:xfrm>
            <a:off x="7955280" y="40690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6"/>
          <p:cNvSpPr txBox="1"/>
          <p:nvPr/>
        </p:nvSpPr>
        <p:spPr>
          <a:xfrm>
            <a:off x="8604504" y="4105656"/>
            <a:ext cx="30358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Counts</a:t>
            </a:r>
            <a:endParaRPr lang="en-US" sz="1900" dirty="0"/>
          </a:p>
        </p:txBody>
      </p:sp>
      <p:sp>
        <p:nvSpPr>
          <p:cNvPr id="20" name="Text 17"/>
          <p:cNvSpPr txBox="1"/>
          <p:nvPr/>
        </p:nvSpPr>
        <p:spPr>
          <a:xfrm>
            <a:off x="8604504" y="4408678"/>
            <a:ext cx="3035808" cy="8125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Use a Poisson loss.</a:t>
            </a:r>
            <a:endParaRPr lang="en-US" sz="1600" dirty="0"/>
          </a:p>
        </p:txBody>
      </p:sp>
      <p:sp>
        <p:nvSpPr>
          <p:cNvPr id="21" name="Text 18"/>
          <p:cNvSpPr txBox="1"/>
          <p:nvPr/>
        </p:nvSpPr>
        <p:spPr>
          <a:xfrm>
            <a:off x="548640" y="4572000"/>
            <a:ext cx="6949440" cy="731520"/>
          </a:xfrm>
          <a:prstGeom prst="rect">
            <a:avLst/>
          </a:prstGeom>
          <a:noFill/>
          <a:ln/>
        </p:spPr>
        <p:txBody>
          <a:bodyPr wrap="square" lIns="0" tIns="0" rIns="0" bIns="0" rtlCol="0" anchor="t"/>
          <a:lstStyle/>
          <a:p>
            <a:pPr algn="l" indent="0" marL="0">
              <a:lnSpc>
                <a:spcPct val="105000"/>
              </a:lnSpc>
              <a:buNone/>
            </a:pPr>
            <a:r>
              <a:rPr lang="en-US" sz="1700" dirty="0">
                <a:solidFill>
                  <a:schemeClr val="tx2"/>
                </a:solidFill>
              </a:rPr>
              <a:t>The ½ is cosmetic: PyTorch’s </a:t>
            </a:r>
            <a:r>
              <a:rPr lang="en-US" sz="1700" dirty="0">
                <a:solidFill>
                  <a:schemeClr val="accent1"/>
                </a:solidFill>
                <a:latin typeface="Consolas" pitchFamily="34" charset="0"/>
                <a:ea typeface="Consolas" pitchFamily="34" charset="-122"/>
                <a:cs typeface="Consolas" pitchFamily="34" charset="-120"/>
              </a:rPr>
              <a:t>nn.MSELoss</a:t>
            </a:r>
            <a:r>
              <a:rPr lang="en-US" sz="1700" dirty="0">
                <a:solidFill>
                  <a:schemeClr val="tx2"/>
                </a:solidFill>
              </a:rPr>
              <a:t> omits it; the factor of 2 is absorbed by η.</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Huber loss: quadratic near zero, linear for outliers</a:t>
            </a:r>
            <a:endParaRPr lang="en-US" sz="3000" dirty="0"/>
          </a:p>
        </p:txBody>
      </p:sp>
      <p:graphicFrame>
        <p:nvGraphicFramePr>
          <p:cNvPr id="5" name="Chart 0" descr=""/>
          <p:cNvGraphicFramePr/>
          <p:nvPr/>
        </p:nvGraphicFramePr>
        <p:xfrm>
          <a:off x="457200" y="160020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766560" y="1645920"/>
            <a:ext cx="4873752" cy="1476248"/>
          </a:xfrm>
          <a:prstGeom prst="roundRect">
            <a:avLst>
              <a:gd name="adj" fmla="val 4955"/>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6995160" y="1792224"/>
            <a:ext cx="441655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HUBER LOSS, THRESHOLD δ</a:t>
            </a:r>
            <a:endParaRPr lang="en-US" sz="1200" dirty="0"/>
          </a:p>
        </p:txBody>
      </p:sp>
      <p:sp>
        <p:nvSpPr>
          <p:cNvPr id="8" name="Text 4"/>
          <p:cNvSpPr txBox="1"/>
          <p:nvPr/>
        </p:nvSpPr>
        <p:spPr>
          <a:xfrm>
            <a:off x="6995160" y="2221992"/>
            <a:ext cx="4416552" cy="708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L = ½ e²                  if |e| ≤ δ</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L = δ (|e| − ½δ)       otherwise</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766560" y="3566160"/>
          <a:ext cx="4873752" cy="914400"/>
        </p:xfrm>
        <a:graphic>
          <a:graphicData uri="http://schemas.openxmlformats.org/drawingml/2006/table">
            <a:tbl>
              <a:tblPr/>
              <a:tblGrid>
                <a:gridCol w="1920240"/>
                <a:gridCol w="2953512"/>
              </a:tblGrid>
              <a:tr h="457200">
                <a:tc>
                  <a:txBody>
                    <a:bodyPr/>
                    <a:lstStyle/>
                    <a:p>
                      <a:pPr indent="0" marL="0">
                        <a:buNone/>
                      </a:pPr>
                      <a:r>
                        <a:rPr lang="en-US" sz="1600" b="1" dirty="0">
                          <a:solidFill>
                            <a:schemeClr val="bg1"/>
                          </a:solidFill>
                        </a:rPr>
                        <a:t>Loss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Use when</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57200">
                <a:tc>
                  <a:txBody>
                    <a:bodyPr/>
                    <a:lstStyle/>
                    <a:p>
                      <a:pPr indent="0" marL="0">
                        <a:buNone/>
                      </a:pPr>
                      <a:r>
                        <a:rPr lang="en-US" sz="1600" dirty="0">
                          <a:solidFill>
                            <a:schemeClr val="tx1"/>
                          </a:solidFill>
                        </a:rPr>
                        <a:t>MSE / L2</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Default; punishes large errors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57200">
                <a:tc>
                  <a:txBody>
                    <a:bodyPr/>
                    <a:lstStyle/>
                    <a:p>
                      <a:pPr indent="0" marL="0">
                        <a:buNone/>
                      </a:pPr>
                      <a:r>
                        <a:rPr lang="en-US" sz="1600" dirty="0">
                          <a:solidFill>
                            <a:schemeClr val="tx1"/>
                          </a:solidFill>
                        </a:rPr>
                        <a:t>MAE / L1</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Robust; constant gradient size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57200">
                <a:tc>
                  <a:txBody>
                    <a:bodyPr/>
                    <a:lstStyle/>
                    <a:p>
                      <a:pPr indent="0" marL="0">
                        <a:buNone/>
                      </a:pPr>
                      <a:r>
                        <a:rPr lang="en-US" sz="1600" b="1" dirty="0">
                          <a:solidFill>
                            <a:schemeClr val="accent1"/>
                          </a:solidFill>
                        </a:rPr>
                        <a:t>Huber / Smooth L1</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600" dirty="0">
                          <a:solidFill>
                            <a:schemeClr val="accent1"/>
                          </a:solidFill>
                        </a:rPr>
                        <a:t>Best of both; object detection</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bl>
          </a:graphicData>
        </a:graphic>
      </p:graphicFrame>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Binary cross-entropy: −log of the right class’s probability</a:t>
            </a:r>
            <a:endParaRPr lang="en-US" sz="3000" dirty="0"/>
          </a:p>
        </p:txBody>
      </p:sp>
      <p:graphicFrame>
        <p:nvGraphicFramePr>
          <p:cNvPr id="5" name="Chart 0" descr=""/>
          <p:cNvGraphicFramePr/>
          <p:nvPr/>
        </p:nvGraphicFramePr>
        <p:xfrm>
          <a:off x="457200" y="1600200"/>
          <a:ext cx="5486400" cy="44805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400800" y="1645920"/>
            <a:ext cx="5239512" cy="1793748"/>
          </a:xfrm>
          <a:prstGeom prst="roundRect">
            <a:avLst>
              <a:gd name="adj" fmla="val 4078"/>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6629400" y="1792224"/>
            <a:ext cx="478231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ONE TERM SURVIVES</a:t>
            </a:r>
            <a:endParaRPr lang="en-US" sz="1200" dirty="0"/>
          </a:p>
        </p:txBody>
      </p:sp>
      <p:sp>
        <p:nvSpPr>
          <p:cNvPr id="8" name="Text 4"/>
          <p:cNvSpPr txBox="1"/>
          <p:nvPr/>
        </p:nvSpPr>
        <p:spPr>
          <a:xfrm>
            <a:off x="6629400" y="2221992"/>
            <a:ext cx="4782312" cy="10256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L = −[ y log ŷ + (1 − y) log(1 − ŷ) ]</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y = 1:   L = −log ŷ</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y = 0:   L = −log(1 − ŷ)</a:t>
            </a:r>
            <a:endParaRPr lang="en-US" sz="2000" dirty="0"/>
          </a:p>
        </p:txBody>
      </p:sp>
      <p:sp>
        <p:nvSpPr>
          <p:cNvPr id="9" name="Shape 5"/>
          <p:cNvSpPr/>
          <p:nvPr/>
        </p:nvSpPr>
        <p:spPr>
          <a:xfrm>
            <a:off x="6400800" y="3657600"/>
            <a:ext cx="5239512" cy="1476248"/>
          </a:xfrm>
          <a:prstGeom prst="roundRect">
            <a:avLst>
              <a:gd name="adj" fmla="val 4955"/>
            </a:avLst>
          </a:prstGeom>
          <a:solidFill>
            <a:schemeClr val="bg2"/>
          </a:solidFill>
          <a:ln w="12700">
            <a:solidFill>
              <a:schemeClr val="bg2"/>
            </a:solidFill>
            <a:prstDash val="solid"/>
          </a:ln>
        </p:spPr>
      </p:sp>
      <p:sp>
        <p:nvSpPr>
          <p:cNvPr id="10" name="Text 6"/>
          <p:cNvSpPr txBox="1"/>
          <p:nvPr/>
        </p:nvSpPr>
        <p:spPr>
          <a:xfrm>
            <a:off x="6629400" y="3803904"/>
            <a:ext cx="4782312" cy="274320"/>
          </a:xfrm>
          <a:prstGeom prst="rect">
            <a:avLst/>
          </a:prstGeom>
          <a:noFill/>
          <a:ln/>
        </p:spPr>
        <p:txBody>
          <a:bodyPr wrap="square" lIns="0" tIns="0" rIns="0" bIns="0" rtlCol="0" anchor="ctr"/>
          <a:lstStyle/>
          <a:p>
            <a:pPr indent="0" marL="0">
              <a:buNone/>
            </a:pPr>
            <a:r>
              <a:rPr lang="en-US" sz="1200" b="1" spc="120" kern="0" dirty="0">
                <a:solidFill>
                  <a:schemeClr val="tx2"/>
                </a:solidFill>
              </a:rPr>
              <a:t>IT IS THE BERNOULLI LIKELIHOOD</a:t>
            </a:r>
            <a:endParaRPr lang="en-US" sz="1200" dirty="0"/>
          </a:p>
        </p:txBody>
      </p:sp>
      <p:sp>
        <p:nvSpPr>
          <p:cNvPr id="11" name="Text 7"/>
          <p:cNvSpPr txBox="1"/>
          <p:nvPr/>
        </p:nvSpPr>
        <p:spPr>
          <a:xfrm>
            <a:off x="6629400" y="4233672"/>
            <a:ext cx="4782312" cy="708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P(y | x) = ŷʸ (1 − ŷ)¹⁻ʸ</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−log P(y | x) = L</a:t>
            </a:r>
            <a:endParaRPr lang="en-US" sz="2000" dirty="0"/>
          </a:p>
        </p:txBody>
      </p:sp>
      <p:sp>
        <p:nvSpPr>
          <p:cNvPr id="12" name="Text 8"/>
          <p:cNvSpPr txBox="1"/>
          <p:nvPr/>
        </p:nvSpPr>
        <p:spPr>
          <a:xfrm>
            <a:off x="6400800" y="5349240"/>
            <a:ext cx="5239512" cy="640080"/>
          </a:xfrm>
          <a:prstGeom prst="rect">
            <a:avLst/>
          </a:prstGeom>
          <a:noFill/>
          <a:ln/>
        </p:spPr>
        <p:txBody>
          <a:bodyPr wrap="square" lIns="0" tIns="0" rIns="0" bIns="0" rtlCol="0" anchor="t"/>
          <a:lstStyle/>
          <a:p>
            <a:pPr algn="l" indent="0" marL="0">
              <a:lnSpc>
                <a:spcPct val="105000"/>
              </a:lnSpc>
              <a:buNone/>
            </a:pPr>
            <a:r>
              <a:rPr lang="en-US" sz="1700" b="1" dirty="0">
                <a:solidFill>
                  <a:schemeClr val="accent2"/>
                </a:solidFill>
              </a:rPr>
              <a:t>Confidently wrong costs without limit — and gives the biggest gradient.</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Softmax turns K logits into a probability distribution</a:t>
            </a:r>
            <a:endParaRPr lang="en-US" sz="3000" dirty="0"/>
          </a:p>
        </p:txBody>
      </p:sp>
      <p:graphicFrame>
        <p:nvGraphicFramePr>
          <p:cNvPr id="5" name="Chart 0" descr=""/>
          <p:cNvGraphicFramePr/>
          <p:nvPr/>
        </p:nvGraphicFramePr>
        <p:xfrm>
          <a:off x="457200" y="1645920"/>
          <a:ext cx="3108960" cy="35661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3657600" y="3429000"/>
            <a:ext cx="685800" cy="0"/>
          </a:xfrm>
          <a:prstGeom prst="line">
            <a:avLst/>
          </a:prstGeom>
          <a:noFill/>
          <a:ln w="31750">
            <a:solidFill>
              <a:srgbClr val="0F7B78"/>
            </a:solidFill>
            <a:prstDash val="solid"/>
            <a:tailEnd type="triangle"/>
          </a:ln>
        </p:spPr>
      </p:sp>
      <p:sp>
        <p:nvSpPr>
          <p:cNvPr id="7" name="Text 3"/>
          <p:cNvSpPr txBox="1"/>
          <p:nvPr/>
        </p:nvSpPr>
        <p:spPr>
          <a:xfrm>
            <a:off x="3520440" y="3017520"/>
            <a:ext cx="1005840" cy="365760"/>
          </a:xfrm>
          <a:prstGeom prst="rect">
            <a:avLst/>
          </a:prstGeom>
          <a:noFill/>
          <a:ln/>
        </p:spPr>
        <p:txBody>
          <a:bodyPr wrap="square" lIns="0" tIns="0" rIns="0" bIns="0" rtlCol="0" anchor="t"/>
          <a:lstStyle/>
          <a:p>
            <a:pPr algn="ctr" indent="0" marL="0">
              <a:lnSpc>
                <a:spcPct val="105000"/>
              </a:lnSpc>
              <a:buNone/>
            </a:pPr>
            <a:r>
              <a:rPr lang="en-US" sz="1500" b="1" dirty="0">
                <a:solidFill>
                  <a:schemeClr val="accent1"/>
                </a:solidFill>
              </a:rPr>
              <a:t>softmax</a:t>
            </a:r>
            <a:endParaRPr lang="en-US" sz="1500" dirty="0"/>
          </a:p>
        </p:txBody>
      </p:sp>
      <p:graphicFrame>
        <p:nvGraphicFramePr>
          <p:cNvPr id="8" name="Chart 1" descr=""/>
          <p:cNvGraphicFramePr/>
          <p:nvPr/>
        </p:nvGraphicFramePr>
        <p:xfrm>
          <a:off x="4434840" y="1645920"/>
          <a:ext cx="3108960" cy="356616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7955280" y="1645920"/>
            <a:ext cx="3685032" cy="1158748"/>
          </a:xfrm>
          <a:prstGeom prst="roundRect">
            <a:avLst>
              <a:gd name="adj" fmla="val 6313"/>
            </a:avLst>
          </a:prstGeom>
          <a:solidFill>
            <a:schemeClr val="accent1">
              <a:alpha val="10000"/>
            </a:schemeClr>
          </a:solidFill>
          <a:ln w="12700">
            <a:solidFill>
              <a:schemeClr val="accent1">
                <a:alpha val="10000"/>
              </a:schemeClr>
            </a:solidFill>
            <a:prstDash val="solid"/>
          </a:ln>
        </p:spPr>
      </p:sp>
      <p:sp>
        <p:nvSpPr>
          <p:cNvPr id="10" name="Text 5"/>
          <p:cNvSpPr txBox="1"/>
          <p:nvPr/>
        </p:nvSpPr>
        <p:spPr>
          <a:xfrm>
            <a:off x="8183880" y="1792224"/>
            <a:ext cx="322783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SOFTMAX</a:t>
            </a:r>
            <a:endParaRPr lang="en-US" sz="1200" dirty="0"/>
          </a:p>
        </p:txBody>
      </p:sp>
      <p:sp>
        <p:nvSpPr>
          <p:cNvPr id="11" name="Text 6"/>
          <p:cNvSpPr txBox="1"/>
          <p:nvPr/>
        </p:nvSpPr>
        <p:spPr>
          <a:xfrm>
            <a:off x="8183880" y="2221992"/>
            <a:ext cx="3227832" cy="3906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ŷₖ = exp(zₖ) / Σⱼ exp(zⱼ)</a:t>
            </a:r>
            <a:endParaRPr lang="en-US" sz="2000" dirty="0"/>
          </a:p>
        </p:txBody>
      </p:sp>
      <p:sp>
        <p:nvSpPr>
          <p:cNvPr id="12" name="Shape 7"/>
          <p:cNvSpPr/>
          <p:nvPr/>
        </p:nvSpPr>
        <p:spPr>
          <a:xfrm>
            <a:off x="8165592" y="3319272"/>
            <a:ext cx="0" cy="1325880"/>
          </a:xfrm>
          <a:prstGeom prst="line">
            <a:avLst/>
          </a:prstGeom>
          <a:noFill/>
          <a:ln w="25400">
            <a:solidFill>
              <a:schemeClr val="accent1">
                <a:alpha val="50000"/>
              </a:schemeClr>
            </a:solidFill>
            <a:prstDash val="solid"/>
          </a:ln>
        </p:spPr>
      </p:sp>
      <p:sp>
        <p:nvSpPr>
          <p:cNvPr id="13" name="Shape 8"/>
          <p:cNvSpPr/>
          <p:nvPr/>
        </p:nvSpPr>
        <p:spPr>
          <a:xfrm>
            <a:off x="7955280" y="3108960"/>
            <a:ext cx="420624" cy="420624"/>
          </a:xfrm>
          <a:prstGeom prst="ellipse">
            <a:avLst/>
          </a:prstGeom>
          <a:solidFill>
            <a:schemeClr val="accent1"/>
          </a:solidFill>
          <a:ln w="25400">
            <a:solidFill>
              <a:schemeClr val="bg1"/>
            </a:solidFill>
            <a:prstDash val="solid"/>
          </a:ln>
        </p:spPr>
      </p:sp>
      <p:sp>
        <p:nvSpPr>
          <p:cNvPr id="14" name="Text 9"/>
          <p:cNvSpPr txBox="1"/>
          <p:nvPr/>
        </p:nvSpPr>
        <p:spPr>
          <a:xfrm>
            <a:off x="7955280" y="3108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5" name="Text 10"/>
          <p:cNvSpPr txBox="1"/>
          <p:nvPr/>
        </p:nvSpPr>
        <p:spPr>
          <a:xfrm>
            <a:off x="8604504" y="3145536"/>
            <a:ext cx="30358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Shift-invariant</a:t>
            </a:r>
            <a:endParaRPr lang="en-US" sz="1900" dirty="0"/>
          </a:p>
        </p:txBody>
      </p:sp>
      <p:sp>
        <p:nvSpPr>
          <p:cNvPr id="16" name="Text 11"/>
          <p:cNvSpPr txBox="1"/>
          <p:nvPr/>
        </p:nvSpPr>
        <p:spPr>
          <a:xfrm>
            <a:off x="8604504" y="3448558"/>
            <a:ext cx="3035808" cy="94970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softmax(z + c) = softmax(z) for any constant c.</a:t>
            </a:r>
            <a:endParaRPr lang="en-US" sz="1600" dirty="0"/>
          </a:p>
        </p:txBody>
      </p:sp>
      <p:sp>
        <p:nvSpPr>
          <p:cNvPr id="17" name="Shape 12"/>
          <p:cNvSpPr/>
          <p:nvPr/>
        </p:nvSpPr>
        <p:spPr>
          <a:xfrm>
            <a:off x="7955280" y="4434840"/>
            <a:ext cx="420624" cy="420624"/>
          </a:xfrm>
          <a:prstGeom prst="ellipse">
            <a:avLst/>
          </a:prstGeom>
          <a:solidFill>
            <a:schemeClr val="accent1"/>
          </a:solidFill>
          <a:ln w="25400">
            <a:solidFill>
              <a:schemeClr val="bg1"/>
            </a:solidFill>
            <a:prstDash val="solid"/>
          </a:ln>
        </p:spPr>
      </p:sp>
      <p:sp>
        <p:nvSpPr>
          <p:cNvPr id="18" name="Text 13"/>
          <p:cNvSpPr txBox="1"/>
          <p:nvPr/>
        </p:nvSpPr>
        <p:spPr>
          <a:xfrm>
            <a:off x="7955280" y="4434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9" name="Text 14"/>
          <p:cNvSpPr txBox="1"/>
          <p:nvPr/>
        </p:nvSpPr>
        <p:spPr>
          <a:xfrm>
            <a:off x="8604504" y="4471416"/>
            <a:ext cx="30358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Temperature</a:t>
            </a:r>
            <a:endParaRPr lang="en-US" sz="1900" dirty="0"/>
          </a:p>
        </p:txBody>
      </p:sp>
      <p:sp>
        <p:nvSpPr>
          <p:cNvPr id="20" name="Text 15"/>
          <p:cNvSpPr txBox="1"/>
          <p:nvPr/>
        </p:nvSpPr>
        <p:spPr>
          <a:xfrm>
            <a:off x="8604504" y="4774438"/>
            <a:ext cx="3035808" cy="94970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softmax(z / T): T &gt; 1 flattens, T &lt; 1 sharpens, T → 0 is argmax.</a:t>
            </a:r>
            <a:endParaRPr lang="en-US" sz="1600" dirty="0"/>
          </a:p>
        </p:txBody>
      </p:sp>
      <p:sp>
        <p:nvSpPr>
          <p:cNvPr id="21" name="Text 16"/>
          <p:cNvSpPr txBox="1"/>
          <p:nvPr/>
        </p:nvSpPr>
        <p:spPr>
          <a:xfrm>
            <a:off x="548640" y="5486400"/>
            <a:ext cx="6949440" cy="45720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Softmax is not elementwise: every output depends on every logit.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Cross-entropy is −log ŷ of the true class; start near ln K</a:t>
            </a:r>
            <a:endParaRPr lang="en-US" sz="3000" dirty="0"/>
          </a:p>
        </p:txBody>
      </p:sp>
      <p:sp>
        <p:nvSpPr>
          <p:cNvPr id="5" name="Shape 2"/>
          <p:cNvSpPr/>
          <p:nvPr/>
        </p:nvSpPr>
        <p:spPr>
          <a:xfrm>
            <a:off x="548640" y="1645920"/>
            <a:ext cx="6035040" cy="1190498"/>
          </a:xfrm>
          <a:prstGeom prst="roundRect">
            <a:avLst>
              <a:gd name="adj" fmla="val 6145"/>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57784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CATEGORICAL CROSS-ENTROPY</a:t>
            </a:r>
            <a:endParaRPr lang="en-US" sz="1200" dirty="0"/>
          </a:p>
        </p:txBody>
      </p:sp>
      <p:sp>
        <p:nvSpPr>
          <p:cNvPr id="7" name="Text 4"/>
          <p:cNvSpPr txBox="1"/>
          <p:nvPr/>
        </p:nvSpPr>
        <p:spPr>
          <a:xfrm>
            <a:off x="777240" y="2221992"/>
            <a:ext cx="5577840" cy="422402"/>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Cambria Math" pitchFamily="34" charset="0"/>
                <a:ea typeface="Cambria Math" pitchFamily="34" charset="-122"/>
                <a:cs typeface="Cambria Math" pitchFamily="34" charset="-120"/>
              </a:rPr>
              <a:t>L = −Σₖ yₖ log ŷₖ = −log ŷc</a:t>
            </a:r>
            <a:r>
              <a:rPr lang="en-US" sz="1800" dirty="0">
                <a:solidFill>
                  <a:schemeClr val="tx2"/>
                </a:solidFill>
                <a:latin typeface="Calibri" pitchFamily="34" charset="0"/>
                <a:ea typeface="Calibri" pitchFamily="34" charset="-122"/>
                <a:cs typeface="Calibri" pitchFamily="34" charset="-120"/>
              </a:rPr>
              <a:t>    c = the true class</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6035040" cy="914400"/>
        </p:xfrm>
        <a:graphic>
          <a:graphicData uri="http://schemas.openxmlformats.org/drawingml/2006/table">
            <a:tbl>
              <a:tblPr/>
              <a:tblGrid>
                <a:gridCol w="3017520"/>
                <a:gridCol w="3017520"/>
              </a:tblGrid>
              <a:tr h="457200">
                <a:tc>
                  <a:txBody>
                    <a:bodyPr/>
                    <a:lstStyle/>
                    <a:p>
                      <a:pPr indent="0" marL="0">
                        <a:buNone/>
                      </a:pPr>
                      <a:r>
                        <a:rPr lang="en-US" sz="1800" b="1" dirty="0">
                          <a:solidFill>
                            <a:schemeClr val="bg1"/>
                          </a:solidFill>
                        </a:rPr>
                        <a:t>ŷc (true class)</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Loss −log ŷc</a:t>
                      </a:r>
                      <a:endParaRPr lang="en-US" sz="18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57200">
                <a:tc>
                  <a:txBody>
                    <a:bodyPr/>
                    <a:lstStyle/>
                    <a:p>
                      <a:pPr indent="0" marL="0">
                        <a:buNone/>
                      </a:pPr>
                      <a:r>
                        <a:rPr lang="en-US" sz="1800" dirty="0">
                          <a:solidFill>
                            <a:schemeClr val="tx1"/>
                          </a:solidFill>
                          <a:latin typeface="Cambria Math" pitchFamily="34" charset="0"/>
                          <a:ea typeface="Cambria Math" pitchFamily="34" charset="-122"/>
                          <a:cs typeface="Cambria Math" pitchFamily="34" charset="-120"/>
                        </a:rPr>
                        <a:t>0.9</a:t>
                      </a:r>
                      <a:endParaRPr lang="en-US" sz="18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latin typeface="Cambria Math" pitchFamily="34" charset="0"/>
                          <a:ea typeface="Cambria Math" pitchFamily="34" charset="-122"/>
                          <a:cs typeface="Cambria Math" pitchFamily="34" charset="-120"/>
                        </a:rPr>
                        <a:t>0.105</a:t>
                      </a:r>
                      <a:endParaRPr lang="en-US" sz="18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57200">
                <a:tc>
                  <a:txBody>
                    <a:bodyPr/>
                    <a:lstStyle/>
                    <a:p>
                      <a:pPr indent="0" marL="0">
                        <a:buNone/>
                      </a:pPr>
                      <a:r>
                        <a:rPr lang="en-US" sz="1800" dirty="0">
                          <a:solidFill>
                            <a:schemeClr val="tx1"/>
                          </a:solidFill>
                          <a:latin typeface="Cambria Math" pitchFamily="34" charset="0"/>
                          <a:ea typeface="Cambria Math" pitchFamily="34" charset="-122"/>
                          <a:cs typeface="Cambria Math" pitchFamily="34" charset="-120"/>
                        </a:rPr>
                        <a:t>0.5</a:t>
                      </a:r>
                      <a:endParaRPr lang="en-US" sz="18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800" dirty="0">
                          <a:solidFill>
                            <a:schemeClr val="tx1"/>
                          </a:solidFill>
                          <a:latin typeface="Cambria Math" pitchFamily="34" charset="0"/>
                          <a:ea typeface="Cambria Math" pitchFamily="34" charset="-122"/>
                          <a:cs typeface="Cambria Math" pitchFamily="34" charset="-120"/>
                        </a:rPr>
                        <a:t>0.693</a:t>
                      </a:r>
                      <a:endParaRPr lang="en-US" sz="18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57200">
                <a:tc>
                  <a:txBody>
                    <a:bodyPr/>
                    <a:lstStyle/>
                    <a:p>
                      <a:pPr indent="0" marL="0">
                        <a:buNone/>
                      </a:pPr>
                      <a:r>
                        <a:rPr lang="en-US" sz="1800" dirty="0">
                          <a:solidFill>
                            <a:schemeClr val="tx1"/>
                          </a:solidFill>
                          <a:latin typeface="Cambria Math" pitchFamily="34" charset="0"/>
                          <a:ea typeface="Cambria Math" pitchFamily="34" charset="-122"/>
                          <a:cs typeface="Cambria Math" pitchFamily="34" charset="-120"/>
                        </a:rPr>
                        <a:t>0.01</a:t>
                      </a:r>
                      <a:endParaRPr lang="en-US" sz="18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800" dirty="0">
                          <a:solidFill>
                            <a:schemeClr val="tx1"/>
                          </a:solidFill>
                          <a:latin typeface="Cambria Math" pitchFamily="34" charset="0"/>
                          <a:ea typeface="Cambria Math" pitchFamily="34" charset="-122"/>
                          <a:cs typeface="Cambria Math" pitchFamily="34" charset="-120"/>
                        </a:rPr>
                        <a:t>4.6</a:t>
                      </a:r>
                      <a:endParaRPr lang="en-US" sz="18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bl>
          </a:graphicData>
        </a:graphic>
      </p:graphicFrame>
      <p:sp>
        <p:nvSpPr>
          <p:cNvPr id="9" name="Shape 5"/>
          <p:cNvSpPr/>
          <p:nvPr/>
        </p:nvSpPr>
        <p:spPr>
          <a:xfrm>
            <a:off x="7086600" y="1645920"/>
            <a:ext cx="4553712" cy="4297680"/>
          </a:xfrm>
          <a:prstGeom prst="roundRect">
            <a:avLst>
              <a:gd name="adj" fmla="val 1702"/>
            </a:avLst>
          </a:prstGeom>
          <a:solidFill>
            <a:schemeClr val="accent1">
              <a:alpha val="10000"/>
            </a:schemeClr>
          </a:solidFill>
          <a:ln w="12700">
            <a:solidFill>
              <a:schemeClr val="accent1">
                <a:alpha val="10000"/>
              </a:schemeClr>
            </a:solidFill>
            <a:prstDash val="solid"/>
          </a:ln>
        </p:spPr>
      </p:sp>
      <p:sp>
        <p:nvSpPr>
          <p:cNvPr id="10" name="Text 6"/>
          <p:cNvSpPr txBox="1"/>
          <p:nvPr/>
        </p:nvSpPr>
        <p:spPr>
          <a:xfrm>
            <a:off x="7315200" y="1828800"/>
            <a:ext cx="41148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THE CHEAPEST BUG DETECTOR</a:t>
            </a:r>
            <a:endParaRPr lang="en-US" sz="1200" dirty="0"/>
          </a:p>
        </p:txBody>
      </p:sp>
      <p:sp>
        <p:nvSpPr>
          <p:cNvPr id="11" name="Text 7"/>
          <p:cNvSpPr txBox="1"/>
          <p:nvPr/>
        </p:nvSpPr>
        <p:spPr>
          <a:xfrm>
            <a:off x="7315200" y="2240280"/>
            <a:ext cx="4114800" cy="822960"/>
          </a:xfrm>
          <a:prstGeom prst="rect">
            <a:avLst/>
          </a:prstGeom>
          <a:noFill/>
          <a:ln/>
        </p:spPr>
        <p:txBody>
          <a:bodyPr wrap="square" lIns="0" tIns="0" rIns="0" bIns="0" rtlCol="0" anchor="t"/>
          <a:lstStyle/>
          <a:p>
            <a:pPr algn="l" indent="0" marL="0">
              <a:lnSpc>
                <a:spcPct val="105000"/>
              </a:lnSpc>
              <a:buNone/>
            </a:pPr>
            <a:r>
              <a:rPr lang="en-US" sz="4000" b="1" dirty="0">
                <a:solidFill>
                  <a:schemeClr val="accent1"/>
                </a:solidFill>
              </a:rPr>
              <a:t>ln 10 ≈ 2.303</a:t>
            </a:r>
            <a:endParaRPr lang="en-US" sz="4000" dirty="0"/>
          </a:p>
        </p:txBody>
      </p:sp>
      <p:sp>
        <p:nvSpPr>
          <p:cNvPr id="12" name="Text 8"/>
          <p:cNvSpPr txBox="1"/>
          <p:nvPr/>
        </p:nvSpPr>
        <p:spPr>
          <a:xfrm>
            <a:off x="7315200" y="3154680"/>
            <a:ext cx="4114800" cy="914400"/>
          </a:xfrm>
          <a:prstGeom prst="rect">
            <a:avLst/>
          </a:prstGeom>
          <a:noFill/>
          <a:ln/>
        </p:spPr>
        <p:txBody>
          <a:bodyPr wrap="square" lIns="0" tIns="0" rIns="0" bIns="0" rtlCol="0" anchor="t"/>
          <a:lstStyle/>
          <a:p>
            <a:pPr algn="l" indent="0" marL="0">
              <a:lnSpc>
                <a:spcPct val="105000"/>
              </a:lnSpc>
              <a:buNone/>
            </a:pPr>
            <a:r>
              <a:rPr lang="en-US" sz="1700" dirty="0">
                <a:solidFill>
                  <a:schemeClr val="tx1"/>
                </a:solidFill>
              </a:rPr>
              <a:t>Expected first-batch loss for a fresh 10-class model: uniform probabilities give ln K.</a:t>
            </a:r>
            <a:endParaRPr lang="en-US" sz="1700" dirty="0"/>
          </a:p>
        </p:txBody>
      </p:sp>
      <p:sp>
        <p:nvSpPr>
          <p:cNvPr id="13" name="Text 9"/>
          <p:cNvSpPr txBox="1"/>
          <p:nvPr/>
        </p:nvSpPr>
        <p:spPr>
          <a:xfrm>
            <a:off x="7315200" y="4297680"/>
            <a:ext cx="4114800" cy="1097280"/>
          </a:xfrm>
          <a:prstGeom prst="rect">
            <a:avLst/>
          </a:prstGeom>
          <a:noFill/>
          <a:ln/>
        </p:spPr>
        <p:txBody>
          <a:bodyPr wrap="square" lIns="0" tIns="0" rIns="0" bIns="0" rtlCol="0" anchor="t"/>
          <a:lstStyle/>
          <a:p>
            <a:pPr algn="l" indent="0" marL="0">
              <a:lnSpc>
                <a:spcPct val="105000"/>
              </a:lnSpc>
              <a:buNone/>
            </a:pPr>
            <a:r>
              <a:rPr lang="en-US" sz="1700" b="1" dirty="0">
                <a:solidFill>
                  <a:schemeClr val="accent2"/>
                </a:solidFill>
              </a:rPr>
              <a:t>Starts at 15? Check the labels, the output size, and for an extra softmax.</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MSE with a sigmoid stalls exactly when most wrong</a:t>
            </a:r>
            <a:endParaRPr lang="en-US" sz="3000" dirty="0"/>
          </a:p>
        </p:txBody>
      </p:sp>
      <p:sp>
        <p:nvSpPr>
          <p:cNvPr id="5" name="Shape 2"/>
          <p:cNvSpPr/>
          <p:nvPr/>
        </p:nvSpPr>
        <p:spPr>
          <a:xfrm>
            <a:off x="548640" y="1600200"/>
            <a:ext cx="6035040" cy="1698498"/>
          </a:xfrm>
          <a:prstGeom prst="roundRect">
            <a:avLst>
              <a:gd name="adj" fmla="val 4307"/>
            </a:avLst>
          </a:prstGeom>
          <a:solidFill>
            <a:schemeClr val="accent2">
              <a:alpha val="12000"/>
            </a:schemeClr>
          </a:solidFill>
          <a:ln w="12700">
            <a:solidFill>
              <a:schemeClr val="accent2">
                <a:alpha val="12000"/>
              </a:schemeClr>
            </a:solidFill>
            <a:prstDash val="solid"/>
          </a:ln>
        </p:spPr>
      </p:sp>
      <p:sp>
        <p:nvSpPr>
          <p:cNvPr id="6" name="Text 3"/>
          <p:cNvSpPr txBox="1"/>
          <p:nvPr/>
        </p:nvSpPr>
        <p:spPr>
          <a:xfrm>
            <a:off x="777240" y="1746504"/>
            <a:ext cx="5577840" cy="274320"/>
          </a:xfrm>
          <a:prstGeom prst="rect">
            <a:avLst/>
          </a:prstGeom>
          <a:noFill/>
          <a:ln/>
        </p:spPr>
        <p:txBody>
          <a:bodyPr wrap="square" lIns="0" tIns="0" rIns="0" bIns="0" rtlCol="0" anchor="ctr"/>
          <a:lstStyle/>
          <a:p>
            <a:pPr indent="0" marL="0">
              <a:buNone/>
            </a:pPr>
            <a:r>
              <a:rPr lang="en-US" sz="1200" b="1" spc="120" kern="0" dirty="0">
                <a:solidFill>
                  <a:schemeClr val="accent2"/>
                </a:solidFill>
              </a:rPr>
              <a:t>MSE ON A SIGMOID</a:t>
            </a:r>
            <a:endParaRPr lang="en-US" sz="1200" dirty="0"/>
          </a:p>
        </p:txBody>
      </p:sp>
      <p:sp>
        <p:nvSpPr>
          <p:cNvPr id="7" name="Text 4"/>
          <p:cNvSpPr txBox="1"/>
          <p:nvPr/>
        </p:nvSpPr>
        <p:spPr>
          <a:xfrm>
            <a:off x="777240" y="2176272"/>
            <a:ext cx="5577840" cy="930402"/>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dL/dz = (σ(z) − y) · σ(z)(1 − σ(z))</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y = 1, σ(z) = 0.0001:</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dL/dz ≈ (−0.9999)(0.0001) ≈ −0.0001</a:t>
            </a:r>
            <a:endParaRPr lang="en-US" sz="1800" dirty="0"/>
          </a:p>
        </p:txBody>
      </p:sp>
      <p:sp>
        <p:nvSpPr>
          <p:cNvPr id="8" name="Shape 5"/>
          <p:cNvSpPr/>
          <p:nvPr/>
        </p:nvSpPr>
        <p:spPr>
          <a:xfrm>
            <a:off x="548640" y="3749040"/>
            <a:ext cx="6035040" cy="1698498"/>
          </a:xfrm>
          <a:prstGeom prst="roundRect">
            <a:avLst>
              <a:gd name="adj" fmla="val 4307"/>
            </a:avLst>
          </a:prstGeom>
          <a:solidFill>
            <a:schemeClr val="accent1">
              <a:alpha val="10000"/>
            </a:schemeClr>
          </a:solidFill>
          <a:ln w="12700">
            <a:solidFill>
              <a:schemeClr val="accent1">
                <a:alpha val="10000"/>
              </a:schemeClr>
            </a:solidFill>
            <a:prstDash val="solid"/>
          </a:ln>
        </p:spPr>
      </p:sp>
      <p:sp>
        <p:nvSpPr>
          <p:cNvPr id="9" name="Text 6"/>
          <p:cNvSpPr txBox="1"/>
          <p:nvPr/>
        </p:nvSpPr>
        <p:spPr>
          <a:xfrm>
            <a:off x="777240" y="3895344"/>
            <a:ext cx="557784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CROSS-ENTROPY ON A SIGMOID</a:t>
            </a:r>
            <a:endParaRPr lang="en-US" sz="1200" dirty="0"/>
          </a:p>
        </p:txBody>
      </p:sp>
      <p:sp>
        <p:nvSpPr>
          <p:cNvPr id="10" name="Text 7"/>
          <p:cNvSpPr txBox="1"/>
          <p:nvPr/>
        </p:nvSpPr>
        <p:spPr>
          <a:xfrm>
            <a:off x="777240" y="4325112"/>
            <a:ext cx="5577840" cy="930402"/>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L = −log σ(z)   (y = 1)</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dL/dz = −(1/σ) · σ(1 − σ) = σ(z) − 1</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dL/dz = ŷ − y   for either label</a:t>
            </a:r>
            <a:endParaRPr lang="en-US" sz="1800" dirty="0"/>
          </a:p>
        </p:txBody>
      </p:sp>
      <p:graphicFrame>
        <p:nvGraphicFramePr>
          <p:cNvPr id="11" name="Chart 0" descr=""/>
          <p:cNvGraphicFramePr/>
          <p:nvPr/>
        </p:nvGraphicFramePr>
        <p:xfrm>
          <a:off x="6766560" y="1600200"/>
          <a:ext cx="4937760" cy="4069080"/>
        </p:xfrm>
        <a:graphic xmlns:a="http://schemas.openxmlformats.org/drawingml/2006/main">
          <a:graphicData uri="http://schemas.openxmlformats.org/drawingml/2006/chart">
            <c:chart xmlns:c="http://schemas.openxmlformats.org/drawingml/2006/chart" r:id="rId1"/>
          </a:graphicData>
        </a:graphic>
      </p:graphicFrame>
      <p:sp>
        <p:nvSpPr>
          <p:cNvPr id="12" name="Text 8"/>
          <p:cNvSpPr txBox="1"/>
          <p:nvPr/>
        </p:nvSpPr>
        <p:spPr>
          <a:xfrm>
            <a:off x="6858000" y="5669280"/>
            <a:ext cx="4754880" cy="36576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Left side: the model is confidently wrong.</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Three reasons not to use MSE for classification</a:t>
            </a:r>
            <a:endParaRPr lang="en-US" sz="3000" dirty="0"/>
          </a:p>
        </p:txBody>
      </p:sp>
      <p:sp>
        <p:nvSpPr>
          <p:cNvPr id="5" name="Shape 2"/>
          <p:cNvSpPr/>
          <p:nvPr/>
        </p:nvSpPr>
        <p:spPr>
          <a:xfrm>
            <a:off x="758952" y="1901952"/>
            <a:ext cx="0" cy="2743200"/>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2"/>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61173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Gradients vanish when badly wrong</a:t>
            </a:r>
            <a:endParaRPr lang="en-US" sz="1900" dirty="0"/>
          </a:p>
        </p:txBody>
      </p:sp>
      <p:sp>
        <p:nvSpPr>
          <p:cNvPr id="9" name="Text 6"/>
          <p:cNvSpPr txBox="1"/>
          <p:nvPr/>
        </p:nvSpPr>
        <p:spPr>
          <a:xfrm>
            <a:off x="1197864" y="2031238"/>
            <a:ext cx="611733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σ′ multiplies the error, so a confidently wrong model barely learns.</a:t>
            </a:r>
            <a:endParaRPr lang="en-US" sz="1600" dirty="0"/>
          </a:p>
        </p:txBody>
      </p:sp>
      <p:sp>
        <p:nvSpPr>
          <p:cNvPr id="10" name="Shape 7"/>
          <p:cNvSpPr/>
          <p:nvPr/>
        </p:nvSpPr>
        <p:spPr>
          <a:xfrm>
            <a:off x="548640" y="3063240"/>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3099816"/>
            <a:ext cx="61173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Wrong likelihood</a:t>
            </a:r>
            <a:endParaRPr lang="en-US" sz="1900" dirty="0"/>
          </a:p>
        </p:txBody>
      </p:sp>
      <p:sp>
        <p:nvSpPr>
          <p:cNvPr id="13" name="Text 10"/>
          <p:cNvSpPr txBox="1"/>
          <p:nvPr/>
        </p:nvSpPr>
        <p:spPr>
          <a:xfrm>
            <a:off x="1197864" y="3402838"/>
            <a:ext cx="611733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Class labels are not real numbers plus Gaussian noise.</a:t>
            </a:r>
            <a:endParaRPr lang="en-US" sz="1600" dirty="0"/>
          </a:p>
        </p:txBody>
      </p:sp>
      <p:sp>
        <p:nvSpPr>
          <p:cNvPr id="14" name="Shape 11"/>
          <p:cNvSpPr/>
          <p:nvPr/>
        </p:nvSpPr>
        <p:spPr>
          <a:xfrm>
            <a:off x="548640" y="4434840"/>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548640" y="4434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4471416"/>
            <a:ext cx="61173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Worse geometry</a:t>
            </a:r>
            <a:endParaRPr lang="en-US" sz="1900" dirty="0"/>
          </a:p>
        </p:txBody>
      </p:sp>
      <p:sp>
        <p:nvSpPr>
          <p:cNvPr id="17" name="Text 14"/>
          <p:cNvSpPr txBox="1"/>
          <p:nvPr/>
        </p:nvSpPr>
        <p:spPr>
          <a:xfrm>
            <a:off x="1197864" y="4774438"/>
            <a:ext cx="6117336"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For a single neuron, MSE ∘ sigmoid is non-convex with flat regions; cross-entropy ∘ sigmoid is convex.</a:t>
            </a:r>
            <a:endParaRPr lang="en-US" sz="1600" dirty="0"/>
          </a:p>
        </p:txBody>
      </p:sp>
      <p:sp>
        <p:nvSpPr>
          <p:cNvPr id="18" name="Shape 15"/>
          <p:cNvSpPr/>
          <p:nvPr/>
        </p:nvSpPr>
        <p:spPr>
          <a:xfrm>
            <a:off x="7772400" y="1691640"/>
            <a:ext cx="3867912" cy="2377440"/>
          </a:xfrm>
          <a:prstGeom prst="roundRect">
            <a:avLst>
              <a:gd name="adj" fmla="val 3077"/>
            </a:avLst>
          </a:prstGeom>
          <a:solidFill>
            <a:schemeClr val="accent1">
              <a:alpha val="10000"/>
            </a:schemeClr>
          </a:solidFill>
          <a:ln w="12700">
            <a:solidFill>
              <a:schemeClr val="accent1">
                <a:alpha val="10000"/>
              </a:schemeClr>
            </a:solidFill>
            <a:prstDash val="solid"/>
          </a:ln>
        </p:spPr>
      </p:sp>
      <p:sp>
        <p:nvSpPr>
          <p:cNvPr id="19" name="Text 16"/>
          <p:cNvSpPr txBox="1"/>
          <p:nvPr/>
        </p:nvSpPr>
        <p:spPr>
          <a:xfrm>
            <a:off x="8001000" y="1691640"/>
            <a:ext cx="3410712" cy="2377440"/>
          </a:xfrm>
          <a:prstGeom prst="rect">
            <a:avLst/>
          </a:prstGeom>
          <a:noFill/>
          <a:ln/>
        </p:spPr>
        <p:txBody>
          <a:bodyPr wrap="square" lIns="0" tIns="0" rIns="0" bIns="0" rtlCol="0" anchor="ctr"/>
          <a:lstStyle/>
          <a:p>
            <a:pPr algn="l" indent="0" marL="0">
              <a:lnSpc>
                <a:spcPct val="105000"/>
              </a:lnSpc>
              <a:buNone/>
            </a:pPr>
            <a:r>
              <a:rPr lang="en-US" sz="2000" b="1" dirty="0">
                <a:solidFill>
                  <a:schemeClr val="accent1"/>
                </a:solidFill>
              </a:rPr>
              <a:t>Pair a loss with its matching link function, and the derivatives cancel: dL/dz = ŷ − y.</a:t>
            </a:r>
            <a:endParaRPr lang="en-US" sz="20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Pass raw logits to a fused loss: the log-sum-exp trick</a:t>
            </a:r>
            <a:endParaRPr lang="en-US" sz="3000" dirty="0"/>
          </a:p>
        </p:txBody>
      </p:sp>
      <p:sp>
        <p:nvSpPr>
          <p:cNvPr id="5" name="Text 2"/>
          <p:cNvSpPr txBox="1"/>
          <p:nvPr/>
        </p:nvSpPr>
        <p:spPr>
          <a:xfrm>
            <a:off x="548640" y="1645920"/>
            <a:ext cx="45720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DO THIS</a:t>
            </a:r>
            <a:endParaRPr lang="en-US" sz="1200" dirty="0"/>
          </a:p>
        </p:txBody>
      </p:sp>
      <p:sp>
        <p:nvSpPr>
          <p:cNvPr id="6" name="Shape 3"/>
          <p:cNvSpPr/>
          <p:nvPr/>
        </p:nvSpPr>
        <p:spPr>
          <a:xfrm>
            <a:off x="548640" y="2011680"/>
            <a:ext cx="1463040" cy="685800"/>
          </a:xfrm>
          <a:prstGeom prst="roundRect">
            <a:avLst>
              <a:gd name="adj" fmla="val 8000"/>
            </a:avLst>
          </a:prstGeom>
          <a:solidFill>
            <a:schemeClr val="bg1"/>
          </a:solidFill>
          <a:ln w="15875">
            <a:solidFill>
              <a:schemeClr val="tx1"/>
            </a:solidFill>
            <a:prstDash val="solid"/>
          </a:ln>
        </p:spPr>
      </p:sp>
      <p:sp>
        <p:nvSpPr>
          <p:cNvPr id="7" name="Text 4"/>
          <p:cNvSpPr txBox="1"/>
          <p:nvPr/>
        </p:nvSpPr>
        <p:spPr>
          <a:xfrm>
            <a:off x="594360" y="2011680"/>
            <a:ext cx="1371600" cy="685800"/>
          </a:xfrm>
          <a:prstGeom prst="rect">
            <a:avLst/>
          </a:prstGeom>
          <a:noFill/>
          <a:ln/>
        </p:spPr>
        <p:txBody>
          <a:bodyPr wrap="square" lIns="0" tIns="0" rIns="0" bIns="0" rtlCol="0" anchor="ctr"/>
          <a:lstStyle/>
          <a:p>
            <a:pPr algn="ctr" indent="0" marL="0">
              <a:lnSpc>
                <a:spcPct val="105000"/>
              </a:lnSpc>
              <a:buNone/>
            </a:pPr>
            <a:r>
              <a:rPr lang="en-US" sz="1600" dirty="0">
                <a:solidFill>
                  <a:schemeClr val="tx1"/>
                </a:solidFill>
              </a:rPr>
              <a:t>Model</a:t>
            </a:r>
            <a:endParaRPr lang="en-US" sz="1600" dirty="0"/>
          </a:p>
        </p:txBody>
      </p:sp>
      <p:sp>
        <p:nvSpPr>
          <p:cNvPr id="8" name="Shape 5"/>
          <p:cNvSpPr/>
          <p:nvPr/>
        </p:nvSpPr>
        <p:spPr>
          <a:xfrm>
            <a:off x="2011680" y="2354580"/>
            <a:ext cx="365760" cy="0"/>
          </a:xfrm>
          <a:prstGeom prst="line">
            <a:avLst/>
          </a:prstGeom>
          <a:noFill/>
          <a:ln w="25400">
            <a:solidFill>
              <a:srgbClr val="0F7B78"/>
            </a:solidFill>
            <a:prstDash val="solid"/>
            <a:tailEnd type="triangle"/>
          </a:ln>
        </p:spPr>
      </p:sp>
      <p:sp>
        <p:nvSpPr>
          <p:cNvPr id="9" name="Shape 6"/>
          <p:cNvSpPr/>
          <p:nvPr/>
        </p:nvSpPr>
        <p:spPr>
          <a:xfrm>
            <a:off x="2377440" y="2011680"/>
            <a:ext cx="1554480" cy="685800"/>
          </a:xfrm>
          <a:prstGeom prst="roundRect">
            <a:avLst>
              <a:gd name="adj" fmla="val 8000"/>
            </a:avLst>
          </a:prstGeom>
          <a:solidFill>
            <a:schemeClr val="accent1">
              <a:alpha val="10000"/>
            </a:schemeClr>
          </a:solidFill>
          <a:ln w="15875">
            <a:solidFill>
              <a:schemeClr val="accent1"/>
            </a:solidFill>
            <a:prstDash val="solid"/>
          </a:ln>
        </p:spPr>
      </p:sp>
      <p:sp>
        <p:nvSpPr>
          <p:cNvPr id="10" name="Text 7"/>
          <p:cNvSpPr txBox="1"/>
          <p:nvPr/>
        </p:nvSpPr>
        <p:spPr>
          <a:xfrm>
            <a:off x="2423160" y="2011680"/>
            <a:ext cx="1463040" cy="685800"/>
          </a:xfrm>
          <a:prstGeom prst="rect">
            <a:avLst/>
          </a:prstGeom>
          <a:noFill/>
          <a:ln/>
        </p:spPr>
        <p:txBody>
          <a:bodyPr wrap="square" lIns="0" tIns="0" rIns="0" bIns="0" rtlCol="0" anchor="ctr"/>
          <a:lstStyle/>
          <a:p>
            <a:pPr algn="ctr" indent="0" marL="0">
              <a:lnSpc>
                <a:spcPct val="105000"/>
              </a:lnSpc>
              <a:buNone/>
            </a:pPr>
            <a:r>
              <a:rPr lang="en-US" sz="1600" dirty="0">
                <a:solidFill>
                  <a:schemeClr val="tx1"/>
                </a:solidFill>
              </a:rPr>
              <a:t>Raw logits</a:t>
            </a:r>
            <a:endParaRPr lang="en-US" sz="1600" dirty="0"/>
          </a:p>
        </p:txBody>
      </p:sp>
      <p:sp>
        <p:nvSpPr>
          <p:cNvPr id="11" name="Shape 8"/>
          <p:cNvSpPr/>
          <p:nvPr/>
        </p:nvSpPr>
        <p:spPr>
          <a:xfrm>
            <a:off x="3931920" y="2354580"/>
            <a:ext cx="365760" cy="0"/>
          </a:xfrm>
          <a:prstGeom prst="line">
            <a:avLst/>
          </a:prstGeom>
          <a:noFill/>
          <a:ln w="25400">
            <a:solidFill>
              <a:srgbClr val="0F7B78"/>
            </a:solidFill>
            <a:prstDash val="solid"/>
            <a:tailEnd type="triangle"/>
          </a:ln>
        </p:spPr>
      </p:sp>
      <p:sp>
        <p:nvSpPr>
          <p:cNvPr id="12" name="Shape 9"/>
          <p:cNvSpPr/>
          <p:nvPr/>
        </p:nvSpPr>
        <p:spPr>
          <a:xfrm>
            <a:off x="4297680" y="2011680"/>
            <a:ext cx="2194560" cy="685800"/>
          </a:xfrm>
          <a:prstGeom prst="roundRect">
            <a:avLst>
              <a:gd name="adj" fmla="val 8000"/>
            </a:avLst>
          </a:prstGeom>
          <a:solidFill>
            <a:schemeClr val="accent1">
              <a:alpha val="10000"/>
            </a:schemeClr>
          </a:solidFill>
          <a:ln w="15875">
            <a:solidFill>
              <a:schemeClr val="accent1"/>
            </a:solidFill>
            <a:prstDash val="solid"/>
          </a:ln>
        </p:spPr>
      </p:sp>
      <p:sp>
        <p:nvSpPr>
          <p:cNvPr id="13" name="Text 10"/>
          <p:cNvSpPr txBox="1"/>
          <p:nvPr/>
        </p:nvSpPr>
        <p:spPr>
          <a:xfrm>
            <a:off x="4343400" y="2011680"/>
            <a:ext cx="2103120" cy="685800"/>
          </a:xfrm>
          <a:prstGeom prst="rect">
            <a:avLst/>
          </a:prstGeom>
          <a:noFill/>
          <a:ln/>
        </p:spPr>
        <p:txBody>
          <a:bodyPr wrap="square" lIns="0" tIns="0" rIns="0" bIns="0" rtlCol="0" anchor="ctr"/>
          <a:lstStyle/>
          <a:p>
            <a:pPr algn="ctr" indent="0" marL="0">
              <a:lnSpc>
                <a:spcPct val="105000"/>
              </a:lnSpc>
              <a:buNone/>
            </a:pPr>
            <a:r>
              <a:rPr lang="en-US" sz="1600" b="1" dirty="0">
                <a:solidFill>
                  <a:schemeClr val="tx1"/>
                </a:solidFill>
              </a:rPr>
              <a:t>CrossEntropyLoss</a:t>
            </a:r>
            <a:endParaRPr lang="en-US" sz="1600" dirty="0"/>
          </a:p>
        </p:txBody>
      </p:sp>
      <p:sp>
        <p:nvSpPr>
          <p:cNvPr id="14" name="Text 11"/>
          <p:cNvSpPr txBox="1"/>
          <p:nvPr/>
        </p:nvSpPr>
        <p:spPr>
          <a:xfrm>
            <a:off x="548640" y="2788920"/>
            <a:ext cx="5943600" cy="36576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log-softmax is applied once, inside the loss, stably.</a:t>
            </a:r>
            <a:endParaRPr lang="en-US" sz="1500" dirty="0"/>
          </a:p>
        </p:txBody>
      </p:sp>
      <p:sp>
        <p:nvSpPr>
          <p:cNvPr id="15" name="Text 12"/>
          <p:cNvSpPr txBox="1"/>
          <p:nvPr/>
        </p:nvSpPr>
        <p:spPr>
          <a:xfrm>
            <a:off x="548640" y="3429000"/>
            <a:ext cx="4572000" cy="274320"/>
          </a:xfrm>
          <a:prstGeom prst="rect">
            <a:avLst/>
          </a:prstGeom>
          <a:noFill/>
          <a:ln/>
        </p:spPr>
        <p:txBody>
          <a:bodyPr wrap="square" lIns="0" tIns="0" rIns="0" bIns="0" rtlCol="0" anchor="ctr"/>
          <a:lstStyle/>
          <a:p>
            <a:pPr indent="0" marL="0">
              <a:buNone/>
            </a:pPr>
            <a:r>
              <a:rPr lang="en-US" sz="1200" b="1" spc="120" kern="0" dirty="0">
                <a:solidFill>
                  <a:schemeClr val="accent2"/>
                </a:solidFill>
              </a:rPr>
              <a:t>NOT THIS</a:t>
            </a:r>
            <a:endParaRPr lang="en-US" sz="1200" dirty="0"/>
          </a:p>
        </p:txBody>
      </p:sp>
      <p:sp>
        <p:nvSpPr>
          <p:cNvPr id="16" name="Shape 13"/>
          <p:cNvSpPr/>
          <p:nvPr/>
        </p:nvSpPr>
        <p:spPr>
          <a:xfrm>
            <a:off x="548640" y="3794760"/>
            <a:ext cx="1463040" cy="685800"/>
          </a:xfrm>
          <a:prstGeom prst="roundRect">
            <a:avLst>
              <a:gd name="adj" fmla="val 8000"/>
            </a:avLst>
          </a:prstGeom>
          <a:solidFill>
            <a:schemeClr val="bg1"/>
          </a:solidFill>
          <a:ln w="15875">
            <a:solidFill>
              <a:schemeClr val="tx1"/>
            </a:solidFill>
            <a:prstDash val="solid"/>
          </a:ln>
        </p:spPr>
      </p:sp>
      <p:sp>
        <p:nvSpPr>
          <p:cNvPr id="17" name="Text 14"/>
          <p:cNvSpPr txBox="1"/>
          <p:nvPr/>
        </p:nvSpPr>
        <p:spPr>
          <a:xfrm>
            <a:off x="594360" y="3794760"/>
            <a:ext cx="1371600" cy="685800"/>
          </a:xfrm>
          <a:prstGeom prst="rect">
            <a:avLst/>
          </a:prstGeom>
          <a:noFill/>
          <a:ln/>
        </p:spPr>
        <p:txBody>
          <a:bodyPr wrap="square" lIns="0" tIns="0" rIns="0" bIns="0" rtlCol="0" anchor="ctr"/>
          <a:lstStyle/>
          <a:p>
            <a:pPr algn="ctr" indent="0" marL="0">
              <a:lnSpc>
                <a:spcPct val="105000"/>
              </a:lnSpc>
              <a:buNone/>
            </a:pPr>
            <a:r>
              <a:rPr lang="en-US" sz="1600" dirty="0">
                <a:solidFill>
                  <a:schemeClr val="tx1"/>
                </a:solidFill>
              </a:rPr>
              <a:t>Model</a:t>
            </a:r>
            <a:endParaRPr lang="en-US" sz="1600" dirty="0"/>
          </a:p>
        </p:txBody>
      </p:sp>
      <p:sp>
        <p:nvSpPr>
          <p:cNvPr id="18" name="Shape 15"/>
          <p:cNvSpPr/>
          <p:nvPr/>
        </p:nvSpPr>
        <p:spPr>
          <a:xfrm>
            <a:off x="2011680" y="4137660"/>
            <a:ext cx="365760" cy="0"/>
          </a:xfrm>
          <a:prstGeom prst="line">
            <a:avLst/>
          </a:prstGeom>
          <a:noFill/>
          <a:ln w="25400">
            <a:solidFill>
              <a:srgbClr val="D45D27"/>
            </a:solidFill>
            <a:prstDash val="solid"/>
            <a:tailEnd type="triangle"/>
          </a:ln>
        </p:spPr>
      </p:sp>
      <p:sp>
        <p:nvSpPr>
          <p:cNvPr id="19" name="Shape 16"/>
          <p:cNvSpPr/>
          <p:nvPr/>
        </p:nvSpPr>
        <p:spPr>
          <a:xfrm>
            <a:off x="2377440" y="3794760"/>
            <a:ext cx="1554480" cy="685800"/>
          </a:xfrm>
          <a:prstGeom prst="roundRect">
            <a:avLst>
              <a:gd name="adj" fmla="val 8000"/>
            </a:avLst>
          </a:prstGeom>
          <a:solidFill>
            <a:schemeClr val="accent2">
              <a:alpha val="12000"/>
            </a:schemeClr>
          </a:solidFill>
          <a:ln w="15875">
            <a:solidFill>
              <a:schemeClr val="accent2"/>
            </a:solidFill>
            <a:prstDash val="solid"/>
          </a:ln>
        </p:spPr>
      </p:sp>
      <p:sp>
        <p:nvSpPr>
          <p:cNvPr id="20" name="Text 17"/>
          <p:cNvSpPr txBox="1"/>
          <p:nvPr/>
        </p:nvSpPr>
        <p:spPr>
          <a:xfrm>
            <a:off x="2423160" y="3794760"/>
            <a:ext cx="1463040" cy="685800"/>
          </a:xfrm>
          <a:prstGeom prst="rect">
            <a:avLst/>
          </a:prstGeom>
          <a:noFill/>
          <a:ln/>
        </p:spPr>
        <p:txBody>
          <a:bodyPr wrap="square" lIns="0" tIns="0" rIns="0" bIns="0" rtlCol="0" anchor="ctr"/>
          <a:lstStyle/>
          <a:p>
            <a:pPr algn="ctr" indent="0" marL="0">
              <a:lnSpc>
                <a:spcPct val="105000"/>
              </a:lnSpc>
              <a:buNone/>
            </a:pPr>
            <a:r>
              <a:rPr lang="en-US" sz="1600" dirty="0">
                <a:solidFill>
                  <a:schemeClr val="tx1"/>
                </a:solidFill>
              </a:rPr>
              <a:t>Softmax</a:t>
            </a:r>
            <a:endParaRPr lang="en-US" sz="1600" dirty="0"/>
          </a:p>
        </p:txBody>
      </p:sp>
      <p:sp>
        <p:nvSpPr>
          <p:cNvPr id="21" name="Shape 18"/>
          <p:cNvSpPr/>
          <p:nvPr/>
        </p:nvSpPr>
        <p:spPr>
          <a:xfrm>
            <a:off x="3931920" y="4137660"/>
            <a:ext cx="365760" cy="0"/>
          </a:xfrm>
          <a:prstGeom prst="line">
            <a:avLst/>
          </a:prstGeom>
          <a:noFill/>
          <a:ln w="25400">
            <a:solidFill>
              <a:srgbClr val="D45D27"/>
            </a:solidFill>
            <a:prstDash val="solid"/>
            <a:tailEnd type="triangle"/>
          </a:ln>
        </p:spPr>
      </p:sp>
      <p:sp>
        <p:nvSpPr>
          <p:cNvPr id="22" name="Shape 19"/>
          <p:cNvSpPr/>
          <p:nvPr/>
        </p:nvSpPr>
        <p:spPr>
          <a:xfrm>
            <a:off x="4297680" y="3794760"/>
            <a:ext cx="2194560" cy="685800"/>
          </a:xfrm>
          <a:prstGeom prst="roundRect">
            <a:avLst>
              <a:gd name="adj" fmla="val 8000"/>
            </a:avLst>
          </a:prstGeom>
          <a:solidFill>
            <a:schemeClr val="accent2">
              <a:alpha val="12000"/>
            </a:schemeClr>
          </a:solidFill>
          <a:ln w="15875">
            <a:solidFill>
              <a:schemeClr val="accent2"/>
            </a:solidFill>
            <a:prstDash val="solid"/>
          </a:ln>
        </p:spPr>
      </p:sp>
      <p:sp>
        <p:nvSpPr>
          <p:cNvPr id="23" name="Text 20"/>
          <p:cNvSpPr txBox="1"/>
          <p:nvPr/>
        </p:nvSpPr>
        <p:spPr>
          <a:xfrm>
            <a:off x="4343400" y="3794760"/>
            <a:ext cx="2103120" cy="685800"/>
          </a:xfrm>
          <a:prstGeom prst="rect">
            <a:avLst/>
          </a:prstGeom>
          <a:noFill/>
          <a:ln/>
        </p:spPr>
        <p:txBody>
          <a:bodyPr wrap="square" lIns="0" tIns="0" rIns="0" bIns="0" rtlCol="0" anchor="ctr"/>
          <a:lstStyle/>
          <a:p>
            <a:pPr algn="ctr" indent="0" marL="0">
              <a:lnSpc>
                <a:spcPct val="105000"/>
              </a:lnSpc>
              <a:buNone/>
            </a:pPr>
            <a:r>
              <a:rPr lang="en-US" sz="1600" dirty="0">
                <a:solidFill>
                  <a:schemeClr val="tx1"/>
                </a:solidFill>
              </a:rPr>
              <a:t>CrossEntropyLoss</a:t>
            </a:r>
            <a:endParaRPr lang="en-US" sz="1600" dirty="0"/>
          </a:p>
        </p:txBody>
      </p:sp>
      <p:sp>
        <p:nvSpPr>
          <p:cNvPr id="24" name="Text 21"/>
          <p:cNvSpPr txBox="1"/>
          <p:nvPr/>
        </p:nvSpPr>
        <p:spPr>
          <a:xfrm>
            <a:off x="548640" y="4572000"/>
            <a:ext cx="5943600" cy="365760"/>
          </a:xfrm>
          <a:prstGeom prst="rect">
            <a:avLst/>
          </a:prstGeom>
          <a:noFill/>
          <a:ln/>
        </p:spPr>
        <p:txBody>
          <a:bodyPr wrap="square" lIns="0" tIns="0" rIns="0" bIns="0" rtlCol="0" anchor="t"/>
          <a:lstStyle/>
          <a:p>
            <a:pPr algn="l" indent="0" marL="0">
              <a:lnSpc>
                <a:spcPct val="105000"/>
              </a:lnSpc>
              <a:buNone/>
            </a:pPr>
            <a:r>
              <a:rPr lang="en-US" sz="1500" dirty="0">
                <a:solidFill>
                  <a:schemeClr val="accent2"/>
                </a:solidFill>
              </a:rPr>
              <a:t>Softmax applied twice: damped gradients, no error message.</a:t>
            </a:r>
            <a:endParaRPr lang="en-US" sz="1500" dirty="0"/>
          </a:p>
        </p:txBody>
      </p:sp>
      <p:sp>
        <p:nvSpPr>
          <p:cNvPr id="25" name="Shape 22"/>
          <p:cNvSpPr/>
          <p:nvPr/>
        </p:nvSpPr>
        <p:spPr>
          <a:xfrm>
            <a:off x="6949440" y="1645920"/>
            <a:ext cx="4690872" cy="1698498"/>
          </a:xfrm>
          <a:prstGeom prst="roundRect">
            <a:avLst>
              <a:gd name="adj" fmla="val 4307"/>
            </a:avLst>
          </a:prstGeom>
          <a:solidFill>
            <a:schemeClr val="accent1">
              <a:alpha val="10000"/>
            </a:schemeClr>
          </a:solidFill>
          <a:ln w="12700">
            <a:solidFill>
              <a:schemeClr val="accent1">
                <a:alpha val="10000"/>
              </a:schemeClr>
            </a:solidFill>
            <a:prstDash val="solid"/>
          </a:ln>
        </p:spPr>
      </p:sp>
      <p:sp>
        <p:nvSpPr>
          <p:cNvPr id="26" name="Text 23"/>
          <p:cNvSpPr txBox="1"/>
          <p:nvPr/>
        </p:nvSpPr>
        <p:spPr>
          <a:xfrm>
            <a:off x="7178040" y="1792224"/>
            <a:ext cx="423367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LOG-SUM-EXP TRICK</a:t>
            </a:r>
            <a:endParaRPr lang="en-US" sz="1200" dirty="0"/>
          </a:p>
        </p:txBody>
      </p:sp>
      <p:sp>
        <p:nvSpPr>
          <p:cNvPr id="27" name="Text 24"/>
          <p:cNvSpPr txBox="1"/>
          <p:nvPr/>
        </p:nvSpPr>
        <p:spPr>
          <a:xfrm>
            <a:off x="7178040" y="2221992"/>
            <a:ext cx="4233672" cy="930402"/>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log softmax(z)ₖ = zₖ − log Σⱼ exp(zⱼ)</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      = zₖ − c − log Σⱼ exp(zⱼ − c)</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where c = maxⱼ zⱼ</a:t>
            </a:r>
            <a:endParaRPr lang="en-US" sz="1800" dirty="0"/>
          </a:p>
        </p:txBody>
      </p:sp>
      <p:sp>
        <p:nvSpPr>
          <p:cNvPr id="28" name="Shape 25"/>
          <p:cNvSpPr/>
          <p:nvPr/>
        </p:nvSpPr>
        <p:spPr>
          <a:xfrm>
            <a:off x="7159752" y="3867912"/>
            <a:ext cx="0" cy="1005840"/>
          </a:xfrm>
          <a:prstGeom prst="line">
            <a:avLst/>
          </a:prstGeom>
          <a:noFill/>
          <a:ln w="25400">
            <a:solidFill>
              <a:schemeClr val="accent1">
                <a:alpha val="50000"/>
              </a:schemeClr>
            </a:solidFill>
            <a:prstDash val="solid"/>
          </a:ln>
        </p:spPr>
      </p:sp>
      <p:sp>
        <p:nvSpPr>
          <p:cNvPr id="29" name="Shape 26"/>
          <p:cNvSpPr/>
          <p:nvPr/>
        </p:nvSpPr>
        <p:spPr>
          <a:xfrm>
            <a:off x="6949440" y="3657600"/>
            <a:ext cx="420624" cy="420624"/>
          </a:xfrm>
          <a:prstGeom prst="ellipse">
            <a:avLst/>
          </a:prstGeom>
          <a:solidFill>
            <a:schemeClr val="accent1"/>
          </a:solidFill>
          <a:ln w="25400">
            <a:solidFill>
              <a:schemeClr val="bg1"/>
            </a:solidFill>
            <a:prstDash val="solid"/>
          </a:ln>
        </p:spPr>
      </p:sp>
      <p:sp>
        <p:nvSpPr>
          <p:cNvPr id="30" name="Text 27"/>
          <p:cNvSpPr txBox="1"/>
          <p:nvPr/>
        </p:nvSpPr>
        <p:spPr>
          <a:xfrm>
            <a:off x="6949440" y="3657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1" name="Text 28"/>
          <p:cNvSpPr txBox="1"/>
          <p:nvPr/>
        </p:nvSpPr>
        <p:spPr>
          <a:xfrm>
            <a:off x="7598664" y="3694176"/>
            <a:ext cx="40416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No overflow</a:t>
            </a:r>
            <a:endParaRPr lang="en-US" sz="1900" dirty="0"/>
          </a:p>
        </p:txBody>
      </p:sp>
      <p:sp>
        <p:nvSpPr>
          <p:cNvPr id="32" name="Text 29"/>
          <p:cNvSpPr txBox="1"/>
          <p:nvPr/>
        </p:nvSpPr>
        <p:spPr>
          <a:xfrm>
            <a:off x="7598664" y="3997198"/>
            <a:ext cx="4041648" cy="62966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Every exponent zⱼ − c ≤ 0.</a:t>
            </a:r>
            <a:endParaRPr lang="en-US" sz="1600" dirty="0"/>
          </a:p>
        </p:txBody>
      </p:sp>
      <p:sp>
        <p:nvSpPr>
          <p:cNvPr id="33" name="Shape 30"/>
          <p:cNvSpPr/>
          <p:nvPr/>
        </p:nvSpPr>
        <p:spPr>
          <a:xfrm>
            <a:off x="6949440" y="4663440"/>
            <a:ext cx="420624" cy="420624"/>
          </a:xfrm>
          <a:prstGeom prst="ellipse">
            <a:avLst/>
          </a:prstGeom>
          <a:solidFill>
            <a:schemeClr val="accent1"/>
          </a:solidFill>
          <a:ln w="25400">
            <a:solidFill>
              <a:schemeClr val="bg1"/>
            </a:solidFill>
            <a:prstDash val="solid"/>
          </a:ln>
        </p:spPr>
      </p:sp>
      <p:sp>
        <p:nvSpPr>
          <p:cNvPr id="34" name="Text 31"/>
          <p:cNvSpPr txBox="1"/>
          <p:nvPr/>
        </p:nvSpPr>
        <p:spPr>
          <a:xfrm>
            <a:off x="6949440" y="46634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5" name="Text 32"/>
          <p:cNvSpPr txBox="1"/>
          <p:nvPr/>
        </p:nvSpPr>
        <p:spPr>
          <a:xfrm>
            <a:off x="7598664" y="4700016"/>
            <a:ext cx="40416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No underflow to 0</a:t>
            </a:r>
            <a:endParaRPr lang="en-US" sz="1900" dirty="0"/>
          </a:p>
        </p:txBody>
      </p:sp>
      <p:sp>
        <p:nvSpPr>
          <p:cNvPr id="36" name="Text 33"/>
          <p:cNvSpPr txBox="1"/>
          <p:nvPr/>
        </p:nvSpPr>
        <p:spPr>
          <a:xfrm>
            <a:off x="7598664" y="5003038"/>
            <a:ext cx="4041648" cy="62966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One term equals exactly 1.</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Match the PyTorch loss to the task and target format</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194560"/>
                <a:gridCol w="3291840"/>
                <a:gridCol w="2377440"/>
                <a:gridCol w="3227832"/>
              </a:tblGrid>
              <a:tr h="512064">
                <a:tc>
                  <a:txBody>
                    <a:bodyPr/>
                    <a:lstStyle/>
                    <a:p>
                      <a:pPr indent="0" marL="0">
                        <a:buNone/>
                      </a:pPr>
                      <a:r>
                        <a:rPr lang="en-US" sz="1700" b="1" dirty="0">
                          <a:solidFill>
                            <a:schemeClr val="bg1"/>
                          </a:solidFill>
                        </a:rPr>
                        <a:t>Task</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Loss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Model output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Target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512064">
                <a:tc>
                  <a:txBody>
                    <a:bodyPr/>
                    <a:lstStyle/>
                    <a:p>
                      <a:pPr indent="0" marL="0">
                        <a:buNone/>
                      </a:pPr>
                      <a:r>
                        <a:rPr lang="en-US" sz="1700" dirty="0">
                          <a:solidFill>
                            <a:schemeClr val="tx1"/>
                          </a:solidFill>
                        </a:rPr>
                        <a:t>Regression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latin typeface="Consolas" pitchFamily="34" charset="0"/>
                          <a:ea typeface="Consolas" pitchFamily="34" charset="-122"/>
                          <a:cs typeface="Consolas" pitchFamily="34" charset="-120"/>
                        </a:rPr>
                        <a:t>nn.MSELoss()</a:t>
                      </a:r>
                      <a:endParaRPr lang="en-US" sz="17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(m, 1) raw</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(m, 1) float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12064">
                <a:tc>
                  <a:txBody>
                    <a:bodyPr/>
                    <a:lstStyle/>
                    <a:p>
                      <a:pPr indent="0" marL="0">
                        <a:buNone/>
                      </a:pPr>
                      <a:r>
                        <a:rPr lang="en-US" sz="1700" dirty="0">
                          <a:solidFill>
                            <a:schemeClr val="tx1"/>
                          </a:solidFill>
                        </a:rPr>
                        <a:t>Robust regression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latin typeface="Consolas" pitchFamily="34" charset="0"/>
                          <a:ea typeface="Consolas" pitchFamily="34" charset="-122"/>
                          <a:cs typeface="Consolas" pitchFamily="34" charset="-120"/>
                        </a:rPr>
                        <a:t>nn.SmoothL1Loss()</a:t>
                      </a:r>
                      <a:endParaRPr lang="en-US" sz="17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(m, 1) raw</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(m, 1) float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12064">
                <a:tc>
                  <a:txBody>
                    <a:bodyPr/>
                    <a:lstStyle/>
                    <a:p>
                      <a:pPr indent="0" marL="0">
                        <a:buNone/>
                      </a:pPr>
                      <a:r>
                        <a:rPr lang="en-US" sz="1700" dirty="0">
                          <a:solidFill>
                            <a:schemeClr val="tx1"/>
                          </a:solidFill>
                        </a:rPr>
                        <a:t>Binary</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latin typeface="Consolas" pitchFamily="34" charset="0"/>
                          <a:ea typeface="Consolas" pitchFamily="34" charset="-122"/>
                          <a:cs typeface="Consolas" pitchFamily="34" charset="-120"/>
                        </a:rPr>
                        <a:t>nn.BCEWithLogitsLoss()</a:t>
                      </a:r>
                      <a:endParaRPr lang="en-US" sz="17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(m, 1) logits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(m, 1) float, 0.0 or 1.0</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12064">
                <a:tc>
                  <a:txBody>
                    <a:bodyPr/>
                    <a:lstStyle/>
                    <a:p>
                      <a:pPr indent="0" marL="0">
                        <a:buNone/>
                      </a:pPr>
                      <a:r>
                        <a:rPr lang="en-US" sz="1700" b="1" dirty="0">
                          <a:solidFill>
                            <a:schemeClr val="accent1"/>
                          </a:solidFill>
                        </a:rPr>
                        <a:t>Multi-class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latin typeface="Consolas" pitchFamily="34" charset="0"/>
                          <a:ea typeface="Consolas" pitchFamily="34" charset="-122"/>
                          <a:cs typeface="Consolas" pitchFamily="34" charset="-120"/>
                        </a:rPr>
                        <a:t>nn.CrossEntropyLoss()</a:t>
                      </a:r>
                      <a:endParaRPr lang="en-US" sz="17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(m, K) logits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(m,) int64 class indices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512064">
                <a:tc>
                  <a:txBody>
                    <a:bodyPr/>
                    <a:lstStyle/>
                    <a:p>
                      <a:pPr indent="0" marL="0">
                        <a:buNone/>
                      </a:pPr>
                      <a:r>
                        <a:rPr lang="en-US" sz="1700" dirty="0">
                          <a:solidFill>
                            <a:schemeClr val="tx1"/>
                          </a:solidFill>
                        </a:rPr>
                        <a:t>Multi-label</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latin typeface="Consolas" pitchFamily="34" charset="0"/>
                          <a:ea typeface="Consolas" pitchFamily="34" charset="-122"/>
                          <a:cs typeface="Consolas" pitchFamily="34" charset="-120"/>
                        </a:rPr>
                        <a:t>nn.BCEWithLogitsLoss()</a:t>
                      </a:r>
                      <a:endParaRPr lang="en-US" sz="1700" dirty="0">
                        <a:latin typeface="Consolas" charset="0"/>
                        <a:ea typeface="Consolas" charset="0"/>
                        <a:cs typeface="Consolas"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(m, K) logits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(m, K) float 0/1</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bl>
          </a:graphicData>
        </a:graphic>
      </p:graphicFrame>
      <p:sp>
        <p:nvSpPr>
          <p:cNvPr id="6" name="Shape 2"/>
          <p:cNvSpPr/>
          <p:nvPr/>
        </p:nvSpPr>
        <p:spPr>
          <a:xfrm>
            <a:off x="758952" y="5102352"/>
            <a:ext cx="0" cy="685800"/>
          </a:xfrm>
          <a:prstGeom prst="line">
            <a:avLst/>
          </a:prstGeom>
          <a:noFill/>
          <a:ln w="25400">
            <a:solidFill>
              <a:schemeClr val="accent1">
                <a:alpha val="50000"/>
              </a:schemeClr>
            </a:solidFill>
            <a:prstDash val="solid"/>
          </a:ln>
        </p:spPr>
      </p:sp>
      <p:sp>
        <p:nvSpPr>
          <p:cNvPr id="7" name="Shape 3"/>
          <p:cNvSpPr/>
          <p:nvPr/>
        </p:nvSpPr>
        <p:spPr>
          <a:xfrm>
            <a:off x="548640" y="4892040"/>
            <a:ext cx="420624" cy="420624"/>
          </a:xfrm>
          <a:prstGeom prst="ellipse">
            <a:avLst/>
          </a:prstGeom>
          <a:solidFill>
            <a:schemeClr val="accent2"/>
          </a:solidFill>
          <a:ln w="25400">
            <a:solidFill>
              <a:schemeClr val="bg1"/>
            </a:solidFill>
            <a:prstDash val="solid"/>
          </a:ln>
        </p:spPr>
      </p:sp>
      <p:sp>
        <p:nvSpPr>
          <p:cNvPr id="8" name="Text 4"/>
          <p:cNvSpPr txBox="1"/>
          <p:nvPr/>
        </p:nvSpPr>
        <p:spPr>
          <a:xfrm>
            <a:off x="548640" y="48920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5"/>
          <p:cNvSpPr txBox="1"/>
          <p:nvPr/>
        </p:nvSpPr>
        <p:spPr>
          <a:xfrm>
            <a:off x="1197864" y="4928616"/>
            <a:ext cx="10442448" cy="640080"/>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One-hot targets to CrossEntropyLoss</a:t>
            </a:r>
            <a:r>
              <a:rPr lang="en-US" sz="1700" dirty="0">
                <a:solidFill>
                  <a:schemeClr val="tx1"/>
                </a:solidFill>
              </a:rPr>
              <a:t> Use int64 class indices. (At least this raises an error.)</a:t>
            </a:r>
            <a:endParaRPr lang="en-US" sz="1700" dirty="0"/>
          </a:p>
        </p:txBody>
      </p:sp>
      <p:sp>
        <p:nvSpPr>
          <p:cNvPr id="10" name="Shape 6"/>
          <p:cNvSpPr/>
          <p:nvPr/>
        </p:nvSpPr>
        <p:spPr>
          <a:xfrm>
            <a:off x="548640" y="5577840"/>
            <a:ext cx="420624" cy="420624"/>
          </a:xfrm>
          <a:prstGeom prst="ellipse">
            <a:avLst/>
          </a:prstGeom>
          <a:solidFill>
            <a:schemeClr val="accent2"/>
          </a:solidFill>
          <a:ln w="25400">
            <a:solidFill>
              <a:schemeClr val="bg1"/>
            </a:solidFill>
            <a:prstDash val="solid"/>
          </a:ln>
        </p:spPr>
      </p:sp>
      <p:sp>
        <p:nvSpPr>
          <p:cNvPr id="11" name="Text 7"/>
          <p:cNvSpPr txBox="1"/>
          <p:nvPr/>
        </p:nvSpPr>
        <p:spPr>
          <a:xfrm>
            <a:off x="548640" y="5577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8"/>
          <p:cNvSpPr txBox="1"/>
          <p:nvPr/>
        </p:nvSpPr>
        <p:spPr>
          <a:xfrm>
            <a:off x="1197864" y="5614416"/>
            <a:ext cx="10442448" cy="640080"/>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Softmax outputs instead of logits</a:t>
            </a:r>
            <a:r>
              <a:rPr lang="en-US" sz="1700" dirty="0">
                <a:solidFill>
                  <a:schemeClr val="tx1"/>
                </a:solidFill>
              </a:rPr>
              <a:t> Raises nothing and quietly degrades the model.</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LOSS FUNCTIONS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CrossEntropyLoss in practice</a:t>
            </a:r>
            <a:endParaRPr lang="en-US" sz="3000" dirty="0"/>
          </a:p>
        </p:txBody>
      </p:sp>
      <p:sp>
        <p:nvSpPr>
          <p:cNvPr id="5" name="Shape 2"/>
          <p:cNvSpPr/>
          <p:nvPr/>
        </p:nvSpPr>
        <p:spPr>
          <a:xfrm>
            <a:off x="548640" y="1645920"/>
            <a:ext cx="6583680" cy="4059936"/>
          </a:xfrm>
          <a:prstGeom prst="roundRect">
            <a:avLst>
              <a:gd name="adj" fmla="val 1802"/>
            </a:avLst>
          </a:prstGeom>
          <a:solidFill>
            <a:schemeClr val="bg2"/>
          </a:solidFill>
          <a:ln w="12700">
            <a:solidFill>
              <a:schemeClr val="bg2"/>
            </a:solidFill>
            <a:prstDash val="solid"/>
          </a:ln>
        </p:spPr>
      </p:sp>
      <p:sp>
        <p:nvSpPr>
          <p:cNvPr id="6" name="Text 3"/>
          <p:cNvSpPr txBox="1"/>
          <p:nvPr/>
        </p:nvSpPr>
        <p:spPr>
          <a:xfrm>
            <a:off x="749808" y="1819656"/>
            <a:ext cx="6181344" cy="3712464"/>
          </a:xfrm>
          <a:prstGeom prst="rect">
            <a:avLst/>
          </a:prstGeom>
          <a:noFill/>
          <a:ln/>
        </p:spPr>
        <p:txBody>
          <a:bodyPr wrap="square" lIns="0" tIns="0" rIns="0" bIns="0" rtlCol="0" anchor="t"/>
          <a:lstStyle/>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import torch</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import torch.nn as nn</a:t>
            </a:r>
            <a:endParaRPr lang="en-US" sz="1500" dirty="0"/>
          </a:p>
          <a:p>
            <a:pPr indent="0" marL="0">
              <a:lnSpc>
                <a:spcPct val="100000"/>
              </a:lnSpc>
              <a:buNone/>
            </a:pPr>
            <a:r>
              <a:rPr lang="en-US" sz="1500" dirty="0">
                <a:solidFill>
                  <a:srgbClr val="000000"/>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logits = torch.tensor([[2.0, 1.0, 0.1],</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[0.5, 2.5, 0.3],</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[1.2, 0.2, 3.1],</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[0.1, 0.1, 0.1]])</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targets = torch.tensor([0, 1, 2, 0])   </a:t>
            </a:r>
            <a:r>
              <a:rPr lang="en-US" sz="1500" dirty="0">
                <a:solidFill>
                  <a:schemeClr val="accent1"/>
                </a:solidFill>
                <a:latin typeface="Consolas" pitchFamily="34" charset="0"/>
                <a:ea typeface="Consolas" pitchFamily="34" charset="-122"/>
                <a:cs typeface="Consolas" pitchFamily="34" charset="-120"/>
              </a:rPr>
              <a:t># int64</a:t>
            </a:r>
            <a:endParaRPr lang="en-US" sz="1500" dirty="0"/>
          </a:p>
          <a:p>
            <a:pPr indent="0" marL="0">
              <a:lnSpc>
                <a:spcPct val="100000"/>
              </a:lnSpc>
              <a:buNone/>
            </a:pPr>
            <a:r>
              <a:rPr lang="en-US" sz="1500" dirty="0">
                <a:solidFill>
                  <a:srgbClr val="000000"/>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loss = nn.CrossEntropyLoss()(logits, targets)</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print(loss.item())                     </a:t>
            </a:r>
            <a:r>
              <a:rPr lang="en-US" sz="1500" dirty="0">
                <a:solidFill>
                  <a:schemeClr val="accent1"/>
                </a:solidFill>
                <a:latin typeface="Consolas" pitchFamily="34" charset="0"/>
                <a:ea typeface="Consolas" pitchFamily="34" charset="-122"/>
                <a:cs typeface="Consolas" pitchFamily="34" charset="-120"/>
              </a:rPr>
              <a:t># 0.6161</a:t>
            </a:r>
            <a:endParaRPr lang="en-US" sz="1500" dirty="0"/>
          </a:p>
          <a:p>
            <a:pPr indent="0" marL="0">
              <a:lnSpc>
                <a:spcPct val="100000"/>
              </a:lnSpc>
              <a:buNone/>
            </a:pPr>
            <a:r>
              <a:rPr lang="en-US" sz="1500" dirty="0">
                <a:solidFill>
                  <a:srgbClr val="000000"/>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chemeClr val="accent1"/>
                </a:solidFill>
                <a:latin typeface="Consolas" pitchFamily="34" charset="0"/>
                <a:ea typeface="Consolas" pitchFamily="34" charset="-122"/>
                <a:cs typeface="Consolas" pitchFamily="34" charset="-120"/>
              </a:rPr>
              <a:t># rare class 2 counts 5x</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w = torch.tensor([1.0, 1.0, 5.0])</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weighted = nn.CrossEntropyLoss(weight=w)</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smooth = nn.CrossEntropyLoss(label_smoothing=0.1)</a:t>
            </a:r>
            <a:endParaRPr lang="en-US" sz="1500" dirty="0"/>
          </a:p>
        </p:txBody>
      </p:sp>
      <p:sp>
        <p:nvSpPr>
          <p:cNvPr id="7" name="Shape 4"/>
          <p:cNvSpPr/>
          <p:nvPr/>
        </p:nvSpPr>
        <p:spPr>
          <a:xfrm>
            <a:off x="7589520" y="1645920"/>
            <a:ext cx="4050792" cy="1600200"/>
          </a:xfrm>
          <a:prstGeom prst="roundRect">
            <a:avLst>
              <a:gd name="adj" fmla="val 4571"/>
            </a:avLst>
          </a:prstGeom>
          <a:solidFill>
            <a:schemeClr val="bg2"/>
          </a:solidFill>
          <a:ln w="12700">
            <a:solidFill>
              <a:schemeClr val="bg2"/>
            </a:solidFill>
            <a:prstDash val="solid"/>
          </a:ln>
        </p:spPr>
      </p:sp>
      <p:sp>
        <p:nvSpPr>
          <p:cNvPr id="8" name="Text 5"/>
          <p:cNvSpPr txBox="1"/>
          <p:nvPr/>
        </p:nvSpPr>
        <p:spPr>
          <a:xfrm>
            <a:off x="7790688" y="1847088"/>
            <a:ext cx="36484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Check by hand</a:t>
            </a:r>
            <a:endParaRPr lang="en-US" sz="1900" dirty="0"/>
          </a:p>
        </p:txBody>
      </p:sp>
      <p:sp>
        <p:nvSpPr>
          <p:cNvPr id="9" name="Text 6"/>
          <p:cNvSpPr txBox="1"/>
          <p:nvPr/>
        </p:nvSpPr>
        <p:spPr>
          <a:xfrm>
            <a:off x="7790688" y="2204974"/>
            <a:ext cx="3648456" cy="83997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Row 4 has equal logits: ŷ = ⅓ each, so L = ln 3 ≈ 1.0986.</a:t>
            </a:r>
            <a:endParaRPr lang="en-US" sz="1600" dirty="0"/>
          </a:p>
        </p:txBody>
      </p:sp>
      <p:sp>
        <p:nvSpPr>
          <p:cNvPr id="10" name="Shape 7"/>
          <p:cNvSpPr/>
          <p:nvPr/>
        </p:nvSpPr>
        <p:spPr>
          <a:xfrm>
            <a:off x="7589520" y="3474720"/>
            <a:ext cx="4050792" cy="1126998"/>
          </a:xfrm>
          <a:prstGeom prst="roundRect">
            <a:avLst>
              <a:gd name="adj" fmla="val 6491"/>
            </a:avLst>
          </a:prstGeom>
          <a:solidFill>
            <a:schemeClr val="accent1">
              <a:alpha val="10000"/>
            </a:schemeClr>
          </a:solidFill>
          <a:ln w="12700">
            <a:solidFill>
              <a:schemeClr val="accent1">
                <a:alpha val="10000"/>
              </a:schemeClr>
            </a:solidFill>
            <a:prstDash val="solid"/>
          </a:ln>
        </p:spPr>
      </p:sp>
      <p:sp>
        <p:nvSpPr>
          <p:cNvPr id="11" name="Text 8"/>
          <p:cNvSpPr txBox="1"/>
          <p:nvPr/>
        </p:nvSpPr>
        <p:spPr>
          <a:xfrm>
            <a:off x="7818120" y="3621024"/>
            <a:ext cx="359359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LABEL SMOOTHING (PYTORCH)</a:t>
            </a:r>
            <a:endParaRPr lang="en-US" sz="1200" dirty="0"/>
          </a:p>
        </p:txBody>
      </p:sp>
      <p:sp>
        <p:nvSpPr>
          <p:cNvPr id="12" name="Text 9"/>
          <p:cNvSpPr txBox="1"/>
          <p:nvPr/>
        </p:nvSpPr>
        <p:spPr>
          <a:xfrm>
            <a:off x="7818120" y="4050792"/>
            <a:ext cx="3593592" cy="358902"/>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target = (1 − ε) · one-hot + ε / K</a:t>
            </a:r>
            <a:endParaRPr lang="en-US" sz="1800" dirty="0"/>
          </a:p>
        </p:txBody>
      </p:sp>
      <p:sp>
        <p:nvSpPr>
          <p:cNvPr id="13" name="Text 10"/>
          <p:cNvSpPr txBox="1"/>
          <p:nvPr/>
        </p:nvSpPr>
        <p:spPr>
          <a:xfrm>
            <a:off x="7589520" y="4846320"/>
            <a:ext cx="4050792" cy="109728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Typical ε = 0.1. Discourages logits racing to ∞; small accuracy gain, better calibration.</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loss functions</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A 100-class classifier’s loss is 2.0 on the very first batch. Is that plausible? What does it suggest?</a:t>
            </a:r>
            <a:endParaRPr lang="en-US" sz="2000" dirty="0"/>
          </a:p>
        </p:txBody>
      </p:sp>
      <p:sp>
        <p:nvSpPr>
          <p:cNvPr id="8" name="Shape 5"/>
          <p:cNvSpPr/>
          <p:nvPr/>
        </p:nvSpPr>
        <p:spPr>
          <a:xfrm>
            <a:off x="576072" y="262940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6294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665984"/>
            <a:ext cx="10241280" cy="50292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Show that for y = 0, L = −log(1 − σ(z)) also gives dL/dz = σ(z) − y.</a:t>
            </a:r>
            <a:endParaRPr lang="en-US" sz="2000" dirty="0"/>
          </a:p>
        </p:txBody>
      </p:sp>
      <p:sp>
        <p:nvSpPr>
          <p:cNvPr id="11" name="Shape 8"/>
          <p:cNvSpPr/>
          <p:nvPr/>
        </p:nvSpPr>
        <p:spPr>
          <a:xfrm>
            <a:off x="576072" y="354380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5438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5803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Your loss becomes nan at epoch 3. List four candidate causes, in the order you would check them.</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§5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loss functions</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A 100-class classifier’s loss is 2.0 on the very first batch. Is that plausible? What does it suggest?</a:t>
            </a:r>
            <a:endParaRPr lang="en-US" sz="1600" dirty="0"/>
          </a:p>
        </p:txBody>
      </p:sp>
      <p:sp>
        <p:nvSpPr>
          <p:cNvPr id="8" name="Text 5"/>
          <p:cNvSpPr txBox="1"/>
          <p:nvPr/>
        </p:nvSpPr>
        <p:spPr>
          <a:xfrm>
            <a:off x="1234440" y="1849120"/>
            <a:ext cx="10378440" cy="829056"/>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No: a fresh model should give ln 100 ≈ 4.6. It cannot be leakage — nothing is learned at step zero. Check the output size first (ln 10 = 2.3, so a 10-unit head looks exactly like this), then logging after updates, a non-uniform output bias, or the reduction.</a:t>
            </a:r>
            <a:endParaRPr lang="en-US" sz="1600" dirty="0"/>
          </a:p>
        </p:txBody>
      </p:sp>
      <p:sp>
        <p:nvSpPr>
          <p:cNvPr id="9" name="Shape 6"/>
          <p:cNvSpPr/>
          <p:nvPr/>
        </p:nvSpPr>
        <p:spPr>
          <a:xfrm>
            <a:off x="576072" y="2943352"/>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943352"/>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943352"/>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Show that for y = 0, L = −log(1 − σ(z)) also gives dL/dz = σ(z) − y.</a:t>
            </a:r>
            <a:endParaRPr lang="en-US" sz="1600" dirty="0"/>
          </a:p>
        </p:txBody>
      </p:sp>
      <p:sp>
        <p:nvSpPr>
          <p:cNvPr id="12" name="Text 9"/>
          <p:cNvSpPr txBox="1"/>
          <p:nvPr/>
        </p:nvSpPr>
        <p:spPr>
          <a:xfrm>
            <a:off x="1234440" y="3237992"/>
            <a:ext cx="10378440" cy="349504"/>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dL/dz = −1/(1 − σ) · (−σ′) = σ(1 − σ)/(1 − σ) = σ(z) = σ(z) − 0.</a:t>
            </a:r>
            <a:endParaRPr lang="en-US" sz="1600" dirty="0"/>
          </a:p>
        </p:txBody>
      </p:sp>
      <p:sp>
        <p:nvSpPr>
          <p:cNvPr id="13" name="Shape 10"/>
          <p:cNvSpPr/>
          <p:nvPr/>
        </p:nvSpPr>
        <p:spPr>
          <a:xfrm>
            <a:off x="576072" y="3852672"/>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3852672"/>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3852672"/>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Your loss becomes nan at epoch 3. List four candidate causes, in the order you would check them.</a:t>
            </a:r>
            <a:endParaRPr lang="en-US" sz="1600" dirty="0"/>
          </a:p>
        </p:txBody>
      </p:sp>
      <p:sp>
        <p:nvSpPr>
          <p:cNvPr id="16" name="Text 13"/>
          <p:cNvSpPr txBox="1"/>
          <p:nvPr/>
        </p:nvSpPr>
        <p:spPr>
          <a:xfrm>
            <a:off x="1234440" y="4147312"/>
            <a:ext cx="10378440" cy="829056"/>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(i) Learning rate too high. (ii) A manual log of zero, or softmax before CrossEntropyLoss with extreme logits. (iii) Division by zero, e.g. zero variance in a custom normalization. (iv) nan or inf in the input data. Use torch.autograd.set_detect_anomaly(True) and log every step.</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6</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Backpropagation</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The chain rule, organized so every gradient costs a small constant multiple of one forward pass.</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§6</a:t>
            </a:r>
            <a:endParaRPr lang="en-US" sz="15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Backprop gets all gradients for a constant-factor cost</a:t>
            </a:r>
            <a:endParaRPr lang="en-US" sz="3000" dirty="0"/>
          </a:p>
        </p:txBody>
      </p:sp>
      <p:sp>
        <p:nvSpPr>
          <p:cNvPr id="5" name="Shape 2"/>
          <p:cNvSpPr/>
          <p:nvPr/>
        </p:nvSpPr>
        <p:spPr>
          <a:xfrm>
            <a:off x="548640" y="1645920"/>
            <a:ext cx="5349240" cy="3017520"/>
          </a:xfrm>
          <a:prstGeom prst="roundRect">
            <a:avLst>
              <a:gd name="adj" fmla="val 2424"/>
            </a:avLst>
          </a:prstGeom>
          <a:solidFill>
            <a:schemeClr val="accent2">
              <a:alpha val="12000"/>
            </a:schemeClr>
          </a:solidFill>
          <a:ln w="12700">
            <a:solidFill>
              <a:schemeClr val="accent2">
                <a:alpha val="12000"/>
              </a:schemeClr>
            </a:solidFill>
            <a:prstDash val="solid"/>
          </a:ln>
        </p:spPr>
      </p:sp>
      <p:sp>
        <p:nvSpPr>
          <p:cNvPr id="6" name="Text 3"/>
          <p:cNvSpPr txBox="1"/>
          <p:nvPr/>
        </p:nvSpPr>
        <p:spPr>
          <a:xfrm>
            <a:off x="777240" y="1828800"/>
            <a:ext cx="4937760" cy="274320"/>
          </a:xfrm>
          <a:prstGeom prst="rect">
            <a:avLst/>
          </a:prstGeom>
          <a:noFill/>
          <a:ln/>
        </p:spPr>
        <p:txBody>
          <a:bodyPr wrap="square" lIns="0" tIns="0" rIns="0" bIns="0" rtlCol="0" anchor="ctr"/>
          <a:lstStyle/>
          <a:p>
            <a:pPr indent="0" marL="0">
              <a:buNone/>
            </a:pPr>
            <a:r>
              <a:rPr lang="en-US" sz="1200" b="1" spc="120" kern="0" dirty="0">
                <a:solidFill>
                  <a:schemeClr val="accent2"/>
                </a:solidFill>
              </a:rPr>
              <a:t>FINITE DIFFERENCES</a:t>
            </a:r>
            <a:endParaRPr lang="en-US" sz="1200" dirty="0"/>
          </a:p>
        </p:txBody>
      </p:sp>
      <p:sp>
        <p:nvSpPr>
          <p:cNvPr id="7" name="Text 4"/>
          <p:cNvSpPr txBox="1"/>
          <p:nvPr/>
        </p:nvSpPr>
        <p:spPr>
          <a:xfrm>
            <a:off x="777240" y="2194560"/>
            <a:ext cx="4937760" cy="1188720"/>
          </a:xfrm>
          <a:prstGeom prst="rect">
            <a:avLst/>
          </a:prstGeom>
          <a:noFill/>
          <a:ln/>
        </p:spPr>
        <p:txBody>
          <a:bodyPr wrap="square" lIns="0" tIns="0" rIns="0" bIns="0" rtlCol="0" anchor="t"/>
          <a:lstStyle/>
          <a:p>
            <a:pPr algn="l" indent="0" marL="0">
              <a:lnSpc>
                <a:spcPct val="105000"/>
              </a:lnSpc>
              <a:buNone/>
            </a:pPr>
            <a:r>
              <a:rPr lang="en-US" sz="7200" b="1" dirty="0">
                <a:solidFill>
                  <a:schemeClr val="accent2"/>
                </a:solidFill>
              </a:rPr>
              <a:t>10⁸</a:t>
            </a:r>
            <a:endParaRPr lang="en-US" sz="7200" dirty="0"/>
          </a:p>
        </p:txBody>
      </p:sp>
      <p:sp>
        <p:nvSpPr>
          <p:cNvPr id="8" name="Text 5"/>
          <p:cNvSpPr txBox="1"/>
          <p:nvPr/>
        </p:nvSpPr>
        <p:spPr>
          <a:xfrm>
            <a:off x="777240" y="3520440"/>
            <a:ext cx="4937760" cy="914400"/>
          </a:xfrm>
          <a:prstGeom prst="rect">
            <a:avLst/>
          </a:prstGeom>
          <a:noFill/>
          <a:ln/>
        </p:spPr>
        <p:txBody>
          <a:bodyPr wrap="square" lIns="0" tIns="0" rIns="0" bIns="0" rtlCol="0" anchor="t"/>
          <a:lstStyle/>
          <a:p>
            <a:pPr algn="l" indent="0" marL="0">
              <a:lnSpc>
                <a:spcPct val="105000"/>
              </a:lnSpc>
              <a:buNone/>
            </a:pPr>
            <a:r>
              <a:rPr lang="en-US" sz="1700" dirty="0">
                <a:solidFill>
                  <a:schemeClr val="tx1"/>
                </a:solidFill>
              </a:rPr>
              <a:t>forward passes per step for 10⁸ parameters: over a day per step at 1 ms each.</a:t>
            </a:r>
            <a:endParaRPr lang="en-US" sz="1700" dirty="0"/>
          </a:p>
        </p:txBody>
      </p:sp>
      <p:sp>
        <p:nvSpPr>
          <p:cNvPr id="9" name="Shape 6"/>
          <p:cNvSpPr/>
          <p:nvPr/>
        </p:nvSpPr>
        <p:spPr>
          <a:xfrm>
            <a:off x="6291072" y="1645920"/>
            <a:ext cx="5349240" cy="3017520"/>
          </a:xfrm>
          <a:prstGeom prst="roundRect">
            <a:avLst>
              <a:gd name="adj" fmla="val 2424"/>
            </a:avLst>
          </a:prstGeom>
          <a:solidFill>
            <a:schemeClr val="accent1">
              <a:alpha val="10000"/>
            </a:schemeClr>
          </a:solidFill>
          <a:ln w="12700">
            <a:solidFill>
              <a:schemeClr val="accent1">
                <a:alpha val="10000"/>
              </a:schemeClr>
            </a:solidFill>
            <a:prstDash val="solid"/>
          </a:ln>
        </p:spPr>
      </p:sp>
      <p:sp>
        <p:nvSpPr>
          <p:cNvPr id="10" name="Text 7"/>
          <p:cNvSpPr txBox="1"/>
          <p:nvPr/>
        </p:nvSpPr>
        <p:spPr>
          <a:xfrm>
            <a:off x="6519672" y="1828800"/>
            <a:ext cx="493776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BACKPROPAGATION</a:t>
            </a:r>
            <a:endParaRPr lang="en-US" sz="1200" dirty="0"/>
          </a:p>
        </p:txBody>
      </p:sp>
      <p:sp>
        <p:nvSpPr>
          <p:cNvPr id="11" name="Text 8"/>
          <p:cNvSpPr txBox="1"/>
          <p:nvPr/>
        </p:nvSpPr>
        <p:spPr>
          <a:xfrm>
            <a:off x="6519672" y="2194560"/>
            <a:ext cx="4937760" cy="1188720"/>
          </a:xfrm>
          <a:prstGeom prst="rect">
            <a:avLst/>
          </a:prstGeom>
          <a:noFill/>
          <a:ln/>
        </p:spPr>
        <p:txBody>
          <a:bodyPr wrap="square" lIns="0" tIns="0" rIns="0" bIns="0" rtlCol="0" anchor="t"/>
          <a:lstStyle/>
          <a:p>
            <a:pPr algn="l" indent="0" marL="0">
              <a:lnSpc>
                <a:spcPct val="105000"/>
              </a:lnSpc>
              <a:buNone/>
            </a:pPr>
            <a:r>
              <a:rPr lang="en-US" sz="7200" b="1" dirty="0">
                <a:solidFill>
                  <a:schemeClr val="accent1"/>
                </a:solidFill>
              </a:rPr>
              <a:t>≈ 3×</a:t>
            </a:r>
            <a:endParaRPr lang="en-US" sz="7200" dirty="0"/>
          </a:p>
        </p:txBody>
      </p:sp>
      <p:sp>
        <p:nvSpPr>
          <p:cNvPr id="12" name="Text 9"/>
          <p:cNvSpPr txBox="1"/>
          <p:nvPr/>
        </p:nvSpPr>
        <p:spPr>
          <a:xfrm>
            <a:off x="6519672" y="3520440"/>
            <a:ext cx="4937760" cy="914400"/>
          </a:xfrm>
          <a:prstGeom prst="rect">
            <a:avLst/>
          </a:prstGeom>
          <a:noFill/>
          <a:ln/>
        </p:spPr>
        <p:txBody>
          <a:bodyPr wrap="square" lIns="0" tIns="0" rIns="0" bIns="0" rtlCol="0" anchor="t"/>
          <a:lstStyle/>
          <a:p>
            <a:pPr algn="l" indent="0" marL="0">
              <a:lnSpc>
                <a:spcPct val="105000"/>
              </a:lnSpc>
              <a:buNone/>
            </a:pPr>
            <a:r>
              <a:rPr lang="en-US" sz="1700" dirty="0">
                <a:solidFill>
                  <a:schemeClr val="tx1"/>
                </a:solidFill>
              </a:rPr>
              <a:t>the cost of one forward pass, for every gradient at once (forward + backward).</a:t>
            </a:r>
            <a:endParaRPr lang="en-US" sz="1700" dirty="0"/>
          </a:p>
        </p:txBody>
      </p:sp>
      <p:sp>
        <p:nvSpPr>
          <p:cNvPr id="13" name="Shape 10"/>
          <p:cNvSpPr/>
          <p:nvPr/>
        </p:nvSpPr>
        <p:spPr>
          <a:xfrm>
            <a:off x="548640" y="4983480"/>
            <a:ext cx="11091672" cy="868680"/>
          </a:xfrm>
          <a:prstGeom prst="roundRect">
            <a:avLst>
              <a:gd name="adj" fmla="val 8421"/>
            </a:avLst>
          </a:prstGeom>
          <a:solidFill>
            <a:schemeClr val="bg2"/>
          </a:solidFill>
          <a:ln w="12700">
            <a:solidFill>
              <a:schemeClr val="bg2"/>
            </a:solidFill>
            <a:prstDash val="solid"/>
          </a:ln>
        </p:spPr>
      </p:sp>
      <p:sp>
        <p:nvSpPr>
          <p:cNvPr id="14" name="Text 11"/>
          <p:cNvSpPr txBox="1"/>
          <p:nvPr/>
        </p:nvSpPr>
        <p:spPr>
          <a:xfrm>
            <a:off x="777240" y="4983480"/>
            <a:ext cx="10634472" cy="868680"/>
          </a:xfrm>
          <a:prstGeom prst="rect">
            <a:avLst/>
          </a:prstGeom>
          <a:noFill/>
          <a:ln/>
        </p:spPr>
        <p:txBody>
          <a:bodyPr wrap="square" lIns="0" tIns="0" rIns="0" bIns="0" rtlCol="0" anchor="ctr"/>
          <a:lstStyle/>
          <a:p>
            <a:pPr algn="l" indent="0" marL="0">
              <a:lnSpc>
                <a:spcPct val="105000"/>
              </a:lnSpc>
              <a:buNone/>
            </a:pPr>
            <a:r>
              <a:rPr lang="en-US" sz="2000" b="1" dirty="0">
                <a:solidFill>
                  <a:schemeClr val="tx2"/>
                </a:solidFill>
              </a:rPr>
              <a:t>Backpropagation computes gradients. Gradient descent is the learning algorithm that uses them.</a:t>
            </a:r>
            <a:endParaRPr lang="en-US" sz="20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The chain rule sums over paths; reverse mode reuses work</a:t>
            </a:r>
            <a:endParaRPr lang="en-US" sz="3000" dirty="0"/>
          </a:p>
        </p:txBody>
      </p:sp>
      <p:sp>
        <p:nvSpPr>
          <p:cNvPr id="5" name="Shape 2"/>
          <p:cNvSpPr/>
          <p:nvPr/>
        </p:nvSpPr>
        <p:spPr>
          <a:xfrm>
            <a:off x="548640" y="1645920"/>
            <a:ext cx="11091672" cy="790575"/>
          </a:xfrm>
          <a:prstGeom prst="roundRect">
            <a:avLst>
              <a:gd name="adj" fmla="val 9253"/>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837944"/>
            <a:ext cx="10634472" cy="406527"/>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dy/dx = Σᵢ (∂y/∂uᵢ)(duᵢ/dx)</a:t>
            </a:r>
            <a:r>
              <a:rPr lang="en-US" sz="1700" dirty="0">
                <a:solidFill>
                  <a:schemeClr val="tx2"/>
                </a:solidFill>
                <a:latin typeface="Calibri" pitchFamily="34" charset="0"/>
                <a:ea typeface="Calibri" pitchFamily="34" charset="-122"/>
                <a:cs typeface="Calibri" pitchFamily="34" charset="-120"/>
              </a:rPr>
              <a:t>    a variable’s gradient sums over every path it influences</a:t>
            </a:r>
            <a:endParaRPr lang="en-US" sz="2100" dirty="0"/>
          </a:p>
        </p:txBody>
      </p:sp>
      <p:sp>
        <p:nvSpPr>
          <p:cNvPr id="7" name="Shape 4"/>
          <p:cNvSpPr/>
          <p:nvPr/>
        </p:nvSpPr>
        <p:spPr>
          <a:xfrm>
            <a:off x="1353312" y="3319272"/>
            <a:ext cx="1682496" cy="0"/>
          </a:xfrm>
          <a:prstGeom prst="line">
            <a:avLst/>
          </a:prstGeom>
          <a:noFill/>
          <a:ln w="25400">
            <a:solidFill>
              <a:srgbClr val="0F7B78"/>
            </a:solidFill>
            <a:prstDash val="solid"/>
            <a:tailEnd type="triangle"/>
          </a:ln>
        </p:spPr>
      </p:sp>
      <p:sp>
        <p:nvSpPr>
          <p:cNvPr id="8" name="Shape 5"/>
          <p:cNvSpPr/>
          <p:nvPr/>
        </p:nvSpPr>
        <p:spPr>
          <a:xfrm flipH="1">
            <a:off x="1353312" y="3538728"/>
            <a:ext cx="1682496" cy="0"/>
          </a:xfrm>
          <a:prstGeom prst="line">
            <a:avLst/>
          </a:prstGeom>
          <a:noFill/>
          <a:ln w="25400">
            <a:solidFill>
              <a:srgbClr val="D45D27"/>
            </a:solidFill>
            <a:prstDash val="solid"/>
            <a:tailEnd type="triangle"/>
          </a:ln>
        </p:spPr>
      </p:sp>
      <p:sp>
        <p:nvSpPr>
          <p:cNvPr id="9" name="Shape 6"/>
          <p:cNvSpPr/>
          <p:nvPr/>
        </p:nvSpPr>
        <p:spPr>
          <a:xfrm>
            <a:off x="658368" y="3081528"/>
            <a:ext cx="694944" cy="694944"/>
          </a:xfrm>
          <a:prstGeom prst="ellipse">
            <a:avLst/>
          </a:prstGeom>
          <a:solidFill>
            <a:schemeClr val="bg1"/>
          </a:solidFill>
          <a:ln w="25400">
            <a:solidFill>
              <a:schemeClr val="tx1"/>
            </a:solidFill>
            <a:prstDash val="solid"/>
          </a:ln>
        </p:spPr>
      </p:sp>
      <p:sp>
        <p:nvSpPr>
          <p:cNvPr id="10" name="Text 7"/>
          <p:cNvSpPr txBox="1"/>
          <p:nvPr/>
        </p:nvSpPr>
        <p:spPr>
          <a:xfrm>
            <a:off x="475488" y="3081528"/>
            <a:ext cx="1060704" cy="694944"/>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x</a:t>
            </a:r>
            <a:endParaRPr lang="en-US" sz="2000" dirty="0"/>
          </a:p>
        </p:txBody>
      </p:sp>
      <p:sp>
        <p:nvSpPr>
          <p:cNvPr id="11" name="Shape 8"/>
          <p:cNvSpPr/>
          <p:nvPr/>
        </p:nvSpPr>
        <p:spPr>
          <a:xfrm>
            <a:off x="3730752" y="3319272"/>
            <a:ext cx="1682496" cy="0"/>
          </a:xfrm>
          <a:prstGeom prst="line">
            <a:avLst/>
          </a:prstGeom>
          <a:noFill/>
          <a:ln w="25400">
            <a:solidFill>
              <a:srgbClr val="0F7B78"/>
            </a:solidFill>
            <a:prstDash val="solid"/>
            <a:tailEnd type="triangle"/>
          </a:ln>
        </p:spPr>
      </p:sp>
      <p:sp>
        <p:nvSpPr>
          <p:cNvPr id="12" name="Shape 9"/>
          <p:cNvSpPr/>
          <p:nvPr/>
        </p:nvSpPr>
        <p:spPr>
          <a:xfrm flipH="1">
            <a:off x="3730752" y="3538728"/>
            <a:ext cx="1682496" cy="0"/>
          </a:xfrm>
          <a:prstGeom prst="line">
            <a:avLst/>
          </a:prstGeom>
          <a:noFill/>
          <a:ln w="25400">
            <a:solidFill>
              <a:srgbClr val="D45D27"/>
            </a:solidFill>
            <a:prstDash val="solid"/>
            <a:tailEnd type="triangle"/>
          </a:ln>
        </p:spPr>
      </p:sp>
      <p:sp>
        <p:nvSpPr>
          <p:cNvPr id="13" name="Shape 10"/>
          <p:cNvSpPr/>
          <p:nvPr/>
        </p:nvSpPr>
        <p:spPr>
          <a:xfrm>
            <a:off x="3035808" y="3081528"/>
            <a:ext cx="694944" cy="694944"/>
          </a:xfrm>
          <a:prstGeom prst="ellipse">
            <a:avLst/>
          </a:prstGeom>
          <a:solidFill>
            <a:schemeClr val="bg1"/>
          </a:solidFill>
          <a:ln w="25400">
            <a:solidFill>
              <a:schemeClr val="tx1"/>
            </a:solidFill>
            <a:prstDash val="solid"/>
          </a:ln>
        </p:spPr>
      </p:sp>
      <p:sp>
        <p:nvSpPr>
          <p:cNvPr id="14" name="Text 11"/>
          <p:cNvSpPr txBox="1"/>
          <p:nvPr/>
        </p:nvSpPr>
        <p:spPr>
          <a:xfrm>
            <a:off x="2852928" y="3081528"/>
            <a:ext cx="1060704" cy="694944"/>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a</a:t>
            </a:r>
            <a:endParaRPr lang="en-US" sz="2000" dirty="0"/>
          </a:p>
        </p:txBody>
      </p:sp>
      <p:sp>
        <p:nvSpPr>
          <p:cNvPr id="15" name="Shape 12"/>
          <p:cNvSpPr/>
          <p:nvPr/>
        </p:nvSpPr>
        <p:spPr>
          <a:xfrm>
            <a:off x="6108192" y="3319272"/>
            <a:ext cx="1682496" cy="0"/>
          </a:xfrm>
          <a:prstGeom prst="line">
            <a:avLst/>
          </a:prstGeom>
          <a:noFill/>
          <a:ln w="25400">
            <a:solidFill>
              <a:srgbClr val="0F7B78"/>
            </a:solidFill>
            <a:prstDash val="solid"/>
            <a:tailEnd type="triangle"/>
          </a:ln>
        </p:spPr>
      </p:sp>
      <p:sp>
        <p:nvSpPr>
          <p:cNvPr id="16" name="Shape 13"/>
          <p:cNvSpPr/>
          <p:nvPr/>
        </p:nvSpPr>
        <p:spPr>
          <a:xfrm flipH="1">
            <a:off x="6108192" y="3538728"/>
            <a:ext cx="1682496" cy="0"/>
          </a:xfrm>
          <a:prstGeom prst="line">
            <a:avLst/>
          </a:prstGeom>
          <a:noFill/>
          <a:ln w="25400">
            <a:solidFill>
              <a:srgbClr val="D45D27"/>
            </a:solidFill>
            <a:prstDash val="solid"/>
            <a:tailEnd type="triangle"/>
          </a:ln>
        </p:spPr>
      </p:sp>
      <p:sp>
        <p:nvSpPr>
          <p:cNvPr id="17" name="Shape 14"/>
          <p:cNvSpPr/>
          <p:nvPr/>
        </p:nvSpPr>
        <p:spPr>
          <a:xfrm>
            <a:off x="5413248" y="3081528"/>
            <a:ext cx="694944" cy="694944"/>
          </a:xfrm>
          <a:prstGeom prst="ellipse">
            <a:avLst/>
          </a:prstGeom>
          <a:solidFill>
            <a:schemeClr val="bg1"/>
          </a:solidFill>
          <a:ln w="25400">
            <a:solidFill>
              <a:schemeClr val="tx1"/>
            </a:solidFill>
            <a:prstDash val="solid"/>
          </a:ln>
        </p:spPr>
      </p:sp>
      <p:sp>
        <p:nvSpPr>
          <p:cNvPr id="18" name="Text 15"/>
          <p:cNvSpPr txBox="1"/>
          <p:nvPr/>
        </p:nvSpPr>
        <p:spPr>
          <a:xfrm>
            <a:off x="5230368" y="3081528"/>
            <a:ext cx="1060704" cy="694944"/>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b</a:t>
            </a:r>
            <a:endParaRPr lang="en-US" sz="2000" dirty="0"/>
          </a:p>
        </p:txBody>
      </p:sp>
      <p:sp>
        <p:nvSpPr>
          <p:cNvPr id="19" name="Shape 16"/>
          <p:cNvSpPr/>
          <p:nvPr/>
        </p:nvSpPr>
        <p:spPr>
          <a:xfrm>
            <a:off x="8485632" y="3319272"/>
            <a:ext cx="1682496" cy="0"/>
          </a:xfrm>
          <a:prstGeom prst="line">
            <a:avLst/>
          </a:prstGeom>
          <a:noFill/>
          <a:ln w="25400">
            <a:solidFill>
              <a:srgbClr val="0F7B78"/>
            </a:solidFill>
            <a:prstDash val="solid"/>
            <a:tailEnd type="triangle"/>
          </a:ln>
        </p:spPr>
      </p:sp>
      <p:sp>
        <p:nvSpPr>
          <p:cNvPr id="20" name="Shape 17"/>
          <p:cNvSpPr/>
          <p:nvPr/>
        </p:nvSpPr>
        <p:spPr>
          <a:xfrm flipH="1">
            <a:off x="8485632" y="3538728"/>
            <a:ext cx="1682496" cy="0"/>
          </a:xfrm>
          <a:prstGeom prst="line">
            <a:avLst/>
          </a:prstGeom>
          <a:noFill/>
          <a:ln w="25400">
            <a:solidFill>
              <a:srgbClr val="D45D27"/>
            </a:solidFill>
            <a:prstDash val="solid"/>
            <a:tailEnd type="triangle"/>
          </a:ln>
        </p:spPr>
      </p:sp>
      <p:sp>
        <p:nvSpPr>
          <p:cNvPr id="21" name="Shape 18"/>
          <p:cNvSpPr/>
          <p:nvPr/>
        </p:nvSpPr>
        <p:spPr>
          <a:xfrm>
            <a:off x="7790688" y="3081528"/>
            <a:ext cx="694944" cy="694944"/>
          </a:xfrm>
          <a:prstGeom prst="ellipse">
            <a:avLst/>
          </a:prstGeom>
          <a:solidFill>
            <a:schemeClr val="bg1"/>
          </a:solidFill>
          <a:ln w="25400">
            <a:solidFill>
              <a:schemeClr val="tx1"/>
            </a:solidFill>
            <a:prstDash val="solid"/>
          </a:ln>
        </p:spPr>
      </p:sp>
      <p:sp>
        <p:nvSpPr>
          <p:cNvPr id="22" name="Text 19"/>
          <p:cNvSpPr txBox="1"/>
          <p:nvPr/>
        </p:nvSpPr>
        <p:spPr>
          <a:xfrm>
            <a:off x="7607808" y="3081528"/>
            <a:ext cx="1060704" cy="694944"/>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c</a:t>
            </a:r>
            <a:endParaRPr lang="en-US" sz="2000" dirty="0"/>
          </a:p>
        </p:txBody>
      </p:sp>
      <p:sp>
        <p:nvSpPr>
          <p:cNvPr id="23" name="Shape 20"/>
          <p:cNvSpPr/>
          <p:nvPr/>
        </p:nvSpPr>
        <p:spPr>
          <a:xfrm>
            <a:off x="10168128" y="3081528"/>
            <a:ext cx="694944" cy="694944"/>
          </a:xfrm>
          <a:prstGeom prst="ellipse">
            <a:avLst/>
          </a:prstGeom>
          <a:solidFill>
            <a:schemeClr val="bg1"/>
          </a:solidFill>
          <a:ln w="25400">
            <a:solidFill>
              <a:schemeClr val="accent2"/>
            </a:solidFill>
            <a:prstDash val="solid"/>
          </a:ln>
        </p:spPr>
      </p:sp>
      <p:sp>
        <p:nvSpPr>
          <p:cNvPr id="24" name="Text 21"/>
          <p:cNvSpPr txBox="1"/>
          <p:nvPr/>
        </p:nvSpPr>
        <p:spPr>
          <a:xfrm>
            <a:off x="9985248" y="3081528"/>
            <a:ext cx="1060704" cy="694944"/>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J</a:t>
            </a:r>
            <a:endParaRPr lang="en-US" sz="2000" dirty="0"/>
          </a:p>
        </p:txBody>
      </p:sp>
      <p:sp>
        <p:nvSpPr>
          <p:cNvPr id="25" name="Text 22"/>
          <p:cNvSpPr txBox="1"/>
          <p:nvPr/>
        </p:nvSpPr>
        <p:spPr>
          <a:xfrm>
            <a:off x="0" y="3867912"/>
            <a:ext cx="2011680" cy="685800"/>
          </a:xfrm>
          <a:prstGeom prst="rect">
            <a:avLst/>
          </a:prstGeom>
          <a:noFill/>
          <a:ln/>
        </p:spPr>
        <p:txBody>
          <a:bodyPr wrap="square" lIns="0" tIns="0" rIns="0" bIns="0" rtlCol="0" anchor="t"/>
          <a:lstStyle/>
          <a:p>
            <a:pPr algn="ctr" indent="0" marL="0">
              <a:lnSpc>
                <a:spcPct val="105000"/>
              </a:lnSpc>
              <a:buNone/>
            </a:pPr>
            <a:r>
              <a:rPr lang="en-US" sz="1400" dirty="0">
                <a:solidFill>
                  <a:schemeClr val="accent2"/>
                </a:solidFill>
                <a:latin typeface="Cambria Math" pitchFamily="34" charset="0"/>
                <a:ea typeface="Cambria Math" pitchFamily="34" charset="-122"/>
                <a:cs typeface="Cambria Math" pitchFamily="34" charset="-120"/>
              </a:rPr>
              <a:t>∂J/∂x</a:t>
            </a:r>
            <a:endParaRPr lang="en-US" sz="1400" dirty="0"/>
          </a:p>
          <a:p>
            <a:pPr algn="ctr" indent="0" marL="0">
              <a:lnSpc>
                <a:spcPct val="105000"/>
              </a:lnSpc>
              <a:buNone/>
            </a:pPr>
            <a:r>
              <a:rPr lang="en-US" sz="1400" dirty="0">
                <a:solidFill>
                  <a:schemeClr val="accent2"/>
                </a:solidFill>
                <a:latin typeface="Cambria Math" pitchFamily="34" charset="0"/>
                <a:ea typeface="Cambria Math" pitchFamily="34" charset="-122"/>
                <a:cs typeface="Cambria Math" pitchFamily="34" charset="-120"/>
              </a:rPr>
              <a:t>= ∂J/∂a · ∂a/∂x</a:t>
            </a:r>
            <a:endParaRPr lang="en-US" sz="1400" dirty="0"/>
          </a:p>
        </p:txBody>
      </p:sp>
      <p:sp>
        <p:nvSpPr>
          <p:cNvPr id="26" name="Text 23"/>
          <p:cNvSpPr txBox="1"/>
          <p:nvPr/>
        </p:nvSpPr>
        <p:spPr>
          <a:xfrm>
            <a:off x="2377440" y="3867912"/>
            <a:ext cx="2011680" cy="685800"/>
          </a:xfrm>
          <a:prstGeom prst="rect">
            <a:avLst/>
          </a:prstGeom>
          <a:noFill/>
          <a:ln/>
        </p:spPr>
        <p:txBody>
          <a:bodyPr wrap="square" lIns="0" tIns="0" rIns="0" bIns="0" rtlCol="0" anchor="t"/>
          <a:lstStyle/>
          <a:p>
            <a:pPr algn="ctr" indent="0" marL="0">
              <a:lnSpc>
                <a:spcPct val="105000"/>
              </a:lnSpc>
              <a:buNone/>
            </a:pPr>
            <a:r>
              <a:rPr lang="en-US" sz="1400" dirty="0">
                <a:solidFill>
                  <a:schemeClr val="accent2"/>
                </a:solidFill>
                <a:latin typeface="Cambria Math" pitchFamily="34" charset="0"/>
                <a:ea typeface="Cambria Math" pitchFamily="34" charset="-122"/>
                <a:cs typeface="Cambria Math" pitchFamily="34" charset="-120"/>
              </a:rPr>
              <a:t>∂J/∂a</a:t>
            </a:r>
            <a:endParaRPr lang="en-US" sz="1400" dirty="0"/>
          </a:p>
          <a:p>
            <a:pPr algn="ctr" indent="0" marL="0">
              <a:lnSpc>
                <a:spcPct val="105000"/>
              </a:lnSpc>
              <a:buNone/>
            </a:pPr>
            <a:r>
              <a:rPr lang="en-US" sz="1400" dirty="0">
                <a:solidFill>
                  <a:schemeClr val="accent2"/>
                </a:solidFill>
                <a:latin typeface="Cambria Math" pitchFamily="34" charset="0"/>
                <a:ea typeface="Cambria Math" pitchFamily="34" charset="-122"/>
                <a:cs typeface="Cambria Math" pitchFamily="34" charset="-120"/>
              </a:rPr>
              <a:t>= ∂J/∂b · ∂b/∂a</a:t>
            </a:r>
            <a:endParaRPr lang="en-US" sz="1400" dirty="0"/>
          </a:p>
        </p:txBody>
      </p:sp>
      <p:sp>
        <p:nvSpPr>
          <p:cNvPr id="27" name="Text 24"/>
          <p:cNvSpPr txBox="1"/>
          <p:nvPr/>
        </p:nvSpPr>
        <p:spPr>
          <a:xfrm>
            <a:off x="4754880" y="3867912"/>
            <a:ext cx="2011680" cy="685800"/>
          </a:xfrm>
          <a:prstGeom prst="rect">
            <a:avLst/>
          </a:prstGeom>
          <a:noFill/>
          <a:ln/>
        </p:spPr>
        <p:txBody>
          <a:bodyPr wrap="square" lIns="0" tIns="0" rIns="0" bIns="0" rtlCol="0" anchor="t"/>
          <a:lstStyle/>
          <a:p>
            <a:pPr algn="ctr" indent="0" marL="0">
              <a:lnSpc>
                <a:spcPct val="105000"/>
              </a:lnSpc>
              <a:buNone/>
            </a:pPr>
            <a:r>
              <a:rPr lang="en-US" sz="1400" dirty="0">
                <a:solidFill>
                  <a:schemeClr val="accent2"/>
                </a:solidFill>
                <a:latin typeface="Cambria Math" pitchFamily="34" charset="0"/>
                <a:ea typeface="Cambria Math" pitchFamily="34" charset="-122"/>
                <a:cs typeface="Cambria Math" pitchFamily="34" charset="-120"/>
              </a:rPr>
              <a:t>∂J/∂b</a:t>
            </a:r>
            <a:endParaRPr lang="en-US" sz="1400" dirty="0"/>
          </a:p>
          <a:p>
            <a:pPr algn="ctr" indent="0" marL="0">
              <a:lnSpc>
                <a:spcPct val="105000"/>
              </a:lnSpc>
              <a:buNone/>
            </a:pPr>
            <a:r>
              <a:rPr lang="en-US" sz="1400" dirty="0">
                <a:solidFill>
                  <a:schemeClr val="accent2"/>
                </a:solidFill>
                <a:latin typeface="Cambria Math" pitchFamily="34" charset="0"/>
                <a:ea typeface="Cambria Math" pitchFamily="34" charset="-122"/>
                <a:cs typeface="Cambria Math" pitchFamily="34" charset="-120"/>
              </a:rPr>
              <a:t>= ∂J/∂c · ∂c/∂b</a:t>
            </a:r>
            <a:endParaRPr lang="en-US" sz="1400" dirty="0"/>
          </a:p>
        </p:txBody>
      </p:sp>
      <p:sp>
        <p:nvSpPr>
          <p:cNvPr id="28" name="Text 25"/>
          <p:cNvSpPr txBox="1"/>
          <p:nvPr/>
        </p:nvSpPr>
        <p:spPr>
          <a:xfrm>
            <a:off x="7132320" y="3867912"/>
            <a:ext cx="2011680" cy="685800"/>
          </a:xfrm>
          <a:prstGeom prst="rect">
            <a:avLst/>
          </a:prstGeom>
          <a:noFill/>
          <a:ln/>
        </p:spPr>
        <p:txBody>
          <a:bodyPr wrap="square" lIns="0" tIns="0" rIns="0" bIns="0" rtlCol="0" anchor="t"/>
          <a:lstStyle/>
          <a:p>
            <a:pPr algn="ctr" indent="0" marL="0">
              <a:lnSpc>
                <a:spcPct val="105000"/>
              </a:lnSpc>
              <a:buNone/>
            </a:pPr>
            <a:r>
              <a:rPr lang="en-US" sz="1400" dirty="0">
                <a:solidFill>
                  <a:schemeClr val="accent2"/>
                </a:solidFill>
                <a:latin typeface="Cambria Math" pitchFamily="34" charset="0"/>
                <a:ea typeface="Cambria Math" pitchFamily="34" charset="-122"/>
                <a:cs typeface="Cambria Math" pitchFamily="34" charset="-120"/>
              </a:rPr>
              <a:t>∂J/∂c</a:t>
            </a:r>
            <a:endParaRPr lang="en-US" sz="1400" dirty="0"/>
          </a:p>
        </p:txBody>
      </p:sp>
      <p:sp>
        <p:nvSpPr>
          <p:cNvPr id="29" name="Text 26"/>
          <p:cNvSpPr txBox="1"/>
          <p:nvPr/>
        </p:nvSpPr>
        <p:spPr>
          <a:xfrm>
            <a:off x="548640" y="4572000"/>
            <a:ext cx="11091672" cy="365760"/>
          </a:xfrm>
          <a:prstGeom prst="rect">
            <a:avLst/>
          </a:prstGeom>
          <a:noFill/>
          <a:ln/>
        </p:spPr>
        <p:txBody>
          <a:bodyPr wrap="square" lIns="0" tIns="0" rIns="0" bIns="0" rtlCol="0" anchor="t"/>
          <a:lstStyle/>
          <a:p>
            <a:pPr algn="ctr" indent="0" marL="0">
              <a:lnSpc>
                <a:spcPct val="105000"/>
              </a:lnSpc>
              <a:buNone/>
            </a:pPr>
            <a:r>
              <a:rPr lang="en-US" sz="1600" dirty="0">
                <a:solidFill>
                  <a:schemeClr val="tx2"/>
                </a:solidFill>
              </a:rPr>
              <a:t>Each backward step reuses the product already computed to its right.</a:t>
            </a:r>
            <a:endParaRPr lang="en-US" sz="1600" dirty="0"/>
          </a:p>
        </p:txBody>
      </p:sp>
      <p:sp>
        <p:nvSpPr>
          <p:cNvPr id="30" name="Shape 27"/>
          <p:cNvSpPr/>
          <p:nvPr/>
        </p:nvSpPr>
        <p:spPr>
          <a:xfrm>
            <a:off x="548640" y="5029200"/>
            <a:ext cx="5394960" cy="1097280"/>
          </a:xfrm>
          <a:prstGeom prst="roundRect">
            <a:avLst>
              <a:gd name="adj" fmla="val 6667"/>
            </a:avLst>
          </a:prstGeom>
          <a:solidFill>
            <a:schemeClr val="accent1">
              <a:alpha val="10000"/>
            </a:schemeClr>
          </a:solidFill>
          <a:ln w="12700">
            <a:solidFill>
              <a:schemeClr val="accent1">
                <a:alpha val="10000"/>
              </a:schemeClr>
            </a:solidFill>
            <a:prstDash val="solid"/>
          </a:ln>
        </p:spPr>
      </p:sp>
      <p:sp>
        <p:nvSpPr>
          <p:cNvPr id="31" name="Text 28"/>
          <p:cNvSpPr txBox="1"/>
          <p:nvPr/>
        </p:nvSpPr>
        <p:spPr>
          <a:xfrm>
            <a:off x="749808" y="5230368"/>
            <a:ext cx="499262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accent1"/>
                </a:solidFill>
              </a:rPr>
              <a:t>Reverse mode: one sweep per output</a:t>
            </a:r>
            <a:endParaRPr lang="en-US" sz="1800" dirty="0"/>
          </a:p>
        </p:txBody>
      </p:sp>
      <p:sp>
        <p:nvSpPr>
          <p:cNvPr id="32" name="Text 29"/>
          <p:cNvSpPr txBox="1"/>
          <p:nvPr/>
        </p:nvSpPr>
        <p:spPr>
          <a:xfrm>
            <a:off x="749808" y="5573268"/>
            <a:ext cx="4992624" cy="352044"/>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One scalar loss, 10⁸ parameters: one backward sweep.</a:t>
            </a:r>
            <a:endParaRPr lang="en-US" sz="1600" dirty="0"/>
          </a:p>
        </p:txBody>
      </p:sp>
      <p:sp>
        <p:nvSpPr>
          <p:cNvPr id="33" name="Shape 30"/>
          <p:cNvSpPr/>
          <p:nvPr/>
        </p:nvSpPr>
        <p:spPr>
          <a:xfrm>
            <a:off x="6245352" y="5029200"/>
            <a:ext cx="5394960" cy="1097280"/>
          </a:xfrm>
          <a:prstGeom prst="roundRect">
            <a:avLst>
              <a:gd name="adj" fmla="val 6667"/>
            </a:avLst>
          </a:prstGeom>
          <a:solidFill>
            <a:schemeClr val="bg2"/>
          </a:solidFill>
          <a:ln w="12700">
            <a:solidFill>
              <a:schemeClr val="bg2"/>
            </a:solidFill>
            <a:prstDash val="solid"/>
          </a:ln>
        </p:spPr>
      </p:sp>
      <p:sp>
        <p:nvSpPr>
          <p:cNvPr id="34" name="Text 31"/>
          <p:cNvSpPr txBox="1"/>
          <p:nvPr/>
        </p:nvSpPr>
        <p:spPr>
          <a:xfrm>
            <a:off x="6446520" y="5230368"/>
            <a:ext cx="499262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Forward mode: one sweep per input</a:t>
            </a:r>
            <a:endParaRPr lang="en-US" sz="1800" dirty="0"/>
          </a:p>
        </p:txBody>
      </p:sp>
      <p:sp>
        <p:nvSpPr>
          <p:cNvPr id="35" name="Text 32"/>
          <p:cNvSpPr txBox="1"/>
          <p:nvPr/>
        </p:nvSpPr>
        <p:spPr>
          <a:xfrm>
            <a:off x="6446520" y="5573268"/>
            <a:ext cx="4992624" cy="352044"/>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Better for few inputs, many outputs (</a:t>
            </a:r>
            <a:r>
              <a:rPr lang="en-US" sz="1600" dirty="0">
                <a:solidFill>
                  <a:schemeClr val="accent1"/>
                </a:solidFill>
                <a:latin typeface="Consolas" pitchFamily="34" charset="0"/>
                <a:ea typeface="Consolas" pitchFamily="34" charset="-122"/>
                <a:cs typeface="Consolas" pitchFamily="34" charset="-120"/>
              </a:rPr>
              <a:t>torch.func.jvp</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Worked example: one forward pass, by hand</a:t>
            </a:r>
            <a:endParaRPr lang="en-US" sz="3000" dirty="0"/>
          </a:p>
        </p:txBody>
      </p:sp>
      <p:sp>
        <p:nvSpPr>
          <p:cNvPr id="5" name="Shape 2"/>
          <p:cNvSpPr/>
          <p:nvPr/>
        </p:nvSpPr>
        <p:spPr>
          <a:xfrm>
            <a:off x="548640" y="2103120"/>
            <a:ext cx="1261872" cy="658368"/>
          </a:xfrm>
          <a:prstGeom prst="roundRect">
            <a:avLst>
              <a:gd name="adj" fmla="val 8333"/>
            </a:avLst>
          </a:prstGeom>
          <a:solidFill>
            <a:schemeClr val="bg1"/>
          </a:solidFill>
          <a:ln w="15875">
            <a:solidFill>
              <a:schemeClr val="tx1"/>
            </a:solidFill>
            <a:prstDash val="solid"/>
          </a:ln>
        </p:spPr>
      </p:sp>
      <p:sp>
        <p:nvSpPr>
          <p:cNvPr id="6" name="Text 3"/>
          <p:cNvSpPr txBox="1"/>
          <p:nvPr/>
        </p:nvSpPr>
        <p:spPr>
          <a:xfrm>
            <a:off x="59436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x</a:t>
            </a:r>
            <a:endParaRPr lang="en-US" sz="2100" dirty="0"/>
          </a:p>
        </p:txBody>
      </p:sp>
      <p:sp>
        <p:nvSpPr>
          <p:cNvPr id="7" name="Text 4"/>
          <p:cNvSpPr txBox="1"/>
          <p:nvPr/>
        </p:nvSpPr>
        <p:spPr>
          <a:xfrm>
            <a:off x="548640" y="1691640"/>
            <a:ext cx="1261872" cy="365760"/>
          </a:xfrm>
          <a:prstGeom prst="rect">
            <a:avLst/>
          </a:prstGeom>
          <a:noFill/>
          <a:ln/>
        </p:spPr>
        <p:txBody>
          <a:bodyPr wrap="square" lIns="0" tIns="0" rIns="0" bIns="0" rtlCol="0" anchor="t"/>
          <a:lstStyle/>
          <a:p>
            <a:pPr algn="ctr" indent="0" marL="0">
              <a:lnSpc>
                <a:spcPct val="105000"/>
              </a:lnSpc>
              <a:buNone/>
            </a:pPr>
            <a:r>
              <a:rPr lang="en-US" sz="1600" b="1" dirty="0">
                <a:solidFill>
                  <a:schemeClr val="accent1"/>
                </a:solidFill>
                <a:latin typeface="Cambria Math" pitchFamily="34" charset="0"/>
                <a:ea typeface="Cambria Math" pitchFamily="34" charset="-122"/>
                <a:cs typeface="Cambria Math" pitchFamily="34" charset="-120"/>
              </a:rPr>
              <a:t>2.0</a:t>
            </a:r>
            <a:endParaRPr lang="en-US" sz="1600" dirty="0"/>
          </a:p>
        </p:txBody>
      </p:sp>
      <p:sp>
        <p:nvSpPr>
          <p:cNvPr id="8" name="Shape 5"/>
          <p:cNvSpPr/>
          <p:nvPr/>
        </p:nvSpPr>
        <p:spPr>
          <a:xfrm>
            <a:off x="1810512" y="2432304"/>
            <a:ext cx="704088" cy="0"/>
          </a:xfrm>
          <a:prstGeom prst="line">
            <a:avLst/>
          </a:prstGeom>
          <a:noFill/>
          <a:ln w="25400">
            <a:solidFill>
              <a:srgbClr val="0F7B78"/>
            </a:solidFill>
            <a:prstDash val="solid"/>
            <a:tailEnd type="triangle"/>
          </a:ln>
        </p:spPr>
      </p:sp>
      <p:sp>
        <p:nvSpPr>
          <p:cNvPr id="9" name="Shape 6"/>
          <p:cNvSpPr/>
          <p:nvPr/>
        </p:nvSpPr>
        <p:spPr>
          <a:xfrm>
            <a:off x="2514600" y="2103120"/>
            <a:ext cx="1261872" cy="658368"/>
          </a:xfrm>
          <a:prstGeom prst="roundRect">
            <a:avLst>
              <a:gd name="adj" fmla="val 8333"/>
            </a:avLst>
          </a:prstGeom>
          <a:solidFill>
            <a:schemeClr val="bg1"/>
          </a:solidFill>
          <a:ln w="15875">
            <a:solidFill>
              <a:schemeClr val="tx1"/>
            </a:solidFill>
            <a:prstDash val="solid"/>
          </a:ln>
        </p:spPr>
      </p:sp>
      <p:sp>
        <p:nvSpPr>
          <p:cNvPr id="10" name="Text 7"/>
          <p:cNvSpPr txBox="1"/>
          <p:nvPr/>
        </p:nvSpPr>
        <p:spPr>
          <a:xfrm>
            <a:off x="256032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z₁</a:t>
            </a:r>
            <a:endParaRPr lang="en-US" sz="2100" dirty="0"/>
          </a:p>
        </p:txBody>
      </p:sp>
      <p:sp>
        <p:nvSpPr>
          <p:cNvPr id="11" name="Text 8"/>
          <p:cNvSpPr txBox="1"/>
          <p:nvPr/>
        </p:nvSpPr>
        <p:spPr>
          <a:xfrm>
            <a:off x="2514600" y="1691640"/>
            <a:ext cx="1261872" cy="365760"/>
          </a:xfrm>
          <a:prstGeom prst="rect">
            <a:avLst/>
          </a:prstGeom>
          <a:noFill/>
          <a:ln/>
        </p:spPr>
        <p:txBody>
          <a:bodyPr wrap="square" lIns="0" tIns="0" rIns="0" bIns="0" rtlCol="0" anchor="t"/>
          <a:lstStyle/>
          <a:p>
            <a:pPr algn="ctr" indent="0" marL="0">
              <a:lnSpc>
                <a:spcPct val="105000"/>
              </a:lnSpc>
              <a:buNone/>
            </a:pPr>
            <a:r>
              <a:rPr lang="en-US" sz="1600" b="1" dirty="0">
                <a:solidFill>
                  <a:schemeClr val="accent1"/>
                </a:solidFill>
                <a:latin typeface="Cambria Math" pitchFamily="34" charset="0"/>
                <a:ea typeface="Cambria Math" pitchFamily="34" charset="-122"/>
                <a:cs typeface="Cambria Math" pitchFamily="34" charset="-120"/>
              </a:rPr>
              <a:t>1.1</a:t>
            </a:r>
            <a:endParaRPr lang="en-US" sz="1600" dirty="0"/>
          </a:p>
        </p:txBody>
      </p:sp>
      <p:sp>
        <p:nvSpPr>
          <p:cNvPr id="12" name="Shape 9"/>
          <p:cNvSpPr/>
          <p:nvPr/>
        </p:nvSpPr>
        <p:spPr>
          <a:xfrm>
            <a:off x="3776472" y="2432304"/>
            <a:ext cx="704088" cy="0"/>
          </a:xfrm>
          <a:prstGeom prst="line">
            <a:avLst/>
          </a:prstGeom>
          <a:noFill/>
          <a:ln w="25400">
            <a:solidFill>
              <a:srgbClr val="0F7B78"/>
            </a:solidFill>
            <a:prstDash val="solid"/>
            <a:tailEnd type="triangle"/>
          </a:ln>
        </p:spPr>
      </p:sp>
      <p:sp>
        <p:nvSpPr>
          <p:cNvPr id="13" name="Shape 10"/>
          <p:cNvSpPr/>
          <p:nvPr/>
        </p:nvSpPr>
        <p:spPr>
          <a:xfrm>
            <a:off x="4480560" y="2103120"/>
            <a:ext cx="1261872" cy="658368"/>
          </a:xfrm>
          <a:prstGeom prst="roundRect">
            <a:avLst>
              <a:gd name="adj" fmla="val 8333"/>
            </a:avLst>
          </a:prstGeom>
          <a:solidFill>
            <a:schemeClr val="bg1"/>
          </a:solidFill>
          <a:ln w="15875">
            <a:solidFill>
              <a:schemeClr val="tx1"/>
            </a:solidFill>
            <a:prstDash val="solid"/>
          </a:ln>
        </p:spPr>
      </p:sp>
      <p:sp>
        <p:nvSpPr>
          <p:cNvPr id="14" name="Text 11"/>
          <p:cNvSpPr txBox="1"/>
          <p:nvPr/>
        </p:nvSpPr>
        <p:spPr>
          <a:xfrm>
            <a:off x="452628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a₁</a:t>
            </a:r>
            <a:endParaRPr lang="en-US" sz="2100" dirty="0"/>
          </a:p>
        </p:txBody>
      </p:sp>
      <p:sp>
        <p:nvSpPr>
          <p:cNvPr id="15" name="Text 12"/>
          <p:cNvSpPr txBox="1"/>
          <p:nvPr/>
        </p:nvSpPr>
        <p:spPr>
          <a:xfrm>
            <a:off x="4480560" y="1691640"/>
            <a:ext cx="1261872" cy="365760"/>
          </a:xfrm>
          <a:prstGeom prst="rect">
            <a:avLst/>
          </a:prstGeom>
          <a:noFill/>
          <a:ln/>
        </p:spPr>
        <p:txBody>
          <a:bodyPr wrap="square" lIns="0" tIns="0" rIns="0" bIns="0" rtlCol="0" anchor="t"/>
          <a:lstStyle/>
          <a:p>
            <a:pPr algn="ctr" indent="0" marL="0">
              <a:lnSpc>
                <a:spcPct val="105000"/>
              </a:lnSpc>
              <a:buNone/>
            </a:pPr>
            <a:r>
              <a:rPr lang="en-US" sz="1600" b="1" dirty="0">
                <a:solidFill>
                  <a:schemeClr val="accent1"/>
                </a:solidFill>
                <a:latin typeface="Cambria Math" pitchFamily="34" charset="0"/>
                <a:ea typeface="Cambria Math" pitchFamily="34" charset="-122"/>
                <a:cs typeface="Cambria Math" pitchFamily="34" charset="-120"/>
              </a:rPr>
              <a:t>0.7503</a:t>
            </a:r>
            <a:endParaRPr lang="en-US" sz="1600" dirty="0"/>
          </a:p>
        </p:txBody>
      </p:sp>
      <p:sp>
        <p:nvSpPr>
          <p:cNvPr id="16" name="Shape 13"/>
          <p:cNvSpPr/>
          <p:nvPr/>
        </p:nvSpPr>
        <p:spPr>
          <a:xfrm>
            <a:off x="5742432" y="2432304"/>
            <a:ext cx="704088" cy="0"/>
          </a:xfrm>
          <a:prstGeom prst="line">
            <a:avLst/>
          </a:prstGeom>
          <a:noFill/>
          <a:ln w="25400">
            <a:solidFill>
              <a:srgbClr val="0F7B78"/>
            </a:solidFill>
            <a:prstDash val="solid"/>
            <a:tailEnd type="triangle"/>
          </a:ln>
        </p:spPr>
      </p:sp>
      <p:sp>
        <p:nvSpPr>
          <p:cNvPr id="17" name="Shape 14"/>
          <p:cNvSpPr/>
          <p:nvPr/>
        </p:nvSpPr>
        <p:spPr>
          <a:xfrm>
            <a:off x="6446520" y="2103120"/>
            <a:ext cx="1261872" cy="658368"/>
          </a:xfrm>
          <a:prstGeom prst="roundRect">
            <a:avLst>
              <a:gd name="adj" fmla="val 8333"/>
            </a:avLst>
          </a:prstGeom>
          <a:solidFill>
            <a:schemeClr val="bg1"/>
          </a:solidFill>
          <a:ln w="15875">
            <a:solidFill>
              <a:schemeClr val="tx1"/>
            </a:solidFill>
            <a:prstDash val="solid"/>
          </a:ln>
        </p:spPr>
      </p:sp>
      <p:sp>
        <p:nvSpPr>
          <p:cNvPr id="18" name="Text 15"/>
          <p:cNvSpPr txBox="1"/>
          <p:nvPr/>
        </p:nvSpPr>
        <p:spPr>
          <a:xfrm>
            <a:off x="649224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z₂</a:t>
            </a:r>
            <a:endParaRPr lang="en-US" sz="2100" dirty="0"/>
          </a:p>
        </p:txBody>
      </p:sp>
      <p:sp>
        <p:nvSpPr>
          <p:cNvPr id="19" name="Text 16"/>
          <p:cNvSpPr txBox="1"/>
          <p:nvPr/>
        </p:nvSpPr>
        <p:spPr>
          <a:xfrm>
            <a:off x="6446520" y="1691640"/>
            <a:ext cx="1261872" cy="365760"/>
          </a:xfrm>
          <a:prstGeom prst="rect">
            <a:avLst/>
          </a:prstGeom>
          <a:noFill/>
          <a:ln/>
        </p:spPr>
        <p:txBody>
          <a:bodyPr wrap="square" lIns="0" tIns="0" rIns="0" bIns="0" rtlCol="0" anchor="t"/>
          <a:lstStyle/>
          <a:p>
            <a:pPr algn="ctr" indent="0" marL="0">
              <a:lnSpc>
                <a:spcPct val="105000"/>
              </a:lnSpc>
              <a:buNone/>
            </a:pPr>
            <a:r>
              <a:rPr lang="en-US" sz="1600" b="1" dirty="0">
                <a:solidFill>
                  <a:schemeClr val="accent1"/>
                </a:solidFill>
                <a:latin typeface="Cambria Math" pitchFamily="34" charset="0"/>
                <a:ea typeface="Cambria Math" pitchFamily="34" charset="-122"/>
                <a:cs typeface="Cambria Math" pitchFamily="34" charset="-120"/>
              </a:rPr>
              <a:t>0.3002</a:t>
            </a:r>
            <a:endParaRPr lang="en-US" sz="1600" dirty="0"/>
          </a:p>
        </p:txBody>
      </p:sp>
      <p:sp>
        <p:nvSpPr>
          <p:cNvPr id="20" name="Shape 17"/>
          <p:cNvSpPr/>
          <p:nvPr/>
        </p:nvSpPr>
        <p:spPr>
          <a:xfrm>
            <a:off x="7708392" y="2432304"/>
            <a:ext cx="704088" cy="0"/>
          </a:xfrm>
          <a:prstGeom prst="line">
            <a:avLst/>
          </a:prstGeom>
          <a:noFill/>
          <a:ln w="25400">
            <a:solidFill>
              <a:srgbClr val="0F7B78"/>
            </a:solidFill>
            <a:prstDash val="solid"/>
            <a:tailEnd type="triangle"/>
          </a:ln>
        </p:spPr>
      </p:sp>
      <p:sp>
        <p:nvSpPr>
          <p:cNvPr id="21" name="Shape 18"/>
          <p:cNvSpPr/>
          <p:nvPr/>
        </p:nvSpPr>
        <p:spPr>
          <a:xfrm>
            <a:off x="8412480" y="2103120"/>
            <a:ext cx="1261872" cy="658368"/>
          </a:xfrm>
          <a:prstGeom prst="roundRect">
            <a:avLst>
              <a:gd name="adj" fmla="val 8333"/>
            </a:avLst>
          </a:prstGeom>
          <a:solidFill>
            <a:schemeClr val="bg1"/>
          </a:solidFill>
          <a:ln w="15875">
            <a:solidFill>
              <a:schemeClr val="tx1"/>
            </a:solidFill>
            <a:prstDash val="solid"/>
          </a:ln>
        </p:spPr>
      </p:sp>
      <p:sp>
        <p:nvSpPr>
          <p:cNvPr id="22" name="Text 19"/>
          <p:cNvSpPr txBox="1"/>
          <p:nvPr/>
        </p:nvSpPr>
        <p:spPr>
          <a:xfrm>
            <a:off x="845820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a₂</a:t>
            </a:r>
            <a:endParaRPr lang="en-US" sz="2100" dirty="0"/>
          </a:p>
        </p:txBody>
      </p:sp>
      <p:sp>
        <p:nvSpPr>
          <p:cNvPr id="23" name="Text 20"/>
          <p:cNvSpPr txBox="1"/>
          <p:nvPr/>
        </p:nvSpPr>
        <p:spPr>
          <a:xfrm>
            <a:off x="8412480" y="1691640"/>
            <a:ext cx="1261872" cy="365760"/>
          </a:xfrm>
          <a:prstGeom prst="rect">
            <a:avLst/>
          </a:prstGeom>
          <a:noFill/>
          <a:ln/>
        </p:spPr>
        <p:txBody>
          <a:bodyPr wrap="square" lIns="0" tIns="0" rIns="0" bIns="0" rtlCol="0" anchor="t"/>
          <a:lstStyle/>
          <a:p>
            <a:pPr algn="ctr" indent="0" marL="0">
              <a:lnSpc>
                <a:spcPct val="105000"/>
              </a:lnSpc>
              <a:buNone/>
            </a:pPr>
            <a:r>
              <a:rPr lang="en-US" sz="1600" b="1" dirty="0">
                <a:solidFill>
                  <a:schemeClr val="accent1"/>
                </a:solidFill>
                <a:latin typeface="Cambria Math" pitchFamily="34" charset="0"/>
                <a:ea typeface="Cambria Math" pitchFamily="34" charset="-122"/>
                <a:cs typeface="Cambria Math" pitchFamily="34" charset="-120"/>
              </a:rPr>
              <a:t>0.5745</a:t>
            </a:r>
            <a:endParaRPr lang="en-US" sz="1600" dirty="0"/>
          </a:p>
        </p:txBody>
      </p:sp>
      <p:sp>
        <p:nvSpPr>
          <p:cNvPr id="24" name="Shape 21"/>
          <p:cNvSpPr/>
          <p:nvPr/>
        </p:nvSpPr>
        <p:spPr>
          <a:xfrm>
            <a:off x="9674352" y="2432304"/>
            <a:ext cx="704088" cy="0"/>
          </a:xfrm>
          <a:prstGeom prst="line">
            <a:avLst/>
          </a:prstGeom>
          <a:noFill/>
          <a:ln w="25400">
            <a:solidFill>
              <a:srgbClr val="0F7B78"/>
            </a:solidFill>
            <a:prstDash val="solid"/>
            <a:tailEnd type="triangle"/>
          </a:ln>
        </p:spPr>
      </p:sp>
      <p:sp>
        <p:nvSpPr>
          <p:cNvPr id="25" name="Shape 22"/>
          <p:cNvSpPr/>
          <p:nvPr/>
        </p:nvSpPr>
        <p:spPr>
          <a:xfrm>
            <a:off x="10378440" y="2103120"/>
            <a:ext cx="1261872" cy="658368"/>
          </a:xfrm>
          <a:prstGeom prst="roundRect">
            <a:avLst>
              <a:gd name="adj" fmla="val 8333"/>
            </a:avLst>
          </a:prstGeom>
          <a:solidFill>
            <a:schemeClr val="accent2">
              <a:alpha val="12000"/>
            </a:schemeClr>
          </a:solidFill>
          <a:ln w="15875">
            <a:solidFill>
              <a:schemeClr val="accent2"/>
            </a:solidFill>
            <a:prstDash val="solid"/>
          </a:ln>
        </p:spPr>
      </p:sp>
      <p:sp>
        <p:nvSpPr>
          <p:cNvPr id="26" name="Text 23"/>
          <p:cNvSpPr txBox="1"/>
          <p:nvPr/>
        </p:nvSpPr>
        <p:spPr>
          <a:xfrm>
            <a:off x="1042416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L</a:t>
            </a:r>
            <a:endParaRPr lang="en-US" sz="2100" dirty="0"/>
          </a:p>
        </p:txBody>
      </p:sp>
      <p:sp>
        <p:nvSpPr>
          <p:cNvPr id="27" name="Text 24"/>
          <p:cNvSpPr txBox="1"/>
          <p:nvPr/>
        </p:nvSpPr>
        <p:spPr>
          <a:xfrm>
            <a:off x="10378440" y="1691640"/>
            <a:ext cx="1261872" cy="365760"/>
          </a:xfrm>
          <a:prstGeom prst="rect">
            <a:avLst/>
          </a:prstGeom>
          <a:noFill/>
          <a:ln/>
        </p:spPr>
        <p:txBody>
          <a:bodyPr wrap="square" lIns="0" tIns="0" rIns="0" bIns="0" rtlCol="0" anchor="t"/>
          <a:lstStyle/>
          <a:p>
            <a:pPr algn="ctr" indent="0" marL="0">
              <a:lnSpc>
                <a:spcPct val="105000"/>
              </a:lnSpc>
              <a:buNone/>
            </a:pPr>
            <a:r>
              <a:rPr lang="en-US" sz="1600" b="1" dirty="0">
                <a:solidFill>
                  <a:schemeClr val="accent1"/>
                </a:solidFill>
                <a:latin typeface="Cambria Math" pitchFamily="34" charset="0"/>
                <a:ea typeface="Cambria Math" pitchFamily="34" charset="-122"/>
                <a:cs typeface="Cambria Math" pitchFamily="34" charset="-120"/>
              </a:rPr>
              <a:t>0.0905</a:t>
            </a:r>
            <a:endParaRPr lang="en-US" sz="1600" dirty="0"/>
          </a:p>
        </p:txBody>
      </p:sp>
      <p:sp>
        <p:nvSpPr>
          <p:cNvPr id="28" name="Text 25"/>
          <p:cNvSpPr txBox="1"/>
          <p:nvPr/>
        </p:nvSpPr>
        <p:spPr>
          <a:xfrm>
            <a:off x="1581912" y="2834640"/>
            <a:ext cx="1161288" cy="32004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w₁, b₁</a:t>
            </a:r>
            <a:endParaRPr lang="en-US" sz="1300" dirty="0"/>
          </a:p>
        </p:txBody>
      </p:sp>
      <p:sp>
        <p:nvSpPr>
          <p:cNvPr id="29" name="Text 26"/>
          <p:cNvSpPr txBox="1"/>
          <p:nvPr/>
        </p:nvSpPr>
        <p:spPr>
          <a:xfrm>
            <a:off x="3547872" y="2834640"/>
            <a:ext cx="1161288" cy="32004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σ</a:t>
            </a:r>
            <a:endParaRPr lang="en-US" sz="1300" dirty="0"/>
          </a:p>
        </p:txBody>
      </p:sp>
      <p:sp>
        <p:nvSpPr>
          <p:cNvPr id="30" name="Text 27"/>
          <p:cNvSpPr txBox="1"/>
          <p:nvPr/>
        </p:nvSpPr>
        <p:spPr>
          <a:xfrm>
            <a:off x="5513832" y="2834640"/>
            <a:ext cx="1161288" cy="32004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w₂, b₂</a:t>
            </a:r>
            <a:endParaRPr lang="en-US" sz="1300" dirty="0"/>
          </a:p>
        </p:txBody>
      </p:sp>
      <p:sp>
        <p:nvSpPr>
          <p:cNvPr id="31" name="Text 28"/>
          <p:cNvSpPr txBox="1"/>
          <p:nvPr/>
        </p:nvSpPr>
        <p:spPr>
          <a:xfrm>
            <a:off x="7479792" y="2834640"/>
            <a:ext cx="1161288" cy="32004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σ</a:t>
            </a:r>
            <a:endParaRPr lang="en-US" sz="1300" dirty="0"/>
          </a:p>
        </p:txBody>
      </p:sp>
      <p:sp>
        <p:nvSpPr>
          <p:cNvPr id="32" name="Text 29"/>
          <p:cNvSpPr txBox="1"/>
          <p:nvPr/>
        </p:nvSpPr>
        <p:spPr>
          <a:xfrm>
            <a:off x="9445752" y="2834640"/>
            <a:ext cx="1161288" cy="32004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½(a₂ − y)²</a:t>
            </a:r>
            <a:endParaRPr lang="en-US" sz="1300" dirty="0"/>
          </a:p>
        </p:txBody>
      </p:sp>
      <p:sp>
        <p:nvSpPr>
          <p:cNvPr id="33" name="Shape 30"/>
          <p:cNvSpPr/>
          <p:nvPr/>
        </p:nvSpPr>
        <p:spPr>
          <a:xfrm>
            <a:off x="548640" y="3429000"/>
            <a:ext cx="7223760" cy="2349373"/>
          </a:xfrm>
          <a:prstGeom prst="roundRect">
            <a:avLst>
              <a:gd name="adj" fmla="val 3114"/>
            </a:avLst>
          </a:prstGeom>
          <a:solidFill>
            <a:schemeClr val="accent1">
              <a:alpha val="10000"/>
            </a:schemeClr>
          </a:solidFill>
          <a:ln w="12700">
            <a:solidFill>
              <a:schemeClr val="accent1">
                <a:alpha val="10000"/>
              </a:schemeClr>
            </a:solidFill>
            <a:prstDash val="solid"/>
          </a:ln>
        </p:spPr>
      </p:sp>
      <p:sp>
        <p:nvSpPr>
          <p:cNvPr id="34" name="Text 31"/>
          <p:cNvSpPr txBox="1"/>
          <p:nvPr/>
        </p:nvSpPr>
        <p:spPr>
          <a:xfrm>
            <a:off x="777240" y="3575304"/>
            <a:ext cx="676656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FORWARD PASS</a:t>
            </a:r>
            <a:endParaRPr lang="en-US" sz="1200" dirty="0"/>
          </a:p>
        </p:txBody>
      </p:sp>
      <p:sp>
        <p:nvSpPr>
          <p:cNvPr id="35" name="Text 32"/>
          <p:cNvSpPr txBox="1"/>
          <p:nvPr/>
        </p:nvSpPr>
        <p:spPr>
          <a:xfrm>
            <a:off x="777240" y="4005072"/>
            <a:ext cx="6766560" cy="1581277"/>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z₁ = w₁x + b₁ = 0.5(2.0) + 0.1 = 1.1</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a₁ = σ(z₁) = 0.7503</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z₂ = w₂a₁ + b₂ = 0.8(0.7503) − 0.3 = 0.3002</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a₂ = σ(z₂) = 0.5745</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L = ½(a₂ − y)² = ½(0.5745 − 1)² = 0.0905</a:t>
            </a:r>
            <a:endParaRPr lang="en-US" sz="1900" dirty="0"/>
          </a:p>
        </p:txBody>
      </p:sp>
      <p:sp>
        <p:nvSpPr>
          <p:cNvPr id="36" name="Shape 33"/>
          <p:cNvSpPr/>
          <p:nvPr/>
        </p:nvSpPr>
        <p:spPr>
          <a:xfrm>
            <a:off x="8229600" y="3429000"/>
            <a:ext cx="3410712" cy="2606040"/>
          </a:xfrm>
          <a:prstGeom prst="roundRect">
            <a:avLst>
              <a:gd name="adj" fmla="val 2807"/>
            </a:avLst>
          </a:prstGeom>
          <a:solidFill>
            <a:schemeClr val="bg2"/>
          </a:solidFill>
          <a:ln w="12700">
            <a:solidFill>
              <a:schemeClr val="bg2"/>
            </a:solidFill>
            <a:prstDash val="solid"/>
          </a:ln>
        </p:spPr>
      </p:sp>
      <p:sp>
        <p:nvSpPr>
          <p:cNvPr id="37" name="Text 34"/>
          <p:cNvSpPr txBox="1"/>
          <p:nvPr/>
        </p:nvSpPr>
        <p:spPr>
          <a:xfrm>
            <a:off x="8430768" y="3630168"/>
            <a:ext cx="30083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Setup</a:t>
            </a:r>
            <a:endParaRPr lang="en-US" sz="1900" dirty="0"/>
          </a:p>
        </p:txBody>
      </p:sp>
      <p:sp>
        <p:nvSpPr>
          <p:cNvPr id="38" name="Text 35"/>
          <p:cNvSpPr txBox="1"/>
          <p:nvPr/>
        </p:nvSpPr>
        <p:spPr>
          <a:xfrm>
            <a:off x="8430768" y="3988054"/>
            <a:ext cx="3008376" cy="1845818"/>
          </a:xfrm>
          <a:prstGeom prst="rect">
            <a:avLst/>
          </a:prstGeom>
          <a:noFill/>
          <a:ln/>
        </p:spPr>
        <p:txBody>
          <a:bodyPr wrap="square" lIns="0" tIns="0" rIns="0" bIns="0" rtlCol="0" anchor="t"/>
          <a:lstStyle/>
          <a:p>
            <a:pPr algn="l" indent="0" marL="0">
              <a:lnSpc>
                <a:spcPct val="105000"/>
              </a:lnSpc>
              <a:spcAft>
                <a:spcPts val="600"/>
              </a:spcAft>
              <a:buNone/>
            </a:pPr>
            <a:r>
              <a:rPr lang="en-US" sz="1600" dirty="0">
                <a:solidFill>
                  <a:schemeClr val="tx1"/>
                </a:solidFill>
              </a:rPr>
              <a:t>w₁ = 0.5, b₁ = 0.1</a:t>
            </a:r>
            <a:endParaRPr lang="en-US" sz="1600" dirty="0"/>
          </a:p>
          <a:p>
            <a:pPr algn="l" indent="0" marL="0">
              <a:lnSpc>
                <a:spcPct val="105000"/>
              </a:lnSpc>
              <a:spcAft>
                <a:spcPts val="600"/>
              </a:spcAft>
              <a:buNone/>
            </a:pPr>
            <a:r>
              <a:rPr lang="en-US" sz="1600" dirty="0">
                <a:solidFill>
                  <a:schemeClr val="tx1"/>
                </a:solidFill>
              </a:rPr>
              <a:t>w₂ = 0.8, b₂ = −0.3</a:t>
            </a:r>
            <a:endParaRPr lang="en-US" sz="1600" dirty="0"/>
          </a:p>
          <a:p>
            <a:pPr algn="l" indent="0" marL="0">
              <a:lnSpc>
                <a:spcPct val="105000"/>
              </a:lnSpc>
              <a:spcAft>
                <a:spcPts val="600"/>
              </a:spcAft>
              <a:buNone/>
            </a:pPr>
            <a:r>
              <a:rPr lang="en-US" sz="1600" dirty="0">
                <a:solidFill>
                  <a:schemeClr val="tx1"/>
                </a:solidFill>
              </a:rPr>
              <a:t>x = 2.0, target y = 1.0</a:t>
            </a:r>
            <a:endParaRPr lang="en-US" sz="1600" dirty="0"/>
          </a:p>
          <a:p>
            <a:pPr algn="l" indent="0" marL="0">
              <a:lnSpc>
                <a:spcPct val="105000"/>
              </a:lnSpc>
              <a:buNone/>
            </a:pPr>
            <a:r>
              <a:rPr lang="en-US" sz="1600" dirty="0">
                <a:solidFill>
                  <a:schemeClr val="tx1"/>
                </a:solidFill>
              </a:rPr>
              <a:t>Sigmoid units, squared error</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Worked example: the backward pass, one node at a time</a:t>
            </a:r>
            <a:endParaRPr lang="en-US" sz="3000" dirty="0"/>
          </a:p>
        </p:txBody>
      </p:sp>
      <p:sp>
        <p:nvSpPr>
          <p:cNvPr id="5" name="Shape 2"/>
          <p:cNvSpPr/>
          <p:nvPr/>
        </p:nvSpPr>
        <p:spPr>
          <a:xfrm>
            <a:off x="548640" y="2103120"/>
            <a:ext cx="1261872" cy="658368"/>
          </a:xfrm>
          <a:prstGeom prst="roundRect">
            <a:avLst>
              <a:gd name="adj" fmla="val 8333"/>
            </a:avLst>
          </a:prstGeom>
          <a:solidFill>
            <a:schemeClr val="bg1"/>
          </a:solidFill>
          <a:ln w="15875">
            <a:solidFill>
              <a:schemeClr val="tx1"/>
            </a:solidFill>
            <a:prstDash val="solid"/>
          </a:ln>
        </p:spPr>
      </p:sp>
      <p:sp>
        <p:nvSpPr>
          <p:cNvPr id="6" name="Text 3"/>
          <p:cNvSpPr txBox="1"/>
          <p:nvPr/>
        </p:nvSpPr>
        <p:spPr>
          <a:xfrm>
            <a:off x="59436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x</a:t>
            </a:r>
            <a:endParaRPr lang="en-US" sz="2100" dirty="0"/>
          </a:p>
        </p:txBody>
      </p:sp>
      <p:sp>
        <p:nvSpPr>
          <p:cNvPr id="7" name="Shape 4"/>
          <p:cNvSpPr/>
          <p:nvPr/>
        </p:nvSpPr>
        <p:spPr>
          <a:xfrm>
            <a:off x="1810512" y="2432304"/>
            <a:ext cx="704088" cy="0"/>
          </a:xfrm>
          <a:prstGeom prst="line">
            <a:avLst/>
          </a:prstGeom>
          <a:noFill/>
          <a:ln w="25400">
            <a:solidFill>
              <a:srgbClr val="D45D27"/>
            </a:solidFill>
            <a:prstDash val="solid"/>
            <a:headEnd type="triangle"/>
          </a:ln>
        </p:spPr>
      </p:sp>
      <p:sp>
        <p:nvSpPr>
          <p:cNvPr id="8" name="Shape 5"/>
          <p:cNvSpPr/>
          <p:nvPr/>
        </p:nvSpPr>
        <p:spPr>
          <a:xfrm>
            <a:off x="2514600" y="2103120"/>
            <a:ext cx="1261872" cy="658368"/>
          </a:xfrm>
          <a:prstGeom prst="roundRect">
            <a:avLst>
              <a:gd name="adj" fmla="val 8333"/>
            </a:avLst>
          </a:prstGeom>
          <a:solidFill>
            <a:schemeClr val="bg1"/>
          </a:solidFill>
          <a:ln w="15875">
            <a:solidFill>
              <a:schemeClr val="tx1"/>
            </a:solidFill>
            <a:prstDash val="solid"/>
          </a:ln>
        </p:spPr>
      </p:sp>
      <p:sp>
        <p:nvSpPr>
          <p:cNvPr id="9" name="Text 6"/>
          <p:cNvSpPr txBox="1"/>
          <p:nvPr/>
        </p:nvSpPr>
        <p:spPr>
          <a:xfrm>
            <a:off x="256032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z₁</a:t>
            </a:r>
            <a:endParaRPr lang="en-US" sz="2100" dirty="0"/>
          </a:p>
        </p:txBody>
      </p:sp>
      <p:sp>
        <p:nvSpPr>
          <p:cNvPr id="10" name="Text 7"/>
          <p:cNvSpPr txBox="1"/>
          <p:nvPr/>
        </p:nvSpPr>
        <p:spPr>
          <a:xfrm>
            <a:off x="2194560" y="2834640"/>
            <a:ext cx="1901952" cy="365760"/>
          </a:xfrm>
          <a:prstGeom prst="rect">
            <a:avLst/>
          </a:prstGeom>
          <a:noFill/>
          <a:ln/>
        </p:spPr>
        <p:txBody>
          <a:bodyPr wrap="square" lIns="0" tIns="0" rIns="0" bIns="0" rtlCol="0" anchor="t"/>
          <a:lstStyle/>
          <a:p>
            <a:pPr algn="ctr" indent="0" marL="0">
              <a:lnSpc>
                <a:spcPct val="105000"/>
              </a:lnSpc>
              <a:buNone/>
            </a:pPr>
            <a:r>
              <a:rPr lang="en-US" sz="1500" b="1" dirty="0">
                <a:solidFill>
                  <a:schemeClr val="accent2"/>
                </a:solidFill>
                <a:latin typeface="Cambria Math" pitchFamily="34" charset="0"/>
                <a:ea typeface="Cambria Math" pitchFamily="34" charset="-122"/>
                <a:cs typeface="Cambria Math" pitchFamily="34" charset="-120"/>
              </a:rPr>
              <a:t>δ₁ = −0.0156</a:t>
            </a:r>
            <a:endParaRPr lang="en-US" sz="1500" dirty="0"/>
          </a:p>
        </p:txBody>
      </p:sp>
      <p:sp>
        <p:nvSpPr>
          <p:cNvPr id="11" name="Shape 8"/>
          <p:cNvSpPr/>
          <p:nvPr/>
        </p:nvSpPr>
        <p:spPr>
          <a:xfrm>
            <a:off x="3776472" y="2432304"/>
            <a:ext cx="704088" cy="0"/>
          </a:xfrm>
          <a:prstGeom prst="line">
            <a:avLst/>
          </a:prstGeom>
          <a:noFill/>
          <a:ln w="25400">
            <a:solidFill>
              <a:srgbClr val="D45D27"/>
            </a:solidFill>
            <a:prstDash val="solid"/>
            <a:headEnd type="triangle"/>
          </a:ln>
        </p:spPr>
      </p:sp>
      <p:sp>
        <p:nvSpPr>
          <p:cNvPr id="12" name="Shape 9"/>
          <p:cNvSpPr/>
          <p:nvPr/>
        </p:nvSpPr>
        <p:spPr>
          <a:xfrm>
            <a:off x="4480560" y="2103120"/>
            <a:ext cx="1261872" cy="658368"/>
          </a:xfrm>
          <a:prstGeom prst="roundRect">
            <a:avLst>
              <a:gd name="adj" fmla="val 8333"/>
            </a:avLst>
          </a:prstGeom>
          <a:solidFill>
            <a:schemeClr val="bg1"/>
          </a:solidFill>
          <a:ln w="15875">
            <a:solidFill>
              <a:schemeClr val="tx1"/>
            </a:solidFill>
            <a:prstDash val="solid"/>
          </a:ln>
        </p:spPr>
      </p:sp>
      <p:sp>
        <p:nvSpPr>
          <p:cNvPr id="13" name="Text 10"/>
          <p:cNvSpPr txBox="1"/>
          <p:nvPr/>
        </p:nvSpPr>
        <p:spPr>
          <a:xfrm>
            <a:off x="452628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a₁</a:t>
            </a:r>
            <a:endParaRPr lang="en-US" sz="2100" dirty="0"/>
          </a:p>
        </p:txBody>
      </p:sp>
      <p:sp>
        <p:nvSpPr>
          <p:cNvPr id="14" name="Text 11"/>
          <p:cNvSpPr txBox="1"/>
          <p:nvPr/>
        </p:nvSpPr>
        <p:spPr>
          <a:xfrm>
            <a:off x="4160520" y="2834640"/>
            <a:ext cx="1901952" cy="365760"/>
          </a:xfrm>
          <a:prstGeom prst="rect">
            <a:avLst/>
          </a:prstGeom>
          <a:noFill/>
          <a:ln/>
        </p:spPr>
        <p:txBody>
          <a:bodyPr wrap="square" lIns="0" tIns="0" rIns="0" bIns="0" rtlCol="0" anchor="t"/>
          <a:lstStyle/>
          <a:p>
            <a:pPr algn="ctr" indent="0" marL="0">
              <a:lnSpc>
                <a:spcPct val="105000"/>
              </a:lnSpc>
              <a:buNone/>
            </a:pPr>
            <a:r>
              <a:rPr lang="en-US" sz="1500" b="1" dirty="0">
                <a:solidFill>
                  <a:schemeClr val="accent2"/>
                </a:solidFill>
                <a:latin typeface="Cambria Math" pitchFamily="34" charset="0"/>
                <a:ea typeface="Cambria Math" pitchFamily="34" charset="-122"/>
                <a:cs typeface="Cambria Math" pitchFamily="34" charset="-120"/>
              </a:rPr>
              <a:t>−0.0832</a:t>
            </a:r>
            <a:endParaRPr lang="en-US" sz="1500" dirty="0"/>
          </a:p>
        </p:txBody>
      </p:sp>
      <p:sp>
        <p:nvSpPr>
          <p:cNvPr id="15" name="Shape 12"/>
          <p:cNvSpPr/>
          <p:nvPr/>
        </p:nvSpPr>
        <p:spPr>
          <a:xfrm>
            <a:off x="5742432" y="2432304"/>
            <a:ext cx="704088" cy="0"/>
          </a:xfrm>
          <a:prstGeom prst="line">
            <a:avLst/>
          </a:prstGeom>
          <a:noFill/>
          <a:ln w="25400">
            <a:solidFill>
              <a:srgbClr val="D45D27"/>
            </a:solidFill>
            <a:prstDash val="solid"/>
            <a:headEnd type="triangle"/>
          </a:ln>
        </p:spPr>
      </p:sp>
      <p:sp>
        <p:nvSpPr>
          <p:cNvPr id="16" name="Shape 13"/>
          <p:cNvSpPr/>
          <p:nvPr/>
        </p:nvSpPr>
        <p:spPr>
          <a:xfrm>
            <a:off x="6446520" y="2103120"/>
            <a:ext cx="1261872" cy="658368"/>
          </a:xfrm>
          <a:prstGeom prst="roundRect">
            <a:avLst>
              <a:gd name="adj" fmla="val 8333"/>
            </a:avLst>
          </a:prstGeom>
          <a:solidFill>
            <a:schemeClr val="bg1"/>
          </a:solidFill>
          <a:ln w="15875">
            <a:solidFill>
              <a:schemeClr val="tx1"/>
            </a:solidFill>
            <a:prstDash val="solid"/>
          </a:ln>
        </p:spPr>
      </p:sp>
      <p:sp>
        <p:nvSpPr>
          <p:cNvPr id="17" name="Text 14"/>
          <p:cNvSpPr txBox="1"/>
          <p:nvPr/>
        </p:nvSpPr>
        <p:spPr>
          <a:xfrm>
            <a:off x="649224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z₂</a:t>
            </a:r>
            <a:endParaRPr lang="en-US" sz="2100" dirty="0"/>
          </a:p>
        </p:txBody>
      </p:sp>
      <p:sp>
        <p:nvSpPr>
          <p:cNvPr id="18" name="Text 15"/>
          <p:cNvSpPr txBox="1"/>
          <p:nvPr/>
        </p:nvSpPr>
        <p:spPr>
          <a:xfrm>
            <a:off x="6126480" y="2834640"/>
            <a:ext cx="1901952" cy="365760"/>
          </a:xfrm>
          <a:prstGeom prst="rect">
            <a:avLst/>
          </a:prstGeom>
          <a:noFill/>
          <a:ln/>
        </p:spPr>
        <p:txBody>
          <a:bodyPr wrap="square" lIns="0" tIns="0" rIns="0" bIns="0" rtlCol="0" anchor="t"/>
          <a:lstStyle/>
          <a:p>
            <a:pPr algn="ctr" indent="0" marL="0">
              <a:lnSpc>
                <a:spcPct val="105000"/>
              </a:lnSpc>
              <a:buNone/>
            </a:pPr>
            <a:r>
              <a:rPr lang="en-US" sz="1500" b="1" dirty="0">
                <a:solidFill>
                  <a:schemeClr val="accent2"/>
                </a:solidFill>
                <a:latin typeface="Cambria Math" pitchFamily="34" charset="0"/>
                <a:ea typeface="Cambria Math" pitchFamily="34" charset="-122"/>
                <a:cs typeface="Cambria Math" pitchFamily="34" charset="-120"/>
              </a:rPr>
              <a:t>δ₂ = −0.1040</a:t>
            </a:r>
            <a:endParaRPr lang="en-US" sz="1500" dirty="0"/>
          </a:p>
        </p:txBody>
      </p:sp>
      <p:sp>
        <p:nvSpPr>
          <p:cNvPr id="19" name="Shape 16"/>
          <p:cNvSpPr/>
          <p:nvPr/>
        </p:nvSpPr>
        <p:spPr>
          <a:xfrm>
            <a:off x="7708392" y="2432304"/>
            <a:ext cx="704088" cy="0"/>
          </a:xfrm>
          <a:prstGeom prst="line">
            <a:avLst/>
          </a:prstGeom>
          <a:noFill/>
          <a:ln w="25400">
            <a:solidFill>
              <a:srgbClr val="D45D27"/>
            </a:solidFill>
            <a:prstDash val="solid"/>
            <a:headEnd type="triangle"/>
          </a:ln>
        </p:spPr>
      </p:sp>
      <p:sp>
        <p:nvSpPr>
          <p:cNvPr id="20" name="Shape 17"/>
          <p:cNvSpPr/>
          <p:nvPr/>
        </p:nvSpPr>
        <p:spPr>
          <a:xfrm>
            <a:off x="8412480" y="2103120"/>
            <a:ext cx="1261872" cy="658368"/>
          </a:xfrm>
          <a:prstGeom prst="roundRect">
            <a:avLst>
              <a:gd name="adj" fmla="val 8333"/>
            </a:avLst>
          </a:prstGeom>
          <a:solidFill>
            <a:schemeClr val="bg1"/>
          </a:solidFill>
          <a:ln w="15875">
            <a:solidFill>
              <a:schemeClr val="tx1"/>
            </a:solidFill>
            <a:prstDash val="solid"/>
          </a:ln>
        </p:spPr>
      </p:sp>
      <p:sp>
        <p:nvSpPr>
          <p:cNvPr id="21" name="Text 18"/>
          <p:cNvSpPr txBox="1"/>
          <p:nvPr/>
        </p:nvSpPr>
        <p:spPr>
          <a:xfrm>
            <a:off x="845820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a₂</a:t>
            </a:r>
            <a:endParaRPr lang="en-US" sz="2100" dirty="0"/>
          </a:p>
        </p:txBody>
      </p:sp>
      <p:sp>
        <p:nvSpPr>
          <p:cNvPr id="22" name="Text 19"/>
          <p:cNvSpPr txBox="1"/>
          <p:nvPr/>
        </p:nvSpPr>
        <p:spPr>
          <a:xfrm>
            <a:off x="8092440" y="2834640"/>
            <a:ext cx="1901952" cy="365760"/>
          </a:xfrm>
          <a:prstGeom prst="rect">
            <a:avLst/>
          </a:prstGeom>
          <a:noFill/>
          <a:ln/>
        </p:spPr>
        <p:txBody>
          <a:bodyPr wrap="square" lIns="0" tIns="0" rIns="0" bIns="0" rtlCol="0" anchor="t"/>
          <a:lstStyle/>
          <a:p>
            <a:pPr algn="ctr" indent="0" marL="0">
              <a:lnSpc>
                <a:spcPct val="105000"/>
              </a:lnSpc>
              <a:buNone/>
            </a:pPr>
            <a:r>
              <a:rPr lang="en-US" sz="1500" b="1" dirty="0">
                <a:solidFill>
                  <a:schemeClr val="accent2"/>
                </a:solidFill>
                <a:latin typeface="Cambria Math" pitchFamily="34" charset="0"/>
                <a:ea typeface="Cambria Math" pitchFamily="34" charset="-122"/>
                <a:cs typeface="Cambria Math" pitchFamily="34" charset="-120"/>
              </a:rPr>
              <a:t>−0.4255</a:t>
            </a:r>
            <a:endParaRPr lang="en-US" sz="1500" dirty="0"/>
          </a:p>
        </p:txBody>
      </p:sp>
      <p:sp>
        <p:nvSpPr>
          <p:cNvPr id="23" name="Shape 20"/>
          <p:cNvSpPr/>
          <p:nvPr/>
        </p:nvSpPr>
        <p:spPr>
          <a:xfrm>
            <a:off x="9674352" y="2432304"/>
            <a:ext cx="704088" cy="0"/>
          </a:xfrm>
          <a:prstGeom prst="line">
            <a:avLst/>
          </a:prstGeom>
          <a:noFill/>
          <a:ln w="25400">
            <a:solidFill>
              <a:srgbClr val="D45D27"/>
            </a:solidFill>
            <a:prstDash val="solid"/>
            <a:headEnd type="triangle"/>
          </a:ln>
        </p:spPr>
      </p:sp>
      <p:sp>
        <p:nvSpPr>
          <p:cNvPr id="24" name="Shape 21"/>
          <p:cNvSpPr/>
          <p:nvPr/>
        </p:nvSpPr>
        <p:spPr>
          <a:xfrm>
            <a:off x="10378440" y="2103120"/>
            <a:ext cx="1261872" cy="658368"/>
          </a:xfrm>
          <a:prstGeom prst="roundRect">
            <a:avLst>
              <a:gd name="adj" fmla="val 8333"/>
            </a:avLst>
          </a:prstGeom>
          <a:solidFill>
            <a:schemeClr val="accent2">
              <a:alpha val="12000"/>
            </a:schemeClr>
          </a:solidFill>
          <a:ln w="15875">
            <a:solidFill>
              <a:schemeClr val="accent2"/>
            </a:solidFill>
            <a:prstDash val="solid"/>
          </a:ln>
        </p:spPr>
      </p:sp>
      <p:sp>
        <p:nvSpPr>
          <p:cNvPr id="25" name="Text 22"/>
          <p:cNvSpPr txBox="1"/>
          <p:nvPr/>
        </p:nvSpPr>
        <p:spPr>
          <a:xfrm>
            <a:off x="10424160" y="2103120"/>
            <a:ext cx="1170432" cy="658368"/>
          </a:xfrm>
          <a:prstGeom prst="rect">
            <a:avLst/>
          </a:prstGeom>
          <a:noFill/>
          <a:ln/>
        </p:spPr>
        <p:txBody>
          <a:bodyPr wrap="square" lIns="0" tIns="0" rIns="0" bIns="0" rtlCol="0" anchor="ctr"/>
          <a:lstStyle/>
          <a:p>
            <a:pPr algn="ctr" indent="0" marL="0">
              <a:lnSpc>
                <a:spcPct val="105000"/>
              </a:lnSpc>
              <a:buNone/>
            </a:pPr>
            <a:r>
              <a:rPr lang="en-US" sz="2100" dirty="0">
                <a:solidFill>
                  <a:schemeClr val="tx1"/>
                </a:solidFill>
                <a:latin typeface="Cambria Math" pitchFamily="34" charset="0"/>
                <a:ea typeface="Cambria Math" pitchFamily="34" charset="-122"/>
                <a:cs typeface="Cambria Math" pitchFamily="34" charset="-120"/>
              </a:rPr>
              <a:t>L</a:t>
            </a:r>
            <a:endParaRPr lang="en-US" sz="2100" dirty="0"/>
          </a:p>
        </p:txBody>
      </p:sp>
      <p:sp>
        <p:nvSpPr>
          <p:cNvPr id="26" name="Text 23"/>
          <p:cNvSpPr txBox="1"/>
          <p:nvPr/>
        </p:nvSpPr>
        <p:spPr>
          <a:xfrm>
            <a:off x="1581912" y="3218688"/>
            <a:ext cx="1161288" cy="32004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w₁, b₁</a:t>
            </a:r>
            <a:endParaRPr lang="en-US" sz="1300" dirty="0"/>
          </a:p>
        </p:txBody>
      </p:sp>
      <p:sp>
        <p:nvSpPr>
          <p:cNvPr id="27" name="Text 24"/>
          <p:cNvSpPr txBox="1"/>
          <p:nvPr/>
        </p:nvSpPr>
        <p:spPr>
          <a:xfrm>
            <a:off x="3547872" y="3218688"/>
            <a:ext cx="1161288" cy="32004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σ</a:t>
            </a:r>
            <a:endParaRPr lang="en-US" sz="1300" dirty="0"/>
          </a:p>
        </p:txBody>
      </p:sp>
      <p:sp>
        <p:nvSpPr>
          <p:cNvPr id="28" name="Text 25"/>
          <p:cNvSpPr txBox="1"/>
          <p:nvPr/>
        </p:nvSpPr>
        <p:spPr>
          <a:xfrm>
            <a:off x="5513832" y="3218688"/>
            <a:ext cx="1161288" cy="32004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w₂, b₂</a:t>
            </a:r>
            <a:endParaRPr lang="en-US" sz="1300" dirty="0"/>
          </a:p>
        </p:txBody>
      </p:sp>
      <p:sp>
        <p:nvSpPr>
          <p:cNvPr id="29" name="Text 26"/>
          <p:cNvSpPr txBox="1"/>
          <p:nvPr/>
        </p:nvSpPr>
        <p:spPr>
          <a:xfrm>
            <a:off x="7479792" y="3218688"/>
            <a:ext cx="1161288" cy="32004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σ</a:t>
            </a:r>
            <a:endParaRPr lang="en-US" sz="1300" dirty="0"/>
          </a:p>
        </p:txBody>
      </p:sp>
      <p:sp>
        <p:nvSpPr>
          <p:cNvPr id="30" name="Text 27"/>
          <p:cNvSpPr txBox="1"/>
          <p:nvPr/>
        </p:nvSpPr>
        <p:spPr>
          <a:xfrm>
            <a:off x="9445752" y="3218688"/>
            <a:ext cx="1161288" cy="320040"/>
          </a:xfrm>
          <a:prstGeom prst="rect">
            <a:avLst/>
          </a:prstGeom>
          <a:noFill/>
          <a:ln/>
        </p:spPr>
        <p:txBody>
          <a:bodyPr wrap="square" lIns="0" tIns="0" rIns="0" bIns="0" rtlCol="0" anchor="t"/>
          <a:lstStyle/>
          <a:p>
            <a:pPr algn="ctr" indent="0" marL="0">
              <a:lnSpc>
                <a:spcPct val="105000"/>
              </a:lnSpc>
              <a:buNone/>
            </a:pPr>
            <a:r>
              <a:rPr lang="en-US" sz="1300" dirty="0">
                <a:solidFill>
                  <a:schemeClr val="tx2"/>
                </a:solidFill>
                <a:latin typeface="Cambria Math" pitchFamily="34" charset="0"/>
                <a:ea typeface="Cambria Math" pitchFamily="34" charset="-122"/>
                <a:cs typeface="Cambria Math" pitchFamily="34" charset="-120"/>
              </a:rPr>
              <a:t>½(a₂ − y)²</a:t>
            </a:r>
            <a:endParaRPr lang="en-US" sz="1300" dirty="0"/>
          </a:p>
        </p:txBody>
      </p:sp>
      <p:sp>
        <p:nvSpPr>
          <p:cNvPr id="31" name="Shape 28"/>
          <p:cNvSpPr/>
          <p:nvPr/>
        </p:nvSpPr>
        <p:spPr>
          <a:xfrm>
            <a:off x="548640" y="3611880"/>
            <a:ext cx="5760720" cy="1984248"/>
          </a:xfrm>
          <a:prstGeom prst="roundRect">
            <a:avLst>
              <a:gd name="adj" fmla="val 3687"/>
            </a:avLst>
          </a:prstGeom>
          <a:solidFill>
            <a:schemeClr val="accent2">
              <a:alpha val="12000"/>
            </a:schemeClr>
          </a:solidFill>
          <a:ln w="12700">
            <a:solidFill>
              <a:schemeClr val="accent2">
                <a:alpha val="12000"/>
              </a:schemeClr>
            </a:solidFill>
            <a:prstDash val="solid"/>
          </a:ln>
        </p:spPr>
      </p:sp>
      <p:sp>
        <p:nvSpPr>
          <p:cNvPr id="32" name="Text 29"/>
          <p:cNvSpPr txBox="1"/>
          <p:nvPr/>
        </p:nvSpPr>
        <p:spPr>
          <a:xfrm>
            <a:off x="777240" y="3758184"/>
            <a:ext cx="5303520" cy="274320"/>
          </a:xfrm>
          <a:prstGeom prst="rect">
            <a:avLst/>
          </a:prstGeom>
          <a:noFill/>
          <a:ln/>
        </p:spPr>
        <p:txBody>
          <a:bodyPr wrap="square" lIns="0" tIns="0" rIns="0" bIns="0" rtlCol="0" anchor="ctr"/>
          <a:lstStyle/>
          <a:p>
            <a:pPr indent="0" marL="0">
              <a:buNone/>
            </a:pPr>
            <a:r>
              <a:rPr lang="en-US" sz="1200" b="1" spc="120" kern="0" dirty="0">
                <a:solidFill>
                  <a:schemeClr val="accent2"/>
                </a:solidFill>
              </a:rPr>
              <a:t>ERROR SIGNALS</a:t>
            </a:r>
            <a:endParaRPr lang="en-US" sz="1200" dirty="0"/>
          </a:p>
        </p:txBody>
      </p:sp>
      <p:sp>
        <p:nvSpPr>
          <p:cNvPr id="33" name="Text 30"/>
          <p:cNvSpPr txBox="1"/>
          <p:nvPr/>
        </p:nvSpPr>
        <p:spPr>
          <a:xfrm>
            <a:off x="777240" y="4187952"/>
            <a:ext cx="5303520" cy="1216152"/>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∂L/∂a₂ = a₂ − y = −0.4255</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δ₂ = ∂L/∂a₂ · a₂(1 − a₂) = −0.1040</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∂L/∂a₁ = δ₂ · w₂ = −0.0832</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δ₁ = ∂L/∂a₁ · a₁(1 − a₁) = −0.0156</a:t>
            </a:r>
            <a:endParaRPr lang="en-US" sz="1800" dirty="0"/>
          </a:p>
        </p:txBody>
      </p:sp>
      <p:sp>
        <p:nvSpPr>
          <p:cNvPr id="34" name="Shape 31"/>
          <p:cNvSpPr/>
          <p:nvPr/>
        </p:nvSpPr>
        <p:spPr>
          <a:xfrm>
            <a:off x="6583680" y="3611880"/>
            <a:ext cx="5056632" cy="1984248"/>
          </a:xfrm>
          <a:prstGeom prst="roundRect">
            <a:avLst>
              <a:gd name="adj" fmla="val 3687"/>
            </a:avLst>
          </a:prstGeom>
          <a:solidFill>
            <a:schemeClr val="accent1">
              <a:alpha val="10000"/>
            </a:schemeClr>
          </a:solidFill>
          <a:ln w="12700">
            <a:solidFill>
              <a:schemeClr val="accent1">
                <a:alpha val="10000"/>
              </a:schemeClr>
            </a:solidFill>
            <a:prstDash val="solid"/>
          </a:ln>
        </p:spPr>
      </p:sp>
      <p:sp>
        <p:nvSpPr>
          <p:cNvPr id="35" name="Text 32"/>
          <p:cNvSpPr txBox="1"/>
          <p:nvPr/>
        </p:nvSpPr>
        <p:spPr>
          <a:xfrm>
            <a:off x="6812280" y="3758184"/>
            <a:ext cx="459943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PARAMETER GRADIENTS</a:t>
            </a:r>
            <a:endParaRPr lang="en-US" sz="1200" dirty="0"/>
          </a:p>
        </p:txBody>
      </p:sp>
      <p:sp>
        <p:nvSpPr>
          <p:cNvPr id="36" name="Text 33"/>
          <p:cNvSpPr txBox="1"/>
          <p:nvPr/>
        </p:nvSpPr>
        <p:spPr>
          <a:xfrm>
            <a:off x="6812280" y="4187952"/>
            <a:ext cx="4599432" cy="1216152"/>
          </a:xfrm>
          <a:prstGeom prst="rect">
            <a:avLst/>
          </a:prstGeom>
          <a:noFill/>
          <a:ln/>
        </p:spPr>
        <p:txBody>
          <a:bodyPr wrap="square" lIns="0" tIns="0" rIns="0" bIns="0" rtlCol="0" anchor="t"/>
          <a:lstStyle/>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∂L/∂w₂ = δ₂ · a₁ = −0.0780</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∂L/∂b₂ = δ₂ = −0.1040</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∂L/∂w₁ = δ₁ · x = −0.0312</a:t>
            </a:r>
            <a:endParaRPr lang="en-US" sz="1800" dirty="0"/>
          </a:p>
          <a:p>
            <a:pPr algn="l" indent="0" marL="0">
              <a:lnSpc>
                <a:spcPct val="112000"/>
              </a:lnSpc>
              <a:buNone/>
            </a:pPr>
            <a:r>
              <a:rPr lang="en-US" sz="1800" dirty="0">
                <a:solidFill>
                  <a:schemeClr val="tx1"/>
                </a:solidFill>
                <a:latin typeface="Cambria Math" pitchFamily="34" charset="0"/>
                <a:ea typeface="Cambria Math" pitchFamily="34" charset="-122"/>
                <a:cs typeface="Cambria Math" pitchFamily="34" charset="-120"/>
              </a:rPr>
              <a:t>∂L/∂b₁ = δ₁ = −0.0156</a:t>
            </a:r>
            <a:endParaRPr lang="en-US" sz="18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Four patterns to read off the arithmetic</a:t>
            </a:r>
            <a:endParaRPr lang="en-US" sz="3000" dirty="0"/>
          </a:p>
        </p:txBody>
      </p:sp>
      <p:sp>
        <p:nvSpPr>
          <p:cNvPr id="5" name="Shape 2"/>
          <p:cNvSpPr/>
          <p:nvPr/>
        </p:nvSpPr>
        <p:spPr>
          <a:xfrm>
            <a:off x="758952" y="1901952"/>
            <a:ext cx="0" cy="3236976"/>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1"/>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68488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Weight gradient = error at output × activation at input</a:t>
            </a:r>
            <a:endParaRPr lang="en-US" sz="1900" dirty="0"/>
          </a:p>
        </p:txBody>
      </p:sp>
      <p:sp>
        <p:nvSpPr>
          <p:cNvPr id="9" name="Text 6"/>
          <p:cNvSpPr txBox="1"/>
          <p:nvPr/>
        </p:nvSpPr>
        <p:spPr>
          <a:xfrm>
            <a:off x="1197864" y="2031238"/>
            <a:ext cx="684885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∂L/∂w₂ = δ₂ · a₁. True for every fully connected layer.</a:t>
            </a:r>
            <a:endParaRPr lang="en-US" sz="1600" dirty="0"/>
          </a:p>
        </p:txBody>
      </p:sp>
      <p:sp>
        <p:nvSpPr>
          <p:cNvPr id="10" name="Shape 7"/>
          <p:cNvSpPr/>
          <p:nvPr/>
        </p:nvSpPr>
        <p:spPr>
          <a:xfrm>
            <a:off x="548640" y="2770632"/>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277063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2807208"/>
            <a:ext cx="68488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Bias gradient = the error signal</a:t>
            </a:r>
            <a:endParaRPr lang="en-US" sz="1900" dirty="0"/>
          </a:p>
        </p:txBody>
      </p:sp>
      <p:sp>
        <p:nvSpPr>
          <p:cNvPr id="13" name="Text 10"/>
          <p:cNvSpPr txBox="1"/>
          <p:nvPr/>
        </p:nvSpPr>
        <p:spPr>
          <a:xfrm>
            <a:off x="1197864" y="3110230"/>
            <a:ext cx="684885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Because ∂z/∂b = 1.</a:t>
            </a:r>
            <a:endParaRPr lang="en-US" sz="1600" dirty="0"/>
          </a:p>
        </p:txBody>
      </p:sp>
      <p:sp>
        <p:nvSpPr>
          <p:cNvPr id="14" name="Shape 11"/>
          <p:cNvSpPr/>
          <p:nvPr/>
        </p:nvSpPr>
        <p:spPr>
          <a:xfrm>
            <a:off x="548640" y="3849624"/>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548640" y="384962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3886200"/>
            <a:ext cx="68488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Error flows back: multiply by the weight, then by g′</a:t>
            </a:r>
            <a:endParaRPr lang="en-US" sz="1900" dirty="0"/>
          </a:p>
        </p:txBody>
      </p:sp>
      <p:sp>
        <p:nvSpPr>
          <p:cNvPr id="17" name="Text 14"/>
          <p:cNvSpPr txBox="1"/>
          <p:nvPr/>
        </p:nvSpPr>
        <p:spPr>
          <a:xfrm>
            <a:off x="1197864" y="4189222"/>
            <a:ext cx="684885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δ₁ = (δ₂ · w₂) · g′(z₁).</a:t>
            </a:r>
            <a:endParaRPr lang="en-US" sz="1600" dirty="0"/>
          </a:p>
        </p:txBody>
      </p:sp>
      <p:sp>
        <p:nvSpPr>
          <p:cNvPr id="18" name="Shape 15"/>
          <p:cNvSpPr/>
          <p:nvPr/>
        </p:nvSpPr>
        <p:spPr>
          <a:xfrm>
            <a:off x="548640" y="4928616"/>
            <a:ext cx="420624" cy="420624"/>
          </a:xfrm>
          <a:prstGeom prst="ellipse">
            <a:avLst/>
          </a:prstGeom>
          <a:solidFill>
            <a:schemeClr val="accent2"/>
          </a:solidFill>
          <a:ln w="25400">
            <a:solidFill>
              <a:schemeClr val="bg1"/>
            </a:solidFill>
            <a:prstDash val="solid"/>
          </a:ln>
        </p:spPr>
      </p:sp>
      <p:sp>
        <p:nvSpPr>
          <p:cNvPr id="19" name="Text 16"/>
          <p:cNvSpPr txBox="1"/>
          <p:nvPr/>
        </p:nvSpPr>
        <p:spPr>
          <a:xfrm>
            <a:off x="548640" y="49286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1197864" y="4965192"/>
            <a:ext cx="68488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Gradients shrink on the way back</a:t>
            </a:r>
            <a:endParaRPr lang="en-US" sz="1900" dirty="0"/>
          </a:p>
        </p:txBody>
      </p:sp>
      <p:sp>
        <p:nvSpPr>
          <p:cNvPr id="21" name="Text 18"/>
          <p:cNvSpPr txBox="1"/>
          <p:nvPr/>
        </p:nvSpPr>
        <p:spPr>
          <a:xfrm>
            <a:off x="1197864" y="5268214"/>
            <a:ext cx="6848856"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6.7× smaller in one layer, since σ′ ≤ 0.25. This is the vanishing-gradient problem.</a:t>
            </a:r>
            <a:endParaRPr lang="en-US" sz="1600" dirty="0"/>
          </a:p>
        </p:txBody>
      </p:sp>
      <p:sp>
        <p:nvSpPr>
          <p:cNvPr id="22" name="Shape 19"/>
          <p:cNvSpPr/>
          <p:nvPr/>
        </p:nvSpPr>
        <p:spPr>
          <a:xfrm>
            <a:off x="8503920" y="1691640"/>
            <a:ext cx="3136392" cy="3291840"/>
          </a:xfrm>
          <a:prstGeom prst="roundRect">
            <a:avLst>
              <a:gd name="adj" fmla="val 2332"/>
            </a:avLst>
          </a:prstGeom>
          <a:solidFill>
            <a:schemeClr val="accent2">
              <a:alpha val="12000"/>
            </a:schemeClr>
          </a:solidFill>
          <a:ln w="12700">
            <a:solidFill>
              <a:schemeClr val="accent2">
                <a:alpha val="12000"/>
              </a:schemeClr>
            </a:solidFill>
            <a:prstDash val="solid"/>
          </a:ln>
        </p:spPr>
      </p:sp>
      <p:sp>
        <p:nvSpPr>
          <p:cNvPr id="23" name="Text 20"/>
          <p:cNvSpPr txBox="1"/>
          <p:nvPr/>
        </p:nvSpPr>
        <p:spPr>
          <a:xfrm>
            <a:off x="8686800" y="2103120"/>
            <a:ext cx="2743200" cy="1097280"/>
          </a:xfrm>
          <a:prstGeom prst="rect">
            <a:avLst/>
          </a:prstGeom>
          <a:noFill/>
          <a:ln/>
        </p:spPr>
        <p:txBody>
          <a:bodyPr wrap="square" lIns="0" tIns="0" rIns="0" bIns="0" rtlCol="0" anchor="t"/>
          <a:lstStyle/>
          <a:p>
            <a:pPr algn="ctr" indent="0" marL="0">
              <a:lnSpc>
                <a:spcPct val="105000"/>
              </a:lnSpc>
              <a:buNone/>
            </a:pPr>
            <a:r>
              <a:rPr lang="en-US" sz="6000" b="1" dirty="0">
                <a:solidFill>
                  <a:schemeClr val="accent2"/>
                </a:solidFill>
              </a:rPr>
              <a:t>6.7×</a:t>
            </a:r>
            <a:endParaRPr lang="en-US" sz="6000" dirty="0"/>
          </a:p>
        </p:txBody>
      </p:sp>
      <p:sp>
        <p:nvSpPr>
          <p:cNvPr id="24" name="Text 21"/>
          <p:cNvSpPr txBox="1"/>
          <p:nvPr/>
        </p:nvSpPr>
        <p:spPr>
          <a:xfrm>
            <a:off x="8686800" y="3291840"/>
            <a:ext cx="2743200" cy="1097280"/>
          </a:xfrm>
          <a:prstGeom prst="rect">
            <a:avLst/>
          </a:prstGeom>
          <a:noFill/>
          <a:ln/>
        </p:spPr>
        <p:txBody>
          <a:bodyPr wrap="square" lIns="0" tIns="0" rIns="0" bIns="0" rtlCol="0" anchor="t"/>
          <a:lstStyle/>
          <a:p>
            <a:pPr algn="ctr" indent="0" marL="0">
              <a:lnSpc>
                <a:spcPct val="105000"/>
              </a:lnSpc>
              <a:buNone/>
            </a:pPr>
            <a:r>
              <a:rPr lang="en-US" sz="1700" dirty="0">
                <a:solidFill>
                  <a:schemeClr val="tx1"/>
                </a:solidFill>
              </a:rPr>
              <a:t>shrinkage from δ₂ to δ₁ in a single sigmoid layer</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BP1 and BP2: start the error at the output, send it back</a:t>
            </a:r>
            <a:endParaRPr lang="en-US" sz="3000" dirty="0"/>
          </a:p>
        </p:txBody>
      </p:sp>
      <p:sp>
        <p:nvSpPr>
          <p:cNvPr id="5" name="Shape 2"/>
          <p:cNvSpPr/>
          <p:nvPr/>
        </p:nvSpPr>
        <p:spPr>
          <a:xfrm>
            <a:off x="548640" y="1645920"/>
            <a:ext cx="5394960" cy="1507998"/>
          </a:xfrm>
          <a:prstGeom prst="roundRect">
            <a:avLst>
              <a:gd name="adj" fmla="val 4851"/>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493776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BP1 · OUTPUT ERROR</a:t>
            </a:r>
            <a:endParaRPr lang="en-US" sz="1200" dirty="0"/>
          </a:p>
        </p:txBody>
      </p:sp>
      <p:sp>
        <p:nvSpPr>
          <p:cNvPr id="7" name="Text 4"/>
          <p:cNvSpPr txBox="1"/>
          <p:nvPr/>
        </p:nvSpPr>
        <p:spPr>
          <a:xfrm>
            <a:off x="777240" y="2221992"/>
            <a:ext cx="4937760" cy="739902"/>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δ[L] = ∇ₐL ⊙ g′(z[L])</a:t>
            </a:r>
            <a:endParaRPr lang="en-US" sz="2100" dirty="0"/>
          </a:p>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softmax + CE:   δ[L] = a[L] − y</a:t>
            </a:r>
            <a:endParaRPr lang="en-US" sz="2100" dirty="0"/>
          </a:p>
        </p:txBody>
      </p:sp>
      <p:sp>
        <p:nvSpPr>
          <p:cNvPr id="8" name="Text 5"/>
          <p:cNvSpPr txBox="1"/>
          <p:nvPr/>
        </p:nvSpPr>
        <p:spPr>
          <a:xfrm>
            <a:off x="548640" y="3200400"/>
            <a:ext cx="5394960" cy="822960"/>
          </a:xfrm>
          <a:prstGeom prst="rect">
            <a:avLst/>
          </a:prstGeom>
          <a:noFill/>
          <a:ln/>
        </p:spPr>
        <p:txBody>
          <a:bodyPr wrap="square" lIns="0" tIns="0" rIns="0" bIns="0" rtlCol="0" anchor="t"/>
          <a:lstStyle/>
          <a:p>
            <a:pPr algn="l" indent="0" marL="0">
              <a:lnSpc>
                <a:spcPct val="105000"/>
              </a:lnSpc>
              <a:buNone/>
            </a:pPr>
            <a:r>
              <a:rPr lang="en-US" sz="1700" dirty="0">
                <a:solidFill>
                  <a:schemeClr val="tx2"/>
                </a:solidFill>
              </a:rPr>
              <a:t>g acts elementwise, so a[L]ⱼ depends only on z[L]ⱼ: no sum, just a product.</a:t>
            </a:r>
            <a:endParaRPr lang="en-US" sz="1700" dirty="0"/>
          </a:p>
        </p:txBody>
      </p:sp>
      <p:sp>
        <p:nvSpPr>
          <p:cNvPr id="9" name="Shape 6"/>
          <p:cNvSpPr/>
          <p:nvPr/>
        </p:nvSpPr>
        <p:spPr>
          <a:xfrm>
            <a:off x="6245352" y="1645920"/>
            <a:ext cx="5394960" cy="1174623"/>
          </a:xfrm>
          <a:prstGeom prst="roundRect">
            <a:avLst>
              <a:gd name="adj" fmla="val 6228"/>
            </a:avLst>
          </a:prstGeom>
          <a:solidFill>
            <a:schemeClr val="accent1">
              <a:alpha val="10000"/>
            </a:schemeClr>
          </a:solidFill>
          <a:ln w="12700">
            <a:solidFill>
              <a:schemeClr val="accent1">
                <a:alpha val="10000"/>
              </a:schemeClr>
            </a:solidFill>
            <a:prstDash val="solid"/>
          </a:ln>
        </p:spPr>
      </p:sp>
      <p:sp>
        <p:nvSpPr>
          <p:cNvPr id="10" name="Text 7"/>
          <p:cNvSpPr txBox="1"/>
          <p:nvPr/>
        </p:nvSpPr>
        <p:spPr>
          <a:xfrm>
            <a:off x="6473952" y="1792224"/>
            <a:ext cx="493776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BP2 · PROPAGATE BACK</a:t>
            </a:r>
            <a:endParaRPr lang="en-US" sz="1200" dirty="0"/>
          </a:p>
        </p:txBody>
      </p:sp>
      <p:sp>
        <p:nvSpPr>
          <p:cNvPr id="11" name="Text 8"/>
          <p:cNvSpPr txBox="1"/>
          <p:nvPr/>
        </p:nvSpPr>
        <p:spPr>
          <a:xfrm>
            <a:off x="6473952" y="2221992"/>
            <a:ext cx="4937760" cy="406527"/>
          </a:xfrm>
          <a:prstGeom prst="rect">
            <a:avLst/>
          </a:prstGeom>
          <a:noFill/>
          <a:ln/>
        </p:spPr>
        <p:txBody>
          <a:bodyPr wrap="square" lIns="0" tIns="0" rIns="0" bIns="0" rtlCol="0" anchor="t"/>
          <a:lstStyle/>
          <a:p>
            <a:pPr algn="l" indent="0" marL="0">
              <a:lnSpc>
                <a:spcPct val="112000"/>
              </a:lnSpc>
              <a:buNone/>
            </a:pPr>
            <a:r>
              <a:rPr lang="en-US" sz="2100" dirty="0">
                <a:solidFill>
                  <a:schemeClr val="tx1"/>
                </a:solidFill>
                <a:latin typeface="Cambria Math" pitchFamily="34" charset="0"/>
                <a:ea typeface="Cambria Math" pitchFamily="34" charset="-122"/>
                <a:cs typeface="Cambria Math" pitchFamily="34" charset="-120"/>
              </a:rPr>
              <a:t>δ[l] = ( W[l+1]ᵀ δ[l+1] ) ⊙ g′(z[l])</a:t>
            </a:r>
            <a:endParaRPr lang="en-US" sz="2100" dirty="0"/>
          </a:p>
        </p:txBody>
      </p:sp>
      <p:sp>
        <p:nvSpPr>
          <p:cNvPr id="12" name="Shape 9"/>
          <p:cNvSpPr/>
          <p:nvPr/>
        </p:nvSpPr>
        <p:spPr>
          <a:xfrm>
            <a:off x="6245352" y="2971800"/>
            <a:ext cx="5394960" cy="1650873"/>
          </a:xfrm>
          <a:prstGeom prst="roundRect">
            <a:avLst>
              <a:gd name="adj" fmla="val 4431"/>
            </a:avLst>
          </a:prstGeom>
          <a:solidFill>
            <a:schemeClr val="bg2"/>
          </a:solidFill>
          <a:ln w="12700">
            <a:solidFill>
              <a:schemeClr val="bg2"/>
            </a:solidFill>
            <a:prstDash val="solid"/>
          </a:ln>
        </p:spPr>
      </p:sp>
      <p:sp>
        <p:nvSpPr>
          <p:cNvPr id="13" name="Text 10"/>
          <p:cNvSpPr txBox="1"/>
          <p:nvPr/>
        </p:nvSpPr>
        <p:spPr>
          <a:xfrm>
            <a:off x="6473952" y="3118104"/>
            <a:ext cx="4937760" cy="274320"/>
          </a:xfrm>
          <a:prstGeom prst="rect">
            <a:avLst/>
          </a:prstGeom>
          <a:noFill/>
          <a:ln/>
        </p:spPr>
        <p:txBody>
          <a:bodyPr wrap="square" lIns="0" tIns="0" rIns="0" bIns="0" rtlCol="0" anchor="ctr"/>
          <a:lstStyle/>
          <a:p>
            <a:pPr indent="0" marL="0">
              <a:buNone/>
            </a:pPr>
            <a:r>
              <a:rPr lang="en-US" sz="1200" b="1" spc="120" kern="0" dirty="0">
                <a:solidFill>
                  <a:schemeClr val="tx2"/>
                </a:solidFill>
              </a:rPr>
              <a:t>WHY: SUM OVER THE NEXT LAYER</a:t>
            </a:r>
            <a:endParaRPr lang="en-US" sz="1200" dirty="0"/>
          </a:p>
        </p:txBody>
      </p:sp>
      <p:sp>
        <p:nvSpPr>
          <p:cNvPr id="14" name="Text 11"/>
          <p:cNvSpPr txBox="1"/>
          <p:nvPr/>
        </p:nvSpPr>
        <p:spPr>
          <a:xfrm>
            <a:off x="6473952" y="3547872"/>
            <a:ext cx="4937760" cy="882777"/>
          </a:xfrm>
          <a:prstGeom prst="rect">
            <a:avLst/>
          </a:prstGeom>
          <a:noFill/>
          <a:ln/>
        </p:spPr>
        <p:txBody>
          <a:bodyPr wrap="square" lIns="0" tIns="0" rIns="0" bIns="0" rtlCol="0" anchor="t"/>
          <a:lstStyle/>
          <a:p>
            <a:pPr algn="l" indent="0" marL="0">
              <a:lnSpc>
                <a:spcPct val="112000"/>
              </a:lnSpc>
              <a:buNone/>
            </a:pPr>
            <a:r>
              <a:rPr lang="en-US" sz="1700" dirty="0">
                <a:solidFill>
                  <a:schemeClr val="tx1"/>
                </a:solidFill>
                <a:latin typeface="Cambria Math" pitchFamily="34" charset="0"/>
                <a:ea typeface="Cambria Math" pitchFamily="34" charset="-122"/>
                <a:cs typeface="Cambria Math" pitchFamily="34" charset="-120"/>
              </a:rPr>
              <a:t>∂L/∂z[l]ⱼ = Σₖ δ[l+1]ₖ · ∂z[l+1]ₖ/∂z[l]ⱼ</a:t>
            </a:r>
            <a:endParaRPr lang="en-US" sz="1700" dirty="0"/>
          </a:p>
          <a:p>
            <a:pPr algn="l" indent="0" marL="0">
              <a:lnSpc>
                <a:spcPct val="112000"/>
              </a:lnSpc>
              <a:buNone/>
            </a:pPr>
            <a:r>
              <a:rPr lang="en-US" sz="1700" dirty="0">
                <a:solidFill>
                  <a:schemeClr val="tx1"/>
                </a:solidFill>
                <a:latin typeface="Cambria Math" pitchFamily="34" charset="0"/>
                <a:ea typeface="Cambria Math" pitchFamily="34" charset="-122"/>
                <a:cs typeface="Cambria Math" pitchFamily="34" charset="-120"/>
              </a:rPr>
              <a:t>∂z[l+1]ₖ/∂z[l]ⱼ = W[l+1]ₖⱼ · g′(z[l]ⱼ)</a:t>
            </a:r>
            <a:endParaRPr lang="en-US" sz="1700" dirty="0"/>
          </a:p>
          <a:p>
            <a:pPr algn="l" indent="0" marL="0">
              <a:lnSpc>
                <a:spcPct val="112000"/>
              </a:lnSpc>
              <a:buNone/>
            </a:pPr>
            <a:r>
              <a:rPr lang="en-US" sz="1700" dirty="0">
                <a:solidFill>
                  <a:schemeClr val="tx1"/>
                </a:solidFill>
                <a:latin typeface="Cambria Math" pitchFamily="34" charset="0"/>
                <a:ea typeface="Cambria Math" pitchFamily="34" charset="-122"/>
                <a:cs typeface="Cambria Math" pitchFamily="34" charset="-120"/>
              </a:rPr>
              <a:t>⇒ ∂L/∂z[l]ⱼ = [ Σₖ W[l+1]ₖⱼ δ[l+1]ₖ ] · g′(z[l]ⱼ)</a:t>
            </a:r>
            <a:endParaRPr lang="en-US" sz="1700" dirty="0"/>
          </a:p>
        </p:txBody>
      </p:sp>
      <p:sp>
        <p:nvSpPr>
          <p:cNvPr id="15" name="Text 12"/>
          <p:cNvSpPr txBox="1"/>
          <p:nvPr/>
        </p:nvSpPr>
        <p:spPr>
          <a:xfrm>
            <a:off x="6245352" y="5074920"/>
            <a:ext cx="5394960" cy="73152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The bracket is the j-th entry of W[l+1]ᵀ δ[l+1]. Stack over j to get BP2.</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BP2 is one matrix product, then an elementwise gate</a:t>
            </a:r>
            <a:endParaRPr lang="en-US" sz="3000" dirty="0"/>
          </a:p>
        </p:txBody>
      </p:sp>
      <p:sp>
        <p:nvSpPr>
          <p:cNvPr id="5" name="Shape 2"/>
          <p:cNvSpPr/>
          <p:nvPr/>
        </p:nvSpPr>
        <p:spPr>
          <a:xfrm>
            <a:off x="731520" y="2606040"/>
            <a:ext cx="411480" cy="1554480"/>
          </a:xfrm>
          <a:prstGeom prst="rect">
            <a:avLst/>
          </a:prstGeom>
          <a:solidFill>
            <a:schemeClr val="accent2">
              <a:alpha val="12000"/>
            </a:schemeClr>
          </a:solidFill>
          <a:ln w="19050">
            <a:solidFill>
              <a:schemeClr val="accent2"/>
            </a:solidFill>
            <a:prstDash val="solid"/>
          </a:ln>
        </p:spPr>
      </p:sp>
      <p:sp>
        <p:nvSpPr>
          <p:cNvPr id="6" name="Text 3"/>
          <p:cNvSpPr txBox="1"/>
          <p:nvPr/>
        </p:nvSpPr>
        <p:spPr>
          <a:xfrm>
            <a:off x="182880" y="2221992"/>
            <a:ext cx="1508760" cy="347472"/>
          </a:xfrm>
          <a:prstGeom prst="rect">
            <a:avLst/>
          </a:prstGeom>
          <a:noFill/>
          <a:ln/>
        </p:spPr>
        <p:txBody>
          <a:bodyPr wrap="square" lIns="0" tIns="0" rIns="0" bIns="0" rtlCol="0" anchor="b"/>
          <a:lstStyle/>
          <a:p>
            <a:pPr algn="ctr" indent="0" marL="0">
              <a:buNone/>
            </a:pPr>
            <a:r>
              <a:rPr lang="en-US" sz="1800" dirty="0">
                <a:solidFill>
                  <a:schemeClr val="tx1"/>
                </a:solidFill>
                <a:latin typeface="Cambria Math" pitchFamily="34" charset="0"/>
                <a:ea typeface="Cambria Math" pitchFamily="34" charset="-122"/>
                <a:cs typeface="Cambria Math" pitchFamily="34" charset="-120"/>
              </a:rPr>
              <a:t>δ[l]</a:t>
            </a:r>
            <a:endParaRPr lang="en-US" sz="1800" dirty="0"/>
          </a:p>
        </p:txBody>
      </p:sp>
      <p:sp>
        <p:nvSpPr>
          <p:cNvPr id="7" name="Text 4"/>
          <p:cNvSpPr txBox="1"/>
          <p:nvPr/>
        </p:nvSpPr>
        <p:spPr>
          <a:xfrm>
            <a:off x="182880" y="4215384"/>
            <a:ext cx="150876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1)</a:t>
            </a:r>
            <a:endParaRPr lang="en-US" sz="1300" dirty="0"/>
          </a:p>
        </p:txBody>
      </p:sp>
      <p:sp>
        <p:nvSpPr>
          <p:cNvPr id="8" name="Text 5"/>
          <p:cNvSpPr txBox="1"/>
          <p:nvPr/>
        </p:nvSpPr>
        <p:spPr>
          <a:xfrm>
            <a:off x="1234440" y="310896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9" name="Shape 6"/>
          <p:cNvSpPr/>
          <p:nvPr/>
        </p:nvSpPr>
        <p:spPr>
          <a:xfrm>
            <a:off x="1737360" y="2606040"/>
            <a:ext cx="2103120" cy="1554480"/>
          </a:xfrm>
          <a:prstGeom prst="rect">
            <a:avLst/>
          </a:prstGeom>
          <a:solidFill>
            <a:schemeClr val="bg1"/>
          </a:solidFill>
          <a:ln w="19050">
            <a:solidFill>
              <a:schemeClr val="tx1"/>
            </a:solidFill>
            <a:prstDash val="solid"/>
          </a:ln>
        </p:spPr>
      </p:sp>
      <p:sp>
        <p:nvSpPr>
          <p:cNvPr id="10" name="Text 7"/>
          <p:cNvSpPr txBox="1"/>
          <p:nvPr/>
        </p:nvSpPr>
        <p:spPr>
          <a:xfrm>
            <a:off x="1463040" y="2606040"/>
            <a:ext cx="2651760" cy="1554480"/>
          </a:xfrm>
          <a:prstGeom prst="rect">
            <a:avLst/>
          </a:prstGeom>
          <a:noFill/>
          <a:ln/>
        </p:spPr>
        <p:txBody>
          <a:bodyPr wrap="square" lIns="0" tIns="0" rIns="0" bIns="0" rtlCol="0" anchor="ctr"/>
          <a:lstStyle/>
          <a:p>
            <a:pPr algn="ctr" indent="0" marL="0">
              <a:buNone/>
            </a:pPr>
            <a:r>
              <a:rPr lang="en-US" sz="2000" dirty="0">
                <a:solidFill>
                  <a:schemeClr val="tx1"/>
                </a:solidFill>
                <a:latin typeface="Cambria Math" pitchFamily="34" charset="0"/>
                <a:ea typeface="Cambria Math" pitchFamily="34" charset="-122"/>
                <a:cs typeface="Cambria Math" pitchFamily="34" charset="-120"/>
              </a:rPr>
              <a:t>W[l+1]ᵀ</a:t>
            </a:r>
            <a:endParaRPr lang="en-US" sz="2000" dirty="0"/>
          </a:p>
        </p:txBody>
      </p:sp>
      <p:sp>
        <p:nvSpPr>
          <p:cNvPr id="11" name="Text 8"/>
          <p:cNvSpPr txBox="1"/>
          <p:nvPr/>
        </p:nvSpPr>
        <p:spPr>
          <a:xfrm>
            <a:off x="1188720" y="4215384"/>
            <a:ext cx="320040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n[l+1])</a:t>
            </a:r>
            <a:endParaRPr lang="en-US" sz="1300" dirty="0"/>
          </a:p>
        </p:txBody>
      </p:sp>
      <p:sp>
        <p:nvSpPr>
          <p:cNvPr id="12" name="Text 9"/>
          <p:cNvSpPr txBox="1"/>
          <p:nvPr/>
        </p:nvSpPr>
        <p:spPr>
          <a:xfrm>
            <a:off x="3931920" y="310896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13" name="Shape 10"/>
          <p:cNvSpPr/>
          <p:nvPr/>
        </p:nvSpPr>
        <p:spPr>
          <a:xfrm>
            <a:off x="4434840" y="2331720"/>
            <a:ext cx="411480" cy="2103120"/>
          </a:xfrm>
          <a:prstGeom prst="rect">
            <a:avLst/>
          </a:prstGeom>
          <a:solidFill>
            <a:schemeClr val="accent2">
              <a:alpha val="12000"/>
            </a:schemeClr>
          </a:solidFill>
          <a:ln w="19050">
            <a:solidFill>
              <a:schemeClr val="accent2"/>
            </a:solidFill>
            <a:prstDash val="solid"/>
          </a:ln>
        </p:spPr>
      </p:sp>
      <p:sp>
        <p:nvSpPr>
          <p:cNvPr id="14" name="Text 11"/>
          <p:cNvSpPr txBox="1"/>
          <p:nvPr/>
        </p:nvSpPr>
        <p:spPr>
          <a:xfrm>
            <a:off x="3886200" y="1947672"/>
            <a:ext cx="1508760" cy="347472"/>
          </a:xfrm>
          <a:prstGeom prst="rect">
            <a:avLst/>
          </a:prstGeom>
          <a:noFill/>
          <a:ln/>
        </p:spPr>
        <p:txBody>
          <a:bodyPr wrap="square" lIns="0" tIns="0" rIns="0" bIns="0" rtlCol="0" anchor="b"/>
          <a:lstStyle/>
          <a:p>
            <a:pPr algn="ctr" indent="0" marL="0">
              <a:buNone/>
            </a:pPr>
            <a:r>
              <a:rPr lang="en-US" sz="1800" dirty="0">
                <a:solidFill>
                  <a:schemeClr val="tx1"/>
                </a:solidFill>
                <a:latin typeface="Cambria Math" pitchFamily="34" charset="0"/>
                <a:ea typeface="Cambria Math" pitchFamily="34" charset="-122"/>
                <a:cs typeface="Cambria Math" pitchFamily="34" charset="-120"/>
              </a:rPr>
              <a:t>δ[l+1]</a:t>
            </a:r>
            <a:endParaRPr lang="en-US" sz="1800" dirty="0"/>
          </a:p>
        </p:txBody>
      </p:sp>
      <p:sp>
        <p:nvSpPr>
          <p:cNvPr id="15" name="Text 12"/>
          <p:cNvSpPr txBox="1"/>
          <p:nvPr/>
        </p:nvSpPr>
        <p:spPr>
          <a:xfrm>
            <a:off x="3886200" y="4489704"/>
            <a:ext cx="150876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(n[l+1], 1)</a:t>
            </a:r>
            <a:endParaRPr lang="en-US" sz="1300" dirty="0"/>
          </a:p>
        </p:txBody>
      </p:sp>
      <p:sp>
        <p:nvSpPr>
          <p:cNvPr id="16" name="Text 13"/>
          <p:cNvSpPr txBox="1"/>
          <p:nvPr/>
        </p:nvSpPr>
        <p:spPr>
          <a:xfrm>
            <a:off x="4937760" y="310896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17" name="Shape 14"/>
          <p:cNvSpPr/>
          <p:nvPr/>
        </p:nvSpPr>
        <p:spPr>
          <a:xfrm>
            <a:off x="5440680" y="2606040"/>
            <a:ext cx="411480" cy="1554480"/>
          </a:xfrm>
          <a:prstGeom prst="rect">
            <a:avLst/>
          </a:prstGeom>
          <a:solidFill>
            <a:schemeClr val="accent1">
              <a:alpha val="10000"/>
            </a:schemeClr>
          </a:solidFill>
          <a:ln w="19050">
            <a:solidFill>
              <a:schemeClr val="accent1"/>
            </a:solidFill>
            <a:prstDash val="solid"/>
          </a:ln>
        </p:spPr>
      </p:sp>
      <p:sp>
        <p:nvSpPr>
          <p:cNvPr id="18" name="Text 15"/>
          <p:cNvSpPr txBox="1"/>
          <p:nvPr/>
        </p:nvSpPr>
        <p:spPr>
          <a:xfrm>
            <a:off x="4892040" y="2221992"/>
            <a:ext cx="1508760" cy="347472"/>
          </a:xfrm>
          <a:prstGeom prst="rect">
            <a:avLst/>
          </a:prstGeom>
          <a:noFill/>
          <a:ln/>
        </p:spPr>
        <p:txBody>
          <a:bodyPr wrap="square" lIns="0" tIns="0" rIns="0" bIns="0" rtlCol="0" anchor="b"/>
          <a:lstStyle/>
          <a:p>
            <a:pPr algn="ctr" indent="0" marL="0">
              <a:buNone/>
            </a:pPr>
            <a:r>
              <a:rPr lang="en-US" sz="1800" dirty="0">
                <a:solidFill>
                  <a:schemeClr val="tx1"/>
                </a:solidFill>
                <a:latin typeface="Cambria Math" pitchFamily="34" charset="0"/>
                <a:ea typeface="Cambria Math" pitchFamily="34" charset="-122"/>
                <a:cs typeface="Cambria Math" pitchFamily="34" charset="-120"/>
              </a:rPr>
              <a:t>g′(z[l])</a:t>
            </a:r>
            <a:endParaRPr lang="en-US" sz="1800" dirty="0"/>
          </a:p>
        </p:txBody>
      </p:sp>
      <p:sp>
        <p:nvSpPr>
          <p:cNvPr id="19" name="Text 16"/>
          <p:cNvSpPr txBox="1"/>
          <p:nvPr/>
        </p:nvSpPr>
        <p:spPr>
          <a:xfrm>
            <a:off x="4892040" y="4215384"/>
            <a:ext cx="150876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1)</a:t>
            </a:r>
            <a:endParaRPr lang="en-US" sz="1300" dirty="0"/>
          </a:p>
        </p:txBody>
      </p:sp>
      <p:sp>
        <p:nvSpPr>
          <p:cNvPr id="20" name="Shape 17"/>
          <p:cNvSpPr/>
          <p:nvPr/>
        </p:nvSpPr>
        <p:spPr>
          <a:xfrm>
            <a:off x="5440680" y="3383280"/>
            <a:ext cx="411480" cy="388620"/>
          </a:xfrm>
          <a:prstGeom prst="rect">
            <a:avLst/>
          </a:prstGeom>
          <a:solidFill>
            <a:schemeClr val="accent2">
              <a:alpha val="70000"/>
            </a:schemeClr>
          </a:solidFill>
          <a:ln w="19050">
            <a:solidFill>
              <a:schemeClr val="accent5"/>
            </a:solidFill>
            <a:prstDash val="solid"/>
          </a:ln>
        </p:spPr>
      </p:sp>
      <p:sp>
        <p:nvSpPr>
          <p:cNvPr id="21" name="Shape 18"/>
          <p:cNvSpPr/>
          <p:nvPr/>
        </p:nvSpPr>
        <p:spPr>
          <a:xfrm>
            <a:off x="731520" y="3383280"/>
            <a:ext cx="411480" cy="388620"/>
          </a:xfrm>
          <a:prstGeom prst="rect">
            <a:avLst/>
          </a:prstGeom>
          <a:solidFill>
            <a:schemeClr val="accent5">
              <a:alpha val="80000"/>
            </a:schemeClr>
          </a:solidFill>
          <a:ln w="19050">
            <a:solidFill>
              <a:schemeClr val="accent5"/>
            </a:solidFill>
            <a:prstDash val="solid"/>
          </a:ln>
        </p:spPr>
      </p:sp>
      <p:sp>
        <p:nvSpPr>
          <p:cNvPr id="22" name="Text 19"/>
          <p:cNvSpPr txBox="1"/>
          <p:nvPr/>
        </p:nvSpPr>
        <p:spPr>
          <a:xfrm>
            <a:off x="5943600" y="3346704"/>
            <a:ext cx="914400" cy="365760"/>
          </a:xfrm>
          <a:prstGeom prst="rect">
            <a:avLst/>
          </a:prstGeom>
          <a:noFill/>
          <a:ln/>
        </p:spPr>
        <p:txBody>
          <a:bodyPr wrap="square" lIns="0" tIns="0" rIns="0" bIns="0" rtlCol="0" anchor="t"/>
          <a:lstStyle/>
          <a:p>
            <a:pPr algn="l" indent="0" marL="0">
              <a:lnSpc>
                <a:spcPct val="105000"/>
              </a:lnSpc>
              <a:buNone/>
            </a:pPr>
            <a:r>
              <a:rPr lang="en-US" sz="1500" b="1" dirty="0">
                <a:solidFill>
                  <a:schemeClr val="accent5"/>
                </a:solidFill>
              </a:rPr>
              <a:t>g′ ≈ 0</a:t>
            </a:r>
            <a:endParaRPr lang="en-US" sz="1500" dirty="0"/>
          </a:p>
        </p:txBody>
      </p:sp>
      <p:sp>
        <p:nvSpPr>
          <p:cNvPr id="23" name="Text 20"/>
          <p:cNvSpPr txBox="1"/>
          <p:nvPr/>
        </p:nvSpPr>
        <p:spPr>
          <a:xfrm>
            <a:off x="548640" y="5257800"/>
            <a:ext cx="6583680" cy="64008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Read right to left: send the error back through the weights, then gate it.</a:t>
            </a:r>
            <a:endParaRPr lang="en-US" sz="1600" dirty="0"/>
          </a:p>
        </p:txBody>
      </p:sp>
      <p:sp>
        <p:nvSpPr>
          <p:cNvPr id="24" name="Shape 21"/>
          <p:cNvSpPr/>
          <p:nvPr/>
        </p:nvSpPr>
        <p:spPr>
          <a:xfrm>
            <a:off x="7891272" y="1901952"/>
            <a:ext cx="0" cy="2834640"/>
          </a:xfrm>
          <a:prstGeom prst="line">
            <a:avLst/>
          </a:prstGeom>
          <a:noFill/>
          <a:ln w="25400">
            <a:solidFill>
              <a:schemeClr val="accent1">
                <a:alpha val="50000"/>
              </a:schemeClr>
            </a:solidFill>
            <a:prstDash val="solid"/>
          </a:ln>
        </p:spPr>
      </p:sp>
      <p:sp>
        <p:nvSpPr>
          <p:cNvPr id="25" name="Shape 22"/>
          <p:cNvSpPr/>
          <p:nvPr/>
        </p:nvSpPr>
        <p:spPr>
          <a:xfrm>
            <a:off x="7680960" y="1691640"/>
            <a:ext cx="420624" cy="420624"/>
          </a:xfrm>
          <a:prstGeom prst="ellipse">
            <a:avLst/>
          </a:prstGeom>
          <a:solidFill>
            <a:schemeClr val="accent1"/>
          </a:solidFill>
          <a:ln w="25400">
            <a:solidFill>
              <a:schemeClr val="bg1"/>
            </a:solidFill>
            <a:prstDash val="solid"/>
          </a:ln>
        </p:spPr>
      </p:sp>
      <p:sp>
        <p:nvSpPr>
          <p:cNvPr id="26" name="Text 23"/>
          <p:cNvSpPr txBox="1"/>
          <p:nvPr/>
        </p:nvSpPr>
        <p:spPr>
          <a:xfrm>
            <a:off x="768096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7" name="Text 24"/>
          <p:cNvSpPr txBox="1"/>
          <p:nvPr/>
        </p:nvSpPr>
        <p:spPr>
          <a:xfrm>
            <a:off x="8330184" y="1728216"/>
            <a:ext cx="33101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Why the transpose</a:t>
            </a:r>
            <a:endParaRPr lang="en-US" sz="1900" dirty="0"/>
          </a:p>
        </p:txBody>
      </p:sp>
      <p:sp>
        <p:nvSpPr>
          <p:cNvPr id="28" name="Text 25"/>
          <p:cNvSpPr txBox="1"/>
          <p:nvPr/>
        </p:nvSpPr>
        <p:spPr>
          <a:xfrm>
            <a:off x="8330184" y="2031238"/>
            <a:ext cx="3310128"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Forward maps n[l] → n[l+1]. Sending error back maps n[l+1] → n[l]: shape (n[l], n[l+1]) is W[l+1]ᵀ.</a:t>
            </a:r>
            <a:endParaRPr lang="en-US" sz="1600" dirty="0"/>
          </a:p>
        </p:txBody>
      </p:sp>
      <p:sp>
        <p:nvSpPr>
          <p:cNvPr id="29" name="Shape 26"/>
          <p:cNvSpPr/>
          <p:nvPr/>
        </p:nvSpPr>
        <p:spPr>
          <a:xfrm>
            <a:off x="7680960" y="3108960"/>
            <a:ext cx="420624" cy="420624"/>
          </a:xfrm>
          <a:prstGeom prst="ellipse">
            <a:avLst/>
          </a:prstGeom>
          <a:solidFill>
            <a:schemeClr val="accent1"/>
          </a:solidFill>
          <a:ln w="25400">
            <a:solidFill>
              <a:schemeClr val="bg1"/>
            </a:solidFill>
            <a:prstDash val="solid"/>
          </a:ln>
        </p:spPr>
      </p:sp>
      <p:sp>
        <p:nvSpPr>
          <p:cNvPr id="30" name="Text 27"/>
          <p:cNvSpPr txBox="1"/>
          <p:nvPr/>
        </p:nvSpPr>
        <p:spPr>
          <a:xfrm>
            <a:off x="7680960" y="3108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1" name="Text 28"/>
          <p:cNvSpPr txBox="1"/>
          <p:nvPr/>
        </p:nvSpPr>
        <p:spPr>
          <a:xfrm>
            <a:off x="8330184" y="3145536"/>
            <a:ext cx="33101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Why the gate</a:t>
            </a:r>
            <a:endParaRPr lang="en-US" sz="1900" dirty="0"/>
          </a:p>
        </p:txBody>
      </p:sp>
      <p:sp>
        <p:nvSpPr>
          <p:cNvPr id="32" name="Text 29"/>
          <p:cNvSpPr txBox="1"/>
          <p:nvPr/>
        </p:nvSpPr>
        <p:spPr>
          <a:xfrm>
            <a:off x="8330184" y="3448558"/>
            <a:ext cx="3310128"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Each unit’s error is scaled by its own slope g′(z[l]).</a:t>
            </a:r>
            <a:endParaRPr lang="en-US" sz="1600" dirty="0"/>
          </a:p>
        </p:txBody>
      </p:sp>
      <p:sp>
        <p:nvSpPr>
          <p:cNvPr id="33" name="Shape 30"/>
          <p:cNvSpPr/>
          <p:nvPr/>
        </p:nvSpPr>
        <p:spPr>
          <a:xfrm>
            <a:off x="7680960" y="4526280"/>
            <a:ext cx="420624" cy="420624"/>
          </a:xfrm>
          <a:prstGeom prst="ellipse">
            <a:avLst/>
          </a:prstGeom>
          <a:solidFill>
            <a:schemeClr val="accent2"/>
          </a:solidFill>
          <a:ln w="25400">
            <a:solidFill>
              <a:schemeClr val="bg1"/>
            </a:solidFill>
            <a:prstDash val="solid"/>
          </a:ln>
        </p:spPr>
      </p:sp>
      <p:sp>
        <p:nvSpPr>
          <p:cNvPr id="34" name="Text 31"/>
          <p:cNvSpPr txBox="1"/>
          <p:nvPr/>
        </p:nvSpPr>
        <p:spPr>
          <a:xfrm>
            <a:off x="7680960" y="45262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5" name="Text 32"/>
          <p:cNvSpPr txBox="1"/>
          <p:nvPr/>
        </p:nvSpPr>
        <p:spPr>
          <a:xfrm>
            <a:off x="8330184" y="4562856"/>
            <a:ext cx="33101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Saturated units block error</a:t>
            </a:r>
            <a:endParaRPr lang="en-US" sz="1900" dirty="0"/>
          </a:p>
        </p:txBody>
      </p:sp>
      <p:sp>
        <p:nvSpPr>
          <p:cNvPr id="36" name="Text 33"/>
          <p:cNvSpPr txBox="1"/>
          <p:nvPr/>
        </p:nvSpPr>
        <p:spPr>
          <a:xfrm>
            <a:off x="8330184" y="4865878"/>
            <a:ext cx="3310128"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g′ ≈ 0 zeroes that unit’s error, and everything upstream of it learns less.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BP3 and BP4: bias and weight gradients fall out directly</a:t>
            </a:r>
            <a:endParaRPr lang="en-US" sz="3000" dirty="0"/>
          </a:p>
        </p:txBody>
      </p:sp>
      <p:sp>
        <p:nvSpPr>
          <p:cNvPr id="5" name="Shape 2"/>
          <p:cNvSpPr/>
          <p:nvPr/>
        </p:nvSpPr>
        <p:spPr>
          <a:xfrm>
            <a:off x="548640" y="1645920"/>
            <a:ext cx="4572000" cy="1190498"/>
          </a:xfrm>
          <a:prstGeom prst="roundRect">
            <a:avLst>
              <a:gd name="adj" fmla="val 6145"/>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41148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BP3 · BIAS</a:t>
            </a:r>
            <a:endParaRPr lang="en-US" sz="1200" dirty="0"/>
          </a:p>
        </p:txBody>
      </p:sp>
      <p:sp>
        <p:nvSpPr>
          <p:cNvPr id="7" name="Text 4"/>
          <p:cNvSpPr txBox="1"/>
          <p:nvPr/>
        </p:nvSpPr>
        <p:spPr>
          <a:xfrm>
            <a:off x="777240" y="2221992"/>
            <a:ext cx="4114800" cy="422402"/>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Cambria Math" pitchFamily="34" charset="0"/>
                <a:ea typeface="Cambria Math" pitchFamily="34" charset="-122"/>
                <a:cs typeface="Cambria Math" pitchFamily="34" charset="-120"/>
              </a:rPr>
              <a:t>∂L/∂b[l] = δ[l]</a:t>
            </a:r>
            <a:endParaRPr lang="en-US" sz="2200" dirty="0"/>
          </a:p>
        </p:txBody>
      </p:sp>
      <p:sp>
        <p:nvSpPr>
          <p:cNvPr id="8" name="Shape 5"/>
          <p:cNvSpPr/>
          <p:nvPr/>
        </p:nvSpPr>
        <p:spPr>
          <a:xfrm>
            <a:off x="548640" y="2971800"/>
            <a:ext cx="4572000" cy="1190498"/>
          </a:xfrm>
          <a:prstGeom prst="roundRect">
            <a:avLst>
              <a:gd name="adj" fmla="val 6145"/>
            </a:avLst>
          </a:prstGeom>
          <a:solidFill>
            <a:schemeClr val="accent1">
              <a:alpha val="10000"/>
            </a:schemeClr>
          </a:solidFill>
          <a:ln w="12700">
            <a:solidFill>
              <a:schemeClr val="accent1">
                <a:alpha val="10000"/>
              </a:schemeClr>
            </a:solidFill>
            <a:prstDash val="solid"/>
          </a:ln>
        </p:spPr>
      </p:sp>
      <p:sp>
        <p:nvSpPr>
          <p:cNvPr id="9" name="Text 6"/>
          <p:cNvSpPr txBox="1"/>
          <p:nvPr/>
        </p:nvSpPr>
        <p:spPr>
          <a:xfrm>
            <a:off x="777240" y="3118104"/>
            <a:ext cx="41148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BP4 · WEIGHTS (OUTER PRODUCT)</a:t>
            </a:r>
            <a:endParaRPr lang="en-US" sz="1200" dirty="0"/>
          </a:p>
        </p:txBody>
      </p:sp>
      <p:sp>
        <p:nvSpPr>
          <p:cNvPr id="10" name="Text 7"/>
          <p:cNvSpPr txBox="1"/>
          <p:nvPr/>
        </p:nvSpPr>
        <p:spPr>
          <a:xfrm>
            <a:off x="777240" y="3547872"/>
            <a:ext cx="4114800" cy="422402"/>
          </a:xfrm>
          <a:prstGeom prst="rect">
            <a:avLst/>
          </a:prstGeom>
          <a:noFill/>
          <a:ln/>
        </p:spPr>
        <p:txBody>
          <a:bodyPr wrap="square" lIns="0" tIns="0" rIns="0" bIns="0" rtlCol="0" anchor="t"/>
          <a:lstStyle/>
          <a:p>
            <a:pPr algn="l" indent="0" marL="0">
              <a:lnSpc>
                <a:spcPct val="112000"/>
              </a:lnSpc>
              <a:buNone/>
            </a:pPr>
            <a:r>
              <a:rPr lang="en-US" sz="2200" dirty="0">
                <a:solidFill>
                  <a:schemeClr val="tx1"/>
                </a:solidFill>
                <a:latin typeface="Cambria Math" pitchFamily="34" charset="0"/>
                <a:ea typeface="Cambria Math" pitchFamily="34" charset="-122"/>
                <a:cs typeface="Cambria Math" pitchFamily="34" charset="-120"/>
              </a:rPr>
              <a:t>∂L/∂W[l] = δ[l] a[l−1]ᵀ</a:t>
            </a:r>
            <a:endParaRPr lang="en-US" sz="2200" dirty="0"/>
          </a:p>
        </p:txBody>
      </p:sp>
      <p:sp>
        <p:nvSpPr>
          <p:cNvPr id="11" name="Text 8"/>
          <p:cNvSpPr txBox="1"/>
          <p:nvPr/>
        </p:nvSpPr>
        <p:spPr>
          <a:xfrm>
            <a:off x="548640" y="4297680"/>
            <a:ext cx="4572000" cy="41148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latin typeface="Cambria Math" pitchFamily="34" charset="0"/>
                <a:ea typeface="Cambria Math" pitchFamily="34" charset="-122"/>
                <a:cs typeface="Cambria Math" pitchFamily="34" charset="-120"/>
              </a:rPr>
              <a:t>Entry by entry: ∂L/∂W[l]ⱼᵢ = δ[l]ⱼ · a[l−1]ᵢ</a:t>
            </a:r>
            <a:endParaRPr lang="en-US" sz="1600" dirty="0"/>
          </a:p>
        </p:txBody>
      </p:sp>
      <p:sp>
        <p:nvSpPr>
          <p:cNvPr id="12" name="Shape 9"/>
          <p:cNvSpPr/>
          <p:nvPr/>
        </p:nvSpPr>
        <p:spPr>
          <a:xfrm>
            <a:off x="5577840" y="1737360"/>
            <a:ext cx="2011680" cy="1188720"/>
          </a:xfrm>
          <a:prstGeom prst="rect">
            <a:avLst/>
          </a:prstGeom>
          <a:solidFill>
            <a:schemeClr val="accent2">
              <a:alpha val="12000"/>
            </a:schemeClr>
          </a:solidFill>
          <a:ln w="19050">
            <a:solidFill>
              <a:schemeClr val="accent2"/>
            </a:solidFill>
            <a:prstDash val="solid"/>
          </a:ln>
        </p:spPr>
      </p:sp>
      <p:sp>
        <p:nvSpPr>
          <p:cNvPr id="13" name="Text 10"/>
          <p:cNvSpPr txBox="1"/>
          <p:nvPr/>
        </p:nvSpPr>
        <p:spPr>
          <a:xfrm>
            <a:off x="5303520" y="1737360"/>
            <a:ext cx="2560320" cy="1188720"/>
          </a:xfrm>
          <a:prstGeom prst="rect">
            <a:avLst/>
          </a:prstGeom>
          <a:noFill/>
          <a:ln/>
        </p:spPr>
        <p:txBody>
          <a:bodyPr wrap="square" lIns="0" tIns="0" rIns="0" bIns="0" rtlCol="0" anchor="ctr"/>
          <a:lstStyle/>
          <a:p>
            <a:pPr algn="ctr" indent="0" marL="0">
              <a:buNone/>
            </a:pPr>
            <a:r>
              <a:rPr lang="en-US" sz="1800" dirty="0">
                <a:solidFill>
                  <a:schemeClr val="tx1"/>
                </a:solidFill>
                <a:latin typeface="Cambria Math" pitchFamily="34" charset="0"/>
                <a:ea typeface="Cambria Math" pitchFamily="34" charset="-122"/>
                <a:cs typeface="Cambria Math" pitchFamily="34" charset="-120"/>
              </a:rPr>
              <a:t>∂L/∂W[l]</a:t>
            </a:r>
            <a:endParaRPr lang="en-US" sz="1800" dirty="0"/>
          </a:p>
        </p:txBody>
      </p:sp>
      <p:sp>
        <p:nvSpPr>
          <p:cNvPr id="14" name="Text 11"/>
          <p:cNvSpPr txBox="1"/>
          <p:nvPr/>
        </p:nvSpPr>
        <p:spPr>
          <a:xfrm>
            <a:off x="5029200" y="2980944"/>
            <a:ext cx="310896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n[l−1])</a:t>
            </a:r>
            <a:endParaRPr lang="en-US" sz="1300" dirty="0"/>
          </a:p>
        </p:txBody>
      </p:sp>
      <p:sp>
        <p:nvSpPr>
          <p:cNvPr id="15" name="Text 12"/>
          <p:cNvSpPr txBox="1"/>
          <p:nvPr/>
        </p:nvSpPr>
        <p:spPr>
          <a:xfrm>
            <a:off x="7680960" y="205740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16" name="Shape 13"/>
          <p:cNvSpPr/>
          <p:nvPr/>
        </p:nvSpPr>
        <p:spPr>
          <a:xfrm>
            <a:off x="8183880" y="1737360"/>
            <a:ext cx="384048" cy="1188720"/>
          </a:xfrm>
          <a:prstGeom prst="rect">
            <a:avLst/>
          </a:prstGeom>
          <a:solidFill>
            <a:schemeClr val="accent2">
              <a:alpha val="12000"/>
            </a:schemeClr>
          </a:solidFill>
          <a:ln w="19050">
            <a:solidFill>
              <a:schemeClr val="accent2"/>
            </a:solidFill>
            <a:prstDash val="solid"/>
          </a:ln>
        </p:spPr>
      </p:sp>
      <p:sp>
        <p:nvSpPr>
          <p:cNvPr id="17" name="Text 14"/>
          <p:cNvSpPr txBox="1"/>
          <p:nvPr/>
        </p:nvSpPr>
        <p:spPr>
          <a:xfrm>
            <a:off x="7635240" y="1353312"/>
            <a:ext cx="1481328" cy="347472"/>
          </a:xfrm>
          <a:prstGeom prst="rect">
            <a:avLst/>
          </a:prstGeom>
          <a:noFill/>
          <a:ln/>
        </p:spPr>
        <p:txBody>
          <a:bodyPr wrap="square" lIns="0" tIns="0" rIns="0" bIns="0" rtlCol="0" anchor="b"/>
          <a:lstStyle/>
          <a:p>
            <a:pPr algn="ctr" indent="0" marL="0">
              <a:buNone/>
            </a:pPr>
            <a:r>
              <a:rPr lang="en-US" sz="1800" dirty="0">
                <a:solidFill>
                  <a:schemeClr val="tx1"/>
                </a:solidFill>
                <a:latin typeface="Cambria Math" pitchFamily="34" charset="0"/>
                <a:ea typeface="Cambria Math" pitchFamily="34" charset="-122"/>
                <a:cs typeface="Cambria Math" pitchFamily="34" charset="-120"/>
              </a:rPr>
              <a:t>δ[l]</a:t>
            </a:r>
            <a:endParaRPr lang="en-US" sz="1800" dirty="0"/>
          </a:p>
        </p:txBody>
      </p:sp>
      <p:sp>
        <p:nvSpPr>
          <p:cNvPr id="18" name="Text 15"/>
          <p:cNvSpPr txBox="1"/>
          <p:nvPr/>
        </p:nvSpPr>
        <p:spPr>
          <a:xfrm>
            <a:off x="7635240" y="2980944"/>
            <a:ext cx="1481328"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(n[l], 1)</a:t>
            </a:r>
            <a:endParaRPr lang="en-US" sz="1300" dirty="0"/>
          </a:p>
        </p:txBody>
      </p:sp>
      <p:sp>
        <p:nvSpPr>
          <p:cNvPr id="19" name="Text 16"/>
          <p:cNvSpPr txBox="1"/>
          <p:nvPr/>
        </p:nvSpPr>
        <p:spPr>
          <a:xfrm>
            <a:off x="8659368" y="2057400"/>
            <a:ext cx="548640" cy="548640"/>
          </a:xfrm>
          <a:prstGeom prst="rect">
            <a:avLst/>
          </a:prstGeom>
          <a:noFill/>
          <a:ln/>
        </p:spPr>
        <p:txBody>
          <a:bodyPr wrap="square" lIns="0" tIns="0" rIns="0" bIns="0" rtlCol="0" anchor="ctr"/>
          <a:lstStyle/>
          <a:p>
            <a:pPr algn="ctr" indent="0" marL="0">
              <a:buNone/>
            </a:pPr>
            <a:r>
              <a:rPr lang="en-US" sz="2600" dirty="0">
                <a:solidFill>
                  <a:schemeClr val="tx2"/>
                </a:solidFill>
                <a:latin typeface="Cambria Math" pitchFamily="34" charset="0"/>
                <a:ea typeface="Cambria Math" pitchFamily="34" charset="-122"/>
                <a:cs typeface="Cambria Math" pitchFamily="34" charset="-120"/>
              </a:rPr>
              <a:t>×</a:t>
            </a:r>
            <a:endParaRPr lang="en-US" sz="2600" dirty="0"/>
          </a:p>
        </p:txBody>
      </p:sp>
      <p:sp>
        <p:nvSpPr>
          <p:cNvPr id="20" name="Shape 17"/>
          <p:cNvSpPr/>
          <p:nvPr/>
        </p:nvSpPr>
        <p:spPr>
          <a:xfrm>
            <a:off x="9162288" y="2139696"/>
            <a:ext cx="2011680" cy="384048"/>
          </a:xfrm>
          <a:prstGeom prst="rect">
            <a:avLst/>
          </a:prstGeom>
          <a:solidFill>
            <a:schemeClr val="bg1"/>
          </a:solidFill>
          <a:ln w="19050">
            <a:solidFill>
              <a:schemeClr val="tx1"/>
            </a:solidFill>
            <a:prstDash val="solid"/>
          </a:ln>
        </p:spPr>
      </p:sp>
      <p:sp>
        <p:nvSpPr>
          <p:cNvPr id="21" name="Text 18"/>
          <p:cNvSpPr txBox="1"/>
          <p:nvPr/>
        </p:nvSpPr>
        <p:spPr>
          <a:xfrm>
            <a:off x="8613648" y="1755648"/>
            <a:ext cx="3108960" cy="347472"/>
          </a:xfrm>
          <a:prstGeom prst="rect">
            <a:avLst/>
          </a:prstGeom>
          <a:noFill/>
          <a:ln/>
        </p:spPr>
        <p:txBody>
          <a:bodyPr wrap="square" lIns="0" tIns="0" rIns="0" bIns="0" rtlCol="0" anchor="b"/>
          <a:lstStyle/>
          <a:p>
            <a:pPr algn="ctr" indent="0" marL="0">
              <a:buNone/>
            </a:pPr>
            <a:r>
              <a:rPr lang="en-US" sz="1800" dirty="0">
                <a:solidFill>
                  <a:schemeClr val="tx1"/>
                </a:solidFill>
                <a:latin typeface="Cambria Math" pitchFamily="34" charset="0"/>
                <a:ea typeface="Cambria Math" pitchFamily="34" charset="-122"/>
                <a:cs typeface="Cambria Math" pitchFamily="34" charset="-120"/>
              </a:rPr>
              <a:t>a[l−1]ᵀ</a:t>
            </a:r>
            <a:endParaRPr lang="en-US" sz="1800" dirty="0"/>
          </a:p>
        </p:txBody>
      </p:sp>
      <p:sp>
        <p:nvSpPr>
          <p:cNvPr id="22" name="Text 19"/>
          <p:cNvSpPr txBox="1"/>
          <p:nvPr/>
        </p:nvSpPr>
        <p:spPr>
          <a:xfrm>
            <a:off x="8613648" y="2578608"/>
            <a:ext cx="3108960" cy="274320"/>
          </a:xfrm>
          <a:prstGeom prst="rect">
            <a:avLst/>
          </a:prstGeom>
          <a:noFill/>
          <a:ln/>
        </p:spPr>
        <p:txBody>
          <a:bodyPr wrap="square" lIns="0" tIns="0" rIns="0" bIns="0" rtlCol="0" anchor="ctr"/>
          <a:lstStyle/>
          <a:p>
            <a:pPr algn="ctr" indent="0" marL="0">
              <a:buNone/>
            </a:pPr>
            <a:r>
              <a:rPr lang="en-US" sz="1300" dirty="0">
                <a:solidFill>
                  <a:schemeClr val="tx2"/>
                </a:solidFill>
                <a:latin typeface="Cambria Math" pitchFamily="34" charset="0"/>
                <a:ea typeface="Cambria Math" pitchFamily="34" charset="-122"/>
                <a:cs typeface="Cambria Math" pitchFamily="34" charset="-120"/>
              </a:rPr>
              <a:t>(1, n[l−1])</a:t>
            </a:r>
            <a:endParaRPr lang="en-US" sz="1300" dirty="0"/>
          </a:p>
        </p:txBody>
      </p:sp>
      <p:sp>
        <p:nvSpPr>
          <p:cNvPr id="23" name="Shape 20"/>
          <p:cNvSpPr/>
          <p:nvPr/>
        </p:nvSpPr>
        <p:spPr>
          <a:xfrm>
            <a:off x="5788152" y="4005072"/>
            <a:ext cx="0" cy="1143000"/>
          </a:xfrm>
          <a:prstGeom prst="line">
            <a:avLst/>
          </a:prstGeom>
          <a:noFill/>
          <a:ln w="25400">
            <a:solidFill>
              <a:schemeClr val="accent1">
                <a:alpha val="50000"/>
              </a:schemeClr>
            </a:solidFill>
            <a:prstDash val="solid"/>
          </a:ln>
        </p:spPr>
      </p:sp>
      <p:sp>
        <p:nvSpPr>
          <p:cNvPr id="24" name="Shape 21"/>
          <p:cNvSpPr/>
          <p:nvPr/>
        </p:nvSpPr>
        <p:spPr>
          <a:xfrm>
            <a:off x="5577840" y="3794760"/>
            <a:ext cx="420624" cy="420624"/>
          </a:xfrm>
          <a:prstGeom prst="ellipse">
            <a:avLst/>
          </a:prstGeom>
          <a:solidFill>
            <a:schemeClr val="accent1"/>
          </a:solidFill>
          <a:ln w="25400">
            <a:solidFill>
              <a:schemeClr val="bg1"/>
            </a:solidFill>
            <a:prstDash val="solid"/>
          </a:ln>
        </p:spPr>
      </p:sp>
      <p:sp>
        <p:nvSpPr>
          <p:cNvPr id="25" name="Text 22"/>
          <p:cNvSpPr txBox="1"/>
          <p:nvPr/>
        </p:nvSpPr>
        <p:spPr>
          <a:xfrm>
            <a:off x="5577840" y="37947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6" name="Text 23"/>
          <p:cNvSpPr txBox="1"/>
          <p:nvPr/>
        </p:nvSpPr>
        <p:spPr>
          <a:xfrm>
            <a:off x="6227064" y="3831336"/>
            <a:ext cx="54132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Inactive inputs do not learn</a:t>
            </a:r>
            <a:endParaRPr lang="en-US" sz="1900" dirty="0"/>
          </a:p>
        </p:txBody>
      </p:sp>
      <p:sp>
        <p:nvSpPr>
          <p:cNvPr id="27" name="Text 24"/>
          <p:cNvSpPr txBox="1"/>
          <p:nvPr/>
        </p:nvSpPr>
        <p:spPr>
          <a:xfrm>
            <a:off x="6227064" y="4134358"/>
            <a:ext cx="5413248" cy="7668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Small a[l−1]ᵢ means small gradients on its weights. Hence input standardization; hence dead ReLUs stay dead.</a:t>
            </a:r>
            <a:endParaRPr lang="en-US" sz="1600" dirty="0"/>
          </a:p>
        </p:txBody>
      </p:sp>
      <p:sp>
        <p:nvSpPr>
          <p:cNvPr id="28" name="Shape 25"/>
          <p:cNvSpPr/>
          <p:nvPr/>
        </p:nvSpPr>
        <p:spPr>
          <a:xfrm>
            <a:off x="5577840" y="4937760"/>
            <a:ext cx="420624" cy="420624"/>
          </a:xfrm>
          <a:prstGeom prst="ellipse">
            <a:avLst/>
          </a:prstGeom>
          <a:solidFill>
            <a:schemeClr val="accent2"/>
          </a:solidFill>
          <a:ln w="25400">
            <a:solidFill>
              <a:schemeClr val="bg1"/>
            </a:solidFill>
            <a:prstDash val="solid"/>
          </a:ln>
        </p:spPr>
      </p:sp>
      <p:sp>
        <p:nvSpPr>
          <p:cNvPr id="29" name="Text 26"/>
          <p:cNvSpPr txBox="1"/>
          <p:nvPr/>
        </p:nvSpPr>
        <p:spPr>
          <a:xfrm>
            <a:off x="5577840" y="49377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0" name="Text 27"/>
          <p:cNvSpPr txBox="1"/>
          <p:nvPr/>
        </p:nvSpPr>
        <p:spPr>
          <a:xfrm>
            <a:off x="6227064" y="4974336"/>
            <a:ext cx="54132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Small errors freeze a row</a:t>
            </a:r>
            <a:endParaRPr lang="en-US" sz="1900" dirty="0"/>
          </a:p>
        </p:txBody>
      </p:sp>
      <p:sp>
        <p:nvSpPr>
          <p:cNvPr id="31" name="Text 28"/>
          <p:cNvSpPr txBox="1"/>
          <p:nvPr/>
        </p:nvSpPr>
        <p:spPr>
          <a:xfrm>
            <a:off x="6227064" y="5277358"/>
            <a:ext cx="5413248" cy="7668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If δ[l]ⱼ is small (saturation, or vanished on the way back), row j of W[l] barely moves.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The four equations of backpropagation</a:t>
            </a:r>
            <a:endParaRPr lang="en-US" sz="3000" dirty="0"/>
          </a:p>
        </p:txBody>
      </p:sp>
      <p:sp>
        <p:nvSpPr>
          <p:cNvPr id="5" name="Shape 2"/>
          <p:cNvSpPr/>
          <p:nvPr/>
        </p:nvSpPr>
        <p:spPr>
          <a:xfrm>
            <a:off x="548640" y="1645920"/>
            <a:ext cx="7680960" cy="3931920"/>
          </a:xfrm>
          <a:prstGeom prst="roundRect">
            <a:avLst>
              <a:gd name="adj" fmla="val 1860"/>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822960" y="1920240"/>
            <a:ext cx="822960" cy="457200"/>
          </a:xfrm>
          <a:prstGeom prst="rect">
            <a:avLst/>
          </a:prstGeom>
          <a:noFill/>
          <a:ln/>
        </p:spPr>
        <p:txBody>
          <a:bodyPr wrap="square" lIns="0" tIns="0" rIns="0" bIns="0" rtlCol="0" anchor="t"/>
          <a:lstStyle/>
          <a:p>
            <a:pPr algn="l" indent="0" marL="0">
              <a:lnSpc>
                <a:spcPct val="105000"/>
              </a:lnSpc>
              <a:buNone/>
            </a:pPr>
            <a:r>
              <a:rPr lang="en-US" sz="1800" b="1" dirty="0">
                <a:solidFill>
                  <a:schemeClr val="accent1"/>
                </a:solidFill>
              </a:rPr>
              <a:t>BP1</a:t>
            </a:r>
            <a:endParaRPr lang="en-US" sz="1800" dirty="0"/>
          </a:p>
        </p:txBody>
      </p:sp>
      <p:sp>
        <p:nvSpPr>
          <p:cNvPr id="7" name="Text 4"/>
          <p:cNvSpPr txBox="1"/>
          <p:nvPr/>
        </p:nvSpPr>
        <p:spPr>
          <a:xfrm>
            <a:off x="1691640" y="1920240"/>
            <a:ext cx="4846320" cy="457200"/>
          </a:xfrm>
          <a:prstGeom prst="rect">
            <a:avLst/>
          </a:prstGeom>
          <a:noFill/>
          <a:ln/>
        </p:spPr>
        <p:txBody>
          <a:bodyPr wrap="square" lIns="0" tIns="0" rIns="0" bIns="0" rtlCol="0" anchor="t"/>
          <a:lstStyle/>
          <a:p>
            <a:pPr algn="l" indent="0" marL="0">
              <a:lnSpc>
                <a:spcPct val="105000"/>
              </a:lnSpc>
              <a:buNone/>
            </a:pPr>
            <a:r>
              <a:rPr lang="en-US" sz="2300" dirty="0">
                <a:solidFill>
                  <a:schemeClr val="tx1"/>
                </a:solidFill>
                <a:latin typeface="Cambria Math" pitchFamily="34" charset="0"/>
                <a:ea typeface="Cambria Math" pitchFamily="34" charset="-122"/>
                <a:cs typeface="Cambria Math" pitchFamily="34" charset="-120"/>
              </a:rPr>
              <a:t>δ[L] = ∇ₐL ⊙ g′(z[L])</a:t>
            </a:r>
            <a:endParaRPr lang="en-US" sz="2300" dirty="0"/>
          </a:p>
        </p:txBody>
      </p:sp>
      <p:sp>
        <p:nvSpPr>
          <p:cNvPr id="8" name="Text 5"/>
          <p:cNvSpPr txBox="1"/>
          <p:nvPr/>
        </p:nvSpPr>
        <p:spPr>
          <a:xfrm>
            <a:off x="1691640" y="2359152"/>
            <a:ext cx="5029200" cy="32004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or a[L] − y for softmax + CE</a:t>
            </a:r>
            <a:endParaRPr lang="en-US" sz="1400" dirty="0"/>
          </a:p>
        </p:txBody>
      </p:sp>
      <p:sp>
        <p:nvSpPr>
          <p:cNvPr id="9" name="Text 6"/>
          <p:cNvSpPr txBox="1"/>
          <p:nvPr/>
        </p:nvSpPr>
        <p:spPr>
          <a:xfrm>
            <a:off x="822960" y="2816352"/>
            <a:ext cx="822960" cy="457200"/>
          </a:xfrm>
          <a:prstGeom prst="rect">
            <a:avLst/>
          </a:prstGeom>
          <a:noFill/>
          <a:ln/>
        </p:spPr>
        <p:txBody>
          <a:bodyPr wrap="square" lIns="0" tIns="0" rIns="0" bIns="0" rtlCol="0" anchor="t"/>
          <a:lstStyle/>
          <a:p>
            <a:pPr algn="l" indent="0" marL="0">
              <a:lnSpc>
                <a:spcPct val="105000"/>
              </a:lnSpc>
              <a:buNone/>
            </a:pPr>
            <a:r>
              <a:rPr lang="en-US" sz="1800" b="1" dirty="0">
                <a:solidFill>
                  <a:schemeClr val="accent1"/>
                </a:solidFill>
              </a:rPr>
              <a:t>BP2</a:t>
            </a:r>
            <a:endParaRPr lang="en-US" sz="1800" dirty="0"/>
          </a:p>
        </p:txBody>
      </p:sp>
      <p:sp>
        <p:nvSpPr>
          <p:cNvPr id="10" name="Text 7"/>
          <p:cNvSpPr txBox="1"/>
          <p:nvPr/>
        </p:nvSpPr>
        <p:spPr>
          <a:xfrm>
            <a:off x="1691640" y="2816352"/>
            <a:ext cx="4846320" cy="457200"/>
          </a:xfrm>
          <a:prstGeom prst="rect">
            <a:avLst/>
          </a:prstGeom>
          <a:noFill/>
          <a:ln/>
        </p:spPr>
        <p:txBody>
          <a:bodyPr wrap="square" lIns="0" tIns="0" rIns="0" bIns="0" rtlCol="0" anchor="t"/>
          <a:lstStyle/>
          <a:p>
            <a:pPr algn="l" indent="0" marL="0">
              <a:lnSpc>
                <a:spcPct val="105000"/>
              </a:lnSpc>
              <a:buNone/>
            </a:pPr>
            <a:r>
              <a:rPr lang="en-US" sz="2300" dirty="0">
                <a:solidFill>
                  <a:schemeClr val="tx1"/>
                </a:solidFill>
                <a:latin typeface="Cambria Math" pitchFamily="34" charset="0"/>
                <a:ea typeface="Cambria Math" pitchFamily="34" charset="-122"/>
                <a:cs typeface="Cambria Math" pitchFamily="34" charset="-120"/>
              </a:rPr>
              <a:t>δ[l] = ( W[l+1]ᵀ δ[l+1] ) ⊙ g′(z[l])</a:t>
            </a:r>
            <a:endParaRPr lang="en-US" sz="2300" dirty="0"/>
          </a:p>
        </p:txBody>
      </p:sp>
      <p:sp>
        <p:nvSpPr>
          <p:cNvPr id="11" name="Text 8"/>
          <p:cNvSpPr txBox="1"/>
          <p:nvPr/>
        </p:nvSpPr>
        <p:spPr>
          <a:xfrm>
            <a:off x="1691640" y="3255264"/>
            <a:ext cx="5029200" cy="32004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for l = L−1, …, 1</a:t>
            </a:r>
            <a:endParaRPr lang="en-US" sz="1400" dirty="0"/>
          </a:p>
        </p:txBody>
      </p:sp>
      <p:sp>
        <p:nvSpPr>
          <p:cNvPr id="12" name="Text 9"/>
          <p:cNvSpPr txBox="1"/>
          <p:nvPr/>
        </p:nvSpPr>
        <p:spPr>
          <a:xfrm>
            <a:off x="822960" y="3712464"/>
            <a:ext cx="822960" cy="457200"/>
          </a:xfrm>
          <a:prstGeom prst="rect">
            <a:avLst/>
          </a:prstGeom>
          <a:noFill/>
          <a:ln/>
        </p:spPr>
        <p:txBody>
          <a:bodyPr wrap="square" lIns="0" tIns="0" rIns="0" bIns="0" rtlCol="0" anchor="t"/>
          <a:lstStyle/>
          <a:p>
            <a:pPr algn="l" indent="0" marL="0">
              <a:lnSpc>
                <a:spcPct val="105000"/>
              </a:lnSpc>
              <a:buNone/>
            </a:pPr>
            <a:r>
              <a:rPr lang="en-US" sz="1800" b="1" dirty="0">
                <a:solidFill>
                  <a:schemeClr val="accent1"/>
                </a:solidFill>
              </a:rPr>
              <a:t>BP3</a:t>
            </a:r>
            <a:endParaRPr lang="en-US" sz="1800" dirty="0"/>
          </a:p>
        </p:txBody>
      </p:sp>
      <p:sp>
        <p:nvSpPr>
          <p:cNvPr id="13" name="Text 10"/>
          <p:cNvSpPr txBox="1"/>
          <p:nvPr/>
        </p:nvSpPr>
        <p:spPr>
          <a:xfrm>
            <a:off x="1691640" y="3712464"/>
            <a:ext cx="4846320" cy="457200"/>
          </a:xfrm>
          <a:prstGeom prst="rect">
            <a:avLst/>
          </a:prstGeom>
          <a:noFill/>
          <a:ln/>
        </p:spPr>
        <p:txBody>
          <a:bodyPr wrap="square" lIns="0" tIns="0" rIns="0" bIns="0" rtlCol="0" anchor="t"/>
          <a:lstStyle/>
          <a:p>
            <a:pPr algn="l" indent="0" marL="0">
              <a:lnSpc>
                <a:spcPct val="105000"/>
              </a:lnSpc>
              <a:buNone/>
            </a:pPr>
            <a:r>
              <a:rPr lang="en-US" sz="2300" dirty="0">
                <a:solidFill>
                  <a:schemeClr val="tx1"/>
                </a:solidFill>
                <a:latin typeface="Cambria Math" pitchFamily="34" charset="0"/>
                <a:ea typeface="Cambria Math" pitchFamily="34" charset="-122"/>
                <a:cs typeface="Cambria Math" pitchFamily="34" charset="-120"/>
              </a:rPr>
              <a:t>∂L/∂b[l] = δ[l]</a:t>
            </a:r>
            <a:endParaRPr lang="en-US" sz="2300" dirty="0"/>
          </a:p>
        </p:txBody>
      </p:sp>
      <p:sp>
        <p:nvSpPr>
          <p:cNvPr id="14" name="Text 11"/>
          <p:cNvSpPr txBox="1"/>
          <p:nvPr/>
        </p:nvSpPr>
        <p:spPr>
          <a:xfrm>
            <a:off x="822960" y="4608576"/>
            <a:ext cx="822960" cy="457200"/>
          </a:xfrm>
          <a:prstGeom prst="rect">
            <a:avLst/>
          </a:prstGeom>
          <a:noFill/>
          <a:ln/>
        </p:spPr>
        <p:txBody>
          <a:bodyPr wrap="square" lIns="0" tIns="0" rIns="0" bIns="0" rtlCol="0" anchor="t"/>
          <a:lstStyle/>
          <a:p>
            <a:pPr algn="l" indent="0" marL="0">
              <a:lnSpc>
                <a:spcPct val="105000"/>
              </a:lnSpc>
              <a:buNone/>
            </a:pPr>
            <a:r>
              <a:rPr lang="en-US" sz="1800" b="1" dirty="0">
                <a:solidFill>
                  <a:schemeClr val="accent1"/>
                </a:solidFill>
              </a:rPr>
              <a:t>BP4</a:t>
            </a:r>
            <a:endParaRPr lang="en-US" sz="1800" dirty="0"/>
          </a:p>
        </p:txBody>
      </p:sp>
      <p:sp>
        <p:nvSpPr>
          <p:cNvPr id="15" name="Text 12"/>
          <p:cNvSpPr txBox="1"/>
          <p:nvPr/>
        </p:nvSpPr>
        <p:spPr>
          <a:xfrm>
            <a:off x="1691640" y="4608576"/>
            <a:ext cx="4846320" cy="457200"/>
          </a:xfrm>
          <a:prstGeom prst="rect">
            <a:avLst/>
          </a:prstGeom>
          <a:noFill/>
          <a:ln/>
        </p:spPr>
        <p:txBody>
          <a:bodyPr wrap="square" lIns="0" tIns="0" rIns="0" bIns="0" rtlCol="0" anchor="t"/>
          <a:lstStyle/>
          <a:p>
            <a:pPr algn="l" indent="0" marL="0">
              <a:lnSpc>
                <a:spcPct val="105000"/>
              </a:lnSpc>
              <a:buNone/>
            </a:pPr>
            <a:r>
              <a:rPr lang="en-US" sz="2300" dirty="0">
                <a:solidFill>
                  <a:schemeClr val="tx1"/>
                </a:solidFill>
                <a:latin typeface="Cambria Math" pitchFamily="34" charset="0"/>
                <a:ea typeface="Cambria Math" pitchFamily="34" charset="-122"/>
                <a:cs typeface="Cambria Math" pitchFamily="34" charset="-120"/>
              </a:rPr>
              <a:t>∂L/∂W[l] = δ[l] a[l−1]ᵀ</a:t>
            </a:r>
            <a:endParaRPr lang="en-US" sz="2300" dirty="0"/>
          </a:p>
        </p:txBody>
      </p:sp>
      <p:sp>
        <p:nvSpPr>
          <p:cNvPr id="16" name="Text 13"/>
          <p:cNvSpPr txBox="1"/>
          <p:nvPr/>
        </p:nvSpPr>
        <p:spPr>
          <a:xfrm>
            <a:off x="1691640" y="5047488"/>
            <a:ext cx="5029200" cy="32004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outer product</a:t>
            </a:r>
            <a:endParaRPr lang="en-US" sz="1400" dirty="0"/>
          </a:p>
        </p:txBody>
      </p:sp>
      <p:sp>
        <p:nvSpPr>
          <p:cNvPr id="17" name="Shape 14"/>
          <p:cNvSpPr/>
          <p:nvPr/>
        </p:nvSpPr>
        <p:spPr>
          <a:xfrm>
            <a:off x="8595360" y="1645920"/>
            <a:ext cx="3044952" cy="3931920"/>
          </a:xfrm>
          <a:prstGeom prst="roundRect">
            <a:avLst>
              <a:gd name="adj" fmla="val 2402"/>
            </a:avLst>
          </a:prstGeom>
          <a:solidFill>
            <a:schemeClr val="accent2">
              <a:alpha val="12000"/>
            </a:schemeClr>
          </a:solidFill>
          <a:ln w="12700">
            <a:solidFill>
              <a:schemeClr val="accent2">
                <a:alpha val="12000"/>
              </a:schemeClr>
            </a:solidFill>
            <a:prstDash val="solid"/>
          </a:ln>
        </p:spPr>
      </p:sp>
      <p:sp>
        <p:nvSpPr>
          <p:cNvPr id="18" name="Text 15"/>
          <p:cNvSpPr txBox="1"/>
          <p:nvPr/>
        </p:nvSpPr>
        <p:spPr>
          <a:xfrm>
            <a:off x="8823960" y="1645920"/>
            <a:ext cx="2587752" cy="3931920"/>
          </a:xfrm>
          <a:prstGeom prst="rect">
            <a:avLst/>
          </a:prstGeom>
          <a:noFill/>
          <a:ln/>
        </p:spPr>
        <p:txBody>
          <a:bodyPr wrap="square" lIns="0" tIns="0" rIns="0" bIns="0" rtlCol="0" anchor="ctr"/>
          <a:lstStyle/>
          <a:p>
            <a:pPr algn="l" indent="0" marL="0">
              <a:lnSpc>
                <a:spcPct val="105000"/>
              </a:lnSpc>
              <a:buNone/>
            </a:pPr>
            <a:r>
              <a:rPr lang="en-US" sz="2200" b="1" dirty="0">
                <a:solidFill>
                  <a:schemeClr val="accent2"/>
                </a:solidFill>
              </a:rPr>
              <a:t>Cover the slide. Write all four from memory, and say why each is true.</a:t>
            </a:r>
            <a:endParaRPr lang="en-US" sz="22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In batches, one matrix product sums over the examples</a:t>
            </a:r>
            <a:endParaRPr lang="en-US" sz="3000" dirty="0"/>
          </a:p>
        </p:txBody>
      </p:sp>
      <p:sp>
        <p:nvSpPr>
          <p:cNvPr id="5" name="Shape 2"/>
          <p:cNvSpPr/>
          <p:nvPr/>
        </p:nvSpPr>
        <p:spPr>
          <a:xfrm>
            <a:off x="548640" y="1645920"/>
            <a:ext cx="6949440" cy="2111248"/>
          </a:xfrm>
          <a:prstGeom prst="roundRect">
            <a:avLst>
              <a:gd name="adj" fmla="val 3465"/>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649224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ROW CONVENTION, BATCH OF M</a:t>
            </a:r>
            <a:endParaRPr lang="en-US" sz="1200" dirty="0"/>
          </a:p>
        </p:txBody>
      </p:sp>
      <p:sp>
        <p:nvSpPr>
          <p:cNvPr id="7" name="Text 4"/>
          <p:cNvSpPr txBox="1"/>
          <p:nvPr/>
        </p:nvSpPr>
        <p:spPr>
          <a:xfrm>
            <a:off x="777240" y="2221992"/>
            <a:ext cx="6492240" cy="1343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Δ[L] = (A[L] − Y) / m</a:t>
            </a:r>
            <a:r>
              <a:rPr lang="en-US" sz="1600" dirty="0">
                <a:solidFill>
                  <a:schemeClr val="tx2"/>
                </a:solidFill>
                <a:latin typeface="Calibri" pitchFamily="34" charset="0"/>
                <a:ea typeface="Calibri" pitchFamily="34" charset="-122"/>
                <a:cs typeface="Calibri" pitchFamily="34" charset="-120"/>
              </a:rPr>
              <a:t>    softmax + CE, batch mean</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Δ[l] = ( Δ[l+1] W[l+1] ) ⊙ g′(Z[l])</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∂J/∂W[l] = Δ[l]ᵀ A[l−1]</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∂J/∂b[l] = Δ[l].sum(axis=0)</a:t>
            </a:r>
            <a:r>
              <a:rPr lang="en-US" sz="1600" dirty="0">
                <a:solidFill>
                  <a:schemeClr val="tx2"/>
                </a:solidFill>
                <a:latin typeface="Calibri" pitchFamily="34" charset="0"/>
                <a:ea typeface="Calibri" pitchFamily="34" charset="-122"/>
                <a:cs typeface="Calibri" pitchFamily="34" charset="-120"/>
              </a:rPr>
              <a:t>    sum over the batch</a:t>
            </a:r>
            <a:endParaRPr lang="en-US" sz="2000" dirty="0"/>
          </a:p>
        </p:txBody>
      </p:sp>
      <p:sp>
        <p:nvSpPr>
          <p:cNvPr id="8" name="Shape 5"/>
          <p:cNvSpPr/>
          <p:nvPr/>
        </p:nvSpPr>
        <p:spPr>
          <a:xfrm>
            <a:off x="548640" y="4206240"/>
            <a:ext cx="6949440" cy="1476248"/>
          </a:xfrm>
          <a:prstGeom prst="roundRect">
            <a:avLst>
              <a:gd name="adj" fmla="val 4955"/>
            </a:avLst>
          </a:prstGeom>
          <a:solidFill>
            <a:schemeClr val="bg2"/>
          </a:solidFill>
          <a:ln w="12700">
            <a:solidFill>
              <a:schemeClr val="bg2"/>
            </a:solidFill>
            <a:prstDash val="solid"/>
          </a:ln>
        </p:spPr>
      </p:sp>
      <p:sp>
        <p:nvSpPr>
          <p:cNvPr id="9" name="Text 6"/>
          <p:cNvSpPr txBox="1"/>
          <p:nvPr/>
        </p:nvSpPr>
        <p:spPr>
          <a:xfrm>
            <a:off x="777240" y="4352544"/>
            <a:ext cx="6492240" cy="274320"/>
          </a:xfrm>
          <a:prstGeom prst="rect">
            <a:avLst/>
          </a:prstGeom>
          <a:noFill/>
          <a:ln/>
        </p:spPr>
        <p:txBody>
          <a:bodyPr wrap="square" lIns="0" tIns="0" rIns="0" bIns="0" rtlCol="0" anchor="ctr"/>
          <a:lstStyle/>
          <a:p>
            <a:pPr indent="0" marL="0">
              <a:buNone/>
            </a:pPr>
            <a:r>
              <a:rPr lang="en-US" sz="1200" b="1" spc="120" kern="0" dirty="0">
                <a:solidFill>
                  <a:schemeClr val="tx2"/>
                </a:solidFill>
              </a:rPr>
              <a:t>SHAPE CHECK</a:t>
            </a:r>
            <a:endParaRPr lang="en-US" sz="1200" dirty="0"/>
          </a:p>
        </p:txBody>
      </p:sp>
      <p:sp>
        <p:nvSpPr>
          <p:cNvPr id="10" name="Text 7"/>
          <p:cNvSpPr txBox="1"/>
          <p:nvPr/>
        </p:nvSpPr>
        <p:spPr>
          <a:xfrm>
            <a:off x="777240" y="4782312"/>
            <a:ext cx="6492240" cy="708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Δ[l]ᵀ A[l−1]:  (n[l], m) × (m, n[l−1])</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               = (n[l], n[l−1])  ✓</a:t>
            </a:r>
            <a:endParaRPr lang="en-US" sz="2000" dirty="0"/>
          </a:p>
        </p:txBody>
      </p:sp>
      <p:sp>
        <p:nvSpPr>
          <p:cNvPr id="11" name="Shape 8"/>
          <p:cNvSpPr/>
          <p:nvPr/>
        </p:nvSpPr>
        <p:spPr>
          <a:xfrm>
            <a:off x="8165592" y="1901952"/>
            <a:ext cx="0" cy="2743200"/>
          </a:xfrm>
          <a:prstGeom prst="line">
            <a:avLst/>
          </a:prstGeom>
          <a:noFill/>
          <a:ln w="25400">
            <a:solidFill>
              <a:schemeClr val="accent1">
                <a:alpha val="50000"/>
              </a:schemeClr>
            </a:solidFill>
            <a:prstDash val="solid"/>
          </a:ln>
        </p:spPr>
      </p:sp>
      <p:sp>
        <p:nvSpPr>
          <p:cNvPr id="12" name="Shape 9"/>
          <p:cNvSpPr/>
          <p:nvPr/>
        </p:nvSpPr>
        <p:spPr>
          <a:xfrm>
            <a:off x="7955280" y="1691640"/>
            <a:ext cx="420624" cy="420624"/>
          </a:xfrm>
          <a:prstGeom prst="ellipse">
            <a:avLst/>
          </a:prstGeom>
          <a:solidFill>
            <a:schemeClr val="accent1"/>
          </a:solidFill>
          <a:ln w="25400">
            <a:solidFill>
              <a:schemeClr val="bg1"/>
            </a:solidFill>
            <a:prstDash val="solid"/>
          </a:ln>
        </p:spPr>
      </p:sp>
      <p:sp>
        <p:nvSpPr>
          <p:cNvPr id="13" name="Text 10"/>
          <p:cNvSpPr txBox="1"/>
          <p:nvPr/>
        </p:nvSpPr>
        <p:spPr>
          <a:xfrm>
            <a:off x="795528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4" name="Text 11"/>
          <p:cNvSpPr txBox="1"/>
          <p:nvPr/>
        </p:nvSpPr>
        <p:spPr>
          <a:xfrm>
            <a:off x="8604504" y="1728216"/>
            <a:ext cx="30358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Transposes move</a:t>
            </a:r>
            <a:endParaRPr lang="en-US" sz="1900" dirty="0"/>
          </a:p>
        </p:txBody>
      </p:sp>
      <p:sp>
        <p:nvSpPr>
          <p:cNvPr id="15" name="Text 12"/>
          <p:cNvSpPr txBox="1"/>
          <p:nvPr/>
        </p:nvSpPr>
        <p:spPr>
          <a:xfrm>
            <a:off x="8604504" y="2031238"/>
            <a:ext cx="303580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Examples are rows now, not columns.</a:t>
            </a:r>
            <a:endParaRPr lang="en-US" sz="1600" dirty="0"/>
          </a:p>
        </p:txBody>
      </p:sp>
      <p:sp>
        <p:nvSpPr>
          <p:cNvPr id="16" name="Shape 13"/>
          <p:cNvSpPr/>
          <p:nvPr/>
        </p:nvSpPr>
        <p:spPr>
          <a:xfrm>
            <a:off x="7955280" y="3063240"/>
            <a:ext cx="420624" cy="420624"/>
          </a:xfrm>
          <a:prstGeom prst="ellipse">
            <a:avLst/>
          </a:prstGeom>
          <a:solidFill>
            <a:schemeClr val="accent1"/>
          </a:solidFill>
          <a:ln w="25400">
            <a:solidFill>
              <a:schemeClr val="bg1"/>
            </a:solidFill>
            <a:prstDash val="solid"/>
          </a:ln>
        </p:spPr>
      </p:sp>
      <p:sp>
        <p:nvSpPr>
          <p:cNvPr id="17" name="Text 14"/>
          <p:cNvSpPr txBox="1"/>
          <p:nvPr/>
        </p:nvSpPr>
        <p:spPr>
          <a:xfrm>
            <a:off x="795528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Text 15"/>
          <p:cNvSpPr txBox="1"/>
          <p:nvPr/>
        </p:nvSpPr>
        <p:spPr>
          <a:xfrm>
            <a:off x="8604504" y="3099816"/>
            <a:ext cx="3035808" cy="569468"/>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The product sums the batch</a:t>
            </a:r>
            <a:endParaRPr lang="en-US" sz="1900" dirty="0"/>
          </a:p>
        </p:txBody>
      </p:sp>
      <p:sp>
        <p:nvSpPr>
          <p:cNvPr id="19" name="Text 16"/>
          <p:cNvSpPr txBox="1"/>
          <p:nvPr/>
        </p:nvSpPr>
        <p:spPr>
          <a:xfrm>
            <a:off x="8604504" y="3687572"/>
            <a:ext cx="3035808" cy="710692"/>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Each example’s outer product is added automatically.</a:t>
            </a:r>
            <a:endParaRPr lang="en-US" sz="1600" dirty="0"/>
          </a:p>
        </p:txBody>
      </p:sp>
      <p:sp>
        <p:nvSpPr>
          <p:cNvPr id="20" name="Shape 17"/>
          <p:cNvSpPr/>
          <p:nvPr/>
        </p:nvSpPr>
        <p:spPr>
          <a:xfrm>
            <a:off x="7955280" y="4434840"/>
            <a:ext cx="420624" cy="420624"/>
          </a:xfrm>
          <a:prstGeom prst="ellipse">
            <a:avLst/>
          </a:prstGeom>
          <a:solidFill>
            <a:schemeClr val="accent1"/>
          </a:solidFill>
          <a:ln w="25400">
            <a:solidFill>
              <a:schemeClr val="bg1"/>
            </a:solidFill>
            <a:prstDash val="solid"/>
          </a:ln>
        </p:spPr>
      </p:sp>
      <p:sp>
        <p:nvSpPr>
          <p:cNvPr id="21" name="Text 18"/>
          <p:cNvSpPr txBox="1"/>
          <p:nvPr/>
        </p:nvSpPr>
        <p:spPr>
          <a:xfrm>
            <a:off x="7955280" y="4434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 19"/>
          <p:cNvSpPr txBox="1"/>
          <p:nvPr/>
        </p:nvSpPr>
        <p:spPr>
          <a:xfrm>
            <a:off x="8604504" y="4471416"/>
            <a:ext cx="303580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Bias sums explicitly</a:t>
            </a:r>
            <a:endParaRPr lang="en-US" sz="1900" dirty="0"/>
          </a:p>
        </p:txBody>
      </p:sp>
      <p:sp>
        <p:nvSpPr>
          <p:cNvPr id="23" name="Text 20"/>
          <p:cNvSpPr txBox="1"/>
          <p:nvPr/>
        </p:nvSpPr>
        <p:spPr>
          <a:xfrm>
            <a:off x="8604504" y="4774438"/>
            <a:ext cx="303580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b was broadcast to all m rows, so it gathers from all m.</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Softmax + cross-entropy: the gradient is ŷ − y</a:t>
            </a:r>
            <a:endParaRPr lang="en-US" sz="3000" dirty="0"/>
          </a:p>
        </p:txBody>
      </p:sp>
      <p:sp>
        <p:nvSpPr>
          <p:cNvPr id="5" name="Shape 2"/>
          <p:cNvSpPr/>
          <p:nvPr/>
        </p:nvSpPr>
        <p:spPr>
          <a:xfrm>
            <a:off x="548640" y="1645920"/>
            <a:ext cx="5669280" cy="2047748"/>
          </a:xfrm>
          <a:prstGeom prst="roundRect">
            <a:avLst>
              <a:gd name="adj" fmla="val 3572"/>
            </a:avLst>
          </a:prstGeom>
          <a:solidFill>
            <a:schemeClr val="bg2"/>
          </a:solidFill>
          <a:ln w="12700">
            <a:solidFill>
              <a:schemeClr val="bg2"/>
            </a:solidFill>
            <a:prstDash val="solid"/>
          </a:ln>
        </p:spPr>
      </p:sp>
      <p:sp>
        <p:nvSpPr>
          <p:cNvPr id="6" name="Text 3"/>
          <p:cNvSpPr txBox="1"/>
          <p:nvPr/>
        </p:nvSpPr>
        <p:spPr>
          <a:xfrm>
            <a:off x="777240" y="1792224"/>
            <a:ext cx="5212080" cy="274320"/>
          </a:xfrm>
          <a:prstGeom prst="rect">
            <a:avLst/>
          </a:prstGeom>
          <a:noFill/>
          <a:ln/>
        </p:spPr>
        <p:txBody>
          <a:bodyPr wrap="square" lIns="0" tIns="0" rIns="0" bIns="0" rtlCol="0" anchor="ctr"/>
          <a:lstStyle/>
          <a:p>
            <a:pPr indent="0" marL="0">
              <a:buNone/>
            </a:pPr>
            <a:r>
              <a:rPr lang="en-US" sz="1200" b="1" spc="120" kern="0" dirty="0">
                <a:solidFill>
                  <a:schemeClr val="tx2"/>
                </a:solidFill>
              </a:rPr>
              <a:t>STEP 1 · SOFTMAX DERIVATIVE</a:t>
            </a:r>
            <a:endParaRPr lang="en-US" sz="1200" dirty="0"/>
          </a:p>
        </p:txBody>
      </p:sp>
      <p:sp>
        <p:nvSpPr>
          <p:cNvPr id="7" name="Text 4"/>
          <p:cNvSpPr txBox="1"/>
          <p:nvPr/>
        </p:nvSpPr>
        <p:spPr>
          <a:xfrm>
            <a:off x="777240" y="2221992"/>
            <a:ext cx="5212080" cy="1279652"/>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S = Σⱼ exp(zⱼ),   ŷₖ = exp(zₖ) / S</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k = i:   ∂ŷₖ/∂zₖ = ŷₖ (1 − ŷₖ)</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k ≠ i:   ∂ŷₖ/∂zᵢ = −ŷₖ ŷᵢ</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together:   ∂ŷₖ/∂zᵢ = ŷₖ (1{k=i} − ŷᵢ)</a:t>
            </a:r>
            <a:endParaRPr lang="en-US" sz="1900" dirty="0"/>
          </a:p>
        </p:txBody>
      </p:sp>
      <p:sp>
        <p:nvSpPr>
          <p:cNvPr id="8" name="Shape 5"/>
          <p:cNvSpPr/>
          <p:nvPr/>
        </p:nvSpPr>
        <p:spPr>
          <a:xfrm>
            <a:off x="548640" y="3977640"/>
            <a:ext cx="5669280" cy="1444498"/>
          </a:xfrm>
          <a:prstGeom prst="roundRect">
            <a:avLst>
              <a:gd name="adj" fmla="val 5064"/>
            </a:avLst>
          </a:prstGeom>
          <a:solidFill>
            <a:schemeClr val="bg2"/>
          </a:solidFill>
          <a:ln w="12700">
            <a:solidFill>
              <a:schemeClr val="bg2"/>
            </a:solidFill>
            <a:prstDash val="solid"/>
          </a:ln>
        </p:spPr>
      </p:sp>
      <p:sp>
        <p:nvSpPr>
          <p:cNvPr id="9" name="Text 6"/>
          <p:cNvSpPr txBox="1"/>
          <p:nvPr/>
        </p:nvSpPr>
        <p:spPr>
          <a:xfrm>
            <a:off x="777240" y="4123944"/>
            <a:ext cx="5212080" cy="274320"/>
          </a:xfrm>
          <a:prstGeom prst="rect">
            <a:avLst/>
          </a:prstGeom>
          <a:noFill/>
          <a:ln/>
        </p:spPr>
        <p:txBody>
          <a:bodyPr wrap="square" lIns="0" tIns="0" rIns="0" bIns="0" rtlCol="0" anchor="ctr"/>
          <a:lstStyle/>
          <a:p>
            <a:pPr indent="0" marL="0">
              <a:buNone/>
            </a:pPr>
            <a:r>
              <a:rPr lang="en-US" sz="1200" b="1" spc="120" kern="0" dirty="0">
                <a:solidFill>
                  <a:schemeClr val="tx2"/>
                </a:solidFill>
              </a:rPr>
              <a:t>STEP 2 · CHAIN THROUGH L = −Σ Yₖ LOG ŷₖ</a:t>
            </a:r>
            <a:endParaRPr lang="en-US" sz="1200" dirty="0"/>
          </a:p>
        </p:txBody>
      </p:sp>
      <p:sp>
        <p:nvSpPr>
          <p:cNvPr id="10" name="Text 7"/>
          <p:cNvSpPr txBox="1"/>
          <p:nvPr/>
        </p:nvSpPr>
        <p:spPr>
          <a:xfrm>
            <a:off x="777240" y="4553712"/>
            <a:ext cx="5212080" cy="676402"/>
          </a:xfrm>
          <a:prstGeom prst="rect">
            <a:avLst/>
          </a:prstGeom>
          <a:noFill/>
          <a:ln/>
        </p:spPr>
        <p:txBody>
          <a:bodyPr wrap="square" lIns="0" tIns="0" rIns="0" bIns="0" rtlCol="0" anchor="t"/>
          <a:lstStyle/>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∂L/∂zᵢ = Σₖ (−yₖ / ŷₖ) · ŷₖ (1{k=i} − ŷᵢ)</a:t>
            </a:r>
            <a:endParaRPr lang="en-US" sz="1900" dirty="0"/>
          </a:p>
          <a:p>
            <a:pPr algn="l" indent="0" marL="0">
              <a:lnSpc>
                <a:spcPct val="112000"/>
              </a:lnSpc>
              <a:buNone/>
            </a:pPr>
            <a:r>
              <a:rPr lang="en-US" sz="1900" dirty="0">
                <a:solidFill>
                  <a:schemeClr val="tx1"/>
                </a:solidFill>
                <a:latin typeface="Cambria Math" pitchFamily="34" charset="0"/>
                <a:ea typeface="Cambria Math" pitchFamily="34" charset="-122"/>
                <a:cs typeface="Cambria Math" pitchFamily="34" charset="-120"/>
              </a:rPr>
              <a:t>          = −yᵢ + ŷᵢ Σₖ yₖ  =  ŷᵢ − yᵢ</a:t>
            </a:r>
            <a:endParaRPr lang="en-US" sz="1900" dirty="0"/>
          </a:p>
        </p:txBody>
      </p:sp>
      <p:sp>
        <p:nvSpPr>
          <p:cNvPr id="11" name="Shape 8"/>
          <p:cNvSpPr/>
          <p:nvPr/>
        </p:nvSpPr>
        <p:spPr>
          <a:xfrm>
            <a:off x="6675120" y="1645920"/>
            <a:ext cx="4965192" cy="4114800"/>
          </a:xfrm>
          <a:prstGeom prst="roundRect">
            <a:avLst>
              <a:gd name="adj" fmla="val 1778"/>
            </a:avLst>
          </a:prstGeom>
          <a:solidFill>
            <a:schemeClr val="accent1">
              <a:alpha val="10000"/>
            </a:schemeClr>
          </a:solidFill>
          <a:ln w="12700">
            <a:solidFill>
              <a:schemeClr val="accent1">
                <a:alpha val="10000"/>
              </a:schemeClr>
            </a:solidFill>
            <a:prstDash val="solid"/>
          </a:ln>
        </p:spPr>
      </p:sp>
      <p:sp>
        <p:nvSpPr>
          <p:cNvPr id="12" name="Text 9"/>
          <p:cNvSpPr txBox="1"/>
          <p:nvPr/>
        </p:nvSpPr>
        <p:spPr>
          <a:xfrm>
            <a:off x="6903720" y="1828800"/>
            <a:ext cx="457200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RESULT</a:t>
            </a:r>
            <a:endParaRPr lang="en-US" sz="1200" dirty="0"/>
          </a:p>
        </p:txBody>
      </p:sp>
      <p:sp>
        <p:nvSpPr>
          <p:cNvPr id="13" name="Text 10"/>
          <p:cNvSpPr txBox="1"/>
          <p:nvPr/>
        </p:nvSpPr>
        <p:spPr>
          <a:xfrm>
            <a:off x="6903720" y="2286000"/>
            <a:ext cx="4572000" cy="914400"/>
          </a:xfrm>
          <a:prstGeom prst="rect">
            <a:avLst/>
          </a:prstGeom>
          <a:noFill/>
          <a:ln/>
        </p:spPr>
        <p:txBody>
          <a:bodyPr wrap="square" lIns="0" tIns="0" rIns="0" bIns="0" rtlCol="0" anchor="t"/>
          <a:lstStyle/>
          <a:p>
            <a:pPr algn="ctr" indent="0" marL="0">
              <a:lnSpc>
                <a:spcPct val="105000"/>
              </a:lnSpc>
              <a:buNone/>
            </a:pPr>
            <a:r>
              <a:rPr lang="en-US" sz="4000" dirty="0">
                <a:solidFill>
                  <a:schemeClr val="accent1"/>
                </a:solidFill>
                <a:latin typeface="Cambria Math" pitchFamily="34" charset="0"/>
                <a:ea typeface="Cambria Math" pitchFamily="34" charset="-122"/>
                <a:cs typeface="Cambria Math" pitchFamily="34" charset="-120"/>
              </a:rPr>
              <a:t>∂L/∂z = ŷ − y</a:t>
            </a:r>
            <a:endParaRPr lang="en-US" sz="4000" dirty="0"/>
          </a:p>
        </p:txBody>
      </p:sp>
      <p:sp>
        <p:nvSpPr>
          <p:cNvPr id="14" name="Text 11"/>
          <p:cNvSpPr txBox="1"/>
          <p:nvPr/>
        </p:nvSpPr>
        <p:spPr>
          <a:xfrm>
            <a:off x="6903720" y="3520440"/>
            <a:ext cx="4526280" cy="2011680"/>
          </a:xfrm>
          <a:prstGeom prst="rect">
            <a:avLst/>
          </a:prstGeom>
          <a:noFill/>
          <a:ln/>
        </p:spPr>
        <p:txBody>
          <a:bodyPr wrap="square" lIns="0" tIns="0" rIns="0" bIns="0" rtlCol="0" anchor="t"/>
          <a:lstStyle/>
          <a:p>
            <a:pPr algn="l" indent="0" marL="0">
              <a:lnSpc>
                <a:spcPct val="105000"/>
              </a:lnSpc>
              <a:spcAft>
                <a:spcPts val="1000"/>
              </a:spcAft>
              <a:buNone/>
            </a:pPr>
            <a:r>
              <a:rPr lang="en-US" sz="1800" dirty="0">
                <a:solidFill>
                  <a:schemeClr val="tx1"/>
                </a:solidFill>
              </a:rPr>
              <a:t>No exponentials, no division, no activation derivative.</a:t>
            </a:r>
            <a:endParaRPr lang="en-US" sz="1800" dirty="0"/>
          </a:p>
          <a:p>
            <a:pPr algn="l" indent="0" marL="0">
              <a:lnSpc>
                <a:spcPct val="105000"/>
              </a:lnSpc>
              <a:buNone/>
            </a:pPr>
            <a:r>
              <a:rPr lang="en-US" sz="1800" dirty="0">
                <a:solidFill>
                  <a:schemeClr val="tx1"/>
                </a:solidFill>
              </a:rPr>
              <a:t>This is why frameworks fuse softmax and cross-entropy: the backward pass is a subtraction.</a:t>
            </a:r>
            <a:endParaRPr lang="en-US" sz="18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Backward costs about 2× forward, and activations cost memory</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583680" cy="914400"/>
        </p:xfrm>
        <a:graphic>
          <a:graphicData uri="http://schemas.openxmlformats.org/drawingml/2006/table">
            <a:tbl>
              <a:tblPr/>
              <a:tblGrid>
                <a:gridCol w="2651760"/>
                <a:gridCol w="1828800"/>
                <a:gridCol w="2103120"/>
              </a:tblGrid>
              <a:tr h="502920">
                <a:tc>
                  <a:txBody>
                    <a:bodyPr/>
                    <a:lstStyle/>
                    <a:p>
                      <a:pPr indent="0" marL="0">
                        <a:buNone/>
                      </a:pPr>
                      <a:r>
                        <a:rPr lang="en-US" sz="1600" b="1" dirty="0">
                          <a:solidFill>
                            <a:schemeClr val="bg1"/>
                          </a:solidFill>
                        </a:rPr>
                        <a:t>Pass</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Operation</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Cost</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502920">
                <a:tc>
                  <a:txBody>
                    <a:bodyPr/>
                    <a:lstStyle/>
                    <a:p>
                      <a:pPr indent="0" marL="0">
                        <a:buNone/>
                      </a:pPr>
                      <a:r>
                        <a:rPr lang="en-US" sz="1600" dirty="0">
                          <a:solidFill>
                            <a:schemeClr val="tx1"/>
                          </a:solidFill>
                        </a:rPr>
                        <a:t>Forward</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A[l−1] W[l]ᵀ</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O(m · n[l] · n[l−1])</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02920">
                <a:tc>
                  <a:txBody>
                    <a:bodyPr/>
                    <a:lstStyle/>
                    <a:p>
                      <a:pPr indent="0" marL="0">
                        <a:buNone/>
                      </a:pPr>
                      <a:r>
                        <a:rPr lang="en-US" sz="1600" dirty="0">
                          <a:solidFill>
                            <a:schemeClr val="tx1"/>
                          </a:solidFill>
                        </a:rPr>
                        <a:t>Backward: input gradient</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Δ[l] W[l]</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O(m · n[l] · n[l−1])</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02920">
                <a:tc>
                  <a:txBody>
                    <a:bodyPr/>
                    <a:lstStyle/>
                    <a:p>
                      <a:pPr indent="0" marL="0">
                        <a:buNone/>
                      </a:pPr>
                      <a:r>
                        <a:rPr lang="en-US" sz="1600" dirty="0">
                          <a:solidFill>
                            <a:schemeClr val="tx1"/>
                          </a:solidFill>
                        </a:rPr>
                        <a:t>Backward: weight gradient</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Δ[l]ᵀ A[l−1]</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latin typeface="Cambria Math" pitchFamily="34" charset="0"/>
                          <a:ea typeface="Cambria Math" pitchFamily="34" charset="-122"/>
                          <a:cs typeface="Cambria Math" pitchFamily="34" charset="-120"/>
                        </a:rPr>
                        <a:t>O(m · n[l] · n[l−1])</a:t>
                      </a:r>
                      <a:endParaRPr lang="en-US" sz="1600" dirty="0">
                        <a:latin typeface="Cambria Math" charset="0"/>
                        <a:ea typeface="Cambria Math" charset="0"/>
                        <a:cs typeface="Cambria Math" charset="0"/>
                      </a:endParaRPr>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3840480"/>
            <a:ext cx="6583680" cy="731520"/>
          </a:xfrm>
          <a:prstGeom prst="roundRect">
            <a:avLst>
              <a:gd name="adj" fmla="val 10000"/>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777240" y="3840480"/>
            <a:ext cx="6126480" cy="731520"/>
          </a:xfrm>
          <a:prstGeom prst="rect">
            <a:avLst/>
          </a:prstGeom>
          <a:noFill/>
          <a:ln/>
        </p:spPr>
        <p:txBody>
          <a:bodyPr wrap="square" lIns="0" tIns="0" rIns="0" bIns="0" rtlCol="0" anchor="ctr"/>
          <a:lstStyle/>
          <a:p>
            <a:pPr algn="l" indent="0" marL="0">
              <a:lnSpc>
                <a:spcPct val="105000"/>
              </a:lnSpc>
              <a:buNone/>
            </a:pPr>
            <a:r>
              <a:rPr lang="en-US" sz="2000" b="1" dirty="0">
                <a:solidFill>
                  <a:schemeClr val="accent1"/>
                </a:solidFill>
              </a:rPr>
              <a:t>One training step ≈ 3 × one inference step.</a:t>
            </a:r>
            <a:endParaRPr lang="en-US" sz="2000" dirty="0"/>
          </a:p>
        </p:txBody>
      </p:sp>
      <p:sp>
        <p:nvSpPr>
          <p:cNvPr id="8" name="Shape 4"/>
          <p:cNvSpPr/>
          <p:nvPr/>
        </p:nvSpPr>
        <p:spPr>
          <a:xfrm>
            <a:off x="7781544" y="1883664"/>
            <a:ext cx="0" cy="3236976"/>
          </a:xfrm>
          <a:prstGeom prst="line">
            <a:avLst/>
          </a:prstGeom>
          <a:noFill/>
          <a:ln w="25400">
            <a:solidFill>
              <a:schemeClr val="accent1">
                <a:alpha val="50000"/>
              </a:schemeClr>
            </a:solidFill>
            <a:prstDash val="solid"/>
          </a:ln>
        </p:spPr>
      </p:sp>
      <p:sp>
        <p:nvSpPr>
          <p:cNvPr id="9" name="Shape 5"/>
          <p:cNvSpPr/>
          <p:nvPr/>
        </p:nvSpPr>
        <p:spPr>
          <a:xfrm>
            <a:off x="7589520" y="1691640"/>
            <a:ext cx="384048" cy="384048"/>
          </a:xfrm>
          <a:prstGeom prst="ellipse">
            <a:avLst/>
          </a:prstGeom>
          <a:solidFill>
            <a:schemeClr val="accent1"/>
          </a:solidFill>
          <a:ln w="25400">
            <a:solidFill>
              <a:schemeClr val="bg1"/>
            </a:solidFill>
            <a:prstDash val="solid"/>
          </a:ln>
        </p:spPr>
      </p:sp>
      <p:sp>
        <p:nvSpPr>
          <p:cNvPr id="10" name="Text 6"/>
          <p:cNvSpPr txBox="1"/>
          <p:nvPr/>
        </p:nvSpPr>
        <p:spPr>
          <a:xfrm>
            <a:off x="7589520" y="169164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 7"/>
          <p:cNvSpPr txBox="1"/>
          <p:nvPr/>
        </p:nvSpPr>
        <p:spPr>
          <a:xfrm>
            <a:off x="8202168" y="1728216"/>
            <a:ext cx="343814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Activations are stored</a:t>
            </a:r>
            <a:endParaRPr lang="en-US" sz="1700" dirty="0"/>
          </a:p>
        </p:txBody>
      </p:sp>
      <p:sp>
        <p:nvSpPr>
          <p:cNvPr id="12" name="Text 8"/>
          <p:cNvSpPr txBox="1"/>
          <p:nvPr/>
        </p:nvSpPr>
        <p:spPr>
          <a:xfrm>
            <a:off x="8202168" y="2001266"/>
            <a:ext cx="3438144" cy="73279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BP4 needs a[l−1], so memory grows with batch size.</a:t>
            </a:r>
            <a:endParaRPr lang="en-US" sz="1500" dirty="0"/>
          </a:p>
        </p:txBody>
      </p:sp>
      <p:sp>
        <p:nvSpPr>
          <p:cNvPr id="13" name="Shape 9"/>
          <p:cNvSpPr/>
          <p:nvPr/>
        </p:nvSpPr>
        <p:spPr>
          <a:xfrm>
            <a:off x="7589520" y="2770632"/>
            <a:ext cx="384048" cy="384048"/>
          </a:xfrm>
          <a:prstGeom prst="ellipse">
            <a:avLst/>
          </a:prstGeom>
          <a:solidFill>
            <a:schemeClr val="accent1"/>
          </a:solidFill>
          <a:ln w="25400">
            <a:solidFill>
              <a:schemeClr val="bg1"/>
            </a:solidFill>
            <a:prstDash val="solid"/>
          </a:ln>
        </p:spPr>
      </p:sp>
      <p:sp>
        <p:nvSpPr>
          <p:cNvPr id="14" name="Text 10"/>
          <p:cNvSpPr txBox="1"/>
          <p:nvPr/>
        </p:nvSpPr>
        <p:spPr>
          <a:xfrm>
            <a:off x="7589520" y="2770632"/>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1"/>
          <p:cNvSpPr txBox="1"/>
          <p:nvPr/>
        </p:nvSpPr>
        <p:spPr>
          <a:xfrm>
            <a:off x="8202168" y="2807208"/>
            <a:ext cx="343814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Out of memory in backward()?</a:t>
            </a:r>
            <a:endParaRPr lang="en-US" sz="1700" dirty="0"/>
          </a:p>
        </p:txBody>
      </p:sp>
      <p:sp>
        <p:nvSpPr>
          <p:cNvPr id="16" name="Text 12"/>
          <p:cNvSpPr txBox="1"/>
          <p:nvPr/>
        </p:nvSpPr>
        <p:spPr>
          <a:xfrm>
            <a:off x="8202168" y="3080258"/>
            <a:ext cx="3438144" cy="73279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Reduce the batch size first.</a:t>
            </a:r>
            <a:endParaRPr lang="en-US" sz="1500" dirty="0"/>
          </a:p>
        </p:txBody>
      </p:sp>
      <p:sp>
        <p:nvSpPr>
          <p:cNvPr id="17" name="Shape 13"/>
          <p:cNvSpPr/>
          <p:nvPr/>
        </p:nvSpPr>
        <p:spPr>
          <a:xfrm>
            <a:off x="7589520" y="3849624"/>
            <a:ext cx="384048" cy="384048"/>
          </a:xfrm>
          <a:prstGeom prst="ellipse">
            <a:avLst/>
          </a:prstGeom>
          <a:solidFill>
            <a:schemeClr val="accent1"/>
          </a:solidFill>
          <a:ln w="25400">
            <a:solidFill>
              <a:schemeClr val="bg1"/>
            </a:solidFill>
            <a:prstDash val="solid"/>
          </a:ln>
        </p:spPr>
      </p:sp>
      <p:sp>
        <p:nvSpPr>
          <p:cNvPr id="18" name="Text 14"/>
          <p:cNvSpPr txBox="1"/>
          <p:nvPr/>
        </p:nvSpPr>
        <p:spPr>
          <a:xfrm>
            <a:off x="7589520" y="384962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5"/>
          <p:cNvSpPr txBox="1"/>
          <p:nvPr/>
        </p:nvSpPr>
        <p:spPr>
          <a:xfrm>
            <a:off x="8202168" y="3886200"/>
            <a:ext cx="343814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Inference: torch.no_grad()</a:t>
            </a:r>
            <a:endParaRPr lang="en-US" sz="1700" dirty="0"/>
          </a:p>
        </p:txBody>
      </p:sp>
      <p:sp>
        <p:nvSpPr>
          <p:cNvPr id="20" name="Text 16"/>
          <p:cNvSpPr txBox="1"/>
          <p:nvPr/>
        </p:nvSpPr>
        <p:spPr>
          <a:xfrm>
            <a:off x="8202168" y="4159250"/>
            <a:ext cx="3438144" cy="73279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Nothing is stored, so memory drops sharply.</a:t>
            </a:r>
            <a:endParaRPr lang="en-US" sz="1500" dirty="0"/>
          </a:p>
        </p:txBody>
      </p:sp>
      <p:sp>
        <p:nvSpPr>
          <p:cNvPr id="21" name="Shape 17"/>
          <p:cNvSpPr/>
          <p:nvPr/>
        </p:nvSpPr>
        <p:spPr>
          <a:xfrm>
            <a:off x="7589520" y="4928616"/>
            <a:ext cx="384048" cy="384048"/>
          </a:xfrm>
          <a:prstGeom prst="ellipse">
            <a:avLst/>
          </a:prstGeom>
          <a:solidFill>
            <a:schemeClr val="accent1"/>
          </a:solidFill>
          <a:ln w="25400">
            <a:solidFill>
              <a:schemeClr val="bg1"/>
            </a:solidFill>
            <a:prstDash val="solid"/>
          </a:ln>
        </p:spPr>
      </p:sp>
      <p:sp>
        <p:nvSpPr>
          <p:cNvPr id="22" name="Text 18"/>
          <p:cNvSpPr txBox="1"/>
          <p:nvPr/>
        </p:nvSpPr>
        <p:spPr>
          <a:xfrm>
            <a:off x="7589520" y="492861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19"/>
          <p:cNvSpPr txBox="1"/>
          <p:nvPr/>
        </p:nvSpPr>
        <p:spPr>
          <a:xfrm>
            <a:off x="8202168" y="4965192"/>
            <a:ext cx="3438144" cy="254762"/>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Gradient checkpointing</a:t>
            </a:r>
            <a:endParaRPr lang="en-US" sz="1700" dirty="0"/>
          </a:p>
        </p:txBody>
      </p:sp>
      <p:sp>
        <p:nvSpPr>
          <p:cNvPr id="24" name="Text 20"/>
          <p:cNvSpPr txBox="1"/>
          <p:nvPr/>
        </p:nvSpPr>
        <p:spPr>
          <a:xfrm>
            <a:off x="8202168" y="5238242"/>
            <a:ext cx="3438144" cy="73279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Recompute some activations: ~30% more compute, far less memory.</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Verify hand-derived gradients with centred differences</a:t>
            </a:r>
            <a:endParaRPr lang="en-US" sz="3000" dirty="0"/>
          </a:p>
        </p:txBody>
      </p:sp>
      <p:sp>
        <p:nvSpPr>
          <p:cNvPr id="5" name="Shape 2"/>
          <p:cNvSpPr/>
          <p:nvPr/>
        </p:nvSpPr>
        <p:spPr>
          <a:xfrm>
            <a:off x="548640" y="1645920"/>
            <a:ext cx="6766560" cy="1476248"/>
          </a:xfrm>
          <a:prstGeom prst="roundRect">
            <a:avLst>
              <a:gd name="adj" fmla="val 4955"/>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630936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CENTRED DIFFERENCE, RELATIVE ERROR</a:t>
            </a:r>
            <a:endParaRPr lang="en-US" sz="1200" dirty="0"/>
          </a:p>
        </p:txBody>
      </p:sp>
      <p:sp>
        <p:nvSpPr>
          <p:cNvPr id="7" name="Text 4"/>
          <p:cNvSpPr txBox="1"/>
          <p:nvPr/>
        </p:nvSpPr>
        <p:spPr>
          <a:xfrm>
            <a:off x="777240" y="2221992"/>
            <a:ext cx="6309360" cy="708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∂J/∂w ≈ [ J(w + ε) − J(w − ε) ] / 2ε</a:t>
            </a:r>
            <a:r>
              <a:rPr lang="en-US" sz="1600" dirty="0">
                <a:solidFill>
                  <a:schemeClr val="tx2"/>
                </a:solidFill>
                <a:latin typeface="Calibri" pitchFamily="34" charset="0"/>
                <a:ea typeface="Calibri" pitchFamily="34" charset="-122"/>
                <a:cs typeface="Calibri" pitchFamily="34" charset="-120"/>
              </a:rPr>
              <a:t>    error O(ε²)</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rel. error = |a − n| / max(|a|, |n|, 10⁻⁸)</a:t>
            </a:r>
            <a:endParaRPr lang="en-US" sz="2000" dirty="0"/>
          </a:p>
        </p:txBody>
      </p:sp>
      <p:sp>
        <p:nvSpPr>
          <p:cNvPr id="8" name="Shape 5"/>
          <p:cNvSpPr/>
          <p:nvPr/>
        </p:nvSpPr>
        <p:spPr>
          <a:xfrm>
            <a:off x="548640" y="3429000"/>
            <a:ext cx="2148840" cy="640080"/>
          </a:xfrm>
          <a:prstGeom prst="roundRect">
            <a:avLst>
              <a:gd name="adj" fmla="val 8571"/>
            </a:avLst>
          </a:prstGeom>
          <a:solidFill>
            <a:schemeClr val="accent4">
              <a:alpha val="12000"/>
            </a:schemeClr>
          </a:solidFill>
          <a:ln w="15875">
            <a:solidFill>
              <a:schemeClr val="accent4"/>
            </a:solidFill>
            <a:prstDash val="solid"/>
          </a:ln>
        </p:spPr>
      </p:sp>
      <p:sp>
        <p:nvSpPr>
          <p:cNvPr id="9" name="Text 6"/>
          <p:cNvSpPr txBox="1"/>
          <p:nvPr/>
        </p:nvSpPr>
        <p:spPr>
          <a:xfrm>
            <a:off x="594360" y="3429000"/>
            <a:ext cx="2057400" cy="640080"/>
          </a:xfrm>
          <a:prstGeom prst="rect">
            <a:avLst/>
          </a:prstGeom>
          <a:noFill/>
          <a:ln/>
        </p:spPr>
        <p:txBody>
          <a:bodyPr wrap="square" lIns="0" tIns="0" rIns="0" bIns="0" rtlCol="0" anchor="ctr"/>
          <a:lstStyle/>
          <a:p>
            <a:pPr algn="ctr" indent="0" marL="0">
              <a:lnSpc>
                <a:spcPct val="105000"/>
              </a:lnSpc>
              <a:buNone/>
            </a:pPr>
            <a:r>
              <a:rPr lang="en-US" sz="1800" b="1" dirty="0">
                <a:solidFill>
                  <a:schemeClr val="accent4"/>
                </a:solidFill>
              </a:rPr>
              <a:t>correct</a:t>
            </a:r>
            <a:endParaRPr lang="en-US" sz="1800" dirty="0"/>
          </a:p>
        </p:txBody>
      </p:sp>
      <p:sp>
        <p:nvSpPr>
          <p:cNvPr id="10" name="Text 7"/>
          <p:cNvSpPr txBox="1"/>
          <p:nvPr/>
        </p:nvSpPr>
        <p:spPr>
          <a:xfrm>
            <a:off x="548640" y="4114800"/>
            <a:ext cx="2148840" cy="365760"/>
          </a:xfrm>
          <a:prstGeom prst="rect">
            <a:avLst/>
          </a:prstGeom>
          <a:noFill/>
          <a:ln/>
        </p:spPr>
        <p:txBody>
          <a:bodyPr wrap="square" lIns="0" tIns="0" rIns="0" bIns="0" rtlCol="0" anchor="t"/>
          <a:lstStyle/>
          <a:p>
            <a:pPr algn="ctr" indent="0" marL="0">
              <a:lnSpc>
                <a:spcPct val="105000"/>
              </a:lnSpc>
              <a:buNone/>
            </a:pPr>
            <a:r>
              <a:rPr lang="en-US" sz="1600" dirty="0">
                <a:solidFill>
                  <a:schemeClr val="tx2"/>
                </a:solidFill>
                <a:latin typeface="Cambria Math" pitchFamily="34" charset="0"/>
                <a:ea typeface="Cambria Math" pitchFamily="34" charset="-122"/>
                <a:cs typeface="Cambria Math" pitchFamily="34" charset="-120"/>
              </a:rPr>
              <a:t>&lt; 10⁻⁷</a:t>
            </a:r>
            <a:endParaRPr lang="en-US" sz="1600" dirty="0"/>
          </a:p>
        </p:txBody>
      </p:sp>
      <p:sp>
        <p:nvSpPr>
          <p:cNvPr id="11" name="Shape 8"/>
          <p:cNvSpPr/>
          <p:nvPr/>
        </p:nvSpPr>
        <p:spPr>
          <a:xfrm>
            <a:off x="2834640" y="3429000"/>
            <a:ext cx="2148840" cy="640080"/>
          </a:xfrm>
          <a:prstGeom prst="roundRect">
            <a:avLst>
              <a:gd name="adj" fmla="val 8571"/>
            </a:avLst>
          </a:prstGeom>
          <a:solidFill>
            <a:schemeClr val="accent2">
              <a:alpha val="12000"/>
            </a:schemeClr>
          </a:solidFill>
          <a:ln w="15875">
            <a:solidFill>
              <a:schemeClr val="accent2"/>
            </a:solidFill>
            <a:prstDash val="solid"/>
          </a:ln>
        </p:spPr>
      </p:sp>
      <p:sp>
        <p:nvSpPr>
          <p:cNvPr id="12" name="Text 9"/>
          <p:cNvSpPr txBox="1"/>
          <p:nvPr/>
        </p:nvSpPr>
        <p:spPr>
          <a:xfrm>
            <a:off x="2880360" y="3429000"/>
            <a:ext cx="2057400" cy="640080"/>
          </a:xfrm>
          <a:prstGeom prst="rect">
            <a:avLst/>
          </a:prstGeom>
          <a:noFill/>
          <a:ln/>
        </p:spPr>
        <p:txBody>
          <a:bodyPr wrap="square" lIns="0" tIns="0" rIns="0" bIns="0" rtlCol="0" anchor="ctr"/>
          <a:lstStyle/>
          <a:p>
            <a:pPr algn="ctr" indent="0" marL="0">
              <a:lnSpc>
                <a:spcPct val="105000"/>
              </a:lnSpc>
              <a:buNone/>
            </a:pPr>
            <a:r>
              <a:rPr lang="en-US" sz="1800" b="1" dirty="0">
                <a:solidFill>
                  <a:schemeClr val="accent2"/>
                </a:solidFill>
              </a:rPr>
              <a:t>investigate</a:t>
            </a:r>
            <a:endParaRPr lang="en-US" sz="1800" dirty="0"/>
          </a:p>
        </p:txBody>
      </p:sp>
      <p:sp>
        <p:nvSpPr>
          <p:cNvPr id="13" name="Text 10"/>
          <p:cNvSpPr txBox="1"/>
          <p:nvPr/>
        </p:nvSpPr>
        <p:spPr>
          <a:xfrm>
            <a:off x="2834640" y="4114800"/>
            <a:ext cx="2148840" cy="365760"/>
          </a:xfrm>
          <a:prstGeom prst="rect">
            <a:avLst/>
          </a:prstGeom>
          <a:noFill/>
          <a:ln/>
        </p:spPr>
        <p:txBody>
          <a:bodyPr wrap="square" lIns="0" tIns="0" rIns="0" bIns="0" rtlCol="0" anchor="t"/>
          <a:lstStyle/>
          <a:p>
            <a:pPr algn="ctr" indent="0" marL="0">
              <a:lnSpc>
                <a:spcPct val="105000"/>
              </a:lnSpc>
              <a:buNone/>
            </a:pPr>
            <a:r>
              <a:rPr lang="en-US" sz="1600" dirty="0">
                <a:solidFill>
                  <a:schemeClr val="tx2"/>
                </a:solidFill>
                <a:latin typeface="Cambria Math" pitchFamily="34" charset="0"/>
                <a:ea typeface="Cambria Math" pitchFamily="34" charset="-122"/>
                <a:cs typeface="Cambria Math" pitchFamily="34" charset="-120"/>
              </a:rPr>
              <a:t>10⁻⁷ – 10⁻⁴</a:t>
            </a:r>
            <a:endParaRPr lang="en-US" sz="1600" dirty="0"/>
          </a:p>
        </p:txBody>
      </p:sp>
      <p:sp>
        <p:nvSpPr>
          <p:cNvPr id="14" name="Shape 11"/>
          <p:cNvSpPr/>
          <p:nvPr/>
        </p:nvSpPr>
        <p:spPr>
          <a:xfrm>
            <a:off x="5120640" y="3429000"/>
            <a:ext cx="2148840" cy="640080"/>
          </a:xfrm>
          <a:prstGeom prst="roundRect">
            <a:avLst>
              <a:gd name="adj" fmla="val 8571"/>
            </a:avLst>
          </a:prstGeom>
          <a:solidFill>
            <a:schemeClr val="accent5">
              <a:alpha val="10000"/>
            </a:schemeClr>
          </a:solidFill>
          <a:ln w="15875">
            <a:solidFill>
              <a:schemeClr val="accent5"/>
            </a:solidFill>
            <a:prstDash val="solid"/>
          </a:ln>
        </p:spPr>
      </p:sp>
      <p:sp>
        <p:nvSpPr>
          <p:cNvPr id="15" name="Text 12"/>
          <p:cNvSpPr txBox="1"/>
          <p:nvPr/>
        </p:nvSpPr>
        <p:spPr>
          <a:xfrm>
            <a:off x="5166360" y="3429000"/>
            <a:ext cx="2057400" cy="640080"/>
          </a:xfrm>
          <a:prstGeom prst="rect">
            <a:avLst/>
          </a:prstGeom>
          <a:noFill/>
          <a:ln/>
        </p:spPr>
        <p:txBody>
          <a:bodyPr wrap="square" lIns="0" tIns="0" rIns="0" bIns="0" rtlCol="0" anchor="ctr"/>
          <a:lstStyle/>
          <a:p>
            <a:pPr algn="ctr" indent="0" marL="0">
              <a:lnSpc>
                <a:spcPct val="105000"/>
              </a:lnSpc>
              <a:buNone/>
            </a:pPr>
            <a:r>
              <a:rPr lang="en-US" sz="1800" b="1" dirty="0">
                <a:solidFill>
                  <a:schemeClr val="accent5"/>
                </a:solidFill>
              </a:rPr>
              <a:t>bug</a:t>
            </a:r>
            <a:endParaRPr lang="en-US" sz="1800" dirty="0"/>
          </a:p>
        </p:txBody>
      </p:sp>
      <p:sp>
        <p:nvSpPr>
          <p:cNvPr id="16" name="Text 13"/>
          <p:cNvSpPr txBox="1"/>
          <p:nvPr/>
        </p:nvSpPr>
        <p:spPr>
          <a:xfrm>
            <a:off x="5120640" y="4114800"/>
            <a:ext cx="2148840" cy="365760"/>
          </a:xfrm>
          <a:prstGeom prst="rect">
            <a:avLst/>
          </a:prstGeom>
          <a:noFill/>
          <a:ln/>
        </p:spPr>
        <p:txBody>
          <a:bodyPr wrap="square" lIns="0" tIns="0" rIns="0" bIns="0" rtlCol="0" anchor="t"/>
          <a:lstStyle/>
          <a:p>
            <a:pPr algn="ctr" indent="0" marL="0">
              <a:lnSpc>
                <a:spcPct val="105000"/>
              </a:lnSpc>
              <a:buNone/>
            </a:pPr>
            <a:r>
              <a:rPr lang="en-US" sz="1600" dirty="0">
                <a:solidFill>
                  <a:schemeClr val="tx2"/>
                </a:solidFill>
                <a:latin typeface="Cambria Math" pitchFamily="34" charset="0"/>
                <a:ea typeface="Cambria Math" pitchFamily="34" charset="-122"/>
                <a:cs typeface="Cambria Math" pitchFamily="34" charset="-120"/>
              </a:rPr>
              <a:t>&gt; 10⁻³</a:t>
            </a:r>
            <a:endParaRPr lang="en-US" sz="1600" dirty="0"/>
          </a:p>
        </p:txBody>
      </p:sp>
      <p:sp>
        <p:nvSpPr>
          <p:cNvPr id="17" name="Text 14"/>
          <p:cNvSpPr txBox="1"/>
          <p:nvPr/>
        </p:nvSpPr>
        <p:spPr>
          <a:xfrm>
            <a:off x="548640" y="4572000"/>
            <a:ext cx="6766560" cy="36576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relative error, log scale →</a:t>
            </a:r>
            <a:endParaRPr lang="en-US" sz="1400" dirty="0"/>
          </a:p>
        </p:txBody>
      </p:sp>
      <p:sp>
        <p:nvSpPr>
          <p:cNvPr id="18" name="Shape 15"/>
          <p:cNvSpPr/>
          <p:nvPr/>
        </p:nvSpPr>
        <p:spPr>
          <a:xfrm>
            <a:off x="7982712" y="1901952"/>
            <a:ext cx="0" cy="2651760"/>
          </a:xfrm>
          <a:prstGeom prst="line">
            <a:avLst/>
          </a:prstGeom>
          <a:noFill/>
          <a:ln w="25400">
            <a:solidFill>
              <a:schemeClr val="accent1">
                <a:alpha val="50000"/>
              </a:schemeClr>
            </a:solidFill>
            <a:prstDash val="solid"/>
          </a:ln>
        </p:spPr>
      </p:sp>
      <p:sp>
        <p:nvSpPr>
          <p:cNvPr id="19" name="Shape 16"/>
          <p:cNvSpPr/>
          <p:nvPr/>
        </p:nvSpPr>
        <p:spPr>
          <a:xfrm>
            <a:off x="7772400" y="1691640"/>
            <a:ext cx="420624" cy="420624"/>
          </a:xfrm>
          <a:prstGeom prst="ellipse">
            <a:avLst/>
          </a:prstGeom>
          <a:solidFill>
            <a:schemeClr val="accent1"/>
          </a:solidFill>
          <a:ln w="25400">
            <a:solidFill>
              <a:schemeClr val="bg1"/>
            </a:solidFill>
            <a:prstDash val="solid"/>
          </a:ln>
        </p:spPr>
      </p:sp>
      <p:sp>
        <p:nvSpPr>
          <p:cNvPr id="20" name="Text 17"/>
          <p:cNvSpPr txBox="1"/>
          <p:nvPr/>
        </p:nvSpPr>
        <p:spPr>
          <a:xfrm>
            <a:off x="777240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1" name="Text 18"/>
          <p:cNvSpPr txBox="1"/>
          <p:nvPr/>
        </p:nvSpPr>
        <p:spPr>
          <a:xfrm>
            <a:off x="8421624" y="1728216"/>
            <a:ext cx="321868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Use float64</a:t>
            </a:r>
            <a:endParaRPr lang="en-US" sz="1900" dirty="0"/>
          </a:p>
        </p:txBody>
      </p:sp>
      <p:sp>
        <p:nvSpPr>
          <p:cNvPr id="22" name="Text 19"/>
          <p:cNvSpPr txBox="1"/>
          <p:nvPr/>
        </p:nvSpPr>
        <p:spPr>
          <a:xfrm>
            <a:off x="8421624" y="2031238"/>
            <a:ext cx="3218688" cy="94970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float32 rounding swamps the signal.</a:t>
            </a:r>
            <a:endParaRPr lang="en-US" sz="1600" dirty="0"/>
          </a:p>
        </p:txBody>
      </p:sp>
      <p:sp>
        <p:nvSpPr>
          <p:cNvPr id="23" name="Shape 20"/>
          <p:cNvSpPr/>
          <p:nvPr/>
        </p:nvSpPr>
        <p:spPr>
          <a:xfrm>
            <a:off x="7772400" y="3017520"/>
            <a:ext cx="420624" cy="420624"/>
          </a:xfrm>
          <a:prstGeom prst="ellipse">
            <a:avLst/>
          </a:prstGeom>
          <a:solidFill>
            <a:schemeClr val="accent1"/>
          </a:solidFill>
          <a:ln w="25400">
            <a:solidFill>
              <a:schemeClr val="bg1"/>
            </a:solidFill>
            <a:prstDash val="solid"/>
          </a:ln>
        </p:spPr>
      </p:sp>
      <p:sp>
        <p:nvSpPr>
          <p:cNvPr id="24" name="Text 21"/>
          <p:cNvSpPr txBox="1"/>
          <p:nvPr/>
        </p:nvSpPr>
        <p:spPr>
          <a:xfrm>
            <a:off x="7772400" y="3017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5" name="Text 22"/>
          <p:cNvSpPr txBox="1"/>
          <p:nvPr/>
        </p:nvSpPr>
        <p:spPr>
          <a:xfrm>
            <a:off x="8421624" y="3054096"/>
            <a:ext cx="321868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Make it deterministic</a:t>
            </a:r>
            <a:endParaRPr lang="en-US" sz="1900" dirty="0"/>
          </a:p>
        </p:txBody>
      </p:sp>
      <p:sp>
        <p:nvSpPr>
          <p:cNvPr id="26" name="Text 23"/>
          <p:cNvSpPr txBox="1"/>
          <p:nvPr/>
        </p:nvSpPr>
        <p:spPr>
          <a:xfrm>
            <a:off x="8421624" y="3357118"/>
            <a:ext cx="3218688" cy="94970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Turn off dropout and other randomness.</a:t>
            </a:r>
            <a:endParaRPr lang="en-US" sz="1600" dirty="0"/>
          </a:p>
        </p:txBody>
      </p:sp>
      <p:sp>
        <p:nvSpPr>
          <p:cNvPr id="27" name="Shape 24"/>
          <p:cNvSpPr/>
          <p:nvPr/>
        </p:nvSpPr>
        <p:spPr>
          <a:xfrm>
            <a:off x="7772400" y="4343400"/>
            <a:ext cx="420624" cy="420624"/>
          </a:xfrm>
          <a:prstGeom prst="ellipse">
            <a:avLst/>
          </a:prstGeom>
          <a:solidFill>
            <a:schemeClr val="accent1"/>
          </a:solidFill>
          <a:ln w="25400">
            <a:solidFill>
              <a:schemeClr val="bg1"/>
            </a:solidFill>
            <a:prstDash val="solid"/>
          </a:ln>
        </p:spPr>
      </p:sp>
      <p:sp>
        <p:nvSpPr>
          <p:cNvPr id="28" name="Text 25"/>
          <p:cNvSpPr txBox="1"/>
          <p:nvPr/>
        </p:nvSpPr>
        <p:spPr>
          <a:xfrm>
            <a:off x="7772400" y="43434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9" name="Text 26"/>
          <p:cNvSpPr txBox="1"/>
          <p:nvPr/>
        </p:nvSpPr>
        <p:spPr>
          <a:xfrm>
            <a:off x="8421624" y="4379976"/>
            <a:ext cx="321868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Sample parameters</a:t>
            </a:r>
            <a:endParaRPr lang="en-US" sz="1900" dirty="0"/>
          </a:p>
        </p:txBody>
      </p:sp>
      <p:sp>
        <p:nvSpPr>
          <p:cNvPr id="30" name="Text 27"/>
          <p:cNvSpPr txBox="1"/>
          <p:nvPr/>
        </p:nvSpPr>
        <p:spPr>
          <a:xfrm>
            <a:off x="8421624" y="4682998"/>
            <a:ext cx="3218688" cy="94970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Each check costs two forward passes.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From scratch: the backward pass is six lines of NumPy</a:t>
            </a:r>
            <a:endParaRPr lang="en-US" sz="3000" dirty="0"/>
          </a:p>
        </p:txBody>
      </p:sp>
      <p:sp>
        <p:nvSpPr>
          <p:cNvPr id="5" name="Shape 2"/>
          <p:cNvSpPr/>
          <p:nvPr/>
        </p:nvSpPr>
        <p:spPr>
          <a:xfrm>
            <a:off x="548640" y="1645920"/>
            <a:ext cx="7315200" cy="2688336"/>
          </a:xfrm>
          <a:prstGeom prst="roundRect">
            <a:avLst>
              <a:gd name="adj" fmla="val 2721"/>
            </a:avLst>
          </a:prstGeom>
          <a:solidFill>
            <a:schemeClr val="bg2"/>
          </a:solidFill>
          <a:ln w="12700">
            <a:solidFill>
              <a:schemeClr val="bg2"/>
            </a:solidFill>
            <a:prstDash val="solid"/>
          </a:ln>
        </p:spPr>
      </p:sp>
      <p:sp>
        <p:nvSpPr>
          <p:cNvPr id="6" name="Text 3"/>
          <p:cNvSpPr txBox="1"/>
          <p:nvPr/>
        </p:nvSpPr>
        <p:spPr>
          <a:xfrm>
            <a:off x="749808" y="1819656"/>
            <a:ext cx="6912864" cy="2340864"/>
          </a:xfrm>
          <a:prstGeom prst="rect">
            <a:avLst/>
          </a:prstGeom>
          <a:noFill/>
          <a:ln/>
        </p:spPr>
        <p:txBody>
          <a:bodyPr wrap="square" lIns="0" tIns="0" rIns="0" bIns="0" rtlCol="0" anchor="t"/>
          <a:lstStyle/>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def backward(self, Y_onehot):</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m = Y_onehot.shape[0]</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D2 = (self.A2 - Y_onehot) / m           </a:t>
            </a:r>
            <a:r>
              <a:rPr lang="en-US" sz="1500" dirty="0">
                <a:solidFill>
                  <a:schemeClr val="accent1"/>
                </a:solidFill>
                <a:latin typeface="Consolas" pitchFamily="34" charset="0"/>
                <a:ea typeface="Consolas" pitchFamily="34" charset="-122"/>
                <a:cs typeface="Consolas" pitchFamily="34" charset="-120"/>
              </a:rPr>
              <a:t># BP1</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dW2 = D2.T @ self.A1                    </a:t>
            </a:r>
            <a:r>
              <a:rPr lang="en-US" sz="1500" dirty="0">
                <a:solidFill>
                  <a:schemeClr val="accent1"/>
                </a:solidFill>
                <a:latin typeface="Consolas" pitchFamily="34" charset="0"/>
                <a:ea typeface="Consolas" pitchFamily="34" charset="-122"/>
                <a:cs typeface="Consolas" pitchFamily="34" charset="-120"/>
              </a:rPr>
              <a:t># BP4</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db2 = D2.sum(axis=0)                    </a:t>
            </a:r>
            <a:r>
              <a:rPr lang="en-US" sz="1500" dirty="0">
                <a:solidFill>
                  <a:schemeClr val="accent1"/>
                </a:solidFill>
                <a:latin typeface="Consolas" pitchFamily="34" charset="0"/>
                <a:ea typeface="Consolas" pitchFamily="34" charset="-122"/>
                <a:cs typeface="Consolas" pitchFamily="34" charset="-120"/>
              </a:rPr>
              <a:t># BP3</a:t>
            </a:r>
            <a:endParaRPr lang="en-US" sz="1500" dirty="0"/>
          </a:p>
          <a:p>
            <a:pPr indent="0" marL="0">
              <a:lnSpc>
                <a:spcPct val="100000"/>
              </a:lnSpc>
              <a:buNone/>
            </a:pPr>
            <a:r>
              <a:rPr lang="en-US" sz="1500" dirty="0">
                <a:solidFill>
                  <a:srgbClr val="000000"/>
                </a:solidFill>
                <a:latin typeface="Consolas" pitchFamily="34" charset="0"/>
                <a:ea typeface="Consolas" pitchFamily="34" charset="-122"/>
                <a:cs typeface="Consolas" pitchFamily="34" charset="-120"/>
              </a:rPr>
              <a:t> </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D1 = (D2 @ self.W2) * relu_grad(self.Z1)  </a:t>
            </a:r>
            <a:r>
              <a:rPr lang="en-US" sz="1500" dirty="0">
                <a:solidFill>
                  <a:schemeClr val="accent1"/>
                </a:solidFill>
                <a:latin typeface="Consolas" pitchFamily="34" charset="0"/>
                <a:ea typeface="Consolas" pitchFamily="34" charset="-122"/>
                <a:cs typeface="Consolas" pitchFamily="34" charset="-120"/>
              </a:rPr>
              <a:t># BP2</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dW1 = D1.T @ self.X                     </a:t>
            </a:r>
            <a:r>
              <a:rPr lang="en-US" sz="1500" dirty="0">
                <a:solidFill>
                  <a:schemeClr val="accent1"/>
                </a:solidFill>
                <a:latin typeface="Consolas" pitchFamily="34" charset="0"/>
                <a:ea typeface="Consolas" pitchFamily="34" charset="-122"/>
                <a:cs typeface="Consolas" pitchFamily="34" charset="-120"/>
              </a:rPr>
              <a:t># BP4</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db1 = D1.sum(axis=0)                    </a:t>
            </a:r>
            <a:r>
              <a:rPr lang="en-US" sz="1500" dirty="0">
                <a:solidFill>
                  <a:schemeClr val="accent1"/>
                </a:solidFill>
                <a:latin typeface="Consolas" pitchFamily="34" charset="0"/>
                <a:ea typeface="Consolas" pitchFamily="34" charset="-122"/>
                <a:cs typeface="Consolas" pitchFamily="34" charset="-120"/>
              </a:rPr>
              <a:t># BP3</a:t>
            </a:r>
            <a:endParaRPr lang="en-US" sz="1500" dirty="0"/>
          </a:p>
          <a:p>
            <a:pPr indent="0" marL="0">
              <a:lnSpc>
                <a:spcPct val="100000"/>
              </a:lnSpc>
              <a:buNone/>
            </a:pPr>
            <a:r>
              <a:rPr lang="en-US" sz="1500" dirty="0">
                <a:solidFill>
                  <a:schemeClr val="tx1"/>
                </a:solidFill>
                <a:latin typeface="Consolas" pitchFamily="34" charset="0"/>
                <a:ea typeface="Consolas" pitchFamily="34" charset="-122"/>
                <a:cs typeface="Consolas" pitchFamily="34" charset="-120"/>
              </a:rPr>
              <a:t>    return dW1, db1, dW2, db2</a:t>
            </a:r>
            <a:endParaRPr lang="en-US" sz="1500" dirty="0"/>
          </a:p>
        </p:txBody>
      </p:sp>
      <p:sp>
        <p:nvSpPr>
          <p:cNvPr id="7" name="Text 4"/>
          <p:cNvSpPr txBox="1"/>
          <p:nvPr/>
        </p:nvSpPr>
        <p:spPr>
          <a:xfrm>
            <a:off x="548640" y="4572000"/>
            <a:ext cx="7315200" cy="45720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Forward caches X, Z1, A1, A2. Rows are examples, as in PyTorch.</a:t>
            </a:r>
            <a:endParaRPr lang="en-US" sz="1600" dirty="0"/>
          </a:p>
        </p:txBody>
      </p:sp>
      <p:sp>
        <p:nvSpPr>
          <p:cNvPr id="8" name="Shape 5"/>
          <p:cNvSpPr/>
          <p:nvPr/>
        </p:nvSpPr>
        <p:spPr>
          <a:xfrm>
            <a:off x="8275320" y="1645920"/>
            <a:ext cx="3364992" cy="2834640"/>
          </a:xfrm>
          <a:prstGeom prst="roundRect">
            <a:avLst>
              <a:gd name="adj" fmla="val 2581"/>
            </a:avLst>
          </a:prstGeom>
          <a:solidFill>
            <a:schemeClr val="accent1">
              <a:alpha val="10000"/>
            </a:schemeClr>
          </a:solidFill>
          <a:ln w="12700">
            <a:solidFill>
              <a:schemeClr val="accent1">
                <a:alpha val="10000"/>
              </a:schemeClr>
            </a:solidFill>
            <a:prstDash val="solid"/>
          </a:ln>
        </p:spPr>
      </p:sp>
      <p:sp>
        <p:nvSpPr>
          <p:cNvPr id="9" name="Text 6"/>
          <p:cNvSpPr txBox="1"/>
          <p:nvPr/>
        </p:nvSpPr>
        <p:spPr>
          <a:xfrm>
            <a:off x="8476488" y="1847088"/>
            <a:ext cx="296265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Trained on XOR</a:t>
            </a:r>
            <a:endParaRPr lang="en-US" sz="1900" dirty="0"/>
          </a:p>
        </p:txBody>
      </p:sp>
      <p:sp>
        <p:nvSpPr>
          <p:cNvPr id="10" name="Text 7"/>
          <p:cNvSpPr txBox="1"/>
          <p:nvPr/>
        </p:nvSpPr>
        <p:spPr>
          <a:xfrm>
            <a:off x="8476488" y="2204974"/>
            <a:ext cx="2962656" cy="2074418"/>
          </a:xfrm>
          <a:prstGeom prst="rect">
            <a:avLst/>
          </a:prstGeom>
          <a:noFill/>
          <a:ln/>
        </p:spPr>
        <p:txBody>
          <a:bodyPr wrap="square" lIns="0" tIns="0" rIns="0" bIns="0" rtlCol="0" anchor="t"/>
          <a:lstStyle/>
          <a:p>
            <a:pPr algn="l" indent="0" marL="0">
              <a:lnSpc>
                <a:spcPct val="105000"/>
              </a:lnSpc>
              <a:spcAft>
                <a:spcPts val="600"/>
              </a:spcAft>
              <a:buNone/>
            </a:pPr>
            <a:r>
              <a:rPr lang="en-US" sz="1600" dirty="0">
                <a:solidFill>
                  <a:schemeClr val="tx1"/>
                </a:solidFill>
              </a:rPr>
              <a:t>2 → 8 → 2 network, He initialization, learning rate 0.5.</a:t>
            </a:r>
            <a:endParaRPr lang="en-US" sz="1600" dirty="0"/>
          </a:p>
          <a:p>
            <a:pPr algn="l" indent="0" marL="0">
              <a:lnSpc>
                <a:spcPct val="105000"/>
              </a:lnSpc>
              <a:spcAft>
                <a:spcPts val="600"/>
              </a:spcAft>
              <a:buNone/>
            </a:pPr>
            <a:r>
              <a:rPr lang="en-US" sz="1600" dirty="0">
                <a:solidFill>
                  <a:schemeClr val="tx1"/>
                </a:solidFill>
              </a:rPr>
              <a:t>Loss falls from ≈ 0.69 = ln 2 (the two-class baseline) to near zero.</a:t>
            </a:r>
            <a:endParaRPr lang="en-US" sz="1600" dirty="0"/>
          </a:p>
          <a:p>
            <a:pPr algn="l" indent="0" marL="0">
              <a:lnSpc>
                <a:spcPct val="105000"/>
              </a:lnSpc>
              <a:buNone/>
            </a:pPr>
            <a:r>
              <a:rPr lang="en-US" sz="1600" dirty="0">
                <a:solidFill>
                  <a:schemeClr val="tx1"/>
                </a:solidFill>
              </a:rPr>
              <a:t>Predictions: [0 1 1 0].</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BACKPROPAGATION</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Four common confusions, resolved</a:t>
            </a:r>
            <a:endParaRPr lang="en-US" sz="3000" dirty="0"/>
          </a:p>
        </p:txBody>
      </p:sp>
      <p:sp>
        <p:nvSpPr>
          <p:cNvPr id="5" name="Shape 2"/>
          <p:cNvSpPr/>
          <p:nvPr/>
        </p:nvSpPr>
        <p:spPr>
          <a:xfrm>
            <a:off x="758952" y="1901952"/>
            <a:ext cx="0" cy="3236976"/>
          </a:xfrm>
          <a:prstGeom prst="line">
            <a:avLst/>
          </a:prstGeom>
          <a:noFill/>
          <a:ln w="25400">
            <a:solidFill>
              <a:schemeClr val="accent1">
                <a:alpha val="50000"/>
              </a:schemeClr>
            </a:solidFill>
            <a:prstDash val="solid"/>
          </a:ln>
        </p:spPr>
      </p:sp>
      <p:sp>
        <p:nvSpPr>
          <p:cNvPr id="6" name="Shape 3"/>
          <p:cNvSpPr/>
          <p:nvPr/>
        </p:nvSpPr>
        <p:spPr>
          <a:xfrm>
            <a:off x="548640" y="1691640"/>
            <a:ext cx="420624" cy="420624"/>
          </a:xfrm>
          <a:prstGeom prst="ellipse">
            <a:avLst/>
          </a:prstGeom>
          <a:solidFill>
            <a:schemeClr val="accent1"/>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10442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Is backprop the same as gradient descent?</a:t>
            </a:r>
            <a:endParaRPr lang="en-US" sz="1900" dirty="0"/>
          </a:p>
        </p:txBody>
      </p:sp>
      <p:sp>
        <p:nvSpPr>
          <p:cNvPr id="9" name="Text 6"/>
          <p:cNvSpPr txBox="1"/>
          <p:nvPr/>
        </p:nvSpPr>
        <p:spPr>
          <a:xfrm>
            <a:off x="1197864" y="2031238"/>
            <a:ext cx="1044244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No. Backprop computes gradients; an optimizer such as SGD or Adam decides how to use them.</a:t>
            </a:r>
            <a:endParaRPr lang="en-US" sz="1600" dirty="0"/>
          </a:p>
        </p:txBody>
      </p:sp>
      <p:sp>
        <p:nvSpPr>
          <p:cNvPr id="10" name="Shape 7"/>
          <p:cNvSpPr/>
          <p:nvPr/>
        </p:nvSpPr>
        <p:spPr>
          <a:xfrm>
            <a:off x="548640" y="2770632"/>
            <a:ext cx="420624" cy="420624"/>
          </a:xfrm>
          <a:prstGeom prst="ellipse">
            <a:avLst/>
          </a:prstGeom>
          <a:solidFill>
            <a:schemeClr val="accent1"/>
          </a:solidFill>
          <a:ln w="25400">
            <a:solidFill>
              <a:schemeClr val="bg1"/>
            </a:solidFill>
            <a:prstDash val="solid"/>
          </a:ln>
        </p:spPr>
      </p:sp>
      <p:sp>
        <p:nvSpPr>
          <p:cNvPr id="11" name="Text 8"/>
          <p:cNvSpPr txBox="1"/>
          <p:nvPr/>
        </p:nvSpPr>
        <p:spPr>
          <a:xfrm>
            <a:off x="548640" y="277063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2807208"/>
            <a:ext cx="10442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Why do we call zero_grad()?</a:t>
            </a:r>
            <a:endParaRPr lang="en-US" sz="1900" dirty="0"/>
          </a:p>
        </p:txBody>
      </p:sp>
      <p:sp>
        <p:nvSpPr>
          <p:cNvPr id="13" name="Text 10"/>
          <p:cNvSpPr txBox="1"/>
          <p:nvPr/>
        </p:nvSpPr>
        <p:spPr>
          <a:xfrm>
            <a:off x="1197864" y="3110230"/>
            <a:ext cx="1044244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PyTorch adds new gradients to .grad. Deliberate: it lets you simulate large batches.</a:t>
            </a:r>
            <a:endParaRPr lang="en-US" sz="1600" dirty="0"/>
          </a:p>
        </p:txBody>
      </p:sp>
      <p:sp>
        <p:nvSpPr>
          <p:cNvPr id="14" name="Shape 11"/>
          <p:cNvSpPr/>
          <p:nvPr/>
        </p:nvSpPr>
        <p:spPr>
          <a:xfrm>
            <a:off x="548640" y="3849624"/>
            <a:ext cx="420624" cy="420624"/>
          </a:xfrm>
          <a:prstGeom prst="ellipse">
            <a:avLst/>
          </a:prstGeom>
          <a:solidFill>
            <a:schemeClr val="accent1"/>
          </a:solidFill>
          <a:ln w="25400">
            <a:solidFill>
              <a:schemeClr val="bg1"/>
            </a:solidFill>
            <a:prstDash val="solid"/>
          </a:ln>
        </p:spPr>
      </p:sp>
      <p:sp>
        <p:nvSpPr>
          <p:cNvPr id="15" name="Text 12"/>
          <p:cNvSpPr txBox="1"/>
          <p:nvPr/>
        </p:nvSpPr>
        <p:spPr>
          <a:xfrm>
            <a:off x="548640" y="384962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3886200"/>
            <a:ext cx="10442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Why store activations?</a:t>
            </a:r>
            <a:endParaRPr lang="en-US" sz="1900" dirty="0"/>
          </a:p>
        </p:txBody>
      </p:sp>
      <p:sp>
        <p:nvSpPr>
          <p:cNvPr id="17" name="Text 14"/>
          <p:cNvSpPr txBox="1"/>
          <p:nvPr/>
        </p:nvSpPr>
        <p:spPr>
          <a:xfrm>
            <a:off x="1197864" y="4189222"/>
            <a:ext cx="1044244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BP4 needs a[l−1]. The alternative is recomputing (checkpointing).</a:t>
            </a:r>
            <a:endParaRPr lang="en-US" sz="1600" dirty="0"/>
          </a:p>
        </p:txBody>
      </p:sp>
      <p:sp>
        <p:nvSpPr>
          <p:cNvPr id="18" name="Shape 15"/>
          <p:cNvSpPr/>
          <p:nvPr/>
        </p:nvSpPr>
        <p:spPr>
          <a:xfrm>
            <a:off x="548640" y="4928616"/>
            <a:ext cx="420624" cy="420624"/>
          </a:xfrm>
          <a:prstGeom prst="ellipse">
            <a:avLst/>
          </a:prstGeom>
          <a:solidFill>
            <a:schemeClr val="accent1"/>
          </a:solidFill>
          <a:ln w="25400">
            <a:solidFill>
              <a:schemeClr val="bg1"/>
            </a:solidFill>
            <a:prstDash val="solid"/>
          </a:ln>
        </p:spPr>
      </p:sp>
      <p:sp>
        <p:nvSpPr>
          <p:cNvPr id="19" name="Text 16"/>
          <p:cNvSpPr txBox="1"/>
          <p:nvPr/>
        </p:nvSpPr>
        <p:spPr>
          <a:xfrm>
            <a:off x="548640" y="49286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1197864" y="4965192"/>
            <a:ext cx="1044244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Does it find the global minimum?</a:t>
            </a:r>
            <a:endParaRPr lang="en-US" sz="1900" dirty="0"/>
          </a:p>
        </p:txBody>
      </p:sp>
      <p:sp>
        <p:nvSpPr>
          <p:cNvPr id="21" name="Text 18"/>
          <p:cNvSpPr txBox="1"/>
          <p:nvPr/>
        </p:nvSpPr>
        <p:spPr>
          <a:xfrm>
            <a:off x="1197864" y="5268214"/>
            <a:ext cx="1044244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No. Most critical points are saddles, and reachable minima have similar loss (§7).</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backpropagation</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In the worked example, what would ∂L/∂w₁ be if w₂ were 0? Explain without recomputing.</a:t>
            </a:r>
            <a:endParaRPr lang="en-US" sz="2000" dirty="0"/>
          </a:p>
        </p:txBody>
      </p:sp>
      <p:sp>
        <p:nvSpPr>
          <p:cNvPr id="8" name="Shape 5"/>
          <p:cNvSpPr/>
          <p:nvPr/>
        </p:nvSpPr>
        <p:spPr>
          <a:xfrm>
            <a:off x="576072" y="262940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6294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665984"/>
            <a:ext cx="10241280" cy="50292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Why does BP2 use W[l+1]ᵀ and not W[l+1]?</a:t>
            </a:r>
            <a:endParaRPr lang="en-US" sz="2000" dirty="0"/>
          </a:p>
        </p:txBody>
      </p:sp>
      <p:sp>
        <p:nvSpPr>
          <p:cNvPr id="11" name="Shape 8"/>
          <p:cNvSpPr/>
          <p:nvPr/>
        </p:nvSpPr>
        <p:spPr>
          <a:xfrm>
            <a:off x="576072" y="354380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5438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5803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Three layers of 1,000 units, batch 256, float32. How much memory do the stored activations need?</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§6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backpropagation</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In the worked example, what would ∂L/∂w₁ be if w₂ were 0? Explain without recomputing.</a:t>
            </a:r>
            <a:endParaRPr lang="en-US" sz="1600" dirty="0"/>
          </a:p>
        </p:txBody>
      </p:sp>
      <p:sp>
        <p:nvSpPr>
          <p:cNvPr id="8" name="Text 5"/>
          <p:cNvSpPr txBox="1"/>
          <p:nvPr/>
        </p:nvSpPr>
        <p:spPr>
          <a:xfrm>
            <a:off x="1234440" y="1849120"/>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Zero. Layer 1’s error arrives only through w₂; if that connection carries nothing, layer 1 gets no error and cannot learn. The same mechanism underlies vanishing gradients and dead upstream units.</a:t>
            </a:r>
            <a:endParaRPr lang="en-US" sz="1600" dirty="0"/>
          </a:p>
        </p:txBody>
      </p:sp>
      <p:sp>
        <p:nvSpPr>
          <p:cNvPr id="9" name="Shape 6"/>
          <p:cNvSpPr/>
          <p:nvPr/>
        </p:nvSpPr>
        <p:spPr>
          <a:xfrm>
            <a:off x="576072" y="2703576"/>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703576"/>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703576"/>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Why does BP2 use W[l+1]ᵀ and not W[l+1]?</a:t>
            </a:r>
            <a:endParaRPr lang="en-US" sz="1600" dirty="0"/>
          </a:p>
        </p:txBody>
      </p:sp>
      <p:sp>
        <p:nvSpPr>
          <p:cNvPr id="12" name="Text 9"/>
          <p:cNvSpPr txBox="1"/>
          <p:nvPr/>
        </p:nvSpPr>
        <p:spPr>
          <a:xfrm>
            <a:off x="1234440" y="2998216"/>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Forward, W[l+1] maps n[l] → n[l+1], shape (n[l+1], n[l]). Backward maps an error of size n[l+1] to size n[l], which needs the transpose. Shape-checking alone forces it.</a:t>
            </a:r>
            <a:endParaRPr lang="en-US" sz="1600" dirty="0"/>
          </a:p>
        </p:txBody>
      </p:sp>
      <p:sp>
        <p:nvSpPr>
          <p:cNvPr id="13" name="Shape 10"/>
          <p:cNvSpPr/>
          <p:nvPr/>
        </p:nvSpPr>
        <p:spPr>
          <a:xfrm>
            <a:off x="576072" y="3852672"/>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3852672"/>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3852672"/>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Three layers of 1,000 units, batch 256, float32. How much memory do the stored activations need?</a:t>
            </a:r>
            <a:endParaRPr lang="en-US" sz="1600" dirty="0"/>
          </a:p>
        </p:txBody>
      </p:sp>
      <p:sp>
        <p:nvSpPr>
          <p:cNvPr id="16" name="Text 13"/>
          <p:cNvSpPr txBox="1"/>
          <p:nvPr/>
        </p:nvSpPr>
        <p:spPr>
          <a:xfrm>
            <a:off x="1234440" y="4147312"/>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3 × 1,000 × 256 × 4 bytes ≈ 3.1 MB, plus as much again if pre-activations are cached. Small here; for a ResNet-50 on 224 × 224 images it is gigabytes — so reduce batch size first on an OOM.</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7</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Gradient descent</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Backprop gives the direction. Gradient descent decides how far to step, and how often.</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§7</a:t>
            </a:r>
            <a:endParaRPr lang="en-US" sz="15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GRADIENT DESCENT</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Step against the gradient, but only a small way</a:t>
            </a:r>
            <a:endParaRPr lang="en-US" sz="3000" dirty="0"/>
          </a:p>
        </p:txBody>
      </p:sp>
      <p:sp>
        <p:nvSpPr>
          <p:cNvPr id="5" name="Shape 2"/>
          <p:cNvSpPr/>
          <p:nvPr/>
        </p:nvSpPr>
        <p:spPr>
          <a:xfrm>
            <a:off x="548640" y="1645920"/>
            <a:ext cx="6035040" cy="1253998"/>
          </a:xfrm>
          <a:prstGeom prst="roundRect">
            <a:avLst>
              <a:gd name="adj" fmla="val 5834"/>
            </a:avLst>
          </a:prstGeom>
          <a:solidFill>
            <a:schemeClr val="accent1">
              <a:alpha val="10000"/>
            </a:schemeClr>
          </a:solidFill>
          <a:ln w="12700">
            <a:solidFill>
              <a:schemeClr val="accent1">
                <a:alpha val="10000"/>
              </a:schemeClr>
            </a:solidFill>
            <a:prstDash val="solid"/>
          </a:ln>
        </p:spPr>
      </p:sp>
      <p:sp>
        <p:nvSpPr>
          <p:cNvPr id="6" name="Text 3"/>
          <p:cNvSpPr txBox="1"/>
          <p:nvPr/>
        </p:nvSpPr>
        <p:spPr>
          <a:xfrm>
            <a:off x="777240" y="1792224"/>
            <a:ext cx="5577840"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GRADIENT DESCENT</a:t>
            </a:r>
            <a:endParaRPr lang="en-US" sz="1200" dirty="0"/>
          </a:p>
        </p:txBody>
      </p:sp>
      <p:sp>
        <p:nvSpPr>
          <p:cNvPr id="7" name="Text 4"/>
          <p:cNvSpPr txBox="1"/>
          <p:nvPr/>
        </p:nvSpPr>
        <p:spPr>
          <a:xfrm>
            <a:off x="777240" y="2221992"/>
            <a:ext cx="5577840" cy="485902"/>
          </a:xfrm>
          <a:prstGeom prst="rect">
            <a:avLst/>
          </a:prstGeom>
          <a:noFill/>
          <a:ln/>
        </p:spPr>
        <p:txBody>
          <a:bodyPr wrap="square" lIns="0" tIns="0" rIns="0" bIns="0" rtlCol="0" anchor="t"/>
          <a:lstStyle/>
          <a:p>
            <a:pPr algn="l" indent="0" marL="0">
              <a:lnSpc>
                <a:spcPct val="112000"/>
              </a:lnSpc>
              <a:buNone/>
            </a:pPr>
            <a:r>
              <a:rPr lang="en-US" sz="2600" dirty="0">
                <a:solidFill>
                  <a:schemeClr val="tx1"/>
                </a:solidFill>
                <a:latin typeface="Cambria Math" pitchFamily="34" charset="0"/>
                <a:ea typeface="Cambria Math" pitchFamily="34" charset="-122"/>
                <a:cs typeface="Cambria Math" pitchFamily="34" charset="-120"/>
              </a:rPr>
              <a:t>θ ← θ − η · ∂J/∂θ</a:t>
            </a:r>
            <a:endParaRPr lang="en-US" sz="2600" dirty="0"/>
          </a:p>
        </p:txBody>
      </p:sp>
      <p:sp>
        <p:nvSpPr>
          <p:cNvPr id="8" name="Shape 5"/>
          <p:cNvSpPr/>
          <p:nvPr/>
        </p:nvSpPr>
        <p:spPr>
          <a:xfrm>
            <a:off x="548640" y="3017520"/>
            <a:ext cx="6035040" cy="1793748"/>
          </a:xfrm>
          <a:prstGeom prst="roundRect">
            <a:avLst>
              <a:gd name="adj" fmla="val 4078"/>
            </a:avLst>
          </a:prstGeom>
          <a:solidFill>
            <a:schemeClr val="bg2"/>
          </a:solidFill>
          <a:ln w="12700">
            <a:solidFill>
              <a:schemeClr val="bg2"/>
            </a:solidFill>
            <a:prstDash val="solid"/>
          </a:ln>
        </p:spPr>
      </p:sp>
      <p:sp>
        <p:nvSpPr>
          <p:cNvPr id="9" name="Text 6"/>
          <p:cNvSpPr txBox="1"/>
          <p:nvPr/>
        </p:nvSpPr>
        <p:spPr>
          <a:xfrm>
            <a:off x="777240" y="3163824"/>
            <a:ext cx="5577840" cy="274320"/>
          </a:xfrm>
          <a:prstGeom prst="rect">
            <a:avLst/>
          </a:prstGeom>
          <a:noFill/>
          <a:ln/>
        </p:spPr>
        <p:txBody>
          <a:bodyPr wrap="square" lIns="0" tIns="0" rIns="0" bIns="0" rtlCol="0" anchor="ctr"/>
          <a:lstStyle/>
          <a:p>
            <a:pPr indent="0" marL="0">
              <a:buNone/>
            </a:pPr>
            <a:r>
              <a:rPr lang="en-US" sz="1200" b="1" spc="120" kern="0" dirty="0">
                <a:solidFill>
                  <a:schemeClr val="tx2"/>
                </a:solidFill>
              </a:rPr>
              <a:t>FIRST-ORDER TAYLOR ARGUMENT</a:t>
            </a:r>
            <a:endParaRPr lang="en-US" sz="1200" dirty="0"/>
          </a:p>
        </p:txBody>
      </p:sp>
      <p:sp>
        <p:nvSpPr>
          <p:cNvPr id="10" name="Text 7"/>
          <p:cNvSpPr txBox="1"/>
          <p:nvPr/>
        </p:nvSpPr>
        <p:spPr>
          <a:xfrm>
            <a:off x="777240" y="3593592"/>
            <a:ext cx="5577840" cy="10256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J(θ + Δθ) ≈ J(θ) + ∇J(θ)ᵀ Δθ</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∇Jᵀ Δθ = ‖∇J‖ ‖Δθ‖ cos α</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most negative at α = π:   Δθ = −η ∇J</a:t>
            </a:r>
            <a:endParaRPr lang="en-US" sz="2000" dirty="0"/>
          </a:p>
        </p:txBody>
      </p:sp>
      <p:sp>
        <p:nvSpPr>
          <p:cNvPr id="11" name="Text 8"/>
          <p:cNvSpPr txBox="1"/>
          <p:nvPr/>
        </p:nvSpPr>
        <p:spPr>
          <a:xfrm>
            <a:off x="548640" y="5074920"/>
            <a:ext cx="6035040" cy="914400"/>
          </a:xfrm>
          <a:prstGeom prst="rect">
            <a:avLst/>
          </a:prstGeom>
          <a:noFill/>
          <a:ln/>
        </p:spPr>
        <p:txBody>
          <a:bodyPr wrap="square" lIns="0" tIns="0" rIns="0" bIns="0" rtlCol="0" anchor="t"/>
          <a:lstStyle/>
          <a:p>
            <a:pPr algn="l" indent="0" marL="0">
              <a:lnSpc>
                <a:spcPct val="105000"/>
              </a:lnSpc>
              <a:buNone/>
            </a:pPr>
            <a:r>
              <a:rPr lang="en-US" sz="1600" b="1" dirty="0">
                <a:solidFill>
                  <a:schemeClr val="tx1"/>
                </a:solidFill>
              </a:rPr>
              <a:t>Only for small steps:</a:t>
            </a:r>
            <a:r>
              <a:rPr lang="en-US" sz="1600" dirty="0">
                <a:solidFill>
                  <a:schemeClr val="tx1"/>
                </a:solidFill>
              </a:rPr>
              <a:t> the expansion is local. </a:t>
            </a:r>
            <a:r>
              <a:rPr lang="en-US" sz="1600" b="1" dirty="0">
                <a:solidFill>
                  <a:schemeClr val="tx1"/>
                </a:solidFill>
              </a:rPr>
              <a:t>Only in the Euclidean norm:</a:t>
            </a:r>
            <a:r>
              <a:rPr lang="en-US" sz="1600" dirty="0">
                <a:solidFill>
                  <a:schemeClr val="tx1"/>
                </a:solidFill>
              </a:rPr>
              <a:t> other norms give other rules (Adam, §10).</a:t>
            </a:r>
            <a:endParaRPr lang="en-US" sz="1600" dirty="0"/>
          </a:p>
        </p:txBody>
      </p:sp>
      <p:sp>
        <p:nvSpPr>
          <p:cNvPr id="12" name="Shape 9"/>
          <p:cNvSpPr/>
          <p:nvPr/>
        </p:nvSpPr>
        <p:spPr>
          <a:xfrm>
            <a:off x="6720840" y="1965960"/>
            <a:ext cx="4754880" cy="3657600"/>
          </a:xfrm>
          <a:prstGeom prst="ellipse">
            <a:avLst/>
          </a:prstGeom>
          <a:solidFill>
            <a:schemeClr val="accent1">
              <a:alpha val="8000"/>
            </a:schemeClr>
          </a:solidFill>
          <a:ln w="12700">
            <a:solidFill>
              <a:schemeClr val="accent1">
                <a:alpha val="60000"/>
              </a:schemeClr>
            </a:solidFill>
            <a:prstDash val="solid"/>
          </a:ln>
        </p:spPr>
      </p:sp>
      <p:sp>
        <p:nvSpPr>
          <p:cNvPr id="13" name="Shape 10"/>
          <p:cNvSpPr/>
          <p:nvPr/>
        </p:nvSpPr>
        <p:spPr>
          <a:xfrm>
            <a:off x="7315200" y="2423160"/>
            <a:ext cx="3566160" cy="2743200"/>
          </a:xfrm>
          <a:prstGeom prst="ellipse">
            <a:avLst/>
          </a:prstGeom>
          <a:solidFill>
            <a:schemeClr val="accent1">
              <a:alpha val="10000"/>
            </a:schemeClr>
          </a:solidFill>
          <a:ln w="12700">
            <a:solidFill>
              <a:schemeClr val="accent1">
                <a:alpha val="60000"/>
              </a:schemeClr>
            </a:solidFill>
            <a:prstDash val="solid"/>
          </a:ln>
        </p:spPr>
      </p:sp>
      <p:sp>
        <p:nvSpPr>
          <p:cNvPr id="14" name="Shape 11"/>
          <p:cNvSpPr/>
          <p:nvPr/>
        </p:nvSpPr>
        <p:spPr>
          <a:xfrm>
            <a:off x="7850124" y="2834640"/>
            <a:ext cx="2496312" cy="1920240"/>
          </a:xfrm>
          <a:prstGeom prst="ellipse">
            <a:avLst/>
          </a:prstGeom>
          <a:solidFill>
            <a:schemeClr val="accent1">
              <a:alpha val="12000"/>
            </a:schemeClr>
          </a:solidFill>
          <a:ln w="12700">
            <a:solidFill>
              <a:schemeClr val="accent1">
                <a:alpha val="60000"/>
              </a:schemeClr>
            </a:solidFill>
            <a:prstDash val="solid"/>
          </a:ln>
        </p:spPr>
      </p:sp>
      <p:sp>
        <p:nvSpPr>
          <p:cNvPr id="15" name="Shape 12"/>
          <p:cNvSpPr/>
          <p:nvPr/>
        </p:nvSpPr>
        <p:spPr>
          <a:xfrm>
            <a:off x="8361274" y="3227832"/>
            <a:ext cx="1474013" cy="1133856"/>
          </a:xfrm>
          <a:prstGeom prst="ellipse">
            <a:avLst/>
          </a:prstGeom>
          <a:solidFill>
            <a:schemeClr val="accent1">
              <a:alpha val="14000"/>
            </a:schemeClr>
          </a:solidFill>
          <a:ln w="12700">
            <a:solidFill>
              <a:schemeClr val="accent1">
                <a:alpha val="60000"/>
              </a:schemeClr>
            </a:solidFill>
            <a:prstDash val="solid"/>
          </a:ln>
        </p:spPr>
      </p:sp>
      <p:sp>
        <p:nvSpPr>
          <p:cNvPr id="16" name="Shape 13"/>
          <p:cNvSpPr/>
          <p:nvPr/>
        </p:nvSpPr>
        <p:spPr>
          <a:xfrm>
            <a:off x="8801100" y="3566160"/>
            <a:ext cx="594360" cy="457200"/>
          </a:xfrm>
          <a:prstGeom prst="ellipse">
            <a:avLst/>
          </a:prstGeom>
          <a:solidFill>
            <a:schemeClr val="accent1">
              <a:alpha val="16000"/>
            </a:schemeClr>
          </a:solidFill>
          <a:ln w="12700">
            <a:solidFill>
              <a:schemeClr val="accent1">
                <a:alpha val="60000"/>
              </a:schemeClr>
            </a:solidFill>
            <a:prstDash val="solid"/>
          </a:ln>
        </p:spPr>
      </p:sp>
      <p:sp>
        <p:nvSpPr>
          <p:cNvPr id="17" name="Shape 14"/>
          <p:cNvSpPr/>
          <p:nvPr/>
        </p:nvSpPr>
        <p:spPr>
          <a:xfrm>
            <a:off x="9034272" y="3730752"/>
            <a:ext cx="128016" cy="128016"/>
          </a:xfrm>
          <a:prstGeom prst="ellipse">
            <a:avLst/>
          </a:prstGeom>
          <a:solidFill>
            <a:schemeClr val="tx1"/>
          </a:solidFill>
          <a:ln w="19050">
            <a:solidFill>
              <a:schemeClr val="tx1"/>
            </a:solidFill>
            <a:prstDash val="solid"/>
          </a:ln>
        </p:spPr>
      </p:sp>
      <p:sp>
        <p:nvSpPr>
          <p:cNvPr id="18" name="Shape 15"/>
          <p:cNvSpPr/>
          <p:nvPr/>
        </p:nvSpPr>
        <p:spPr>
          <a:xfrm>
            <a:off x="10320644" y="2777528"/>
            <a:ext cx="164592" cy="164592"/>
          </a:xfrm>
          <a:prstGeom prst="ellipse">
            <a:avLst/>
          </a:prstGeom>
          <a:solidFill>
            <a:schemeClr val="tx1"/>
          </a:solidFill>
          <a:ln w="19050">
            <a:solidFill>
              <a:schemeClr val="tx1"/>
            </a:solidFill>
            <a:prstDash val="solid"/>
          </a:ln>
        </p:spPr>
      </p:sp>
      <p:sp>
        <p:nvSpPr>
          <p:cNvPr id="19" name="Shape 16"/>
          <p:cNvSpPr/>
          <p:nvPr/>
        </p:nvSpPr>
        <p:spPr>
          <a:xfrm flipV="1">
            <a:off x="10402940" y="2174024"/>
            <a:ext cx="548640" cy="685800"/>
          </a:xfrm>
          <a:prstGeom prst="line">
            <a:avLst/>
          </a:prstGeom>
          <a:noFill/>
          <a:ln w="38100">
            <a:solidFill>
              <a:srgbClr val="D45D27"/>
            </a:solidFill>
            <a:prstDash val="solid"/>
            <a:tailEnd type="triangle"/>
          </a:ln>
        </p:spPr>
      </p:sp>
      <p:sp>
        <p:nvSpPr>
          <p:cNvPr id="20" name="Text 17"/>
          <p:cNvSpPr txBox="1"/>
          <p:nvPr/>
        </p:nvSpPr>
        <p:spPr>
          <a:xfrm>
            <a:off x="9900020" y="1716824"/>
            <a:ext cx="1463040" cy="365760"/>
          </a:xfrm>
          <a:prstGeom prst="rect">
            <a:avLst/>
          </a:prstGeom>
          <a:noFill/>
          <a:ln/>
        </p:spPr>
        <p:txBody>
          <a:bodyPr wrap="square" lIns="0" tIns="0" rIns="0" bIns="0" rtlCol="0" anchor="t"/>
          <a:lstStyle/>
          <a:p>
            <a:pPr algn="l" indent="0" marL="0">
              <a:lnSpc>
                <a:spcPct val="105000"/>
              </a:lnSpc>
              <a:buNone/>
            </a:pPr>
            <a:r>
              <a:rPr lang="en-US" sz="1600" b="1" dirty="0">
                <a:solidFill>
                  <a:schemeClr val="accent2"/>
                </a:solidFill>
                <a:latin typeface="Cambria Math" pitchFamily="34" charset="0"/>
                <a:ea typeface="Cambria Math" pitchFamily="34" charset="-122"/>
                <a:cs typeface="Cambria Math" pitchFamily="34" charset="-120"/>
              </a:rPr>
              <a:t>∇J (uphill)</a:t>
            </a:r>
            <a:endParaRPr lang="en-US" sz="1600" dirty="0"/>
          </a:p>
        </p:txBody>
      </p:sp>
      <p:sp>
        <p:nvSpPr>
          <p:cNvPr id="21" name="Shape 18"/>
          <p:cNvSpPr/>
          <p:nvPr/>
        </p:nvSpPr>
        <p:spPr>
          <a:xfrm flipH="1">
            <a:off x="9945740" y="2859824"/>
            <a:ext cx="457200" cy="576072"/>
          </a:xfrm>
          <a:prstGeom prst="line">
            <a:avLst/>
          </a:prstGeom>
          <a:noFill/>
          <a:ln w="38100">
            <a:solidFill>
              <a:srgbClr val="0F7B78"/>
            </a:solidFill>
            <a:prstDash val="solid"/>
            <a:tailEnd type="triangle"/>
          </a:ln>
        </p:spPr>
      </p:sp>
      <p:sp>
        <p:nvSpPr>
          <p:cNvPr id="22" name="Text 19"/>
          <p:cNvSpPr txBox="1"/>
          <p:nvPr/>
        </p:nvSpPr>
        <p:spPr>
          <a:xfrm>
            <a:off x="9077060" y="3225584"/>
            <a:ext cx="914400" cy="365760"/>
          </a:xfrm>
          <a:prstGeom prst="rect">
            <a:avLst/>
          </a:prstGeom>
          <a:noFill/>
          <a:ln/>
        </p:spPr>
        <p:txBody>
          <a:bodyPr wrap="square" lIns="0" tIns="0" rIns="0" bIns="0" rtlCol="0" anchor="t"/>
          <a:lstStyle/>
          <a:p>
            <a:pPr algn="l" indent="0" marL="0">
              <a:lnSpc>
                <a:spcPct val="105000"/>
              </a:lnSpc>
              <a:buNone/>
            </a:pPr>
            <a:r>
              <a:rPr lang="en-US" sz="1600" b="1" dirty="0">
                <a:solidFill>
                  <a:schemeClr val="accent1"/>
                </a:solidFill>
                <a:latin typeface="Cambria Math" pitchFamily="34" charset="0"/>
                <a:ea typeface="Cambria Math" pitchFamily="34" charset="-122"/>
                <a:cs typeface="Cambria Math" pitchFamily="34" charset="-120"/>
              </a:rPr>
              <a:t>−η∇J</a:t>
            </a:r>
            <a:endParaRPr lang="en-US" sz="1600" dirty="0"/>
          </a:p>
        </p:txBody>
      </p:sp>
      <p:sp>
        <p:nvSpPr>
          <p:cNvPr id="23" name="Text 20"/>
          <p:cNvSpPr txBox="1"/>
          <p:nvPr/>
        </p:nvSpPr>
        <p:spPr>
          <a:xfrm>
            <a:off x="6812280" y="5806440"/>
            <a:ext cx="4572000" cy="365760"/>
          </a:xfrm>
          <a:prstGeom prst="rect">
            <a:avLst/>
          </a:prstGeom>
          <a:noFill/>
          <a:ln/>
        </p:spPr>
        <p:txBody>
          <a:bodyPr wrap="square" lIns="0" tIns="0" rIns="0" bIns="0" rtlCol="0" anchor="t"/>
          <a:lstStyle/>
          <a:p>
            <a:pPr algn="ctr" indent="0" marL="0">
              <a:lnSpc>
                <a:spcPct val="105000"/>
              </a:lnSpc>
              <a:buNone/>
            </a:pPr>
            <a:r>
              <a:rPr lang="en-US" sz="1400" dirty="0">
                <a:solidFill>
                  <a:schemeClr val="tx2"/>
                </a:solidFill>
              </a:rPr>
              <a:t>Contours of J. The gradient is perpendicular to them.</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GRADIENT DESCENT</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Mini-batches: good gradients at a fraction of the cost</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914400"/>
        </p:xfrm>
        <a:graphic>
          <a:graphicData uri="http://schemas.openxmlformats.org/drawingml/2006/table">
            <a:tbl>
              <a:tblPr/>
              <a:tblGrid>
                <a:gridCol w="2286000"/>
                <a:gridCol w="1463040"/>
                <a:gridCol w="1737360"/>
                <a:gridCol w="1463040"/>
              </a:tblGrid>
              <a:tr h="475488">
                <a:tc>
                  <a:txBody>
                    <a:bodyPr/>
                    <a:lstStyle/>
                    <a:p>
                      <a:pPr indent="0" marL="0">
                        <a:buNone/>
                      </a:pP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Batch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Mini-batch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SGD</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75488">
                <a:tc>
                  <a:txBody>
                    <a:bodyPr/>
                    <a:lstStyle/>
                    <a:p>
                      <a:pPr indent="0" marL="0">
                        <a:buNone/>
                      </a:pPr>
                      <a:r>
                        <a:rPr lang="en-US" sz="1700" dirty="0">
                          <a:solidFill>
                            <a:schemeClr val="tx1"/>
                          </a:solidFill>
                        </a:rPr>
                        <a:t>Examples per step</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32–512</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1</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75488">
                <a:tc>
                  <a:txBody>
                    <a:bodyPr/>
                    <a:lstStyle/>
                    <a:p>
                      <a:pPr indent="0" marL="0">
                        <a:buNone/>
                      </a:pPr>
                      <a:r>
                        <a:rPr lang="en-US" sz="1700" dirty="0">
                          <a:solidFill>
                            <a:schemeClr val="tx1"/>
                          </a:solidFill>
                        </a:rPr>
                        <a:t>Gradient quality</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exact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good estimate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noisy</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75488">
                <a:tc>
                  <a:txBody>
                    <a:bodyPr/>
                    <a:lstStyle/>
                    <a:p>
                      <a:pPr indent="0" marL="0">
                        <a:buNone/>
                      </a:pPr>
                      <a:r>
                        <a:rPr lang="en-US" sz="1700" dirty="0">
                          <a:solidFill>
                            <a:schemeClr val="tx1"/>
                          </a:solidFill>
                        </a:rPr>
                        <a:t>Steps per epoch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1</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N / m</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75488">
                <a:tc>
                  <a:txBody>
                    <a:bodyPr/>
                    <a:lstStyle/>
                    <a:p>
                      <a:pPr indent="0" marL="0">
                        <a:buNone/>
                      </a:pPr>
                      <a:r>
                        <a:rPr lang="en-US" sz="1700" dirty="0">
                          <a:solidFill>
                            <a:schemeClr val="tx1"/>
                          </a:solidFill>
                        </a:rPr>
                        <a:t>Hardware use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good</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excellent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poor</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75488">
                <a:tc>
                  <a:txBody>
                    <a:bodyPr/>
                    <a:lstStyle/>
                    <a:p>
                      <a:pPr indent="0" marL="0">
                        <a:buNone/>
                      </a:pPr>
                      <a:r>
                        <a:rPr lang="en-US" sz="1700" dirty="0">
                          <a:solidFill>
                            <a:schemeClr val="tx1"/>
                          </a:solidFill>
                        </a:rPr>
                        <a:t>Verdict</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too slow</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use this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too noisy</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bl>
          </a:graphicData>
        </a:graphic>
      </p:graphicFrame>
      <p:sp>
        <p:nvSpPr>
          <p:cNvPr id="6" name="Shape 2"/>
          <p:cNvSpPr/>
          <p:nvPr/>
        </p:nvSpPr>
        <p:spPr>
          <a:xfrm>
            <a:off x="7955280" y="1645920"/>
            <a:ext cx="3685032" cy="2103120"/>
          </a:xfrm>
          <a:prstGeom prst="roundRect">
            <a:avLst>
              <a:gd name="adj" fmla="val 3478"/>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8138160" y="1783080"/>
            <a:ext cx="3383280" cy="731520"/>
          </a:xfrm>
          <a:prstGeom prst="rect">
            <a:avLst/>
          </a:prstGeom>
          <a:noFill/>
          <a:ln/>
        </p:spPr>
        <p:txBody>
          <a:bodyPr wrap="square" lIns="0" tIns="0" rIns="0" bIns="0" rtlCol="0" anchor="t"/>
          <a:lstStyle/>
          <a:p>
            <a:pPr algn="l" indent="0" marL="0">
              <a:lnSpc>
                <a:spcPct val="105000"/>
              </a:lnSpc>
              <a:buNone/>
            </a:pPr>
            <a:r>
              <a:rPr lang="en-US" sz="3200" b="1" dirty="0">
                <a:solidFill>
                  <a:schemeClr val="accent1"/>
                </a:solidFill>
              </a:rPr>
              <a:t>noise ∝ 1/√m</a:t>
            </a:r>
            <a:endParaRPr lang="en-US" sz="3200" dirty="0"/>
          </a:p>
        </p:txBody>
      </p:sp>
      <p:sp>
        <p:nvSpPr>
          <p:cNvPr id="8" name="Text 4"/>
          <p:cNvSpPr txBox="1"/>
          <p:nvPr/>
        </p:nvSpPr>
        <p:spPr>
          <a:xfrm>
            <a:off x="8138160" y="2651760"/>
            <a:ext cx="3383280" cy="822960"/>
          </a:xfrm>
          <a:prstGeom prst="rect">
            <a:avLst/>
          </a:prstGeom>
          <a:noFill/>
          <a:ln/>
        </p:spPr>
        <p:txBody>
          <a:bodyPr wrap="square" lIns="0" tIns="0" rIns="0" bIns="0" rtlCol="0" anchor="t"/>
          <a:lstStyle/>
          <a:p>
            <a:pPr algn="l" indent="0" marL="0">
              <a:lnSpc>
                <a:spcPct val="105000"/>
              </a:lnSpc>
              <a:buNone/>
            </a:pPr>
            <a:r>
              <a:rPr lang="en-US" sz="1700" dirty="0">
                <a:solidFill>
                  <a:schemeClr val="tx1"/>
                </a:solidFill>
              </a:rPr>
              <a:t>100× the compute buys only 10× less noise.</a:t>
            </a:r>
            <a:endParaRPr lang="en-US" sz="1700" dirty="0"/>
          </a:p>
        </p:txBody>
      </p:sp>
      <p:sp>
        <p:nvSpPr>
          <p:cNvPr id="9" name="Shape 5"/>
          <p:cNvSpPr/>
          <p:nvPr/>
        </p:nvSpPr>
        <p:spPr>
          <a:xfrm>
            <a:off x="7955280" y="3977640"/>
            <a:ext cx="3685032" cy="2011680"/>
          </a:xfrm>
          <a:prstGeom prst="roundRect">
            <a:avLst>
              <a:gd name="adj" fmla="val 3636"/>
            </a:avLst>
          </a:prstGeom>
          <a:solidFill>
            <a:schemeClr val="bg2"/>
          </a:solidFill>
          <a:ln w="12700">
            <a:solidFill>
              <a:schemeClr val="bg2"/>
            </a:solidFill>
            <a:prstDash val="solid"/>
          </a:ln>
        </p:spPr>
      </p:sp>
      <p:sp>
        <p:nvSpPr>
          <p:cNvPr id="10" name="Text 6"/>
          <p:cNvSpPr txBox="1"/>
          <p:nvPr/>
        </p:nvSpPr>
        <p:spPr>
          <a:xfrm>
            <a:off x="8156448" y="4178808"/>
            <a:ext cx="328269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Epoch vs iteration</a:t>
            </a:r>
            <a:endParaRPr lang="en-US" sz="1900" dirty="0"/>
          </a:p>
        </p:txBody>
      </p:sp>
      <p:sp>
        <p:nvSpPr>
          <p:cNvPr id="11" name="Text 7"/>
          <p:cNvSpPr txBox="1"/>
          <p:nvPr/>
        </p:nvSpPr>
        <p:spPr>
          <a:xfrm>
            <a:off x="8156448" y="4536694"/>
            <a:ext cx="3282696" cy="1251458"/>
          </a:xfrm>
          <a:prstGeom prst="rect">
            <a:avLst/>
          </a:prstGeom>
          <a:noFill/>
          <a:ln/>
        </p:spPr>
        <p:txBody>
          <a:bodyPr wrap="square" lIns="0" tIns="0" rIns="0" bIns="0" rtlCol="0" anchor="t"/>
          <a:lstStyle/>
          <a:p>
            <a:pPr algn="l" indent="0" marL="0">
              <a:lnSpc>
                <a:spcPct val="105000"/>
              </a:lnSpc>
              <a:spcAft>
                <a:spcPts val="600"/>
              </a:spcAft>
              <a:buNone/>
            </a:pPr>
            <a:r>
              <a:rPr lang="en-US" sz="1600" dirty="0">
                <a:solidFill>
                  <a:schemeClr val="tx1"/>
                </a:solidFill>
              </a:rPr>
              <a:t>Epoch: one pass over the data.</a:t>
            </a:r>
            <a:endParaRPr lang="en-US" sz="1600" dirty="0"/>
          </a:p>
          <a:p>
            <a:pPr algn="l" indent="0" marL="0">
              <a:lnSpc>
                <a:spcPct val="105000"/>
              </a:lnSpc>
              <a:spcAft>
                <a:spcPts val="600"/>
              </a:spcAft>
              <a:buNone/>
            </a:pPr>
            <a:r>
              <a:rPr lang="en-US" sz="1600" dirty="0">
                <a:solidFill>
                  <a:schemeClr val="tx1"/>
                </a:solidFill>
              </a:rPr>
              <a:t>Iteration: one update.</a:t>
            </a:r>
            <a:endParaRPr lang="en-US" sz="1600" dirty="0"/>
          </a:p>
          <a:p>
            <a:pPr algn="l" indent="0" marL="0">
              <a:lnSpc>
                <a:spcPct val="105000"/>
              </a:lnSpc>
              <a:buNone/>
            </a:pPr>
            <a:r>
              <a:rPr lang="en-US" sz="1600" dirty="0">
                <a:solidFill>
                  <a:schemeClr val="tx1"/>
                </a:solidFill>
              </a:rPr>
              <a:t>50,000 examples, batch 100: 500 iterations per epoch.</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GRADIENT DESCENT</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The learning rate is the most important hyperparameter</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309360" cy="914400"/>
        </p:xfrm>
        <a:graphic>
          <a:graphicData uri="http://schemas.openxmlformats.org/drawingml/2006/table">
            <a:tbl>
              <a:tblPr/>
              <a:tblGrid>
                <a:gridCol w="1828800"/>
                <a:gridCol w="4480560"/>
              </a:tblGrid>
              <a:tr h="512064">
                <a:tc>
                  <a:txBody>
                    <a:bodyPr/>
                    <a:lstStyle/>
                    <a:p>
                      <a:pPr indent="0" marL="0">
                        <a:buNone/>
                      </a:pPr>
                      <a:r>
                        <a:rPr lang="en-US" sz="1700" b="1" dirty="0">
                          <a:solidFill>
                            <a:schemeClr val="bg1"/>
                          </a:solidFill>
                        </a:rPr>
                        <a:t>η</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Symptom</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512064">
                <a:tc>
                  <a:txBody>
                    <a:bodyPr/>
                    <a:lstStyle/>
                    <a:p>
                      <a:pPr indent="0" marL="0">
                        <a:buNone/>
                      </a:pPr>
                      <a:r>
                        <a:rPr lang="en-US" sz="1700" dirty="0">
                          <a:solidFill>
                            <a:schemeClr val="tx1"/>
                          </a:solidFill>
                        </a:rPr>
                        <a:t>Far too large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Loss becomes nan or inf within a few steps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12064">
                <a:tc>
                  <a:txBody>
                    <a:bodyPr/>
                    <a:lstStyle/>
                    <a:p>
                      <a:pPr indent="0" marL="0">
                        <a:buNone/>
                      </a:pPr>
                      <a:r>
                        <a:rPr lang="en-US" sz="1700" dirty="0">
                          <a:solidFill>
                            <a:schemeClr val="tx1"/>
                          </a:solidFill>
                        </a:rPr>
                        <a:t>Too large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Loss oscillates or plateaus high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12064">
                <a:tc>
                  <a:txBody>
                    <a:bodyPr/>
                    <a:lstStyle/>
                    <a:p>
                      <a:pPr indent="0" marL="0">
                        <a:buNone/>
                      </a:pPr>
                      <a:r>
                        <a:rPr lang="en-US" sz="1700" b="1" dirty="0">
                          <a:solidFill>
                            <a:schemeClr val="accent1"/>
                          </a:solidFill>
                        </a:rPr>
                        <a:t>Good</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Loss falls steadily, then flattens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512064">
                <a:tc>
                  <a:txBody>
                    <a:bodyPr/>
                    <a:lstStyle/>
                    <a:p>
                      <a:pPr indent="0" marL="0">
                        <a:buNone/>
                      </a:pPr>
                      <a:r>
                        <a:rPr lang="en-US" sz="1700" dirty="0">
                          <a:solidFill>
                            <a:schemeClr val="tx1"/>
                          </a:solidFill>
                        </a:rPr>
                        <a:t>Too small</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Loss falls glacially; may stall</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6" name="Shape 2"/>
          <p:cNvSpPr/>
          <p:nvPr/>
        </p:nvSpPr>
        <p:spPr>
          <a:xfrm>
            <a:off x="7315200" y="1645920"/>
            <a:ext cx="4325112" cy="2111248"/>
          </a:xfrm>
          <a:prstGeom prst="roundRect">
            <a:avLst>
              <a:gd name="adj" fmla="val 3465"/>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7543800" y="1792224"/>
            <a:ext cx="3867912"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WHY LARGE η DIVERGES</a:t>
            </a:r>
            <a:endParaRPr lang="en-US" sz="1200" dirty="0"/>
          </a:p>
        </p:txBody>
      </p:sp>
      <p:sp>
        <p:nvSpPr>
          <p:cNvPr id="8" name="Text 4"/>
          <p:cNvSpPr txBox="1"/>
          <p:nvPr/>
        </p:nvSpPr>
        <p:spPr>
          <a:xfrm>
            <a:off x="7543800" y="2221992"/>
            <a:ext cx="3867912" cy="1343152"/>
          </a:xfrm>
          <a:prstGeom prst="rect">
            <a:avLst/>
          </a:prstGeom>
          <a:noFill/>
          <a:ln/>
        </p:spPr>
        <p:txBody>
          <a:bodyPr wrap="square" lIns="0" tIns="0" rIns="0" bIns="0" rtlCol="0" anchor="t"/>
          <a:lstStyle/>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J = ½ λ θ²</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θ ← θ − ηλθ = (1 − ηλ) θ</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converges only if |1 − ηλ| &lt; 1</a:t>
            </a:r>
            <a:endParaRPr lang="en-US" sz="2000" dirty="0"/>
          </a:p>
          <a:p>
            <a:pPr algn="l" indent="0" marL="0">
              <a:lnSpc>
                <a:spcPct val="112000"/>
              </a:lnSpc>
              <a:buNone/>
            </a:pPr>
            <a:r>
              <a:rPr lang="en-US" sz="2000" dirty="0">
                <a:solidFill>
                  <a:schemeClr val="tx1"/>
                </a:solidFill>
                <a:latin typeface="Cambria Math" pitchFamily="34" charset="0"/>
                <a:ea typeface="Cambria Math" pitchFamily="34" charset="-122"/>
                <a:cs typeface="Cambria Math" pitchFamily="34" charset="-120"/>
              </a:rPr>
              <a:t>⇔  η &lt; 2 / λ</a:t>
            </a:r>
            <a:endParaRPr lang="en-US" sz="2000" dirty="0"/>
          </a:p>
        </p:txBody>
      </p:sp>
      <p:sp>
        <p:nvSpPr>
          <p:cNvPr id="9" name="Shape 5"/>
          <p:cNvSpPr/>
          <p:nvPr/>
        </p:nvSpPr>
        <p:spPr>
          <a:xfrm>
            <a:off x="548640" y="4572000"/>
            <a:ext cx="11091672" cy="777240"/>
          </a:xfrm>
          <a:prstGeom prst="roundRect">
            <a:avLst>
              <a:gd name="adj" fmla="val 9412"/>
            </a:avLst>
          </a:prstGeom>
          <a:solidFill>
            <a:schemeClr val="accent2">
              <a:alpha val="12000"/>
            </a:schemeClr>
          </a:solidFill>
          <a:ln w="12700">
            <a:solidFill>
              <a:schemeClr val="accent2">
                <a:alpha val="12000"/>
              </a:schemeClr>
            </a:solidFill>
            <a:prstDash val="solid"/>
          </a:ln>
        </p:spPr>
      </p:sp>
      <p:sp>
        <p:nvSpPr>
          <p:cNvPr id="10" name="Text 6"/>
          <p:cNvSpPr txBox="1"/>
          <p:nvPr/>
        </p:nvSpPr>
        <p:spPr>
          <a:xfrm>
            <a:off x="777240" y="4572000"/>
            <a:ext cx="10634472" cy="777240"/>
          </a:xfrm>
          <a:prstGeom prst="rect">
            <a:avLst/>
          </a:prstGeom>
          <a:noFill/>
          <a:ln/>
        </p:spPr>
        <p:txBody>
          <a:bodyPr wrap="square" lIns="0" tIns="0" rIns="0" bIns="0" rtlCol="0" anchor="ctr"/>
          <a:lstStyle/>
          <a:p>
            <a:pPr algn="l" indent="0" marL="0">
              <a:lnSpc>
                <a:spcPct val="105000"/>
              </a:lnSpc>
              <a:buNone/>
            </a:pPr>
            <a:r>
              <a:rPr lang="en-US" sz="2000" b="1" dirty="0">
                <a:solidFill>
                  <a:schemeClr val="accent2"/>
                </a:solidFill>
              </a:rPr>
              <a:t>The sharpest direction, λₘₐₓ, sets the limit for every direction.</a:t>
            </a:r>
            <a:endParaRPr lang="en-US" sz="20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GRADIENT DESCENT</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Find a learning rate with a range test</a:t>
            </a:r>
            <a:endParaRPr lang="en-US" sz="3000" dirty="0"/>
          </a:p>
        </p:txBody>
      </p:sp>
      <p:graphicFrame>
        <p:nvGraphicFramePr>
          <p:cNvPr id="5" name="Chart 0" descr=""/>
          <p:cNvGraphicFramePr/>
          <p:nvPr/>
        </p:nvGraphicFramePr>
        <p:xfrm>
          <a:off x="457200" y="1600200"/>
          <a:ext cx="6675120" cy="42062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2743200" cy="274320"/>
          </a:xfrm>
          <a:prstGeom prst="rect">
            <a:avLst/>
          </a:prstGeom>
          <a:noFill/>
          <a:ln/>
        </p:spPr>
        <p:txBody>
          <a:bodyPr wrap="square" lIns="0" tIns="0" rIns="0" bIns="0" rtlCol="0" anchor="t"/>
          <a:lstStyle/>
          <a:p>
            <a:pPr algn="l" indent="0" marL="0">
              <a:lnSpc>
                <a:spcPct val="105000"/>
              </a:lnSpc>
              <a:buNone/>
            </a:pPr>
            <a:r>
              <a:rPr lang="en-US" sz="1200" dirty="0">
                <a:solidFill>
                  <a:schemeClr val="tx2"/>
                </a:solidFill>
              </a:rPr>
              <a:t>Schematic curve.</a:t>
            </a:r>
            <a:endParaRPr lang="en-US" sz="1200" dirty="0"/>
          </a:p>
        </p:txBody>
      </p:sp>
      <p:sp>
        <p:nvSpPr>
          <p:cNvPr id="7" name="Shape 3"/>
          <p:cNvSpPr/>
          <p:nvPr/>
        </p:nvSpPr>
        <p:spPr>
          <a:xfrm>
            <a:off x="7799832" y="1901952"/>
            <a:ext cx="0" cy="2743200"/>
          </a:xfrm>
          <a:prstGeom prst="line">
            <a:avLst/>
          </a:prstGeom>
          <a:noFill/>
          <a:ln w="25400">
            <a:solidFill>
              <a:schemeClr val="accent1">
                <a:alpha val="50000"/>
              </a:schemeClr>
            </a:solidFill>
            <a:prstDash val="solid"/>
          </a:ln>
        </p:spPr>
      </p:sp>
      <p:sp>
        <p:nvSpPr>
          <p:cNvPr id="8" name="Shape 4"/>
          <p:cNvSpPr/>
          <p:nvPr/>
        </p:nvSpPr>
        <p:spPr>
          <a:xfrm>
            <a:off x="7589520" y="1691640"/>
            <a:ext cx="420624" cy="420624"/>
          </a:xfrm>
          <a:prstGeom prst="ellipse">
            <a:avLst/>
          </a:prstGeom>
          <a:solidFill>
            <a:schemeClr val="accent1"/>
          </a:solidFill>
          <a:ln w="25400">
            <a:solidFill>
              <a:schemeClr val="bg1"/>
            </a:solidFill>
            <a:prstDash val="solid"/>
          </a:ln>
        </p:spPr>
      </p:sp>
      <p:sp>
        <p:nvSpPr>
          <p:cNvPr id="9" name="Text 5"/>
          <p:cNvSpPr txBox="1"/>
          <p:nvPr/>
        </p:nvSpPr>
        <p:spPr>
          <a:xfrm>
            <a:off x="758952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6"/>
          <p:cNvSpPr txBox="1"/>
          <p:nvPr/>
        </p:nvSpPr>
        <p:spPr>
          <a:xfrm>
            <a:off x="8238744" y="1728216"/>
            <a:ext cx="340156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The test</a:t>
            </a:r>
            <a:endParaRPr lang="en-US" sz="1900" dirty="0"/>
          </a:p>
        </p:txBody>
      </p:sp>
      <p:sp>
        <p:nvSpPr>
          <p:cNvPr id="11" name="Text 7"/>
          <p:cNvSpPr txBox="1"/>
          <p:nvPr/>
        </p:nvSpPr>
        <p:spPr>
          <a:xfrm>
            <a:off x="8238744" y="2031238"/>
            <a:ext cx="340156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A few hundred steps with η rising exponentially; plot loss against log η.</a:t>
            </a:r>
            <a:endParaRPr lang="en-US" sz="1600" dirty="0"/>
          </a:p>
        </p:txBody>
      </p:sp>
      <p:sp>
        <p:nvSpPr>
          <p:cNvPr id="12" name="Shape 8"/>
          <p:cNvSpPr/>
          <p:nvPr/>
        </p:nvSpPr>
        <p:spPr>
          <a:xfrm>
            <a:off x="7589520" y="3063240"/>
            <a:ext cx="420624" cy="420624"/>
          </a:xfrm>
          <a:prstGeom prst="ellipse">
            <a:avLst/>
          </a:prstGeom>
          <a:solidFill>
            <a:schemeClr val="accent1"/>
          </a:solidFill>
          <a:ln w="25400">
            <a:solidFill>
              <a:schemeClr val="bg1"/>
            </a:solidFill>
            <a:prstDash val="solid"/>
          </a:ln>
        </p:spPr>
      </p:sp>
      <p:sp>
        <p:nvSpPr>
          <p:cNvPr id="13" name="Text 9"/>
          <p:cNvSpPr txBox="1"/>
          <p:nvPr/>
        </p:nvSpPr>
        <p:spPr>
          <a:xfrm>
            <a:off x="758952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0"/>
          <p:cNvSpPr txBox="1"/>
          <p:nvPr/>
        </p:nvSpPr>
        <p:spPr>
          <a:xfrm>
            <a:off x="8238744" y="3099816"/>
            <a:ext cx="340156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The pick</a:t>
            </a:r>
            <a:endParaRPr lang="en-US" sz="1900" dirty="0"/>
          </a:p>
        </p:txBody>
      </p:sp>
      <p:sp>
        <p:nvSpPr>
          <p:cNvPr id="15" name="Text 11"/>
          <p:cNvSpPr txBox="1"/>
          <p:nvPr/>
        </p:nvSpPr>
        <p:spPr>
          <a:xfrm>
            <a:off x="8238744" y="3402838"/>
            <a:ext cx="340156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About 10× below the minimum, in the steepest descent.</a:t>
            </a:r>
            <a:endParaRPr lang="en-US" sz="1600" dirty="0"/>
          </a:p>
        </p:txBody>
      </p:sp>
      <p:sp>
        <p:nvSpPr>
          <p:cNvPr id="16" name="Shape 12"/>
          <p:cNvSpPr/>
          <p:nvPr/>
        </p:nvSpPr>
        <p:spPr>
          <a:xfrm>
            <a:off x="7589520" y="4434840"/>
            <a:ext cx="420624" cy="420624"/>
          </a:xfrm>
          <a:prstGeom prst="ellipse">
            <a:avLst/>
          </a:prstGeom>
          <a:solidFill>
            <a:schemeClr val="accent1"/>
          </a:solidFill>
          <a:ln w="25400">
            <a:solidFill>
              <a:schemeClr val="bg1"/>
            </a:solidFill>
            <a:prstDash val="solid"/>
          </a:ln>
        </p:spPr>
      </p:sp>
      <p:sp>
        <p:nvSpPr>
          <p:cNvPr id="17" name="Text 13"/>
          <p:cNvSpPr txBox="1"/>
          <p:nvPr/>
        </p:nvSpPr>
        <p:spPr>
          <a:xfrm>
            <a:off x="7589520" y="4434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4"/>
          <p:cNvSpPr txBox="1"/>
          <p:nvPr/>
        </p:nvSpPr>
        <p:spPr>
          <a:xfrm>
            <a:off x="8238744" y="4471416"/>
            <a:ext cx="340156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Defaults if you skip it</a:t>
            </a:r>
            <a:endParaRPr lang="en-US" sz="1900" dirty="0"/>
          </a:p>
        </p:txBody>
      </p:sp>
      <p:sp>
        <p:nvSpPr>
          <p:cNvPr id="19" name="Text 15"/>
          <p:cNvSpPr txBox="1"/>
          <p:nvPr/>
        </p:nvSpPr>
        <p:spPr>
          <a:xfrm>
            <a:off x="8238744" y="4774438"/>
            <a:ext cx="340156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SGD + momentum, η = 0.1 (CNNs with BatchNorm). Adam, η = 3 × 10⁻⁴.</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GRADIENT DESCENT</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Every training step runs five lines, in this order</a:t>
            </a:r>
            <a:endParaRPr lang="en-US" sz="3000" dirty="0"/>
          </a:p>
        </p:txBody>
      </p:sp>
      <p:sp>
        <p:nvSpPr>
          <p:cNvPr id="5" name="Shape 2"/>
          <p:cNvSpPr/>
          <p:nvPr/>
        </p:nvSpPr>
        <p:spPr>
          <a:xfrm>
            <a:off x="749808" y="1892808"/>
            <a:ext cx="0" cy="3547872"/>
          </a:xfrm>
          <a:prstGeom prst="line">
            <a:avLst/>
          </a:prstGeom>
          <a:noFill/>
          <a:ln w="25400">
            <a:solidFill>
              <a:schemeClr val="accent1">
                <a:alpha val="50000"/>
              </a:schemeClr>
            </a:solidFill>
            <a:prstDash val="solid"/>
          </a:ln>
        </p:spPr>
      </p:sp>
      <p:sp>
        <p:nvSpPr>
          <p:cNvPr id="6" name="Shape 3"/>
          <p:cNvSpPr/>
          <p:nvPr/>
        </p:nvSpPr>
        <p:spPr>
          <a:xfrm>
            <a:off x="548640" y="1691640"/>
            <a:ext cx="402336" cy="402336"/>
          </a:xfrm>
          <a:prstGeom prst="ellipse">
            <a:avLst/>
          </a:prstGeom>
          <a:solidFill>
            <a:schemeClr val="accent1"/>
          </a:solidFill>
          <a:ln w="25400">
            <a:solidFill>
              <a:schemeClr val="bg1"/>
            </a:solidFill>
            <a:prstDash val="solid"/>
          </a:ln>
        </p:spPr>
      </p:sp>
      <p:sp>
        <p:nvSpPr>
          <p:cNvPr id="7" name="Text 4"/>
          <p:cNvSpPr txBox="1"/>
          <p:nvPr/>
        </p:nvSpPr>
        <p:spPr>
          <a:xfrm>
            <a:off x="548640" y="169164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79576" y="1728216"/>
            <a:ext cx="412394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optimizer.zero_grad()</a:t>
            </a:r>
            <a:endParaRPr lang="en-US" sz="1800" dirty="0"/>
          </a:p>
        </p:txBody>
      </p:sp>
      <p:sp>
        <p:nvSpPr>
          <p:cNvPr id="9" name="Text 6"/>
          <p:cNvSpPr txBox="1"/>
          <p:nvPr/>
        </p:nvSpPr>
        <p:spPr>
          <a:xfrm>
            <a:off x="1179576" y="2016252"/>
            <a:ext cx="4123944" cy="52578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Clear the gradients left from the last step.</a:t>
            </a:r>
            <a:endParaRPr lang="en-US" sz="1500" dirty="0"/>
          </a:p>
        </p:txBody>
      </p:sp>
      <p:sp>
        <p:nvSpPr>
          <p:cNvPr id="10" name="Shape 7"/>
          <p:cNvSpPr/>
          <p:nvPr/>
        </p:nvSpPr>
        <p:spPr>
          <a:xfrm>
            <a:off x="548640" y="2578608"/>
            <a:ext cx="402336" cy="402336"/>
          </a:xfrm>
          <a:prstGeom prst="ellipse">
            <a:avLst/>
          </a:prstGeom>
          <a:solidFill>
            <a:schemeClr val="accent1"/>
          </a:solidFill>
          <a:ln w="25400">
            <a:solidFill>
              <a:schemeClr val="bg1"/>
            </a:solidFill>
            <a:prstDash val="solid"/>
          </a:ln>
        </p:spPr>
      </p:sp>
      <p:sp>
        <p:nvSpPr>
          <p:cNvPr id="11" name="Text 8"/>
          <p:cNvSpPr txBox="1"/>
          <p:nvPr/>
        </p:nvSpPr>
        <p:spPr>
          <a:xfrm>
            <a:off x="548640" y="257860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79576" y="2615184"/>
            <a:ext cx="412394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outputs = model(x)</a:t>
            </a:r>
            <a:endParaRPr lang="en-US" sz="1800" dirty="0"/>
          </a:p>
        </p:txBody>
      </p:sp>
      <p:sp>
        <p:nvSpPr>
          <p:cNvPr id="13" name="Text 10"/>
          <p:cNvSpPr txBox="1"/>
          <p:nvPr/>
        </p:nvSpPr>
        <p:spPr>
          <a:xfrm>
            <a:off x="1179576" y="2903220"/>
            <a:ext cx="4123944" cy="52578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Forward pass.</a:t>
            </a:r>
            <a:endParaRPr lang="en-US" sz="1500" dirty="0"/>
          </a:p>
        </p:txBody>
      </p:sp>
      <p:sp>
        <p:nvSpPr>
          <p:cNvPr id="14" name="Shape 11"/>
          <p:cNvSpPr/>
          <p:nvPr/>
        </p:nvSpPr>
        <p:spPr>
          <a:xfrm>
            <a:off x="548640" y="3465576"/>
            <a:ext cx="402336" cy="402336"/>
          </a:xfrm>
          <a:prstGeom prst="ellipse">
            <a:avLst/>
          </a:prstGeom>
          <a:solidFill>
            <a:schemeClr val="accent1"/>
          </a:solidFill>
          <a:ln w="25400">
            <a:solidFill>
              <a:schemeClr val="bg1"/>
            </a:solidFill>
            <a:prstDash val="solid"/>
          </a:ln>
        </p:spPr>
      </p:sp>
      <p:sp>
        <p:nvSpPr>
          <p:cNvPr id="15" name="Text 12"/>
          <p:cNvSpPr txBox="1"/>
          <p:nvPr/>
        </p:nvSpPr>
        <p:spPr>
          <a:xfrm>
            <a:off x="548640" y="3465576"/>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79576" y="3502152"/>
            <a:ext cx="412394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loss = criterion(outputs, y)</a:t>
            </a:r>
            <a:endParaRPr lang="en-US" sz="1800" dirty="0"/>
          </a:p>
        </p:txBody>
      </p:sp>
      <p:sp>
        <p:nvSpPr>
          <p:cNvPr id="17" name="Text 14"/>
          <p:cNvSpPr txBox="1"/>
          <p:nvPr/>
        </p:nvSpPr>
        <p:spPr>
          <a:xfrm>
            <a:off x="1179576" y="3790188"/>
            <a:ext cx="4123944" cy="52578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Compute the loss.</a:t>
            </a:r>
            <a:endParaRPr lang="en-US" sz="1500" dirty="0"/>
          </a:p>
        </p:txBody>
      </p:sp>
      <p:sp>
        <p:nvSpPr>
          <p:cNvPr id="18" name="Shape 15"/>
          <p:cNvSpPr/>
          <p:nvPr/>
        </p:nvSpPr>
        <p:spPr>
          <a:xfrm>
            <a:off x="548640" y="4352544"/>
            <a:ext cx="402336" cy="402336"/>
          </a:xfrm>
          <a:prstGeom prst="ellipse">
            <a:avLst/>
          </a:prstGeom>
          <a:solidFill>
            <a:schemeClr val="accent2"/>
          </a:solidFill>
          <a:ln w="25400">
            <a:solidFill>
              <a:schemeClr val="bg1"/>
            </a:solidFill>
            <a:prstDash val="solid"/>
          </a:ln>
        </p:spPr>
      </p:sp>
      <p:sp>
        <p:nvSpPr>
          <p:cNvPr id="19" name="Text 16"/>
          <p:cNvSpPr txBox="1"/>
          <p:nvPr/>
        </p:nvSpPr>
        <p:spPr>
          <a:xfrm>
            <a:off x="548640" y="435254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1179576" y="4389120"/>
            <a:ext cx="412394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loss.backward()</a:t>
            </a:r>
            <a:endParaRPr lang="en-US" sz="1800" dirty="0"/>
          </a:p>
        </p:txBody>
      </p:sp>
      <p:sp>
        <p:nvSpPr>
          <p:cNvPr id="21" name="Text 18"/>
          <p:cNvSpPr txBox="1"/>
          <p:nvPr/>
        </p:nvSpPr>
        <p:spPr>
          <a:xfrm>
            <a:off x="1179576" y="4677156"/>
            <a:ext cx="4123944" cy="52578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Backpropagation fills every .grad.</a:t>
            </a:r>
            <a:endParaRPr lang="en-US" sz="1500" dirty="0"/>
          </a:p>
        </p:txBody>
      </p:sp>
      <p:sp>
        <p:nvSpPr>
          <p:cNvPr id="22" name="Shape 19"/>
          <p:cNvSpPr/>
          <p:nvPr/>
        </p:nvSpPr>
        <p:spPr>
          <a:xfrm>
            <a:off x="548640" y="5239512"/>
            <a:ext cx="402336" cy="402336"/>
          </a:xfrm>
          <a:prstGeom prst="ellipse">
            <a:avLst/>
          </a:prstGeom>
          <a:solidFill>
            <a:schemeClr val="accent1"/>
          </a:solidFill>
          <a:ln w="25400">
            <a:solidFill>
              <a:schemeClr val="bg1"/>
            </a:solidFill>
            <a:prstDash val="solid"/>
          </a:ln>
        </p:spPr>
      </p:sp>
      <p:sp>
        <p:nvSpPr>
          <p:cNvPr id="23" name="Text 20"/>
          <p:cNvSpPr txBox="1"/>
          <p:nvPr/>
        </p:nvSpPr>
        <p:spPr>
          <a:xfrm>
            <a:off x="548640" y="5239512"/>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Text 21"/>
          <p:cNvSpPr txBox="1"/>
          <p:nvPr/>
        </p:nvSpPr>
        <p:spPr>
          <a:xfrm>
            <a:off x="1179576" y="5276088"/>
            <a:ext cx="4123944" cy="269748"/>
          </a:xfrm>
          <a:prstGeom prst="rect">
            <a:avLst/>
          </a:prstGeom>
          <a:noFill/>
          <a:ln/>
        </p:spPr>
        <p:txBody>
          <a:bodyPr wrap="square" lIns="0" tIns="0" rIns="0" bIns="0" rtlCol="0" anchor="t"/>
          <a:lstStyle/>
          <a:p>
            <a:pPr algn="l" indent="0" marL="0">
              <a:lnSpc>
                <a:spcPct val="105000"/>
              </a:lnSpc>
              <a:buNone/>
            </a:pPr>
            <a:r>
              <a:rPr lang="en-US" sz="1800" b="1" dirty="0">
                <a:solidFill>
                  <a:schemeClr val="tx1"/>
                </a:solidFill>
              </a:rPr>
              <a:t>optimizer.step()</a:t>
            </a:r>
            <a:endParaRPr lang="en-US" sz="1800" dirty="0"/>
          </a:p>
        </p:txBody>
      </p:sp>
      <p:sp>
        <p:nvSpPr>
          <p:cNvPr id="25" name="Text 22"/>
          <p:cNvSpPr txBox="1"/>
          <p:nvPr/>
        </p:nvSpPr>
        <p:spPr>
          <a:xfrm>
            <a:off x="1179576" y="5564124"/>
            <a:ext cx="4123944" cy="525780"/>
          </a:xfrm>
          <a:prstGeom prst="rect">
            <a:avLst/>
          </a:prstGeom>
          <a:noFill/>
          <a:ln/>
        </p:spPr>
        <p:txBody>
          <a:bodyPr wrap="square" lIns="0" tIns="0" rIns="0" bIns="0" rtlCol="0" anchor="t"/>
          <a:lstStyle/>
          <a:p>
            <a:pPr algn="l" indent="0" marL="0">
              <a:lnSpc>
                <a:spcPct val="105000"/>
              </a:lnSpc>
              <a:buNone/>
            </a:pPr>
            <a:r>
              <a:rPr lang="en-US" sz="1500" dirty="0">
                <a:solidFill>
                  <a:schemeClr val="tx2"/>
                </a:solidFill>
              </a:rPr>
              <a:t>Update the parameters.</a:t>
            </a:r>
            <a:endParaRPr lang="en-US" sz="1500" dirty="0"/>
          </a:p>
        </p:txBody>
      </p:sp>
      <p:sp>
        <p:nvSpPr>
          <p:cNvPr id="26" name="Shape 23"/>
          <p:cNvSpPr/>
          <p:nvPr/>
        </p:nvSpPr>
        <p:spPr>
          <a:xfrm>
            <a:off x="5669280" y="1645920"/>
            <a:ext cx="5971032" cy="3389376"/>
          </a:xfrm>
          <a:prstGeom prst="roundRect">
            <a:avLst>
              <a:gd name="adj" fmla="val 2158"/>
            </a:avLst>
          </a:prstGeom>
          <a:solidFill>
            <a:schemeClr val="bg2"/>
          </a:solidFill>
          <a:ln w="12700">
            <a:solidFill>
              <a:schemeClr val="bg2"/>
            </a:solidFill>
            <a:prstDash val="solid"/>
          </a:ln>
        </p:spPr>
      </p:sp>
      <p:sp>
        <p:nvSpPr>
          <p:cNvPr id="27" name="Text 24"/>
          <p:cNvSpPr txBox="1"/>
          <p:nvPr/>
        </p:nvSpPr>
        <p:spPr>
          <a:xfrm>
            <a:off x="5870448" y="1819656"/>
            <a:ext cx="5568696" cy="3041904"/>
          </a:xfrm>
          <a:prstGeom prst="rect">
            <a:avLst/>
          </a:prstGeom>
          <a:noFill/>
          <a:ln/>
        </p:spPr>
        <p:txBody>
          <a:bodyPr wrap="square" lIns="0" tIns="0" rIns="0" bIns="0" rtlCol="0" anchor="t"/>
          <a:lstStyle/>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for epoch in range(num_epochs):</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model.train()             </a:t>
            </a:r>
            <a:r>
              <a:rPr lang="en-US" sz="1400" dirty="0">
                <a:solidFill>
                  <a:schemeClr val="accent1"/>
                </a:solidFill>
                <a:latin typeface="Consolas" pitchFamily="34" charset="0"/>
                <a:ea typeface="Consolas" pitchFamily="34" charset="-122"/>
                <a:cs typeface="Consolas" pitchFamily="34" charset="-120"/>
              </a:rPr>
              <a:t># train mode</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for x, y in train_loader:</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x, y = x.to(device), y.to(device)</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optimizer.zero_grad()            </a:t>
            </a:r>
            <a:r>
              <a:rPr lang="en-US" sz="1400" dirty="0">
                <a:solidFill>
                  <a:schemeClr val="accent1"/>
                </a:solidFill>
                <a:latin typeface="Consolas" pitchFamily="34" charset="0"/>
                <a:ea typeface="Consolas" pitchFamily="34" charset="-122"/>
                <a:cs typeface="Consolas" pitchFamily="34" charset="-120"/>
              </a:rPr>
              <a:t># 1</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outputs = model(x)               </a:t>
            </a:r>
            <a:r>
              <a:rPr lang="en-US" sz="1400" dirty="0">
                <a:solidFill>
                  <a:schemeClr val="accent1"/>
                </a:solidFill>
                <a:latin typeface="Consolas" pitchFamily="34" charset="0"/>
                <a:ea typeface="Consolas" pitchFamily="34" charset="-122"/>
                <a:cs typeface="Consolas" pitchFamily="34" charset="-120"/>
              </a:rPr>
              <a:t># 2</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loss = criterion(outputs, y)     </a:t>
            </a:r>
            <a:r>
              <a:rPr lang="en-US" sz="1400" dirty="0">
                <a:solidFill>
                  <a:schemeClr val="accent1"/>
                </a:solidFill>
                <a:latin typeface="Consolas" pitchFamily="34" charset="0"/>
                <a:ea typeface="Consolas" pitchFamily="34" charset="-122"/>
                <a:cs typeface="Consolas" pitchFamily="34" charset="-120"/>
              </a:rPr>
              <a:t># 3</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loss.backward()                  </a:t>
            </a:r>
            <a:r>
              <a:rPr lang="en-US" sz="1400" dirty="0">
                <a:solidFill>
                  <a:schemeClr val="accent1"/>
                </a:solidFill>
                <a:latin typeface="Consolas" pitchFamily="34" charset="0"/>
                <a:ea typeface="Consolas" pitchFamily="34" charset="-122"/>
                <a:cs typeface="Consolas" pitchFamily="34" charset="-120"/>
              </a:rPr>
              <a:t># 4</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optimizer.step()                 </a:t>
            </a:r>
            <a:r>
              <a:rPr lang="en-US" sz="1400" dirty="0">
                <a:solidFill>
                  <a:schemeClr val="accent1"/>
                </a:solidFill>
                <a:latin typeface="Consolas" pitchFamily="34" charset="0"/>
                <a:ea typeface="Consolas" pitchFamily="34" charset="-122"/>
                <a:cs typeface="Consolas" pitchFamily="34" charset="-120"/>
              </a:rPr>
              <a:t># 5</a:t>
            </a:r>
            <a:endParaRPr lang="en-US" sz="1400" dirty="0"/>
          </a:p>
          <a:p>
            <a:pPr indent="0" marL="0">
              <a:lnSpc>
                <a:spcPct val="100000"/>
              </a:lnSpc>
              <a:buNone/>
            </a:pPr>
            <a:r>
              <a:rPr lang="en-US" sz="1400" dirty="0">
                <a:solidFill>
                  <a:srgbClr val="000000"/>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model.eval()              </a:t>
            </a:r>
            <a:r>
              <a:rPr lang="en-US" sz="1400" dirty="0">
                <a:solidFill>
                  <a:schemeClr val="accent1"/>
                </a:solidFill>
                <a:latin typeface="Consolas" pitchFamily="34" charset="0"/>
                <a:ea typeface="Consolas" pitchFamily="34" charset="-122"/>
                <a:cs typeface="Consolas" pitchFamily="34" charset="-120"/>
              </a:rPr>
              <a:t># eval mode</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with torch.no_grad():     </a:t>
            </a:r>
            <a:r>
              <a:rPr lang="en-US" sz="1400" dirty="0">
                <a:solidFill>
                  <a:schemeClr val="accent1"/>
                </a:solidFill>
                <a:latin typeface="Consolas" pitchFamily="34" charset="0"/>
                <a:ea typeface="Consolas" pitchFamily="34" charset="-122"/>
                <a:cs typeface="Consolas" pitchFamily="34" charset="-120"/>
              </a:rPr>
              <a:t># no graph</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for x_val, y_val in val_loader:</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GRADIENT DESCENT</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Three classic training-loop mistakes</a:t>
            </a:r>
            <a:endParaRPr lang="en-US" sz="3000" dirty="0"/>
          </a:p>
        </p:txBody>
      </p:sp>
      <p:sp>
        <p:nvSpPr>
          <p:cNvPr id="5" name="Shape 2"/>
          <p:cNvSpPr/>
          <p:nvPr/>
        </p:nvSpPr>
        <p:spPr>
          <a:xfrm>
            <a:off x="758952" y="1901952"/>
            <a:ext cx="0" cy="2834640"/>
          </a:xfrm>
          <a:prstGeom prst="line">
            <a:avLst/>
          </a:prstGeom>
          <a:noFill/>
          <a:ln w="25400">
            <a:solidFill>
              <a:schemeClr val="accent2">
                <a:alpha val="50000"/>
              </a:schemeClr>
            </a:solidFill>
            <a:prstDash val="solid"/>
          </a:ln>
        </p:spPr>
      </p:sp>
      <p:sp>
        <p:nvSpPr>
          <p:cNvPr id="6" name="Shape 3"/>
          <p:cNvSpPr/>
          <p:nvPr/>
        </p:nvSpPr>
        <p:spPr>
          <a:xfrm>
            <a:off x="548640" y="1691640"/>
            <a:ext cx="420624" cy="420624"/>
          </a:xfrm>
          <a:prstGeom prst="ellipse">
            <a:avLst/>
          </a:prstGeom>
          <a:solidFill>
            <a:schemeClr val="accent2"/>
          </a:solidFill>
          <a:ln w="25400">
            <a:solidFill>
              <a:schemeClr val="bg1"/>
            </a:solidFill>
            <a:prstDash val="solid"/>
          </a:ln>
        </p:spPr>
      </p:sp>
      <p:sp>
        <p:nvSpPr>
          <p:cNvPr id="7" name="Text 4"/>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197864" y="1728216"/>
            <a:ext cx="66659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Forgetting zero_grad()</a:t>
            </a:r>
            <a:endParaRPr lang="en-US" sz="1900" dirty="0"/>
          </a:p>
        </p:txBody>
      </p:sp>
      <p:sp>
        <p:nvSpPr>
          <p:cNvPr id="9" name="Text 6"/>
          <p:cNvSpPr txBox="1"/>
          <p:nvPr/>
        </p:nvSpPr>
        <p:spPr>
          <a:xfrm>
            <a:off x="1197864" y="2031238"/>
            <a:ext cx="6665976"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Gradients accumulate across steps. Training degrades gradually instead of failing loudly.</a:t>
            </a:r>
            <a:endParaRPr lang="en-US" sz="1600" dirty="0"/>
          </a:p>
        </p:txBody>
      </p:sp>
      <p:sp>
        <p:nvSpPr>
          <p:cNvPr id="10" name="Shape 7"/>
          <p:cNvSpPr/>
          <p:nvPr/>
        </p:nvSpPr>
        <p:spPr>
          <a:xfrm>
            <a:off x="548640" y="3108960"/>
            <a:ext cx="420624" cy="420624"/>
          </a:xfrm>
          <a:prstGeom prst="ellipse">
            <a:avLst/>
          </a:prstGeom>
          <a:solidFill>
            <a:schemeClr val="accent2"/>
          </a:solidFill>
          <a:ln w="25400">
            <a:solidFill>
              <a:schemeClr val="bg1"/>
            </a:solidFill>
            <a:prstDash val="solid"/>
          </a:ln>
        </p:spPr>
      </p:sp>
      <p:sp>
        <p:nvSpPr>
          <p:cNvPr id="11" name="Text 8"/>
          <p:cNvSpPr txBox="1"/>
          <p:nvPr/>
        </p:nvSpPr>
        <p:spPr>
          <a:xfrm>
            <a:off x="548640" y="3108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197864" y="3145536"/>
            <a:ext cx="66659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Forgetting model.eval()</a:t>
            </a:r>
            <a:endParaRPr lang="en-US" sz="1900" dirty="0"/>
          </a:p>
        </p:txBody>
      </p:sp>
      <p:sp>
        <p:nvSpPr>
          <p:cNvPr id="13" name="Text 10"/>
          <p:cNvSpPr txBox="1"/>
          <p:nvPr/>
        </p:nvSpPr>
        <p:spPr>
          <a:xfrm>
            <a:off x="1197864" y="3448558"/>
            <a:ext cx="6665976"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Dropout stays on and BatchNorm uses batch statistics: validation is worse and fluctuates between runs.</a:t>
            </a:r>
            <a:endParaRPr lang="en-US" sz="1600" dirty="0"/>
          </a:p>
        </p:txBody>
      </p:sp>
      <p:sp>
        <p:nvSpPr>
          <p:cNvPr id="14" name="Shape 11"/>
          <p:cNvSpPr/>
          <p:nvPr/>
        </p:nvSpPr>
        <p:spPr>
          <a:xfrm>
            <a:off x="548640" y="4526280"/>
            <a:ext cx="420624" cy="420624"/>
          </a:xfrm>
          <a:prstGeom prst="ellipse">
            <a:avLst/>
          </a:prstGeom>
          <a:solidFill>
            <a:schemeClr val="accent2"/>
          </a:solidFill>
          <a:ln w="25400">
            <a:solidFill>
              <a:schemeClr val="bg1"/>
            </a:solidFill>
            <a:prstDash val="solid"/>
          </a:ln>
        </p:spPr>
      </p:sp>
      <p:sp>
        <p:nvSpPr>
          <p:cNvPr id="15" name="Text 12"/>
          <p:cNvSpPr txBox="1"/>
          <p:nvPr/>
        </p:nvSpPr>
        <p:spPr>
          <a:xfrm>
            <a:off x="548640" y="45262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197864" y="4562856"/>
            <a:ext cx="66659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Forgetting torch.no_grad() in evaluation</a:t>
            </a:r>
            <a:endParaRPr lang="en-US" sz="1900" dirty="0"/>
          </a:p>
        </p:txBody>
      </p:sp>
      <p:sp>
        <p:nvSpPr>
          <p:cNvPr id="17" name="Text 14"/>
          <p:cNvSpPr txBox="1"/>
          <p:nvPr/>
        </p:nvSpPr>
        <p:spPr>
          <a:xfrm>
            <a:off x="1197864" y="4865878"/>
            <a:ext cx="6665976" cy="104114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Still correct, but memory roughly triples and evaluation is several times slower.</a:t>
            </a:r>
            <a:endParaRPr lang="en-US" sz="1600" dirty="0"/>
          </a:p>
        </p:txBody>
      </p:sp>
      <p:sp>
        <p:nvSpPr>
          <p:cNvPr id="18" name="Shape 15"/>
          <p:cNvSpPr/>
          <p:nvPr/>
        </p:nvSpPr>
        <p:spPr>
          <a:xfrm>
            <a:off x="8321040" y="1691640"/>
            <a:ext cx="3319272" cy="3977640"/>
          </a:xfrm>
          <a:prstGeom prst="roundRect">
            <a:avLst>
              <a:gd name="adj" fmla="val 2204"/>
            </a:avLst>
          </a:prstGeom>
          <a:solidFill>
            <a:schemeClr val="accent1">
              <a:alpha val="10000"/>
            </a:schemeClr>
          </a:solidFill>
          <a:ln w="12700">
            <a:solidFill>
              <a:schemeClr val="accent1">
                <a:alpha val="10000"/>
              </a:schemeClr>
            </a:solidFill>
            <a:prstDash val="solid"/>
          </a:ln>
        </p:spPr>
      </p:sp>
      <p:sp>
        <p:nvSpPr>
          <p:cNvPr id="19" name="Text 16"/>
          <p:cNvSpPr txBox="1"/>
          <p:nvPr/>
        </p:nvSpPr>
        <p:spPr>
          <a:xfrm>
            <a:off x="8522208" y="1892808"/>
            <a:ext cx="29169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Why they hurt</a:t>
            </a:r>
            <a:endParaRPr lang="en-US" sz="1900" dirty="0"/>
          </a:p>
        </p:txBody>
      </p:sp>
      <p:sp>
        <p:nvSpPr>
          <p:cNvPr id="20" name="Text 17"/>
          <p:cNvSpPr txBox="1"/>
          <p:nvPr/>
        </p:nvSpPr>
        <p:spPr>
          <a:xfrm>
            <a:off x="8522208" y="2250694"/>
            <a:ext cx="2916936" cy="321741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None of them raises an error. The code runs, the loss prints, and the numbers are quietly wrong.</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GRADIENT DESCENT</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High dimensions: saddles and ravines, not bad minima</a:t>
            </a:r>
            <a:endParaRPr lang="en-US" sz="3000" dirty="0"/>
          </a:p>
        </p:txBody>
      </p:sp>
      <p:sp>
        <p:nvSpPr>
          <p:cNvPr id="5" name="Shape 2"/>
          <p:cNvSpPr/>
          <p:nvPr/>
        </p:nvSpPr>
        <p:spPr>
          <a:xfrm>
            <a:off x="731520" y="2798064"/>
            <a:ext cx="5120640" cy="1536192"/>
          </a:xfrm>
          <a:prstGeom prst="ellipse">
            <a:avLst/>
          </a:prstGeom>
          <a:solidFill>
            <a:schemeClr val="accent1">
              <a:alpha val="8000"/>
            </a:schemeClr>
          </a:solidFill>
          <a:ln w="12700">
            <a:solidFill>
              <a:schemeClr val="accent1">
                <a:alpha val="60000"/>
              </a:schemeClr>
            </a:solidFill>
            <a:prstDash val="solid"/>
          </a:ln>
        </p:spPr>
      </p:sp>
      <p:sp>
        <p:nvSpPr>
          <p:cNvPr id="6" name="Shape 3"/>
          <p:cNvSpPr/>
          <p:nvPr/>
        </p:nvSpPr>
        <p:spPr>
          <a:xfrm>
            <a:off x="1325880" y="2976372"/>
            <a:ext cx="3931920" cy="1179576"/>
          </a:xfrm>
          <a:prstGeom prst="ellipse">
            <a:avLst/>
          </a:prstGeom>
          <a:solidFill>
            <a:schemeClr val="accent1">
              <a:alpha val="10000"/>
            </a:schemeClr>
          </a:solidFill>
          <a:ln w="12700">
            <a:solidFill>
              <a:schemeClr val="accent1">
                <a:alpha val="60000"/>
              </a:schemeClr>
            </a:solidFill>
            <a:prstDash val="solid"/>
          </a:ln>
        </p:spPr>
      </p:sp>
      <p:sp>
        <p:nvSpPr>
          <p:cNvPr id="7" name="Shape 4"/>
          <p:cNvSpPr/>
          <p:nvPr/>
        </p:nvSpPr>
        <p:spPr>
          <a:xfrm>
            <a:off x="1920240" y="3154680"/>
            <a:ext cx="2743200" cy="822960"/>
          </a:xfrm>
          <a:prstGeom prst="ellipse">
            <a:avLst/>
          </a:prstGeom>
          <a:solidFill>
            <a:schemeClr val="accent1">
              <a:alpha val="12000"/>
            </a:schemeClr>
          </a:solidFill>
          <a:ln w="12700">
            <a:solidFill>
              <a:schemeClr val="accent1">
                <a:alpha val="60000"/>
              </a:schemeClr>
            </a:solidFill>
            <a:prstDash val="solid"/>
          </a:ln>
        </p:spPr>
      </p:sp>
      <p:sp>
        <p:nvSpPr>
          <p:cNvPr id="8" name="Shape 5"/>
          <p:cNvSpPr/>
          <p:nvPr/>
        </p:nvSpPr>
        <p:spPr>
          <a:xfrm>
            <a:off x="2514600" y="3332988"/>
            <a:ext cx="1554480" cy="466344"/>
          </a:xfrm>
          <a:prstGeom prst="ellipse">
            <a:avLst/>
          </a:prstGeom>
          <a:solidFill>
            <a:schemeClr val="accent1">
              <a:alpha val="14000"/>
            </a:schemeClr>
          </a:solidFill>
          <a:ln w="12700">
            <a:solidFill>
              <a:schemeClr val="accent1">
                <a:alpha val="60000"/>
              </a:schemeClr>
            </a:solidFill>
            <a:prstDash val="solid"/>
          </a:ln>
        </p:spPr>
      </p:sp>
      <p:sp>
        <p:nvSpPr>
          <p:cNvPr id="9" name="Shape 6"/>
          <p:cNvSpPr/>
          <p:nvPr/>
        </p:nvSpPr>
        <p:spPr>
          <a:xfrm>
            <a:off x="3017520" y="3483864"/>
            <a:ext cx="548640" cy="164592"/>
          </a:xfrm>
          <a:prstGeom prst="ellipse">
            <a:avLst/>
          </a:prstGeom>
          <a:solidFill>
            <a:schemeClr val="accent1">
              <a:alpha val="16000"/>
            </a:schemeClr>
          </a:solidFill>
          <a:ln w="12700">
            <a:solidFill>
              <a:schemeClr val="accent1">
                <a:alpha val="60000"/>
              </a:schemeClr>
            </a:solidFill>
            <a:prstDash val="solid"/>
          </a:ln>
        </p:spPr>
      </p:sp>
      <p:sp>
        <p:nvSpPr>
          <p:cNvPr id="10" name="Shape 7"/>
          <p:cNvSpPr/>
          <p:nvPr/>
        </p:nvSpPr>
        <p:spPr>
          <a:xfrm>
            <a:off x="868680" y="3154680"/>
            <a:ext cx="365760" cy="960120"/>
          </a:xfrm>
          <a:prstGeom prst="line">
            <a:avLst/>
          </a:prstGeom>
          <a:noFill/>
          <a:ln w="28575">
            <a:solidFill>
              <a:srgbClr val="D45D27"/>
            </a:solidFill>
            <a:prstDash val="solid"/>
          </a:ln>
        </p:spPr>
      </p:sp>
      <p:sp>
        <p:nvSpPr>
          <p:cNvPr id="11" name="Shape 8"/>
          <p:cNvSpPr/>
          <p:nvPr/>
        </p:nvSpPr>
        <p:spPr>
          <a:xfrm flipV="1">
            <a:off x="1234440" y="3063240"/>
            <a:ext cx="365760" cy="1051560"/>
          </a:xfrm>
          <a:prstGeom prst="line">
            <a:avLst/>
          </a:prstGeom>
          <a:noFill/>
          <a:ln w="28575">
            <a:solidFill>
              <a:srgbClr val="D45D27"/>
            </a:solidFill>
            <a:prstDash val="solid"/>
          </a:ln>
        </p:spPr>
      </p:sp>
      <p:sp>
        <p:nvSpPr>
          <p:cNvPr id="12" name="Shape 9"/>
          <p:cNvSpPr/>
          <p:nvPr/>
        </p:nvSpPr>
        <p:spPr>
          <a:xfrm>
            <a:off x="1600200" y="3063240"/>
            <a:ext cx="365760" cy="978408"/>
          </a:xfrm>
          <a:prstGeom prst="line">
            <a:avLst/>
          </a:prstGeom>
          <a:noFill/>
          <a:ln w="28575">
            <a:solidFill>
              <a:srgbClr val="D45D27"/>
            </a:solidFill>
            <a:prstDash val="solid"/>
          </a:ln>
        </p:spPr>
      </p:sp>
      <p:sp>
        <p:nvSpPr>
          <p:cNvPr id="13" name="Shape 10"/>
          <p:cNvSpPr/>
          <p:nvPr/>
        </p:nvSpPr>
        <p:spPr>
          <a:xfrm flipV="1">
            <a:off x="1965960" y="3200400"/>
            <a:ext cx="365760" cy="841248"/>
          </a:xfrm>
          <a:prstGeom prst="line">
            <a:avLst/>
          </a:prstGeom>
          <a:noFill/>
          <a:ln w="28575">
            <a:solidFill>
              <a:srgbClr val="D45D27"/>
            </a:solidFill>
            <a:prstDash val="solid"/>
          </a:ln>
        </p:spPr>
      </p:sp>
      <p:sp>
        <p:nvSpPr>
          <p:cNvPr id="14" name="Shape 11"/>
          <p:cNvSpPr/>
          <p:nvPr/>
        </p:nvSpPr>
        <p:spPr>
          <a:xfrm>
            <a:off x="2331720" y="3200400"/>
            <a:ext cx="320040" cy="713232"/>
          </a:xfrm>
          <a:prstGeom prst="line">
            <a:avLst/>
          </a:prstGeom>
          <a:noFill/>
          <a:ln w="28575">
            <a:solidFill>
              <a:srgbClr val="D45D27"/>
            </a:solidFill>
            <a:prstDash val="solid"/>
          </a:ln>
        </p:spPr>
      </p:sp>
      <p:sp>
        <p:nvSpPr>
          <p:cNvPr id="15" name="Shape 12"/>
          <p:cNvSpPr/>
          <p:nvPr/>
        </p:nvSpPr>
        <p:spPr>
          <a:xfrm flipV="1">
            <a:off x="2651760" y="3337560"/>
            <a:ext cx="274320" cy="576072"/>
          </a:xfrm>
          <a:prstGeom prst="line">
            <a:avLst/>
          </a:prstGeom>
          <a:noFill/>
          <a:ln w="28575">
            <a:solidFill>
              <a:srgbClr val="D45D27"/>
            </a:solidFill>
            <a:prstDash val="solid"/>
          </a:ln>
        </p:spPr>
      </p:sp>
      <p:sp>
        <p:nvSpPr>
          <p:cNvPr id="16" name="Shape 13"/>
          <p:cNvSpPr/>
          <p:nvPr/>
        </p:nvSpPr>
        <p:spPr>
          <a:xfrm>
            <a:off x="2926080" y="3337560"/>
            <a:ext cx="228600" cy="365760"/>
          </a:xfrm>
          <a:prstGeom prst="line">
            <a:avLst/>
          </a:prstGeom>
          <a:noFill/>
          <a:ln w="28575">
            <a:solidFill>
              <a:srgbClr val="D45D27"/>
            </a:solidFill>
            <a:prstDash val="solid"/>
          </a:ln>
        </p:spPr>
      </p:sp>
      <p:sp>
        <p:nvSpPr>
          <p:cNvPr id="17" name="Shape 14"/>
          <p:cNvSpPr/>
          <p:nvPr/>
        </p:nvSpPr>
        <p:spPr>
          <a:xfrm flipV="1">
            <a:off x="3154680" y="3566160"/>
            <a:ext cx="137160" cy="137160"/>
          </a:xfrm>
          <a:prstGeom prst="line">
            <a:avLst/>
          </a:prstGeom>
          <a:noFill/>
          <a:ln w="28575">
            <a:solidFill>
              <a:srgbClr val="D45D27"/>
            </a:solidFill>
            <a:prstDash val="solid"/>
          </a:ln>
        </p:spPr>
      </p:sp>
      <p:sp>
        <p:nvSpPr>
          <p:cNvPr id="18" name="Shape 15"/>
          <p:cNvSpPr/>
          <p:nvPr/>
        </p:nvSpPr>
        <p:spPr>
          <a:xfrm>
            <a:off x="822960" y="3108960"/>
            <a:ext cx="91440" cy="91440"/>
          </a:xfrm>
          <a:prstGeom prst="ellipse">
            <a:avLst/>
          </a:prstGeom>
          <a:solidFill>
            <a:schemeClr val="accent2"/>
          </a:solidFill>
          <a:ln w="19050">
            <a:solidFill>
              <a:schemeClr val="accent2"/>
            </a:solidFill>
            <a:prstDash val="solid"/>
          </a:ln>
        </p:spPr>
      </p:sp>
      <p:sp>
        <p:nvSpPr>
          <p:cNvPr id="19" name="Shape 16"/>
          <p:cNvSpPr/>
          <p:nvPr/>
        </p:nvSpPr>
        <p:spPr>
          <a:xfrm>
            <a:off x="1188720" y="4069080"/>
            <a:ext cx="91440" cy="91440"/>
          </a:xfrm>
          <a:prstGeom prst="ellipse">
            <a:avLst/>
          </a:prstGeom>
          <a:solidFill>
            <a:schemeClr val="accent2"/>
          </a:solidFill>
          <a:ln w="19050">
            <a:solidFill>
              <a:schemeClr val="accent2"/>
            </a:solidFill>
            <a:prstDash val="solid"/>
          </a:ln>
        </p:spPr>
      </p:sp>
      <p:sp>
        <p:nvSpPr>
          <p:cNvPr id="20" name="Shape 17"/>
          <p:cNvSpPr/>
          <p:nvPr/>
        </p:nvSpPr>
        <p:spPr>
          <a:xfrm>
            <a:off x="1554480" y="3017520"/>
            <a:ext cx="91440" cy="91440"/>
          </a:xfrm>
          <a:prstGeom prst="ellipse">
            <a:avLst/>
          </a:prstGeom>
          <a:solidFill>
            <a:schemeClr val="accent2"/>
          </a:solidFill>
          <a:ln w="19050">
            <a:solidFill>
              <a:schemeClr val="accent2"/>
            </a:solidFill>
            <a:prstDash val="solid"/>
          </a:ln>
        </p:spPr>
      </p:sp>
      <p:sp>
        <p:nvSpPr>
          <p:cNvPr id="21" name="Shape 18"/>
          <p:cNvSpPr/>
          <p:nvPr/>
        </p:nvSpPr>
        <p:spPr>
          <a:xfrm>
            <a:off x="1920240" y="3995928"/>
            <a:ext cx="91440" cy="91440"/>
          </a:xfrm>
          <a:prstGeom prst="ellipse">
            <a:avLst/>
          </a:prstGeom>
          <a:solidFill>
            <a:schemeClr val="accent2"/>
          </a:solidFill>
          <a:ln w="19050">
            <a:solidFill>
              <a:schemeClr val="accent2"/>
            </a:solidFill>
            <a:prstDash val="solid"/>
          </a:ln>
        </p:spPr>
      </p:sp>
      <p:sp>
        <p:nvSpPr>
          <p:cNvPr id="22" name="Shape 19"/>
          <p:cNvSpPr/>
          <p:nvPr/>
        </p:nvSpPr>
        <p:spPr>
          <a:xfrm>
            <a:off x="2286000" y="3154680"/>
            <a:ext cx="91440" cy="91440"/>
          </a:xfrm>
          <a:prstGeom prst="ellipse">
            <a:avLst/>
          </a:prstGeom>
          <a:solidFill>
            <a:schemeClr val="accent2"/>
          </a:solidFill>
          <a:ln w="19050">
            <a:solidFill>
              <a:schemeClr val="accent2"/>
            </a:solidFill>
            <a:prstDash val="solid"/>
          </a:ln>
        </p:spPr>
      </p:sp>
      <p:sp>
        <p:nvSpPr>
          <p:cNvPr id="23" name="Shape 20"/>
          <p:cNvSpPr/>
          <p:nvPr/>
        </p:nvSpPr>
        <p:spPr>
          <a:xfrm>
            <a:off x="2606040" y="3867912"/>
            <a:ext cx="91440" cy="91440"/>
          </a:xfrm>
          <a:prstGeom prst="ellipse">
            <a:avLst/>
          </a:prstGeom>
          <a:solidFill>
            <a:schemeClr val="accent2"/>
          </a:solidFill>
          <a:ln w="19050">
            <a:solidFill>
              <a:schemeClr val="accent2"/>
            </a:solidFill>
            <a:prstDash val="solid"/>
          </a:ln>
        </p:spPr>
      </p:sp>
      <p:sp>
        <p:nvSpPr>
          <p:cNvPr id="24" name="Shape 21"/>
          <p:cNvSpPr/>
          <p:nvPr/>
        </p:nvSpPr>
        <p:spPr>
          <a:xfrm>
            <a:off x="2880360" y="3291840"/>
            <a:ext cx="91440" cy="91440"/>
          </a:xfrm>
          <a:prstGeom prst="ellipse">
            <a:avLst/>
          </a:prstGeom>
          <a:solidFill>
            <a:schemeClr val="accent2"/>
          </a:solidFill>
          <a:ln w="19050">
            <a:solidFill>
              <a:schemeClr val="accent2"/>
            </a:solidFill>
            <a:prstDash val="solid"/>
          </a:ln>
        </p:spPr>
      </p:sp>
      <p:sp>
        <p:nvSpPr>
          <p:cNvPr id="25" name="Shape 22"/>
          <p:cNvSpPr/>
          <p:nvPr/>
        </p:nvSpPr>
        <p:spPr>
          <a:xfrm>
            <a:off x="3108960" y="3657600"/>
            <a:ext cx="91440" cy="91440"/>
          </a:xfrm>
          <a:prstGeom prst="ellipse">
            <a:avLst/>
          </a:prstGeom>
          <a:solidFill>
            <a:schemeClr val="accent2"/>
          </a:solidFill>
          <a:ln w="19050">
            <a:solidFill>
              <a:schemeClr val="accent2"/>
            </a:solidFill>
            <a:prstDash val="solid"/>
          </a:ln>
        </p:spPr>
      </p:sp>
      <p:sp>
        <p:nvSpPr>
          <p:cNvPr id="26" name="Shape 23"/>
          <p:cNvSpPr/>
          <p:nvPr/>
        </p:nvSpPr>
        <p:spPr>
          <a:xfrm>
            <a:off x="3246120" y="3520440"/>
            <a:ext cx="91440" cy="91440"/>
          </a:xfrm>
          <a:prstGeom prst="ellipse">
            <a:avLst/>
          </a:prstGeom>
          <a:solidFill>
            <a:schemeClr val="accent2"/>
          </a:solidFill>
          <a:ln w="19050">
            <a:solidFill>
              <a:schemeClr val="accent2"/>
            </a:solidFill>
            <a:prstDash val="solid"/>
          </a:ln>
        </p:spPr>
      </p:sp>
      <p:sp>
        <p:nvSpPr>
          <p:cNvPr id="27" name="Shape 24"/>
          <p:cNvSpPr/>
          <p:nvPr/>
        </p:nvSpPr>
        <p:spPr>
          <a:xfrm>
            <a:off x="3218688" y="3493008"/>
            <a:ext cx="146304" cy="146304"/>
          </a:xfrm>
          <a:prstGeom prst="ellipse">
            <a:avLst/>
          </a:prstGeom>
          <a:solidFill>
            <a:schemeClr val="tx1"/>
          </a:solidFill>
          <a:ln w="19050">
            <a:solidFill>
              <a:schemeClr val="tx1"/>
            </a:solidFill>
            <a:prstDash val="solid"/>
          </a:ln>
        </p:spPr>
      </p:sp>
      <p:sp>
        <p:nvSpPr>
          <p:cNvPr id="28" name="Text 25"/>
          <p:cNvSpPr txBox="1"/>
          <p:nvPr/>
        </p:nvSpPr>
        <p:spPr>
          <a:xfrm>
            <a:off x="548640" y="4526280"/>
            <a:ext cx="5486400" cy="731520"/>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Steep across the ravine: large λ.</a:t>
            </a:r>
            <a:endParaRPr lang="en-US" sz="1600" dirty="0"/>
          </a:p>
          <a:p>
            <a:pPr algn="l" indent="0" marL="0">
              <a:lnSpc>
                <a:spcPct val="105000"/>
              </a:lnSpc>
              <a:buNone/>
            </a:pPr>
            <a:r>
              <a:rPr lang="en-US" sz="1600" dirty="0">
                <a:solidFill>
                  <a:schemeClr val="tx2"/>
                </a:solidFill>
              </a:rPr>
              <a:t>Gentle along the floor: small λ.</a:t>
            </a:r>
            <a:endParaRPr lang="en-US" sz="1600" dirty="0"/>
          </a:p>
        </p:txBody>
      </p:sp>
      <p:sp>
        <p:nvSpPr>
          <p:cNvPr id="29" name="Text 26"/>
          <p:cNvSpPr txBox="1"/>
          <p:nvPr/>
        </p:nvSpPr>
        <p:spPr>
          <a:xfrm>
            <a:off x="548640" y="5303520"/>
            <a:ext cx="5486400" cy="411480"/>
          </a:xfrm>
          <a:prstGeom prst="rect">
            <a:avLst/>
          </a:prstGeom>
          <a:noFill/>
          <a:ln/>
        </p:spPr>
        <p:txBody>
          <a:bodyPr wrap="square" lIns="0" tIns="0" rIns="0" bIns="0" rtlCol="0" anchor="t"/>
          <a:lstStyle/>
          <a:p>
            <a:pPr algn="l" indent="0" marL="0">
              <a:lnSpc>
                <a:spcPct val="105000"/>
              </a:lnSpc>
              <a:buNone/>
            </a:pPr>
            <a:r>
              <a:rPr lang="en-US" sz="1800" b="1" dirty="0">
                <a:solidFill>
                  <a:schemeClr val="accent2"/>
                </a:solidFill>
              </a:rPr>
              <a:t>One scalar η must serve both.</a:t>
            </a:r>
            <a:endParaRPr lang="en-US" sz="1800" dirty="0"/>
          </a:p>
        </p:txBody>
      </p:sp>
      <p:sp>
        <p:nvSpPr>
          <p:cNvPr id="30" name="Text 27"/>
          <p:cNvSpPr txBox="1"/>
          <p:nvPr/>
        </p:nvSpPr>
        <p:spPr>
          <a:xfrm>
            <a:off x="548640" y="5760720"/>
            <a:ext cx="5486400" cy="32004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Illustrative path of plain gradient descent.</a:t>
            </a:r>
            <a:endParaRPr lang="en-US" sz="1300" dirty="0"/>
          </a:p>
        </p:txBody>
      </p:sp>
      <p:sp>
        <p:nvSpPr>
          <p:cNvPr id="31" name="Shape 28"/>
          <p:cNvSpPr/>
          <p:nvPr/>
        </p:nvSpPr>
        <p:spPr>
          <a:xfrm>
            <a:off x="6519672" y="1901952"/>
            <a:ext cx="0" cy="3236976"/>
          </a:xfrm>
          <a:prstGeom prst="line">
            <a:avLst/>
          </a:prstGeom>
          <a:noFill/>
          <a:ln w="25400">
            <a:solidFill>
              <a:schemeClr val="accent1">
                <a:alpha val="50000"/>
              </a:schemeClr>
            </a:solidFill>
            <a:prstDash val="solid"/>
          </a:ln>
        </p:spPr>
      </p:sp>
      <p:sp>
        <p:nvSpPr>
          <p:cNvPr id="32" name="Shape 29"/>
          <p:cNvSpPr/>
          <p:nvPr/>
        </p:nvSpPr>
        <p:spPr>
          <a:xfrm>
            <a:off x="6309360" y="1691640"/>
            <a:ext cx="420624" cy="420624"/>
          </a:xfrm>
          <a:prstGeom prst="ellipse">
            <a:avLst/>
          </a:prstGeom>
          <a:solidFill>
            <a:schemeClr val="accent1"/>
          </a:solidFill>
          <a:ln w="25400">
            <a:solidFill>
              <a:schemeClr val="bg1"/>
            </a:solidFill>
            <a:prstDash val="solid"/>
          </a:ln>
        </p:spPr>
      </p:sp>
      <p:sp>
        <p:nvSpPr>
          <p:cNvPr id="33" name="Text 30"/>
          <p:cNvSpPr txBox="1"/>
          <p:nvPr/>
        </p:nvSpPr>
        <p:spPr>
          <a:xfrm>
            <a:off x="630936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4" name="Text 31"/>
          <p:cNvSpPr txBox="1"/>
          <p:nvPr/>
        </p:nvSpPr>
        <p:spPr>
          <a:xfrm>
            <a:off x="6958584" y="1728216"/>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Saddles dominate</a:t>
            </a:r>
            <a:endParaRPr lang="en-US" sz="1900" dirty="0"/>
          </a:p>
        </p:txBody>
      </p:sp>
      <p:sp>
        <p:nvSpPr>
          <p:cNvPr id="35" name="Text 32"/>
          <p:cNvSpPr txBox="1"/>
          <p:nvPr/>
        </p:nvSpPr>
        <p:spPr>
          <a:xfrm>
            <a:off x="6958584" y="2031238"/>
            <a:ext cx="468172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All d eigenvalues positive has probability ≈ 2⁻ᵈ. Mini-batch noise helps escape.</a:t>
            </a:r>
            <a:endParaRPr lang="en-US" sz="1600" dirty="0"/>
          </a:p>
        </p:txBody>
      </p:sp>
      <p:sp>
        <p:nvSpPr>
          <p:cNvPr id="36" name="Shape 33"/>
          <p:cNvSpPr/>
          <p:nvPr/>
        </p:nvSpPr>
        <p:spPr>
          <a:xfrm>
            <a:off x="6309360" y="2770632"/>
            <a:ext cx="420624" cy="420624"/>
          </a:xfrm>
          <a:prstGeom prst="ellipse">
            <a:avLst/>
          </a:prstGeom>
          <a:solidFill>
            <a:schemeClr val="accent1"/>
          </a:solidFill>
          <a:ln w="25400">
            <a:solidFill>
              <a:schemeClr val="bg1"/>
            </a:solidFill>
            <a:prstDash val="solid"/>
          </a:ln>
        </p:spPr>
      </p:sp>
      <p:sp>
        <p:nvSpPr>
          <p:cNvPr id="37" name="Text 34"/>
          <p:cNvSpPr txBox="1"/>
          <p:nvPr/>
        </p:nvSpPr>
        <p:spPr>
          <a:xfrm>
            <a:off x="6309360" y="277063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8" name="Text 35"/>
          <p:cNvSpPr txBox="1"/>
          <p:nvPr/>
        </p:nvSpPr>
        <p:spPr>
          <a:xfrm>
            <a:off x="6958584" y="2807208"/>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Most minima are about equally good</a:t>
            </a:r>
            <a:endParaRPr lang="en-US" sz="1900" dirty="0"/>
          </a:p>
        </p:txBody>
      </p:sp>
      <p:sp>
        <p:nvSpPr>
          <p:cNvPr id="39" name="Text 36"/>
          <p:cNvSpPr txBox="1"/>
          <p:nvPr/>
        </p:nvSpPr>
        <p:spPr>
          <a:xfrm>
            <a:off x="6958584" y="3110230"/>
            <a:ext cx="468172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Different seeds, similar test loss.</a:t>
            </a:r>
            <a:endParaRPr lang="en-US" sz="1600" dirty="0"/>
          </a:p>
        </p:txBody>
      </p:sp>
      <p:sp>
        <p:nvSpPr>
          <p:cNvPr id="40" name="Shape 37"/>
          <p:cNvSpPr/>
          <p:nvPr/>
        </p:nvSpPr>
        <p:spPr>
          <a:xfrm>
            <a:off x="6309360" y="3849624"/>
            <a:ext cx="420624" cy="420624"/>
          </a:xfrm>
          <a:prstGeom prst="ellipse">
            <a:avLst/>
          </a:prstGeom>
          <a:solidFill>
            <a:schemeClr val="accent1"/>
          </a:solidFill>
          <a:ln w="25400">
            <a:solidFill>
              <a:schemeClr val="bg1"/>
            </a:solidFill>
            <a:prstDash val="solid"/>
          </a:ln>
        </p:spPr>
      </p:sp>
      <p:sp>
        <p:nvSpPr>
          <p:cNvPr id="41" name="Text 38"/>
          <p:cNvSpPr txBox="1"/>
          <p:nvPr/>
        </p:nvSpPr>
        <p:spPr>
          <a:xfrm>
            <a:off x="6309360" y="384962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2" name="Text 39"/>
          <p:cNvSpPr txBox="1"/>
          <p:nvPr/>
        </p:nvSpPr>
        <p:spPr>
          <a:xfrm>
            <a:off x="6958584" y="3886200"/>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Flat minima generalize better</a:t>
            </a:r>
            <a:endParaRPr lang="en-US" sz="1900" dirty="0"/>
          </a:p>
        </p:txBody>
      </p:sp>
      <p:sp>
        <p:nvSpPr>
          <p:cNvPr id="43" name="Text 40"/>
          <p:cNvSpPr txBox="1"/>
          <p:nvPr/>
        </p:nvSpPr>
        <p:spPr>
          <a:xfrm>
            <a:off x="6958584" y="4189222"/>
            <a:ext cx="468172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A useful heuristic, not a theorem.</a:t>
            </a:r>
            <a:endParaRPr lang="en-US" sz="1600" dirty="0"/>
          </a:p>
        </p:txBody>
      </p:sp>
      <p:sp>
        <p:nvSpPr>
          <p:cNvPr id="44" name="Shape 41"/>
          <p:cNvSpPr/>
          <p:nvPr/>
        </p:nvSpPr>
        <p:spPr>
          <a:xfrm>
            <a:off x="6309360" y="4928616"/>
            <a:ext cx="420624" cy="420624"/>
          </a:xfrm>
          <a:prstGeom prst="ellipse">
            <a:avLst/>
          </a:prstGeom>
          <a:solidFill>
            <a:schemeClr val="accent2"/>
          </a:solidFill>
          <a:ln w="25400">
            <a:solidFill>
              <a:schemeClr val="bg1"/>
            </a:solidFill>
            <a:prstDash val="solid"/>
          </a:ln>
        </p:spPr>
      </p:sp>
      <p:sp>
        <p:nvSpPr>
          <p:cNvPr id="45" name="Text 42"/>
          <p:cNvSpPr txBox="1"/>
          <p:nvPr/>
        </p:nvSpPr>
        <p:spPr>
          <a:xfrm>
            <a:off x="6309360" y="49286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46" name="Text 43"/>
          <p:cNvSpPr txBox="1"/>
          <p:nvPr/>
        </p:nvSpPr>
        <p:spPr>
          <a:xfrm>
            <a:off x="6958584" y="4965192"/>
            <a:ext cx="46817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Ill-conditioning is the real enemy</a:t>
            </a:r>
            <a:endParaRPr lang="en-US" sz="1900" dirty="0"/>
          </a:p>
        </p:txBody>
      </p:sp>
      <p:sp>
        <p:nvSpPr>
          <p:cNvPr id="47" name="Text 44"/>
          <p:cNvSpPr txBox="1"/>
          <p:nvPr/>
        </p:nvSpPr>
        <p:spPr>
          <a:xfrm>
            <a:off x="6958584" y="5268214"/>
            <a:ext cx="468172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Eigenvalues spanning orders of magnitude make a ravine.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GRADIENT DESCENT</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Changing batch size: scale η, warm up, or accumulate</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852160" cy="914400"/>
        </p:xfrm>
        <a:graphic>
          <a:graphicData uri="http://schemas.openxmlformats.org/drawingml/2006/table">
            <a:tbl>
              <a:tblPr/>
              <a:tblGrid>
                <a:gridCol w="2926080"/>
                <a:gridCol w="2926080"/>
              </a:tblGrid>
              <a:tr h="475488">
                <a:tc>
                  <a:txBody>
                    <a:bodyPr/>
                    <a:lstStyle/>
                    <a:p>
                      <a:pPr indent="0" marL="0">
                        <a:buNone/>
                      </a:pPr>
                      <a:r>
                        <a:rPr lang="en-US" sz="1600" b="1" dirty="0">
                          <a:solidFill>
                            <a:schemeClr val="bg1"/>
                          </a:solidFill>
                        </a:rPr>
                        <a:t>Larger batch</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Smaller batch</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75488">
                <a:tc>
                  <a:txBody>
                    <a:bodyPr/>
                    <a:lstStyle/>
                    <a:p>
                      <a:pPr indent="0" marL="0">
                        <a:buNone/>
                      </a:pPr>
                      <a:r>
                        <a:rPr lang="en-US" sz="1600" dirty="0">
                          <a:solidFill>
                            <a:schemeClr val="tx1"/>
                          </a:solidFill>
                        </a:rPr>
                        <a:t>Less noise, smoother curve</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Noisier; sometimes generalizes better</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75488">
                <a:tc>
                  <a:txBody>
                    <a:bodyPr/>
                    <a:lstStyle/>
                    <a:p>
                      <a:pPr indent="0" marL="0">
                        <a:buNone/>
                      </a:pPr>
                      <a:r>
                        <a:rPr lang="en-US" sz="1600" dirty="0">
                          <a:solidFill>
                            <a:schemeClr val="tx1"/>
                          </a:solidFill>
                        </a:rPr>
                        <a:t>Faster per epoch on a GPU</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Slower per epoch</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75488">
                <a:tc>
                  <a:txBody>
                    <a:bodyPr/>
                    <a:lstStyle/>
                    <a:p>
                      <a:pPr indent="0" marL="0">
                        <a:buNone/>
                      </a:pPr>
                      <a:r>
                        <a:rPr lang="en-US" sz="1600" dirty="0">
                          <a:solidFill>
                            <a:schemeClr val="tx1"/>
                          </a:solidFill>
                        </a:rPr>
                        <a:t>More memory</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Less memory</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75488">
                <a:tc>
                  <a:txBody>
                    <a:bodyPr/>
                    <a:lstStyle/>
                    <a:p>
                      <a:pPr indent="0" marL="0">
                        <a:buNone/>
                      </a:pPr>
                      <a:r>
                        <a:rPr lang="en-US" sz="1600" dirty="0">
                          <a:solidFill>
                            <a:schemeClr val="tx1"/>
                          </a:solidFill>
                        </a:rPr>
                        <a:t>Needs larger η and warmup</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600" dirty="0">
                          <a:solidFill>
                            <a:schemeClr val="tx1"/>
                          </a:solidFill>
                        </a:rPr>
                        <a:t>Tolerates a wide range of η</a:t>
                      </a:r>
                      <a:endParaRPr lang="en-US" sz="16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6" name="Shape 2"/>
          <p:cNvSpPr/>
          <p:nvPr/>
        </p:nvSpPr>
        <p:spPr>
          <a:xfrm>
            <a:off x="548640" y="4206240"/>
            <a:ext cx="5852160" cy="1737360"/>
          </a:xfrm>
          <a:prstGeom prst="roundRect">
            <a:avLst>
              <a:gd name="adj" fmla="val 4211"/>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749808" y="4407408"/>
            <a:ext cx="5449824"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Linear scaling rule (Goyal et al., 2017)</a:t>
            </a:r>
            <a:endParaRPr lang="en-US" sz="1900" dirty="0"/>
          </a:p>
        </p:txBody>
      </p:sp>
      <p:sp>
        <p:nvSpPr>
          <p:cNvPr id="8" name="Text 4"/>
          <p:cNvSpPr txBox="1"/>
          <p:nvPr/>
        </p:nvSpPr>
        <p:spPr>
          <a:xfrm>
            <a:off x="749808" y="4765294"/>
            <a:ext cx="5449824" cy="97713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Batch × k ⇒ η × k, plus linear warmup. Good up to a few thousand; validate it.</a:t>
            </a:r>
            <a:endParaRPr lang="en-US" sz="1600" dirty="0"/>
          </a:p>
        </p:txBody>
      </p:sp>
      <p:sp>
        <p:nvSpPr>
          <p:cNvPr id="9" name="Shape 5"/>
          <p:cNvSpPr/>
          <p:nvPr/>
        </p:nvSpPr>
        <p:spPr>
          <a:xfrm>
            <a:off x="6858000" y="1645920"/>
            <a:ext cx="4782312" cy="2456688"/>
          </a:xfrm>
          <a:prstGeom prst="roundRect">
            <a:avLst>
              <a:gd name="adj" fmla="val 2978"/>
            </a:avLst>
          </a:prstGeom>
          <a:solidFill>
            <a:schemeClr val="bg2"/>
          </a:solidFill>
          <a:ln w="12700">
            <a:solidFill>
              <a:schemeClr val="bg2"/>
            </a:solidFill>
            <a:prstDash val="solid"/>
          </a:ln>
        </p:spPr>
      </p:sp>
      <p:sp>
        <p:nvSpPr>
          <p:cNvPr id="10" name="Text 6"/>
          <p:cNvSpPr txBox="1"/>
          <p:nvPr/>
        </p:nvSpPr>
        <p:spPr>
          <a:xfrm>
            <a:off x="7059168" y="1764792"/>
            <a:ext cx="4379976" cy="274320"/>
          </a:xfrm>
          <a:prstGeom prst="rect">
            <a:avLst/>
          </a:prstGeom>
          <a:noFill/>
          <a:ln/>
        </p:spPr>
        <p:txBody>
          <a:bodyPr wrap="square" lIns="0" tIns="0" rIns="0" bIns="0" rtlCol="0" anchor="ctr"/>
          <a:lstStyle/>
          <a:p>
            <a:pPr indent="0" marL="0">
              <a:buNone/>
            </a:pPr>
            <a:r>
              <a:rPr lang="en-US" sz="1200" b="1" spc="120" kern="0" dirty="0">
                <a:solidFill>
                  <a:schemeClr val="accent1"/>
                </a:solidFill>
              </a:rPr>
              <a:t>GRADIENT ACCUMULATION</a:t>
            </a:r>
            <a:endParaRPr lang="en-US" sz="1200" dirty="0"/>
          </a:p>
        </p:txBody>
      </p:sp>
      <p:sp>
        <p:nvSpPr>
          <p:cNvPr id="11" name="Text 7"/>
          <p:cNvSpPr txBox="1"/>
          <p:nvPr/>
        </p:nvSpPr>
        <p:spPr>
          <a:xfrm>
            <a:off x="7059168" y="2167128"/>
            <a:ext cx="4379976" cy="1761744"/>
          </a:xfrm>
          <a:prstGeom prst="rect">
            <a:avLst/>
          </a:prstGeom>
          <a:noFill/>
          <a:ln/>
        </p:spPr>
        <p:txBody>
          <a:bodyPr wrap="square" lIns="0" tIns="0" rIns="0" bIns="0" rtlCol="0" anchor="t"/>
          <a:lstStyle/>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accum_steps = 4      </a:t>
            </a:r>
            <a:r>
              <a:rPr lang="en-US" sz="1400" dirty="0">
                <a:solidFill>
                  <a:schemeClr val="accent1"/>
                </a:solidFill>
                <a:latin typeface="Consolas" pitchFamily="34" charset="0"/>
                <a:ea typeface="Consolas" pitchFamily="34" charset="-122"/>
                <a:cs typeface="Consolas" pitchFamily="34" charset="-120"/>
              </a:rPr>
              <a:t># batch x4</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optimizer.zero_grad()</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for i, (x, y) in enumerate(loader):</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loss = criterion(model(x), y)</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(loss / accum_steps).backward()</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if (i + 1) % accum_steps == 0:</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optimizer.step()</a:t>
            </a:r>
            <a:endParaRPr lang="en-US" sz="1400" dirty="0"/>
          </a:p>
          <a:p>
            <a:pPr indent="0" marL="0">
              <a:lnSpc>
                <a:spcPct val="100000"/>
              </a:lnSpc>
              <a:buNone/>
            </a:pPr>
            <a:r>
              <a:rPr lang="en-US" sz="1400" dirty="0">
                <a:solidFill>
                  <a:schemeClr val="tx1"/>
                </a:solidFill>
                <a:latin typeface="Consolas" pitchFamily="34" charset="0"/>
                <a:ea typeface="Consolas" pitchFamily="34" charset="-122"/>
                <a:cs typeface="Consolas" pitchFamily="34" charset="-120"/>
              </a:rPr>
              <a:t>        optimizer.zero_grad()</a:t>
            </a:r>
            <a:endParaRPr lang="en-US" sz="1400" dirty="0"/>
          </a:p>
        </p:txBody>
      </p:sp>
      <p:sp>
        <p:nvSpPr>
          <p:cNvPr id="12" name="Text 8"/>
          <p:cNvSpPr txBox="1"/>
          <p:nvPr/>
        </p:nvSpPr>
        <p:spPr>
          <a:xfrm>
            <a:off x="6858000" y="4754880"/>
            <a:ext cx="4782312" cy="731520"/>
          </a:xfrm>
          <a:prstGeom prst="rect">
            <a:avLst/>
          </a:prstGeom>
          <a:noFill/>
          <a:ln/>
        </p:spPr>
        <p:txBody>
          <a:bodyPr wrap="square" lIns="0" tIns="0" rIns="0" bIns="0" rtlCol="0" anchor="t"/>
          <a:lstStyle/>
          <a:p>
            <a:pPr algn="l" indent="0" marL="0">
              <a:lnSpc>
                <a:spcPct val="105000"/>
              </a:lnSpc>
              <a:buNone/>
            </a:pPr>
            <a:r>
              <a:rPr lang="en-US" sz="1600" b="1" dirty="0">
                <a:solidFill>
                  <a:schemeClr val="accent2"/>
                </a:solidFill>
              </a:rPr>
              <a:t>Divide by accum_steps, or the effective η is 4× too large.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GRADIENT DESCENT</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Read training and validation loss together</a:t>
            </a:r>
            <a:endParaRPr lang="en-US" sz="3000" dirty="0"/>
          </a:p>
        </p:txBody>
      </p:sp>
      <p:sp>
        <p:nvSpPr>
          <p:cNvPr id="5" name="Text 2"/>
          <p:cNvSpPr txBox="1"/>
          <p:nvPr/>
        </p:nvSpPr>
        <p:spPr>
          <a:xfrm>
            <a:off x="548640" y="1645920"/>
            <a:ext cx="347472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Underfitting</a:t>
            </a:r>
            <a:endParaRPr lang="en-US" sz="1700" dirty="0"/>
          </a:p>
        </p:txBody>
      </p:sp>
      <p:graphicFrame>
        <p:nvGraphicFramePr>
          <p:cNvPr id="6" name="Chart 0" descr=""/>
          <p:cNvGraphicFramePr/>
          <p:nvPr/>
        </p:nvGraphicFramePr>
        <p:xfrm>
          <a:off x="457200" y="1938528"/>
          <a:ext cx="3566160" cy="15087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48640" y="3447288"/>
            <a:ext cx="347472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Bigger model, train longer</a:t>
            </a:r>
            <a:endParaRPr lang="en-US" sz="1400" dirty="0"/>
          </a:p>
        </p:txBody>
      </p:sp>
      <p:sp>
        <p:nvSpPr>
          <p:cNvPr id="8" name="Text 4"/>
          <p:cNvSpPr txBox="1"/>
          <p:nvPr/>
        </p:nvSpPr>
        <p:spPr>
          <a:xfrm>
            <a:off x="4206240" y="1645920"/>
            <a:ext cx="347472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Healthy</a:t>
            </a:r>
            <a:endParaRPr lang="en-US" sz="1700" dirty="0"/>
          </a:p>
        </p:txBody>
      </p:sp>
      <p:graphicFrame>
        <p:nvGraphicFramePr>
          <p:cNvPr id="9" name="Chart 1" descr=""/>
          <p:cNvGraphicFramePr/>
          <p:nvPr/>
        </p:nvGraphicFramePr>
        <p:xfrm>
          <a:off x="4114800" y="1938528"/>
          <a:ext cx="3566160" cy="150876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4206240" y="3447288"/>
            <a:ext cx="347472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Keep going</a:t>
            </a:r>
            <a:endParaRPr lang="en-US" sz="1400" dirty="0"/>
          </a:p>
        </p:txBody>
      </p:sp>
      <p:sp>
        <p:nvSpPr>
          <p:cNvPr id="11" name="Text 6"/>
          <p:cNvSpPr txBox="1"/>
          <p:nvPr/>
        </p:nvSpPr>
        <p:spPr>
          <a:xfrm>
            <a:off x="548640" y="3886200"/>
            <a:ext cx="347472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2"/>
                </a:solidFill>
              </a:rPr>
              <a:t>Overfitting</a:t>
            </a:r>
            <a:endParaRPr lang="en-US" sz="1700" dirty="0"/>
          </a:p>
        </p:txBody>
      </p:sp>
      <p:graphicFrame>
        <p:nvGraphicFramePr>
          <p:cNvPr id="12" name="Chart 2" descr=""/>
          <p:cNvGraphicFramePr/>
          <p:nvPr/>
        </p:nvGraphicFramePr>
        <p:xfrm>
          <a:off x="457200" y="4178808"/>
          <a:ext cx="3566160" cy="1508760"/>
        </p:xfrm>
        <a:graphic xmlns:a="http://schemas.openxmlformats.org/drawingml/2006/main">
          <a:graphicData uri="http://schemas.openxmlformats.org/drawingml/2006/chart">
            <c:chart xmlns:c="http://schemas.openxmlformats.org/drawingml/2006/chart" r:id="rId3"/>
          </a:graphicData>
        </a:graphic>
      </p:graphicFrame>
      <p:sp>
        <p:nvSpPr>
          <p:cNvPr id="13" name="Text 7"/>
          <p:cNvSpPr txBox="1"/>
          <p:nvPr/>
        </p:nvSpPr>
        <p:spPr>
          <a:xfrm>
            <a:off x="548640" y="5687568"/>
            <a:ext cx="347472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Regularize or stop early</a:t>
            </a:r>
            <a:endParaRPr lang="en-US" sz="1400" dirty="0"/>
          </a:p>
        </p:txBody>
      </p:sp>
      <p:sp>
        <p:nvSpPr>
          <p:cNvPr id="14" name="Text 8"/>
          <p:cNvSpPr txBox="1"/>
          <p:nvPr/>
        </p:nvSpPr>
        <p:spPr>
          <a:xfrm>
            <a:off x="4206240" y="3886200"/>
            <a:ext cx="347472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accent2"/>
                </a:solidFill>
              </a:rPr>
              <a:t>Broken</a:t>
            </a:r>
            <a:endParaRPr lang="en-US" sz="1700" dirty="0"/>
          </a:p>
        </p:txBody>
      </p:sp>
      <p:graphicFrame>
        <p:nvGraphicFramePr>
          <p:cNvPr id="15" name="Chart 3" descr=""/>
          <p:cNvGraphicFramePr/>
          <p:nvPr/>
        </p:nvGraphicFramePr>
        <p:xfrm>
          <a:off x="4114800" y="4178808"/>
          <a:ext cx="3566160" cy="1508760"/>
        </p:xfrm>
        <a:graphic xmlns:a="http://schemas.openxmlformats.org/drawingml/2006/main">
          <a:graphicData uri="http://schemas.openxmlformats.org/drawingml/2006/chart">
            <c:chart xmlns:c="http://schemas.openxmlformats.org/drawingml/2006/chart" r:id="rId4"/>
          </a:graphicData>
        </a:graphic>
      </p:graphicFrame>
      <p:sp>
        <p:nvSpPr>
          <p:cNvPr id="16" name="Text 9"/>
          <p:cNvSpPr txBox="1"/>
          <p:nvPr/>
        </p:nvSpPr>
        <p:spPr>
          <a:xfrm>
            <a:off x="4206240" y="5687568"/>
            <a:ext cx="3474720" cy="292608"/>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Bug: see debugging</a:t>
            </a:r>
            <a:endParaRPr lang="en-US" sz="1400" dirty="0"/>
          </a:p>
        </p:txBody>
      </p:sp>
      <p:sp>
        <p:nvSpPr>
          <p:cNvPr id="17" name="Shape 10"/>
          <p:cNvSpPr/>
          <p:nvPr/>
        </p:nvSpPr>
        <p:spPr>
          <a:xfrm>
            <a:off x="8110728" y="1709928"/>
            <a:ext cx="146304" cy="146304"/>
          </a:xfrm>
          <a:prstGeom prst="ellipse">
            <a:avLst/>
          </a:prstGeom>
          <a:solidFill>
            <a:schemeClr val="accent1"/>
          </a:solidFill>
          <a:ln w="19050">
            <a:solidFill>
              <a:schemeClr val="accent1"/>
            </a:solidFill>
            <a:prstDash val="solid"/>
          </a:ln>
        </p:spPr>
      </p:sp>
      <p:sp>
        <p:nvSpPr>
          <p:cNvPr id="18" name="Text 11"/>
          <p:cNvSpPr txBox="1"/>
          <p:nvPr/>
        </p:nvSpPr>
        <p:spPr>
          <a:xfrm>
            <a:off x="8321040" y="1645920"/>
            <a:ext cx="1828800" cy="292608"/>
          </a:xfrm>
          <a:prstGeom prst="rect">
            <a:avLst/>
          </a:prstGeom>
          <a:noFill/>
          <a:ln/>
        </p:spPr>
        <p:txBody>
          <a:bodyPr wrap="square" lIns="0" tIns="0" rIns="0" bIns="0" rtlCol="0" anchor="t"/>
          <a:lstStyle/>
          <a:p>
            <a:pPr algn="l" indent="0" marL="0">
              <a:lnSpc>
                <a:spcPct val="105000"/>
              </a:lnSpc>
              <a:buNone/>
            </a:pPr>
            <a:r>
              <a:rPr lang="en-US" sz="1500" dirty="0">
                <a:solidFill>
                  <a:schemeClr val="tx1"/>
                </a:solidFill>
              </a:rPr>
              <a:t>training loss</a:t>
            </a:r>
            <a:endParaRPr lang="en-US" sz="1500" dirty="0"/>
          </a:p>
        </p:txBody>
      </p:sp>
      <p:sp>
        <p:nvSpPr>
          <p:cNvPr id="19" name="Shape 12"/>
          <p:cNvSpPr/>
          <p:nvPr/>
        </p:nvSpPr>
        <p:spPr>
          <a:xfrm>
            <a:off x="9939528" y="1709928"/>
            <a:ext cx="146304" cy="146304"/>
          </a:xfrm>
          <a:prstGeom prst="ellipse">
            <a:avLst/>
          </a:prstGeom>
          <a:solidFill>
            <a:schemeClr val="accent2"/>
          </a:solidFill>
          <a:ln w="19050">
            <a:solidFill>
              <a:schemeClr val="accent2"/>
            </a:solidFill>
            <a:prstDash val="solid"/>
          </a:ln>
        </p:spPr>
      </p:sp>
      <p:sp>
        <p:nvSpPr>
          <p:cNvPr id="20" name="Text 13"/>
          <p:cNvSpPr txBox="1"/>
          <p:nvPr/>
        </p:nvSpPr>
        <p:spPr>
          <a:xfrm>
            <a:off x="10149840" y="1645920"/>
            <a:ext cx="1554480" cy="292608"/>
          </a:xfrm>
          <a:prstGeom prst="rect">
            <a:avLst/>
          </a:prstGeom>
          <a:noFill/>
          <a:ln/>
        </p:spPr>
        <p:txBody>
          <a:bodyPr wrap="square" lIns="0" tIns="0" rIns="0" bIns="0" rtlCol="0" anchor="t"/>
          <a:lstStyle/>
          <a:p>
            <a:pPr algn="l" indent="0" marL="0">
              <a:lnSpc>
                <a:spcPct val="105000"/>
              </a:lnSpc>
              <a:buNone/>
            </a:pPr>
            <a:r>
              <a:rPr lang="en-US" sz="1500" dirty="0">
                <a:solidFill>
                  <a:schemeClr val="tx1"/>
                </a:solidFill>
              </a:rPr>
              <a:t>validation loss</a:t>
            </a:r>
            <a:endParaRPr lang="en-US" sz="1500" dirty="0"/>
          </a:p>
        </p:txBody>
      </p:sp>
      <p:sp>
        <p:nvSpPr>
          <p:cNvPr id="21" name="Shape 14"/>
          <p:cNvSpPr/>
          <p:nvPr/>
        </p:nvSpPr>
        <p:spPr>
          <a:xfrm>
            <a:off x="8001000" y="2286000"/>
            <a:ext cx="3639312" cy="3611880"/>
          </a:xfrm>
          <a:prstGeom prst="roundRect">
            <a:avLst>
              <a:gd name="adj" fmla="val 2025"/>
            </a:avLst>
          </a:prstGeom>
          <a:solidFill>
            <a:schemeClr val="accent1">
              <a:alpha val="10000"/>
            </a:schemeClr>
          </a:solidFill>
          <a:ln w="12700">
            <a:solidFill>
              <a:schemeClr val="accent1">
                <a:alpha val="10000"/>
              </a:schemeClr>
            </a:solidFill>
            <a:prstDash val="solid"/>
          </a:ln>
        </p:spPr>
      </p:sp>
      <p:sp>
        <p:nvSpPr>
          <p:cNvPr id="22" name="Text 15"/>
          <p:cNvSpPr txBox="1"/>
          <p:nvPr/>
        </p:nvSpPr>
        <p:spPr>
          <a:xfrm>
            <a:off x="8202168" y="2487168"/>
            <a:ext cx="323697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Early stopping</a:t>
            </a:r>
            <a:endParaRPr lang="en-US" sz="1900" dirty="0"/>
          </a:p>
        </p:txBody>
      </p:sp>
      <p:sp>
        <p:nvSpPr>
          <p:cNvPr id="23" name="Text 16"/>
          <p:cNvSpPr txBox="1"/>
          <p:nvPr/>
        </p:nvSpPr>
        <p:spPr>
          <a:xfrm>
            <a:off x="8202168" y="2845054"/>
            <a:ext cx="3236976" cy="2851658"/>
          </a:xfrm>
          <a:prstGeom prst="rect">
            <a:avLst/>
          </a:prstGeom>
          <a:noFill/>
          <a:ln/>
        </p:spPr>
        <p:txBody>
          <a:bodyPr wrap="square" lIns="0" tIns="0" rIns="0" bIns="0" rtlCol="0" anchor="t"/>
          <a:lstStyle/>
          <a:p>
            <a:pPr algn="l" indent="0" marL="0">
              <a:lnSpc>
                <a:spcPct val="105000"/>
              </a:lnSpc>
              <a:spcAft>
                <a:spcPts val="600"/>
              </a:spcAft>
              <a:buNone/>
            </a:pPr>
            <a:r>
              <a:rPr lang="en-US" sz="1600" dirty="0">
                <a:solidFill>
                  <a:schemeClr val="tx1"/>
                </a:solidFill>
              </a:rPr>
              <a:t>Keep the parameters from the epoch with the </a:t>
            </a:r>
            <a:r>
              <a:rPr lang="en-US" sz="1600" b="1" dirty="0">
                <a:solidFill>
                  <a:schemeClr val="tx1"/>
                </a:solidFill>
              </a:rPr>
              <a:t>best validation loss</a:t>
            </a:r>
            <a:r>
              <a:rPr lang="en-US" sz="1600" dirty="0">
                <a:solidFill>
                  <a:schemeClr val="tx1"/>
                </a:solidFill>
              </a:rPr>
              <a:t>, not the last one.</a:t>
            </a:r>
            <a:endParaRPr lang="en-US" sz="1600" dirty="0"/>
          </a:p>
          <a:p>
            <a:pPr algn="l" indent="0" marL="0">
              <a:lnSpc>
                <a:spcPct val="105000"/>
              </a:lnSpc>
              <a:buNone/>
            </a:pPr>
            <a:r>
              <a:rPr lang="en-US" sz="1600" dirty="0">
                <a:solidFill>
                  <a:schemeClr val="tx1"/>
                </a:solidFill>
              </a:rPr>
              <a:t>It costs nothing. Always save the best checkpoint.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gradient descent</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0292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60,000 training examples, batch size 128, 20 epochs. How many parameter updates?</a:t>
            </a:r>
            <a:endParaRPr lang="en-US" sz="2000" dirty="0"/>
          </a:p>
        </p:txBody>
      </p:sp>
      <p:sp>
        <p:nvSpPr>
          <p:cNvPr id="8" name="Shape 5"/>
          <p:cNvSpPr/>
          <p:nvPr/>
        </p:nvSpPr>
        <p:spPr>
          <a:xfrm>
            <a:off x="576072" y="253288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5328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5694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Your loss oscillates wildly between epochs but trends downward. Give two plausible causes.</a:t>
            </a:r>
            <a:endParaRPr lang="en-US" sz="2000" dirty="0"/>
          </a:p>
        </p:txBody>
      </p:sp>
      <p:sp>
        <p:nvSpPr>
          <p:cNvPr id="11" name="Shape 8"/>
          <p:cNvSpPr/>
          <p:nvPr/>
        </p:nvSpPr>
        <p:spPr>
          <a:xfrm>
            <a:off x="576072" y="354380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5438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5803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Why do 4 accumulated steps of batch 16 not exactly reproduce one step of batch 64?</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§7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gradient descent</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60,000 training examples, batch size 128, 20 epochs. How many parameter updates?</a:t>
            </a:r>
            <a:endParaRPr lang="en-US" sz="1600" dirty="0"/>
          </a:p>
        </p:txBody>
      </p:sp>
      <p:sp>
        <p:nvSpPr>
          <p:cNvPr id="8" name="Text 5"/>
          <p:cNvSpPr txBox="1"/>
          <p:nvPr/>
        </p:nvSpPr>
        <p:spPr>
          <a:xfrm>
            <a:off x="1234440" y="1849120"/>
            <a:ext cx="10378440" cy="349504"/>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ceil(60,000 / 128) = 469 iterations per epoch, × 20 = 9,380 updates.</a:t>
            </a:r>
            <a:endParaRPr lang="en-US" sz="1600" dirty="0"/>
          </a:p>
        </p:txBody>
      </p:sp>
      <p:sp>
        <p:nvSpPr>
          <p:cNvPr id="9" name="Shape 6"/>
          <p:cNvSpPr/>
          <p:nvPr/>
        </p:nvSpPr>
        <p:spPr>
          <a:xfrm>
            <a:off x="576072" y="2463800"/>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46380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463800"/>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Your loss oscillates wildly between epochs but trends downward. Give two plausible causes.</a:t>
            </a:r>
            <a:endParaRPr lang="en-US" sz="1600" dirty="0"/>
          </a:p>
        </p:txBody>
      </p:sp>
      <p:sp>
        <p:nvSpPr>
          <p:cNvPr id="12" name="Text 9"/>
          <p:cNvSpPr txBox="1"/>
          <p:nvPr/>
        </p:nvSpPr>
        <p:spPr>
          <a:xfrm>
            <a:off x="1234440" y="2758440"/>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 learning rate slightly too high, or a batch too small, giving noisy gradients. Also possible: an unshuffled loader that shows classes in a fixed order.</a:t>
            </a:r>
            <a:endParaRPr lang="en-US" sz="1600" dirty="0"/>
          </a:p>
        </p:txBody>
      </p:sp>
      <p:sp>
        <p:nvSpPr>
          <p:cNvPr id="13" name="Shape 10"/>
          <p:cNvSpPr/>
          <p:nvPr/>
        </p:nvSpPr>
        <p:spPr>
          <a:xfrm>
            <a:off x="576072" y="3612896"/>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3612896"/>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3612896"/>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Why do 4 accumulated steps of batch 16 not exactly reproduce one step of batch 64?</a:t>
            </a:r>
            <a:endParaRPr lang="en-US" sz="1600" dirty="0"/>
          </a:p>
        </p:txBody>
      </p:sp>
      <p:sp>
        <p:nvSpPr>
          <p:cNvPr id="16" name="Text 13"/>
          <p:cNvSpPr txBox="1"/>
          <p:nvPr/>
        </p:nvSpPr>
        <p:spPr>
          <a:xfrm>
            <a:off x="1234440" y="3907536"/>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BatchNorm computes statistics per forward pass: four sets over 16 examples, not one over 64. Without normalization layers the two match up to floating-point order.</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315200" cy="411480"/>
          </a:xfrm>
          <a:prstGeom prst="rect">
            <a:avLst/>
          </a:prstGeom>
          <a:noFill/>
          <a:ln/>
        </p:spPr>
        <p:txBody>
          <a:bodyPr wrap="square" lIns="0" tIns="0" rIns="0" bIns="0" rtlCol="0"/>
          <a:lstStyle/>
          <a:p>
            <a:pPr indent="0" marL="0">
              <a:buNone/>
            </a:pPr>
            <a:r>
              <a:rPr lang="en-US" sz="1600" b="1" spc="200" kern="0" dirty="0">
                <a:solidFill>
                  <a:schemeClr val="accent6"/>
                </a:solidFill>
              </a:rPr>
              <a:t>SECTION 8</a:t>
            </a:r>
            <a:endParaRPr lang="en-US" sz="1600" dirty="0"/>
          </a:p>
        </p:txBody>
      </p:sp>
      <p:sp>
        <p:nvSpPr>
          <p:cNvPr id="3" name="Text 0"/>
          <p:cNvSpPr/>
          <p:nvPr>
            <p:ph idx="101" type="title" hasCustomPrompt="1"/>
          </p:nvPr>
        </p:nvSpPr>
        <p:spPr>
          <a:xfrm>
            <a:off x="731520" y="1920240"/>
            <a:ext cx="6949440" cy="2103120"/>
          </a:xfrm>
          <a:prstGeom prst="rect">
            <a:avLst/>
          </a:prstGeom>
          <a:noFill/>
          <a:ln/>
        </p:spPr>
        <p:txBody>
          <a:bodyPr wrap="square" lIns="0" tIns="0" rIns="0" bIns="0" rtlCol="0" anchor="t"/>
          <a:lstStyle/>
          <a:p>
            <a:pPr algn="l" indent="0" marL="0">
              <a:buNone/>
            </a:pPr>
            <a:r>
              <a:rPr lang="en-US" sz="4400" b="1" dirty="0">
                <a:solidFill>
                  <a:schemeClr val="bg1"/>
                </a:solidFill>
              </a:rPr>
              <a:t>Why deep?</a:t>
            </a:r>
            <a:endParaRPr lang="en-US" sz="4400" dirty="0"/>
          </a:p>
        </p:txBody>
      </p:sp>
      <p:sp>
        <p:nvSpPr>
          <p:cNvPr id="4" name="Text 0"/>
          <p:cNvSpPr/>
          <p:nvPr>
            <p:ph idx="102" type="body" hasCustomPrompt="1"/>
          </p:nvPr>
        </p:nvSpPr>
        <p:spPr>
          <a:xfrm>
            <a:off x="731520" y="4160520"/>
            <a:ext cx="6766560" cy="1280160"/>
          </a:xfrm>
          <a:prstGeom prst="rect">
            <a:avLst/>
          </a:prstGeom>
          <a:noFill/>
          <a:ln/>
        </p:spPr>
        <p:txBody>
          <a:bodyPr wrap="square" lIns="0" tIns="0" rIns="0" bIns="0" rtlCol="0" anchor="t"/>
          <a:lstStyle/>
          <a:p>
            <a:pPr algn="l" indent="0" marL="0">
              <a:buNone/>
            </a:pPr>
            <a:r>
              <a:rPr lang="en-US" sz="2000" dirty="0">
                <a:solidFill>
                  <a:schemeClr val="bg2"/>
                </a:solidFill>
              </a:rPr>
              <a:t>One hidden layer suffices in principle. Depth makes it efficient in practice.</a:t>
            </a:r>
            <a:endParaRPr lang="en-US" sz="2000" dirty="0"/>
          </a:p>
        </p:txBody>
      </p:sp>
      <p:sp>
        <p:nvSpPr>
          <p:cNvPr id="5" name="Text 3"/>
          <p:cNvSpPr txBox="1"/>
          <p:nvPr/>
        </p:nvSpPr>
        <p:spPr>
          <a:xfrm>
            <a:off x="8138160" y="1737360"/>
            <a:ext cx="3474720" cy="2377440"/>
          </a:xfrm>
          <a:prstGeom prst="rect">
            <a:avLst/>
          </a:prstGeom>
          <a:noFill/>
          <a:ln/>
        </p:spPr>
        <p:txBody>
          <a:bodyPr wrap="square" lIns="0" tIns="0" rIns="0" bIns="0" rtlCol="0" anchor="t"/>
          <a:lstStyle/>
          <a:p>
            <a:pPr algn="r" indent="0" marL="0">
              <a:lnSpc>
                <a:spcPct val="105000"/>
              </a:lnSpc>
              <a:buNone/>
            </a:pPr>
            <a:r>
              <a:rPr lang="en-US" sz="15000" b="1" dirty="0">
                <a:solidFill>
                  <a:schemeClr val="accent6"/>
                </a:solidFill>
              </a:rPr>
              <a:t>§8</a:t>
            </a:r>
            <a:endParaRPr lang="en-US" sz="15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§8 · WHY DEEP?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Depth can be exponentially more efficient than width</a:t>
            </a:r>
            <a:endParaRPr lang="en-US" sz="3000" dirty="0"/>
          </a:p>
        </p:txBody>
      </p:sp>
      <p:sp>
        <p:nvSpPr>
          <p:cNvPr id="5" name="Text 2"/>
          <p:cNvSpPr txBox="1"/>
          <p:nvPr/>
        </p:nvSpPr>
        <p:spPr>
          <a:xfrm>
            <a:off x="548640" y="1828800"/>
            <a:ext cx="155448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Depth 1</a:t>
            </a:r>
            <a:endParaRPr lang="en-US" sz="1700" dirty="0"/>
          </a:p>
        </p:txBody>
      </p:sp>
      <p:sp>
        <p:nvSpPr>
          <p:cNvPr id="6" name="Text 3"/>
          <p:cNvSpPr txBox="1"/>
          <p:nvPr/>
        </p:nvSpPr>
        <p:spPr>
          <a:xfrm>
            <a:off x="548640" y="2148840"/>
            <a:ext cx="1645920" cy="320040"/>
          </a:xfrm>
          <a:prstGeom prst="rect">
            <a:avLst/>
          </a:prstGeom>
          <a:noFill/>
          <a:ln/>
        </p:spPr>
        <p:txBody>
          <a:bodyPr wrap="square" lIns="0" tIns="0" rIns="0" bIns="0" rtlCol="0" anchor="t"/>
          <a:lstStyle/>
          <a:p>
            <a:pPr algn="l" indent="0" marL="0">
              <a:lnSpc>
                <a:spcPct val="105000"/>
              </a:lnSpc>
              <a:buNone/>
            </a:pPr>
            <a:r>
              <a:rPr lang="en-US" sz="1400" dirty="0">
                <a:solidFill>
                  <a:schemeClr val="accent1"/>
                </a:solidFill>
              </a:rPr>
              <a:t>2 linear pieces</a:t>
            </a:r>
            <a:endParaRPr lang="en-US" sz="1400" dirty="0"/>
          </a:p>
        </p:txBody>
      </p:sp>
      <p:sp>
        <p:nvSpPr>
          <p:cNvPr id="7" name="Shape 4"/>
          <p:cNvSpPr/>
          <p:nvPr/>
        </p:nvSpPr>
        <p:spPr>
          <a:xfrm flipV="1">
            <a:off x="2194560" y="1874520"/>
            <a:ext cx="2011680" cy="548640"/>
          </a:xfrm>
          <a:prstGeom prst="line">
            <a:avLst/>
          </a:prstGeom>
          <a:noFill/>
          <a:ln w="28575">
            <a:solidFill>
              <a:srgbClr val="0F7B78"/>
            </a:solidFill>
            <a:prstDash val="solid"/>
          </a:ln>
        </p:spPr>
      </p:sp>
      <p:sp>
        <p:nvSpPr>
          <p:cNvPr id="8" name="Shape 5"/>
          <p:cNvSpPr/>
          <p:nvPr/>
        </p:nvSpPr>
        <p:spPr>
          <a:xfrm>
            <a:off x="4206240" y="1874520"/>
            <a:ext cx="2011680" cy="548640"/>
          </a:xfrm>
          <a:prstGeom prst="line">
            <a:avLst/>
          </a:prstGeom>
          <a:noFill/>
          <a:ln w="28575">
            <a:solidFill>
              <a:srgbClr val="0F7B78"/>
            </a:solidFill>
            <a:prstDash val="solid"/>
          </a:ln>
        </p:spPr>
      </p:sp>
      <p:sp>
        <p:nvSpPr>
          <p:cNvPr id="9" name="Text 6"/>
          <p:cNvSpPr txBox="1"/>
          <p:nvPr/>
        </p:nvSpPr>
        <p:spPr>
          <a:xfrm>
            <a:off x="548640" y="2926080"/>
            <a:ext cx="155448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Depth 2</a:t>
            </a:r>
            <a:endParaRPr lang="en-US" sz="1700" dirty="0"/>
          </a:p>
        </p:txBody>
      </p:sp>
      <p:sp>
        <p:nvSpPr>
          <p:cNvPr id="10" name="Text 7"/>
          <p:cNvSpPr txBox="1"/>
          <p:nvPr/>
        </p:nvSpPr>
        <p:spPr>
          <a:xfrm>
            <a:off x="548640" y="3246120"/>
            <a:ext cx="1645920" cy="320040"/>
          </a:xfrm>
          <a:prstGeom prst="rect">
            <a:avLst/>
          </a:prstGeom>
          <a:noFill/>
          <a:ln/>
        </p:spPr>
        <p:txBody>
          <a:bodyPr wrap="square" lIns="0" tIns="0" rIns="0" bIns="0" rtlCol="0" anchor="t"/>
          <a:lstStyle/>
          <a:p>
            <a:pPr algn="l" indent="0" marL="0">
              <a:lnSpc>
                <a:spcPct val="105000"/>
              </a:lnSpc>
              <a:buNone/>
            </a:pPr>
            <a:r>
              <a:rPr lang="en-US" sz="1400" dirty="0">
                <a:solidFill>
                  <a:schemeClr val="accent1"/>
                </a:solidFill>
              </a:rPr>
              <a:t>4 linear pieces</a:t>
            </a:r>
            <a:endParaRPr lang="en-US" sz="1400" dirty="0"/>
          </a:p>
        </p:txBody>
      </p:sp>
      <p:sp>
        <p:nvSpPr>
          <p:cNvPr id="11" name="Shape 8"/>
          <p:cNvSpPr/>
          <p:nvPr/>
        </p:nvSpPr>
        <p:spPr>
          <a:xfrm flipV="1">
            <a:off x="2194560" y="2971800"/>
            <a:ext cx="1005840" cy="548640"/>
          </a:xfrm>
          <a:prstGeom prst="line">
            <a:avLst/>
          </a:prstGeom>
          <a:noFill/>
          <a:ln w="28575">
            <a:solidFill>
              <a:srgbClr val="0F7B78"/>
            </a:solidFill>
            <a:prstDash val="solid"/>
          </a:ln>
        </p:spPr>
      </p:sp>
      <p:sp>
        <p:nvSpPr>
          <p:cNvPr id="12" name="Shape 9"/>
          <p:cNvSpPr/>
          <p:nvPr/>
        </p:nvSpPr>
        <p:spPr>
          <a:xfrm>
            <a:off x="3200400" y="2971800"/>
            <a:ext cx="1005840" cy="548640"/>
          </a:xfrm>
          <a:prstGeom prst="line">
            <a:avLst/>
          </a:prstGeom>
          <a:noFill/>
          <a:ln w="28575">
            <a:solidFill>
              <a:srgbClr val="0F7B78"/>
            </a:solidFill>
            <a:prstDash val="solid"/>
          </a:ln>
        </p:spPr>
      </p:sp>
      <p:sp>
        <p:nvSpPr>
          <p:cNvPr id="13" name="Shape 10"/>
          <p:cNvSpPr/>
          <p:nvPr/>
        </p:nvSpPr>
        <p:spPr>
          <a:xfrm flipV="1">
            <a:off x="4206240" y="2971800"/>
            <a:ext cx="1005840" cy="548640"/>
          </a:xfrm>
          <a:prstGeom prst="line">
            <a:avLst/>
          </a:prstGeom>
          <a:noFill/>
          <a:ln w="28575">
            <a:solidFill>
              <a:srgbClr val="0F7B78"/>
            </a:solidFill>
            <a:prstDash val="solid"/>
          </a:ln>
        </p:spPr>
      </p:sp>
      <p:sp>
        <p:nvSpPr>
          <p:cNvPr id="14" name="Shape 11"/>
          <p:cNvSpPr/>
          <p:nvPr/>
        </p:nvSpPr>
        <p:spPr>
          <a:xfrm>
            <a:off x="5212080" y="2971800"/>
            <a:ext cx="1005840" cy="548640"/>
          </a:xfrm>
          <a:prstGeom prst="line">
            <a:avLst/>
          </a:prstGeom>
          <a:noFill/>
          <a:ln w="28575">
            <a:solidFill>
              <a:srgbClr val="0F7B78"/>
            </a:solidFill>
            <a:prstDash val="solid"/>
          </a:ln>
        </p:spPr>
      </p:sp>
      <p:sp>
        <p:nvSpPr>
          <p:cNvPr id="15" name="Text 12"/>
          <p:cNvSpPr txBox="1"/>
          <p:nvPr/>
        </p:nvSpPr>
        <p:spPr>
          <a:xfrm>
            <a:off x="548640" y="4023360"/>
            <a:ext cx="155448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Depth 3</a:t>
            </a:r>
            <a:endParaRPr lang="en-US" sz="1700" dirty="0"/>
          </a:p>
        </p:txBody>
      </p:sp>
      <p:sp>
        <p:nvSpPr>
          <p:cNvPr id="16" name="Text 13"/>
          <p:cNvSpPr txBox="1"/>
          <p:nvPr/>
        </p:nvSpPr>
        <p:spPr>
          <a:xfrm>
            <a:off x="548640" y="4343400"/>
            <a:ext cx="1645920" cy="320040"/>
          </a:xfrm>
          <a:prstGeom prst="rect">
            <a:avLst/>
          </a:prstGeom>
          <a:noFill/>
          <a:ln/>
        </p:spPr>
        <p:txBody>
          <a:bodyPr wrap="square" lIns="0" tIns="0" rIns="0" bIns="0" rtlCol="0" anchor="t"/>
          <a:lstStyle/>
          <a:p>
            <a:pPr algn="l" indent="0" marL="0">
              <a:lnSpc>
                <a:spcPct val="105000"/>
              </a:lnSpc>
              <a:buNone/>
            </a:pPr>
            <a:r>
              <a:rPr lang="en-US" sz="1400" dirty="0">
                <a:solidFill>
                  <a:schemeClr val="accent1"/>
                </a:solidFill>
              </a:rPr>
              <a:t>8 linear pieces</a:t>
            </a:r>
            <a:endParaRPr lang="en-US" sz="1400" dirty="0"/>
          </a:p>
        </p:txBody>
      </p:sp>
      <p:sp>
        <p:nvSpPr>
          <p:cNvPr id="17" name="Shape 14"/>
          <p:cNvSpPr/>
          <p:nvPr/>
        </p:nvSpPr>
        <p:spPr>
          <a:xfrm flipV="1">
            <a:off x="2194560" y="4069080"/>
            <a:ext cx="502920" cy="548640"/>
          </a:xfrm>
          <a:prstGeom prst="line">
            <a:avLst/>
          </a:prstGeom>
          <a:noFill/>
          <a:ln w="28575">
            <a:solidFill>
              <a:srgbClr val="0F7B78"/>
            </a:solidFill>
            <a:prstDash val="solid"/>
          </a:ln>
        </p:spPr>
      </p:sp>
      <p:sp>
        <p:nvSpPr>
          <p:cNvPr id="18" name="Shape 15"/>
          <p:cNvSpPr/>
          <p:nvPr/>
        </p:nvSpPr>
        <p:spPr>
          <a:xfrm>
            <a:off x="2697480" y="4069080"/>
            <a:ext cx="502920" cy="548640"/>
          </a:xfrm>
          <a:prstGeom prst="line">
            <a:avLst/>
          </a:prstGeom>
          <a:noFill/>
          <a:ln w="28575">
            <a:solidFill>
              <a:srgbClr val="0F7B78"/>
            </a:solidFill>
            <a:prstDash val="solid"/>
          </a:ln>
        </p:spPr>
      </p:sp>
      <p:sp>
        <p:nvSpPr>
          <p:cNvPr id="19" name="Shape 16"/>
          <p:cNvSpPr/>
          <p:nvPr/>
        </p:nvSpPr>
        <p:spPr>
          <a:xfrm flipV="1">
            <a:off x="3200400" y="4069080"/>
            <a:ext cx="502920" cy="548640"/>
          </a:xfrm>
          <a:prstGeom prst="line">
            <a:avLst/>
          </a:prstGeom>
          <a:noFill/>
          <a:ln w="28575">
            <a:solidFill>
              <a:srgbClr val="0F7B78"/>
            </a:solidFill>
            <a:prstDash val="solid"/>
          </a:ln>
        </p:spPr>
      </p:sp>
      <p:sp>
        <p:nvSpPr>
          <p:cNvPr id="20" name="Shape 17"/>
          <p:cNvSpPr/>
          <p:nvPr/>
        </p:nvSpPr>
        <p:spPr>
          <a:xfrm>
            <a:off x="3703320" y="4069080"/>
            <a:ext cx="502920" cy="548640"/>
          </a:xfrm>
          <a:prstGeom prst="line">
            <a:avLst/>
          </a:prstGeom>
          <a:noFill/>
          <a:ln w="28575">
            <a:solidFill>
              <a:srgbClr val="0F7B78"/>
            </a:solidFill>
            <a:prstDash val="solid"/>
          </a:ln>
        </p:spPr>
      </p:sp>
      <p:sp>
        <p:nvSpPr>
          <p:cNvPr id="21" name="Shape 18"/>
          <p:cNvSpPr/>
          <p:nvPr/>
        </p:nvSpPr>
        <p:spPr>
          <a:xfrm flipV="1">
            <a:off x="4206240" y="4069080"/>
            <a:ext cx="502920" cy="548640"/>
          </a:xfrm>
          <a:prstGeom prst="line">
            <a:avLst/>
          </a:prstGeom>
          <a:noFill/>
          <a:ln w="28575">
            <a:solidFill>
              <a:srgbClr val="0F7B78"/>
            </a:solidFill>
            <a:prstDash val="solid"/>
          </a:ln>
        </p:spPr>
      </p:sp>
      <p:sp>
        <p:nvSpPr>
          <p:cNvPr id="22" name="Shape 19"/>
          <p:cNvSpPr/>
          <p:nvPr/>
        </p:nvSpPr>
        <p:spPr>
          <a:xfrm>
            <a:off x="4709160" y="4069080"/>
            <a:ext cx="502920" cy="548640"/>
          </a:xfrm>
          <a:prstGeom prst="line">
            <a:avLst/>
          </a:prstGeom>
          <a:noFill/>
          <a:ln w="28575">
            <a:solidFill>
              <a:srgbClr val="0F7B78"/>
            </a:solidFill>
            <a:prstDash val="solid"/>
          </a:ln>
        </p:spPr>
      </p:sp>
      <p:sp>
        <p:nvSpPr>
          <p:cNvPr id="23" name="Shape 20"/>
          <p:cNvSpPr/>
          <p:nvPr/>
        </p:nvSpPr>
        <p:spPr>
          <a:xfrm flipV="1">
            <a:off x="5212080" y="4069080"/>
            <a:ext cx="502920" cy="548640"/>
          </a:xfrm>
          <a:prstGeom prst="line">
            <a:avLst/>
          </a:prstGeom>
          <a:noFill/>
          <a:ln w="28575">
            <a:solidFill>
              <a:srgbClr val="0F7B78"/>
            </a:solidFill>
            <a:prstDash val="solid"/>
          </a:ln>
        </p:spPr>
      </p:sp>
      <p:sp>
        <p:nvSpPr>
          <p:cNvPr id="24" name="Shape 21"/>
          <p:cNvSpPr/>
          <p:nvPr/>
        </p:nvSpPr>
        <p:spPr>
          <a:xfrm>
            <a:off x="5715000" y="4069080"/>
            <a:ext cx="502920" cy="548640"/>
          </a:xfrm>
          <a:prstGeom prst="line">
            <a:avLst/>
          </a:prstGeom>
          <a:noFill/>
          <a:ln w="28575">
            <a:solidFill>
              <a:srgbClr val="0F7B78"/>
            </a:solidFill>
            <a:prstDash val="solid"/>
          </a:ln>
        </p:spPr>
      </p:sp>
      <p:sp>
        <p:nvSpPr>
          <p:cNvPr id="25" name="Text 22"/>
          <p:cNvSpPr txBox="1"/>
          <p:nvPr/>
        </p:nvSpPr>
        <p:spPr>
          <a:xfrm>
            <a:off x="548640" y="5120640"/>
            <a:ext cx="1554480" cy="320040"/>
          </a:xfrm>
          <a:prstGeom prst="rect">
            <a:avLst/>
          </a:prstGeom>
          <a:noFill/>
          <a:ln/>
        </p:spPr>
        <p:txBody>
          <a:bodyPr wrap="square" lIns="0" tIns="0" rIns="0" bIns="0" rtlCol="0" anchor="t"/>
          <a:lstStyle/>
          <a:p>
            <a:pPr algn="l" indent="0" marL="0">
              <a:lnSpc>
                <a:spcPct val="105000"/>
              </a:lnSpc>
              <a:buNone/>
            </a:pPr>
            <a:r>
              <a:rPr lang="en-US" sz="1700" b="1" dirty="0">
                <a:solidFill>
                  <a:schemeClr val="tx1"/>
                </a:solidFill>
              </a:rPr>
              <a:t>Depth 4</a:t>
            </a:r>
            <a:endParaRPr lang="en-US" sz="1700" dirty="0"/>
          </a:p>
        </p:txBody>
      </p:sp>
      <p:sp>
        <p:nvSpPr>
          <p:cNvPr id="26" name="Text 23"/>
          <p:cNvSpPr txBox="1"/>
          <p:nvPr/>
        </p:nvSpPr>
        <p:spPr>
          <a:xfrm>
            <a:off x="548640" y="5440680"/>
            <a:ext cx="1645920" cy="320040"/>
          </a:xfrm>
          <a:prstGeom prst="rect">
            <a:avLst/>
          </a:prstGeom>
          <a:noFill/>
          <a:ln/>
        </p:spPr>
        <p:txBody>
          <a:bodyPr wrap="square" lIns="0" tIns="0" rIns="0" bIns="0" rtlCol="0" anchor="t"/>
          <a:lstStyle/>
          <a:p>
            <a:pPr algn="l" indent="0" marL="0">
              <a:lnSpc>
                <a:spcPct val="105000"/>
              </a:lnSpc>
              <a:buNone/>
            </a:pPr>
            <a:r>
              <a:rPr lang="en-US" sz="1400" dirty="0">
                <a:solidFill>
                  <a:schemeClr val="accent1"/>
                </a:solidFill>
              </a:rPr>
              <a:t>16 linear pieces</a:t>
            </a:r>
            <a:endParaRPr lang="en-US" sz="1400" dirty="0"/>
          </a:p>
        </p:txBody>
      </p:sp>
      <p:sp>
        <p:nvSpPr>
          <p:cNvPr id="27" name="Shape 24"/>
          <p:cNvSpPr/>
          <p:nvPr/>
        </p:nvSpPr>
        <p:spPr>
          <a:xfrm flipV="1">
            <a:off x="2194560" y="5166360"/>
            <a:ext cx="251460" cy="548640"/>
          </a:xfrm>
          <a:prstGeom prst="line">
            <a:avLst/>
          </a:prstGeom>
          <a:noFill/>
          <a:ln w="28575">
            <a:solidFill>
              <a:srgbClr val="0F7B78"/>
            </a:solidFill>
            <a:prstDash val="solid"/>
          </a:ln>
        </p:spPr>
      </p:sp>
      <p:sp>
        <p:nvSpPr>
          <p:cNvPr id="28" name="Shape 25"/>
          <p:cNvSpPr/>
          <p:nvPr/>
        </p:nvSpPr>
        <p:spPr>
          <a:xfrm>
            <a:off x="2446020" y="5166360"/>
            <a:ext cx="251460" cy="548640"/>
          </a:xfrm>
          <a:prstGeom prst="line">
            <a:avLst/>
          </a:prstGeom>
          <a:noFill/>
          <a:ln w="28575">
            <a:solidFill>
              <a:srgbClr val="0F7B78"/>
            </a:solidFill>
            <a:prstDash val="solid"/>
          </a:ln>
        </p:spPr>
      </p:sp>
      <p:sp>
        <p:nvSpPr>
          <p:cNvPr id="29" name="Shape 26"/>
          <p:cNvSpPr/>
          <p:nvPr/>
        </p:nvSpPr>
        <p:spPr>
          <a:xfrm flipV="1">
            <a:off x="2697480" y="5166360"/>
            <a:ext cx="251460" cy="548640"/>
          </a:xfrm>
          <a:prstGeom prst="line">
            <a:avLst/>
          </a:prstGeom>
          <a:noFill/>
          <a:ln w="28575">
            <a:solidFill>
              <a:srgbClr val="0F7B78"/>
            </a:solidFill>
            <a:prstDash val="solid"/>
          </a:ln>
        </p:spPr>
      </p:sp>
      <p:sp>
        <p:nvSpPr>
          <p:cNvPr id="30" name="Shape 27"/>
          <p:cNvSpPr/>
          <p:nvPr/>
        </p:nvSpPr>
        <p:spPr>
          <a:xfrm>
            <a:off x="2948940" y="5166360"/>
            <a:ext cx="251460" cy="548640"/>
          </a:xfrm>
          <a:prstGeom prst="line">
            <a:avLst/>
          </a:prstGeom>
          <a:noFill/>
          <a:ln w="28575">
            <a:solidFill>
              <a:srgbClr val="0F7B78"/>
            </a:solidFill>
            <a:prstDash val="solid"/>
          </a:ln>
        </p:spPr>
      </p:sp>
      <p:sp>
        <p:nvSpPr>
          <p:cNvPr id="31" name="Shape 28"/>
          <p:cNvSpPr/>
          <p:nvPr/>
        </p:nvSpPr>
        <p:spPr>
          <a:xfrm flipV="1">
            <a:off x="3200400" y="5166360"/>
            <a:ext cx="251460" cy="548640"/>
          </a:xfrm>
          <a:prstGeom prst="line">
            <a:avLst/>
          </a:prstGeom>
          <a:noFill/>
          <a:ln w="28575">
            <a:solidFill>
              <a:srgbClr val="0F7B78"/>
            </a:solidFill>
            <a:prstDash val="solid"/>
          </a:ln>
        </p:spPr>
      </p:sp>
      <p:sp>
        <p:nvSpPr>
          <p:cNvPr id="32" name="Shape 29"/>
          <p:cNvSpPr/>
          <p:nvPr/>
        </p:nvSpPr>
        <p:spPr>
          <a:xfrm>
            <a:off x="3451860" y="5166360"/>
            <a:ext cx="251460" cy="548640"/>
          </a:xfrm>
          <a:prstGeom prst="line">
            <a:avLst/>
          </a:prstGeom>
          <a:noFill/>
          <a:ln w="28575">
            <a:solidFill>
              <a:srgbClr val="0F7B78"/>
            </a:solidFill>
            <a:prstDash val="solid"/>
          </a:ln>
        </p:spPr>
      </p:sp>
      <p:sp>
        <p:nvSpPr>
          <p:cNvPr id="33" name="Shape 30"/>
          <p:cNvSpPr/>
          <p:nvPr/>
        </p:nvSpPr>
        <p:spPr>
          <a:xfrm flipV="1">
            <a:off x="3703320" y="5166360"/>
            <a:ext cx="251460" cy="548640"/>
          </a:xfrm>
          <a:prstGeom prst="line">
            <a:avLst/>
          </a:prstGeom>
          <a:noFill/>
          <a:ln w="28575">
            <a:solidFill>
              <a:srgbClr val="0F7B78"/>
            </a:solidFill>
            <a:prstDash val="solid"/>
          </a:ln>
        </p:spPr>
      </p:sp>
      <p:sp>
        <p:nvSpPr>
          <p:cNvPr id="34" name="Shape 31"/>
          <p:cNvSpPr/>
          <p:nvPr/>
        </p:nvSpPr>
        <p:spPr>
          <a:xfrm>
            <a:off x="3954780" y="5166360"/>
            <a:ext cx="251460" cy="548640"/>
          </a:xfrm>
          <a:prstGeom prst="line">
            <a:avLst/>
          </a:prstGeom>
          <a:noFill/>
          <a:ln w="28575">
            <a:solidFill>
              <a:srgbClr val="0F7B78"/>
            </a:solidFill>
            <a:prstDash val="solid"/>
          </a:ln>
        </p:spPr>
      </p:sp>
      <p:sp>
        <p:nvSpPr>
          <p:cNvPr id="35" name="Shape 32"/>
          <p:cNvSpPr/>
          <p:nvPr/>
        </p:nvSpPr>
        <p:spPr>
          <a:xfrm flipV="1">
            <a:off x="4206240" y="5166360"/>
            <a:ext cx="251460" cy="548640"/>
          </a:xfrm>
          <a:prstGeom prst="line">
            <a:avLst/>
          </a:prstGeom>
          <a:noFill/>
          <a:ln w="28575">
            <a:solidFill>
              <a:srgbClr val="0F7B78"/>
            </a:solidFill>
            <a:prstDash val="solid"/>
          </a:ln>
        </p:spPr>
      </p:sp>
      <p:sp>
        <p:nvSpPr>
          <p:cNvPr id="36" name="Shape 33"/>
          <p:cNvSpPr/>
          <p:nvPr/>
        </p:nvSpPr>
        <p:spPr>
          <a:xfrm>
            <a:off x="4457700" y="5166360"/>
            <a:ext cx="251460" cy="548640"/>
          </a:xfrm>
          <a:prstGeom prst="line">
            <a:avLst/>
          </a:prstGeom>
          <a:noFill/>
          <a:ln w="28575">
            <a:solidFill>
              <a:srgbClr val="0F7B78"/>
            </a:solidFill>
            <a:prstDash val="solid"/>
          </a:ln>
        </p:spPr>
      </p:sp>
      <p:sp>
        <p:nvSpPr>
          <p:cNvPr id="37" name="Shape 34"/>
          <p:cNvSpPr/>
          <p:nvPr/>
        </p:nvSpPr>
        <p:spPr>
          <a:xfrm flipV="1">
            <a:off x="4709160" y="5166360"/>
            <a:ext cx="251460" cy="548640"/>
          </a:xfrm>
          <a:prstGeom prst="line">
            <a:avLst/>
          </a:prstGeom>
          <a:noFill/>
          <a:ln w="28575">
            <a:solidFill>
              <a:srgbClr val="0F7B78"/>
            </a:solidFill>
            <a:prstDash val="solid"/>
          </a:ln>
        </p:spPr>
      </p:sp>
      <p:sp>
        <p:nvSpPr>
          <p:cNvPr id="38" name="Shape 35"/>
          <p:cNvSpPr/>
          <p:nvPr/>
        </p:nvSpPr>
        <p:spPr>
          <a:xfrm>
            <a:off x="4960620" y="5166360"/>
            <a:ext cx="251460" cy="548640"/>
          </a:xfrm>
          <a:prstGeom prst="line">
            <a:avLst/>
          </a:prstGeom>
          <a:noFill/>
          <a:ln w="28575">
            <a:solidFill>
              <a:srgbClr val="0F7B78"/>
            </a:solidFill>
            <a:prstDash val="solid"/>
          </a:ln>
        </p:spPr>
      </p:sp>
      <p:sp>
        <p:nvSpPr>
          <p:cNvPr id="39" name="Shape 36"/>
          <p:cNvSpPr/>
          <p:nvPr/>
        </p:nvSpPr>
        <p:spPr>
          <a:xfrm flipV="1">
            <a:off x="5212080" y="5166360"/>
            <a:ext cx="251460" cy="548640"/>
          </a:xfrm>
          <a:prstGeom prst="line">
            <a:avLst/>
          </a:prstGeom>
          <a:noFill/>
          <a:ln w="28575">
            <a:solidFill>
              <a:srgbClr val="0F7B78"/>
            </a:solidFill>
            <a:prstDash val="solid"/>
          </a:ln>
        </p:spPr>
      </p:sp>
      <p:sp>
        <p:nvSpPr>
          <p:cNvPr id="40" name="Shape 37"/>
          <p:cNvSpPr/>
          <p:nvPr/>
        </p:nvSpPr>
        <p:spPr>
          <a:xfrm>
            <a:off x="5463540" y="5166360"/>
            <a:ext cx="251460" cy="548640"/>
          </a:xfrm>
          <a:prstGeom prst="line">
            <a:avLst/>
          </a:prstGeom>
          <a:noFill/>
          <a:ln w="28575">
            <a:solidFill>
              <a:srgbClr val="0F7B78"/>
            </a:solidFill>
            <a:prstDash val="solid"/>
          </a:ln>
        </p:spPr>
      </p:sp>
      <p:sp>
        <p:nvSpPr>
          <p:cNvPr id="41" name="Shape 38"/>
          <p:cNvSpPr/>
          <p:nvPr/>
        </p:nvSpPr>
        <p:spPr>
          <a:xfrm flipV="1">
            <a:off x="5715000" y="5166360"/>
            <a:ext cx="251460" cy="548640"/>
          </a:xfrm>
          <a:prstGeom prst="line">
            <a:avLst/>
          </a:prstGeom>
          <a:noFill/>
          <a:ln w="28575">
            <a:solidFill>
              <a:srgbClr val="0F7B78"/>
            </a:solidFill>
            <a:prstDash val="solid"/>
          </a:ln>
        </p:spPr>
      </p:sp>
      <p:sp>
        <p:nvSpPr>
          <p:cNvPr id="42" name="Shape 39"/>
          <p:cNvSpPr/>
          <p:nvPr/>
        </p:nvSpPr>
        <p:spPr>
          <a:xfrm>
            <a:off x="5966460" y="5166360"/>
            <a:ext cx="251460" cy="548640"/>
          </a:xfrm>
          <a:prstGeom prst="line">
            <a:avLst/>
          </a:prstGeom>
          <a:noFill/>
          <a:ln w="28575">
            <a:solidFill>
              <a:srgbClr val="0F7B78"/>
            </a:solidFill>
            <a:prstDash val="solid"/>
          </a:ln>
        </p:spPr>
      </p:sp>
      <p:sp>
        <p:nvSpPr>
          <p:cNvPr id="43" name="Text 40"/>
          <p:cNvSpPr txBox="1"/>
          <p:nvPr/>
        </p:nvSpPr>
        <p:spPr>
          <a:xfrm>
            <a:off x="548640" y="5806440"/>
            <a:ext cx="5760720" cy="320040"/>
          </a:xfrm>
          <a:prstGeom prst="rect">
            <a:avLst/>
          </a:prstGeom>
          <a:noFill/>
          <a:ln/>
        </p:spPr>
        <p:txBody>
          <a:bodyPr wrap="square" lIns="0" tIns="0" rIns="0" bIns="0" rtlCol="0" anchor="t"/>
          <a:lstStyle/>
          <a:p>
            <a:pPr algn="l" indent="0" marL="0">
              <a:lnSpc>
                <a:spcPct val="105000"/>
              </a:lnSpc>
              <a:buNone/>
            </a:pPr>
            <a:r>
              <a:rPr lang="en-US" sz="1400" dirty="0">
                <a:solidFill>
                  <a:schemeClr val="tx2"/>
                </a:solidFill>
              </a:rPr>
              <a:t>Each layer folds the input; the number of pieces doubles.</a:t>
            </a:r>
            <a:endParaRPr lang="en-US" sz="1400" dirty="0"/>
          </a:p>
        </p:txBody>
      </p:sp>
      <p:sp>
        <p:nvSpPr>
          <p:cNvPr id="44" name="Shape 41"/>
          <p:cNvSpPr/>
          <p:nvPr/>
        </p:nvSpPr>
        <p:spPr>
          <a:xfrm>
            <a:off x="6885432" y="1901952"/>
            <a:ext cx="0" cy="3236976"/>
          </a:xfrm>
          <a:prstGeom prst="line">
            <a:avLst/>
          </a:prstGeom>
          <a:noFill/>
          <a:ln w="25400">
            <a:solidFill>
              <a:schemeClr val="accent1">
                <a:alpha val="50000"/>
              </a:schemeClr>
            </a:solidFill>
            <a:prstDash val="solid"/>
          </a:ln>
        </p:spPr>
      </p:sp>
      <p:sp>
        <p:nvSpPr>
          <p:cNvPr id="45" name="Shape 42"/>
          <p:cNvSpPr/>
          <p:nvPr/>
        </p:nvSpPr>
        <p:spPr>
          <a:xfrm>
            <a:off x="6675120" y="1691640"/>
            <a:ext cx="420624" cy="420624"/>
          </a:xfrm>
          <a:prstGeom prst="ellipse">
            <a:avLst/>
          </a:prstGeom>
          <a:solidFill>
            <a:schemeClr val="accent1"/>
          </a:solidFill>
          <a:ln w="25400">
            <a:solidFill>
              <a:schemeClr val="bg1"/>
            </a:solidFill>
            <a:prstDash val="solid"/>
          </a:ln>
        </p:spPr>
      </p:sp>
      <p:sp>
        <p:nvSpPr>
          <p:cNvPr id="46" name="Text 43"/>
          <p:cNvSpPr txBox="1"/>
          <p:nvPr/>
        </p:nvSpPr>
        <p:spPr>
          <a:xfrm>
            <a:off x="667512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7" name="Text 44"/>
          <p:cNvSpPr txBox="1"/>
          <p:nvPr/>
        </p:nvSpPr>
        <p:spPr>
          <a:xfrm>
            <a:off x="7324344" y="1728216"/>
            <a:ext cx="431596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Parity</a:t>
            </a:r>
            <a:endParaRPr lang="en-US" sz="1900" dirty="0"/>
          </a:p>
        </p:txBody>
      </p:sp>
      <p:sp>
        <p:nvSpPr>
          <p:cNvPr id="48" name="Text 45"/>
          <p:cNvSpPr txBox="1"/>
          <p:nvPr/>
        </p:nvSpPr>
        <p:spPr>
          <a:xfrm>
            <a:off x="7324344" y="2031238"/>
            <a:ext cx="431596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Depth 2 needs exponentially many units; deep: O(n), chaining XORs.</a:t>
            </a:r>
            <a:endParaRPr lang="en-US" sz="1600" dirty="0"/>
          </a:p>
        </p:txBody>
      </p:sp>
      <p:sp>
        <p:nvSpPr>
          <p:cNvPr id="49" name="Shape 46"/>
          <p:cNvSpPr/>
          <p:nvPr/>
        </p:nvSpPr>
        <p:spPr>
          <a:xfrm>
            <a:off x="6675120" y="2770632"/>
            <a:ext cx="420624" cy="420624"/>
          </a:xfrm>
          <a:prstGeom prst="ellipse">
            <a:avLst/>
          </a:prstGeom>
          <a:solidFill>
            <a:schemeClr val="accent1"/>
          </a:solidFill>
          <a:ln w="25400">
            <a:solidFill>
              <a:schemeClr val="bg1"/>
            </a:solidFill>
            <a:prstDash val="solid"/>
          </a:ln>
        </p:spPr>
      </p:sp>
      <p:sp>
        <p:nvSpPr>
          <p:cNvPr id="50" name="Text 47"/>
          <p:cNvSpPr txBox="1"/>
          <p:nvPr/>
        </p:nvSpPr>
        <p:spPr>
          <a:xfrm>
            <a:off x="6675120" y="277063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51" name="Text 48"/>
          <p:cNvSpPr txBox="1"/>
          <p:nvPr/>
        </p:nvSpPr>
        <p:spPr>
          <a:xfrm>
            <a:off x="7324344" y="2807208"/>
            <a:ext cx="431596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Linear regions</a:t>
            </a:r>
            <a:endParaRPr lang="en-US" sz="1900" dirty="0"/>
          </a:p>
        </p:txBody>
      </p:sp>
      <p:sp>
        <p:nvSpPr>
          <p:cNvPr id="52" name="Text 49"/>
          <p:cNvSpPr txBox="1"/>
          <p:nvPr/>
        </p:nvSpPr>
        <p:spPr>
          <a:xfrm>
            <a:off x="7324344" y="3110230"/>
            <a:ext cx="431596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Grow exponentially with depth, polynomially with width (Montúfar et al., 2014).</a:t>
            </a:r>
            <a:endParaRPr lang="en-US" sz="1600" dirty="0"/>
          </a:p>
        </p:txBody>
      </p:sp>
      <p:sp>
        <p:nvSpPr>
          <p:cNvPr id="53" name="Shape 50"/>
          <p:cNvSpPr/>
          <p:nvPr/>
        </p:nvSpPr>
        <p:spPr>
          <a:xfrm>
            <a:off x="6675120" y="3849624"/>
            <a:ext cx="420624" cy="420624"/>
          </a:xfrm>
          <a:prstGeom prst="ellipse">
            <a:avLst/>
          </a:prstGeom>
          <a:solidFill>
            <a:schemeClr val="accent1"/>
          </a:solidFill>
          <a:ln w="25400">
            <a:solidFill>
              <a:schemeClr val="bg1"/>
            </a:solidFill>
            <a:prstDash val="solid"/>
          </a:ln>
        </p:spPr>
      </p:sp>
      <p:sp>
        <p:nvSpPr>
          <p:cNvPr id="54" name="Text 51"/>
          <p:cNvSpPr txBox="1"/>
          <p:nvPr/>
        </p:nvSpPr>
        <p:spPr>
          <a:xfrm>
            <a:off x="6675120" y="384962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55" name="Text 52"/>
          <p:cNvSpPr txBox="1"/>
          <p:nvPr/>
        </p:nvSpPr>
        <p:spPr>
          <a:xfrm>
            <a:off x="7324344" y="3886200"/>
            <a:ext cx="431596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Proven separations</a:t>
            </a:r>
            <a:endParaRPr lang="en-US" sz="1900" dirty="0"/>
          </a:p>
        </p:txBody>
      </p:sp>
      <p:sp>
        <p:nvSpPr>
          <p:cNvPr id="56" name="Text 53"/>
          <p:cNvSpPr txBox="1"/>
          <p:nvPr/>
        </p:nvSpPr>
        <p:spPr>
          <a:xfrm>
            <a:off x="7324344" y="4189222"/>
            <a:ext cx="431596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Depth k, O(k) units vs Ω(2ᵏ) units at depth O(√k) (Telgarsky, 2016).</a:t>
            </a:r>
            <a:endParaRPr lang="en-US" sz="1600" dirty="0"/>
          </a:p>
        </p:txBody>
      </p:sp>
      <p:sp>
        <p:nvSpPr>
          <p:cNvPr id="57" name="Shape 54"/>
          <p:cNvSpPr/>
          <p:nvPr/>
        </p:nvSpPr>
        <p:spPr>
          <a:xfrm>
            <a:off x="6675120" y="4928616"/>
            <a:ext cx="420624" cy="420624"/>
          </a:xfrm>
          <a:prstGeom prst="ellipse">
            <a:avLst/>
          </a:prstGeom>
          <a:solidFill>
            <a:schemeClr val="accent2"/>
          </a:solidFill>
          <a:ln w="25400">
            <a:solidFill>
              <a:schemeClr val="bg1"/>
            </a:solidFill>
            <a:prstDash val="solid"/>
          </a:ln>
        </p:spPr>
      </p:sp>
      <p:sp>
        <p:nvSpPr>
          <p:cNvPr id="58" name="Text 55"/>
          <p:cNvSpPr txBox="1"/>
          <p:nvPr/>
        </p:nvSpPr>
        <p:spPr>
          <a:xfrm>
            <a:off x="6675120" y="492861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59" name="Text 56"/>
          <p:cNvSpPr txBox="1"/>
          <p:nvPr/>
        </p:nvSpPr>
        <p:spPr>
          <a:xfrm>
            <a:off x="7324344" y="4965192"/>
            <a:ext cx="431596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The honest caveat</a:t>
            </a:r>
            <a:endParaRPr lang="en-US" sz="1900" dirty="0"/>
          </a:p>
        </p:txBody>
      </p:sp>
      <p:sp>
        <p:nvSpPr>
          <p:cNvPr id="60" name="Text 57"/>
          <p:cNvSpPr txBox="1"/>
          <p:nvPr/>
        </p:nvSpPr>
        <p:spPr>
          <a:xfrm>
            <a:off x="7324344" y="5268214"/>
            <a:ext cx="4315968" cy="702818"/>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Worst-case constructions. That real data rewards depth is empirical.</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§8 · WHY DEEP?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Deep networks mirror the hierarchy in natural data</a:t>
            </a:r>
            <a:endParaRPr lang="en-US" sz="3000" dirty="0"/>
          </a:p>
        </p:txBody>
      </p:sp>
      <p:sp>
        <p:nvSpPr>
          <p:cNvPr id="5" name="Shape 2"/>
          <p:cNvSpPr/>
          <p:nvPr/>
        </p:nvSpPr>
        <p:spPr>
          <a:xfrm>
            <a:off x="822960" y="1691640"/>
            <a:ext cx="3291840" cy="502920"/>
          </a:xfrm>
          <a:prstGeom prst="roundRect">
            <a:avLst>
              <a:gd name="adj" fmla="val 10909"/>
            </a:avLst>
          </a:prstGeom>
          <a:solidFill>
            <a:schemeClr val="accent1">
              <a:alpha val="10000"/>
            </a:schemeClr>
          </a:solidFill>
          <a:ln w="15875">
            <a:solidFill>
              <a:schemeClr val="accent1"/>
            </a:solidFill>
            <a:prstDash val="solid"/>
          </a:ln>
        </p:spPr>
      </p:sp>
      <p:sp>
        <p:nvSpPr>
          <p:cNvPr id="6" name="Text 3"/>
          <p:cNvSpPr txBox="1"/>
          <p:nvPr/>
        </p:nvSpPr>
        <p:spPr>
          <a:xfrm>
            <a:off x="868680" y="1691640"/>
            <a:ext cx="3200400" cy="502920"/>
          </a:xfrm>
          <a:prstGeom prst="rect">
            <a:avLst/>
          </a:prstGeom>
          <a:noFill/>
          <a:ln/>
        </p:spPr>
        <p:txBody>
          <a:bodyPr wrap="square" lIns="0" tIns="0" rIns="0" bIns="0" rtlCol="0" anchor="ctr"/>
          <a:lstStyle/>
          <a:p>
            <a:pPr algn="ctr" indent="0" marL="0">
              <a:lnSpc>
                <a:spcPct val="105000"/>
              </a:lnSpc>
              <a:buNone/>
            </a:pPr>
            <a:r>
              <a:rPr lang="en-US" sz="1700" b="1" dirty="0">
                <a:solidFill>
                  <a:schemeClr val="tx1"/>
                </a:solidFill>
              </a:rPr>
              <a:t>Objects</a:t>
            </a:r>
            <a:endParaRPr lang="en-US" sz="1700" dirty="0"/>
          </a:p>
        </p:txBody>
      </p:sp>
      <p:sp>
        <p:nvSpPr>
          <p:cNvPr id="7" name="Shape 4"/>
          <p:cNvSpPr/>
          <p:nvPr/>
        </p:nvSpPr>
        <p:spPr>
          <a:xfrm flipV="1">
            <a:off x="2468880" y="2212848"/>
            <a:ext cx="0" cy="192024"/>
          </a:xfrm>
          <a:prstGeom prst="line">
            <a:avLst/>
          </a:prstGeom>
          <a:noFill/>
          <a:ln w="25400">
            <a:solidFill>
              <a:srgbClr val="0F7B78"/>
            </a:solidFill>
            <a:prstDash val="solid"/>
            <a:tailEnd type="triangle"/>
          </a:ln>
        </p:spPr>
      </p:sp>
      <p:sp>
        <p:nvSpPr>
          <p:cNvPr id="8" name="Shape 5"/>
          <p:cNvSpPr/>
          <p:nvPr/>
        </p:nvSpPr>
        <p:spPr>
          <a:xfrm>
            <a:off x="822960" y="2404872"/>
            <a:ext cx="3291840" cy="502920"/>
          </a:xfrm>
          <a:prstGeom prst="roundRect">
            <a:avLst>
              <a:gd name="adj" fmla="val 10909"/>
            </a:avLst>
          </a:prstGeom>
          <a:solidFill>
            <a:schemeClr val="accent1">
              <a:alpha val="10000"/>
            </a:schemeClr>
          </a:solidFill>
          <a:ln w="15875">
            <a:solidFill>
              <a:schemeClr val="accent1"/>
            </a:solidFill>
            <a:prstDash val="solid"/>
          </a:ln>
        </p:spPr>
      </p:sp>
      <p:sp>
        <p:nvSpPr>
          <p:cNvPr id="9" name="Text 6"/>
          <p:cNvSpPr txBox="1"/>
          <p:nvPr/>
        </p:nvSpPr>
        <p:spPr>
          <a:xfrm>
            <a:off x="868680" y="2404872"/>
            <a:ext cx="3200400" cy="50292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rPr>
              <a:t>Object parts</a:t>
            </a:r>
            <a:endParaRPr lang="en-US" sz="1700" dirty="0"/>
          </a:p>
        </p:txBody>
      </p:sp>
      <p:sp>
        <p:nvSpPr>
          <p:cNvPr id="10" name="Shape 7"/>
          <p:cNvSpPr/>
          <p:nvPr/>
        </p:nvSpPr>
        <p:spPr>
          <a:xfrm flipV="1">
            <a:off x="2468880" y="2926080"/>
            <a:ext cx="0" cy="192024"/>
          </a:xfrm>
          <a:prstGeom prst="line">
            <a:avLst/>
          </a:prstGeom>
          <a:noFill/>
          <a:ln w="25400">
            <a:solidFill>
              <a:srgbClr val="0F7B78"/>
            </a:solidFill>
            <a:prstDash val="solid"/>
            <a:tailEnd type="triangle"/>
          </a:ln>
        </p:spPr>
      </p:sp>
      <p:sp>
        <p:nvSpPr>
          <p:cNvPr id="11" name="Shape 8"/>
          <p:cNvSpPr/>
          <p:nvPr/>
        </p:nvSpPr>
        <p:spPr>
          <a:xfrm>
            <a:off x="822960" y="3118104"/>
            <a:ext cx="3291840" cy="502920"/>
          </a:xfrm>
          <a:prstGeom prst="roundRect">
            <a:avLst>
              <a:gd name="adj" fmla="val 10909"/>
            </a:avLst>
          </a:prstGeom>
          <a:solidFill>
            <a:schemeClr val="accent1">
              <a:alpha val="10000"/>
            </a:schemeClr>
          </a:solidFill>
          <a:ln w="15875">
            <a:solidFill>
              <a:schemeClr val="accent1"/>
            </a:solidFill>
            <a:prstDash val="solid"/>
          </a:ln>
        </p:spPr>
      </p:sp>
      <p:sp>
        <p:nvSpPr>
          <p:cNvPr id="12" name="Text 9"/>
          <p:cNvSpPr txBox="1"/>
          <p:nvPr/>
        </p:nvSpPr>
        <p:spPr>
          <a:xfrm>
            <a:off x="868680" y="3118104"/>
            <a:ext cx="3200400" cy="50292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rPr>
              <a:t>Motifs</a:t>
            </a:r>
            <a:endParaRPr lang="en-US" sz="1700" dirty="0"/>
          </a:p>
        </p:txBody>
      </p:sp>
      <p:sp>
        <p:nvSpPr>
          <p:cNvPr id="13" name="Shape 10"/>
          <p:cNvSpPr/>
          <p:nvPr/>
        </p:nvSpPr>
        <p:spPr>
          <a:xfrm flipV="1">
            <a:off x="2468880" y="3639312"/>
            <a:ext cx="0" cy="192024"/>
          </a:xfrm>
          <a:prstGeom prst="line">
            <a:avLst/>
          </a:prstGeom>
          <a:noFill/>
          <a:ln w="25400">
            <a:solidFill>
              <a:srgbClr val="0F7B78"/>
            </a:solidFill>
            <a:prstDash val="solid"/>
            <a:tailEnd type="triangle"/>
          </a:ln>
        </p:spPr>
      </p:sp>
      <p:sp>
        <p:nvSpPr>
          <p:cNvPr id="14" name="Shape 11"/>
          <p:cNvSpPr/>
          <p:nvPr/>
        </p:nvSpPr>
        <p:spPr>
          <a:xfrm>
            <a:off x="822960" y="3831336"/>
            <a:ext cx="3291840" cy="502920"/>
          </a:xfrm>
          <a:prstGeom prst="roundRect">
            <a:avLst>
              <a:gd name="adj" fmla="val 10909"/>
            </a:avLst>
          </a:prstGeom>
          <a:solidFill>
            <a:schemeClr val="accent1">
              <a:alpha val="10000"/>
            </a:schemeClr>
          </a:solidFill>
          <a:ln w="15875">
            <a:solidFill>
              <a:schemeClr val="accent1"/>
            </a:solidFill>
            <a:prstDash val="solid"/>
          </a:ln>
        </p:spPr>
      </p:sp>
      <p:sp>
        <p:nvSpPr>
          <p:cNvPr id="15" name="Text 12"/>
          <p:cNvSpPr txBox="1"/>
          <p:nvPr/>
        </p:nvSpPr>
        <p:spPr>
          <a:xfrm>
            <a:off x="868680" y="3831336"/>
            <a:ext cx="3200400" cy="50292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rPr>
              <a:t>Corners and curves</a:t>
            </a:r>
            <a:endParaRPr lang="en-US" sz="1700" dirty="0"/>
          </a:p>
        </p:txBody>
      </p:sp>
      <p:sp>
        <p:nvSpPr>
          <p:cNvPr id="16" name="Shape 13"/>
          <p:cNvSpPr/>
          <p:nvPr/>
        </p:nvSpPr>
        <p:spPr>
          <a:xfrm flipV="1">
            <a:off x="2468880" y="4352544"/>
            <a:ext cx="0" cy="192024"/>
          </a:xfrm>
          <a:prstGeom prst="line">
            <a:avLst/>
          </a:prstGeom>
          <a:noFill/>
          <a:ln w="25400">
            <a:solidFill>
              <a:srgbClr val="0F7B78"/>
            </a:solidFill>
            <a:prstDash val="solid"/>
            <a:tailEnd type="triangle"/>
          </a:ln>
        </p:spPr>
      </p:sp>
      <p:sp>
        <p:nvSpPr>
          <p:cNvPr id="17" name="Shape 14"/>
          <p:cNvSpPr/>
          <p:nvPr/>
        </p:nvSpPr>
        <p:spPr>
          <a:xfrm>
            <a:off x="822960" y="4544568"/>
            <a:ext cx="3291840" cy="502920"/>
          </a:xfrm>
          <a:prstGeom prst="roundRect">
            <a:avLst>
              <a:gd name="adj" fmla="val 10909"/>
            </a:avLst>
          </a:prstGeom>
          <a:solidFill>
            <a:schemeClr val="accent1">
              <a:alpha val="10000"/>
            </a:schemeClr>
          </a:solidFill>
          <a:ln w="15875">
            <a:solidFill>
              <a:schemeClr val="accent1"/>
            </a:solidFill>
            <a:prstDash val="solid"/>
          </a:ln>
        </p:spPr>
      </p:sp>
      <p:sp>
        <p:nvSpPr>
          <p:cNvPr id="18" name="Text 15"/>
          <p:cNvSpPr txBox="1"/>
          <p:nvPr/>
        </p:nvSpPr>
        <p:spPr>
          <a:xfrm>
            <a:off x="868680" y="4544568"/>
            <a:ext cx="3200400" cy="50292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rPr>
              <a:t>Edges</a:t>
            </a:r>
            <a:endParaRPr lang="en-US" sz="1700" dirty="0"/>
          </a:p>
        </p:txBody>
      </p:sp>
      <p:sp>
        <p:nvSpPr>
          <p:cNvPr id="19" name="Shape 16"/>
          <p:cNvSpPr/>
          <p:nvPr/>
        </p:nvSpPr>
        <p:spPr>
          <a:xfrm flipV="1">
            <a:off x="2468880" y="5065776"/>
            <a:ext cx="0" cy="192024"/>
          </a:xfrm>
          <a:prstGeom prst="line">
            <a:avLst/>
          </a:prstGeom>
          <a:noFill/>
          <a:ln w="25400">
            <a:solidFill>
              <a:srgbClr val="0F7B78"/>
            </a:solidFill>
            <a:prstDash val="solid"/>
            <a:tailEnd type="triangle"/>
          </a:ln>
        </p:spPr>
      </p:sp>
      <p:sp>
        <p:nvSpPr>
          <p:cNvPr id="20" name="Shape 17"/>
          <p:cNvSpPr/>
          <p:nvPr/>
        </p:nvSpPr>
        <p:spPr>
          <a:xfrm>
            <a:off x="822960" y="5257800"/>
            <a:ext cx="3291840" cy="502920"/>
          </a:xfrm>
          <a:prstGeom prst="roundRect">
            <a:avLst>
              <a:gd name="adj" fmla="val 10909"/>
            </a:avLst>
          </a:prstGeom>
          <a:solidFill>
            <a:schemeClr val="bg2"/>
          </a:solidFill>
          <a:ln w="15875">
            <a:solidFill>
              <a:schemeClr val="bg2"/>
            </a:solidFill>
            <a:prstDash val="solid"/>
          </a:ln>
        </p:spPr>
      </p:sp>
      <p:sp>
        <p:nvSpPr>
          <p:cNvPr id="21" name="Text 18"/>
          <p:cNvSpPr txBox="1"/>
          <p:nvPr/>
        </p:nvSpPr>
        <p:spPr>
          <a:xfrm>
            <a:off x="868680" y="5257800"/>
            <a:ext cx="3200400" cy="502920"/>
          </a:xfrm>
          <a:prstGeom prst="rect">
            <a:avLst/>
          </a:prstGeom>
          <a:noFill/>
          <a:ln/>
        </p:spPr>
        <p:txBody>
          <a:bodyPr wrap="square" lIns="0" tIns="0" rIns="0" bIns="0" rtlCol="0" anchor="ctr"/>
          <a:lstStyle/>
          <a:p>
            <a:pPr algn="ctr" indent="0" marL="0">
              <a:lnSpc>
                <a:spcPct val="105000"/>
              </a:lnSpc>
              <a:buNone/>
            </a:pPr>
            <a:r>
              <a:rPr lang="en-US" sz="1700" dirty="0">
                <a:solidFill>
                  <a:schemeClr val="tx1"/>
                </a:solidFill>
              </a:rPr>
              <a:t>Pixels</a:t>
            </a:r>
            <a:endParaRPr lang="en-US" sz="1700" dirty="0"/>
          </a:p>
        </p:txBody>
      </p:sp>
      <p:sp>
        <p:nvSpPr>
          <p:cNvPr id="22" name="Text 19"/>
          <p:cNvSpPr txBox="1"/>
          <p:nvPr/>
        </p:nvSpPr>
        <p:spPr>
          <a:xfrm>
            <a:off x="548640" y="5989320"/>
            <a:ext cx="4114800" cy="320040"/>
          </a:xfrm>
          <a:prstGeom prst="rect">
            <a:avLst/>
          </a:prstGeom>
          <a:noFill/>
          <a:ln/>
        </p:spPr>
        <p:txBody>
          <a:bodyPr wrap="square" lIns="0" tIns="0" rIns="0" bIns="0" rtlCol="0" anchor="t"/>
          <a:lstStyle/>
          <a:p>
            <a:pPr algn="l" indent="0" marL="0">
              <a:lnSpc>
                <a:spcPct val="105000"/>
              </a:lnSpc>
              <a:buNone/>
            </a:pPr>
            <a:r>
              <a:rPr lang="en-US" sz="1300" dirty="0">
                <a:solidFill>
                  <a:schemeClr val="tx2"/>
                </a:solidFill>
              </a:rPr>
              <a:t>visualized in trained CNNs (Zeiler &amp; Fergus, 2014)</a:t>
            </a:r>
            <a:endParaRPr lang="en-US" sz="1300" dirty="0"/>
          </a:p>
        </p:txBody>
      </p:sp>
      <p:sp>
        <p:nvSpPr>
          <p:cNvPr id="23" name="Shape 20"/>
          <p:cNvSpPr/>
          <p:nvPr/>
        </p:nvSpPr>
        <p:spPr>
          <a:xfrm>
            <a:off x="5148072" y="1901952"/>
            <a:ext cx="0" cy="2743200"/>
          </a:xfrm>
          <a:prstGeom prst="line">
            <a:avLst/>
          </a:prstGeom>
          <a:noFill/>
          <a:ln w="25400">
            <a:solidFill>
              <a:schemeClr val="accent1">
                <a:alpha val="50000"/>
              </a:schemeClr>
            </a:solidFill>
            <a:prstDash val="solid"/>
          </a:ln>
        </p:spPr>
      </p:sp>
      <p:sp>
        <p:nvSpPr>
          <p:cNvPr id="24" name="Shape 21"/>
          <p:cNvSpPr/>
          <p:nvPr/>
        </p:nvSpPr>
        <p:spPr>
          <a:xfrm>
            <a:off x="4937760" y="1691640"/>
            <a:ext cx="420624" cy="420624"/>
          </a:xfrm>
          <a:prstGeom prst="ellipse">
            <a:avLst/>
          </a:prstGeom>
          <a:solidFill>
            <a:schemeClr val="accent1"/>
          </a:solidFill>
          <a:ln w="25400">
            <a:solidFill>
              <a:schemeClr val="bg1"/>
            </a:solidFill>
            <a:prstDash val="solid"/>
          </a:ln>
        </p:spPr>
      </p:sp>
      <p:sp>
        <p:nvSpPr>
          <p:cNvPr id="25" name="Text 22"/>
          <p:cNvSpPr txBox="1"/>
          <p:nvPr/>
        </p:nvSpPr>
        <p:spPr>
          <a:xfrm>
            <a:off x="4937760" y="16916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6" name="Text 23"/>
          <p:cNvSpPr txBox="1"/>
          <p:nvPr/>
        </p:nvSpPr>
        <p:spPr>
          <a:xfrm>
            <a:off x="5586984" y="1728216"/>
            <a:ext cx="60533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Natural data is compositional</a:t>
            </a:r>
            <a:endParaRPr lang="en-US" sz="1900" dirty="0"/>
          </a:p>
        </p:txBody>
      </p:sp>
      <p:sp>
        <p:nvSpPr>
          <p:cNvPr id="27" name="Text 24"/>
          <p:cNvSpPr txBox="1"/>
          <p:nvPr/>
        </p:nvSpPr>
        <p:spPr>
          <a:xfrm>
            <a:off x="5586984" y="2031238"/>
            <a:ext cx="605332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Images: edges → parts → objects. Speech: phonemes → syllables → words.</a:t>
            </a:r>
            <a:endParaRPr lang="en-US" sz="1600" dirty="0"/>
          </a:p>
        </p:txBody>
      </p:sp>
      <p:sp>
        <p:nvSpPr>
          <p:cNvPr id="28" name="Shape 25"/>
          <p:cNvSpPr/>
          <p:nvPr/>
        </p:nvSpPr>
        <p:spPr>
          <a:xfrm>
            <a:off x="4937760" y="3063240"/>
            <a:ext cx="420624" cy="420624"/>
          </a:xfrm>
          <a:prstGeom prst="ellipse">
            <a:avLst/>
          </a:prstGeom>
          <a:solidFill>
            <a:schemeClr val="accent1"/>
          </a:solidFill>
          <a:ln w="25400">
            <a:solidFill>
              <a:schemeClr val="bg1"/>
            </a:solidFill>
            <a:prstDash val="solid"/>
          </a:ln>
        </p:spPr>
      </p:sp>
      <p:sp>
        <p:nvSpPr>
          <p:cNvPr id="29" name="Text 26"/>
          <p:cNvSpPr txBox="1"/>
          <p:nvPr/>
        </p:nvSpPr>
        <p:spPr>
          <a:xfrm>
            <a:off x="4937760" y="30632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0" name="Text 27"/>
          <p:cNvSpPr txBox="1"/>
          <p:nvPr/>
        </p:nvSpPr>
        <p:spPr>
          <a:xfrm>
            <a:off x="5586984" y="3099816"/>
            <a:ext cx="60533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Features are reused</a:t>
            </a:r>
            <a:endParaRPr lang="en-US" sz="1900" dirty="0"/>
          </a:p>
        </p:txBody>
      </p:sp>
      <p:sp>
        <p:nvSpPr>
          <p:cNvPr id="31" name="Text 28"/>
          <p:cNvSpPr txBox="1"/>
          <p:nvPr/>
        </p:nvSpPr>
        <p:spPr>
          <a:xfrm>
            <a:off x="5586984" y="3402838"/>
            <a:ext cx="605332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One edge detector serves eyes, wheels and text. Shallow networks cannot share this work.</a:t>
            </a:r>
            <a:endParaRPr lang="en-US" sz="1600" dirty="0"/>
          </a:p>
        </p:txBody>
      </p:sp>
      <p:sp>
        <p:nvSpPr>
          <p:cNvPr id="32" name="Shape 29"/>
          <p:cNvSpPr/>
          <p:nvPr/>
        </p:nvSpPr>
        <p:spPr>
          <a:xfrm>
            <a:off x="4937760" y="4434840"/>
            <a:ext cx="420624" cy="420624"/>
          </a:xfrm>
          <a:prstGeom prst="ellipse">
            <a:avLst/>
          </a:prstGeom>
          <a:solidFill>
            <a:schemeClr val="accent1"/>
          </a:solidFill>
          <a:ln w="25400">
            <a:solidFill>
              <a:schemeClr val="bg1"/>
            </a:solidFill>
            <a:prstDash val="solid"/>
          </a:ln>
        </p:spPr>
      </p:sp>
      <p:sp>
        <p:nvSpPr>
          <p:cNvPr id="33" name="Text 30"/>
          <p:cNvSpPr txBox="1"/>
          <p:nvPr/>
        </p:nvSpPr>
        <p:spPr>
          <a:xfrm>
            <a:off x="4937760" y="44348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4" name="Text 31"/>
          <p:cNvSpPr txBox="1"/>
          <p:nvPr/>
        </p:nvSpPr>
        <p:spPr>
          <a:xfrm>
            <a:off x="5586984" y="4471416"/>
            <a:ext cx="6053328"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Hence transfer learning</a:t>
            </a:r>
            <a:endParaRPr lang="en-US" sz="1900" dirty="0"/>
          </a:p>
        </p:txBody>
      </p:sp>
      <p:sp>
        <p:nvSpPr>
          <p:cNvPr id="35" name="Text 32"/>
          <p:cNvSpPr txBox="1"/>
          <p:nvPr/>
        </p:nvSpPr>
        <p:spPr>
          <a:xfrm>
            <a:off x="5586984" y="4774438"/>
            <a:ext cx="6053328" cy="995426"/>
          </a:xfrm>
          <a:prstGeom prst="rect">
            <a:avLst/>
          </a:prstGeom>
          <a:noFill/>
          <a:ln/>
        </p:spPr>
        <p:txBody>
          <a:bodyPr wrap="square" lIns="0" tIns="0" rIns="0" bIns="0" rtlCol="0" anchor="t"/>
          <a:lstStyle/>
          <a:p>
            <a:pPr algn="l" indent="0" marL="0">
              <a:lnSpc>
                <a:spcPct val="105000"/>
              </a:lnSpc>
              <a:buNone/>
            </a:pPr>
            <a:r>
              <a:rPr lang="en-US" sz="1600" dirty="0">
                <a:solidFill>
                  <a:schemeClr val="tx2"/>
                </a:solidFill>
              </a:rPr>
              <a:t>ImageNet edge and texture detectors help X-rays, satellites and defect detection.</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§8 · WHY DEEP?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Depth versus width, in practice</a:t>
            </a:r>
            <a:endParaRPr lang="en-US" sz="3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315200" cy="914400"/>
        </p:xfrm>
        <a:graphic>
          <a:graphicData uri="http://schemas.openxmlformats.org/drawingml/2006/table">
            <a:tbl>
              <a:tblPr/>
              <a:tblGrid>
                <a:gridCol w="2377440"/>
                <a:gridCol w="2651760"/>
                <a:gridCol w="2286000"/>
              </a:tblGrid>
              <a:tr h="512064">
                <a:tc>
                  <a:txBody>
                    <a:bodyPr/>
                    <a:lstStyle/>
                    <a:p>
                      <a:pPr indent="0" marL="0">
                        <a:buNone/>
                      </a:pP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Add depth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Add width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512064">
                <a:tc>
                  <a:txBody>
                    <a:bodyPr/>
                    <a:lstStyle/>
                    <a:p>
                      <a:pPr indent="0" marL="0">
                        <a:buNone/>
                      </a:pPr>
                      <a:r>
                        <a:rPr lang="en-US" sz="1700" dirty="0">
                          <a:solidFill>
                            <a:schemeClr val="tx1"/>
                          </a:solidFill>
                        </a:rPr>
                        <a:t>Parameter efficiency</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Higher</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Lower</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12064">
                <a:tc>
                  <a:txBody>
                    <a:bodyPr/>
                    <a:lstStyle/>
                    <a:p>
                      <a:pPr indent="0" marL="0">
                        <a:buNone/>
                      </a:pPr>
                      <a:r>
                        <a:rPr lang="en-US" sz="1700" dirty="0">
                          <a:solidFill>
                            <a:schemeClr val="tx1"/>
                          </a:solidFill>
                        </a:rPr>
                        <a:t>Feature abstraction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Builds a hierarchy</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Enriches one level</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12064">
                <a:tc>
                  <a:txBody>
                    <a:bodyPr/>
                    <a:lstStyle/>
                    <a:p>
                      <a:pPr indent="0" marL="0">
                        <a:buNone/>
                      </a:pPr>
                      <a:r>
                        <a:rPr lang="en-US" sz="1700" dirty="0">
                          <a:solidFill>
                            <a:schemeClr val="tx1"/>
                          </a:solidFill>
                        </a:rPr>
                        <a:t>Optimization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Harder (vanishing gradients)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Easier</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512064">
                <a:tc>
                  <a:txBody>
                    <a:bodyPr/>
                    <a:lstStyle/>
                    <a:p>
                      <a:pPr indent="0" marL="0">
                        <a:buNone/>
                      </a:pPr>
                      <a:r>
                        <a:rPr lang="en-US" sz="1700" dirty="0">
                          <a:solidFill>
                            <a:schemeClr val="tx1"/>
                          </a:solidFill>
                        </a:rPr>
                        <a:t>Parallelism</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Worse (sequential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Better</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512064">
                <a:tc>
                  <a:txBody>
                    <a:bodyPr/>
                    <a:lstStyle/>
                    <a:p>
                      <a:pPr indent="0" marL="0">
                        <a:buNone/>
                      </a:pPr>
                      <a:r>
                        <a:rPr lang="en-US" sz="1700" dirty="0">
                          <a:solidFill>
                            <a:schemeClr val="tx1"/>
                          </a:solidFill>
                        </a:rPr>
                        <a:t>Residual connections?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Yes, beyond ~20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Not needed</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bl>
          </a:graphicData>
        </a:graphic>
      </p:graphicFrame>
      <p:sp>
        <p:nvSpPr>
          <p:cNvPr id="6" name="Shape 2"/>
          <p:cNvSpPr/>
          <p:nvPr/>
        </p:nvSpPr>
        <p:spPr>
          <a:xfrm>
            <a:off x="8321040" y="1645920"/>
            <a:ext cx="3319272" cy="2103120"/>
          </a:xfrm>
          <a:prstGeom prst="roundRect">
            <a:avLst>
              <a:gd name="adj" fmla="val 3478"/>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8522208" y="1847088"/>
            <a:ext cx="29169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accent1"/>
                </a:solidFill>
              </a:rPr>
              <a:t>Starting recipe</a:t>
            </a:r>
            <a:endParaRPr lang="en-US" sz="1900" dirty="0"/>
          </a:p>
        </p:txBody>
      </p:sp>
      <p:sp>
        <p:nvSpPr>
          <p:cNvPr id="8" name="Text 4"/>
          <p:cNvSpPr txBox="1"/>
          <p:nvPr/>
        </p:nvSpPr>
        <p:spPr>
          <a:xfrm>
            <a:off x="8522208" y="2204974"/>
            <a:ext cx="2916936" cy="134289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Moderately deep; residual connections past ~20 layers; tune width second.</a:t>
            </a:r>
            <a:endParaRPr lang="en-US" sz="1600" dirty="0"/>
          </a:p>
        </p:txBody>
      </p:sp>
      <p:sp>
        <p:nvSpPr>
          <p:cNvPr id="9" name="Shape 5"/>
          <p:cNvSpPr/>
          <p:nvPr/>
        </p:nvSpPr>
        <p:spPr>
          <a:xfrm>
            <a:off x="8321040" y="3977640"/>
            <a:ext cx="3319272" cy="2011680"/>
          </a:xfrm>
          <a:prstGeom prst="roundRect">
            <a:avLst>
              <a:gd name="adj" fmla="val 3636"/>
            </a:avLst>
          </a:prstGeom>
          <a:solidFill>
            <a:schemeClr val="bg2"/>
          </a:solidFill>
          <a:ln w="12700">
            <a:solidFill>
              <a:schemeClr val="bg2"/>
            </a:solidFill>
            <a:prstDash val="solid"/>
          </a:ln>
        </p:spPr>
      </p:sp>
      <p:sp>
        <p:nvSpPr>
          <p:cNvPr id="10" name="Text 6"/>
          <p:cNvSpPr txBox="1"/>
          <p:nvPr/>
        </p:nvSpPr>
        <p:spPr>
          <a:xfrm>
            <a:off x="8522208" y="4178808"/>
            <a:ext cx="2916936" cy="284734"/>
          </a:xfrm>
          <a:prstGeom prst="rect">
            <a:avLst/>
          </a:prstGeom>
          <a:noFill/>
          <a:ln/>
        </p:spPr>
        <p:txBody>
          <a:bodyPr wrap="square" lIns="0" tIns="0" rIns="0" bIns="0" rtlCol="0" anchor="t"/>
          <a:lstStyle/>
          <a:p>
            <a:pPr algn="l" indent="0" marL="0">
              <a:lnSpc>
                <a:spcPct val="105000"/>
              </a:lnSpc>
              <a:buNone/>
            </a:pPr>
            <a:r>
              <a:rPr lang="en-US" sz="1900" b="1" dirty="0">
                <a:solidFill>
                  <a:schemeClr val="tx1"/>
                </a:solidFill>
              </a:rPr>
              <a:t>Compound scaling</a:t>
            </a:r>
            <a:endParaRPr lang="en-US" sz="1900" dirty="0"/>
          </a:p>
        </p:txBody>
      </p:sp>
      <p:sp>
        <p:nvSpPr>
          <p:cNvPr id="11" name="Text 7"/>
          <p:cNvSpPr txBox="1"/>
          <p:nvPr/>
        </p:nvSpPr>
        <p:spPr>
          <a:xfrm>
            <a:off x="8522208" y="4536694"/>
            <a:ext cx="2916936" cy="1251458"/>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Scale depth, width and resolution together (EfficientNet, Tan &amp; Le, 2019).</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§8 · WHY DEEP?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What changed by 2012: six engineering advances, one idea</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108960"/>
                <a:gridCol w="7982712"/>
              </a:tblGrid>
              <a:tr h="493776">
                <a:tc>
                  <a:txBody>
                    <a:bodyPr/>
                    <a:lstStyle/>
                    <a:p>
                      <a:pPr indent="0" marL="0">
                        <a:buNone/>
                      </a:pPr>
                      <a:r>
                        <a:rPr lang="en-US" sz="1700" b="1" dirty="0">
                          <a:solidFill>
                            <a:schemeClr val="bg1"/>
                          </a:solidFill>
                        </a:rPr>
                        <a:t>Advance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What it changed</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93776">
                <a:tc>
                  <a:txBody>
                    <a:bodyPr/>
                    <a:lstStyle/>
                    <a:p>
                      <a:pPr indent="0" marL="0">
                        <a:buNone/>
                      </a:pPr>
                      <a:r>
                        <a:rPr lang="en-US" sz="1700" dirty="0">
                          <a:solidFill>
                            <a:schemeClr val="tx1"/>
                          </a:solidFill>
                        </a:rPr>
                        <a:t>Data</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ImageNet (2009): 1.2 million labelled images, 1,000 classes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93776">
                <a:tc>
                  <a:txBody>
                    <a:bodyPr/>
                    <a:lstStyle/>
                    <a:p>
                      <a:pPr indent="0" marL="0">
                        <a:buNone/>
                      </a:pPr>
                      <a:r>
                        <a:rPr lang="en-US" sz="1700" dirty="0">
                          <a:solidFill>
                            <a:schemeClr val="tx1"/>
                          </a:solidFill>
                        </a:rPr>
                        <a:t>Compute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GPUs: AlexNet trained on two 3 GB GTX 580s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93776">
                <a:tc>
                  <a:txBody>
                    <a:bodyPr/>
                    <a:lstStyle/>
                    <a:p>
                      <a:pPr indent="0" marL="0">
                        <a:buNone/>
                      </a:pPr>
                      <a:r>
                        <a:rPr lang="en-US" sz="1700" dirty="0">
                          <a:solidFill>
                            <a:schemeClr val="tx1"/>
                          </a:solidFill>
                        </a:rPr>
                        <a:t>ReLU</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Removed the saturation that made gradients vanish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93776">
                <a:tc>
                  <a:txBody>
                    <a:bodyPr/>
                    <a:lstStyle/>
                    <a:p>
                      <a:pPr indent="0" marL="0">
                        <a:buNone/>
                      </a:pPr>
                      <a:r>
                        <a:rPr lang="en-US" sz="1700" dirty="0">
                          <a:solidFill>
                            <a:schemeClr val="tx1"/>
                          </a:solidFill>
                        </a:rPr>
                        <a:t>Initialization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Xavier (2010) and He (2015) kept variance stable</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93776">
                <a:tc>
                  <a:txBody>
                    <a:bodyPr/>
                    <a:lstStyle/>
                    <a:p>
                      <a:pPr indent="0" marL="0">
                        <a:buNone/>
                      </a:pPr>
                      <a:r>
                        <a:rPr lang="en-US" sz="1700" dirty="0">
                          <a:solidFill>
                            <a:schemeClr val="tx1"/>
                          </a:solidFill>
                        </a:rPr>
                        <a:t>Regularization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Dropout (2012) and heavy augmentation</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93776">
                <a:tc>
                  <a:txBody>
                    <a:bodyPr/>
                    <a:lstStyle/>
                    <a:p>
                      <a:pPr indent="0" marL="0">
                        <a:buNone/>
                      </a:pPr>
                      <a:r>
                        <a:rPr lang="en-US" sz="1700" dirty="0">
                          <a:solidFill>
                            <a:schemeClr val="tx1"/>
                          </a:solidFill>
                        </a:rPr>
                        <a:t>Optimizers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Momentum, RMSProp, Adam handle ill-conditioning</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93776">
                <a:tc>
                  <a:txBody>
                    <a:bodyPr/>
                    <a:lstStyle/>
                    <a:p>
                      <a:pPr indent="0" marL="0">
                        <a:buNone/>
                      </a:pPr>
                      <a:r>
                        <a:rPr lang="en-US" sz="1700" b="1" dirty="0">
                          <a:solidFill>
                            <a:schemeClr val="accent1"/>
                          </a:solidFill>
                        </a:rPr>
                        <a:t>Residual connections (2015)</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The one architectural idea: 100+ trainable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bl>
          </a:graphicData>
        </a:graphic>
      </p:graphicFrame>
      <p:sp>
        <p:nvSpPr>
          <p:cNvPr id="6" name="Text 2"/>
          <p:cNvSpPr txBox="1"/>
          <p:nvPr/>
        </p:nvSpPr>
        <p:spPr>
          <a:xfrm>
            <a:off x="548640" y="5715000"/>
            <a:ext cx="11091672" cy="411480"/>
          </a:xfrm>
          <a:prstGeom prst="rect">
            <a:avLst/>
          </a:prstGeom>
          <a:noFill/>
          <a:ln/>
        </p:spPr>
        <p:txBody>
          <a:bodyPr wrap="square" lIns="0" tIns="0" rIns="0" bIns="0" rtlCol="0" anchor="t"/>
          <a:lstStyle/>
          <a:p>
            <a:pPr algn="l" indent="0" marL="0">
              <a:lnSpc>
                <a:spcPct val="105000"/>
              </a:lnSpc>
              <a:buNone/>
            </a:pPr>
            <a:r>
              <a:rPr lang="en-US" sz="1700" b="1" dirty="0">
                <a:solidFill>
                  <a:schemeClr val="accent1"/>
                </a:solidFill>
              </a:rPr>
              <a:t>Backprop makes you literate. Initialization, optimizers, normalization and regularization make you effective (lecture 3).</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§8 · WHY DEEP?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How deep is deep, in 2026?</a:t>
            </a:r>
            <a:endParaRPr lang="en-US" sz="3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914400"/>
        </p:xfrm>
        <a:graphic>
          <a:graphicData uri="http://schemas.openxmlformats.org/drawingml/2006/table">
            <a:tbl>
              <a:tblPr/>
              <a:tblGrid>
                <a:gridCol w="2926080"/>
                <a:gridCol w="2011680"/>
                <a:gridCol w="2011680"/>
              </a:tblGrid>
              <a:tr h="457200">
                <a:tc>
                  <a:txBody>
                    <a:bodyPr/>
                    <a:lstStyle/>
                    <a:p>
                      <a:pPr indent="0" marL="0">
                        <a:buNone/>
                      </a:pPr>
                      <a:r>
                        <a:rPr lang="en-US" sz="1700" b="1" dirty="0">
                          <a:solidFill>
                            <a:schemeClr val="bg1"/>
                          </a:solidFill>
                        </a:rPr>
                        <a:t>Model</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Depth</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c>
                  <a:txBody>
                    <a:bodyPr/>
                    <a:lstStyle/>
                    <a:p>
                      <a:pPr indent="0" marL="0">
                        <a:buNone/>
                      </a:pPr>
                      <a:r>
                        <a:rPr lang="en-US" sz="1700" b="1" dirty="0">
                          <a:solidFill>
                            <a:schemeClr val="bg1"/>
                          </a:solidFill>
                        </a:rPr>
                        <a:t>Parameters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chemeClr val="accent1"/>
                    </a:solidFill>
                  </a:tcPr>
                </a:tc>
              </a:tr>
              <a:tr h="457200">
                <a:tc>
                  <a:txBody>
                    <a:bodyPr/>
                    <a:lstStyle/>
                    <a:p>
                      <a:pPr indent="0" marL="0">
                        <a:buNone/>
                      </a:pPr>
                      <a:r>
                        <a:rPr lang="en-US" sz="1700" dirty="0">
                          <a:solidFill>
                            <a:schemeClr val="tx1"/>
                          </a:solidFill>
                        </a:rPr>
                        <a:t>MLP on tabular data</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2–4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10⁴ – 10⁶</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57200">
                <a:tc>
                  <a:txBody>
                    <a:bodyPr/>
                    <a:lstStyle/>
                    <a:p>
                      <a:pPr indent="0" marL="0">
                        <a:buNone/>
                      </a:pPr>
                      <a:r>
                        <a:rPr lang="en-US" sz="1700" dirty="0">
                          <a:solidFill>
                            <a:schemeClr val="tx1"/>
                          </a:solidFill>
                        </a:rPr>
                        <a:t>LeNet-5 (1998)</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7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6 × 10⁴</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57200">
                <a:tc>
                  <a:txBody>
                    <a:bodyPr/>
                    <a:lstStyle/>
                    <a:p>
                      <a:pPr indent="0" marL="0">
                        <a:buNone/>
                      </a:pPr>
                      <a:r>
                        <a:rPr lang="en-US" sz="1700" dirty="0">
                          <a:solidFill>
                            <a:schemeClr val="tx1"/>
                          </a:solidFill>
                        </a:rPr>
                        <a:t>AlexNet (2012)</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8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6 × 10⁷</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57200">
                <a:tc>
                  <a:txBody>
                    <a:bodyPr/>
                    <a:lstStyle/>
                    <a:p>
                      <a:pPr indent="0" marL="0">
                        <a:buNone/>
                      </a:pPr>
                      <a:r>
                        <a:rPr lang="en-US" sz="1700" b="1" dirty="0">
                          <a:solidFill>
                            <a:schemeClr val="accent1"/>
                          </a:solidFill>
                        </a:rPr>
                        <a:t>VGG-16 (2014)</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16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1.4 × 10⁸</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457200">
                <a:tc>
                  <a:txBody>
                    <a:bodyPr/>
                    <a:lstStyle/>
                    <a:p>
                      <a:pPr indent="0" marL="0">
                        <a:buNone/>
                      </a:pPr>
                      <a:r>
                        <a:rPr lang="en-US" sz="1700" b="1" dirty="0">
                          <a:solidFill>
                            <a:schemeClr val="accent1"/>
                          </a:solidFill>
                        </a:rPr>
                        <a:t>ResNet-50 (2015)</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50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c>
                  <a:txBody>
                    <a:bodyPr/>
                    <a:lstStyle/>
                    <a:p>
                      <a:pPr indent="0" marL="0">
                        <a:buNone/>
                      </a:pPr>
                      <a:r>
                        <a:rPr lang="en-US" sz="1700" dirty="0">
                          <a:solidFill>
                            <a:schemeClr val="accent1"/>
                          </a:solidFill>
                        </a:rPr>
                        <a:t>2.6 × 10⁷</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E3F1F0"/>
                    </a:solidFill>
                  </a:tcPr>
                </a:tc>
              </a:tr>
              <a:tr h="457200">
                <a:tc>
                  <a:txBody>
                    <a:bodyPr/>
                    <a:lstStyle/>
                    <a:p>
                      <a:pPr indent="0" marL="0">
                        <a:buNone/>
                      </a:pPr>
                      <a:r>
                        <a:rPr lang="en-US" sz="1700" dirty="0">
                          <a:solidFill>
                            <a:schemeClr val="tx1"/>
                          </a:solidFill>
                        </a:rPr>
                        <a:t>ResNet-152 (2015)</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152 layers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6 × 10⁷</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r h="457200">
                <a:tc>
                  <a:txBody>
                    <a:bodyPr/>
                    <a:lstStyle/>
                    <a:p>
                      <a:pPr indent="0" marL="0">
                        <a:buNone/>
                      </a:pPr>
                      <a:r>
                        <a:rPr lang="en-US" sz="1700" dirty="0">
                          <a:solidFill>
                            <a:schemeClr val="tx1"/>
                          </a:solidFill>
                        </a:rPr>
                        <a:t>ViT-Large (2020)</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24 blocks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c>
                  <a:txBody>
                    <a:bodyPr/>
                    <a:lstStyle/>
                    <a:p>
                      <a:pPr indent="0" marL="0">
                        <a:buNone/>
                      </a:pPr>
                      <a:r>
                        <a:rPr lang="en-US" sz="1700" dirty="0">
                          <a:solidFill>
                            <a:schemeClr val="tx1"/>
                          </a:solidFill>
                        </a:rPr>
                        <a:t>3 × 10⁸</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FFFFF"/>
                    </a:solidFill>
                  </a:tcPr>
                </a:tc>
              </a:tr>
              <a:tr h="457200">
                <a:tc>
                  <a:txBody>
                    <a:bodyPr/>
                    <a:lstStyle/>
                    <a:p>
                      <a:pPr indent="0" marL="0">
                        <a:buNone/>
                      </a:pPr>
                      <a:r>
                        <a:rPr lang="en-US" sz="1700" dirty="0">
                          <a:solidFill>
                            <a:schemeClr val="tx1"/>
                          </a:solidFill>
                        </a:rPr>
                        <a:t>Large language models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32 – 120+ blocks</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c>
                  <a:txBody>
                    <a:bodyPr/>
                    <a:lstStyle/>
                    <a:p>
                      <a:pPr indent="0" marL="0">
                        <a:buNone/>
                      </a:pPr>
                      <a:r>
                        <a:rPr lang="en-US" sz="1700" dirty="0">
                          <a:solidFill>
                            <a:schemeClr val="tx1"/>
                          </a:solidFill>
                        </a:rPr>
                        <a:t>10⁹ – 10¹²</a:t>
                      </a:r>
                      <a:endParaRPr lang="en-US" sz="1700" dirty="0"/>
                    </a:p>
                  </a:txBody>
                  <a:tcPr marL="101600" marR="101600" marT="50800" marB="50800"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F7F9FA"/>
                    </a:solidFill>
                  </a:tcPr>
                </a:tc>
              </a:tr>
            </a:tbl>
          </a:graphicData>
        </a:graphic>
      </p:graphicFrame>
      <p:sp>
        <p:nvSpPr>
          <p:cNvPr id="6" name="Shape 2"/>
          <p:cNvSpPr/>
          <p:nvPr/>
        </p:nvSpPr>
        <p:spPr>
          <a:xfrm>
            <a:off x="7955280" y="1645920"/>
            <a:ext cx="3685032" cy="4114800"/>
          </a:xfrm>
          <a:prstGeom prst="roundRect">
            <a:avLst>
              <a:gd name="adj" fmla="val 1985"/>
            </a:avLst>
          </a:prstGeom>
          <a:solidFill>
            <a:schemeClr val="accent1">
              <a:alpha val="10000"/>
            </a:schemeClr>
          </a:solidFill>
          <a:ln w="12700">
            <a:solidFill>
              <a:schemeClr val="accent1">
                <a:alpha val="10000"/>
              </a:schemeClr>
            </a:solidFill>
            <a:prstDash val="solid"/>
          </a:ln>
        </p:spPr>
      </p:sp>
      <p:sp>
        <p:nvSpPr>
          <p:cNvPr id="7" name="Text 3"/>
          <p:cNvSpPr txBox="1"/>
          <p:nvPr/>
        </p:nvSpPr>
        <p:spPr>
          <a:xfrm>
            <a:off x="8183880" y="1920240"/>
            <a:ext cx="3291840" cy="731520"/>
          </a:xfrm>
          <a:prstGeom prst="rect">
            <a:avLst/>
          </a:prstGeom>
          <a:noFill/>
          <a:ln/>
        </p:spPr>
        <p:txBody>
          <a:bodyPr wrap="square" lIns="0" tIns="0" rIns="0" bIns="0" rtlCol="0" anchor="t"/>
          <a:lstStyle/>
          <a:p>
            <a:pPr algn="l" indent="0" marL="0">
              <a:lnSpc>
                <a:spcPct val="105000"/>
              </a:lnSpc>
              <a:buNone/>
            </a:pPr>
            <a:r>
              <a:rPr lang="en-US" sz="3600" b="1" dirty="0">
                <a:solidFill>
                  <a:schemeClr val="accent1"/>
                </a:solidFill>
              </a:rPr>
              <a:t>3× deeper</a:t>
            </a:r>
            <a:endParaRPr lang="en-US" sz="3600" dirty="0"/>
          </a:p>
        </p:txBody>
      </p:sp>
      <p:sp>
        <p:nvSpPr>
          <p:cNvPr id="8" name="Text 4"/>
          <p:cNvSpPr txBox="1"/>
          <p:nvPr/>
        </p:nvSpPr>
        <p:spPr>
          <a:xfrm>
            <a:off x="8183880" y="2651760"/>
            <a:ext cx="3291840" cy="548640"/>
          </a:xfrm>
          <a:prstGeom prst="rect">
            <a:avLst/>
          </a:prstGeom>
          <a:noFill/>
          <a:ln/>
        </p:spPr>
        <p:txBody>
          <a:bodyPr wrap="square" lIns="0" tIns="0" rIns="0" bIns="0" rtlCol="0" anchor="t"/>
          <a:lstStyle/>
          <a:p>
            <a:pPr algn="l" indent="0" marL="0">
              <a:lnSpc>
                <a:spcPct val="105000"/>
              </a:lnSpc>
              <a:buNone/>
            </a:pPr>
            <a:r>
              <a:rPr lang="en-US" sz="2400" b="1" dirty="0">
                <a:solidFill>
                  <a:schemeClr val="accent2"/>
                </a:solidFill>
              </a:rPr>
              <a:t>5× fewer parameters</a:t>
            </a:r>
            <a:endParaRPr lang="en-US" sz="2400" dirty="0"/>
          </a:p>
        </p:txBody>
      </p:sp>
      <p:sp>
        <p:nvSpPr>
          <p:cNvPr id="9" name="Text 5"/>
          <p:cNvSpPr txBox="1"/>
          <p:nvPr/>
        </p:nvSpPr>
        <p:spPr>
          <a:xfrm>
            <a:off x="8183880" y="3474720"/>
            <a:ext cx="3291840" cy="1645920"/>
          </a:xfrm>
          <a:prstGeom prst="rect">
            <a:avLst/>
          </a:prstGeom>
          <a:noFill/>
          <a:ln/>
        </p:spPr>
        <p:txBody>
          <a:bodyPr wrap="square" lIns="0" tIns="0" rIns="0" bIns="0" rtlCol="0" anchor="t"/>
          <a:lstStyle/>
          <a:p>
            <a:pPr algn="l" indent="0" marL="0">
              <a:lnSpc>
                <a:spcPct val="105000"/>
              </a:lnSpc>
              <a:buNone/>
            </a:pPr>
            <a:r>
              <a:rPr lang="en-US" sz="1700" dirty="0">
                <a:solidFill>
                  <a:schemeClr val="tx1"/>
                </a:solidFill>
              </a:rPr>
              <a:t>ResNet-50 vs VGG-16. Depth is not size: better architecture beats brute force.</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§8 · CHECK YOURSELF</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Check yourself: why deep?</a:t>
            </a:r>
            <a:endParaRPr lang="en-US" sz="3000" dirty="0"/>
          </a:p>
        </p:txBody>
      </p:sp>
      <p:sp>
        <p:nvSpPr>
          <p:cNvPr id="5" name="Shape 2"/>
          <p:cNvSpPr/>
          <p:nvPr/>
        </p:nvSpPr>
        <p:spPr>
          <a:xfrm>
            <a:off x="576072" y="1618488"/>
            <a:ext cx="457200" cy="457200"/>
          </a:xfrm>
          <a:prstGeom prst="ellipse">
            <a:avLst/>
          </a:prstGeom>
          <a:solidFill>
            <a:schemeClr val="accent1"/>
          </a:solidFill>
          <a:ln w="19050">
            <a:solidFill>
              <a:schemeClr val="accent1"/>
            </a:solidFill>
            <a:prstDash val="solid"/>
          </a:ln>
        </p:spPr>
      </p:sp>
      <p:sp>
        <p:nvSpPr>
          <p:cNvPr id="6" name="Text 3"/>
          <p:cNvSpPr txBox="1"/>
          <p:nvPr/>
        </p:nvSpPr>
        <p:spPr>
          <a:xfrm>
            <a:off x="393192" y="161848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1</a:t>
            </a:r>
            <a:endParaRPr lang="en-US" sz="1700" dirty="0"/>
          </a:p>
        </p:txBody>
      </p:sp>
      <p:sp>
        <p:nvSpPr>
          <p:cNvPr id="7" name="Text 4"/>
          <p:cNvSpPr txBox="1"/>
          <p:nvPr/>
        </p:nvSpPr>
        <p:spPr>
          <a:xfrm>
            <a:off x="1325880" y="165506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Why can a shallow network need exponentially many units for a function a deep one handles with few?</a:t>
            </a:r>
            <a:endParaRPr lang="en-US" sz="2000" dirty="0"/>
          </a:p>
        </p:txBody>
      </p:sp>
      <p:sp>
        <p:nvSpPr>
          <p:cNvPr id="8" name="Shape 5"/>
          <p:cNvSpPr/>
          <p:nvPr/>
        </p:nvSpPr>
        <p:spPr>
          <a:xfrm>
            <a:off x="576072" y="2629408"/>
            <a:ext cx="457200" cy="457200"/>
          </a:xfrm>
          <a:prstGeom prst="ellipse">
            <a:avLst/>
          </a:prstGeom>
          <a:solidFill>
            <a:schemeClr val="accent1"/>
          </a:solidFill>
          <a:ln w="19050">
            <a:solidFill>
              <a:schemeClr val="accent1"/>
            </a:solidFill>
            <a:prstDash val="solid"/>
          </a:ln>
        </p:spPr>
      </p:sp>
      <p:sp>
        <p:nvSpPr>
          <p:cNvPr id="9" name="Text 6"/>
          <p:cNvSpPr txBox="1"/>
          <p:nvPr/>
        </p:nvSpPr>
        <p:spPr>
          <a:xfrm>
            <a:off x="393192" y="26294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2</a:t>
            </a:r>
            <a:endParaRPr lang="en-US" sz="1700" dirty="0"/>
          </a:p>
        </p:txBody>
      </p:sp>
      <p:sp>
        <p:nvSpPr>
          <p:cNvPr id="10" name="Text 7"/>
          <p:cNvSpPr txBox="1"/>
          <p:nvPr/>
        </p:nvSpPr>
        <p:spPr>
          <a:xfrm>
            <a:off x="1325880" y="2665984"/>
            <a:ext cx="10241280" cy="50292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If depth is so useful, why didn’t networks simply get deeper in the 1990s?</a:t>
            </a:r>
            <a:endParaRPr lang="en-US" sz="2000" dirty="0"/>
          </a:p>
        </p:txBody>
      </p:sp>
      <p:sp>
        <p:nvSpPr>
          <p:cNvPr id="11" name="Shape 8"/>
          <p:cNvSpPr/>
          <p:nvPr/>
        </p:nvSpPr>
        <p:spPr>
          <a:xfrm>
            <a:off x="576072" y="3543808"/>
            <a:ext cx="457200" cy="457200"/>
          </a:xfrm>
          <a:prstGeom prst="ellipse">
            <a:avLst/>
          </a:prstGeom>
          <a:solidFill>
            <a:schemeClr val="accent1"/>
          </a:solidFill>
          <a:ln w="19050">
            <a:solidFill>
              <a:schemeClr val="accent1"/>
            </a:solidFill>
            <a:prstDash val="solid"/>
          </a:ln>
        </p:spPr>
      </p:sp>
      <p:sp>
        <p:nvSpPr>
          <p:cNvPr id="12" name="Text 9"/>
          <p:cNvSpPr txBox="1"/>
          <p:nvPr/>
        </p:nvSpPr>
        <p:spPr>
          <a:xfrm>
            <a:off x="393192" y="3543808"/>
            <a:ext cx="822960" cy="45720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3</a:t>
            </a:r>
            <a:endParaRPr lang="en-US" sz="1700" dirty="0"/>
          </a:p>
        </p:txBody>
      </p:sp>
      <p:sp>
        <p:nvSpPr>
          <p:cNvPr id="13" name="Text 10"/>
          <p:cNvSpPr txBox="1"/>
          <p:nvPr/>
        </p:nvSpPr>
        <p:spPr>
          <a:xfrm>
            <a:off x="1325880" y="3580384"/>
            <a:ext cx="10241280" cy="599440"/>
          </a:xfrm>
          <a:prstGeom prst="rect">
            <a:avLst/>
          </a:prstGeom>
          <a:noFill/>
          <a:ln/>
        </p:spPr>
        <p:txBody>
          <a:bodyPr wrap="square" lIns="0" tIns="0" rIns="0" bIns="0" rtlCol="0" anchor="t"/>
          <a:lstStyle/>
          <a:p>
            <a:pPr algn="l" indent="0" marL="0">
              <a:lnSpc>
                <a:spcPct val="105000"/>
              </a:lnSpc>
              <a:buNone/>
            </a:pPr>
            <a:r>
              <a:rPr lang="en-US" sz="2000" dirty="0">
                <a:solidFill>
                  <a:schemeClr val="tx1"/>
                </a:solidFill>
              </a:rPr>
              <a:t>A 30-layer plain MLP trains worse than a 10-layer one on both training and validation sets. Overfitting?</a:t>
            </a:r>
            <a:endParaRPr lang="en-US" sz="2000" dirty="0"/>
          </a:p>
        </p:txBody>
      </p:sp>
      <p:sp>
        <p:nvSpPr>
          <p:cNvPr id="14" name="Text 11"/>
          <p:cNvSpPr txBox="1"/>
          <p:nvPr/>
        </p:nvSpPr>
        <p:spPr>
          <a:xfrm>
            <a:off x="548640" y="5897880"/>
            <a:ext cx="7315200" cy="320040"/>
          </a:xfrm>
          <a:prstGeom prst="rect">
            <a:avLst/>
          </a:prstGeom>
          <a:noFill/>
          <a:ln/>
        </p:spPr>
        <p:txBody>
          <a:bodyPr wrap="square" lIns="0" tIns="0" rIns="0" bIns="0" rtlCol="0" anchor="t"/>
          <a:lstStyle/>
          <a:p>
            <a:pPr algn="l" indent="0" marL="0">
              <a:lnSpc>
                <a:spcPct val="105000"/>
              </a:lnSpc>
              <a:buNone/>
            </a:pPr>
            <a:r>
              <a:rPr lang="en-US" sz="1500" i="1" dirty="0">
                <a:solidFill>
                  <a:schemeClr val="tx2"/>
                </a:solidFill>
              </a:rPr>
              <a:t>Commit to an answer before the next slide.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§8 · ANSWERS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Answers: why deep?</a:t>
            </a:r>
            <a:endParaRPr lang="en-US" sz="3000" dirty="0"/>
          </a:p>
        </p:txBody>
      </p:sp>
      <p:sp>
        <p:nvSpPr>
          <p:cNvPr id="5" name="Shape 2"/>
          <p:cNvSpPr/>
          <p:nvPr/>
        </p:nvSpPr>
        <p:spPr>
          <a:xfrm>
            <a:off x="576072" y="1554480"/>
            <a:ext cx="365760" cy="365760"/>
          </a:xfrm>
          <a:prstGeom prst="ellipse">
            <a:avLst/>
          </a:prstGeom>
          <a:solidFill>
            <a:schemeClr val="accent1"/>
          </a:solidFill>
          <a:ln w="19050">
            <a:solidFill>
              <a:schemeClr val="accent1"/>
            </a:solidFill>
            <a:prstDash val="solid"/>
          </a:ln>
        </p:spPr>
      </p:sp>
      <p:sp>
        <p:nvSpPr>
          <p:cNvPr id="6" name="Text 3"/>
          <p:cNvSpPr txBox="1"/>
          <p:nvPr/>
        </p:nvSpPr>
        <p:spPr>
          <a:xfrm>
            <a:off x="393192" y="1554480"/>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554480"/>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Why can a shallow network need exponentially many units for a function a deep one handles with few?</a:t>
            </a:r>
            <a:endParaRPr lang="en-US" sz="1600" dirty="0"/>
          </a:p>
        </p:txBody>
      </p:sp>
      <p:sp>
        <p:nvSpPr>
          <p:cNvPr id="8" name="Text 5"/>
          <p:cNvSpPr txBox="1"/>
          <p:nvPr/>
        </p:nvSpPr>
        <p:spPr>
          <a:xfrm>
            <a:off x="1234440" y="1849120"/>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A shallow network must cover the function’s variation with one layer of features, so units scale with the number of regions. Depth composes transformations, and composition multiplies regions.</a:t>
            </a:r>
            <a:endParaRPr lang="en-US" sz="1600" dirty="0"/>
          </a:p>
        </p:txBody>
      </p:sp>
      <p:sp>
        <p:nvSpPr>
          <p:cNvPr id="9" name="Shape 6"/>
          <p:cNvSpPr/>
          <p:nvPr/>
        </p:nvSpPr>
        <p:spPr>
          <a:xfrm>
            <a:off x="576072" y="2703576"/>
            <a:ext cx="365760" cy="365760"/>
          </a:xfrm>
          <a:prstGeom prst="ellipse">
            <a:avLst/>
          </a:prstGeom>
          <a:solidFill>
            <a:schemeClr val="accent1"/>
          </a:solidFill>
          <a:ln w="19050">
            <a:solidFill>
              <a:schemeClr val="accent1"/>
            </a:solidFill>
            <a:prstDash val="solid"/>
          </a:ln>
        </p:spPr>
      </p:sp>
      <p:sp>
        <p:nvSpPr>
          <p:cNvPr id="10" name="Text 7"/>
          <p:cNvSpPr txBox="1"/>
          <p:nvPr/>
        </p:nvSpPr>
        <p:spPr>
          <a:xfrm>
            <a:off x="393192" y="2703576"/>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703576"/>
            <a:ext cx="10378440" cy="239776"/>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If depth is so useful, why didn’t networks simply get deeper in the 1990s?</a:t>
            </a:r>
            <a:endParaRPr lang="en-US" sz="1600" dirty="0"/>
          </a:p>
        </p:txBody>
      </p:sp>
      <p:sp>
        <p:nvSpPr>
          <p:cNvPr id="12" name="Text 9"/>
          <p:cNvSpPr txBox="1"/>
          <p:nvPr/>
        </p:nvSpPr>
        <p:spPr>
          <a:xfrm>
            <a:off x="1234440" y="2998216"/>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Saturating activations, poor initialization, no normalization, too little data and compute, and no residual connections. The algorithm existed; the engineering did not.</a:t>
            </a:r>
            <a:endParaRPr lang="en-US" sz="1600" dirty="0"/>
          </a:p>
        </p:txBody>
      </p:sp>
      <p:sp>
        <p:nvSpPr>
          <p:cNvPr id="13" name="Shape 10"/>
          <p:cNvSpPr/>
          <p:nvPr/>
        </p:nvSpPr>
        <p:spPr>
          <a:xfrm>
            <a:off x="576072" y="3852672"/>
            <a:ext cx="365760" cy="365760"/>
          </a:xfrm>
          <a:prstGeom prst="ellipse">
            <a:avLst/>
          </a:prstGeom>
          <a:solidFill>
            <a:schemeClr val="accent1"/>
          </a:solidFill>
          <a:ln w="19050">
            <a:solidFill>
              <a:schemeClr val="accent1"/>
            </a:solidFill>
            <a:prstDash val="solid"/>
          </a:ln>
        </p:spPr>
      </p:sp>
      <p:sp>
        <p:nvSpPr>
          <p:cNvPr id="14" name="Text 11"/>
          <p:cNvSpPr txBox="1"/>
          <p:nvPr/>
        </p:nvSpPr>
        <p:spPr>
          <a:xfrm>
            <a:off x="393192" y="3852672"/>
            <a:ext cx="7315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3852672"/>
            <a:ext cx="10378440" cy="479552"/>
          </a:xfrm>
          <a:prstGeom prst="rect">
            <a:avLst/>
          </a:prstGeom>
          <a:noFill/>
          <a:ln/>
        </p:spPr>
        <p:txBody>
          <a:bodyPr wrap="square" lIns="0" tIns="0" rIns="0" bIns="0" rtlCol="0" anchor="t"/>
          <a:lstStyle/>
          <a:p>
            <a:pPr algn="l" indent="0" marL="0">
              <a:lnSpc>
                <a:spcPct val="105000"/>
              </a:lnSpc>
              <a:buNone/>
            </a:pPr>
            <a:r>
              <a:rPr lang="en-US" sz="1600" b="1" dirty="0">
                <a:solidFill>
                  <a:schemeClr val="tx2"/>
                </a:solidFill>
              </a:rPr>
              <a:t>A 30-layer plain MLP trains worse than a 10-layer one on both training and validation sets. Overfitting?</a:t>
            </a:r>
            <a:endParaRPr lang="en-US" sz="1600" dirty="0"/>
          </a:p>
        </p:txBody>
      </p:sp>
      <p:sp>
        <p:nvSpPr>
          <p:cNvPr id="16" name="Text 13"/>
          <p:cNvSpPr txBox="1"/>
          <p:nvPr/>
        </p:nvSpPr>
        <p:spPr>
          <a:xfrm>
            <a:off x="1234440" y="4387088"/>
            <a:ext cx="10378440" cy="589280"/>
          </a:xfrm>
          <a:prstGeom prst="rect">
            <a:avLst/>
          </a:prstGeom>
          <a:noFill/>
          <a:ln/>
        </p:spPr>
        <p:txBody>
          <a:bodyPr wrap="square" lIns="0" tIns="0" rIns="0" bIns="0" rtlCol="0" anchor="t"/>
          <a:lstStyle/>
          <a:p>
            <a:pPr algn="l" indent="0" marL="0">
              <a:lnSpc>
                <a:spcPct val="105000"/>
              </a:lnSpc>
              <a:buNone/>
            </a:pPr>
            <a:r>
              <a:rPr lang="en-US" sz="1600" dirty="0">
                <a:solidFill>
                  <a:schemeClr val="tx1"/>
                </a:solidFill>
              </a:rPr>
              <a:t>No — training loss is worse too. This is the degradation problem ResNet solved. Add residual connections and normalization, check initialization, and confirm it can overfit a tiny subset.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2 · RECAP</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Four ideas to take away</a:t>
            </a:r>
            <a:endParaRPr lang="en-US" sz="3000" dirty="0"/>
          </a:p>
        </p:txBody>
      </p:sp>
      <p:sp>
        <p:nvSpPr>
          <p:cNvPr id="5" name="Shape 2"/>
          <p:cNvSpPr/>
          <p:nvPr/>
        </p:nvSpPr>
        <p:spPr>
          <a:xfrm>
            <a:off x="822960" y="1965960"/>
            <a:ext cx="0" cy="2606040"/>
          </a:xfrm>
          <a:prstGeom prst="line">
            <a:avLst/>
          </a:prstGeom>
          <a:noFill/>
          <a:ln w="25400">
            <a:solidFill>
              <a:schemeClr val="accent1">
                <a:alpha val="50000"/>
              </a:schemeClr>
            </a:solidFill>
            <a:prstDash val="solid"/>
          </a:ln>
        </p:spPr>
      </p:sp>
      <p:sp>
        <p:nvSpPr>
          <p:cNvPr id="6" name="Shape 3"/>
          <p:cNvSpPr/>
          <p:nvPr/>
        </p:nvSpPr>
        <p:spPr>
          <a:xfrm>
            <a:off x="548640" y="1691640"/>
            <a:ext cx="548640" cy="548640"/>
          </a:xfrm>
          <a:prstGeom prst="ellipse">
            <a:avLst/>
          </a:prstGeom>
          <a:solidFill>
            <a:schemeClr val="accent1"/>
          </a:solidFill>
          <a:ln w="25400">
            <a:solidFill>
              <a:schemeClr val="bg1"/>
            </a:solidFill>
            <a:prstDash val="solid"/>
          </a:ln>
        </p:spPr>
      </p:sp>
      <p:sp>
        <p:nvSpPr>
          <p:cNvPr id="7" name="Text 4"/>
          <p:cNvSpPr txBox="1"/>
          <p:nvPr/>
        </p:nvSpPr>
        <p:spPr>
          <a:xfrm>
            <a:off x="548640" y="169164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8" name="Text 5"/>
          <p:cNvSpPr txBox="1"/>
          <p:nvPr/>
        </p:nvSpPr>
        <p:spPr>
          <a:xfrm>
            <a:off x="1325880" y="1728216"/>
            <a:ext cx="10314432" cy="59944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Losses are negative log-likelihoods. Use cross-entropy on raw logits; a fresh model starts near ln K.</a:t>
            </a:r>
            <a:endParaRPr lang="en-US" sz="2000" dirty="0"/>
          </a:p>
        </p:txBody>
      </p:sp>
      <p:sp>
        <p:nvSpPr>
          <p:cNvPr id="9" name="Shape 6"/>
          <p:cNvSpPr/>
          <p:nvPr/>
        </p:nvSpPr>
        <p:spPr>
          <a:xfrm>
            <a:off x="548640" y="2560320"/>
            <a:ext cx="548640" cy="548640"/>
          </a:xfrm>
          <a:prstGeom prst="ellipse">
            <a:avLst/>
          </a:prstGeom>
          <a:solidFill>
            <a:schemeClr val="accent1"/>
          </a:solidFill>
          <a:ln w="25400">
            <a:solidFill>
              <a:schemeClr val="bg1"/>
            </a:solidFill>
            <a:prstDash val="solid"/>
          </a:ln>
        </p:spPr>
      </p:sp>
      <p:sp>
        <p:nvSpPr>
          <p:cNvPr id="10" name="Text 7"/>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11" name="Text 8"/>
          <p:cNvSpPr txBox="1"/>
          <p:nvPr/>
        </p:nvSpPr>
        <p:spPr>
          <a:xfrm>
            <a:off x="1325880" y="2596896"/>
            <a:ext cx="10314432" cy="59944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Backprop is the chain rule run backward: four equations, every gradient for ≈ 3× a forward pass.</a:t>
            </a:r>
            <a:endParaRPr lang="en-US" sz="2000" dirty="0"/>
          </a:p>
        </p:txBody>
      </p:sp>
      <p:sp>
        <p:nvSpPr>
          <p:cNvPr id="12" name="Shape 9"/>
          <p:cNvSpPr/>
          <p:nvPr/>
        </p:nvSpPr>
        <p:spPr>
          <a:xfrm>
            <a:off x="548640" y="3429000"/>
            <a:ext cx="548640" cy="548640"/>
          </a:xfrm>
          <a:prstGeom prst="ellipse">
            <a:avLst/>
          </a:prstGeom>
          <a:solidFill>
            <a:schemeClr val="accent1"/>
          </a:solidFill>
          <a:ln w="25400">
            <a:solidFill>
              <a:schemeClr val="bg1"/>
            </a:solidFill>
            <a:prstDash val="solid"/>
          </a:ln>
        </p:spPr>
      </p:sp>
      <p:sp>
        <p:nvSpPr>
          <p:cNvPr id="13" name="Text 10"/>
          <p:cNvSpPr txBox="1"/>
          <p:nvPr/>
        </p:nvSpPr>
        <p:spPr>
          <a:xfrm>
            <a:off x="548640" y="342900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14" name="Text 11"/>
          <p:cNvSpPr txBox="1"/>
          <p:nvPr/>
        </p:nvSpPr>
        <p:spPr>
          <a:xfrm>
            <a:off x="1325880" y="3465576"/>
            <a:ext cx="10314432" cy="59944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Step against the gradient, keep η below 2/λₘₐₓ, and read training and validation curves together.</a:t>
            </a:r>
            <a:endParaRPr lang="en-US" sz="2000" dirty="0"/>
          </a:p>
        </p:txBody>
      </p:sp>
      <p:sp>
        <p:nvSpPr>
          <p:cNvPr id="15" name="Shape 12"/>
          <p:cNvSpPr/>
          <p:nvPr/>
        </p:nvSpPr>
        <p:spPr>
          <a:xfrm>
            <a:off x="548640" y="4297680"/>
            <a:ext cx="548640" cy="548640"/>
          </a:xfrm>
          <a:prstGeom prst="ellipse">
            <a:avLst/>
          </a:prstGeom>
          <a:solidFill>
            <a:schemeClr val="accent1"/>
          </a:solidFill>
          <a:ln w="25400">
            <a:solidFill>
              <a:schemeClr val="bg1"/>
            </a:solidFill>
            <a:prstDash val="solid"/>
          </a:ln>
        </p:spPr>
      </p:sp>
      <p:sp>
        <p:nvSpPr>
          <p:cNvPr id="16" name="Text 13"/>
          <p:cNvSpPr txBox="1"/>
          <p:nvPr/>
        </p:nvSpPr>
        <p:spPr>
          <a:xfrm>
            <a:off x="548640" y="429768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17" name="Text 14"/>
          <p:cNvSpPr txBox="1"/>
          <p:nvPr/>
        </p:nvSpPr>
        <p:spPr>
          <a:xfrm>
            <a:off x="1325880" y="4334256"/>
            <a:ext cx="10314432" cy="599440"/>
          </a:xfrm>
          <a:prstGeom prst="rect">
            <a:avLst/>
          </a:prstGeom>
          <a:noFill/>
          <a:ln/>
        </p:spPr>
        <p:txBody>
          <a:bodyPr wrap="square" lIns="0" tIns="0" rIns="0" bIns="0" rtlCol="0" anchor="t"/>
          <a:lstStyle/>
          <a:p>
            <a:pPr algn="l" indent="0" marL="0">
              <a:lnSpc>
                <a:spcPct val="105000"/>
              </a:lnSpc>
              <a:buNone/>
            </a:pPr>
            <a:r>
              <a:rPr lang="en-US" sz="2000" b="1" dirty="0">
                <a:solidFill>
                  <a:schemeClr val="tx1"/>
                </a:solidFill>
              </a:rPr>
              <a:t>Depth composes features efficiently; making it trainable took six engineering advances.</a:t>
            </a:r>
            <a:endParaRPr lang="en-US" sz="2000" dirty="0"/>
          </a:p>
        </p:txBody>
      </p:sp>
      <p:sp>
        <p:nvSpPr>
          <p:cNvPr id="18" name="Shape 15"/>
          <p:cNvSpPr/>
          <p:nvPr/>
        </p:nvSpPr>
        <p:spPr>
          <a:xfrm>
            <a:off x="548640" y="5349240"/>
            <a:ext cx="11091672" cy="685800"/>
          </a:xfrm>
          <a:prstGeom prst="roundRect">
            <a:avLst>
              <a:gd name="adj" fmla="val 10667"/>
            </a:avLst>
          </a:prstGeom>
          <a:solidFill>
            <a:schemeClr val="bg2"/>
          </a:solidFill>
          <a:ln w="12700">
            <a:solidFill>
              <a:schemeClr val="bg2"/>
            </a:solidFill>
            <a:prstDash val="solid"/>
          </a:ln>
        </p:spPr>
      </p:sp>
      <p:sp>
        <p:nvSpPr>
          <p:cNvPr id="19" name="Text 16"/>
          <p:cNvSpPr txBox="1"/>
          <p:nvPr/>
        </p:nvSpPr>
        <p:spPr>
          <a:xfrm>
            <a:off x="777240" y="5349240"/>
            <a:ext cx="10634472" cy="685800"/>
          </a:xfrm>
          <a:prstGeom prst="rect">
            <a:avLst/>
          </a:prstGeom>
          <a:noFill/>
          <a:ln/>
        </p:spPr>
        <p:txBody>
          <a:bodyPr wrap="square" lIns="0" tIns="0" rIns="0" bIns="0" rtlCol="0" anchor="ctr"/>
          <a:lstStyle/>
          <a:p>
            <a:pPr algn="l" indent="0" marL="0">
              <a:lnSpc>
                <a:spcPct val="105000"/>
              </a:lnSpc>
              <a:buNone/>
            </a:pPr>
            <a:r>
              <a:rPr lang="en-US" sz="1900" b="1" dirty="0">
                <a:solidFill>
                  <a:schemeClr val="tx2"/>
                </a:solidFill>
              </a:rPr>
              <a:t>Next lecture: initialization, optimizers, normalization and regularization.</a:t>
            </a:r>
            <a:endParaRPr lang="en-US" sz="19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body" hasCustomPrompt="1"/>
          </p:nvPr>
        </p:nvSpPr>
        <p:spPr>
          <a:xfrm>
            <a:off x="804672" y="320040"/>
            <a:ext cx="8686800" cy="347472"/>
          </a:xfrm>
          <a:prstGeom prst="rect">
            <a:avLst/>
          </a:prstGeom>
          <a:noFill/>
          <a:ln/>
        </p:spPr>
        <p:txBody>
          <a:bodyPr wrap="square" lIns="0" tIns="0" rIns="0" bIns="0" rtlCol="0" anchor="ctr"/>
          <a:lstStyle/>
          <a:p>
            <a:pPr indent="0" marL="0">
              <a:buNone/>
            </a:pPr>
            <a:r>
              <a:rPr lang="en-US" sz="1300" b="1" spc="150" kern="0" dirty="0">
                <a:solidFill>
                  <a:schemeClr val="accent1"/>
                </a:solidFill>
              </a:rPr>
              <a:t>LECTURE 2 · REFERENCES</a:t>
            </a:r>
            <a:endParaRPr lang="en-US" sz="1300" dirty="0"/>
          </a:p>
        </p:txBody>
      </p:sp>
      <p:sp>
        <p:nvSpPr>
          <p:cNvPr id="3" name="Text 0"/>
          <p:cNvSpPr/>
          <p:nvPr>
            <p:ph idx="102" type="title" hasCustomPrompt="1"/>
          </p:nvPr>
        </p:nvSpPr>
        <p:spPr>
          <a:xfrm>
            <a:off x="548640" y="694944"/>
            <a:ext cx="11091672" cy="658368"/>
          </a:xfrm>
          <a:prstGeom prst="rect">
            <a:avLst/>
          </a:prstGeom>
          <a:noFill/>
          <a:ln/>
        </p:spPr>
        <p:txBody>
          <a:bodyPr wrap="square" lIns="0" tIns="0" rIns="0" bIns="0" rtlCol="0" anchor="t"/>
          <a:lstStyle/>
          <a:p>
            <a:pPr algn="l" indent="0" marL="0">
              <a:buNone/>
            </a:pPr>
            <a:r>
              <a:rPr lang="en-US" sz="3000" b="1" dirty="0">
                <a:solidFill>
                  <a:schemeClr val="tx1"/>
                </a:solidFill>
              </a:rPr>
              <a:t>References and further reading</a:t>
            </a:r>
            <a:endParaRPr lang="en-US" sz="3000" dirty="0"/>
          </a:p>
        </p:txBody>
      </p:sp>
      <p:sp>
        <p:nvSpPr>
          <p:cNvPr id="5" name="Text 2"/>
          <p:cNvSpPr txBox="1"/>
          <p:nvPr/>
        </p:nvSpPr>
        <p:spPr>
          <a:xfrm>
            <a:off x="548640" y="1645920"/>
            <a:ext cx="5394960" cy="4480560"/>
          </a:xfrm>
          <a:prstGeom prst="rect">
            <a:avLst/>
          </a:prstGeom>
          <a:noFill/>
          <a:ln/>
        </p:spPr>
        <p:txBody>
          <a:bodyPr wrap="square" lIns="0" tIns="0" rIns="0" bIns="0" rtlCol="0" anchor="t"/>
          <a:lstStyle/>
          <a:p>
            <a:pPr algn="l" indent="0" marL="0">
              <a:lnSpc>
                <a:spcPct val="105000"/>
              </a:lnSpc>
              <a:spcAft>
                <a:spcPts val="800"/>
              </a:spcAft>
              <a:buNone/>
            </a:pPr>
            <a:r>
              <a:rPr lang="en-US" sz="1400" dirty="0">
                <a:solidFill>
                  <a:schemeClr val="tx1"/>
                </a:solidFill>
              </a:rPr>
              <a:t>Rumelhart, D., Hinton, G. &amp; Williams, R. (1986). Learning representations by back-propagating errors. Nature.</a:t>
            </a:r>
            <a:endParaRPr lang="en-US" sz="1400" dirty="0"/>
          </a:p>
          <a:p>
            <a:pPr algn="l" indent="0" marL="0">
              <a:lnSpc>
                <a:spcPct val="105000"/>
              </a:lnSpc>
              <a:spcAft>
                <a:spcPts val="800"/>
              </a:spcAft>
              <a:buNone/>
            </a:pPr>
            <a:r>
              <a:rPr lang="en-US" sz="1400" dirty="0">
                <a:solidFill>
                  <a:schemeClr val="tx1"/>
                </a:solidFill>
              </a:rPr>
              <a:t>Huber, P. (1964). Robust estimation of a location parameter.</a:t>
            </a:r>
            <a:endParaRPr lang="en-US" sz="1400" dirty="0"/>
          </a:p>
          <a:p>
            <a:pPr algn="l" indent="0" marL="0">
              <a:lnSpc>
                <a:spcPct val="105000"/>
              </a:lnSpc>
              <a:spcAft>
                <a:spcPts val="800"/>
              </a:spcAft>
              <a:buNone/>
            </a:pPr>
            <a:r>
              <a:rPr lang="en-US" sz="1400" dirty="0">
                <a:solidFill>
                  <a:schemeClr val="tx1"/>
                </a:solidFill>
              </a:rPr>
              <a:t>Szegedy, C. et al. (2016). Rethinking the Inception architecture (label smoothing). CVPR.</a:t>
            </a:r>
            <a:endParaRPr lang="en-US" sz="1400" dirty="0"/>
          </a:p>
          <a:p>
            <a:pPr algn="l" indent="0" marL="0">
              <a:lnSpc>
                <a:spcPct val="105000"/>
              </a:lnSpc>
              <a:spcAft>
                <a:spcPts val="800"/>
              </a:spcAft>
              <a:buNone/>
            </a:pPr>
            <a:r>
              <a:rPr lang="en-US" sz="1400" dirty="0">
                <a:solidFill>
                  <a:schemeClr val="tx1"/>
                </a:solidFill>
              </a:rPr>
              <a:t>Baydin, A. et al. (2018). Automatic differentiation in machine learning: a survey. JMLR.</a:t>
            </a:r>
            <a:endParaRPr lang="en-US" sz="1400" dirty="0"/>
          </a:p>
          <a:p>
            <a:pPr algn="l" indent="0" marL="0">
              <a:lnSpc>
                <a:spcPct val="105000"/>
              </a:lnSpc>
              <a:spcAft>
                <a:spcPts val="800"/>
              </a:spcAft>
              <a:buNone/>
            </a:pPr>
            <a:r>
              <a:rPr lang="en-US" sz="1400" dirty="0">
                <a:solidFill>
                  <a:schemeClr val="tx1"/>
                </a:solidFill>
              </a:rPr>
              <a:t>Chen, T. et al. (2016). Training deep nets with sublinear memory cost (checkpointing).</a:t>
            </a:r>
            <a:endParaRPr lang="en-US" sz="1400" dirty="0"/>
          </a:p>
          <a:p>
            <a:pPr algn="l" indent="0" marL="0">
              <a:lnSpc>
                <a:spcPct val="105000"/>
              </a:lnSpc>
              <a:spcAft>
                <a:spcPts val="800"/>
              </a:spcAft>
              <a:buNone/>
            </a:pPr>
            <a:r>
              <a:rPr lang="en-US" sz="1400" dirty="0">
                <a:solidFill>
                  <a:schemeClr val="tx1"/>
                </a:solidFill>
              </a:rPr>
              <a:t>Smith, L. (2017). Cyclical learning rates for training neural networks. WACV.</a:t>
            </a:r>
            <a:endParaRPr lang="en-US" sz="1400" dirty="0"/>
          </a:p>
          <a:p>
            <a:pPr algn="l" indent="0" marL="0">
              <a:lnSpc>
                <a:spcPct val="105000"/>
              </a:lnSpc>
              <a:buNone/>
            </a:pPr>
            <a:r>
              <a:rPr lang="en-US" sz="1400" dirty="0">
                <a:solidFill>
                  <a:schemeClr val="tx1"/>
                </a:solidFill>
              </a:rPr>
              <a:t>Goyal, P. et al. (2017). Accurate, large minibatch SGD: training ImageNet in 1 hour.</a:t>
            </a:r>
            <a:endParaRPr lang="en-US" sz="1400" dirty="0"/>
          </a:p>
        </p:txBody>
      </p:sp>
      <p:sp>
        <p:nvSpPr>
          <p:cNvPr id="6" name="Text 3"/>
          <p:cNvSpPr txBox="1"/>
          <p:nvPr/>
        </p:nvSpPr>
        <p:spPr>
          <a:xfrm>
            <a:off x="6263640" y="1645920"/>
            <a:ext cx="5376672" cy="4480560"/>
          </a:xfrm>
          <a:prstGeom prst="rect">
            <a:avLst/>
          </a:prstGeom>
          <a:noFill/>
          <a:ln/>
        </p:spPr>
        <p:txBody>
          <a:bodyPr wrap="square" lIns="0" tIns="0" rIns="0" bIns="0" rtlCol="0" anchor="t"/>
          <a:lstStyle/>
          <a:p>
            <a:pPr algn="l" indent="0" marL="0">
              <a:lnSpc>
                <a:spcPct val="105000"/>
              </a:lnSpc>
              <a:spcAft>
                <a:spcPts val="800"/>
              </a:spcAft>
              <a:buNone/>
            </a:pPr>
            <a:r>
              <a:rPr lang="en-US" sz="1400" dirty="0">
                <a:solidFill>
                  <a:schemeClr val="tx1"/>
                </a:solidFill>
              </a:rPr>
              <a:t>Dauphin, Y. et al. (2014). Identifying and attacking the saddle point problem. NeurIPS.</a:t>
            </a:r>
            <a:endParaRPr lang="en-US" sz="1400" dirty="0"/>
          </a:p>
          <a:p>
            <a:pPr algn="l" indent="0" marL="0">
              <a:lnSpc>
                <a:spcPct val="105000"/>
              </a:lnSpc>
              <a:spcAft>
                <a:spcPts val="800"/>
              </a:spcAft>
              <a:buNone/>
            </a:pPr>
            <a:r>
              <a:rPr lang="en-US" sz="1400" dirty="0">
                <a:solidFill>
                  <a:schemeClr val="tx1"/>
                </a:solidFill>
              </a:rPr>
              <a:t>Keskar, N. et al. (2017). On large-batch training: sharp minima. ICLR.</a:t>
            </a:r>
            <a:endParaRPr lang="en-US" sz="1400" dirty="0"/>
          </a:p>
          <a:p>
            <a:pPr algn="l" indent="0" marL="0">
              <a:lnSpc>
                <a:spcPct val="105000"/>
              </a:lnSpc>
              <a:spcAft>
                <a:spcPts val="800"/>
              </a:spcAft>
              <a:buNone/>
            </a:pPr>
            <a:r>
              <a:rPr lang="en-US" sz="1400" dirty="0">
                <a:solidFill>
                  <a:schemeClr val="tx1"/>
                </a:solidFill>
              </a:rPr>
              <a:t>Montúfar, G. et al. (2014). On the number of linear regions of deep neural networks. NeurIPS.</a:t>
            </a:r>
            <a:endParaRPr lang="en-US" sz="1400" dirty="0"/>
          </a:p>
          <a:p>
            <a:pPr algn="l" indent="0" marL="0">
              <a:lnSpc>
                <a:spcPct val="105000"/>
              </a:lnSpc>
              <a:spcAft>
                <a:spcPts val="800"/>
              </a:spcAft>
              <a:buNone/>
            </a:pPr>
            <a:r>
              <a:rPr lang="en-US" sz="1400" dirty="0">
                <a:solidFill>
                  <a:schemeClr val="tx1"/>
                </a:solidFill>
              </a:rPr>
              <a:t>Telgarsky, M. (2016). Benefits of depth in neural networks. COLT.</a:t>
            </a:r>
            <a:endParaRPr lang="en-US" sz="1400" dirty="0"/>
          </a:p>
          <a:p>
            <a:pPr algn="l" indent="0" marL="0">
              <a:lnSpc>
                <a:spcPct val="105000"/>
              </a:lnSpc>
              <a:spcAft>
                <a:spcPts val="800"/>
              </a:spcAft>
              <a:buNone/>
            </a:pPr>
            <a:r>
              <a:rPr lang="en-US" sz="1400" dirty="0">
                <a:solidFill>
                  <a:schemeClr val="tx1"/>
                </a:solidFill>
              </a:rPr>
              <a:t>Zeiler, M. &amp; Fergus, R. (2014). Visualizing and understanding convolutional networks. ECCV.</a:t>
            </a:r>
            <a:endParaRPr lang="en-US" sz="1400" dirty="0"/>
          </a:p>
          <a:p>
            <a:pPr algn="l" indent="0" marL="0">
              <a:lnSpc>
                <a:spcPct val="105000"/>
              </a:lnSpc>
              <a:spcAft>
                <a:spcPts val="800"/>
              </a:spcAft>
              <a:buNone/>
            </a:pPr>
            <a:r>
              <a:rPr lang="en-US" sz="1400" dirty="0">
                <a:solidFill>
                  <a:schemeClr val="tx1"/>
                </a:solidFill>
              </a:rPr>
              <a:t>Tan, M. &amp; Le, Q. (2019). EfficientNet: rethinking model scaling. ICML.</a:t>
            </a:r>
            <a:endParaRPr lang="en-US" sz="1400" dirty="0"/>
          </a:p>
          <a:p>
            <a:pPr algn="l" indent="0" marL="0">
              <a:lnSpc>
                <a:spcPct val="105000"/>
              </a:lnSpc>
              <a:buNone/>
            </a:pPr>
            <a:r>
              <a:rPr lang="en-US" sz="1400" dirty="0">
                <a:solidFill>
                  <a:schemeClr val="tx1"/>
                </a:solidFill>
              </a:rPr>
              <a:t>He, K. et al. (2016). Deep residual learning for image recognition. CVPR.</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57</a:t>
            </a:fld>
            <a:endParaRPr lang="en-US"/>
          </a:p>
        </p:txBody>
      </p:sp>
    </p:spTree>
  </p:cSld>
  <p:clrMapOvr>
    <a:masterClrMapping/>
  </p:clrMapOvr>
</p:sld>
</file>

<file path=ppt/theme/theme1.xml><?xml version="1.0" encoding="utf-8"?>
<a:theme xmlns:a="http://schemas.openxmlformats.org/drawingml/2006/main" name="Signal">
  <a:themeElements>
    <a:clrScheme name="Signal">
      <a:dk1>
        <a:srgbClr val="15232D"/>
      </a:dk1>
      <a:lt1>
        <a:srgbClr val="FFFFFF"/>
      </a:lt1>
      <a:dk2>
        <a:srgbClr val="556270"/>
      </a:dk2>
      <a:lt2>
        <a:srgbClr val="EEF2F5"/>
      </a:lt2>
      <a:accent1>
        <a:srgbClr val="0F7B78"/>
      </a:accent1>
      <a:accent2>
        <a:srgbClr val="D45D27"/>
      </a:accent2>
      <a:accent3>
        <a:srgbClr val="4C5FD5"/>
      </a:accent3>
      <a:accent4>
        <a:srgbClr val="2F855A"/>
      </a:accent4>
      <a:accent5>
        <a:srgbClr val="B83227"/>
      </a:accent5>
      <a:accent6>
        <a:srgbClr val="7CCFC6"/>
      </a:accent6>
      <a:hlink>
        <a:srgbClr val="0F7B78"/>
      </a:hlink>
      <a:folHlink>
        <a:srgbClr val="4C5FD5"/>
      </a:folHlink>
    </a:clrScheme>
    <a:fontScheme name="Sig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losses, backpropagation and gradient descent</dc:title>
  <dc:subject>How a network measures its error, computes every gradient at once, and uses those gradients to improve — and why depth is worth the trouble.</dc:subject>
  <dc:creator>Neural Networks &amp; Deep Learning</dc:creator>
  <cp:lastModifiedBy>Neural Networks &amp; Deep Learning</cp:lastModifiedBy>
  <cp:revision>1</cp:revision>
  <dcterms:created xsi:type="dcterms:W3CDTF">2026-10-02T15:14:03Z</dcterms:created>
  <dcterms:modified xsi:type="dcterms:W3CDTF">2026-10-02T15:14:03Z</dcterms:modified>
</cp:coreProperties>
</file>