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third lecture. We now know how a network computes and how it learns. Today is about why depth pays off, Section 8, and the four pieces of engineering that made deep networks actually work: initialization, Section 9; optimizers and schedules, Section 10; normalization layers, Section 11; and regularization, Section 12. Historically these, not the backpropagation algorithm, were what held the field back for twenty-six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for today. The first is about being precise: depth has some clean theoretical advantages and a lot of empirical support, and you should know which is which. The second is a derivation you should be able to do on a blank page. The third and fourth are the mechanics of the tools you will use in every project. The fifth is practical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notation for today. n-in and n-out are the number of inputs and outputs per unit, also called fan-in and fan-out. Beta is overloaded, unfortunately but conventionally: in optimizers it is a decay rate, and in BatchNorm it is the learned shift. Context makes it clear. Mu and sigma squared in Section 11 are the mean and variance of one feature over the mini-batch. p is the dropout probability, and N, C, H, W are the four axes of a convolutional activation tensor.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universal approximation theorem says one hidden layer suffices. So why depth? Because suffices in principle and is efficient are different claims. The clean picture is on the left. The tent map, built from two ReLU units, folds the interval in half. Compose it k times and you get two to the k linear pieces with only two units per layer. A one-hidden-layer ReLU network on a one-dimensional input with N units has at most N plus one linear pieces, so matching depth k needs two to the k minus one units. Folding a folded space multiplies the pieces; that is the whole idea. More generally, Montúfar and colleagues showed the number of linear regions can grow exponentially with depth but only polynomially with width. Telgarsky proved a clean separation in 2016: functions computed by networks with order k cubed layers and a constant number of units per layer cannot be approximated by networks with order k layers unless they have exponentially many units. One correction to a common claim, including in the tutorial: parity is not an example of depth separation for threshold units. Parity depends only on the sum of the bits, so one hidden layer of n threshold units, each testing whether the sum reaches i, computes it exactly. The famous exponential lower bounds are for depth-two AND-OR circuits, and Håstad's results for constant-depth AND-OR circuits. The honest caveat: these are constructed functions. That real data rewards depth is an empirical observation, but a very well-supported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intuition to carry with you. Natural data is compositional and hierarchical. An image is edges, which form textures and corners, which form object parts, which form objects. Speech is phonemes, then syllables, words, phrases. Each level is built from the one below by a relatively simple operation. A deep network mirrors that structure, and we know this is not just a story: Zeiler and Fergus visualized what maximally activates units in a trained CNN and found exactly this progression. Why it makes learning easier: features get reused. An edge detector in layer one serves the eye detector, the wheel detector and the text detector at once. This is also why transfer learning works: edges are edges everywhere. Practically, depth is more parameter-efficient and builds hierarchy, but is harder to optimize and less parallel; width is the opposite. Start moderately deep, with residual connections past about twenty layers, tune width second, and remember EfficientNet's result: scale depth, width and resolution together by a fixed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was published in usable form in 1986. Deep learning took over in 2012. The reasons for the gap define most of what comes next. Data: ImageNet gave 1.2 million labelled images; before that, benchmarks had tens of thousands, and deep networks simply memorize small datasets. Compute: GPUs run dense matrix multiplications tens to hundreds of times faster, turning month-long experiments into overnight jobs. ReLU removed saturation. Xavier and He initialization kept variance stable, making the elaborate layer-wise pretraining of the late 2000s obsolete. Dropout and augmentation let huge models train on limited data. Momentum, RMSProp and Adam handled ill-conditioning. And residual connections pushed depth from about eight layers to as many as you want. Notice the shape of the list: one architectural idea and six engineering advances. Understanding backprop makes you literate; understanding the rest makes you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deep is deep in 2026? LeNet-5 had seven layers and about sixty thousand parameters. AlexNet had eight layers and sixty million. VGG-16 had sixteen layers and 140 million. Then ResNet-50: fifty layers and only twenty-six million parameters. ResNet-152 has a hundred and fifty-two layers and sixty million. ViT-Large has twenty-four Transformer blocks and about three hundred million parameters, but a block contains several layers, attention and an MLP, so block counts are not comparable to layer counts and it is not plotted here. Large language models run from thirty-two to over a hundred and twenty blocks with billions to trillions of parameters, while a tabular MLP is two to four layers. Follow the dashed line from VGG-16 to ResNet-50: three times deeper, five times smaller. Depth is not the same as size, and better architecture beats brute force. Keep that in mind when you design your own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twenty years deep networks did not train, and this is why. Unroll BP2 from the output to layer one and the gradient there is a product of L terms, gated at every layer by g prime. Products of many numbers do one of three things, which is the whole plot. If the typical factor is below one, the product collapses toward zero. Above one, it explodes. Only near one does it stay useful. With sigmoid, g prime is at most a quarter, so even in the best case ten layers scale the gradient by about ten to the minus six. Early layers receive essentially nothing and stay near their random initialization while later layers learn. With large weights the product explodes and the loss becomes nan; that is the standard failure mode of recurrent networks. What makes it insidious: the model still trains. The loss goes down, because the last few layers are learning. It just plateaus far above where it should, and nothing in the output tells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starts from a question: what initial weight scale keeps the variance of activations constant as we go deeper? Take one layer, z equals the sum over n-in inputs of w times x, with zero bias. Assume weights and inputs are independent, zero-mean, identically distributed. For independent zero-mean variables the variance of a product is the product of variances, and variances of independent sums add. So the variance of z is n-in times the variance of w times the variance of x. To keep the output variance equal to the input variance, n-in times Var w must be one: Var w equals one over n-in. That is Xavier or Glorot initialization. They also considered the backward pass, which wants one over n-out. You cannot satisfy both unless the layer is square, so they compromised with two over n-in plus n-out. In uniform form the bound is the square root of six over the sum, because a uniform distribution on minus a to a has variance a squared over three. The assumption to notice: the activation is roughly linear and symmetric near zero. That holds for tanh. It does not hold for ReLU,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zeroes the negative half of its inputs. For a symmetric zero-mean input, half the mass maps to zero and the other half passes unchanged, so the expected square is halved. Strictly, the output is not zero-mean, so this is an approximation, but it is the right one. So every ReLU layer halves the variance, and after L layers the signal has been scaled by two to the minus L. Compensate by doubling: Var w equals two over n-in. That is He initialization, and it is why very deep ReLU networks became trainable; the paper showed a thirty-layer network that trained with He and completely failed with Xavier. Memorize the table: He for ReLU-family, Xavier for tanh and sigmoid, LeCun for SELU. Next, three practical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details. First, for convolutional layers n-in is not the channel count. A kernel of size K over C-in channels has K times K times C-in incoming weights per output unit. So a three-by-three convolution over sixty-four channels has n-in equal to 576 and a He standard deviation of 0.0589, not 0.177, which would be three times too large. Frameworks compute this correctly; the point is to know what two over n-in means. Second, biases start at zero, because the random weights already break the symmetry between units. One useful exception: for the final layer of a heavily imbalanced binary classifier, initialize the output bias to the log-odds of the positive rate, which saves several epochs of learning the base rate. Third, PyTorch's default for linear and convolutional layers, Kaiming uniform with a equal to root five, works out to a variance of one over three n-in. It is conservative for ReLU but acceptable. For a deep network trained from scratch, set He initialization explicitly. And a modern trick: initialize the last BatchNorm gamma in each residual block to zero, so every block starts as an exact identity and the network deepens itself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convincing five seconds in the tutorial. Push a thousand random inputs through twenty ReLU layers of width 256, initialized four ways, and print the standard deviation of the activations at layers one, ten and twenty. These are the actual values from one seeded run. Standard deviation 0.01 collapses to ten to the minus twenty. Standard deviation one explodes to ten to the twenty. Xavier loses a factor of one over root two per layer, so it halves about every two layers, because it does not account for ReLU's halving, ending around six times ten to the minus four. He initialization holds the signal near one all the way down. If the forward signal behaves like this, so does the backward gradient; the same variance argument applies in reverse. Your digits will differ, but the pattern will not. A note on the tutorial: its text says Xavier decays by a factor of two every three layers, but its own numbers, 0.58 to 0.023 over nine layers, give about 0.70 per layer, which is one over root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zero, and why not large? All-zero weights break the network permanently. If every weight in a layer is identical, every unit computes the same thing, receives the same gradient, and updates identically, forever. A 512-unit layer has the expressive power of one unit. That is the symmetry-breaking problem, and it is why initialization must be random. Large weights push pre-activations into the flat tails, or with ReLU explode activations. Small weights let the signal die. Initialization is the first line of defence. The others: non-saturating activations, batch normalization, residual connections, which give the gradient a path with derivative exactly one, and gradient clipping, which goes after backward and before step and is standard for RNNs and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gradient descent has no memory, and on an ill-conditioned ravine that hurts. The largest stable learning rate is set by the steep direction across the ravine, so progress along the gentle floor is painfully slow. The grey path is plain gradient descent at nearly its largest stable step on f equals one half of x squared plus a hundred y squared: it zigzags and creeps. Momentum keeps a running velocity, beta times the old velocity plus the new gradient, and steps along it. In a consistent direction the velocity grows to g over one minus beta, ten times g with beta 0.9, so the effective step is ten times larger along the floor. Across the ravine the gradients alternate in sign and partly cancel. The momentum path, simulated on the same function with beta 0.9, covers the floor far faster, and overshoots slightly, which is typical of momentum. Two practical consequences. When you add momentum, divide the learning rate by about ten, or it diverges. And Nesterov momentum evaluates the gradient at the point the momentum is about to take you, which lets it brake earlier; it is usually a small, free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fix gives each parameter its own learning rate. AdaGrad accumulates the elementwise square of every gradient and divides each step by the square root of that sum. Parameters that have received large gradients get small effective learning rates and vice versa. That is genuinely useful for sparse features: a rare word's embedding gets few but important updates, and AdaGrad gives them full weight. Its fatal flaw is that the accumulator only ever increases, so the effective learning rate decays toward zero and long runs grind to a halt. RMSProp replaces the running sum with an exponentially decaying average. Old gradients fade, so the effective rate can recover. The plot simulates exactly that: gradients drop by ten at step 50, and RMSProp's step returns to about plus or minus eta while AdaGrad stays stuck. Notice the first few RMSProp steps are about three times too large: its average starts at zero and has not warmed up, which is exactly the bias Adam corrects. Because the root of E approximates the recent RMS gradient, each parameter moves by roughly eta regardless of its gradient scale. A historical footnote: RMSProp was never formally published. Hinton introduced it in a Coursera lecture, and everyone cites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combines the two ideas: a first moment, the momentum-style average of gradients, and a second moment, the RMSProp-style average of squared gradients. The step is eta times m-hat over root v-hat. Defaults are beta-one 0.9, beta-two 0.999, epsilon ten to the minus eight. Why the bias correction? Both moments start at zero. Unroll the recursion and the expected first moment is the true mean times one minus beta-one to the t: an underestimate. At step one with beta 0.9, m is ten times too small. Dividing by one minus beta to the t corrects it exactly. Be precise about the size of the problem. Both moments are biased at step one and partly cancel, so the uncorrected first step is about 3.2 times the intended size, not a thousand. The plot shows why correction is still worth doing: the first-moment bias dies in about forty steps, the second in about four thousand. That asymmetry, and the unreliable early variance estimate, is also part of why warmup helps Adam. Why Adam works: the update is roughly a signal-to-noise ratio. Consistent gradients give steps near eta; noisy ones shrink the step automatically. The optimizer becomes cautious exactly when it should. The derivation builds one line per click. A note on the tutorial: its end-of-section answer calls the uncorrected first step catastrophic, but its own main text is right that both moments are biased and partly cancel, giving about 3.2 times the intended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appears in interviews and in every modern training script. L2 regularization adds lambda over two times the squared norm to the loss, so the gradient gains a lambda theta term. In plain SGD that is identical to weight decay. In Adam it is not. The lambda theta term goes into the gradient, so it also flows into m and v, and is then divided by root v-hat. Parameters with large historical gradients get their decay divided down; parameters with small gradients get it amplified. The regularization strength ends up depending on gradient history, which is not what anyone intended. AdamW, from Loshchilov and Hutter, applies the decay directly to the parameters, outside the adaptive machinery. In PyTorch, Adam with weight decay gives the coupled version; AdamW gives the decoupled one. AdamW is the right default and is what essentially all modern Transformer and vision training uses. A related practice: do not decay biases or normalization parameters. In practice that means putting one-dimensional parameters in a no-decay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one should you use? Plain SGD rarely alone. SGD with momentum for CNNs and image classification, around 0.1 with batch norm: it often gives the best final accuracy but needs schedule tuning. RMSProp for RNNs and some reinforcement learning, largely superseded by Adam. Adam as the default for most new work, around ten to the minus three to three times ten to the minus four. AdamW for Transformers and modern vision, with weight decay from 0.01 to 0.1. The useful summary: Adam or AdamW gets you to a good result fast with little tuning. SGD with momentum, a well-tuned schedule and patience often reaches slightly better final test accuracy on image classification. For coursework, prototyping and interviews, AdamW. There is an ongoing debate about whether Adam generalizes slightly worse; the effect is real but small and depends heavily on schedule and regularization. Do not treat it as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learning rate is almost never optimal. You want large steps early, to travel, and small steps late, to settle. Step decay multiplies the rate by 0.1 at fixed epochs; it is the classic ResNet recipe. Cosine annealing decays smoothly along a half cosine; it is the modern default and has no milestones to tune. Warmup starts tiny and ramps up linearly over the first few hundred to few thousand steps; it is essential for Transformers and large-batch training, because early gradients are unreliable and adaptive optimizers have poor variance estimates at first. One-cycle ramps up to a high peak and then down well below the start, with momentum moving inversely, and trains remarkably fast. Reduce-on-plateau drops the rate when validation loss stops improving. The single most common scheduler bug is calling step in the wrong place. Most schedulers step once per epoch, but OneCycle and warmup schedulers step once per batch, and reduce-on-plateau needs the validation metric passed in. Getting it wrong silently changes your entire schedule, so log the current learning rate each epoch and check it does what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standardize input features so no single feature dominates. Normalization layers do the same thing to the hidden activations, at every layer, during training. It is one of the highest-value-per-line techniques in deep learning. For a mini-batch, for each feature or each channel: compute the batch mean, the batch variance, normalize to mean zero and variance one, then scale by gamma and shift by beta. The fourth step is the one people skip over, and it is essential. Forcing every layer to mean zero, variance one is a serious constraint; with a sigmoid it would pin activations to the near-linear region and destroy the nonlinearity. Gamma and beta are learned, one pair per channel, so the network chooses its own scale and shift. If no normalization is best, gamma equal to the population standard deviation and beta equal to the population mean represent the identity. Strictly, that is exact only at the population statistics, because each batch's own statistics differ slightly. That is the key point, from the original paper: in principle normalization does not remove representational power, which is what makes BatchNorm safe to insert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training time BatchNorm uses the current batch's statistics. At inference that would be wrong for two reasons: predictions would depend on which other examples happened to be in the batch, and a batch of one has zero variance. So during training it maintains running estimates of the mean and variance. PyTorch's default momentum of 0.1 means the new batch gets weight 0.1, the opposite convention from optimizer momentum; an unfortunate naming collision. At eval time it uses the running statistics, so inference is deterministic and independent of batch size. This is why switching to evaluation mode matters and why forgetting it is such a common bug. In train mode during validation, each batch is normalized by its own statistics, which leaks information across examples and makes validation accuracy meaningless. The symptoms: accuracy that changes with validation batch size, and with a batch of one, every output becomes beta, a constant prediction. Evaluation mode also disables dropout. One more detail: the running statistics are buffers, not parameters. They are saved and moved with the model but never receive gradients. If a loaded checkpoint performs terribly, check that the buffers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BatchNorm help? The original paper attributed it to reducing internal covariate shift, the idea that as earlier layers change, later layers keep having to re-adapt to a shifting input distribution. That explanation is now widely doubted. Santurkar and colleagues deliberately injected noise after BatchNorm to increase covariate shift, and the network still trained well and fast. The current best explanations: first, it smooths the loss landscape, making the loss and its gradients more Lipschitz, so larger learning rates are stable; that is the one Santurkar supports empirically. Second, it decouples weight magnitude from the function: scale W by any constant and the normalized output is unchanged, while the gradient scales by one over that constant, so large weights automatically get small effective learning rates. Third, it regularizes, because each example's normalization depends on the others in its batch. In interviews, quoting internal covariate shift as the accepted explanation marks you as having read only the abstract. In practice it buys learning rates around ten times higher, much faster convergence, and far less sensitivity to initialization.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LayerNorm, GroupNorm and InstanceNorm all compute x minus the mean over the standard deviation, then scale and shift. They differ only in which axes the statistics are computed over. For an activation tensor of shape N, C, H, W, the filled cells in each panel show one set of statistics, with each cell holding all H times W positions. BatchNorm pools one channel across the whole batch and every position. That makes sense because a channel is one feature detector applied everywhere, so all its responses are samples of the same feature, and it keeps one gamma and beta per channel. Its weakness is small batches: at batch size two or four the estimates are noisy and performance degrades badly, which is common in detection and segmentation. GroupNorm fixes that by pooling a group of channels within a single example, independent of batch size; 32 groups is a reasonable default. LayerNorm normalizes across all features within one example, which is what sequence models need: variable lengths, meaningless statistics over padding, and single-sequence inference that must match batched behaviour. Every Transformer uses LayerNorm. InstanceNorm, one channel of one example, is used in style transfer and 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put it. The original paper placed BatchNorm between the linear operation and the activation: conv, then batch norm, then ReLU. That remains the dominant convention and is what ResNet uses. ResNet-v2 proposed a pre-activation order, batch norm, ReLU, conv, which works slightly better for very deep networks. One detail worth spotting in other people's code: omit the bias in a layer immediately followed by BatchNorm. Batch norm subtracts the mean, which cancels any constant bias, and then adds its own beta. The conv bias costs parameters and does nothing. Interactions. Batch norm with dropout can hurt, because dropout changes activation variance between training and inference and the running statistics then mismatch; modern CNNs use little or no dropout in conv layers. Do not apply weight decay to gamma and beta. Always shuffle, or batch statistics swing wildly from batch to batch. And when fine-tuning a pretrained model on a small dataset, freezing batch norm in eval mode often beats re-estimating noisy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fits its training data perfectly and fails on new data is useless. Regularization is everything we do to close that gap. Classical statistics decomposes expected test error into bias squared, variance, and irreducible noise. Bias is error from wrong assumptions, like a linear model on curved data: underfitting. Variance is sensitivity to the particular sample: overfitting. The classical story says complexity trades one against the other, giving a U-shaped curve. Deep learning does not follow that curve. Modern networks routinely have more parameters than examples and still generalize. The phenomenon is double descent: test error follows the classical U, peaks at the interpolation threshold where the model can just fit the training data exactly, and then, as capacity grows further, descends again, often below the classical minimum. The curve here is schematic. The working explanation is implicit regularization: among the many solutions that fit the data, gradient descent tends to find small-norm, simple ones, and over-parameterization offers more of them. It is active research, but the practical consequence is firm: do not be afraid of large models. Regularize them; do not shrink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L2 regularization adds lambda over two times the squared weights to the loss. The gradient gains a lambda W term, so every step first shrinks W by a factor of one minus eta lambda before the data-driven update: hence weight decay. Why do smaller weights generalize better? Recall Section 2: the norm of w controls how sharply a neuron transitions across its boundary, not where the boundary is. Small weights mean gentler transitions and a smoother overall function that cannot contort itself around individual noisy points. There is also a Bayesian reading: L2 is exactly the MAP estimate under a zero-mean Gaussian prior on the weights. Typical lambda is about ten to the minus four for SGD on CNNs and 0.01 to 0.1 for AdamW on Transformers, applied to weights only. L1 adds lambda times the absolute values. Its gradient is a constant push of lambda times the sign, regardless of magnitude, while L2's push is proportional to W, so L2 never quite reaches zero. L1's constant push drives small weights exactly to zero, giving sparse models. It is much less common in deep learning, partly because sparsity in a dense matrix does not speed anything up without specialized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training, dropout randomly zeros each unit's output with probability p, independently for each example and each forward pass. At inference nothing happens. Why divide by one minus p? Without it the expected activation during training is one minus p times a, but at inference it is a, a scale mismatch every downstream layer would be miscalibrated for. Dividing restores the expectation. That is inverted dropout, and it is what all frameworks implement, because it keeps inference free of special handling. Three complementary explanations. It prevents co-adaptation: a unit cannot rely on any particular other unit being present. It is an implicit ensemble: n units give two to the n masks, trained with shared weights and approximately averaged at inference. And it is noise injection, which forces the learned function to be locally smooth. Practical guidance: 0.5 for fully connected layers, 0.1 to 0.3 for convolutional layers if at all, 0.1 throughout Transformers, always after the activation. Dropout2d drops whole channels, which suits correlated feature maps, and stochastic depth drops whole residual branches. And again: evaluation mode disables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stopping: monitor validation loss and keep the parameters from the best epoch. Save a checkpoint whenever validation improves; if it has not improved for a patience of, say, ten epochs, stop, and restore the best checkpoint rather than the last. It costs nothing, needs no hyperparameter beyond patience, and it approximately implements L2 regularization. Starting from a small initialization, each gradient step moves the parameters a bounded distance, so stopping after T steps bounds their norm, and limiting the norm is precisely what L2 does. The correspondence is exact for linear models with quadratic loss. Do not early-stop on the test set. Selecting a checkpoint by test performance makes that score optimistic; use a validation split. Label smoothing, from Lecture 2, belongs in this family too: the target becomes one minus epsilon times the one-hot vector plus epsilon over K, which stops the model driving logits to infinity, improves calibration, and usually gives a small accuracy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augmentation creates new training examples by applying label-preserving transformations. For images it is enormously effective: the label of a cat photo is unchanged by flipping, cropping or brightness changes, while the pixel values change completely. The discipline is to ask whether each transform preserves your label. Horizontal flip is fine for cats and wrong for digit recognition or reading text. Vertical flip is fine for satellite imagery and wrong for street scenes. Rotation is fine for microscopy and questionable for six versus nine. Colour jitter is wrong if colour is the distinguishing feature. Stronger modern methods: Mixup trains on convex combinations of pairs with the labels mixed the same way, surprisingly effective and simple. CutMix pastes a rectangle from one image into another and mixes labels by area. RandAugment and TrivialAugment apply random operations from a fixed pool with essentially no hyperparameters, and both are built into torchvision. Test-time augmentation averages predictions over augmented test copies for a small gain at a multiple of the inference cost. And never augment your validation or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first, then act; the training-validation gap tells you which problem you have. Both losses high is underfitting: a bigger model, longer training, a higher learning rate, less regularization. Training low and validation high is overfitting. Both similar and acceptable is a good fit; try scaling up, and check against real baselines that acceptable really is. Validation loss below training loss is usually normal, because dropout and augmentation penalize training but not validation. When you are overfitting, here is the priority order by impact per unit of effort. One, get more data; nothing else comes close. Two, data augmentation, the cheapest substitute. Three, transfer learning from a pretrained model, often transformative on small datasets. Four, weight decay, one number to tune. Five, early stopping, free. Six, dropout, effective in fully connected layers. And seven, reducing model size, the last resort, since the double-descent literature suggests it is often the wrong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3 in five sentences. Section 8: depth composes features, and its exponential advantages are proven for constructed functions and well supported empirically. Section 9: keep the variance constant from layer to layer, He for ReLU and Xavier for tanh, and never start from zero. Section 10: momentum plus per-parameter scaling plus bias correction is Adam; use AdamW with a warmup and cosine schedule. Section 11: BatchNorm mainly smooths optimization; switch it to evaluation mode for inference, and use LayerNorm for sequences. Section 12: regularize large models rather than shrinking them, in the order data, augmentation, transfer learning, weight decay, early stopping, dropout. That completes the foundations. If you can derive the four backpropagation equations and the He initialization, and explain the AdamW decay and the BatchNorm modes, you are ready for the architecture sections that follow in the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sources for today. If you read only two, read Glorot and Bengio for the variance argument behind initialization, and Santurkar and colleagues for the evidence that BatchNorm works by smoothing the loss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3420"/>
            <a:ext cx="10566400" cy="796528"/>
          </a:xfrm>
          <a:prstGeom prst="rect">
            <a:avLst/>
          </a:prstGeom>
          <a:noFill/>
          <a:ln/>
        </p:spPr>
        <p:txBody>
          <a:bodyPr wrap="square" lIns="0" tIns="0" rIns="0" bIns="0" rtlCol="0" anchor="t"/>
          <a:lstStyle>
            <a:lvl1pPr algn="l" indent="0" marL="0">
              <a:lnSpc>
                <a:spcPct val="115000"/>
              </a:lnSpc>
              <a:buNone/>
              <a:defRPr lang="en-US" sz="2800" dirty="0">
                <a:solidFill>
                  <a:srgbClr val="1521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114748"/>
            <a:ext cx="10566400" cy="3930452"/>
          </a:xfrm>
          <a:prstGeom prst="rect">
            <a:avLst/>
          </a:prstGeom>
          <a:noFill/>
          <a:ln/>
        </p:spPr>
        <p:txBody>
          <a:bodyPr wrap="square" lIns="0" tIns="0" rIns="0" bIns="0" rtlCol="0" anchor="t"/>
          <a:lstStyle>
            <a:lvl1pPr algn="l" indent="0" marL="0">
              <a:lnSpc>
                <a:spcPct val="140000"/>
              </a:lnSpc>
              <a:buNone/>
              <a:defRPr lang="en-US" sz="1600" dirty="0">
                <a:solidFill>
                  <a:srgbClr val="1521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pic>
        <p:nvPicPr>
          <p:cNvPr id="2" name="Image 0" descr="Decorative feedforward network: four layers of nodes joined by connections, one path highlighted">    </p:cNvPr>
          <p:cNvPicPr>
            <a:picLocks noChangeAspect="1"/>
          </p:cNvPicPr>
          <p:nvPr/>
        </p:nvPicPr>
        <p:blipFill>
          <a:blip r:embed="rId1"/>
          <a:srcRect l="0" r="0" t="0" b="0"/>
          <a:stretch/>
        </p:blipFill>
        <p:spPr>
          <a:xfrm>
            <a:off x="7442200" y="1079500"/>
            <a:ext cx="3937000" cy="4445000"/>
          </a:xfrm>
          <a:prstGeom prst="rect">
            <a:avLst/>
          </a:prstGeom>
        </p:spPr>
      </p:pic>
      <p:sp>
        <p:nvSpPr>
          <p:cNvPr id="3" name="Text 0"/>
          <p:cNvSpPr/>
          <p:nvPr/>
        </p:nvSpPr>
        <p:spPr>
          <a:xfrm>
            <a:off x="812800" y="16039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F5FBF"/>
                </a:solidFill>
                <a:latin typeface="IBM Plex Sans" pitchFamily="34" charset="0"/>
                <a:ea typeface="IBM Plex Sans" pitchFamily="34" charset="-122"/>
                <a:cs typeface="IBM Plex Sans" pitchFamily="34" charset="-120"/>
              </a:rPr>
              <a:t>LECTURE 3 OF 3 · SECTIONS 8–12</a:t>
            </a:r>
            <a:endParaRPr lang="en-US" sz="1300" dirty="0"/>
          </a:p>
        </p:txBody>
      </p:sp>
      <p:sp>
        <p:nvSpPr>
          <p:cNvPr id="4" name="Text 1"/>
          <p:cNvSpPr/>
          <p:nvPr>
            <p:ph type="title"/>
          </p:nvPr>
        </p:nvSpPr>
        <p:spPr>
          <a:xfrm>
            <a:off x="812800" y="2038251"/>
            <a:ext cx="6540500" cy="1963738"/>
          </a:xfrm>
          <a:prstGeom prst="rect">
            <a:avLst/>
          </a:prstGeom>
          <a:noFill/>
          <a:ln/>
        </p:spPr>
        <p:txBody>
          <a:bodyPr wrap="square" lIns="0" tIns="0" rIns="0" bIns="0" rtlCol="0" anchor="t">
            <a:normAutofit/>
          </a:bodyPr>
          <a:lstStyle/>
          <a:p>
            <a:pPr algn="l" indent="0" marL="0">
              <a:lnSpc>
                <a:spcPts val="5088"/>
              </a:lnSpc>
              <a:buNone/>
            </a:pPr>
            <a:r>
              <a:rPr lang="en-US" sz="4800" b="1" i="0" dirty="0">
                <a:solidFill>
                  <a:srgbClr val="15212E"/>
                </a:solidFill>
                <a:latin typeface="IBM Plex Sans" pitchFamily="34" charset="0"/>
                <a:ea typeface="IBM Plex Sans" pitchFamily="34" charset="-122"/>
                <a:cs typeface="IBM Plex Sans" pitchFamily="34" charset="-120"/>
              </a:rPr>
              <a:t>Making deep networks train and generalize</a:t>
            </a:r>
            <a:endParaRPr lang="en-US" sz="4800" dirty="0"/>
          </a:p>
        </p:txBody>
      </p:sp>
      <p:sp>
        <p:nvSpPr>
          <p:cNvPr id="5" name="Text 2"/>
          <p:cNvSpPr/>
          <p:nvPr/>
        </p:nvSpPr>
        <p:spPr>
          <a:xfrm>
            <a:off x="812800" y="4179788"/>
            <a:ext cx="627888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D4A59"/>
                </a:solidFill>
                <a:latin typeface="IBM Plex Sans" pitchFamily="34" charset="0"/>
                <a:ea typeface="IBM Plex Sans" pitchFamily="34" charset="-122"/>
                <a:cs typeface="IBM Plex Sans" pitchFamily="34" charset="-120"/>
              </a:rPr>
              <a:t>Why depth helps, and the engineering that makes it work: initialization, optimizers, normalization and regularization.</a:t>
            </a:r>
            <a:endParaRPr lang="en-US" sz="1800" dirty="0"/>
          </a:p>
        </p:txBody>
      </p:sp>
      <p:sp>
        <p:nvSpPr>
          <p:cNvPr id="6" name="Text 3"/>
          <p:cNvSpPr/>
          <p:nvPr/>
        </p:nvSpPr>
        <p:spPr>
          <a:xfrm>
            <a:off x="812800" y="5022949"/>
            <a:ext cx="627888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878"/>
                </a:solidFill>
                <a:latin typeface="IBM Plex Sans" pitchFamily="34" charset="0"/>
                <a:ea typeface="IBM Plex Sans" pitchFamily="34" charset="-122"/>
                <a:cs typeface="IBM Plex Sans" pitchFamily="34" charset="-120"/>
              </a:rPr>
              <a:t>Neural Networks &amp; Deep Learning · Undergraduate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LEARNING OBJECTIVES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By the end of this lecture you will be able to explain and derive these five ideas.</a:t>
            </a:r>
            <a:endParaRPr lang="en-US" sz="2800" dirty="0"/>
          </a:p>
        </p:txBody>
      </p:sp>
      <p:sp>
        <p:nvSpPr>
          <p:cNvPr id="4" name="Text 2"/>
          <p:cNvSpPr/>
          <p:nvPr/>
        </p:nvSpPr>
        <p:spPr>
          <a:xfrm>
            <a:off x="812800" y="2063948"/>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01</a:t>
            </a:r>
            <a:endParaRPr lang="en-US" sz="1700" dirty="0"/>
          </a:p>
        </p:txBody>
      </p:sp>
      <p:sp>
        <p:nvSpPr>
          <p:cNvPr id="5" name="Text 3"/>
          <p:cNvSpPr/>
          <p:nvPr/>
        </p:nvSpPr>
        <p:spPr>
          <a:xfrm>
            <a:off x="1397000" y="2063948"/>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Explain when depth is provably more efficient than width, and when it is only empirically better.</a:t>
            </a:r>
            <a:endParaRPr lang="en-US" sz="1700" dirty="0"/>
          </a:p>
        </p:txBody>
      </p:sp>
      <p:sp>
        <p:nvSpPr>
          <p:cNvPr id="6" name="Text 4"/>
          <p:cNvSpPr/>
          <p:nvPr/>
        </p:nvSpPr>
        <p:spPr>
          <a:xfrm>
            <a:off x="812800" y="254396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02</a:t>
            </a:r>
            <a:endParaRPr lang="en-US" sz="1700" dirty="0"/>
          </a:p>
        </p:txBody>
      </p:sp>
      <p:sp>
        <p:nvSpPr>
          <p:cNvPr id="7" name="Text 5"/>
          <p:cNvSpPr/>
          <p:nvPr/>
        </p:nvSpPr>
        <p:spPr>
          <a:xfrm>
            <a:off x="1397000" y="254396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Derive Xavier and He initialization from a variance argument.</a:t>
            </a:r>
            <a:endParaRPr lang="en-US" sz="1700" dirty="0"/>
          </a:p>
        </p:txBody>
      </p:sp>
      <p:sp>
        <p:nvSpPr>
          <p:cNvPr id="8" name="Text 6"/>
          <p:cNvSpPr/>
          <p:nvPr/>
        </p:nvSpPr>
        <p:spPr>
          <a:xfrm>
            <a:off x="812800" y="302398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03</a:t>
            </a:r>
            <a:endParaRPr lang="en-US" sz="1700" dirty="0"/>
          </a:p>
        </p:txBody>
      </p:sp>
      <p:sp>
        <p:nvSpPr>
          <p:cNvPr id="9" name="Text 7"/>
          <p:cNvSpPr/>
          <p:nvPr/>
        </p:nvSpPr>
        <p:spPr>
          <a:xfrm>
            <a:off x="1397000" y="302398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Explain momentum, RMSProp, Adam’s bias correction, and AdamW’s decoupled decay.</a:t>
            </a:r>
            <a:endParaRPr lang="en-US" sz="1700" dirty="0"/>
          </a:p>
        </p:txBody>
      </p:sp>
      <p:sp>
        <p:nvSpPr>
          <p:cNvPr id="10" name="Text 8"/>
          <p:cNvSpPr/>
          <p:nvPr/>
        </p:nvSpPr>
        <p:spPr>
          <a:xfrm>
            <a:off x="812800" y="350400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04</a:t>
            </a:r>
            <a:endParaRPr lang="en-US" sz="1700" dirty="0"/>
          </a:p>
        </p:txBody>
      </p:sp>
      <p:sp>
        <p:nvSpPr>
          <p:cNvPr id="11" name="Text 9"/>
          <p:cNvSpPr/>
          <p:nvPr/>
        </p:nvSpPr>
        <p:spPr>
          <a:xfrm>
            <a:off x="1397000" y="350400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Describe BatchNorm in training and eval modes, and when to use LayerNorm or GroupNorm.</a:t>
            </a:r>
            <a:endParaRPr lang="en-US" sz="1700" dirty="0"/>
          </a:p>
        </p:txBody>
      </p:sp>
      <p:sp>
        <p:nvSpPr>
          <p:cNvPr id="12" name="Text 10"/>
          <p:cNvSpPr/>
          <p:nvPr/>
        </p:nvSpPr>
        <p:spPr>
          <a:xfrm>
            <a:off x="812800" y="3984030"/>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05</a:t>
            </a:r>
            <a:endParaRPr lang="en-US" sz="1700" dirty="0"/>
          </a:p>
        </p:txBody>
      </p:sp>
      <p:sp>
        <p:nvSpPr>
          <p:cNvPr id="13" name="Text 11"/>
          <p:cNvSpPr/>
          <p:nvPr/>
        </p:nvSpPr>
        <p:spPr>
          <a:xfrm>
            <a:off x="1397000" y="3984030"/>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Diagnose overfitting and choose regularizers in order of impact.</a:t>
            </a:r>
            <a:endParaRPr lang="en-US" sz="1700" dirty="0"/>
          </a:p>
        </p:txBody>
      </p:sp>
      <p:sp>
        <p:nvSpPr>
          <p:cNvPr id="14" name="Text 1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02 / 32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NOTATION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Today’s symbols cover variance, optimizer state and normalization statistics.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5067300" cy="3324225"/>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68818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nᵢₙ, nₒᵤₜ</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Inputs and outputs per unit (fan-in, fan-out)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Var(·), 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Variance, expectation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β, β₁, β₂</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Momentum and moment decay rates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mₜ, vₜ</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Adam’s first and second moments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λ</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Weight-decay strength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ε</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Small constant for stability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11900" y="2076648"/>
          <a:ext cx="5067300" cy="3324225"/>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68818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μ, σ²</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Mean and variance of one feature over the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Normalized activation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γ, β</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BatchNorm’s learned scale and shift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p</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Dropout probability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N, C, H, W</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Batch, channels, height, width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ηₘₐₓ, ηₘᵢₙ</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Schedule’s peak and floor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6" name="Text 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7"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03 / 32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§8 · WHY DEEP?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Depth can be exponentially more efficient than width, because each layer folds the input.</a:t>
            </a:r>
            <a:endParaRPr lang="en-US" sz="2800" dirty="0"/>
          </a:p>
        </p:txBody>
      </p:sp>
      <p:pic>
        <p:nvPicPr>
          <p:cNvPr id="4" name="Image 0" descr="Composing a tent map with itself: depth 1 gives 2 linear pieces, depth 2 gives 4, depth 3 gives 8, depth 4 gives 16">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812800" y="2229048"/>
            <a:ext cx="157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depth 1</a:t>
            </a:r>
            <a:endParaRPr lang="en-US" sz="1400" dirty="0"/>
          </a:p>
        </p:txBody>
      </p:sp>
      <p:sp>
        <p:nvSpPr>
          <p:cNvPr id="6" name="Text 3"/>
          <p:cNvSpPr/>
          <p:nvPr/>
        </p:nvSpPr>
        <p:spPr>
          <a:xfrm>
            <a:off x="812800" y="2495748"/>
            <a:ext cx="1638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2 linear pieces</a:t>
            </a:r>
            <a:endParaRPr lang="en-US" sz="1300" dirty="0"/>
          </a:p>
        </p:txBody>
      </p:sp>
      <p:sp>
        <p:nvSpPr>
          <p:cNvPr id="7" name="Text 4"/>
          <p:cNvSpPr/>
          <p:nvPr/>
        </p:nvSpPr>
        <p:spPr>
          <a:xfrm>
            <a:off x="812800" y="3029148"/>
            <a:ext cx="157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depth 2</a:t>
            </a:r>
            <a:endParaRPr lang="en-US" sz="1400" dirty="0"/>
          </a:p>
        </p:txBody>
      </p:sp>
      <p:sp>
        <p:nvSpPr>
          <p:cNvPr id="8" name="Text 5"/>
          <p:cNvSpPr/>
          <p:nvPr/>
        </p:nvSpPr>
        <p:spPr>
          <a:xfrm>
            <a:off x="812800" y="3295848"/>
            <a:ext cx="1638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4 linear pieces</a:t>
            </a:r>
            <a:endParaRPr lang="en-US" sz="1300" dirty="0"/>
          </a:p>
        </p:txBody>
      </p:sp>
      <p:sp>
        <p:nvSpPr>
          <p:cNvPr id="9" name="Text 6"/>
          <p:cNvSpPr/>
          <p:nvPr/>
        </p:nvSpPr>
        <p:spPr>
          <a:xfrm>
            <a:off x="812800" y="3829248"/>
            <a:ext cx="157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depth 3</a:t>
            </a:r>
            <a:endParaRPr lang="en-US" sz="1400" dirty="0"/>
          </a:p>
        </p:txBody>
      </p:sp>
      <p:sp>
        <p:nvSpPr>
          <p:cNvPr id="10" name="Text 7"/>
          <p:cNvSpPr/>
          <p:nvPr/>
        </p:nvSpPr>
        <p:spPr>
          <a:xfrm>
            <a:off x="812800" y="4095948"/>
            <a:ext cx="1638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8 linear pieces</a:t>
            </a:r>
            <a:endParaRPr lang="en-US" sz="1300" dirty="0"/>
          </a:p>
        </p:txBody>
      </p:sp>
      <p:sp>
        <p:nvSpPr>
          <p:cNvPr id="11" name="Text 8"/>
          <p:cNvSpPr/>
          <p:nvPr/>
        </p:nvSpPr>
        <p:spPr>
          <a:xfrm>
            <a:off x="812800" y="4629348"/>
            <a:ext cx="157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depth 4</a:t>
            </a:r>
            <a:endParaRPr lang="en-US" sz="1400" dirty="0"/>
          </a:p>
        </p:txBody>
      </p:sp>
      <p:sp>
        <p:nvSpPr>
          <p:cNvPr id="12" name="Text 9"/>
          <p:cNvSpPr/>
          <p:nvPr/>
        </p:nvSpPr>
        <p:spPr>
          <a:xfrm>
            <a:off x="812800" y="4896048"/>
            <a:ext cx="19050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16 linear pieces</a:t>
            </a:r>
            <a:endParaRPr lang="en-US" sz="1300" dirty="0"/>
          </a:p>
        </p:txBody>
      </p:sp>
      <p:sp>
        <p:nvSpPr>
          <p:cNvPr id="13" name="Text 10"/>
          <p:cNvSpPr/>
          <p:nvPr/>
        </p:nvSpPr>
        <p:spPr>
          <a:xfrm>
            <a:off x="2527300" y="5302448"/>
            <a:ext cx="3466465"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2 ReLU units per layer; pieces double each layer</a:t>
            </a:r>
            <a:endParaRPr lang="en-US" sz="1300" dirty="0"/>
          </a:p>
        </p:txBody>
      </p:sp>
      <p:sp>
        <p:nvSpPr>
          <p:cNvPr id="14" name="Shape 11"/>
          <p:cNvSpPr/>
          <p:nvPr/>
        </p:nvSpPr>
        <p:spPr>
          <a:xfrm>
            <a:off x="6299200" y="2159198"/>
            <a:ext cx="63500" cy="63500"/>
          </a:xfrm>
          <a:prstGeom prst="roundRect">
            <a:avLst>
              <a:gd name="adj" fmla="val 20000"/>
            </a:avLst>
          </a:prstGeom>
          <a:solidFill>
            <a:srgbClr val="1F5FBF"/>
          </a:solidFill>
          <a:ln/>
        </p:spPr>
      </p:sp>
      <p:sp>
        <p:nvSpPr>
          <p:cNvPr id="15" name="Text 12"/>
          <p:cNvSpPr/>
          <p:nvPr/>
        </p:nvSpPr>
        <p:spPr>
          <a:xfrm>
            <a:off x="6502400" y="2063948"/>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Composition multiplies pieces.</a:t>
            </a:r>
            <a:r>
              <a:rPr lang="en-US" sz="1500" dirty="0">
                <a:solidFill>
                  <a:srgbClr val="3D4A59"/>
                </a:solidFill>
                <a:latin typeface="IBM Plex Sans" pitchFamily="34" charset="0"/>
                <a:ea typeface="IBM Plex Sans" pitchFamily="34" charset="-122"/>
                <a:cs typeface="IBM Plex Sans" pitchFamily="34" charset="-120"/>
              </a:rPr>
              <a:t> A one-hidden-layer net on 1-D input needs 2ᵏ − 1 units to match depth k.</a:t>
            </a:r>
            <a:endParaRPr lang="en-US" sz="1500" dirty="0"/>
          </a:p>
        </p:txBody>
      </p:sp>
      <p:sp>
        <p:nvSpPr>
          <p:cNvPr id="16" name="Shape 13"/>
          <p:cNvSpPr/>
          <p:nvPr/>
        </p:nvSpPr>
        <p:spPr>
          <a:xfrm>
            <a:off x="6299200" y="2824559"/>
            <a:ext cx="63500" cy="63500"/>
          </a:xfrm>
          <a:prstGeom prst="roundRect">
            <a:avLst>
              <a:gd name="adj" fmla="val 20000"/>
            </a:avLst>
          </a:prstGeom>
          <a:solidFill>
            <a:srgbClr val="1F5FBF"/>
          </a:solidFill>
          <a:ln/>
        </p:spPr>
      </p:sp>
      <p:sp>
        <p:nvSpPr>
          <p:cNvPr id="17" name="Text 14"/>
          <p:cNvSpPr/>
          <p:nvPr/>
        </p:nvSpPr>
        <p:spPr>
          <a:xfrm>
            <a:off x="6502400" y="2729309"/>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Linear regions.</a:t>
            </a:r>
            <a:r>
              <a:rPr lang="en-US" sz="1500" dirty="0">
                <a:solidFill>
                  <a:srgbClr val="3D4A59"/>
                </a:solidFill>
                <a:latin typeface="IBM Plex Sans" pitchFamily="34" charset="0"/>
                <a:ea typeface="IBM Plex Sans" pitchFamily="34" charset="-122"/>
                <a:cs typeface="IBM Plex Sans" pitchFamily="34" charset="-120"/>
              </a:rPr>
              <a:t> Exponential in depth, polynomial in width (Montúfar et al., 2014).</a:t>
            </a:r>
            <a:endParaRPr lang="en-US" sz="1500" dirty="0"/>
          </a:p>
        </p:txBody>
      </p:sp>
      <p:sp>
        <p:nvSpPr>
          <p:cNvPr id="18" name="Shape 15"/>
          <p:cNvSpPr/>
          <p:nvPr/>
        </p:nvSpPr>
        <p:spPr>
          <a:xfrm>
            <a:off x="6299200" y="3489920"/>
            <a:ext cx="63500" cy="63500"/>
          </a:xfrm>
          <a:prstGeom prst="roundRect">
            <a:avLst>
              <a:gd name="adj" fmla="val 20000"/>
            </a:avLst>
          </a:prstGeom>
          <a:solidFill>
            <a:srgbClr val="1F5FBF"/>
          </a:solidFill>
          <a:ln/>
        </p:spPr>
      </p:sp>
      <p:sp>
        <p:nvSpPr>
          <p:cNvPr id="19" name="Text 16"/>
          <p:cNvSpPr/>
          <p:nvPr/>
        </p:nvSpPr>
        <p:spPr>
          <a:xfrm>
            <a:off x="6502400" y="3394670"/>
            <a:ext cx="50231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Proven separation.</a:t>
            </a:r>
            <a:r>
              <a:rPr lang="en-US" sz="1500" dirty="0">
                <a:solidFill>
                  <a:srgbClr val="3D4A59"/>
                </a:solidFill>
                <a:latin typeface="IBM Plex Sans" pitchFamily="34" charset="0"/>
                <a:ea typeface="IBM Plex Sans" pitchFamily="34" charset="-122"/>
                <a:cs typeface="IBM Plex Sans" pitchFamily="34" charset="-120"/>
              </a:rPr>
              <a:t> Θ(k³) layers of Θ(1) units cannot be matched by O(k) layers with fewer than Ω(2ᵏ) units (Telgarsky, 2016).</a:t>
            </a:r>
            <a:endParaRPr lang="en-US" sz="1500" dirty="0"/>
          </a:p>
        </p:txBody>
      </p:sp>
      <p:sp>
        <p:nvSpPr>
          <p:cNvPr id="20" name="Shape 17"/>
          <p:cNvSpPr/>
          <p:nvPr/>
        </p:nvSpPr>
        <p:spPr>
          <a:xfrm>
            <a:off x="6299200" y="4418112"/>
            <a:ext cx="63500" cy="63500"/>
          </a:xfrm>
          <a:prstGeom prst="roundRect">
            <a:avLst>
              <a:gd name="adj" fmla="val 20000"/>
            </a:avLst>
          </a:prstGeom>
          <a:solidFill>
            <a:srgbClr val="1F5FBF"/>
          </a:solidFill>
          <a:ln/>
        </p:spPr>
      </p:sp>
      <p:sp>
        <p:nvSpPr>
          <p:cNvPr id="21" name="Text 18"/>
          <p:cNvSpPr/>
          <p:nvPr/>
        </p:nvSpPr>
        <p:spPr>
          <a:xfrm>
            <a:off x="6502400" y="4322862"/>
            <a:ext cx="50231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Not parity.</a:t>
            </a:r>
            <a:r>
              <a:rPr lang="en-US" sz="1500" dirty="0">
                <a:solidFill>
                  <a:srgbClr val="3D4A59"/>
                </a:solidFill>
                <a:latin typeface="IBM Plex Sans" pitchFamily="34" charset="0"/>
                <a:ea typeface="IBM Plex Sans" pitchFamily="34" charset="-122"/>
                <a:cs typeface="IBM Plex Sans" pitchFamily="34" charset="-120"/>
              </a:rPr>
              <a:t> One hidden layer of n threshold units computes parity. The exponential bound is for depth-2 AND/OR circuits.</a:t>
            </a:r>
            <a:endParaRPr lang="en-US" sz="1500" dirty="0"/>
          </a:p>
        </p:txBody>
      </p:sp>
      <p:sp>
        <p:nvSpPr>
          <p:cNvPr id="22" name="Text 19"/>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3"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04 / 32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§8 · WHY DEEP?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Deep networks mirror the hierarchy of natural data and reuse low-level features.</a:t>
            </a:r>
            <a:endParaRPr lang="en-US" sz="2800" dirty="0"/>
          </a:p>
        </p:txBody>
      </p:sp>
      <p:pic>
        <p:nvPicPr>
          <p:cNvPr id="4" name="Image 0" descr="Feature hierarchy: pixels, edges in layer 1, corners and textures in layer 2, motifs in layer 3, object parts around layer 5, objects around layer 10">    </p:cNvPr>
          <p:cNvPicPr>
            <a:picLocks noChangeAspect="1"/>
          </p:cNvPicPr>
          <p:nvPr/>
        </p:nvPicPr>
        <p:blipFill>
          <a:blip r:embed="rId1"/>
          <a:srcRect l="0" r="0" t="-31" b="-31"/>
          <a:stretch/>
        </p:blipFill>
        <p:spPr>
          <a:xfrm>
            <a:off x="812800" y="2063948"/>
            <a:ext cx="10566400" cy="1270000"/>
          </a:xfrm>
          <a:prstGeom prst="rect">
            <a:avLst/>
          </a:prstGeom>
        </p:spPr>
      </p:pic>
      <p:sp>
        <p:nvSpPr>
          <p:cNvPr id="5" name="Text 2"/>
          <p:cNvSpPr/>
          <p:nvPr/>
        </p:nvSpPr>
        <p:spPr>
          <a:xfrm>
            <a:off x="8128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Pixels</a:t>
            </a:r>
            <a:endParaRPr lang="en-US" sz="1500" dirty="0"/>
          </a:p>
        </p:txBody>
      </p:sp>
      <p:sp>
        <p:nvSpPr>
          <p:cNvPr id="6" name="Text 3"/>
          <p:cNvSpPr/>
          <p:nvPr/>
        </p:nvSpPr>
        <p:spPr>
          <a:xfrm>
            <a:off x="8128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input</a:t>
            </a:r>
            <a:endParaRPr lang="en-US" sz="1300" dirty="0"/>
          </a:p>
        </p:txBody>
      </p:sp>
      <p:sp>
        <p:nvSpPr>
          <p:cNvPr id="7" name="Text 4"/>
          <p:cNvSpPr/>
          <p:nvPr/>
        </p:nvSpPr>
        <p:spPr>
          <a:xfrm>
            <a:off x="26162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Edges</a:t>
            </a:r>
            <a:endParaRPr lang="en-US" sz="1500" dirty="0"/>
          </a:p>
        </p:txBody>
      </p:sp>
      <p:sp>
        <p:nvSpPr>
          <p:cNvPr id="8" name="Text 5"/>
          <p:cNvSpPr/>
          <p:nvPr/>
        </p:nvSpPr>
        <p:spPr>
          <a:xfrm>
            <a:off x="26162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layer 1</a:t>
            </a:r>
            <a:endParaRPr lang="en-US" sz="1300" dirty="0"/>
          </a:p>
        </p:txBody>
      </p:sp>
      <p:sp>
        <p:nvSpPr>
          <p:cNvPr id="9" name="Text 6"/>
          <p:cNvSpPr/>
          <p:nvPr/>
        </p:nvSpPr>
        <p:spPr>
          <a:xfrm>
            <a:off x="44196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Corners</a:t>
            </a:r>
            <a:endParaRPr lang="en-US" sz="1500" dirty="0"/>
          </a:p>
        </p:txBody>
      </p:sp>
      <p:sp>
        <p:nvSpPr>
          <p:cNvPr id="10" name="Text 7"/>
          <p:cNvSpPr/>
          <p:nvPr/>
        </p:nvSpPr>
        <p:spPr>
          <a:xfrm>
            <a:off x="44196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layer 2</a:t>
            </a:r>
            <a:endParaRPr lang="en-US" sz="1300" dirty="0"/>
          </a:p>
        </p:txBody>
      </p:sp>
      <p:sp>
        <p:nvSpPr>
          <p:cNvPr id="11" name="Text 8"/>
          <p:cNvSpPr/>
          <p:nvPr/>
        </p:nvSpPr>
        <p:spPr>
          <a:xfrm>
            <a:off x="62230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Motifs</a:t>
            </a:r>
            <a:endParaRPr lang="en-US" sz="1500" dirty="0"/>
          </a:p>
        </p:txBody>
      </p:sp>
      <p:sp>
        <p:nvSpPr>
          <p:cNvPr id="12" name="Text 9"/>
          <p:cNvSpPr/>
          <p:nvPr/>
        </p:nvSpPr>
        <p:spPr>
          <a:xfrm>
            <a:off x="62230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layer 3</a:t>
            </a:r>
            <a:endParaRPr lang="en-US" sz="1300" dirty="0"/>
          </a:p>
        </p:txBody>
      </p:sp>
      <p:sp>
        <p:nvSpPr>
          <p:cNvPr id="13" name="Text 10"/>
          <p:cNvSpPr/>
          <p:nvPr/>
        </p:nvSpPr>
        <p:spPr>
          <a:xfrm>
            <a:off x="80264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Parts</a:t>
            </a:r>
            <a:endParaRPr lang="en-US" sz="1500" dirty="0"/>
          </a:p>
        </p:txBody>
      </p:sp>
      <p:sp>
        <p:nvSpPr>
          <p:cNvPr id="14" name="Text 11"/>
          <p:cNvSpPr/>
          <p:nvPr/>
        </p:nvSpPr>
        <p:spPr>
          <a:xfrm>
            <a:off x="80264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 layer 5</a:t>
            </a:r>
            <a:endParaRPr lang="en-US" sz="1300" dirty="0"/>
          </a:p>
        </p:txBody>
      </p:sp>
      <p:sp>
        <p:nvSpPr>
          <p:cNvPr id="15" name="Text 12"/>
          <p:cNvSpPr/>
          <p:nvPr/>
        </p:nvSpPr>
        <p:spPr>
          <a:xfrm>
            <a:off x="9829800" y="2336998"/>
            <a:ext cx="1549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Objects</a:t>
            </a:r>
            <a:endParaRPr lang="en-US" sz="1500" dirty="0"/>
          </a:p>
        </p:txBody>
      </p:sp>
      <p:sp>
        <p:nvSpPr>
          <p:cNvPr id="16" name="Text 13"/>
          <p:cNvSpPr/>
          <p:nvPr/>
        </p:nvSpPr>
        <p:spPr>
          <a:xfrm>
            <a:off x="9829800" y="2635448"/>
            <a:ext cx="1549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 layer 10</a:t>
            </a:r>
            <a:endParaRPr lang="en-US" sz="1300" dirty="0"/>
          </a:p>
        </p:txBody>
      </p:sp>
      <p:sp>
        <p:nvSpPr>
          <p:cNvPr id="17" name="Text 14"/>
          <p:cNvSpPr/>
          <p:nvPr/>
        </p:nvSpPr>
        <p:spPr>
          <a:xfrm>
            <a:off x="2825750" y="3092648"/>
            <a:ext cx="65405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visualized in trained CNNs by Zeiler &amp; Fergus (2014)</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5500" y="3549848"/>
          <a:ext cx="10553700" cy="2196703"/>
        </p:xfrm>
        <a:graphic>
          <a:graphicData uri="http://schemas.openxmlformats.org/drawingml/2006/table">
            <a:tbl>
              <a:tblPr/>
              <a:tblGrid>
                <a:gridCol w="4221480"/>
                <a:gridCol w="3377184"/>
                <a:gridCol w="2955036"/>
              </a:tblGrid>
              <a:tr h="439341">
                <a:tc>
                  <a:txBody>
                    <a:bodyPr/>
                    <a:lstStyle/>
                    <a:p>
                      <a:pPr indent="0" marL="0">
                        <a:lnSpc>
                          <a:spcPts val="1960"/>
                        </a:lnSpc>
                        <a:buNone/>
                      </a:pP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Add depth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Add width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Parameter efficiency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Higher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Lower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Abstraction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Builds a hierarchy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Enriches one level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Optimization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Harder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Easier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Needs residual connections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Past about 20 layers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19" name="Text 15"/>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0"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05 / 32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§8 · WHY DEEP?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Deep learning arrived through six engineering advances and one architectural idea.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10553700" cy="3514725"/>
        </p:xfrm>
        <a:graphic>
          <a:graphicData uri="http://schemas.openxmlformats.org/drawingml/2006/table">
            <a:tbl>
              <a:tblPr/>
              <a:tblGrid>
                <a:gridCol w="2955036"/>
                <a:gridCol w="7598664"/>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Advance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What it changed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Data</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ImageNet: 1.2 million labelled images in 1,000 classes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Compute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GPUs made dense matrix products tens to hundreds of times faster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Removed the saturation that made gradients vanish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Initialization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Xavier (2010) and He (2015) kept variance stable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Regularization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Dropout and heavy data augmentation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Optimizers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Momentum, RMSProp and Adam handled ill-conditioning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Residual connections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The one architectural idea: 100+ trainable layers (2015)</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bl>
          </a:graphicData>
        </a:graphic>
      </p:graphicFrame>
      <p:sp>
        <p:nvSpPr>
          <p:cNvPr id="5" name="Text 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6"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06 / 32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§8 · WHY DEEP?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Depth is not size: ResNet-50 is 3× deeper than VGG-16 with a fifth of the parameters.</a:t>
            </a:r>
            <a:endParaRPr lang="en-US" sz="2800" dirty="0"/>
          </a:p>
        </p:txBody>
      </p:sp>
      <p:pic>
        <p:nvPicPr>
          <p:cNvPr id="4" name="Image 0" descr="Log-log scatter of depth against parameter count for LeNet-5, AlexNet, VGG-16, ResNet-50 and ResNet-152">    </p:cNvPr>
          <p:cNvPicPr>
            <a:picLocks noChangeAspect="1"/>
          </p:cNvPicPr>
          <p:nvPr/>
        </p:nvPicPr>
        <p:blipFill>
          <a:blip r:embed="rId1"/>
          <a:srcRect l="0" r="0" t="0" b="0"/>
          <a:stretch/>
        </p:blipFill>
        <p:spPr>
          <a:xfrm>
            <a:off x="812800" y="2063948"/>
            <a:ext cx="6350000" cy="3429000"/>
          </a:xfrm>
          <a:prstGeom prst="rect">
            <a:avLst/>
          </a:prstGeom>
        </p:spPr>
      </p:pic>
      <p:sp>
        <p:nvSpPr>
          <p:cNvPr id="5" name="Text 2"/>
          <p:cNvSpPr/>
          <p:nvPr/>
        </p:nvSpPr>
        <p:spPr>
          <a:xfrm>
            <a:off x="2063750" y="434359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3D4A59"/>
                </a:solidFill>
                <a:latin typeface="IBM Plex Sans" pitchFamily="34" charset="0"/>
                <a:ea typeface="IBM Plex Sans" pitchFamily="34" charset="-122"/>
                <a:cs typeface="IBM Plex Sans" pitchFamily="34" charset="-120"/>
              </a:rPr>
              <a:t>LeNet-5</a:t>
            </a:r>
            <a:endParaRPr lang="en-US" sz="1400" dirty="0"/>
          </a:p>
        </p:txBody>
      </p:sp>
      <p:sp>
        <p:nvSpPr>
          <p:cNvPr id="6" name="Text 3"/>
          <p:cNvSpPr/>
          <p:nvPr/>
        </p:nvSpPr>
        <p:spPr>
          <a:xfrm>
            <a:off x="2266950" y="274339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3D4A59"/>
                </a:solidFill>
                <a:latin typeface="IBM Plex Sans" pitchFamily="34" charset="0"/>
                <a:ea typeface="IBM Plex Sans" pitchFamily="34" charset="-122"/>
                <a:cs typeface="IBM Plex Sans" pitchFamily="34" charset="-120"/>
              </a:rPr>
              <a:t>AlexNet</a:t>
            </a:r>
            <a:endParaRPr lang="en-US" sz="1400" dirty="0"/>
          </a:p>
        </p:txBody>
      </p:sp>
      <p:sp>
        <p:nvSpPr>
          <p:cNvPr id="7" name="Text 4"/>
          <p:cNvSpPr/>
          <p:nvPr/>
        </p:nvSpPr>
        <p:spPr>
          <a:xfrm>
            <a:off x="3302000" y="235604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VGG-16</a:t>
            </a:r>
            <a:endParaRPr lang="en-US" sz="1400" dirty="0"/>
          </a:p>
        </p:txBody>
      </p:sp>
      <p:sp>
        <p:nvSpPr>
          <p:cNvPr id="8" name="Text 5"/>
          <p:cNvSpPr/>
          <p:nvPr/>
        </p:nvSpPr>
        <p:spPr>
          <a:xfrm>
            <a:off x="5010150" y="297199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ResNet-50</a:t>
            </a:r>
            <a:endParaRPr lang="en-US" sz="1400" dirty="0"/>
          </a:p>
        </p:txBody>
      </p:sp>
      <p:sp>
        <p:nvSpPr>
          <p:cNvPr id="9" name="Text 6"/>
          <p:cNvSpPr/>
          <p:nvPr/>
        </p:nvSpPr>
        <p:spPr>
          <a:xfrm>
            <a:off x="5289550" y="251479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ResNet-152</a:t>
            </a:r>
            <a:endParaRPr lang="en-US" sz="1400" dirty="0"/>
          </a:p>
        </p:txBody>
      </p:sp>
      <p:sp>
        <p:nvSpPr>
          <p:cNvPr id="10" name="Text 7"/>
          <p:cNvSpPr/>
          <p:nvPr/>
        </p:nvSpPr>
        <p:spPr>
          <a:xfrm>
            <a:off x="762000" y="4756348"/>
            <a:ext cx="5969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11" name="Text 8"/>
          <p:cNvSpPr/>
          <p:nvPr/>
        </p:nvSpPr>
        <p:spPr>
          <a:xfrm>
            <a:off x="762000" y="3689548"/>
            <a:ext cx="5969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10⁶</a:t>
            </a:r>
            <a:endParaRPr lang="en-US" sz="1300" dirty="0"/>
          </a:p>
        </p:txBody>
      </p:sp>
      <p:sp>
        <p:nvSpPr>
          <p:cNvPr id="12" name="Text 9"/>
          <p:cNvSpPr/>
          <p:nvPr/>
        </p:nvSpPr>
        <p:spPr>
          <a:xfrm>
            <a:off x="762000" y="2622748"/>
            <a:ext cx="5969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10⁸</a:t>
            </a:r>
            <a:endParaRPr lang="en-US" sz="1300" dirty="0"/>
          </a:p>
        </p:txBody>
      </p:sp>
      <p:sp>
        <p:nvSpPr>
          <p:cNvPr id="13" name="Text 10"/>
          <p:cNvSpPr/>
          <p:nvPr/>
        </p:nvSpPr>
        <p:spPr>
          <a:xfrm>
            <a:off x="2203450" y="48960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a:t>
            </a:r>
            <a:endParaRPr lang="en-US" sz="1300" dirty="0"/>
          </a:p>
        </p:txBody>
      </p:sp>
      <p:sp>
        <p:nvSpPr>
          <p:cNvPr id="14" name="Text 11"/>
          <p:cNvSpPr/>
          <p:nvPr/>
        </p:nvSpPr>
        <p:spPr>
          <a:xfrm>
            <a:off x="5657850" y="48960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100</a:t>
            </a:r>
            <a:endParaRPr lang="en-US" sz="1300" dirty="0"/>
          </a:p>
        </p:txBody>
      </p:sp>
      <p:sp>
        <p:nvSpPr>
          <p:cNvPr id="15" name="Text 12"/>
          <p:cNvSpPr/>
          <p:nvPr/>
        </p:nvSpPr>
        <p:spPr>
          <a:xfrm>
            <a:off x="1920875" y="5162748"/>
            <a:ext cx="45783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depth in layers (log) · parameters (log)</a:t>
            </a:r>
            <a:endParaRPr lang="en-US" sz="1300" dirty="0"/>
          </a:p>
        </p:txBody>
      </p:sp>
      <p:sp>
        <p:nvSpPr>
          <p:cNvPr id="16" name="Shape 13"/>
          <p:cNvSpPr/>
          <p:nvPr/>
        </p:nvSpPr>
        <p:spPr>
          <a:xfrm>
            <a:off x="7569200" y="2159198"/>
            <a:ext cx="63500" cy="63500"/>
          </a:xfrm>
          <a:prstGeom prst="roundRect">
            <a:avLst>
              <a:gd name="adj" fmla="val 20000"/>
            </a:avLst>
          </a:prstGeom>
          <a:solidFill>
            <a:srgbClr val="1F5FBF"/>
          </a:solidFill>
          <a:ln/>
        </p:spPr>
      </p:sp>
      <p:sp>
        <p:nvSpPr>
          <p:cNvPr id="17" name="Text 14"/>
          <p:cNvSpPr/>
          <p:nvPr/>
        </p:nvSpPr>
        <p:spPr>
          <a:xfrm>
            <a:off x="7772400" y="2063948"/>
            <a:ext cx="37150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Depth is not size.</a:t>
            </a:r>
            <a:r>
              <a:rPr lang="en-US" sz="1500" dirty="0">
                <a:solidFill>
                  <a:srgbClr val="3D4A59"/>
                </a:solidFill>
                <a:latin typeface="IBM Plex Sans" pitchFamily="34" charset="0"/>
                <a:ea typeface="IBM Plex Sans" pitchFamily="34" charset="-122"/>
                <a:cs typeface="IBM Plex Sans" pitchFamily="34" charset="-120"/>
              </a:rPr>
              <a:t> ResNet-50 is 3× deeper than VGG-16 with about 5× fewer parameters.</a:t>
            </a:r>
            <a:endParaRPr lang="en-US" sz="1500" dirty="0"/>
          </a:p>
        </p:txBody>
      </p:sp>
      <p:sp>
        <p:nvSpPr>
          <p:cNvPr id="18" name="Shape 15"/>
          <p:cNvSpPr/>
          <p:nvPr/>
        </p:nvSpPr>
        <p:spPr>
          <a:xfrm>
            <a:off x="7569200" y="3112790"/>
            <a:ext cx="63500" cy="63500"/>
          </a:xfrm>
          <a:prstGeom prst="roundRect">
            <a:avLst>
              <a:gd name="adj" fmla="val 20000"/>
            </a:avLst>
          </a:prstGeom>
          <a:solidFill>
            <a:srgbClr val="1F5FBF"/>
          </a:solidFill>
          <a:ln/>
        </p:spPr>
      </p:sp>
      <p:sp>
        <p:nvSpPr>
          <p:cNvPr id="19" name="Text 16"/>
          <p:cNvSpPr/>
          <p:nvPr/>
        </p:nvSpPr>
        <p:spPr>
          <a:xfrm>
            <a:off x="7772400" y="3017540"/>
            <a:ext cx="37150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Blocks are not layers.</a:t>
            </a:r>
            <a:r>
              <a:rPr lang="en-US" sz="1500" dirty="0">
                <a:solidFill>
                  <a:srgbClr val="3D4A59"/>
                </a:solidFill>
                <a:latin typeface="IBM Plex Sans" pitchFamily="34" charset="0"/>
                <a:ea typeface="IBM Plex Sans" pitchFamily="34" charset="-122"/>
                <a:cs typeface="IBM Plex Sans" pitchFamily="34" charset="-120"/>
              </a:rPr>
              <a:t> ViT-Large has 24 Transformer blocks of several layers each, so it is left off this axis.</a:t>
            </a:r>
            <a:endParaRPr lang="en-US" sz="1500" dirty="0"/>
          </a:p>
        </p:txBody>
      </p:sp>
      <p:sp>
        <p:nvSpPr>
          <p:cNvPr id="20" name="Shape 17"/>
          <p:cNvSpPr/>
          <p:nvPr/>
        </p:nvSpPr>
        <p:spPr>
          <a:xfrm>
            <a:off x="7569200" y="4066381"/>
            <a:ext cx="63500" cy="63500"/>
          </a:xfrm>
          <a:prstGeom prst="roundRect">
            <a:avLst>
              <a:gd name="adj" fmla="val 20000"/>
            </a:avLst>
          </a:prstGeom>
          <a:solidFill>
            <a:srgbClr val="1F5FBF"/>
          </a:solidFill>
          <a:ln/>
        </p:spPr>
      </p:sp>
      <p:sp>
        <p:nvSpPr>
          <p:cNvPr id="21" name="Text 18"/>
          <p:cNvSpPr/>
          <p:nvPr/>
        </p:nvSpPr>
        <p:spPr>
          <a:xfrm>
            <a:off x="7772400" y="3971131"/>
            <a:ext cx="37150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Scale today.</a:t>
            </a:r>
            <a:r>
              <a:rPr lang="en-US" sz="1500" dirty="0">
                <a:solidFill>
                  <a:srgbClr val="3D4A59"/>
                </a:solidFill>
                <a:latin typeface="IBM Plex Sans" pitchFamily="34" charset="0"/>
                <a:ea typeface="IBM Plex Sans" pitchFamily="34" charset="-122"/>
                <a:cs typeface="IBM Plex Sans" pitchFamily="34" charset="-120"/>
              </a:rPr>
              <a:t> Large language models: 32–120+ blocks and 10⁹–10¹² parameters.</a:t>
            </a:r>
            <a:endParaRPr lang="en-US" sz="1500" dirty="0"/>
          </a:p>
        </p:txBody>
      </p:sp>
      <p:sp>
        <p:nvSpPr>
          <p:cNvPr id="22" name="Text 19"/>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3"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07 / 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Layer 1’s gradient is a product of L factors, so it vanishes or explodes unless they stay near 1.</a:t>
            </a:r>
            <a:endParaRPr lang="en-US" sz="2800" dirty="0"/>
          </a:p>
        </p:txBody>
      </p:sp>
      <p:pic>
        <p:nvPicPr>
          <p:cNvPr id="4" name="Image 0" descr="Log-scale plot of factor to the power L for factors 0.25, 0.9, 1.0, 1.1 and 1.5 across 20 layers">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3651250" y="4318198"/>
            <a:ext cx="215836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0.25ᴸ: sigmoid best case</a:t>
            </a:r>
            <a:endParaRPr lang="en-US" sz="1300" dirty="0"/>
          </a:p>
        </p:txBody>
      </p:sp>
      <p:sp>
        <p:nvSpPr>
          <p:cNvPr id="6" name="Text 3"/>
          <p:cNvSpPr/>
          <p:nvPr/>
        </p:nvSpPr>
        <p:spPr>
          <a:xfrm>
            <a:off x="4406900" y="2578298"/>
            <a:ext cx="1320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1.0: stable</a:t>
            </a:r>
            <a:endParaRPr lang="en-US" sz="1300" dirty="0"/>
          </a:p>
        </p:txBody>
      </p:sp>
      <p:sp>
        <p:nvSpPr>
          <p:cNvPr id="7" name="Text 4"/>
          <p:cNvSpPr/>
          <p:nvPr/>
        </p:nvSpPr>
        <p:spPr>
          <a:xfrm>
            <a:off x="3327400" y="2184598"/>
            <a:ext cx="1574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1.5ᴸ explodes</a:t>
            </a:r>
            <a:endParaRPr lang="en-US" sz="1300" dirty="0"/>
          </a:p>
        </p:txBody>
      </p:sp>
      <p:sp>
        <p:nvSpPr>
          <p:cNvPr id="8" name="Text 5"/>
          <p:cNvSpPr/>
          <p:nvPr/>
        </p:nvSpPr>
        <p:spPr>
          <a:xfrm>
            <a:off x="5118100" y="3035498"/>
            <a:ext cx="558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6B7785"/>
                </a:solidFill>
                <a:latin typeface="IBM Plex Sans" pitchFamily="34" charset="0"/>
                <a:ea typeface="IBM Plex Sans" pitchFamily="34" charset="-122"/>
                <a:cs typeface="IBM Plex Sans" pitchFamily="34" charset="-120"/>
              </a:rPr>
              <a:t>0.9ᴸ</a:t>
            </a:r>
            <a:endParaRPr lang="en-US" sz="1300" dirty="0"/>
          </a:p>
        </p:txBody>
      </p:sp>
      <p:sp>
        <p:nvSpPr>
          <p:cNvPr id="9" name="Text 6"/>
          <p:cNvSpPr/>
          <p:nvPr/>
        </p:nvSpPr>
        <p:spPr>
          <a:xfrm>
            <a:off x="5118100" y="2489398"/>
            <a:ext cx="558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6B7785"/>
                </a:solidFill>
                <a:latin typeface="IBM Plex Sans" pitchFamily="34" charset="0"/>
                <a:ea typeface="IBM Plex Sans" pitchFamily="34" charset="-122"/>
                <a:cs typeface="IBM Plex Sans" pitchFamily="34" charset="-120"/>
              </a:rPr>
              <a:t>1.1ᴸ</a:t>
            </a:r>
            <a:endParaRPr lang="en-US" sz="1300" dirty="0"/>
          </a:p>
        </p:txBody>
      </p:sp>
      <p:sp>
        <p:nvSpPr>
          <p:cNvPr id="10" name="Text 7"/>
          <p:cNvSpPr/>
          <p:nvPr/>
        </p:nvSpPr>
        <p:spPr>
          <a:xfrm>
            <a:off x="762000" y="4756348"/>
            <a:ext cx="5715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10⁻¹²</a:t>
            </a:r>
            <a:endParaRPr lang="en-US" sz="1300" dirty="0"/>
          </a:p>
        </p:txBody>
      </p:sp>
      <p:sp>
        <p:nvSpPr>
          <p:cNvPr id="11" name="Text 8"/>
          <p:cNvSpPr/>
          <p:nvPr/>
        </p:nvSpPr>
        <p:spPr>
          <a:xfrm>
            <a:off x="762000" y="4089598"/>
            <a:ext cx="5715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10⁻⁸</a:t>
            </a:r>
            <a:endParaRPr lang="en-US" sz="1300" dirty="0"/>
          </a:p>
        </p:txBody>
      </p:sp>
      <p:sp>
        <p:nvSpPr>
          <p:cNvPr id="12" name="Text 9"/>
          <p:cNvSpPr/>
          <p:nvPr/>
        </p:nvSpPr>
        <p:spPr>
          <a:xfrm>
            <a:off x="762000" y="3422848"/>
            <a:ext cx="5715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13" name="Text 10"/>
          <p:cNvSpPr/>
          <p:nvPr/>
        </p:nvSpPr>
        <p:spPr>
          <a:xfrm>
            <a:off x="762000" y="2756098"/>
            <a:ext cx="5715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4" name="Text 11"/>
          <p:cNvSpPr/>
          <p:nvPr/>
        </p:nvSpPr>
        <p:spPr>
          <a:xfrm>
            <a:off x="762000" y="2089348"/>
            <a:ext cx="5715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15" name="Text 12"/>
          <p:cNvSpPr/>
          <p:nvPr/>
        </p:nvSpPr>
        <p:spPr>
          <a:xfrm>
            <a:off x="1168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6" name="Text 13"/>
          <p:cNvSpPr/>
          <p:nvPr/>
        </p:nvSpPr>
        <p:spPr>
          <a:xfrm>
            <a:off x="3327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a:t>
            </a:r>
            <a:endParaRPr lang="en-US" sz="1300" dirty="0"/>
          </a:p>
        </p:txBody>
      </p:sp>
      <p:sp>
        <p:nvSpPr>
          <p:cNvPr id="17" name="Text 14"/>
          <p:cNvSpPr/>
          <p:nvPr/>
        </p:nvSpPr>
        <p:spPr>
          <a:xfrm>
            <a:off x="5486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20</a:t>
            </a:r>
            <a:endParaRPr lang="en-US" sz="1300" dirty="0"/>
          </a:p>
        </p:txBody>
      </p:sp>
      <p:sp>
        <p:nvSpPr>
          <p:cNvPr id="18" name="Text 15"/>
          <p:cNvSpPr/>
          <p:nvPr/>
        </p:nvSpPr>
        <p:spPr>
          <a:xfrm>
            <a:off x="1450340" y="5150048"/>
            <a:ext cx="418592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layers L the gradient travels back through</a:t>
            </a:r>
            <a:endParaRPr lang="en-US" sz="1300" dirty="0"/>
          </a:p>
        </p:txBody>
      </p:sp>
      <p:sp>
        <p:nvSpPr>
          <p:cNvPr id="19" name="Shape 16"/>
          <p:cNvSpPr/>
          <p:nvPr/>
        </p:nvSpPr>
        <p:spPr>
          <a:xfrm>
            <a:off x="6302375" y="2067123"/>
            <a:ext cx="5073650" cy="1191220"/>
          </a:xfrm>
          <a:prstGeom prst="roundRect">
            <a:avLst>
              <a:gd name="adj" fmla="val 7196"/>
            </a:avLst>
          </a:prstGeom>
          <a:solidFill>
            <a:srgbClr val="F2F5F8"/>
          </a:solidFill>
          <a:ln w="6350">
            <a:solidFill>
              <a:srgbClr val="D2D9E1"/>
            </a:solidFill>
            <a:prstDash val="solid"/>
          </a:ln>
        </p:spPr>
      </p:sp>
      <p:sp>
        <p:nvSpPr>
          <p:cNvPr id="20" name="Text 17"/>
          <p:cNvSpPr/>
          <p:nvPr/>
        </p:nvSpPr>
        <p:spPr>
          <a:xfrm>
            <a:off x="6496050" y="2222698"/>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UNROLL BP2 TO LAYER 1</a:t>
            </a:r>
            <a:endParaRPr lang="en-US" sz="1200" dirty="0"/>
          </a:p>
        </p:txBody>
      </p:sp>
      <p:sp>
        <p:nvSpPr>
          <p:cNvPr id="21" name="Text 18"/>
          <p:cNvSpPr/>
          <p:nvPr/>
        </p:nvSpPr>
        <p:spPr>
          <a:xfrm>
            <a:off x="6496050" y="2512219"/>
            <a:ext cx="482688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δ[1] = W[2]ᵀ ⋯ W[L]ᵀ δ[L],</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gated by g′(z) at every layer</a:t>
            </a:r>
            <a:endParaRPr lang="en-US" sz="1500" dirty="0"/>
          </a:p>
        </p:txBody>
      </p:sp>
      <p:sp>
        <p:nvSpPr>
          <p:cNvPr id="22" name="Shape 19"/>
          <p:cNvSpPr/>
          <p:nvPr/>
        </p:nvSpPr>
        <p:spPr>
          <a:xfrm>
            <a:off x="6299200" y="3534569"/>
            <a:ext cx="63500" cy="63500"/>
          </a:xfrm>
          <a:prstGeom prst="roundRect">
            <a:avLst>
              <a:gd name="adj" fmla="val 20000"/>
            </a:avLst>
          </a:prstGeom>
          <a:solidFill>
            <a:srgbClr val="A04F00"/>
          </a:solidFill>
          <a:ln/>
        </p:spPr>
      </p:sp>
      <p:sp>
        <p:nvSpPr>
          <p:cNvPr id="23" name="Text 20"/>
          <p:cNvSpPr/>
          <p:nvPr/>
        </p:nvSpPr>
        <p:spPr>
          <a:xfrm>
            <a:off x="6502400" y="3439319"/>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Vanishing.</a:t>
            </a:r>
            <a:r>
              <a:rPr lang="en-US" sz="1500" dirty="0">
                <a:solidFill>
                  <a:srgbClr val="3D4A59"/>
                </a:solidFill>
                <a:latin typeface="IBM Plex Sans" pitchFamily="34" charset="0"/>
                <a:ea typeface="IBM Plex Sans" pitchFamily="34" charset="-122"/>
                <a:cs typeface="IBM Plex Sans" pitchFamily="34" charset="-120"/>
              </a:rPr>
              <a:t> Early layers stay near random while late layers learn.</a:t>
            </a:r>
            <a:endParaRPr lang="en-US" sz="1500" dirty="0"/>
          </a:p>
        </p:txBody>
      </p:sp>
      <p:sp>
        <p:nvSpPr>
          <p:cNvPr id="24" name="Shape 21"/>
          <p:cNvSpPr/>
          <p:nvPr/>
        </p:nvSpPr>
        <p:spPr>
          <a:xfrm>
            <a:off x="6299200" y="4199930"/>
            <a:ext cx="63500" cy="63500"/>
          </a:xfrm>
          <a:prstGeom prst="roundRect">
            <a:avLst>
              <a:gd name="adj" fmla="val 20000"/>
            </a:avLst>
          </a:prstGeom>
          <a:solidFill>
            <a:srgbClr val="A04F00"/>
          </a:solidFill>
          <a:ln/>
        </p:spPr>
      </p:sp>
      <p:sp>
        <p:nvSpPr>
          <p:cNvPr id="25" name="Text 22"/>
          <p:cNvSpPr/>
          <p:nvPr/>
        </p:nvSpPr>
        <p:spPr>
          <a:xfrm>
            <a:off x="6502400" y="4104680"/>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Exploding.</a:t>
            </a:r>
            <a:r>
              <a:rPr lang="en-US" sz="1500" dirty="0">
                <a:solidFill>
                  <a:srgbClr val="3D4A59"/>
                </a:solidFill>
                <a:latin typeface="IBM Plex Sans" pitchFamily="34" charset="0"/>
                <a:ea typeface="IBM Plex Sans" pitchFamily="34" charset="-122"/>
                <a:cs typeface="IBM Plex Sans" pitchFamily="34" charset="-120"/>
              </a:rPr>
              <a:t> The loss hits nan within a few steps, the standard RNN failure.</a:t>
            </a:r>
            <a:endParaRPr lang="en-US" sz="1500" dirty="0"/>
          </a:p>
        </p:txBody>
      </p:sp>
      <p:sp>
        <p:nvSpPr>
          <p:cNvPr id="26" name="Shape 23"/>
          <p:cNvSpPr/>
          <p:nvPr/>
        </p:nvSpPr>
        <p:spPr>
          <a:xfrm>
            <a:off x="6299200" y="4865291"/>
            <a:ext cx="63500" cy="63500"/>
          </a:xfrm>
          <a:prstGeom prst="roundRect">
            <a:avLst>
              <a:gd name="adj" fmla="val 20000"/>
            </a:avLst>
          </a:prstGeom>
          <a:solidFill>
            <a:srgbClr val="A04F00"/>
          </a:solidFill>
          <a:ln/>
        </p:spPr>
      </p:sp>
      <p:sp>
        <p:nvSpPr>
          <p:cNvPr id="27" name="Text 24"/>
          <p:cNvSpPr/>
          <p:nvPr/>
        </p:nvSpPr>
        <p:spPr>
          <a:xfrm>
            <a:off x="6502400" y="4770041"/>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Insidious.</a:t>
            </a:r>
            <a:r>
              <a:rPr lang="en-US" sz="1500" dirty="0">
                <a:solidFill>
                  <a:srgbClr val="3D4A59"/>
                </a:solidFill>
                <a:latin typeface="IBM Plex Sans" pitchFamily="34" charset="0"/>
                <a:ea typeface="IBM Plex Sans" pitchFamily="34" charset="-122"/>
                <a:cs typeface="IBM Plex Sans" pitchFamily="34" charset="-120"/>
              </a:rPr>
              <a:t> The loss still falls, but plateaus high with no error message.</a:t>
            </a:r>
            <a:endParaRPr lang="en-US" sz="1500" dirty="0"/>
          </a:p>
        </p:txBody>
      </p:sp>
      <p:sp>
        <p:nvSpPr>
          <p:cNvPr id="28" name="Text 25"/>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9" name="Text 2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08 /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Keeping Var(z) equal to Var(x) requires Var(w) = 1/nᵢₙ, the basis of Xavier initialization.</a:t>
            </a:r>
            <a:endParaRPr lang="en-US" sz="2800" dirty="0"/>
          </a:p>
        </p:txBody>
      </p:sp>
      <p:sp>
        <p:nvSpPr>
          <p:cNvPr id="4" name="Shape 2"/>
          <p:cNvSpPr/>
          <p:nvPr/>
        </p:nvSpPr>
        <p:spPr>
          <a:xfrm>
            <a:off x="815975" y="2067123"/>
            <a:ext cx="5581650" cy="2077045"/>
          </a:xfrm>
          <a:prstGeom prst="roundRect">
            <a:avLst>
              <a:gd name="adj" fmla="val 4127"/>
            </a:avLst>
          </a:prstGeom>
          <a:solidFill>
            <a:srgbClr val="F2F5F8"/>
          </a:solidFill>
          <a:ln w="6350">
            <a:solidFill>
              <a:srgbClr val="D2D9E1"/>
            </a:solidFill>
            <a:prstDash val="solid"/>
          </a:ln>
        </p:spPr>
      </p:sp>
      <p:sp>
        <p:nvSpPr>
          <p:cNvPr id="5" name="Text 3"/>
          <p:cNvSpPr/>
          <p:nvPr/>
        </p:nvSpPr>
        <p:spPr>
          <a:xfrm>
            <a:off x="1009650" y="2222698"/>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KEEP THE VARIANCE CONSTANT</a:t>
            </a:r>
            <a:endParaRPr lang="en-US" sz="1200" dirty="0"/>
          </a:p>
        </p:txBody>
      </p:sp>
      <p:sp>
        <p:nvSpPr>
          <p:cNvPr id="6" name="Text 4"/>
          <p:cNvSpPr/>
          <p:nvPr/>
        </p:nvSpPr>
        <p:spPr>
          <a:xfrm>
            <a:off x="1009650" y="2512219"/>
            <a:ext cx="5350129" cy="15017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z = Σᵢ wᵢ xᵢ</a:t>
            </a:r>
            <a:r>
              <a:rPr lang="en-US" sz="1500" dirty="0">
                <a:solidFill>
                  <a:srgbClr val="5B6878"/>
                </a:solidFill>
                <a:latin typeface="JetBrains Mono" pitchFamily="49" charset="0"/>
                <a:ea typeface="JetBrains Mono" pitchFamily="49" charset="-122"/>
                <a:cs typeface="JetBrains Mono" pitchFamily="49" charset="-120"/>
              </a:rPr>
              <a:t> nᵢₙ terms, no bias</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w, x i.i.d., zero-mean, independent</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Var(wᵢxᵢ) = Var(w) · Var(x)</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Var(z) = nᵢₙ · Var(w) · Var(x)</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Var(z) = Var(x) ⇒ Var(w) = 1/nᵢₙ</a:t>
            </a:r>
            <a:endParaRPr lang="en-US" sz="1500" dirty="0"/>
          </a:p>
        </p:txBody>
      </p:sp>
      <p:sp>
        <p:nvSpPr>
          <p:cNvPr id="7" name="Shape 5"/>
          <p:cNvSpPr/>
          <p:nvPr/>
        </p:nvSpPr>
        <p:spPr>
          <a:xfrm>
            <a:off x="815975" y="4302919"/>
            <a:ext cx="5581650" cy="1191220"/>
          </a:xfrm>
          <a:prstGeom prst="roundRect">
            <a:avLst>
              <a:gd name="adj" fmla="val 7196"/>
            </a:avLst>
          </a:prstGeom>
          <a:solidFill>
            <a:srgbClr val="F2F5F8"/>
          </a:solidFill>
          <a:ln w="6350">
            <a:solidFill>
              <a:srgbClr val="D2D9E1"/>
            </a:solidFill>
            <a:prstDash val="solid"/>
          </a:ln>
        </p:spPr>
      </p:sp>
      <p:sp>
        <p:nvSpPr>
          <p:cNvPr id="8" name="Text 6"/>
          <p:cNvSpPr/>
          <p:nvPr/>
        </p:nvSpPr>
        <p:spPr>
          <a:xfrm>
            <a:off x="1009650" y="4458494"/>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XAVIER / GLOROT (2010)</a:t>
            </a:r>
            <a:endParaRPr lang="en-US" sz="1200" dirty="0"/>
          </a:p>
        </p:txBody>
      </p:sp>
      <p:sp>
        <p:nvSpPr>
          <p:cNvPr id="9" name="Text 7"/>
          <p:cNvSpPr/>
          <p:nvPr/>
        </p:nvSpPr>
        <p:spPr>
          <a:xfrm>
            <a:off x="1009650" y="4748014"/>
            <a:ext cx="535012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Var(w) = 2 / (nᵢₙ + nₒᵤₜ)</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uniform bound a = √(6 / (nᵢₙ + nₒᵤₜ))</a:t>
            </a:r>
            <a:endParaRPr lang="en-US" sz="1500" dirty="0"/>
          </a:p>
        </p:txBody>
      </p:sp>
      <p:sp>
        <p:nvSpPr>
          <p:cNvPr id="10" name="Shape 8"/>
          <p:cNvSpPr/>
          <p:nvPr/>
        </p:nvSpPr>
        <p:spPr>
          <a:xfrm>
            <a:off x="6810375" y="2067123"/>
            <a:ext cx="4565650" cy="1152823"/>
          </a:xfrm>
          <a:prstGeom prst="roundRect">
            <a:avLst>
              <a:gd name="adj" fmla="val 7436"/>
            </a:avLst>
          </a:prstGeom>
          <a:solidFill>
            <a:srgbClr val="FFFFFE"/>
          </a:solidFill>
          <a:ln w="6350">
            <a:solidFill>
              <a:srgbClr val="D2D9E1"/>
            </a:solidFill>
            <a:prstDash val="solid"/>
          </a:ln>
        </p:spPr>
      </p:sp>
      <p:sp>
        <p:nvSpPr>
          <p:cNvPr id="11" name="Text 9"/>
          <p:cNvSpPr/>
          <p:nvPr/>
        </p:nvSpPr>
        <p:spPr>
          <a:xfrm>
            <a:off x="6991350" y="2248098"/>
            <a:ext cx="43298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Intuition</a:t>
            </a:r>
            <a:endParaRPr lang="en-US" sz="1600" dirty="0"/>
          </a:p>
        </p:txBody>
      </p:sp>
      <p:sp>
        <p:nvSpPr>
          <p:cNvPr id="12" name="Text 10"/>
          <p:cNvSpPr/>
          <p:nvPr/>
        </p:nvSpPr>
        <p:spPr>
          <a:xfrm>
            <a:off x="6991350" y="2555379"/>
            <a:ext cx="432981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Each unit sums nᵢₙ random products, and each adds variance. Shrink Var(w) by nᵢₙ to keep the spread.</a:t>
            </a:r>
            <a:endParaRPr lang="en-US" sz="1400" dirty="0"/>
          </a:p>
        </p:txBody>
      </p:sp>
      <p:sp>
        <p:nvSpPr>
          <p:cNvPr id="13" name="Shape 11"/>
          <p:cNvSpPr/>
          <p:nvPr/>
        </p:nvSpPr>
        <p:spPr>
          <a:xfrm>
            <a:off x="6810375" y="3353296"/>
            <a:ext cx="4565650" cy="1152823"/>
          </a:xfrm>
          <a:prstGeom prst="roundRect">
            <a:avLst>
              <a:gd name="adj" fmla="val 7436"/>
            </a:avLst>
          </a:prstGeom>
          <a:solidFill>
            <a:srgbClr val="FFFFFE"/>
          </a:solidFill>
          <a:ln w="6350">
            <a:solidFill>
              <a:srgbClr val="D2D9E1"/>
            </a:solidFill>
            <a:prstDash val="solid"/>
          </a:ln>
        </p:spPr>
      </p:sp>
      <p:sp>
        <p:nvSpPr>
          <p:cNvPr id="14" name="Text 12"/>
          <p:cNvSpPr/>
          <p:nvPr/>
        </p:nvSpPr>
        <p:spPr>
          <a:xfrm>
            <a:off x="6991350" y="3534271"/>
            <a:ext cx="43298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The assumption</a:t>
            </a:r>
            <a:endParaRPr lang="en-US" sz="1600" dirty="0"/>
          </a:p>
        </p:txBody>
      </p:sp>
      <p:sp>
        <p:nvSpPr>
          <p:cNvPr id="15" name="Text 13"/>
          <p:cNvSpPr/>
          <p:nvPr/>
        </p:nvSpPr>
        <p:spPr>
          <a:xfrm>
            <a:off x="6991350" y="3841552"/>
            <a:ext cx="432981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 near-linear, symmetric activation: true for tanh, not for ReLU.</a:t>
            </a:r>
            <a:endParaRPr lang="en-US" sz="1400" dirty="0"/>
          </a:p>
        </p:txBody>
      </p:sp>
      <p:sp>
        <p:nvSpPr>
          <p:cNvPr id="16" name="Text 14"/>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09 / 32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ReLU halves the variance, so He initialization doubles it to Var(w) = 2/nᵢₙ.</a:t>
            </a:r>
            <a:endParaRPr lang="en-US" sz="2800" dirty="0"/>
          </a:p>
        </p:txBody>
      </p:sp>
      <p:sp>
        <p:nvSpPr>
          <p:cNvPr id="4" name="Shape 2"/>
          <p:cNvSpPr/>
          <p:nvPr/>
        </p:nvSpPr>
        <p:spPr>
          <a:xfrm>
            <a:off x="815975" y="2235795"/>
            <a:ext cx="5708650" cy="1486495"/>
          </a:xfrm>
          <a:prstGeom prst="roundRect">
            <a:avLst>
              <a:gd name="adj" fmla="val 5767"/>
            </a:avLst>
          </a:prstGeom>
          <a:solidFill>
            <a:srgbClr val="F2F5F8"/>
          </a:solidFill>
          <a:ln w="6350">
            <a:solidFill>
              <a:srgbClr val="D2D9E1"/>
            </a:solidFill>
            <a:prstDash val="solid"/>
          </a:ln>
        </p:spPr>
      </p:sp>
      <p:sp>
        <p:nvSpPr>
          <p:cNvPr id="5" name="Text 3"/>
          <p:cNvSpPr/>
          <p:nvPr/>
        </p:nvSpPr>
        <p:spPr>
          <a:xfrm>
            <a:off x="1009650" y="2391370"/>
            <a:ext cx="54809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THE RELU CORRECTION</a:t>
            </a:r>
            <a:endParaRPr lang="en-US" sz="1200" dirty="0"/>
          </a:p>
        </p:txBody>
      </p:sp>
      <p:sp>
        <p:nvSpPr>
          <p:cNvPr id="6" name="Text 4"/>
          <p:cNvSpPr/>
          <p:nvPr/>
        </p:nvSpPr>
        <p:spPr>
          <a:xfrm>
            <a:off x="1009650" y="2680891"/>
            <a:ext cx="5480939" cy="91122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E[ReLU(z)²] = ½ E[z²]</a:t>
            </a:r>
            <a:r>
              <a:rPr lang="en-US" sz="1500" dirty="0">
                <a:solidFill>
                  <a:srgbClr val="5B6878"/>
                </a:solidFill>
                <a:latin typeface="JetBrains Mono" pitchFamily="49" charset="0"/>
                <a:ea typeface="JetBrains Mono" pitchFamily="49" charset="-122"/>
                <a:cs typeface="JetBrains Mono" pitchFamily="49" charset="-120"/>
              </a:rPr>
              <a:t> z symmetric</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each ReLU layer halves the variance</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Var(w) = 2 / nᵢₙ</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3915966"/>
          <a:ext cx="5702300" cy="1757363"/>
        </p:xfrm>
        <a:graphic>
          <a:graphicData uri="http://schemas.openxmlformats.org/drawingml/2006/table">
            <a:tbl>
              <a:tblPr/>
              <a:tblGrid>
                <a:gridCol w="2394966"/>
                <a:gridCol w="1710690"/>
                <a:gridCol w="1596644"/>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Activation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Initialization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Var(w)</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ReLU, Leaky ReLU, GELU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He (Kaiming)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2 / nᵢₙ</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tanh, sigmoid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Xavier (Glorot)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2 / (nᵢₙ + nₒᵤₜ)</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SELU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LeCun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 / nᵢₙ</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8" name="Text 5"/>
          <p:cNvSpPr/>
          <p:nvPr/>
        </p:nvSpPr>
        <p:spPr>
          <a:xfrm>
            <a:off x="6934200" y="3690144"/>
            <a:ext cx="457835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He et al. (2015) trained a 30-layer ReLU network that did not converge with Xavier initialization.</a:t>
            </a:r>
            <a:endParaRPr lang="en-US" sz="1500" dirty="0"/>
          </a:p>
        </p:txBody>
      </p:sp>
      <p:sp>
        <p:nvSpPr>
          <p:cNvPr id="9" name="Text 6"/>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0" name="Text 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10 / 32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In practice, count nᵢₙ over the whole kernel and start every bias at zero.</a:t>
            </a:r>
            <a:endParaRPr lang="en-US" sz="2800" dirty="0"/>
          </a:p>
        </p:txBody>
      </p:sp>
      <p:sp>
        <p:nvSpPr>
          <p:cNvPr id="4" name="Shape 2"/>
          <p:cNvSpPr/>
          <p:nvPr/>
        </p:nvSpPr>
        <p:spPr>
          <a:xfrm>
            <a:off x="815975" y="2067123"/>
            <a:ext cx="3387030" cy="1394619"/>
          </a:xfrm>
          <a:prstGeom prst="roundRect">
            <a:avLst>
              <a:gd name="adj" fmla="val 6147"/>
            </a:avLst>
          </a:prstGeom>
          <a:solidFill>
            <a:srgbClr val="FFFFFE"/>
          </a:solidFill>
          <a:ln w="6350">
            <a:solidFill>
              <a:srgbClr val="D2D9E1"/>
            </a:solidFill>
            <a:prstDash val="solid"/>
          </a:ln>
        </p:spPr>
      </p:sp>
      <p:sp>
        <p:nvSpPr>
          <p:cNvPr id="5" name="Text 3"/>
          <p:cNvSpPr/>
          <p:nvPr/>
        </p:nvSpPr>
        <p:spPr>
          <a:xfrm>
            <a:off x="996950" y="2248098"/>
            <a:ext cx="31158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Count the whole kernel</a:t>
            </a:r>
            <a:endParaRPr lang="en-US" sz="1600" dirty="0"/>
          </a:p>
        </p:txBody>
      </p:sp>
      <p:sp>
        <p:nvSpPr>
          <p:cNvPr id="6" name="Text 4"/>
          <p:cNvSpPr/>
          <p:nvPr/>
        </p:nvSpPr>
        <p:spPr>
          <a:xfrm>
            <a:off x="996950" y="2555379"/>
            <a:ext cx="3115833"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 3×3 convolution over 64 channels has nᵢₙ = 576, so He std = √(2/576) = 0.0589, not √(2/64) = 0.177.</a:t>
            </a:r>
            <a:endParaRPr lang="en-US" sz="1400" dirty="0"/>
          </a:p>
        </p:txBody>
      </p:sp>
      <p:sp>
        <p:nvSpPr>
          <p:cNvPr id="7" name="Shape 5"/>
          <p:cNvSpPr/>
          <p:nvPr/>
        </p:nvSpPr>
        <p:spPr>
          <a:xfrm>
            <a:off x="4361755" y="2067123"/>
            <a:ext cx="3452813" cy="1394619"/>
          </a:xfrm>
          <a:prstGeom prst="roundRect">
            <a:avLst>
              <a:gd name="adj" fmla="val 6147"/>
            </a:avLst>
          </a:prstGeom>
          <a:solidFill>
            <a:srgbClr val="FFFFFE"/>
          </a:solidFill>
          <a:ln w="6350">
            <a:solidFill>
              <a:srgbClr val="D2D9E1"/>
            </a:solidFill>
            <a:prstDash val="solid"/>
          </a:ln>
        </p:spPr>
      </p:sp>
      <p:sp>
        <p:nvSpPr>
          <p:cNvPr id="8" name="Text 6"/>
          <p:cNvSpPr/>
          <p:nvPr/>
        </p:nvSpPr>
        <p:spPr>
          <a:xfrm>
            <a:off x="4542730" y="2248098"/>
            <a:ext cx="318358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Start biases at zero</a:t>
            </a:r>
            <a:endParaRPr lang="en-US" sz="1600" dirty="0"/>
          </a:p>
        </p:txBody>
      </p:sp>
      <p:sp>
        <p:nvSpPr>
          <p:cNvPr id="9" name="Text 7"/>
          <p:cNvSpPr/>
          <p:nvPr/>
        </p:nvSpPr>
        <p:spPr>
          <a:xfrm>
            <a:off x="4542730" y="2555379"/>
            <a:ext cx="3183588"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Random weights already break symmetry. For an imbalanced binary output, set the bias to log(p/(1 − p)).</a:t>
            </a:r>
            <a:endParaRPr lang="en-US" sz="1400" dirty="0"/>
          </a:p>
        </p:txBody>
      </p:sp>
      <p:sp>
        <p:nvSpPr>
          <p:cNvPr id="10" name="Shape 8"/>
          <p:cNvSpPr/>
          <p:nvPr/>
        </p:nvSpPr>
        <p:spPr>
          <a:xfrm>
            <a:off x="7973318" y="2067123"/>
            <a:ext cx="3402707" cy="1394619"/>
          </a:xfrm>
          <a:prstGeom prst="roundRect">
            <a:avLst>
              <a:gd name="adj" fmla="val 6147"/>
            </a:avLst>
          </a:prstGeom>
          <a:solidFill>
            <a:srgbClr val="FFFFFE"/>
          </a:solidFill>
          <a:ln w="6350">
            <a:solidFill>
              <a:srgbClr val="D2D9E1"/>
            </a:solidFill>
            <a:prstDash val="solid"/>
          </a:ln>
        </p:spPr>
      </p:sp>
      <p:sp>
        <p:nvSpPr>
          <p:cNvPr id="11" name="Text 9"/>
          <p:cNvSpPr/>
          <p:nvPr/>
        </p:nvSpPr>
        <p:spPr>
          <a:xfrm>
            <a:off x="8154293" y="2248098"/>
            <a:ext cx="31319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Set it explicitly</a:t>
            </a:r>
            <a:endParaRPr lang="en-US" sz="1600" dirty="0"/>
          </a:p>
        </p:txBody>
      </p:sp>
      <p:sp>
        <p:nvSpPr>
          <p:cNvPr id="12" name="Text 10"/>
          <p:cNvSpPr/>
          <p:nvPr/>
        </p:nvSpPr>
        <p:spPr>
          <a:xfrm>
            <a:off x="8154293" y="2555379"/>
            <a:ext cx="3131980"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PyTorch’s default gives Var(w) = 1/(3nᵢₙ). For deep ReLU nets from scratch, set He initialization yourself.</a:t>
            </a:r>
            <a:endParaRPr lang="en-US" sz="1400" dirty="0"/>
          </a:p>
        </p:txBody>
      </p:sp>
      <p:sp>
        <p:nvSpPr>
          <p:cNvPr id="13" name="Text 11"/>
          <p:cNvSpPr/>
          <p:nvPr/>
        </p:nvSpPr>
        <p:spPr>
          <a:xfrm>
            <a:off x="812800" y="3668117"/>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ResNet trick: zero the last BatchNorm γ in each residual block, so every block starts as the identity.</a:t>
            </a:r>
            <a:endParaRPr lang="en-US" sz="1500" dirty="0"/>
          </a:p>
        </p:txBody>
      </p:sp>
      <p:sp>
        <p:nvSpPr>
          <p:cNvPr id="14" name="Text 1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11 / 32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Across 20 ReLU layers, only He initialization keeps the activation scale stable.</a:t>
            </a:r>
            <a:endParaRPr lang="en-US" sz="2800" dirty="0"/>
          </a:p>
        </p:txBody>
      </p:sp>
      <p:pic>
        <p:nvPicPr>
          <p:cNvPr id="4" name="Image 0" descr="Activation standard deviation at layers 1, 10 and 20 on a log scale: std 0.01 collapses, Xavier decays, He stays near 1, std 1.0 explodes">    </p:cNvPr>
          <p:cNvPicPr>
            <a:picLocks noChangeAspect="1"/>
          </p:cNvPicPr>
          <p:nvPr/>
        </p:nvPicPr>
        <p:blipFill>
          <a:blip r:embed="rId1"/>
          <a:srcRect l="0" r="0" t="0" b="0"/>
          <a:stretch/>
        </p:blipFill>
        <p:spPr>
          <a:xfrm>
            <a:off x="812800" y="2063948"/>
            <a:ext cx="6350000" cy="3429000"/>
          </a:xfrm>
          <a:prstGeom prst="rect">
            <a:avLst/>
          </a:prstGeom>
        </p:spPr>
      </p:pic>
      <p:sp>
        <p:nvSpPr>
          <p:cNvPr id="5" name="Text 2"/>
          <p:cNvSpPr/>
          <p:nvPr/>
        </p:nvSpPr>
        <p:spPr>
          <a:xfrm>
            <a:off x="5384800" y="2152848"/>
            <a:ext cx="183134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JetBrains Mono" pitchFamily="49" charset="0"/>
                <a:ea typeface="JetBrains Mono" pitchFamily="49" charset="-122"/>
                <a:cs typeface="JetBrains Mono" pitchFamily="49" charset="-120"/>
              </a:rPr>
              <a:t>std 1.0: 7.9×10²⁰</a:t>
            </a:r>
            <a:endParaRPr lang="en-US" sz="1300" dirty="0"/>
          </a:p>
        </p:txBody>
      </p:sp>
      <p:sp>
        <p:nvSpPr>
          <p:cNvPr id="6" name="Text 3"/>
          <p:cNvSpPr/>
          <p:nvPr/>
        </p:nvSpPr>
        <p:spPr>
          <a:xfrm>
            <a:off x="5384800" y="3479998"/>
            <a:ext cx="183134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JetBrains Mono" pitchFamily="49" charset="0"/>
                <a:ea typeface="JetBrains Mono" pitchFamily="49" charset="-122"/>
                <a:cs typeface="JetBrains Mono" pitchFamily="49" charset="-120"/>
              </a:rPr>
              <a:t>He: 0.96</a:t>
            </a:r>
            <a:endParaRPr lang="en-US" sz="1300" dirty="0"/>
          </a:p>
        </p:txBody>
      </p:sp>
      <p:sp>
        <p:nvSpPr>
          <p:cNvPr id="7" name="Text 4"/>
          <p:cNvSpPr/>
          <p:nvPr/>
        </p:nvSpPr>
        <p:spPr>
          <a:xfrm>
            <a:off x="5384800" y="3683198"/>
            <a:ext cx="183134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JetBrains Mono" pitchFamily="49" charset="0"/>
                <a:ea typeface="JetBrains Mono" pitchFamily="49" charset="-122"/>
                <a:cs typeface="JetBrains Mono" pitchFamily="49" charset="-120"/>
              </a:rPr>
              <a:t>Xavier: 6.5×10⁻⁴</a:t>
            </a:r>
            <a:endParaRPr lang="en-US" sz="1300" dirty="0"/>
          </a:p>
        </p:txBody>
      </p:sp>
      <p:sp>
        <p:nvSpPr>
          <p:cNvPr id="8" name="Text 5"/>
          <p:cNvSpPr/>
          <p:nvPr/>
        </p:nvSpPr>
        <p:spPr>
          <a:xfrm>
            <a:off x="5384800" y="4692848"/>
            <a:ext cx="183134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JetBrains Mono" pitchFamily="49" charset="0"/>
                <a:ea typeface="JetBrains Mono" pitchFamily="49" charset="-122"/>
                <a:cs typeface="JetBrains Mono" pitchFamily="49" charset="-120"/>
              </a:rPr>
              <a:t>std 0.01: 7.9×10⁻²⁰</a:t>
            </a:r>
            <a:endParaRPr lang="en-US" sz="1300" dirty="0"/>
          </a:p>
        </p:txBody>
      </p:sp>
      <p:sp>
        <p:nvSpPr>
          <p:cNvPr id="9" name="Text 6"/>
          <p:cNvSpPr/>
          <p:nvPr/>
        </p:nvSpPr>
        <p:spPr>
          <a:xfrm>
            <a:off x="762000" y="4756348"/>
            <a:ext cx="685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10⁻²⁰</a:t>
            </a:r>
            <a:endParaRPr lang="en-US" sz="1300" dirty="0"/>
          </a:p>
        </p:txBody>
      </p:sp>
      <p:sp>
        <p:nvSpPr>
          <p:cNvPr id="10" name="Text 7"/>
          <p:cNvSpPr/>
          <p:nvPr/>
        </p:nvSpPr>
        <p:spPr>
          <a:xfrm>
            <a:off x="762000" y="4121348"/>
            <a:ext cx="685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10⁻¹⁰</a:t>
            </a:r>
            <a:endParaRPr lang="en-US" sz="1300" dirty="0"/>
          </a:p>
        </p:txBody>
      </p:sp>
      <p:sp>
        <p:nvSpPr>
          <p:cNvPr id="11" name="Text 8"/>
          <p:cNvSpPr/>
          <p:nvPr/>
        </p:nvSpPr>
        <p:spPr>
          <a:xfrm>
            <a:off x="762000" y="3486348"/>
            <a:ext cx="685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2" name="Text 9"/>
          <p:cNvSpPr/>
          <p:nvPr/>
        </p:nvSpPr>
        <p:spPr>
          <a:xfrm>
            <a:off x="762000" y="2851348"/>
            <a:ext cx="685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10¹⁰</a:t>
            </a:r>
            <a:endParaRPr lang="en-US" sz="1300" dirty="0"/>
          </a:p>
        </p:txBody>
      </p:sp>
      <p:sp>
        <p:nvSpPr>
          <p:cNvPr id="13" name="Text 10"/>
          <p:cNvSpPr/>
          <p:nvPr/>
        </p:nvSpPr>
        <p:spPr>
          <a:xfrm>
            <a:off x="762000" y="2216348"/>
            <a:ext cx="685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10²⁰</a:t>
            </a:r>
            <a:endParaRPr lang="en-US" sz="1300" dirty="0"/>
          </a:p>
        </p:txBody>
      </p:sp>
      <p:sp>
        <p:nvSpPr>
          <p:cNvPr id="14" name="Text 11"/>
          <p:cNvSpPr/>
          <p:nvPr/>
        </p:nvSpPr>
        <p:spPr>
          <a:xfrm>
            <a:off x="1073150" y="4959548"/>
            <a:ext cx="876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layer 1</a:t>
            </a:r>
            <a:endParaRPr lang="en-US" sz="1300" dirty="0"/>
          </a:p>
        </p:txBody>
      </p:sp>
      <p:sp>
        <p:nvSpPr>
          <p:cNvPr id="15" name="Text 12"/>
          <p:cNvSpPr/>
          <p:nvPr/>
        </p:nvSpPr>
        <p:spPr>
          <a:xfrm>
            <a:off x="2876550" y="4959548"/>
            <a:ext cx="876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layer 10</a:t>
            </a:r>
            <a:endParaRPr lang="en-US" sz="1300" dirty="0"/>
          </a:p>
        </p:txBody>
      </p:sp>
      <p:sp>
        <p:nvSpPr>
          <p:cNvPr id="16" name="Text 13"/>
          <p:cNvSpPr/>
          <p:nvPr/>
        </p:nvSpPr>
        <p:spPr>
          <a:xfrm>
            <a:off x="4883150" y="4959548"/>
            <a:ext cx="876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layer 20</a:t>
            </a:r>
            <a:endParaRPr lang="en-US" sz="1300" dirty="0"/>
          </a:p>
        </p:txBody>
      </p:sp>
      <p:sp>
        <p:nvSpPr>
          <p:cNvPr id="17" name="Text 14"/>
          <p:cNvSpPr/>
          <p:nvPr/>
        </p:nvSpPr>
        <p:spPr>
          <a:xfrm>
            <a:off x="1511300" y="5289748"/>
            <a:ext cx="575564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activation std, 20 ReLU layers of width 256, one seeded run</a:t>
            </a:r>
            <a:endParaRPr lang="en-US" sz="1300" dirty="0"/>
          </a:p>
        </p:txBody>
      </p:sp>
      <p:sp>
        <p:nvSpPr>
          <p:cNvPr id="18" name="Shape 15"/>
          <p:cNvSpPr/>
          <p:nvPr/>
        </p:nvSpPr>
        <p:spPr>
          <a:xfrm>
            <a:off x="7569200" y="2159198"/>
            <a:ext cx="63500" cy="63500"/>
          </a:xfrm>
          <a:prstGeom prst="roundRect">
            <a:avLst>
              <a:gd name="adj" fmla="val 20000"/>
            </a:avLst>
          </a:prstGeom>
          <a:solidFill>
            <a:srgbClr val="1F5FBF"/>
          </a:solidFill>
          <a:ln/>
        </p:spPr>
      </p:sp>
      <p:sp>
        <p:nvSpPr>
          <p:cNvPr id="19" name="Text 16"/>
          <p:cNvSpPr/>
          <p:nvPr/>
        </p:nvSpPr>
        <p:spPr>
          <a:xfrm>
            <a:off x="7772400" y="2063948"/>
            <a:ext cx="37150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He holds steady.</a:t>
            </a:r>
            <a:r>
              <a:rPr lang="en-US" sz="1500" dirty="0">
                <a:solidFill>
                  <a:srgbClr val="3D4A59"/>
                </a:solidFill>
                <a:latin typeface="IBM Plex Sans" pitchFamily="34" charset="0"/>
                <a:ea typeface="IBM Plex Sans" pitchFamily="34" charset="-122"/>
                <a:cs typeface="IBM Plex Sans" pitchFamily="34" charset="-120"/>
              </a:rPr>
              <a:t> 0.82, 0.87, 0.96 across 20 layers.</a:t>
            </a:r>
            <a:endParaRPr lang="en-US" sz="1500" dirty="0"/>
          </a:p>
        </p:txBody>
      </p:sp>
      <p:sp>
        <p:nvSpPr>
          <p:cNvPr id="20" name="Shape 17"/>
          <p:cNvSpPr/>
          <p:nvPr/>
        </p:nvSpPr>
        <p:spPr>
          <a:xfrm>
            <a:off x="7569200" y="2862659"/>
            <a:ext cx="63500" cy="63500"/>
          </a:xfrm>
          <a:prstGeom prst="roundRect">
            <a:avLst>
              <a:gd name="adj" fmla="val 20000"/>
            </a:avLst>
          </a:prstGeom>
          <a:solidFill>
            <a:srgbClr val="1F5FBF"/>
          </a:solidFill>
          <a:ln/>
        </p:spPr>
      </p:sp>
      <p:sp>
        <p:nvSpPr>
          <p:cNvPr id="21" name="Text 18"/>
          <p:cNvSpPr/>
          <p:nvPr/>
        </p:nvSpPr>
        <p:spPr>
          <a:xfrm>
            <a:off x="7772400" y="2767409"/>
            <a:ext cx="37150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Xavier halves every 2 layers.</a:t>
            </a:r>
            <a:r>
              <a:rPr lang="en-US" sz="1500" dirty="0">
                <a:solidFill>
                  <a:srgbClr val="3D4A59"/>
                </a:solidFill>
                <a:latin typeface="IBM Plex Sans" pitchFamily="34" charset="0"/>
                <a:ea typeface="IBM Plex Sans" pitchFamily="34" charset="-122"/>
                <a:cs typeface="IBM Plex Sans" pitchFamily="34" charset="-120"/>
              </a:rPr>
              <a:t> A factor of 1/√2 per layer, because it ignores ReLU’s halving.</a:t>
            </a:r>
            <a:endParaRPr lang="en-US" sz="1500" dirty="0"/>
          </a:p>
        </p:txBody>
      </p:sp>
      <p:sp>
        <p:nvSpPr>
          <p:cNvPr id="22" name="Shape 19"/>
          <p:cNvSpPr/>
          <p:nvPr/>
        </p:nvSpPr>
        <p:spPr>
          <a:xfrm>
            <a:off x="7569200" y="3828951"/>
            <a:ext cx="63500" cy="63500"/>
          </a:xfrm>
          <a:prstGeom prst="roundRect">
            <a:avLst>
              <a:gd name="adj" fmla="val 20000"/>
            </a:avLst>
          </a:prstGeom>
          <a:solidFill>
            <a:srgbClr val="1F5FBF"/>
          </a:solidFill>
          <a:ln/>
        </p:spPr>
      </p:sp>
      <p:sp>
        <p:nvSpPr>
          <p:cNvPr id="23" name="Text 20"/>
          <p:cNvSpPr/>
          <p:nvPr/>
        </p:nvSpPr>
        <p:spPr>
          <a:xfrm>
            <a:off x="7772400" y="3733701"/>
            <a:ext cx="37150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Too small or too large.</a:t>
            </a:r>
            <a:r>
              <a:rPr lang="en-US" sz="1500" dirty="0">
                <a:solidFill>
                  <a:srgbClr val="3D4A59"/>
                </a:solidFill>
                <a:latin typeface="IBM Plex Sans" pitchFamily="34" charset="0"/>
                <a:ea typeface="IBM Plex Sans" pitchFamily="34" charset="-122"/>
                <a:cs typeface="IBM Plex Sans" pitchFamily="34" charset="-120"/>
              </a:rPr>
              <a:t> 10⁻²⁰ or 10²⁰ by layer 20.</a:t>
            </a:r>
            <a:endParaRPr lang="en-US" sz="1500" dirty="0"/>
          </a:p>
        </p:txBody>
      </p:sp>
      <p:sp>
        <p:nvSpPr>
          <p:cNvPr id="24" name="Text 21"/>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5" name="Text 2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12 / 32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§9 · VANISHING GRADIENTS &amp; INITIALIZATION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Weights must start random and well scaled, because zero, large and small scales all fail.</a:t>
            </a:r>
            <a:endParaRPr lang="en-US" sz="2800" dirty="0"/>
          </a:p>
        </p:txBody>
      </p:sp>
      <p:sp>
        <p:nvSpPr>
          <p:cNvPr id="4" name="Shape 2"/>
          <p:cNvSpPr/>
          <p:nvPr/>
        </p:nvSpPr>
        <p:spPr>
          <a:xfrm>
            <a:off x="815975" y="2067123"/>
            <a:ext cx="4004370" cy="1152823"/>
          </a:xfrm>
          <a:prstGeom prst="roundRect">
            <a:avLst>
              <a:gd name="adj" fmla="val 7436"/>
            </a:avLst>
          </a:prstGeom>
          <a:solidFill>
            <a:srgbClr val="FFFFFE"/>
          </a:solidFill>
          <a:ln w="6350">
            <a:solidFill>
              <a:srgbClr val="D2D9E1"/>
            </a:solidFill>
            <a:prstDash val="solid"/>
          </a:ln>
        </p:spPr>
      </p:sp>
      <p:sp>
        <p:nvSpPr>
          <p:cNvPr id="5" name="Text 3"/>
          <p:cNvSpPr/>
          <p:nvPr/>
        </p:nvSpPr>
        <p:spPr>
          <a:xfrm>
            <a:off x="996950" y="2248098"/>
            <a:ext cx="37516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Zero or identical</a:t>
            </a:r>
            <a:endParaRPr lang="en-US" sz="1600" dirty="0"/>
          </a:p>
        </p:txBody>
      </p:sp>
      <p:sp>
        <p:nvSpPr>
          <p:cNvPr id="6" name="Text 4"/>
          <p:cNvSpPr/>
          <p:nvPr/>
        </p:nvSpPr>
        <p:spPr>
          <a:xfrm>
            <a:off x="996950" y="2555379"/>
            <a:ext cx="3751692"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Every unit computes and updates identically forever. A 512-unit layer acts like one unit.</a:t>
            </a:r>
            <a:endParaRPr lang="en-US" sz="1400" dirty="0"/>
          </a:p>
        </p:txBody>
      </p:sp>
      <p:sp>
        <p:nvSpPr>
          <p:cNvPr id="7" name="Shape 5"/>
          <p:cNvSpPr/>
          <p:nvPr/>
        </p:nvSpPr>
        <p:spPr>
          <a:xfrm>
            <a:off x="4979095" y="2067123"/>
            <a:ext cx="3844230" cy="1152823"/>
          </a:xfrm>
          <a:prstGeom prst="roundRect">
            <a:avLst>
              <a:gd name="adj" fmla="val 7436"/>
            </a:avLst>
          </a:prstGeom>
          <a:solidFill>
            <a:srgbClr val="FFFFFE"/>
          </a:solidFill>
          <a:ln w="6350">
            <a:solidFill>
              <a:srgbClr val="D2D9E1"/>
            </a:solidFill>
            <a:prstDash val="solid"/>
          </a:ln>
        </p:spPr>
      </p:sp>
      <p:sp>
        <p:nvSpPr>
          <p:cNvPr id="8" name="Text 6"/>
          <p:cNvSpPr/>
          <p:nvPr/>
        </p:nvSpPr>
        <p:spPr>
          <a:xfrm>
            <a:off x="5160070" y="2248098"/>
            <a:ext cx="358674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Too large</a:t>
            </a:r>
            <a:endParaRPr lang="en-US" sz="1600" dirty="0"/>
          </a:p>
        </p:txBody>
      </p:sp>
      <p:sp>
        <p:nvSpPr>
          <p:cNvPr id="9" name="Text 7"/>
          <p:cNvSpPr/>
          <p:nvPr/>
        </p:nvSpPr>
        <p:spPr>
          <a:xfrm>
            <a:off x="5160070" y="2555379"/>
            <a:ext cx="3586749"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Sigmoid and tanh saturate where g′ ≈ 0. With ReLU, activations explode toward nan.</a:t>
            </a:r>
            <a:endParaRPr lang="en-US" sz="1400" dirty="0"/>
          </a:p>
        </p:txBody>
      </p:sp>
      <p:sp>
        <p:nvSpPr>
          <p:cNvPr id="10" name="Shape 8"/>
          <p:cNvSpPr/>
          <p:nvPr/>
        </p:nvSpPr>
        <p:spPr>
          <a:xfrm>
            <a:off x="8982075" y="2067123"/>
            <a:ext cx="2393950" cy="1152823"/>
          </a:xfrm>
          <a:prstGeom prst="roundRect">
            <a:avLst>
              <a:gd name="adj" fmla="val 7436"/>
            </a:avLst>
          </a:prstGeom>
          <a:solidFill>
            <a:srgbClr val="FFFFFE"/>
          </a:solidFill>
          <a:ln w="6350">
            <a:solidFill>
              <a:srgbClr val="D2D9E1"/>
            </a:solidFill>
            <a:prstDash val="solid"/>
          </a:ln>
        </p:spPr>
      </p:sp>
      <p:sp>
        <p:nvSpPr>
          <p:cNvPr id="11" name="Text 9"/>
          <p:cNvSpPr/>
          <p:nvPr/>
        </p:nvSpPr>
        <p:spPr>
          <a:xfrm>
            <a:off x="9163050" y="2248098"/>
            <a:ext cx="20929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Too small</a:t>
            </a:r>
            <a:endParaRPr lang="en-US" sz="1600" dirty="0"/>
          </a:p>
        </p:txBody>
      </p:sp>
      <p:sp>
        <p:nvSpPr>
          <p:cNvPr id="12" name="Text 10"/>
          <p:cNvSpPr/>
          <p:nvPr/>
        </p:nvSpPr>
        <p:spPr>
          <a:xfrm>
            <a:off x="9163050" y="2555379"/>
            <a:ext cx="209296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The signal shrinks layer by layer until it vanishes.</a:t>
            </a:r>
            <a:endParaRPr lang="en-US" sz="1400" dirty="0"/>
          </a:p>
        </p:txBody>
      </p:sp>
      <p:sp>
        <p:nvSpPr>
          <p:cNvPr id="13" name="Shape 11"/>
          <p:cNvSpPr/>
          <p:nvPr/>
        </p:nvSpPr>
        <p:spPr>
          <a:xfrm>
            <a:off x="815975" y="3404096"/>
            <a:ext cx="10560050" cy="1152823"/>
          </a:xfrm>
          <a:prstGeom prst="roundRect">
            <a:avLst>
              <a:gd name="adj" fmla="val 7436"/>
            </a:avLst>
          </a:prstGeom>
          <a:solidFill>
            <a:srgbClr val="FFFFFE"/>
          </a:solidFill>
          <a:ln w="6350">
            <a:solidFill>
              <a:srgbClr val="D2D9E1"/>
            </a:solidFill>
            <a:prstDash val="solid"/>
          </a:ln>
        </p:spPr>
      </p:sp>
      <p:sp>
        <p:nvSpPr>
          <p:cNvPr id="14" name="Text 12"/>
          <p:cNvSpPr/>
          <p:nvPr/>
        </p:nvSpPr>
        <p:spPr>
          <a:xfrm>
            <a:off x="996950" y="3585071"/>
            <a:ext cx="1050404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Further defences, covered later</a:t>
            </a:r>
            <a:endParaRPr lang="en-US" sz="1600" dirty="0"/>
          </a:p>
        </p:txBody>
      </p:sp>
      <p:sp>
        <p:nvSpPr>
          <p:cNvPr id="15" name="Text 13"/>
          <p:cNvSpPr/>
          <p:nvPr/>
        </p:nvSpPr>
        <p:spPr>
          <a:xfrm>
            <a:off x="996950" y="3892352"/>
            <a:ext cx="10504043"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Non-saturating activations (§3) · normalization (§11) · residual connections y = x + F(x) · gradient clipping, applied after the backward pass and before the update.</a:t>
            </a:r>
            <a:endParaRPr lang="en-US" sz="1400" dirty="0"/>
          </a:p>
        </p:txBody>
      </p:sp>
      <p:sp>
        <p:nvSpPr>
          <p:cNvPr id="16" name="Text 14"/>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13 / 32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Momentum allows a larger effective step along a ravine without diverging across its walls.</a:t>
            </a:r>
            <a:endParaRPr lang="en-US" sz="2800" dirty="0"/>
          </a:p>
        </p:txBody>
      </p:sp>
      <p:pic>
        <p:nvPicPr>
          <p:cNvPr id="4" name="Image 0" descr="Ravine f = half of x squared plus 100 y squared: plain gradient descent at its largest stable step zigzags and creeps; momentum with beta 0.9 moves much faster along the floor and slightly overshoots">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939800" y="4349948"/>
            <a:ext cx="51015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6B7785"/>
                </a:solidFill>
                <a:latin typeface="IBM Plex Sans" pitchFamily="34" charset="0"/>
                <a:ea typeface="IBM Plex Sans" pitchFamily="34" charset="-122"/>
                <a:cs typeface="IBM Plex Sans" pitchFamily="34" charset="-120"/>
              </a:rPr>
              <a:t>plain GD, largest stable η: creeps along the floor</a:t>
            </a:r>
            <a:endParaRPr lang="en-US" sz="1300" dirty="0"/>
          </a:p>
        </p:txBody>
      </p:sp>
      <p:sp>
        <p:nvSpPr>
          <p:cNvPr id="6" name="Text 3"/>
          <p:cNvSpPr/>
          <p:nvPr/>
        </p:nvSpPr>
        <p:spPr>
          <a:xfrm>
            <a:off x="939800" y="4629348"/>
            <a:ext cx="51015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momentum, β = 0.9: far faster, slight overshoot</a:t>
            </a:r>
            <a:endParaRPr lang="en-US" sz="1300" dirty="0"/>
          </a:p>
        </p:txBody>
      </p:sp>
      <p:sp>
        <p:nvSpPr>
          <p:cNvPr id="7" name="Text 4"/>
          <p:cNvSpPr/>
          <p:nvPr/>
        </p:nvSpPr>
        <p:spPr>
          <a:xfrm>
            <a:off x="939800" y="5048448"/>
            <a:ext cx="510159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both: 26 steps on f = ½(x² + 100y²), simulated</a:t>
            </a:r>
            <a:endParaRPr lang="en-US" sz="1300" dirty="0"/>
          </a:p>
        </p:txBody>
      </p:sp>
      <p:sp>
        <p:nvSpPr>
          <p:cNvPr id="8" name="Shape 5"/>
          <p:cNvSpPr/>
          <p:nvPr/>
        </p:nvSpPr>
        <p:spPr>
          <a:xfrm>
            <a:off x="6302375" y="2067123"/>
            <a:ext cx="4946650" cy="1427262"/>
          </a:xfrm>
          <a:prstGeom prst="roundRect">
            <a:avLst>
              <a:gd name="adj" fmla="val 6006"/>
            </a:avLst>
          </a:prstGeom>
          <a:solidFill>
            <a:srgbClr val="F2F5F8"/>
          </a:solidFill>
          <a:ln w="6350">
            <a:solidFill>
              <a:srgbClr val="D2D9E1"/>
            </a:solidFill>
            <a:prstDash val="solid"/>
          </a:ln>
        </p:spPr>
      </p:sp>
      <p:sp>
        <p:nvSpPr>
          <p:cNvPr id="9" name="Text 6"/>
          <p:cNvSpPr/>
          <p:nvPr/>
        </p:nvSpPr>
        <p:spPr>
          <a:xfrm>
            <a:off x="6496050" y="2222698"/>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HEAVY-BALL MOMENTUM</a:t>
            </a:r>
            <a:endParaRPr lang="en-US" sz="1200" dirty="0"/>
          </a:p>
        </p:txBody>
      </p:sp>
      <p:sp>
        <p:nvSpPr>
          <p:cNvPr id="10" name="Text 7"/>
          <p:cNvSpPr/>
          <p:nvPr/>
        </p:nvSpPr>
        <p:spPr>
          <a:xfrm>
            <a:off x="6496050" y="2512219"/>
            <a:ext cx="4696079" cy="851991"/>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vₜ = β vₜ₋₁ + gₜ</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θₜ = θₜ₋₁ − η vₜ</a:t>
            </a:r>
            <a:r>
              <a:rPr lang="en-US" sz="1400" dirty="0">
                <a:solidFill>
                  <a:srgbClr val="5B6878"/>
                </a:solidFill>
                <a:latin typeface="JetBrains Mono" pitchFamily="49" charset="0"/>
                <a:ea typeface="JetBrains Mono" pitchFamily="49" charset="-122"/>
                <a:cs typeface="JetBrains Mono" pitchFamily="49" charset="-120"/>
              </a:rPr>
              <a:t> β ≈ 0.9</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Nesterov: take gₜ at θₜ₋₁ − ηβ vₜ₋₁</a:t>
            </a:r>
            <a:endParaRPr lang="en-US" sz="1400" dirty="0"/>
          </a:p>
        </p:txBody>
      </p:sp>
      <p:sp>
        <p:nvSpPr>
          <p:cNvPr id="11" name="Shape 8"/>
          <p:cNvSpPr/>
          <p:nvPr/>
        </p:nvSpPr>
        <p:spPr>
          <a:xfrm>
            <a:off x="6299200" y="3770610"/>
            <a:ext cx="63500" cy="63500"/>
          </a:xfrm>
          <a:prstGeom prst="roundRect">
            <a:avLst>
              <a:gd name="adj" fmla="val 20000"/>
            </a:avLst>
          </a:prstGeom>
          <a:solidFill>
            <a:srgbClr val="1F5FBF"/>
          </a:solidFill>
          <a:ln/>
        </p:spPr>
      </p:sp>
      <p:sp>
        <p:nvSpPr>
          <p:cNvPr id="12" name="Text 9"/>
          <p:cNvSpPr/>
          <p:nvPr/>
        </p:nvSpPr>
        <p:spPr>
          <a:xfrm>
            <a:off x="6502400" y="3675360"/>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Effective step × 1/(1 − β).</a:t>
            </a:r>
            <a:r>
              <a:rPr lang="en-US" sz="1500" dirty="0">
                <a:solidFill>
                  <a:srgbClr val="3D4A59"/>
                </a:solidFill>
                <a:latin typeface="IBM Plex Sans" pitchFamily="34" charset="0"/>
                <a:ea typeface="IBM Plex Sans" pitchFamily="34" charset="-122"/>
                <a:cs typeface="IBM Plex Sans" pitchFamily="34" charset="-120"/>
              </a:rPr>
              <a:t> With constant g, v → g/(1 − β) = 10g.</a:t>
            </a:r>
            <a:endParaRPr lang="en-US" sz="1500" dirty="0"/>
          </a:p>
        </p:txBody>
      </p:sp>
      <p:sp>
        <p:nvSpPr>
          <p:cNvPr id="13" name="Shape 10"/>
          <p:cNvSpPr/>
          <p:nvPr/>
        </p:nvSpPr>
        <p:spPr>
          <a:xfrm>
            <a:off x="6299200" y="4448671"/>
            <a:ext cx="63500" cy="63500"/>
          </a:xfrm>
          <a:prstGeom prst="roundRect">
            <a:avLst>
              <a:gd name="adj" fmla="val 20000"/>
            </a:avLst>
          </a:prstGeom>
          <a:solidFill>
            <a:srgbClr val="1F5FBF"/>
          </a:solidFill>
          <a:ln/>
        </p:spPr>
      </p:sp>
      <p:sp>
        <p:nvSpPr>
          <p:cNvPr id="14" name="Text 11"/>
          <p:cNvSpPr/>
          <p:nvPr/>
        </p:nvSpPr>
        <p:spPr>
          <a:xfrm>
            <a:off x="6502400" y="4353421"/>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So divide η by 10</a:t>
            </a:r>
            <a:r>
              <a:rPr lang="en-US" sz="1500" dirty="0">
                <a:solidFill>
                  <a:srgbClr val="3D4A59"/>
                </a:solidFill>
                <a:latin typeface="IBM Plex Sans" pitchFamily="34" charset="0"/>
                <a:ea typeface="IBM Plex Sans" pitchFamily="34" charset="-122"/>
                <a:cs typeface="IBM Plex Sans" pitchFamily="34" charset="-120"/>
              </a:rPr>
              <a:t> when adding momentum, or training diverges.</a:t>
            </a:r>
            <a:endParaRPr lang="en-US" sz="1500" dirty="0"/>
          </a:p>
        </p:txBody>
      </p:sp>
      <p:sp>
        <p:nvSpPr>
          <p:cNvPr id="15" name="Text 1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6"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14 / 32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AdaGrad and RMSProp give each parameter its own learning rate, and RMSProp lets the past decay.</a:t>
            </a:r>
            <a:endParaRPr lang="en-US" sz="2800" dirty="0"/>
          </a:p>
        </p:txBody>
      </p:sp>
      <p:sp>
        <p:nvSpPr>
          <p:cNvPr id="4" name="Shape 2"/>
          <p:cNvSpPr/>
          <p:nvPr/>
        </p:nvSpPr>
        <p:spPr>
          <a:xfrm>
            <a:off x="815975" y="2067123"/>
            <a:ext cx="4692650" cy="1191220"/>
          </a:xfrm>
          <a:prstGeom prst="roundRect">
            <a:avLst>
              <a:gd name="adj" fmla="val 7196"/>
            </a:avLst>
          </a:prstGeom>
          <a:solidFill>
            <a:srgbClr val="F2F5F8"/>
          </a:solidFill>
          <a:ln w="6350">
            <a:solidFill>
              <a:srgbClr val="D2D9E1"/>
            </a:solidFill>
            <a:prstDash val="solid"/>
          </a:ln>
        </p:spPr>
      </p:sp>
      <p:sp>
        <p:nvSpPr>
          <p:cNvPr id="5" name="Text 3"/>
          <p:cNvSpPr/>
          <p:nvPr/>
        </p:nvSpPr>
        <p:spPr>
          <a:xfrm>
            <a:off x="1009650" y="2222698"/>
            <a:ext cx="4434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04F00"/>
                </a:solidFill>
                <a:latin typeface="IBM Plex Sans" pitchFamily="34" charset="0"/>
                <a:ea typeface="IBM Plex Sans" pitchFamily="34" charset="-122"/>
                <a:cs typeface="IBM Plex Sans" pitchFamily="34" charset="-120"/>
              </a:rPr>
              <a:t>ADAGRAD</a:t>
            </a:r>
            <a:endParaRPr lang="en-US" sz="1200" dirty="0"/>
          </a:p>
        </p:txBody>
      </p:sp>
      <p:sp>
        <p:nvSpPr>
          <p:cNvPr id="6" name="Text 4"/>
          <p:cNvSpPr/>
          <p:nvPr/>
        </p:nvSpPr>
        <p:spPr>
          <a:xfrm>
            <a:off x="1009650" y="2512219"/>
            <a:ext cx="443445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Gₜ = Gₜ₋₁ + gₜ²</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θₜ = θₜ₋₁ − η gₜ / (√Gₜ + ε)</a:t>
            </a:r>
            <a:endParaRPr lang="en-US" sz="1500" dirty="0"/>
          </a:p>
        </p:txBody>
      </p:sp>
      <p:sp>
        <p:nvSpPr>
          <p:cNvPr id="7" name="Shape 5"/>
          <p:cNvSpPr/>
          <p:nvPr/>
        </p:nvSpPr>
        <p:spPr>
          <a:xfrm>
            <a:off x="815975" y="3417094"/>
            <a:ext cx="4692650" cy="1191220"/>
          </a:xfrm>
          <a:prstGeom prst="roundRect">
            <a:avLst>
              <a:gd name="adj" fmla="val 7196"/>
            </a:avLst>
          </a:prstGeom>
          <a:solidFill>
            <a:srgbClr val="F2F5F8"/>
          </a:solidFill>
          <a:ln w="6350">
            <a:solidFill>
              <a:srgbClr val="D2D9E1"/>
            </a:solidFill>
            <a:prstDash val="solid"/>
          </a:ln>
        </p:spPr>
      </p:sp>
      <p:sp>
        <p:nvSpPr>
          <p:cNvPr id="8" name="Text 6"/>
          <p:cNvSpPr/>
          <p:nvPr/>
        </p:nvSpPr>
        <p:spPr>
          <a:xfrm>
            <a:off x="1009650" y="3572669"/>
            <a:ext cx="4434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RMSPROP, Ρ ≈ 0.9</a:t>
            </a:r>
            <a:endParaRPr lang="en-US" sz="1200" dirty="0"/>
          </a:p>
        </p:txBody>
      </p:sp>
      <p:sp>
        <p:nvSpPr>
          <p:cNvPr id="9" name="Text 7"/>
          <p:cNvSpPr/>
          <p:nvPr/>
        </p:nvSpPr>
        <p:spPr>
          <a:xfrm>
            <a:off x="1009650" y="3862189"/>
            <a:ext cx="443445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Eₜ = ρ Eₜ₋₁ + (1 − ρ) gₜ²</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θₜ = θₜ₋₁ − η gₜ / (√Eₜ + ε)</a:t>
            </a:r>
            <a:endParaRPr lang="en-US" sz="1500" dirty="0"/>
          </a:p>
        </p:txBody>
      </p:sp>
      <p:pic>
        <p:nvPicPr>
          <p:cNvPr id="10" name="Image 0" descr="Effective step size relative to eta when gradients drop tenfold at step 50: AdaGrad's step stays near zero; RMSProp's starts high because its average is initialized at zero, then recovers to about one">    </p:cNvPr>
          <p:cNvPicPr>
            <a:picLocks noChangeAspect="1"/>
          </p:cNvPicPr>
          <p:nvPr/>
        </p:nvPicPr>
        <p:blipFill>
          <a:blip r:embed="rId1"/>
          <a:srcRect l="0" r="0" t="0" b="0"/>
          <a:stretch/>
        </p:blipFill>
        <p:spPr>
          <a:xfrm>
            <a:off x="5918200" y="2063948"/>
            <a:ext cx="5207000" cy="2095500"/>
          </a:xfrm>
          <a:prstGeom prst="rect">
            <a:avLst/>
          </a:prstGeom>
        </p:spPr>
      </p:pic>
      <p:sp>
        <p:nvSpPr>
          <p:cNvPr id="11" name="Text 8"/>
          <p:cNvSpPr/>
          <p:nvPr/>
        </p:nvSpPr>
        <p:spPr>
          <a:xfrm>
            <a:off x="6457950" y="2260798"/>
            <a:ext cx="27470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F5FBF"/>
                </a:solidFill>
                <a:latin typeface="IBM Plex Sans" pitchFamily="34" charset="0"/>
                <a:ea typeface="IBM Plex Sans" pitchFamily="34" charset="-122"/>
                <a:cs typeface="IBM Plex Sans" pitchFamily="34" charset="-120"/>
              </a:rPr>
              <a:t>zero-initialized average: 3.2η</a:t>
            </a:r>
            <a:endParaRPr lang="en-US" sz="1200" dirty="0"/>
          </a:p>
        </p:txBody>
      </p:sp>
      <p:sp>
        <p:nvSpPr>
          <p:cNvPr id="12" name="Text 9"/>
          <p:cNvSpPr/>
          <p:nvPr/>
        </p:nvSpPr>
        <p:spPr>
          <a:xfrm>
            <a:off x="8489950" y="2997398"/>
            <a:ext cx="215836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RMSProp recovers to ≈ η</a:t>
            </a:r>
            <a:endParaRPr lang="en-US" sz="1300" dirty="0"/>
          </a:p>
        </p:txBody>
      </p:sp>
      <p:sp>
        <p:nvSpPr>
          <p:cNvPr id="13" name="Text 10"/>
          <p:cNvSpPr/>
          <p:nvPr/>
        </p:nvSpPr>
        <p:spPr>
          <a:xfrm>
            <a:off x="8489950" y="3435548"/>
            <a:ext cx="196215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AdaGrad stuck near 0</a:t>
            </a:r>
            <a:endParaRPr lang="en-US" sz="1300" dirty="0"/>
          </a:p>
        </p:txBody>
      </p:sp>
      <p:sp>
        <p:nvSpPr>
          <p:cNvPr id="14" name="Text 11"/>
          <p:cNvSpPr/>
          <p:nvPr/>
        </p:nvSpPr>
        <p:spPr>
          <a:xfrm>
            <a:off x="5867400" y="3162498"/>
            <a:ext cx="3683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5" name="Text 12"/>
          <p:cNvSpPr/>
          <p:nvPr/>
        </p:nvSpPr>
        <p:spPr>
          <a:xfrm>
            <a:off x="5867400" y="2267148"/>
            <a:ext cx="3683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3</a:t>
            </a:r>
            <a:endParaRPr lang="en-US" sz="1300" dirty="0"/>
          </a:p>
        </p:txBody>
      </p:sp>
      <p:sp>
        <p:nvSpPr>
          <p:cNvPr id="16" name="Text 13"/>
          <p:cNvSpPr/>
          <p:nvPr/>
        </p:nvSpPr>
        <p:spPr>
          <a:xfrm>
            <a:off x="5969000" y="3841948"/>
            <a:ext cx="5232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step size / η over 120 steps; gradients drop 10× at step 50</a:t>
            </a:r>
            <a:endParaRPr lang="en-US" sz="1300" dirty="0"/>
          </a:p>
        </p:txBody>
      </p:sp>
      <p:sp>
        <p:nvSpPr>
          <p:cNvPr id="17" name="Text 14"/>
          <p:cNvSpPr/>
          <p:nvPr/>
        </p:nvSpPr>
        <p:spPr>
          <a:xfrm>
            <a:off x="5918200" y="4261048"/>
            <a:ext cx="536321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AdaGrad’s sum only grows, so its steps decay to zero. RMSProp forgets the past.</a:t>
            </a:r>
            <a:endParaRPr lang="en-US" sz="1500" dirty="0"/>
          </a:p>
        </p:txBody>
      </p:sp>
      <p:sp>
        <p:nvSpPr>
          <p:cNvPr id="18" name="Text 15"/>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15 / 32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Adam combines momentum with RMSProp scaling and corrects the bias of zero-initialized moments.</a:t>
            </a:r>
            <a:endParaRPr lang="en-US" sz="2800" dirty="0"/>
          </a:p>
        </p:txBody>
      </p:sp>
      <p:sp>
        <p:nvSpPr>
          <p:cNvPr id="4" name="Shape 2"/>
          <p:cNvSpPr/>
          <p:nvPr/>
        </p:nvSpPr>
        <p:spPr>
          <a:xfrm>
            <a:off x="815975" y="2098675"/>
            <a:ext cx="5708650" cy="1591270"/>
          </a:xfrm>
          <a:prstGeom prst="roundRect">
            <a:avLst>
              <a:gd name="adj" fmla="val 4589"/>
            </a:avLst>
          </a:prstGeom>
          <a:solidFill>
            <a:srgbClr val="F2F5F8"/>
          </a:solidFill>
          <a:ln w="6350">
            <a:solidFill>
              <a:srgbClr val="D2D9E1"/>
            </a:solidFill>
            <a:prstDash val="solid"/>
          </a:ln>
        </p:spPr>
      </p:sp>
      <p:sp>
        <p:nvSpPr>
          <p:cNvPr id="5" name="Text 3"/>
          <p:cNvSpPr/>
          <p:nvPr/>
        </p:nvSpPr>
        <p:spPr>
          <a:xfrm>
            <a:off x="984250" y="2228850"/>
            <a:ext cx="55332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ADAM · Β₁ = 0.9, Β₂ = 0.999</a:t>
            </a:r>
            <a:endParaRPr lang="en-US" sz="1200" dirty="0"/>
          </a:p>
        </p:txBody>
      </p:sp>
      <p:sp>
        <p:nvSpPr>
          <p:cNvPr id="6" name="Text 4"/>
          <p:cNvSpPr/>
          <p:nvPr/>
        </p:nvSpPr>
        <p:spPr>
          <a:xfrm>
            <a:off x="984250" y="2492970"/>
            <a:ext cx="5533263" cy="1092200"/>
          </a:xfrm>
          <a:prstGeom prst="rect">
            <a:avLst/>
          </a:prstGeom>
          <a:noFill/>
          <a:ln/>
        </p:spPr>
        <p:txBody>
          <a:bodyPr wrap="none" lIns="0" tIns="0" rIns="0" bIns="0" rtlCol="0" anchor="t">
            <a:normAutofit/>
          </a:bodyPr>
          <a:lstStyle/>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mₜ = β₁ mₜ₋₁ + (1 − β₁) gₜ</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vₜ = β₂ vₜ₋₁ + (1 − β₂) gₜ²</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m̂ₜ = mₜ/(1 − β₁ᵗ), v̂ₜ = vₜ/(1 − β₂ᵗ)</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θₜ = θₜ₋₁ − η m̂ₜ / (√v̂ₜ + ε)</a:t>
            </a:r>
            <a:endParaRPr lang="en-US" sz="1400" dirty="0"/>
          </a:p>
        </p:txBody>
      </p:sp>
      <p:pic>
        <p:nvPicPr>
          <p:cNvPr id="7" name="Image 0" descr="Bias factors 1 minus beta1 to the t and 1 minus beta2 to the t against step t on a log axis: the first approaches 1 within about 40 steps, the second takes about 4,000">    </p:cNvPr>
          <p:cNvPicPr>
            <a:picLocks noChangeAspect="1"/>
          </p:cNvPicPr>
          <p:nvPr/>
        </p:nvPicPr>
        <p:blipFill>
          <a:blip r:embed="rId1"/>
          <a:srcRect l="0" r="0" t="0" b="0"/>
          <a:stretch/>
        </p:blipFill>
        <p:spPr>
          <a:xfrm>
            <a:off x="7061200" y="2095500"/>
            <a:ext cx="4318000" cy="1714500"/>
          </a:xfrm>
          <a:prstGeom prst="rect">
            <a:avLst/>
          </a:prstGeom>
        </p:spPr>
      </p:pic>
      <p:sp>
        <p:nvSpPr>
          <p:cNvPr id="8" name="Text 5"/>
          <p:cNvSpPr/>
          <p:nvPr/>
        </p:nvSpPr>
        <p:spPr>
          <a:xfrm>
            <a:off x="7353300" y="2184400"/>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JetBrains Mono" pitchFamily="49" charset="0"/>
                <a:ea typeface="JetBrains Mono" pitchFamily="49" charset="-122"/>
                <a:cs typeface="JetBrains Mono" pitchFamily="49" charset="-120"/>
              </a:rPr>
              <a:t>1 − β₁ᵗ</a:t>
            </a:r>
            <a:endParaRPr lang="en-US" sz="1300" dirty="0"/>
          </a:p>
        </p:txBody>
      </p:sp>
      <p:sp>
        <p:nvSpPr>
          <p:cNvPr id="9" name="Text 6"/>
          <p:cNvSpPr/>
          <p:nvPr/>
        </p:nvSpPr>
        <p:spPr>
          <a:xfrm>
            <a:off x="9067800" y="3162300"/>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JetBrains Mono" pitchFamily="49" charset="0"/>
                <a:ea typeface="JetBrains Mono" pitchFamily="49" charset="-122"/>
                <a:cs typeface="JetBrains Mono" pitchFamily="49" charset="-120"/>
              </a:rPr>
              <a:t>1 − β₂ᵗ</a:t>
            </a:r>
            <a:endParaRPr lang="en-US" sz="1300" dirty="0"/>
          </a:p>
        </p:txBody>
      </p:sp>
      <p:sp>
        <p:nvSpPr>
          <p:cNvPr id="10" name="Text 7"/>
          <p:cNvSpPr/>
          <p:nvPr/>
        </p:nvSpPr>
        <p:spPr>
          <a:xfrm>
            <a:off x="7035800" y="3403600"/>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1" name="Text 8"/>
          <p:cNvSpPr/>
          <p:nvPr/>
        </p:nvSpPr>
        <p:spPr>
          <a:xfrm>
            <a:off x="9004300" y="3403600"/>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100</a:t>
            </a:r>
            <a:endParaRPr lang="en-US" sz="1300" dirty="0"/>
          </a:p>
        </p:txBody>
      </p:sp>
      <p:sp>
        <p:nvSpPr>
          <p:cNvPr id="12" name="Text 9"/>
          <p:cNvSpPr/>
          <p:nvPr/>
        </p:nvSpPr>
        <p:spPr>
          <a:xfrm>
            <a:off x="10845800" y="3403600"/>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13" name="Text 10"/>
          <p:cNvSpPr/>
          <p:nvPr/>
        </p:nvSpPr>
        <p:spPr>
          <a:xfrm>
            <a:off x="8302625" y="3606800"/>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step t (log scale)</a:t>
            </a:r>
            <a:endParaRPr lang="en-US" sz="1300" dirty="0"/>
          </a:p>
        </p:txBody>
      </p:sp>
      <p:sp>
        <p:nvSpPr>
          <p:cNvPr id="14" name="Text 11"/>
          <p:cNvSpPr/>
          <p:nvPr/>
        </p:nvSpPr>
        <p:spPr>
          <a:xfrm>
            <a:off x="812800" y="39370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m₀ = 0 ⇒ mₜ = (1 − β₁) Σᵢ β₁ᵗ⁻ⁱ gᵢ</a:t>
            </a:r>
            <a:endParaRPr lang="en-US" sz="1500" dirty="0"/>
          </a:p>
        </p:txBody>
      </p:sp>
      <p:sp>
        <p:nvSpPr>
          <p:cNvPr id="15" name="Text 12"/>
          <p:cNvSpPr/>
          <p:nvPr/>
        </p:nvSpPr>
        <p:spPr>
          <a:xfrm>
            <a:off x="812800" y="42799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E[mₜ] = E[g] · (1 − β₁ᵗ) an underestimate</a:t>
            </a:r>
            <a:endParaRPr lang="en-US" sz="1500" dirty="0"/>
          </a:p>
        </p:txBody>
      </p:sp>
      <p:sp>
        <p:nvSpPr>
          <p:cNvPr id="16" name="Text 13"/>
          <p:cNvSpPr/>
          <p:nvPr/>
        </p:nvSpPr>
        <p:spPr>
          <a:xfrm>
            <a:off x="812800" y="46228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t = 1, uncorrected: 0.1g / √(0.001g²) ≈ 3.16 × the intended step</a:t>
            </a:r>
            <a:endParaRPr lang="en-US" sz="1500" dirty="0"/>
          </a:p>
        </p:txBody>
      </p:sp>
      <p:sp>
        <p:nvSpPr>
          <p:cNvPr id="17" name="Text 14"/>
          <p:cNvSpPr/>
          <p:nvPr/>
        </p:nvSpPr>
        <p:spPr>
          <a:xfrm>
            <a:off x="815975" y="5019675"/>
            <a:ext cx="10560050" cy="466725"/>
          </a:xfrm>
          <a:prstGeom prst="roundRect">
            <a:avLst>
              <a:gd name="adj" fmla="val 15646"/>
            </a:avLst>
          </a:prstGeom>
          <a:solidFill>
            <a:srgbClr val="E4EEFB"/>
          </a:solidFill>
          <a:ln w="6350">
            <a:solidFill>
              <a:srgbClr val="E4EEFB"/>
            </a:solidFill>
            <a:prstDash val="solid"/>
          </a:ln>
        </p:spPr>
        <p:txBody>
          <a:bodyPr wrap="square" lIns="134187" tIns="83387" rIns="0" bIns="57987" rtlCol="0" anchor="t">
            <a:normAutofit/>
          </a:bodyPr>
          <a:lstStyle/>
          <a:p>
            <a:pPr algn="l" indent="0" marL="0">
              <a:lnSpc>
                <a:spcPts val="2025"/>
              </a:lnSpc>
              <a:buNone/>
            </a:pPr>
            <a:r>
              <a:rPr lang="en-US" sz="1500" b="1" dirty="0">
                <a:solidFill>
                  <a:srgbClr val="15212E"/>
                </a:solidFill>
                <a:latin typeface="IBM Plex Sans" pitchFamily="34" charset="0"/>
                <a:ea typeface="IBM Plex Sans" pitchFamily="34" charset="-122"/>
                <a:cs typeface="IBM Plex Sans" pitchFamily="34" charset="-120"/>
              </a:rPr>
              <a:t>Fix:</a:t>
            </a:r>
            <a:r>
              <a:rPr lang="en-US" sz="1500" dirty="0">
                <a:solidFill>
                  <a:srgbClr val="15212E"/>
                </a:solidFill>
                <a:latin typeface="IBM Plex Sans" pitchFamily="34" charset="0"/>
                <a:ea typeface="IBM Plex Sans" pitchFamily="34" charset="-122"/>
                <a:cs typeface="IBM Plex Sans" pitchFamily="34" charset="-120"/>
              </a:rPr>
              <a:t> divide by (1 − β₁ᵗ) and (1 − β₂ᵗ). The β₁ bias fades in ~40 steps, the β₂ bias in ~4,000, part of why warmup helps.</a:t>
            </a:r>
            <a:endParaRPr lang="en-US" sz="1500" dirty="0"/>
          </a:p>
        </p:txBody>
      </p:sp>
      <p:sp>
        <p:nvSpPr>
          <p:cNvPr id="18" name="Text 15"/>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16 / 32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AdamW decouples weight decay from the adaptive scaling, so its strength is predictable.</a:t>
            </a:r>
            <a:endParaRPr lang="en-US" sz="2800" dirty="0"/>
          </a:p>
        </p:txBody>
      </p:sp>
      <p:sp>
        <p:nvSpPr>
          <p:cNvPr id="4" name="Text 2"/>
          <p:cNvSpPr/>
          <p:nvPr/>
        </p:nvSpPr>
        <p:spPr>
          <a:xfrm>
            <a:off x="812800" y="206394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04F00"/>
                </a:solidFill>
                <a:latin typeface="IBM Plex Sans" pitchFamily="34" charset="0"/>
                <a:ea typeface="IBM Plex Sans" pitchFamily="34" charset="-122"/>
                <a:cs typeface="IBM Plex Sans" pitchFamily="34" charset="-120"/>
              </a:rPr>
              <a:t>ADAM + L2 · COUPLED</a:t>
            </a:r>
            <a:endParaRPr lang="en-US" sz="1200" dirty="0"/>
          </a:p>
        </p:txBody>
      </p:sp>
      <p:pic>
        <p:nvPicPr>
          <p:cNvPr id="5" name="Image 0" descr="Adam with L2: the decay term lambda theta enters the gradient and is divided by root v-hat">    </p:cNvPr>
          <p:cNvPicPr>
            <a:picLocks noChangeAspect="1"/>
          </p:cNvPicPr>
          <p:nvPr/>
        </p:nvPicPr>
        <p:blipFill>
          <a:blip r:embed="rId1"/>
          <a:srcRect l="0" r="0" t="0" b="0"/>
          <a:stretch/>
        </p:blipFill>
        <p:spPr>
          <a:xfrm>
            <a:off x="812800" y="2353469"/>
            <a:ext cx="4953000" cy="1460500"/>
          </a:xfrm>
          <a:prstGeom prst="rect">
            <a:avLst/>
          </a:prstGeom>
        </p:spPr>
      </p:pic>
      <p:sp>
        <p:nvSpPr>
          <p:cNvPr id="6" name="Text 3"/>
          <p:cNvSpPr/>
          <p:nvPr/>
        </p:nvSpPr>
        <p:spPr>
          <a:xfrm>
            <a:off x="8001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g + λθ</a:t>
            </a:r>
            <a:endParaRPr lang="en-US" sz="1400" dirty="0"/>
          </a:p>
        </p:txBody>
      </p:sp>
      <p:sp>
        <p:nvSpPr>
          <p:cNvPr id="7" name="Text 4"/>
          <p:cNvSpPr/>
          <p:nvPr/>
        </p:nvSpPr>
        <p:spPr>
          <a:xfrm>
            <a:off x="21082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m, v</a:t>
            </a:r>
            <a:endParaRPr lang="en-US" sz="1400" dirty="0"/>
          </a:p>
        </p:txBody>
      </p:sp>
      <p:sp>
        <p:nvSpPr>
          <p:cNvPr id="8" name="Text 5"/>
          <p:cNvSpPr/>
          <p:nvPr/>
        </p:nvSpPr>
        <p:spPr>
          <a:xfrm>
            <a:off x="34163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 √v̂</a:t>
            </a:r>
            <a:endParaRPr lang="en-US" sz="1400" dirty="0"/>
          </a:p>
        </p:txBody>
      </p:sp>
      <p:sp>
        <p:nvSpPr>
          <p:cNvPr id="9" name="Text 6"/>
          <p:cNvSpPr/>
          <p:nvPr/>
        </p:nvSpPr>
        <p:spPr>
          <a:xfrm>
            <a:off x="47244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update</a:t>
            </a:r>
            <a:endParaRPr lang="en-US" sz="1400" dirty="0"/>
          </a:p>
        </p:txBody>
      </p:sp>
      <p:sp>
        <p:nvSpPr>
          <p:cNvPr id="10" name="Text 7"/>
          <p:cNvSpPr/>
          <p:nvPr/>
        </p:nvSpPr>
        <p:spPr>
          <a:xfrm>
            <a:off x="812800" y="3280569"/>
            <a:ext cx="510159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A04F00"/>
                </a:solidFill>
                <a:latin typeface="IBM Plex Sans" pitchFamily="34" charset="0"/>
                <a:ea typeface="IBM Plex Sans" pitchFamily="34" charset="-122"/>
                <a:cs typeface="IBM Plex Sans" pitchFamily="34" charset="-120"/>
              </a:rPr>
              <a:t>Decay is divided by √v̂: its strength varies with gradient history.</a:t>
            </a:r>
            <a:endParaRPr lang="en-US" sz="1400" dirty="0"/>
          </a:p>
        </p:txBody>
      </p:sp>
      <p:sp>
        <p:nvSpPr>
          <p:cNvPr id="11" name="Text 8"/>
          <p:cNvSpPr/>
          <p:nvPr/>
        </p:nvSpPr>
        <p:spPr>
          <a:xfrm>
            <a:off x="6426200" y="206394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ADAMW · DECOUPLED</a:t>
            </a:r>
            <a:endParaRPr lang="en-US" sz="1200" dirty="0"/>
          </a:p>
        </p:txBody>
      </p:sp>
      <p:pic>
        <p:nvPicPr>
          <p:cNvPr id="12" name="Image 1" descr="AdamW: the gradient passes through the adaptive scaling, then decay is applied directly to the weights">    </p:cNvPr>
          <p:cNvPicPr>
            <a:picLocks noChangeAspect="1"/>
          </p:cNvPicPr>
          <p:nvPr/>
        </p:nvPicPr>
        <p:blipFill>
          <a:blip r:embed="rId2"/>
          <a:srcRect l="0" r="0" t="0" b="0"/>
          <a:stretch/>
        </p:blipFill>
        <p:spPr>
          <a:xfrm>
            <a:off x="6426200" y="2353469"/>
            <a:ext cx="4953000" cy="1460500"/>
          </a:xfrm>
          <a:prstGeom prst="rect">
            <a:avLst/>
          </a:prstGeom>
        </p:spPr>
      </p:pic>
      <p:sp>
        <p:nvSpPr>
          <p:cNvPr id="13" name="Text 9"/>
          <p:cNvSpPr/>
          <p:nvPr/>
        </p:nvSpPr>
        <p:spPr>
          <a:xfrm>
            <a:off x="64135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g</a:t>
            </a:r>
            <a:endParaRPr lang="en-US" sz="1400" dirty="0"/>
          </a:p>
        </p:txBody>
      </p:sp>
      <p:sp>
        <p:nvSpPr>
          <p:cNvPr id="14" name="Text 10"/>
          <p:cNvSpPr/>
          <p:nvPr/>
        </p:nvSpPr>
        <p:spPr>
          <a:xfrm>
            <a:off x="77216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m, v</a:t>
            </a:r>
            <a:endParaRPr lang="en-US" sz="1400" dirty="0"/>
          </a:p>
        </p:txBody>
      </p:sp>
      <p:sp>
        <p:nvSpPr>
          <p:cNvPr id="15" name="Text 11"/>
          <p:cNvSpPr/>
          <p:nvPr/>
        </p:nvSpPr>
        <p:spPr>
          <a:xfrm>
            <a:off x="90297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 √v̂</a:t>
            </a:r>
            <a:endParaRPr lang="en-US" sz="1400" dirty="0"/>
          </a:p>
        </p:txBody>
      </p:sp>
      <p:sp>
        <p:nvSpPr>
          <p:cNvPr id="16" name="Text 12"/>
          <p:cNvSpPr/>
          <p:nvPr/>
        </p:nvSpPr>
        <p:spPr>
          <a:xfrm>
            <a:off x="10337800" y="2670969"/>
            <a:ext cx="10414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 ηλθ</a:t>
            </a:r>
            <a:endParaRPr lang="en-US" sz="1400" dirty="0"/>
          </a:p>
        </p:txBody>
      </p:sp>
      <p:sp>
        <p:nvSpPr>
          <p:cNvPr id="17" name="Text 13"/>
          <p:cNvSpPr/>
          <p:nvPr/>
        </p:nvSpPr>
        <p:spPr>
          <a:xfrm>
            <a:off x="6426200" y="3280569"/>
            <a:ext cx="510159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Decay is applied to θ directly: uniform and predictable.</a:t>
            </a:r>
            <a:endParaRPr lang="en-US" sz="1400" dirty="0"/>
          </a:p>
        </p:txBody>
      </p:sp>
      <p:sp>
        <p:nvSpPr>
          <p:cNvPr id="18" name="Text 14"/>
          <p:cNvSpPr/>
          <p:nvPr/>
        </p:nvSpPr>
        <p:spPr>
          <a:xfrm>
            <a:off x="815975" y="3994944"/>
            <a:ext cx="3654425" cy="606425"/>
          </a:xfrm>
          <a:prstGeom prst="roundRect">
            <a:avLst>
              <a:gd name="adj" fmla="val 14136"/>
            </a:avLst>
          </a:prstGeom>
          <a:solidFill>
            <a:srgbClr val="F2F5F8"/>
          </a:solidFill>
          <a:ln w="6350">
            <a:solidFill>
              <a:srgbClr val="D2D9E1"/>
            </a:solidFill>
            <a:prstDash val="solid"/>
          </a:ln>
        </p:spPr>
        <p:txBody>
          <a:bodyPr wrap="none" lIns="168567" tIns="130467" rIns="70555" bIns="105067"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θₜ = θₜ₋₁ − η · m̂ₜ/(√v̂ₜ + ε) − η · λ · θₜ₋₁</a:t>
            </a:r>
            <a:endParaRPr lang="en-US" sz="1500" dirty="0"/>
          </a:p>
        </p:txBody>
      </p:sp>
      <p:sp>
        <p:nvSpPr>
          <p:cNvPr id="19" name="Text 15"/>
          <p:cNvSpPr/>
          <p:nvPr/>
        </p:nvSpPr>
        <p:spPr>
          <a:xfrm>
            <a:off x="4879975" y="4035326"/>
            <a:ext cx="6694202"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In PyTorch, Adam’s weight decay is coupled L2 and AdamW’s is decoupled. Skip biases and norm parameters.</a:t>
            </a:r>
            <a:endParaRPr lang="en-US" sz="1500" dirty="0"/>
          </a:p>
        </p:txBody>
      </p:sp>
      <p:sp>
        <p:nvSpPr>
          <p:cNvPr id="20" name="Text 16"/>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1"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17 / 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AdamW is the low-tuning default, and tuned SGD with momentum still competes on vision.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10553700" cy="2192734"/>
        </p:xfrm>
        <a:graphic>
          <a:graphicData uri="http://schemas.openxmlformats.org/drawingml/2006/table">
            <a:tbl>
              <a:tblPr/>
              <a:tblGrid>
                <a:gridCol w="2532888"/>
                <a:gridCol w="4221480"/>
                <a:gridCol w="3799332"/>
              </a:tblGrid>
              <a:tr h="438547">
                <a:tc>
                  <a:txBody>
                    <a:bodyPr/>
                    <a:lstStyle/>
                    <a:p>
                      <a:pPr indent="0" marL="0">
                        <a:lnSpc>
                          <a:spcPts val="1954"/>
                        </a:lnSpc>
                        <a:buNone/>
                      </a:pPr>
                      <a:r>
                        <a:rPr lang="en-US" sz="1396" b="1" dirty="0">
                          <a:solidFill>
                            <a:srgbClr val="15212E"/>
                          </a:solidFill>
                          <a:latin typeface="IBM Plex Sans" pitchFamily="34" charset="0"/>
                          <a:ea typeface="IBM Plex Sans" pitchFamily="34" charset="-122"/>
                          <a:cs typeface="IBM Plex Sans" pitchFamily="34" charset="-120"/>
                        </a:rPr>
                        <a:t>Optimizer</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54"/>
                        </a:lnSpc>
                        <a:buNone/>
                      </a:pPr>
                      <a:r>
                        <a:rPr lang="en-US" sz="1396" b="1" dirty="0">
                          <a:solidFill>
                            <a:srgbClr val="15212E"/>
                          </a:solidFill>
                          <a:latin typeface="IBM Plex Sans" pitchFamily="34" charset="0"/>
                          <a:ea typeface="IBM Plex Sans" pitchFamily="34" charset="-122"/>
                          <a:cs typeface="IBM Plex Sans" pitchFamily="34" charset="-120"/>
                        </a:rPr>
                        <a:t>Best for</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54"/>
                        </a:lnSpc>
                        <a:buNone/>
                      </a:pPr>
                      <a:r>
                        <a:rPr lang="en-US" sz="1396" b="1" dirty="0">
                          <a:solidFill>
                            <a:srgbClr val="15212E"/>
                          </a:solidFill>
                          <a:latin typeface="IBM Plex Sans" pitchFamily="34" charset="0"/>
                          <a:ea typeface="IBM Plex Sans" pitchFamily="34" charset="-122"/>
                          <a:cs typeface="IBM Plex Sans" pitchFamily="34" charset="-120"/>
                        </a:rPr>
                        <a:t>Typical η</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8547">
                <a:tc>
                  <a:txBody>
                    <a:bodyPr/>
                    <a:lstStyle/>
                    <a:p>
                      <a:pPr indent="0" marL="0">
                        <a:lnSpc>
                          <a:spcPts val="1954"/>
                        </a:lnSpc>
                        <a:buNone/>
                      </a:pPr>
                      <a:r>
                        <a:rPr lang="en-US" sz="1396" dirty="0">
                          <a:solidFill>
                            <a:srgbClr val="15212E"/>
                          </a:solidFill>
                          <a:latin typeface="IBM Plex Sans" pitchFamily="34" charset="0"/>
                          <a:ea typeface="IBM Plex Sans" pitchFamily="34" charset="-122"/>
                          <a:cs typeface="IBM Plex Sans" pitchFamily="34" charset="-120"/>
                        </a:rPr>
                        <a:t>SGD + momentum</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CNNs, image classification</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0.1 with BatchNorm</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8547">
                <a:tc>
                  <a:txBody>
                    <a:bodyPr/>
                    <a:lstStyle/>
                    <a:p>
                      <a:pPr indent="0" marL="0">
                        <a:lnSpc>
                          <a:spcPts val="1954"/>
                        </a:lnSpc>
                        <a:buNone/>
                      </a:pPr>
                      <a:r>
                        <a:rPr lang="en-US" sz="1396" dirty="0">
                          <a:solidFill>
                            <a:srgbClr val="15212E"/>
                          </a:solidFill>
                          <a:latin typeface="IBM Plex Sans" pitchFamily="34" charset="0"/>
                          <a:ea typeface="IBM Plex Sans" pitchFamily="34" charset="-122"/>
                          <a:cs typeface="IBM Plex Sans" pitchFamily="34" charset="-120"/>
                        </a:rPr>
                        <a:t>RMSProp</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RNNs, some reinforcement learning</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10⁻³</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8547">
                <a:tc>
                  <a:txBody>
                    <a:bodyPr/>
                    <a:lstStyle/>
                    <a:p>
                      <a:pPr indent="0" marL="0">
                        <a:lnSpc>
                          <a:spcPts val="1954"/>
                        </a:lnSpc>
                        <a:buNone/>
                      </a:pPr>
                      <a:r>
                        <a:rPr lang="en-US" sz="1396" dirty="0">
                          <a:solidFill>
                            <a:srgbClr val="15212E"/>
                          </a:solidFill>
                          <a:latin typeface="IBM Plex Sans" pitchFamily="34" charset="0"/>
                          <a:ea typeface="IBM Plex Sans" pitchFamily="34" charset="-122"/>
                          <a:cs typeface="IBM Plex Sans" pitchFamily="34" charset="-120"/>
                        </a:rPr>
                        <a:t>Adam</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Most new work</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10⁻³ to 3 × 10⁻⁴</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8547">
                <a:tc>
                  <a:txBody>
                    <a:bodyPr/>
                    <a:lstStyle/>
                    <a:p>
                      <a:pPr indent="0" marL="0">
                        <a:lnSpc>
                          <a:spcPts val="1954"/>
                        </a:lnSpc>
                        <a:buNone/>
                      </a:pPr>
                      <a:r>
                        <a:rPr lang="en-US" sz="1396" dirty="0">
                          <a:solidFill>
                            <a:srgbClr val="15212E"/>
                          </a:solidFill>
                          <a:latin typeface="IBM Plex Sans" pitchFamily="34" charset="0"/>
                          <a:ea typeface="IBM Plex Sans" pitchFamily="34" charset="-122"/>
                          <a:cs typeface="IBM Plex Sans" pitchFamily="34" charset="-120"/>
                        </a:rPr>
                        <a:t>AdamW</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Transformers, modern vision</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54"/>
                        </a:lnSpc>
                        <a:buNone/>
                      </a:pPr>
                      <a:r>
                        <a:rPr lang="en-US" sz="1396" dirty="0">
                          <a:solidFill>
                            <a:srgbClr val="3D4A59"/>
                          </a:solidFill>
                          <a:latin typeface="IBM Plex Sans" pitchFamily="34" charset="0"/>
                          <a:ea typeface="IBM Plex Sans" pitchFamily="34" charset="-122"/>
                          <a:cs typeface="IBM Plex Sans" pitchFamily="34" charset="-120"/>
                        </a:rPr>
                        <a:t>10⁻³ to 10⁻⁴, decay 0.01–0.1</a:t>
                      </a:r>
                      <a:endParaRPr lang="en-US" sz="1396"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bl>
          </a:graphicData>
        </a:graphic>
      </p:graphicFrame>
      <p:sp>
        <p:nvSpPr>
          <p:cNvPr id="5" name="Shape 2"/>
          <p:cNvSpPr/>
          <p:nvPr/>
        </p:nvSpPr>
        <p:spPr>
          <a:xfrm>
            <a:off x="815975" y="4446984"/>
            <a:ext cx="3482082" cy="1391841"/>
          </a:xfrm>
          <a:prstGeom prst="roundRect">
            <a:avLst>
              <a:gd name="adj" fmla="val 6159"/>
            </a:avLst>
          </a:prstGeom>
          <a:solidFill>
            <a:srgbClr val="FFFFFE"/>
          </a:solidFill>
          <a:ln w="6350">
            <a:solidFill>
              <a:srgbClr val="D2D9E1"/>
            </a:solidFill>
            <a:prstDash val="solid"/>
          </a:ln>
        </p:spPr>
      </p:sp>
      <p:sp>
        <p:nvSpPr>
          <p:cNvPr id="6" name="Text 3"/>
          <p:cNvSpPr/>
          <p:nvPr/>
        </p:nvSpPr>
        <p:spPr>
          <a:xfrm>
            <a:off x="996950" y="4627959"/>
            <a:ext cx="3213736" cy="510480"/>
          </a:xfrm>
          <a:prstGeom prst="rect">
            <a:avLst/>
          </a:prstGeom>
          <a:noFill/>
          <a:ln/>
        </p:spPr>
        <p:txBody>
          <a:bodyPr wrap="square" lIns="0" tIns="0" rIns="0" bIns="0" rtlCol="0" anchor="t">
            <a:normAutofit/>
          </a:bodyPr>
          <a:lstStyle/>
          <a:p>
            <a:pPr algn="l" indent="0" marL="0">
              <a:lnSpc>
                <a:spcPts val="1908"/>
              </a:lnSpc>
              <a:buNone/>
            </a:pPr>
            <a:r>
              <a:rPr lang="en-US" sz="1590" b="1" dirty="0">
                <a:solidFill>
                  <a:srgbClr val="15212E"/>
                </a:solidFill>
                <a:latin typeface="IBM Plex Sans" pitchFamily="34" charset="0"/>
                <a:ea typeface="IBM Plex Sans" pitchFamily="34" charset="-122"/>
                <a:cs typeface="IBM Plex Sans" pitchFamily="34" charset="-120"/>
              </a:rPr>
              <a:t>Coursework, prototypes, interviews</a:t>
            </a:r>
            <a:endParaRPr lang="en-US" sz="1590" dirty="0"/>
          </a:p>
        </p:txBody>
      </p:sp>
      <p:sp>
        <p:nvSpPr>
          <p:cNvPr id="7" name="Text 4"/>
          <p:cNvSpPr/>
          <p:nvPr/>
        </p:nvSpPr>
        <p:spPr>
          <a:xfrm>
            <a:off x="996950" y="5176540"/>
            <a:ext cx="3213736" cy="506710"/>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AdamW: a good result fast, with little tuning.</a:t>
            </a:r>
            <a:endParaRPr lang="en-US" sz="1400" dirty="0"/>
          </a:p>
        </p:txBody>
      </p:sp>
      <p:sp>
        <p:nvSpPr>
          <p:cNvPr id="8" name="Shape 5"/>
          <p:cNvSpPr/>
          <p:nvPr/>
        </p:nvSpPr>
        <p:spPr>
          <a:xfrm>
            <a:off x="4507607" y="4446984"/>
            <a:ext cx="6868418" cy="1391841"/>
          </a:xfrm>
          <a:prstGeom prst="roundRect">
            <a:avLst>
              <a:gd name="adj" fmla="val 6159"/>
            </a:avLst>
          </a:prstGeom>
          <a:solidFill>
            <a:srgbClr val="FFFFFE"/>
          </a:solidFill>
          <a:ln w="6350">
            <a:solidFill>
              <a:srgbClr val="D2D9E1"/>
            </a:solidFill>
            <a:prstDash val="solid"/>
          </a:ln>
        </p:spPr>
      </p:sp>
      <p:sp>
        <p:nvSpPr>
          <p:cNvPr id="9" name="Text 6"/>
          <p:cNvSpPr/>
          <p:nvPr/>
        </p:nvSpPr>
        <p:spPr>
          <a:xfrm>
            <a:off x="4688582" y="4627959"/>
            <a:ext cx="67016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Leaderboards on CIFAR or ImageNet</a:t>
            </a:r>
            <a:endParaRPr lang="en-US" sz="1600" dirty="0"/>
          </a:p>
        </p:txBody>
      </p:sp>
      <p:sp>
        <p:nvSpPr>
          <p:cNvPr id="10" name="Text 7"/>
          <p:cNvSpPr/>
          <p:nvPr/>
        </p:nvSpPr>
        <p:spPr>
          <a:xfrm>
            <a:off x="4688582" y="4935240"/>
            <a:ext cx="6701662"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Tuned SGD with momentum is still competitive. The generalization gap is small and debated.</a:t>
            </a:r>
            <a:endParaRPr lang="en-US" sz="1400" dirty="0"/>
          </a:p>
        </p:txBody>
      </p:sp>
      <p:sp>
        <p:nvSpPr>
          <p:cNvPr id="11" name="Text 8"/>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2" name="Text 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18 / 32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§10 · OPTIMIZERS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Schedules take large steps early and small steps late, and warmup protects the first steps.</a:t>
            </a:r>
            <a:endParaRPr lang="en-US" sz="2800" dirty="0"/>
          </a:p>
        </p:txBody>
      </p:sp>
      <p:pic>
        <p:nvPicPr>
          <p:cNvPr id="4" name="Image 0" descr="Step decay learning-rate schedule over 100 epochs">    </p:cNvPr>
          <p:cNvPicPr>
            <a:picLocks noChangeAspect="1"/>
          </p:cNvPicPr>
          <p:nvPr/>
        </p:nvPicPr>
        <p:blipFill>
          <a:blip r:embed="rId1"/>
          <a:srcRect l="0" r="0" t="0" b="0"/>
          <a:stretch/>
        </p:blipFill>
        <p:spPr>
          <a:xfrm>
            <a:off x="812800" y="2063948"/>
            <a:ext cx="2527300" cy="1587500"/>
          </a:xfrm>
          <a:prstGeom prst="rect">
            <a:avLst/>
          </a:prstGeom>
        </p:spPr>
      </p:pic>
      <p:sp>
        <p:nvSpPr>
          <p:cNvPr id="5" name="Text 2"/>
          <p:cNvSpPr/>
          <p:nvPr/>
        </p:nvSpPr>
        <p:spPr>
          <a:xfrm>
            <a:off x="8128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Step decay</a:t>
            </a:r>
            <a:endParaRPr lang="en-US" sz="1500" dirty="0"/>
          </a:p>
        </p:txBody>
      </p:sp>
      <p:pic>
        <p:nvPicPr>
          <p:cNvPr id="6" name="Image 1" descr="Cosine learning-rate schedule over 100 epochs">    </p:cNvPr>
          <p:cNvPicPr>
            <a:picLocks noChangeAspect="1"/>
          </p:cNvPicPr>
          <p:nvPr/>
        </p:nvPicPr>
        <p:blipFill>
          <a:blip r:embed="rId2"/>
          <a:srcRect l="0" r="0" t="0" b="0"/>
          <a:stretch/>
        </p:blipFill>
        <p:spPr>
          <a:xfrm>
            <a:off x="3492500" y="2063948"/>
            <a:ext cx="2527300" cy="1587500"/>
          </a:xfrm>
          <a:prstGeom prst="rect">
            <a:avLst/>
          </a:prstGeom>
        </p:spPr>
      </p:pic>
      <p:sp>
        <p:nvSpPr>
          <p:cNvPr id="7" name="Text 3"/>
          <p:cNvSpPr/>
          <p:nvPr/>
        </p:nvSpPr>
        <p:spPr>
          <a:xfrm>
            <a:off x="34925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Cosine</a:t>
            </a:r>
            <a:endParaRPr lang="en-US" sz="1500" dirty="0"/>
          </a:p>
        </p:txBody>
      </p:sp>
      <p:pic>
        <p:nvPicPr>
          <p:cNvPr id="8" name="Image 2" descr="Warmup + cosine learning-rate schedule over 100 epochs">    </p:cNvPr>
          <p:cNvPicPr>
            <a:picLocks noChangeAspect="1"/>
          </p:cNvPicPr>
          <p:nvPr/>
        </p:nvPicPr>
        <p:blipFill>
          <a:blip r:embed="rId3"/>
          <a:srcRect l="0" r="0" t="0" b="0"/>
          <a:stretch/>
        </p:blipFill>
        <p:spPr>
          <a:xfrm>
            <a:off x="6172200" y="2063948"/>
            <a:ext cx="2527300" cy="1587500"/>
          </a:xfrm>
          <a:prstGeom prst="rect">
            <a:avLst/>
          </a:prstGeom>
        </p:spPr>
      </p:pic>
      <p:sp>
        <p:nvSpPr>
          <p:cNvPr id="9" name="Text 4"/>
          <p:cNvSpPr/>
          <p:nvPr/>
        </p:nvSpPr>
        <p:spPr>
          <a:xfrm>
            <a:off x="61722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Warmup + cosine</a:t>
            </a:r>
            <a:endParaRPr lang="en-US" sz="1500" dirty="0"/>
          </a:p>
        </p:txBody>
      </p:sp>
      <p:pic>
        <p:nvPicPr>
          <p:cNvPr id="10" name="Image 3" descr="One-cycle learning-rate schedule over 100 epochs">    </p:cNvPr>
          <p:cNvPicPr>
            <a:picLocks noChangeAspect="1"/>
          </p:cNvPicPr>
          <p:nvPr/>
        </p:nvPicPr>
        <p:blipFill>
          <a:blip r:embed="rId4"/>
          <a:srcRect l="0" r="0" t="0" b="0"/>
          <a:stretch/>
        </p:blipFill>
        <p:spPr>
          <a:xfrm>
            <a:off x="8851900" y="2063948"/>
            <a:ext cx="2527300" cy="1587500"/>
          </a:xfrm>
          <a:prstGeom prst="rect">
            <a:avLst/>
          </a:prstGeom>
        </p:spPr>
      </p:pic>
      <p:sp>
        <p:nvSpPr>
          <p:cNvPr id="11" name="Text 5"/>
          <p:cNvSpPr/>
          <p:nvPr/>
        </p:nvSpPr>
        <p:spPr>
          <a:xfrm>
            <a:off x="88519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One-cycle</a:t>
            </a:r>
            <a:endParaRPr lang="en-US" sz="1500" dirty="0"/>
          </a:p>
        </p:txBody>
      </p:sp>
      <p:sp>
        <p:nvSpPr>
          <p:cNvPr id="12" name="Shape 6"/>
          <p:cNvSpPr/>
          <p:nvPr/>
        </p:nvSpPr>
        <p:spPr>
          <a:xfrm>
            <a:off x="815975" y="3857823"/>
            <a:ext cx="3707309" cy="1152823"/>
          </a:xfrm>
          <a:prstGeom prst="roundRect">
            <a:avLst>
              <a:gd name="adj" fmla="val 7436"/>
            </a:avLst>
          </a:prstGeom>
          <a:solidFill>
            <a:srgbClr val="F2F5F8"/>
          </a:solidFill>
          <a:ln w="6350">
            <a:solidFill>
              <a:srgbClr val="D2D9E1"/>
            </a:solidFill>
            <a:prstDash val="solid"/>
          </a:ln>
        </p:spPr>
      </p:sp>
      <p:sp>
        <p:nvSpPr>
          <p:cNvPr id="13" name="Text 7"/>
          <p:cNvSpPr/>
          <p:nvPr/>
        </p:nvSpPr>
        <p:spPr>
          <a:xfrm>
            <a:off x="1009650" y="4013398"/>
            <a:ext cx="3419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COSINE ANNEALING</a:t>
            </a:r>
            <a:endParaRPr lang="en-US" sz="1200" dirty="0"/>
          </a:p>
        </p:txBody>
      </p:sp>
      <p:sp>
        <p:nvSpPr>
          <p:cNvPr id="14" name="Text 8"/>
          <p:cNvSpPr/>
          <p:nvPr/>
        </p:nvSpPr>
        <p:spPr>
          <a:xfrm>
            <a:off x="1009650" y="4302919"/>
            <a:ext cx="3419557" cy="300930"/>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ηₜ = ηₘᵢₙ + ½(ηₘₐₓ − ηₘᵢₙ)(1 + cos(πt/T))</a:t>
            </a:r>
            <a:endParaRPr lang="en-US" sz="1400" dirty="0"/>
          </a:p>
        </p:txBody>
      </p:sp>
      <p:sp>
        <p:nvSpPr>
          <p:cNvPr id="15" name="Shape 9"/>
          <p:cNvSpPr/>
          <p:nvPr/>
        </p:nvSpPr>
        <p:spPr>
          <a:xfrm>
            <a:off x="4936034" y="3857823"/>
            <a:ext cx="6439991" cy="1152823"/>
          </a:xfrm>
          <a:prstGeom prst="roundRect">
            <a:avLst>
              <a:gd name="adj" fmla="val 7436"/>
            </a:avLst>
          </a:prstGeom>
          <a:solidFill>
            <a:srgbClr val="FFFFFE"/>
          </a:solidFill>
          <a:ln w="6350">
            <a:solidFill>
              <a:srgbClr val="D2D9E1"/>
            </a:solidFill>
            <a:prstDash val="solid"/>
          </a:ln>
        </p:spPr>
      </p:sp>
      <p:sp>
        <p:nvSpPr>
          <p:cNvPr id="16" name="Text 10"/>
          <p:cNvSpPr/>
          <p:nvPr/>
        </p:nvSpPr>
        <p:spPr>
          <a:xfrm>
            <a:off x="5117009" y="4038798"/>
            <a:ext cx="62603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Common bug</a:t>
            </a:r>
            <a:endParaRPr lang="en-US" sz="1600" dirty="0"/>
          </a:p>
        </p:txBody>
      </p:sp>
      <p:sp>
        <p:nvSpPr>
          <p:cNvPr id="17" name="Text 11"/>
          <p:cNvSpPr/>
          <p:nvPr/>
        </p:nvSpPr>
        <p:spPr>
          <a:xfrm>
            <a:off x="5117009" y="4346079"/>
            <a:ext cx="6260383"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Stepping the scheduler per epoch when it expects per batch, or the reverse. Log η every epoch.</a:t>
            </a:r>
            <a:endParaRPr lang="en-US" sz="1400" dirty="0"/>
          </a:p>
        </p:txBody>
      </p:sp>
      <p:sp>
        <p:nvSpPr>
          <p:cNvPr id="18" name="Text 12"/>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19 / 32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§11 · NORMALIZATION LAYERS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BatchNorm standardizes each feature over the batch, then learned γ and β restore any scale.</a:t>
            </a:r>
            <a:endParaRPr lang="en-US" sz="2800" dirty="0"/>
          </a:p>
        </p:txBody>
      </p:sp>
      <p:pic>
        <p:nvPicPr>
          <p:cNvPr id="4" name="Image 0" descr="BatchNorm pipeline: batch mean, batch variance, normalize to mean 0 and variance 1, then scale by gamma and shift by beta, both learned">    </p:cNvPr>
          <p:cNvPicPr>
            <a:picLocks noChangeAspect="1"/>
          </p:cNvPicPr>
          <p:nvPr/>
        </p:nvPicPr>
        <p:blipFill>
          <a:blip r:embed="rId1"/>
          <a:srcRect l="0" r="0" t="-14" b="-14"/>
          <a:stretch/>
        </p:blipFill>
        <p:spPr>
          <a:xfrm>
            <a:off x="812800" y="2063948"/>
            <a:ext cx="10566400" cy="1460500"/>
          </a:xfrm>
          <a:prstGeom prst="rect">
            <a:avLst/>
          </a:prstGeom>
        </p:spPr>
      </p:pic>
      <p:sp>
        <p:nvSpPr>
          <p:cNvPr id="5" name="Text 2"/>
          <p:cNvSpPr/>
          <p:nvPr/>
        </p:nvSpPr>
        <p:spPr>
          <a:xfrm>
            <a:off x="812800" y="2089348"/>
            <a:ext cx="2616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1 · batch mean</a:t>
            </a:r>
            <a:endParaRPr lang="en-US" sz="1400" dirty="0"/>
          </a:p>
        </p:txBody>
      </p:sp>
      <p:sp>
        <p:nvSpPr>
          <p:cNvPr id="6" name="Text 3"/>
          <p:cNvSpPr/>
          <p:nvPr/>
        </p:nvSpPr>
        <p:spPr>
          <a:xfrm>
            <a:off x="789686" y="2660848"/>
            <a:ext cx="2459228"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μ = (1/m) Σᵢ xᵢ</a:t>
            </a:r>
            <a:endParaRPr lang="en-US" sz="1300" dirty="0"/>
          </a:p>
        </p:txBody>
      </p:sp>
      <p:sp>
        <p:nvSpPr>
          <p:cNvPr id="7" name="Text 4"/>
          <p:cNvSpPr/>
          <p:nvPr/>
        </p:nvSpPr>
        <p:spPr>
          <a:xfrm>
            <a:off x="3530600" y="2089348"/>
            <a:ext cx="2616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2 · batch variance</a:t>
            </a:r>
            <a:endParaRPr lang="en-US" sz="1400" dirty="0"/>
          </a:p>
        </p:txBody>
      </p:sp>
      <p:sp>
        <p:nvSpPr>
          <p:cNvPr id="8" name="Text 5"/>
          <p:cNvSpPr/>
          <p:nvPr/>
        </p:nvSpPr>
        <p:spPr>
          <a:xfrm>
            <a:off x="3507486" y="2660848"/>
            <a:ext cx="2459228"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σ² = (1/m) Σᵢ (xᵢ − μ)²</a:t>
            </a:r>
            <a:endParaRPr lang="en-US" sz="1300" dirty="0"/>
          </a:p>
        </p:txBody>
      </p:sp>
      <p:sp>
        <p:nvSpPr>
          <p:cNvPr id="9" name="Text 6"/>
          <p:cNvSpPr/>
          <p:nvPr/>
        </p:nvSpPr>
        <p:spPr>
          <a:xfrm>
            <a:off x="6248400" y="2089348"/>
            <a:ext cx="2616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3 · normalize</a:t>
            </a:r>
            <a:endParaRPr lang="en-US" sz="1400" dirty="0"/>
          </a:p>
        </p:txBody>
      </p:sp>
      <p:sp>
        <p:nvSpPr>
          <p:cNvPr id="10" name="Text 7"/>
          <p:cNvSpPr/>
          <p:nvPr/>
        </p:nvSpPr>
        <p:spPr>
          <a:xfrm>
            <a:off x="6022340" y="2660848"/>
            <a:ext cx="286512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x̂ᵢ = (xᵢ − μ)/√(σ² + ε)</a:t>
            </a:r>
            <a:endParaRPr lang="en-US" sz="1300" dirty="0"/>
          </a:p>
        </p:txBody>
      </p:sp>
      <p:sp>
        <p:nvSpPr>
          <p:cNvPr id="11" name="Text 8"/>
          <p:cNvSpPr/>
          <p:nvPr/>
        </p:nvSpPr>
        <p:spPr>
          <a:xfrm>
            <a:off x="8839200" y="2089348"/>
            <a:ext cx="2616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4 · scale, shift (learned)</a:t>
            </a:r>
            <a:endParaRPr lang="en-US" sz="1400" dirty="0"/>
          </a:p>
        </p:txBody>
      </p:sp>
      <p:sp>
        <p:nvSpPr>
          <p:cNvPr id="12" name="Text 9"/>
          <p:cNvSpPr/>
          <p:nvPr/>
        </p:nvSpPr>
        <p:spPr>
          <a:xfrm>
            <a:off x="8943086" y="2660848"/>
            <a:ext cx="2459228"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yᵢ = γ x̂ᵢ + β</a:t>
            </a:r>
            <a:endParaRPr lang="en-US" sz="1300" dirty="0"/>
          </a:p>
        </p:txBody>
      </p:sp>
      <p:sp>
        <p:nvSpPr>
          <p:cNvPr id="13" name="Text 10"/>
          <p:cNvSpPr/>
          <p:nvPr/>
        </p:nvSpPr>
        <p:spPr>
          <a:xfrm>
            <a:off x="812800" y="3283148"/>
            <a:ext cx="78486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per feature, or per channel in a CNN, over the mini-batch</a:t>
            </a:r>
            <a:endParaRPr lang="en-US" sz="1300" dirty="0"/>
          </a:p>
        </p:txBody>
      </p:sp>
      <p:pic>
        <p:nvPicPr>
          <p:cNvPr id="14" name="Image 1" descr="Illustrative distributions of one feature: raw activations shifted and wide, normalized to mean 0 and variance 1, then rescaled by learned gamma and beta">    </p:cNvPr>
          <p:cNvPicPr>
            <a:picLocks noChangeAspect="1"/>
          </p:cNvPicPr>
          <p:nvPr/>
        </p:nvPicPr>
        <p:blipFill>
          <a:blip r:embed="rId2"/>
          <a:srcRect l="0" r="0" t="0" b="0"/>
          <a:stretch/>
        </p:blipFill>
        <p:spPr>
          <a:xfrm>
            <a:off x="812800" y="3676848"/>
            <a:ext cx="4826000" cy="2095500"/>
          </a:xfrm>
          <a:prstGeom prst="rect">
            <a:avLst/>
          </a:prstGeom>
        </p:spPr>
      </p:pic>
      <p:sp>
        <p:nvSpPr>
          <p:cNvPr id="15" name="Text 11"/>
          <p:cNvSpPr/>
          <p:nvPr/>
        </p:nvSpPr>
        <p:spPr>
          <a:xfrm>
            <a:off x="4292600" y="4305498"/>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6B7785"/>
                </a:solidFill>
                <a:latin typeface="IBM Plex Sans" pitchFamily="34" charset="0"/>
                <a:ea typeface="IBM Plex Sans" pitchFamily="34" charset="-122"/>
                <a:cs typeface="IBM Plex Sans" pitchFamily="34" charset="-120"/>
              </a:rPr>
              <a:t>raw x</a:t>
            </a:r>
            <a:endParaRPr lang="en-US" sz="1300" dirty="0"/>
          </a:p>
        </p:txBody>
      </p:sp>
      <p:sp>
        <p:nvSpPr>
          <p:cNvPr id="16" name="Text 12"/>
          <p:cNvSpPr/>
          <p:nvPr/>
        </p:nvSpPr>
        <p:spPr>
          <a:xfrm>
            <a:off x="1016000" y="4045148"/>
            <a:ext cx="183134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x̂: mean 0, var 1</a:t>
            </a:r>
            <a:endParaRPr lang="en-US" sz="1300" dirty="0"/>
          </a:p>
        </p:txBody>
      </p:sp>
      <p:sp>
        <p:nvSpPr>
          <p:cNvPr id="17" name="Text 13"/>
          <p:cNvSpPr/>
          <p:nvPr/>
        </p:nvSpPr>
        <p:spPr>
          <a:xfrm>
            <a:off x="3302000" y="3765748"/>
            <a:ext cx="1066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JetBrains Mono" pitchFamily="49" charset="0"/>
                <a:ea typeface="JetBrains Mono" pitchFamily="49" charset="-122"/>
                <a:cs typeface="JetBrains Mono" pitchFamily="49" charset="-120"/>
              </a:rPr>
              <a:t>γx̂ + β</a:t>
            </a:r>
            <a:endParaRPr lang="en-US" sz="1300" dirty="0"/>
          </a:p>
        </p:txBody>
      </p:sp>
      <p:sp>
        <p:nvSpPr>
          <p:cNvPr id="18" name="Text 14"/>
          <p:cNvSpPr/>
          <p:nvPr/>
        </p:nvSpPr>
        <p:spPr>
          <a:xfrm>
            <a:off x="1263650" y="5480248"/>
            <a:ext cx="3924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illustrative distributions of one feature</a:t>
            </a:r>
            <a:endParaRPr lang="en-US" sz="1300" dirty="0"/>
          </a:p>
        </p:txBody>
      </p:sp>
      <p:sp>
        <p:nvSpPr>
          <p:cNvPr id="19" name="Shape 15"/>
          <p:cNvSpPr/>
          <p:nvPr/>
        </p:nvSpPr>
        <p:spPr>
          <a:xfrm>
            <a:off x="6045200" y="3772098"/>
            <a:ext cx="63500" cy="63500"/>
          </a:xfrm>
          <a:prstGeom prst="roundRect">
            <a:avLst>
              <a:gd name="adj" fmla="val 20000"/>
            </a:avLst>
          </a:prstGeom>
          <a:solidFill>
            <a:srgbClr val="1F5FBF"/>
          </a:solidFill>
          <a:ln/>
        </p:spPr>
      </p:sp>
      <p:sp>
        <p:nvSpPr>
          <p:cNvPr id="20" name="Text 16"/>
          <p:cNvSpPr/>
          <p:nvPr/>
        </p:nvSpPr>
        <p:spPr>
          <a:xfrm>
            <a:off x="6248400" y="3676848"/>
            <a:ext cx="528472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γ and β.</a:t>
            </a:r>
            <a:r>
              <a:rPr lang="en-US" sz="1500" dirty="0">
                <a:solidFill>
                  <a:srgbClr val="3D4A59"/>
                </a:solidFill>
                <a:latin typeface="IBM Plex Sans" pitchFamily="34" charset="0"/>
                <a:ea typeface="IBM Plex Sans" pitchFamily="34" charset="-122"/>
                <a:cs typeface="IBM Plex Sans" pitchFamily="34" charset="-120"/>
              </a:rPr>
              <a:t> Forcing mean 0, variance 1 would pin sigmoid units near their linear region.</a:t>
            </a:r>
            <a:endParaRPr lang="en-US" sz="1500" dirty="0"/>
          </a:p>
        </p:txBody>
      </p:sp>
      <p:sp>
        <p:nvSpPr>
          <p:cNvPr id="21" name="Shape 17"/>
          <p:cNvSpPr/>
          <p:nvPr/>
        </p:nvSpPr>
        <p:spPr>
          <a:xfrm>
            <a:off x="6045200" y="4475559"/>
            <a:ext cx="63500" cy="63500"/>
          </a:xfrm>
          <a:prstGeom prst="roundRect">
            <a:avLst>
              <a:gd name="adj" fmla="val 20000"/>
            </a:avLst>
          </a:prstGeom>
          <a:solidFill>
            <a:srgbClr val="1F5FBF"/>
          </a:solidFill>
          <a:ln/>
        </p:spPr>
      </p:sp>
      <p:sp>
        <p:nvSpPr>
          <p:cNvPr id="22" name="Text 18"/>
          <p:cNvSpPr/>
          <p:nvPr/>
        </p:nvSpPr>
        <p:spPr>
          <a:xfrm>
            <a:off x="6248400" y="4380309"/>
            <a:ext cx="528472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Identity is representable.</a:t>
            </a:r>
            <a:r>
              <a:rPr lang="en-US" sz="1500" dirty="0">
                <a:solidFill>
                  <a:srgbClr val="3D4A59"/>
                </a:solidFill>
                <a:latin typeface="IBM Plex Sans" pitchFamily="34" charset="0"/>
                <a:ea typeface="IBM Plex Sans" pitchFamily="34" charset="-122"/>
                <a:cs typeface="IBM Plex Sans" pitchFamily="34" charset="-120"/>
              </a:rPr>
              <a:t> γ = √(Var[x] + ε), β = E[x] undo it at the population statistics, so no power is lost in principle.</a:t>
            </a:r>
            <a:endParaRPr lang="en-US" sz="1500" dirty="0"/>
          </a:p>
        </p:txBody>
      </p:sp>
      <p:sp>
        <p:nvSpPr>
          <p:cNvPr id="23" name="Text 19"/>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4"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20 / 32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§11 · NORMALIZATION LAYERS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BatchNorm uses batch statistics while training and running averages at inference.</a:t>
            </a:r>
            <a:endParaRPr lang="en-US" sz="2800" dirty="0"/>
          </a:p>
        </p:txBody>
      </p:sp>
      <p:sp>
        <p:nvSpPr>
          <p:cNvPr id="4" name="Shape 2"/>
          <p:cNvSpPr/>
          <p:nvPr/>
        </p:nvSpPr>
        <p:spPr>
          <a:xfrm>
            <a:off x="815975" y="2067123"/>
            <a:ext cx="4174530" cy="1436191"/>
          </a:xfrm>
          <a:prstGeom prst="roundRect">
            <a:avLst>
              <a:gd name="adj" fmla="val 5969"/>
            </a:avLst>
          </a:prstGeom>
          <a:solidFill>
            <a:srgbClr val="FFFFFE"/>
          </a:solidFill>
          <a:ln w="6350">
            <a:solidFill>
              <a:srgbClr val="D2D9E1"/>
            </a:solidFill>
            <a:prstDash val="solid"/>
          </a:ln>
        </p:spPr>
      </p:sp>
      <p:sp>
        <p:nvSpPr>
          <p:cNvPr id="5" name="Text 3"/>
          <p:cNvSpPr/>
          <p:nvPr/>
        </p:nvSpPr>
        <p:spPr>
          <a:xfrm>
            <a:off x="996950" y="2248098"/>
            <a:ext cx="392695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Training mode</a:t>
            </a:r>
            <a:endParaRPr lang="en-US" sz="1600" dirty="0"/>
          </a:p>
        </p:txBody>
      </p:sp>
      <p:sp>
        <p:nvSpPr>
          <p:cNvPr id="6" name="Text 4"/>
          <p:cNvSpPr/>
          <p:nvPr/>
        </p:nvSpPr>
        <p:spPr>
          <a:xfrm>
            <a:off x="1000125" y="2558554"/>
            <a:ext cx="3806230" cy="760611"/>
          </a:xfrm>
          <a:prstGeom prst="roundRect">
            <a:avLst>
              <a:gd name="adj" fmla="val 11271"/>
            </a:avLst>
          </a:prstGeom>
          <a:solidFill>
            <a:srgbClr val="F2F5F8"/>
          </a:solidFill>
          <a:ln w="6350">
            <a:solidFill>
              <a:srgbClr val="D2D9E1"/>
            </a:solidFill>
            <a:prstDash val="solid"/>
          </a:ln>
        </p:spPr>
        <p:txBody>
          <a:bodyPr wrap="none" lIns="117767" tIns="79667" rIns="12153" bIns="54267"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normalize with this batch’s μ, σ²</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running ← 0.9·running + 0.1·batch</a:t>
            </a:r>
            <a:endParaRPr lang="en-US" sz="1400" dirty="0"/>
          </a:p>
        </p:txBody>
      </p:sp>
      <p:sp>
        <p:nvSpPr>
          <p:cNvPr id="7" name="Shape 5"/>
          <p:cNvSpPr/>
          <p:nvPr/>
        </p:nvSpPr>
        <p:spPr>
          <a:xfrm>
            <a:off x="5200055" y="2067123"/>
            <a:ext cx="4921250" cy="1436191"/>
          </a:xfrm>
          <a:prstGeom prst="roundRect">
            <a:avLst>
              <a:gd name="adj" fmla="val 5969"/>
            </a:avLst>
          </a:prstGeom>
          <a:solidFill>
            <a:srgbClr val="FFFFFE"/>
          </a:solidFill>
          <a:ln w="6350">
            <a:solidFill>
              <a:srgbClr val="D2D9E1"/>
            </a:solidFill>
            <a:prstDash val="solid"/>
          </a:ln>
        </p:spPr>
      </p:sp>
      <p:sp>
        <p:nvSpPr>
          <p:cNvPr id="8" name="Text 6"/>
          <p:cNvSpPr/>
          <p:nvPr/>
        </p:nvSpPr>
        <p:spPr>
          <a:xfrm>
            <a:off x="5381030" y="2248098"/>
            <a:ext cx="469607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Evaluation mode</a:t>
            </a:r>
            <a:endParaRPr lang="en-US" sz="1600" dirty="0"/>
          </a:p>
        </p:txBody>
      </p:sp>
      <p:sp>
        <p:nvSpPr>
          <p:cNvPr id="9" name="Text 7"/>
          <p:cNvSpPr/>
          <p:nvPr/>
        </p:nvSpPr>
        <p:spPr>
          <a:xfrm>
            <a:off x="5384205" y="2558554"/>
            <a:ext cx="4552950" cy="760611"/>
          </a:xfrm>
          <a:prstGeom prst="roundRect">
            <a:avLst>
              <a:gd name="adj" fmla="val 11271"/>
            </a:avLst>
          </a:prstGeom>
          <a:solidFill>
            <a:srgbClr val="F2F5F8"/>
          </a:solidFill>
          <a:ln w="6350">
            <a:solidFill>
              <a:srgbClr val="D2D9E1"/>
            </a:solidFill>
            <a:prstDash val="solid"/>
          </a:ln>
        </p:spPr>
        <p:txBody>
          <a:bodyPr wrap="none" lIns="117767" tIns="79667" rIns="0" bIns="54267"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normalize with the running averages</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deterministic, independent of batch size</a:t>
            </a:r>
            <a:endParaRPr lang="en-US" sz="1400" dirty="0"/>
          </a:p>
        </p:txBody>
      </p:sp>
      <p:sp>
        <p:nvSpPr>
          <p:cNvPr id="10" name="Shape 8"/>
          <p:cNvSpPr/>
          <p:nvPr/>
        </p:nvSpPr>
        <p:spPr>
          <a:xfrm>
            <a:off x="815975" y="3687465"/>
            <a:ext cx="10560050" cy="911027"/>
          </a:xfrm>
          <a:prstGeom prst="roundRect">
            <a:avLst>
              <a:gd name="adj" fmla="val 9410"/>
            </a:avLst>
          </a:prstGeom>
          <a:solidFill>
            <a:srgbClr val="FFFFFE"/>
          </a:solidFill>
          <a:ln w="6350">
            <a:solidFill>
              <a:srgbClr val="D2D9E1"/>
            </a:solidFill>
            <a:prstDash val="solid"/>
          </a:ln>
        </p:spPr>
      </p:sp>
      <p:sp>
        <p:nvSpPr>
          <p:cNvPr id="11" name="Text 9"/>
          <p:cNvSpPr/>
          <p:nvPr/>
        </p:nvSpPr>
        <p:spPr>
          <a:xfrm>
            <a:off x="996950" y="3868440"/>
            <a:ext cx="1050404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Forgot to switch to evaluation mode?</a:t>
            </a:r>
            <a:endParaRPr lang="en-US" sz="1600" dirty="0"/>
          </a:p>
        </p:txBody>
      </p:sp>
      <p:sp>
        <p:nvSpPr>
          <p:cNvPr id="12" name="Text 10"/>
          <p:cNvSpPr/>
          <p:nvPr/>
        </p:nvSpPr>
        <p:spPr>
          <a:xfrm>
            <a:off x="996950" y="4175720"/>
            <a:ext cx="10504043"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Accuracy changes with the validation batch size, and a batch of one gives γ·0 + β: the same prediction for every input.</a:t>
            </a:r>
            <a:endParaRPr lang="en-US" sz="1400" dirty="0"/>
          </a:p>
        </p:txBody>
      </p:sp>
      <p:sp>
        <p:nvSpPr>
          <p:cNvPr id="13" name="Text 11"/>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4" name="Text 1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21 / 32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§11 · NORMALIZATION LAYERS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BatchNorm helps mainly by smoothing the loss landscape, not by reducing covariate shift.</a:t>
            </a:r>
            <a:endParaRPr lang="en-US" sz="2800" dirty="0"/>
          </a:p>
        </p:txBody>
      </p:sp>
      <p:sp>
        <p:nvSpPr>
          <p:cNvPr id="4" name="Shape 2"/>
          <p:cNvSpPr/>
          <p:nvPr/>
        </p:nvSpPr>
        <p:spPr>
          <a:xfrm>
            <a:off x="815975" y="2067123"/>
            <a:ext cx="4057650" cy="1733352"/>
          </a:xfrm>
          <a:prstGeom prst="roundRect">
            <a:avLst>
              <a:gd name="adj" fmla="val 4946"/>
            </a:avLst>
          </a:prstGeom>
          <a:solidFill>
            <a:srgbClr val="F2F5F8"/>
          </a:solidFill>
          <a:ln w="6350">
            <a:solidFill>
              <a:srgbClr val="D2D9E1"/>
            </a:solidFill>
            <a:prstDash val="solid"/>
          </a:ln>
        </p:spPr>
      </p:sp>
      <p:sp>
        <p:nvSpPr>
          <p:cNvPr id="5" name="Text 3"/>
          <p:cNvSpPr/>
          <p:nvPr/>
        </p:nvSpPr>
        <p:spPr>
          <a:xfrm>
            <a:off x="996950" y="2248098"/>
            <a:ext cx="38735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878"/>
                </a:solidFill>
                <a:latin typeface="IBM Plex Sans" pitchFamily="34" charset="0"/>
                <a:ea typeface="IBM Plex Sans" pitchFamily="34" charset="-122"/>
                <a:cs typeface="IBM Plex Sans" pitchFamily="34" charset="-120"/>
              </a:rPr>
              <a:t>ORIGINAL CLAIM · IOFFE &amp; SZEGEDY, 2015</a:t>
            </a:r>
            <a:endParaRPr lang="en-US" sz="1200" dirty="0"/>
          </a:p>
        </p:txBody>
      </p:sp>
      <p:sp>
        <p:nvSpPr>
          <p:cNvPr id="6" name="Text 4"/>
          <p:cNvSpPr/>
          <p:nvPr/>
        </p:nvSpPr>
        <p:spPr>
          <a:xfrm>
            <a:off x="996950" y="2537619"/>
            <a:ext cx="3806571" cy="295275"/>
          </a:xfrm>
          <a:prstGeom prst="rect">
            <a:avLst/>
          </a:prstGeom>
          <a:noFill/>
          <a:ln/>
        </p:spPr>
        <p:txBody>
          <a:bodyPr wrap="square" lIns="0" tIns="0" rIns="0" bIns="0" rtlCol="0" anchor="t">
            <a:normAutofit/>
          </a:bodyPr>
          <a:lstStyle/>
          <a:p>
            <a:pPr algn="l" indent="0" marL="0">
              <a:lnSpc>
                <a:spcPts val="2125"/>
              </a:lnSpc>
              <a:buNone/>
            </a:pPr>
            <a:r>
              <a:rPr lang="en-US" sz="1700" b="1" strike="sngStrike" dirty="0">
                <a:solidFill>
                  <a:srgbClr val="3D4A59"/>
                </a:solidFill>
                <a:latin typeface="IBM Plex Sans" pitchFamily="34" charset="0"/>
                <a:ea typeface="IBM Plex Sans" pitchFamily="34" charset="-122"/>
                <a:cs typeface="IBM Plex Sans" pitchFamily="34" charset="-120"/>
              </a:rPr>
              <a:t>Reduces internal covariate shift</a:t>
            </a:r>
            <a:endParaRPr lang="en-US" sz="1700" dirty="0"/>
          </a:p>
        </p:txBody>
      </p:sp>
      <p:sp>
        <p:nvSpPr>
          <p:cNvPr id="7" name="Text 5"/>
          <p:cNvSpPr/>
          <p:nvPr/>
        </p:nvSpPr>
        <p:spPr>
          <a:xfrm>
            <a:off x="996950" y="2883694"/>
            <a:ext cx="3806571" cy="761206"/>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3D4A59"/>
                </a:solidFill>
                <a:latin typeface="IBM Plex Sans" pitchFamily="34" charset="0"/>
                <a:ea typeface="IBM Plex Sans" pitchFamily="34" charset="-122"/>
                <a:cs typeface="IBM Plex Sans" pitchFamily="34" charset="-120"/>
              </a:rPr>
              <a:t>Santurkar et al. (2018) added noise after BatchNorm to increase the shift, and training stayed fast.</a:t>
            </a:r>
            <a:endParaRPr lang="en-US" sz="1400" dirty="0"/>
          </a:p>
        </p:txBody>
      </p:sp>
      <p:sp>
        <p:nvSpPr>
          <p:cNvPr id="8" name="Text 6"/>
          <p:cNvSpPr/>
          <p:nvPr/>
        </p:nvSpPr>
        <p:spPr>
          <a:xfrm>
            <a:off x="812800" y="3956050"/>
            <a:ext cx="4185920" cy="81389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In practice: learning rates up to about 10× higher, much faster convergence, less sensitivity to initialization.</a:t>
            </a:r>
            <a:endParaRPr lang="en-US" sz="1500" dirty="0"/>
          </a:p>
        </p:txBody>
      </p:sp>
      <p:sp>
        <p:nvSpPr>
          <p:cNvPr id="9" name="Shape 7"/>
          <p:cNvSpPr/>
          <p:nvPr/>
        </p:nvSpPr>
        <p:spPr>
          <a:xfrm>
            <a:off x="5286375" y="2067123"/>
            <a:ext cx="6089650" cy="911027"/>
          </a:xfrm>
          <a:prstGeom prst="roundRect">
            <a:avLst>
              <a:gd name="adj" fmla="val 9410"/>
            </a:avLst>
          </a:prstGeom>
          <a:solidFill>
            <a:srgbClr val="FFFFFE"/>
          </a:solidFill>
          <a:ln w="6350">
            <a:solidFill>
              <a:srgbClr val="D2D9E1"/>
            </a:solidFill>
            <a:prstDash val="solid"/>
          </a:ln>
        </p:spPr>
      </p:sp>
      <p:sp>
        <p:nvSpPr>
          <p:cNvPr id="10" name="Text 8"/>
          <p:cNvSpPr/>
          <p:nvPr/>
        </p:nvSpPr>
        <p:spPr>
          <a:xfrm>
            <a:off x="5467350" y="2248098"/>
            <a:ext cx="589953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Smoother loss landscape</a:t>
            </a:r>
            <a:endParaRPr lang="en-US" sz="1600" dirty="0"/>
          </a:p>
        </p:txBody>
      </p:sp>
      <p:sp>
        <p:nvSpPr>
          <p:cNvPr id="11" name="Text 9"/>
          <p:cNvSpPr/>
          <p:nvPr/>
        </p:nvSpPr>
        <p:spPr>
          <a:xfrm>
            <a:off x="5467350" y="2555379"/>
            <a:ext cx="5905500"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Loss and gradients become more Lipschitz, so larger steps stay stable.</a:t>
            </a:r>
            <a:endParaRPr lang="en-US" sz="1400" dirty="0"/>
          </a:p>
        </p:txBody>
      </p:sp>
      <p:sp>
        <p:nvSpPr>
          <p:cNvPr id="12" name="Shape 10"/>
          <p:cNvSpPr/>
          <p:nvPr/>
        </p:nvSpPr>
        <p:spPr>
          <a:xfrm>
            <a:off x="5286375" y="3111500"/>
            <a:ext cx="6089650" cy="1152823"/>
          </a:xfrm>
          <a:prstGeom prst="roundRect">
            <a:avLst>
              <a:gd name="adj" fmla="val 7436"/>
            </a:avLst>
          </a:prstGeom>
          <a:solidFill>
            <a:srgbClr val="FFFFFE"/>
          </a:solidFill>
          <a:ln w="6350">
            <a:solidFill>
              <a:srgbClr val="D2D9E1"/>
            </a:solidFill>
            <a:prstDash val="solid"/>
          </a:ln>
        </p:spPr>
      </p:sp>
      <p:sp>
        <p:nvSpPr>
          <p:cNvPr id="13" name="Text 11"/>
          <p:cNvSpPr/>
          <p:nvPr/>
        </p:nvSpPr>
        <p:spPr>
          <a:xfrm>
            <a:off x="5467350" y="3292475"/>
            <a:ext cx="589953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Weight scale stops mattering</a:t>
            </a:r>
            <a:endParaRPr lang="en-US" sz="1600" dirty="0"/>
          </a:p>
        </p:txBody>
      </p:sp>
      <p:sp>
        <p:nvSpPr>
          <p:cNvPr id="14" name="Text 12"/>
          <p:cNvSpPr/>
          <p:nvPr/>
        </p:nvSpPr>
        <p:spPr>
          <a:xfrm>
            <a:off x="5467350" y="3599755"/>
            <a:ext cx="589953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Scaling W by c leaves the output unchanged and scales its gradient by 1/c.</a:t>
            </a:r>
            <a:endParaRPr lang="en-US" sz="1400" dirty="0"/>
          </a:p>
        </p:txBody>
      </p:sp>
      <p:sp>
        <p:nvSpPr>
          <p:cNvPr id="15" name="Shape 13"/>
          <p:cNvSpPr/>
          <p:nvPr/>
        </p:nvSpPr>
        <p:spPr>
          <a:xfrm>
            <a:off x="5286375" y="4397673"/>
            <a:ext cx="6089650" cy="1152823"/>
          </a:xfrm>
          <a:prstGeom prst="roundRect">
            <a:avLst>
              <a:gd name="adj" fmla="val 7436"/>
            </a:avLst>
          </a:prstGeom>
          <a:solidFill>
            <a:srgbClr val="FFFFFE"/>
          </a:solidFill>
          <a:ln w="6350">
            <a:solidFill>
              <a:srgbClr val="D2D9E1"/>
            </a:solidFill>
            <a:prstDash val="solid"/>
          </a:ln>
        </p:spPr>
      </p:sp>
      <p:sp>
        <p:nvSpPr>
          <p:cNvPr id="16" name="Text 14"/>
          <p:cNvSpPr/>
          <p:nvPr/>
        </p:nvSpPr>
        <p:spPr>
          <a:xfrm>
            <a:off x="5467350" y="4578648"/>
            <a:ext cx="589953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Built-in noise</a:t>
            </a:r>
            <a:endParaRPr lang="en-US" sz="1600" dirty="0"/>
          </a:p>
        </p:txBody>
      </p:sp>
      <p:sp>
        <p:nvSpPr>
          <p:cNvPr id="17" name="Text 15"/>
          <p:cNvSpPr/>
          <p:nvPr/>
        </p:nvSpPr>
        <p:spPr>
          <a:xfrm>
            <a:off x="5467350" y="4885928"/>
            <a:ext cx="589953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Each example’s normalization depends on its batchmates, much like dropout.</a:t>
            </a:r>
            <a:endParaRPr lang="en-US" sz="1400" dirty="0"/>
          </a:p>
        </p:txBody>
      </p:sp>
      <p:sp>
        <p:nvSpPr>
          <p:cNvPr id="18" name="Text 16"/>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22 / 32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§11 · NORMALIZATION LAYERS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Normalization variants differ only in the axes over which they compute statistics.</a:t>
            </a:r>
            <a:endParaRPr lang="en-US" sz="2800" dirty="0"/>
          </a:p>
        </p:txBody>
      </p:sp>
      <p:pic>
        <p:nvPicPr>
          <p:cNvPr id="4" name="Image 0" descr="BatchNorm statistics: one channel across all examples in the batch">    </p:cNvPr>
          <p:cNvPicPr>
            <a:picLocks noChangeAspect="1"/>
          </p:cNvPicPr>
          <p:nvPr/>
        </p:nvPicPr>
        <p:blipFill>
          <a:blip r:embed="rId1"/>
          <a:srcRect l="0" r="0" t="0" b="0"/>
          <a:stretch/>
        </p:blipFill>
        <p:spPr>
          <a:xfrm>
            <a:off x="812800" y="2063948"/>
            <a:ext cx="2527300" cy="1587500"/>
          </a:xfrm>
          <a:prstGeom prst="rect">
            <a:avLst/>
          </a:prstGeom>
        </p:spPr>
      </p:pic>
      <p:sp>
        <p:nvSpPr>
          <p:cNvPr id="5" name="Text 2"/>
          <p:cNvSpPr/>
          <p:nvPr/>
        </p:nvSpPr>
        <p:spPr>
          <a:xfrm>
            <a:off x="8128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BatchNorm</a:t>
            </a:r>
            <a:endParaRPr lang="en-US" sz="1500" dirty="0"/>
          </a:p>
        </p:txBody>
      </p:sp>
      <p:sp>
        <p:nvSpPr>
          <p:cNvPr id="6" name="Text 3"/>
          <p:cNvSpPr/>
          <p:nvPr/>
        </p:nvSpPr>
        <p:spPr>
          <a:xfrm>
            <a:off x="1257300" y="3384748"/>
            <a:ext cx="812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C →</a:t>
            </a:r>
            <a:endParaRPr lang="en-US" sz="1300" dirty="0"/>
          </a:p>
        </p:txBody>
      </p:sp>
      <p:sp>
        <p:nvSpPr>
          <p:cNvPr id="7" name="Text 4"/>
          <p:cNvSpPr/>
          <p:nvPr/>
        </p:nvSpPr>
        <p:spPr>
          <a:xfrm>
            <a:off x="812800" y="2737048"/>
            <a:ext cx="43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N ↓</a:t>
            </a:r>
            <a:endParaRPr lang="en-US" sz="1300" dirty="0"/>
          </a:p>
        </p:txBody>
      </p:sp>
      <p:pic>
        <p:nvPicPr>
          <p:cNvPr id="8" name="Image 1" descr="LayerNorm statistics: all channels of one example">    </p:cNvPr>
          <p:cNvPicPr>
            <a:picLocks noChangeAspect="1"/>
          </p:cNvPicPr>
          <p:nvPr/>
        </p:nvPicPr>
        <p:blipFill>
          <a:blip r:embed="rId2"/>
          <a:srcRect l="0" r="0" t="0" b="0"/>
          <a:stretch/>
        </p:blipFill>
        <p:spPr>
          <a:xfrm>
            <a:off x="3492500" y="2063948"/>
            <a:ext cx="2527300" cy="1587500"/>
          </a:xfrm>
          <a:prstGeom prst="rect">
            <a:avLst/>
          </a:prstGeom>
        </p:spPr>
      </p:pic>
      <p:sp>
        <p:nvSpPr>
          <p:cNvPr id="9" name="Text 5"/>
          <p:cNvSpPr/>
          <p:nvPr/>
        </p:nvSpPr>
        <p:spPr>
          <a:xfrm>
            <a:off x="34925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LayerNorm</a:t>
            </a:r>
            <a:endParaRPr lang="en-US" sz="1500" dirty="0"/>
          </a:p>
        </p:txBody>
      </p:sp>
      <p:sp>
        <p:nvSpPr>
          <p:cNvPr id="10" name="Text 6"/>
          <p:cNvSpPr/>
          <p:nvPr/>
        </p:nvSpPr>
        <p:spPr>
          <a:xfrm>
            <a:off x="3937000" y="3384748"/>
            <a:ext cx="812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C →</a:t>
            </a:r>
            <a:endParaRPr lang="en-US" sz="1300" dirty="0"/>
          </a:p>
        </p:txBody>
      </p:sp>
      <p:sp>
        <p:nvSpPr>
          <p:cNvPr id="11" name="Text 7"/>
          <p:cNvSpPr/>
          <p:nvPr/>
        </p:nvSpPr>
        <p:spPr>
          <a:xfrm>
            <a:off x="3492500" y="2737048"/>
            <a:ext cx="43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N ↓</a:t>
            </a:r>
            <a:endParaRPr lang="en-US" sz="1300" dirty="0"/>
          </a:p>
        </p:txBody>
      </p:sp>
      <p:pic>
        <p:nvPicPr>
          <p:cNvPr id="12" name="Image 2" descr="InstanceNorm statistics: one channel of one example">    </p:cNvPr>
          <p:cNvPicPr>
            <a:picLocks noChangeAspect="1"/>
          </p:cNvPicPr>
          <p:nvPr/>
        </p:nvPicPr>
        <p:blipFill>
          <a:blip r:embed="rId3"/>
          <a:srcRect l="0" r="0" t="0" b="0"/>
          <a:stretch/>
        </p:blipFill>
        <p:spPr>
          <a:xfrm>
            <a:off x="6172200" y="2063948"/>
            <a:ext cx="2527300" cy="1587500"/>
          </a:xfrm>
          <a:prstGeom prst="rect">
            <a:avLst/>
          </a:prstGeom>
        </p:spPr>
      </p:pic>
      <p:sp>
        <p:nvSpPr>
          <p:cNvPr id="13" name="Text 8"/>
          <p:cNvSpPr/>
          <p:nvPr/>
        </p:nvSpPr>
        <p:spPr>
          <a:xfrm>
            <a:off x="61722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InstanceNorm</a:t>
            </a:r>
            <a:endParaRPr lang="en-US" sz="1500" dirty="0"/>
          </a:p>
        </p:txBody>
      </p:sp>
      <p:sp>
        <p:nvSpPr>
          <p:cNvPr id="14" name="Text 9"/>
          <p:cNvSpPr/>
          <p:nvPr/>
        </p:nvSpPr>
        <p:spPr>
          <a:xfrm>
            <a:off x="6616700" y="3384748"/>
            <a:ext cx="812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C →</a:t>
            </a:r>
            <a:endParaRPr lang="en-US" sz="1300" dirty="0"/>
          </a:p>
        </p:txBody>
      </p:sp>
      <p:sp>
        <p:nvSpPr>
          <p:cNvPr id="15" name="Text 10"/>
          <p:cNvSpPr/>
          <p:nvPr/>
        </p:nvSpPr>
        <p:spPr>
          <a:xfrm>
            <a:off x="6172200" y="2737048"/>
            <a:ext cx="43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N ↓</a:t>
            </a:r>
            <a:endParaRPr lang="en-US" sz="1300" dirty="0"/>
          </a:p>
        </p:txBody>
      </p:sp>
      <p:pic>
        <p:nvPicPr>
          <p:cNvPr id="16" name="Image 3" descr="GroupNorm statistics: a group of channels in one example">    </p:cNvPr>
          <p:cNvPicPr>
            <a:picLocks noChangeAspect="1"/>
          </p:cNvPicPr>
          <p:nvPr/>
        </p:nvPicPr>
        <p:blipFill>
          <a:blip r:embed="rId4"/>
          <a:srcRect l="0" r="0" t="0" b="0"/>
          <a:stretch/>
        </p:blipFill>
        <p:spPr>
          <a:xfrm>
            <a:off x="8851900" y="2063948"/>
            <a:ext cx="2527300" cy="1587500"/>
          </a:xfrm>
          <a:prstGeom prst="rect">
            <a:avLst/>
          </a:prstGeom>
        </p:spPr>
      </p:pic>
      <p:sp>
        <p:nvSpPr>
          <p:cNvPr id="17" name="Text 11"/>
          <p:cNvSpPr/>
          <p:nvPr/>
        </p:nvSpPr>
        <p:spPr>
          <a:xfrm>
            <a:off x="8851900" y="2063948"/>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GroupNorm</a:t>
            </a:r>
            <a:endParaRPr lang="en-US" sz="1500" dirty="0"/>
          </a:p>
        </p:txBody>
      </p:sp>
      <p:sp>
        <p:nvSpPr>
          <p:cNvPr id="18" name="Text 12"/>
          <p:cNvSpPr/>
          <p:nvPr/>
        </p:nvSpPr>
        <p:spPr>
          <a:xfrm>
            <a:off x="9296400" y="3384748"/>
            <a:ext cx="812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C →</a:t>
            </a:r>
            <a:endParaRPr lang="en-US" sz="1300" dirty="0"/>
          </a:p>
        </p:txBody>
      </p:sp>
      <p:sp>
        <p:nvSpPr>
          <p:cNvPr id="19" name="Text 13"/>
          <p:cNvSpPr/>
          <p:nvPr/>
        </p:nvSpPr>
        <p:spPr>
          <a:xfrm>
            <a:off x="8851900" y="2737048"/>
            <a:ext cx="43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N ↓</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5500" y="3729930"/>
          <a:ext cx="10553700" cy="2114848"/>
        </p:xfrm>
        <a:graphic>
          <a:graphicData uri="http://schemas.openxmlformats.org/drawingml/2006/table">
            <a:tbl>
              <a:tblPr/>
              <a:tblGrid>
                <a:gridCol w="2321814"/>
                <a:gridCol w="4221480"/>
                <a:gridCol w="4010406"/>
              </a:tblGrid>
              <a:tr h="422970">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Layer</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Statistics over</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Typical use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BatchNorm</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 H, W per channel</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CNNs with a decent batch size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LayerNorm</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C, H, W per example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Transformers, RNNs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InstanceNorm</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H, W per example and channel</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Style transfer, GANs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GroupNorm</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H, W and a channel group</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Small-batch vision, detection</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21" name="Text 14"/>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2"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23 / 32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§11 · NORMALIZATION LAYERS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Place BatchNorm between the linear operation and the activation, and drop the bias before it.</a:t>
            </a:r>
            <a:endParaRPr lang="en-US" sz="2800" dirty="0"/>
          </a:p>
        </p:txBody>
      </p:sp>
      <p:pic>
        <p:nvPicPr>
          <p:cNvPr id="4" name="Image 0" descr="Standard block: convolution without bias, then BatchNorm, then ReLU">    </p:cNvPr>
          <p:cNvPicPr>
            <a:picLocks noChangeAspect="1"/>
          </p:cNvPicPr>
          <p:nvPr/>
        </p:nvPicPr>
        <p:blipFill>
          <a:blip r:embed="rId1"/>
          <a:srcRect l="0" r="0" t="-55" b="-55"/>
          <a:stretch/>
        </p:blipFill>
        <p:spPr>
          <a:xfrm>
            <a:off x="812800" y="2063948"/>
            <a:ext cx="10566400" cy="1079500"/>
          </a:xfrm>
          <a:prstGeom prst="rect">
            <a:avLst/>
          </a:prstGeom>
        </p:spPr>
      </p:pic>
      <p:sp>
        <p:nvSpPr>
          <p:cNvPr id="5" name="Text 2"/>
          <p:cNvSpPr/>
          <p:nvPr/>
        </p:nvSpPr>
        <p:spPr>
          <a:xfrm>
            <a:off x="787781" y="2451298"/>
            <a:ext cx="2590038"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Convolution, no bias</a:t>
            </a:r>
            <a:endParaRPr lang="en-US" sz="1500" dirty="0"/>
          </a:p>
        </p:txBody>
      </p:sp>
      <p:sp>
        <p:nvSpPr>
          <p:cNvPr id="6" name="Text 3"/>
          <p:cNvSpPr/>
          <p:nvPr/>
        </p:nvSpPr>
        <p:spPr>
          <a:xfrm>
            <a:off x="3772281" y="2451298"/>
            <a:ext cx="2590038"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BatchNorm</a:t>
            </a:r>
            <a:endParaRPr lang="en-US" sz="1500" dirty="0"/>
          </a:p>
        </p:txBody>
      </p:sp>
      <p:sp>
        <p:nvSpPr>
          <p:cNvPr id="7" name="Text 4"/>
          <p:cNvSpPr/>
          <p:nvPr/>
        </p:nvSpPr>
        <p:spPr>
          <a:xfrm>
            <a:off x="6756781" y="2451298"/>
            <a:ext cx="2590038"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ReLU</a:t>
            </a:r>
            <a:endParaRPr lang="en-US" sz="1500" dirty="0"/>
          </a:p>
        </p:txBody>
      </p:sp>
      <p:sp>
        <p:nvSpPr>
          <p:cNvPr id="8" name="Text 5"/>
          <p:cNvSpPr/>
          <p:nvPr/>
        </p:nvSpPr>
        <p:spPr>
          <a:xfrm>
            <a:off x="9829800" y="2254448"/>
            <a:ext cx="1600200"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ResNet-v2 variant: BN → ReLU → conv</a:t>
            </a:r>
            <a:endParaRPr lang="en-US" sz="1300" dirty="0"/>
          </a:p>
        </p:txBody>
      </p:sp>
      <p:sp>
        <p:nvSpPr>
          <p:cNvPr id="9" name="Text 6"/>
          <p:cNvSpPr/>
          <p:nvPr/>
        </p:nvSpPr>
        <p:spPr>
          <a:xfrm>
            <a:off x="812800" y="3295848"/>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No bias before BatchNorm: subtracting the mean cancels any constant, and β replaces it.</a:t>
            </a:r>
            <a:endParaRPr lang="en-US" sz="1500" dirty="0"/>
          </a:p>
        </p:txBody>
      </p:sp>
      <p:sp>
        <p:nvSpPr>
          <p:cNvPr id="10" name="Shape 7"/>
          <p:cNvSpPr/>
          <p:nvPr/>
        </p:nvSpPr>
        <p:spPr>
          <a:xfrm>
            <a:off x="815975" y="3714254"/>
            <a:ext cx="3480594" cy="1394619"/>
          </a:xfrm>
          <a:prstGeom prst="roundRect">
            <a:avLst>
              <a:gd name="adj" fmla="val 6147"/>
            </a:avLst>
          </a:prstGeom>
          <a:solidFill>
            <a:srgbClr val="FFFFFE"/>
          </a:solidFill>
          <a:ln w="6350">
            <a:solidFill>
              <a:srgbClr val="D2D9E1"/>
            </a:solidFill>
            <a:prstDash val="solid"/>
          </a:ln>
        </p:spPr>
      </p:sp>
      <p:sp>
        <p:nvSpPr>
          <p:cNvPr id="11" name="Text 8"/>
          <p:cNvSpPr/>
          <p:nvPr/>
        </p:nvSpPr>
        <p:spPr>
          <a:xfrm>
            <a:off x="996950" y="3895229"/>
            <a:ext cx="321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With dropout</a:t>
            </a:r>
            <a:endParaRPr lang="en-US" sz="1600" dirty="0"/>
          </a:p>
        </p:txBody>
      </p:sp>
      <p:sp>
        <p:nvSpPr>
          <p:cNvPr id="12" name="Text 9"/>
          <p:cNvSpPr/>
          <p:nvPr/>
        </p:nvSpPr>
        <p:spPr>
          <a:xfrm>
            <a:off x="996950" y="4202509"/>
            <a:ext cx="3212203"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Variance shift between training and test. Use little or no dropout in conv layers.</a:t>
            </a:r>
            <a:endParaRPr lang="en-US" sz="1400" dirty="0"/>
          </a:p>
        </p:txBody>
      </p:sp>
      <p:sp>
        <p:nvSpPr>
          <p:cNvPr id="13" name="Shape 10"/>
          <p:cNvSpPr/>
          <p:nvPr/>
        </p:nvSpPr>
        <p:spPr>
          <a:xfrm>
            <a:off x="4455319" y="3714254"/>
            <a:ext cx="3083223" cy="1394619"/>
          </a:xfrm>
          <a:prstGeom prst="roundRect">
            <a:avLst>
              <a:gd name="adj" fmla="val 6147"/>
            </a:avLst>
          </a:prstGeom>
          <a:solidFill>
            <a:srgbClr val="FFFFFE"/>
          </a:solidFill>
          <a:ln w="6350">
            <a:solidFill>
              <a:srgbClr val="D2D9E1"/>
            </a:solidFill>
            <a:prstDash val="solid"/>
          </a:ln>
        </p:spPr>
      </p:sp>
      <p:sp>
        <p:nvSpPr>
          <p:cNvPr id="14" name="Text 11"/>
          <p:cNvSpPr/>
          <p:nvPr/>
        </p:nvSpPr>
        <p:spPr>
          <a:xfrm>
            <a:off x="4636294" y="3895229"/>
            <a:ext cx="28029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With weight decay</a:t>
            </a:r>
            <a:endParaRPr lang="en-US" sz="1600" dirty="0"/>
          </a:p>
        </p:txBody>
      </p:sp>
      <p:sp>
        <p:nvSpPr>
          <p:cNvPr id="15" name="Text 12"/>
          <p:cNvSpPr/>
          <p:nvPr/>
        </p:nvSpPr>
        <p:spPr>
          <a:xfrm>
            <a:off x="4636294" y="4202509"/>
            <a:ext cx="2802911"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Do not decay γ and β. Shrinking γ suppresses the layer for no reason.</a:t>
            </a:r>
            <a:endParaRPr lang="en-US" sz="1400" dirty="0"/>
          </a:p>
        </p:txBody>
      </p:sp>
      <p:sp>
        <p:nvSpPr>
          <p:cNvPr id="16" name="Shape 13"/>
          <p:cNvSpPr/>
          <p:nvPr/>
        </p:nvSpPr>
        <p:spPr>
          <a:xfrm>
            <a:off x="7697291" y="3714254"/>
            <a:ext cx="3678734" cy="1394619"/>
          </a:xfrm>
          <a:prstGeom prst="roundRect">
            <a:avLst>
              <a:gd name="adj" fmla="val 6147"/>
            </a:avLst>
          </a:prstGeom>
          <a:solidFill>
            <a:srgbClr val="FFFFFE"/>
          </a:solidFill>
          <a:ln w="6350">
            <a:solidFill>
              <a:srgbClr val="D2D9E1"/>
            </a:solidFill>
            <a:prstDash val="solid"/>
          </a:ln>
        </p:spPr>
      </p:sp>
      <p:sp>
        <p:nvSpPr>
          <p:cNvPr id="17" name="Text 14"/>
          <p:cNvSpPr/>
          <p:nvPr/>
        </p:nvSpPr>
        <p:spPr>
          <a:xfrm>
            <a:off x="7878266" y="3895229"/>
            <a:ext cx="341628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When fine-tuning</a:t>
            </a:r>
            <a:endParaRPr lang="en-US" sz="1600" dirty="0"/>
          </a:p>
        </p:txBody>
      </p:sp>
      <p:sp>
        <p:nvSpPr>
          <p:cNvPr id="18" name="Text 15"/>
          <p:cNvSpPr/>
          <p:nvPr/>
        </p:nvSpPr>
        <p:spPr>
          <a:xfrm>
            <a:off x="7878266" y="4202509"/>
            <a:ext cx="3416287"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On small data, freeze BatchNorm in evaluation mode and keep the source statistics.</a:t>
            </a:r>
            <a:endParaRPr lang="en-US" sz="1400" dirty="0"/>
          </a:p>
        </p:txBody>
      </p:sp>
      <p:sp>
        <p:nvSpPr>
          <p:cNvPr id="19" name="Text 16"/>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24 / 32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Test error falls again past the interpolation threshold, so regularize rather than shrink.</a:t>
            </a:r>
            <a:endParaRPr lang="en-US" sz="2800" dirty="0"/>
          </a:p>
        </p:txBody>
      </p:sp>
      <p:pic>
        <p:nvPicPr>
          <p:cNvPr id="4" name="Image 0" descr="Schematic double descent: training error falls to zero at the interpolation threshold; test error follows the classical U, peaks at the threshold, then descends again">    </p:cNvPr>
          <p:cNvPicPr>
            <a:picLocks noChangeAspect="1"/>
          </p:cNvPicPr>
          <p:nvPr/>
        </p:nvPicPr>
        <p:blipFill>
          <a:blip r:embed="rId1"/>
          <a:srcRect l="0" r="0" t="0" b="0"/>
          <a:stretch/>
        </p:blipFill>
        <p:spPr>
          <a:xfrm>
            <a:off x="812800" y="2063948"/>
            <a:ext cx="5461000" cy="3429000"/>
          </a:xfrm>
          <a:prstGeom prst="rect">
            <a:avLst/>
          </a:prstGeom>
        </p:spPr>
      </p:pic>
      <p:sp>
        <p:nvSpPr>
          <p:cNvPr id="5" name="Text 2"/>
          <p:cNvSpPr/>
          <p:nvPr/>
        </p:nvSpPr>
        <p:spPr>
          <a:xfrm>
            <a:off x="2184400" y="2076648"/>
            <a:ext cx="20929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interpolation threshold</a:t>
            </a:r>
            <a:endParaRPr lang="en-US" sz="1300" dirty="0"/>
          </a:p>
        </p:txBody>
      </p:sp>
      <p:sp>
        <p:nvSpPr>
          <p:cNvPr id="6" name="Text 3"/>
          <p:cNvSpPr/>
          <p:nvPr/>
        </p:nvSpPr>
        <p:spPr>
          <a:xfrm>
            <a:off x="1282700" y="2571948"/>
            <a:ext cx="170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classical regime</a:t>
            </a:r>
            <a:endParaRPr lang="en-US" sz="1300" dirty="0"/>
          </a:p>
        </p:txBody>
      </p:sp>
      <p:sp>
        <p:nvSpPr>
          <p:cNvPr id="7" name="Text 4"/>
          <p:cNvSpPr/>
          <p:nvPr/>
        </p:nvSpPr>
        <p:spPr>
          <a:xfrm>
            <a:off x="3790950" y="2571948"/>
            <a:ext cx="196215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over-parameterized</a:t>
            </a:r>
            <a:endParaRPr lang="en-US" sz="1300" dirty="0"/>
          </a:p>
        </p:txBody>
      </p:sp>
      <p:sp>
        <p:nvSpPr>
          <p:cNvPr id="8" name="Text 5"/>
          <p:cNvSpPr/>
          <p:nvPr/>
        </p:nvSpPr>
        <p:spPr>
          <a:xfrm>
            <a:off x="4394200" y="3937198"/>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test error</a:t>
            </a:r>
            <a:endParaRPr lang="en-US" sz="1400" dirty="0"/>
          </a:p>
        </p:txBody>
      </p:sp>
      <p:sp>
        <p:nvSpPr>
          <p:cNvPr id="9" name="Text 6"/>
          <p:cNvSpPr/>
          <p:nvPr/>
        </p:nvSpPr>
        <p:spPr>
          <a:xfrm>
            <a:off x="1682750" y="3448248"/>
            <a:ext cx="1447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6B7785"/>
                </a:solidFill>
                <a:latin typeface="IBM Plex Sans" pitchFamily="34" charset="0"/>
                <a:ea typeface="IBM Plex Sans" pitchFamily="34" charset="-122"/>
                <a:cs typeface="IBM Plex Sans" pitchFamily="34" charset="-120"/>
              </a:rPr>
              <a:t>training error</a:t>
            </a:r>
            <a:endParaRPr lang="en-US" sz="1300" dirty="0"/>
          </a:p>
        </p:txBody>
      </p:sp>
      <p:sp>
        <p:nvSpPr>
          <p:cNvPr id="10" name="Text 7"/>
          <p:cNvSpPr/>
          <p:nvPr/>
        </p:nvSpPr>
        <p:spPr>
          <a:xfrm>
            <a:off x="2330450" y="4832548"/>
            <a:ext cx="26162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model capacity →</a:t>
            </a:r>
            <a:endParaRPr lang="en-US" sz="1300" dirty="0"/>
          </a:p>
        </p:txBody>
      </p:sp>
      <p:sp>
        <p:nvSpPr>
          <p:cNvPr id="11" name="Text 8"/>
          <p:cNvSpPr/>
          <p:nvPr/>
        </p:nvSpPr>
        <p:spPr>
          <a:xfrm>
            <a:off x="1130300" y="5238948"/>
            <a:ext cx="457835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schematic, after Belkin et al. (2019)</a:t>
            </a:r>
            <a:endParaRPr lang="en-US" sz="1300" dirty="0"/>
          </a:p>
        </p:txBody>
      </p:sp>
      <p:sp>
        <p:nvSpPr>
          <p:cNvPr id="12" name="Shape 9"/>
          <p:cNvSpPr/>
          <p:nvPr/>
        </p:nvSpPr>
        <p:spPr>
          <a:xfrm>
            <a:off x="6683375" y="2067123"/>
            <a:ext cx="4692650" cy="876201"/>
          </a:xfrm>
          <a:prstGeom prst="roundRect">
            <a:avLst>
              <a:gd name="adj" fmla="val 9784"/>
            </a:avLst>
          </a:prstGeom>
          <a:solidFill>
            <a:srgbClr val="F2F5F8"/>
          </a:solidFill>
          <a:ln w="6350">
            <a:solidFill>
              <a:srgbClr val="D2D9E1"/>
            </a:solidFill>
            <a:prstDash val="solid"/>
          </a:ln>
        </p:spPr>
      </p:sp>
      <p:sp>
        <p:nvSpPr>
          <p:cNvPr id="13" name="Text 10"/>
          <p:cNvSpPr/>
          <p:nvPr/>
        </p:nvSpPr>
        <p:spPr>
          <a:xfrm>
            <a:off x="6877050" y="2222698"/>
            <a:ext cx="4434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CLASSICAL DECOMPOSITION</a:t>
            </a:r>
            <a:endParaRPr lang="en-US" sz="1200" dirty="0"/>
          </a:p>
        </p:txBody>
      </p:sp>
      <p:sp>
        <p:nvSpPr>
          <p:cNvPr id="14" name="Text 11"/>
          <p:cNvSpPr/>
          <p:nvPr/>
        </p:nvSpPr>
        <p:spPr>
          <a:xfrm>
            <a:off x="6877050" y="2512219"/>
            <a:ext cx="4434459" cy="300930"/>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test error = bias² + variance + noise</a:t>
            </a:r>
            <a:endParaRPr lang="en-US" sz="1400" dirty="0"/>
          </a:p>
        </p:txBody>
      </p:sp>
      <p:sp>
        <p:nvSpPr>
          <p:cNvPr id="15" name="Shape 12"/>
          <p:cNvSpPr/>
          <p:nvPr/>
        </p:nvSpPr>
        <p:spPr>
          <a:xfrm>
            <a:off x="6680200" y="3219549"/>
            <a:ext cx="63500" cy="63500"/>
          </a:xfrm>
          <a:prstGeom prst="roundRect">
            <a:avLst>
              <a:gd name="adj" fmla="val 20000"/>
            </a:avLst>
          </a:prstGeom>
          <a:solidFill>
            <a:srgbClr val="1F5FBF"/>
          </a:solidFill>
          <a:ln/>
        </p:spPr>
      </p:sp>
      <p:sp>
        <p:nvSpPr>
          <p:cNvPr id="16" name="Text 13"/>
          <p:cNvSpPr/>
          <p:nvPr/>
        </p:nvSpPr>
        <p:spPr>
          <a:xfrm>
            <a:off x="6883400" y="3124299"/>
            <a:ext cx="463067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Classical story.</a:t>
            </a:r>
            <a:r>
              <a:rPr lang="en-US" sz="1500" dirty="0">
                <a:solidFill>
                  <a:srgbClr val="3D4A59"/>
                </a:solidFill>
                <a:latin typeface="IBM Plex Sans" pitchFamily="34" charset="0"/>
                <a:ea typeface="IBM Plex Sans" pitchFamily="34" charset="-122"/>
                <a:cs typeface="IBM Plex Sans" pitchFamily="34" charset="-120"/>
              </a:rPr>
              <a:t> A U-curve with a sweet spot in model size.</a:t>
            </a:r>
            <a:endParaRPr lang="en-US" sz="1500" dirty="0"/>
          </a:p>
        </p:txBody>
      </p:sp>
      <p:sp>
        <p:nvSpPr>
          <p:cNvPr id="17" name="Shape 14"/>
          <p:cNvSpPr/>
          <p:nvPr/>
        </p:nvSpPr>
        <p:spPr>
          <a:xfrm>
            <a:off x="6680200" y="3884910"/>
            <a:ext cx="63500" cy="63500"/>
          </a:xfrm>
          <a:prstGeom prst="roundRect">
            <a:avLst>
              <a:gd name="adj" fmla="val 20000"/>
            </a:avLst>
          </a:prstGeom>
          <a:solidFill>
            <a:srgbClr val="1F5FBF"/>
          </a:solidFill>
          <a:ln/>
        </p:spPr>
      </p:sp>
      <p:sp>
        <p:nvSpPr>
          <p:cNvPr id="18" name="Text 15"/>
          <p:cNvSpPr/>
          <p:nvPr/>
        </p:nvSpPr>
        <p:spPr>
          <a:xfrm>
            <a:off x="6883400" y="3789660"/>
            <a:ext cx="463067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Modern networks.</a:t>
            </a:r>
            <a:r>
              <a:rPr lang="en-US" sz="1500" dirty="0">
                <a:solidFill>
                  <a:srgbClr val="3D4A59"/>
                </a:solidFill>
                <a:latin typeface="IBM Plex Sans" pitchFamily="34" charset="0"/>
                <a:ea typeface="IBM Plex Sans" pitchFamily="34" charset="-122"/>
                <a:cs typeface="IBM Plex Sans" pitchFamily="34" charset="-120"/>
              </a:rPr>
              <a:t> Past the threshold, test error descends again.</a:t>
            </a:r>
            <a:endParaRPr lang="en-US" sz="1500" dirty="0"/>
          </a:p>
        </p:txBody>
      </p:sp>
      <p:sp>
        <p:nvSpPr>
          <p:cNvPr id="19" name="Shape 16"/>
          <p:cNvSpPr/>
          <p:nvPr/>
        </p:nvSpPr>
        <p:spPr>
          <a:xfrm>
            <a:off x="6680200" y="4550271"/>
            <a:ext cx="63500" cy="63500"/>
          </a:xfrm>
          <a:prstGeom prst="roundRect">
            <a:avLst>
              <a:gd name="adj" fmla="val 20000"/>
            </a:avLst>
          </a:prstGeom>
          <a:solidFill>
            <a:srgbClr val="1F5FBF"/>
          </a:solidFill>
          <a:ln/>
        </p:spPr>
      </p:sp>
      <p:sp>
        <p:nvSpPr>
          <p:cNvPr id="20" name="Text 17"/>
          <p:cNvSpPr/>
          <p:nvPr/>
        </p:nvSpPr>
        <p:spPr>
          <a:xfrm>
            <a:off x="6883400" y="4455021"/>
            <a:ext cx="463067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Takeaway.</a:t>
            </a:r>
            <a:r>
              <a:rPr lang="en-US" sz="1500" dirty="0">
                <a:solidFill>
                  <a:srgbClr val="3D4A59"/>
                </a:solidFill>
                <a:latin typeface="IBM Plex Sans" pitchFamily="34" charset="0"/>
                <a:ea typeface="IBM Plex Sans" pitchFamily="34" charset="-122"/>
                <a:cs typeface="IBM Plex Sans" pitchFamily="34" charset="-120"/>
              </a:rPr>
              <a:t> Regularize large models rather than shrinking them.</a:t>
            </a:r>
            <a:endParaRPr lang="en-US" sz="1500" dirty="0"/>
          </a:p>
        </p:txBody>
      </p:sp>
      <p:sp>
        <p:nvSpPr>
          <p:cNvPr id="21" name="Text 18"/>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2"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25 / 32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L2 shrinks weights in proportion to size, while L1’s constant push zeroes small weights.</a:t>
            </a:r>
            <a:endParaRPr lang="en-US" sz="2800" dirty="0"/>
          </a:p>
        </p:txBody>
      </p:sp>
      <p:pic>
        <p:nvPicPr>
          <p:cNvPr id="4" name="Image 0" descr="Penalty gradient against weight value: L2 gives lambda w, a line through the origin; L1 gives lambda sign w, a constant step">    </p:cNvPr>
          <p:cNvPicPr>
            <a:picLocks noChangeAspect="1"/>
          </p:cNvPicPr>
          <p:nvPr/>
        </p:nvPicPr>
        <p:blipFill>
          <a:blip r:embed="rId1"/>
          <a:srcRect l="0" r="0" t="0" b="0"/>
          <a:stretch/>
        </p:blipFill>
        <p:spPr>
          <a:xfrm>
            <a:off x="812800" y="2063948"/>
            <a:ext cx="4826000" cy="2540000"/>
          </a:xfrm>
          <a:prstGeom prst="rect">
            <a:avLst/>
          </a:prstGeom>
        </p:spPr>
      </p:pic>
      <p:sp>
        <p:nvSpPr>
          <p:cNvPr id="5" name="Text 2"/>
          <p:cNvSpPr/>
          <p:nvPr/>
        </p:nvSpPr>
        <p:spPr>
          <a:xfrm>
            <a:off x="4419600" y="2800548"/>
            <a:ext cx="1066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L2: λw</a:t>
            </a:r>
            <a:endParaRPr lang="en-US" sz="1400" dirty="0"/>
          </a:p>
        </p:txBody>
      </p:sp>
      <p:sp>
        <p:nvSpPr>
          <p:cNvPr id="6" name="Text 3"/>
          <p:cNvSpPr/>
          <p:nvPr/>
        </p:nvSpPr>
        <p:spPr>
          <a:xfrm>
            <a:off x="3543300" y="217189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L1: λ·sign(w)</a:t>
            </a:r>
            <a:endParaRPr lang="en-US" sz="1400" dirty="0"/>
          </a:p>
        </p:txBody>
      </p:sp>
      <p:sp>
        <p:nvSpPr>
          <p:cNvPr id="7" name="Text 4"/>
          <p:cNvSpPr/>
          <p:nvPr/>
        </p:nvSpPr>
        <p:spPr>
          <a:xfrm>
            <a:off x="2660650" y="4146748"/>
            <a:ext cx="1320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weight w</a:t>
            </a:r>
            <a:endParaRPr lang="en-US" sz="1300" dirty="0"/>
          </a:p>
        </p:txBody>
      </p:sp>
      <p:sp>
        <p:nvSpPr>
          <p:cNvPr id="8" name="Text 5"/>
          <p:cNvSpPr/>
          <p:nvPr/>
        </p:nvSpPr>
        <p:spPr>
          <a:xfrm>
            <a:off x="1130300" y="4426148"/>
            <a:ext cx="457835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penalty gradient: the push toward zero</a:t>
            </a:r>
            <a:endParaRPr lang="en-US" sz="1300" dirty="0"/>
          </a:p>
        </p:txBody>
      </p:sp>
      <p:sp>
        <p:nvSpPr>
          <p:cNvPr id="9" name="Shape 6"/>
          <p:cNvSpPr/>
          <p:nvPr/>
        </p:nvSpPr>
        <p:spPr>
          <a:xfrm>
            <a:off x="815975" y="4734123"/>
            <a:ext cx="4819650" cy="895945"/>
          </a:xfrm>
          <a:prstGeom prst="roundRect">
            <a:avLst>
              <a:gd name="adj" fmla="val 9568"/>
            </a:avLst>
          </a:prstGeom>
          <a:solidFill>
            <a:srgbClr val="F2F5F8"/>
          </a:solidFill>
          <a:ln w="6350">
            <a:solidFill>
              <a:srgbClr val="D2D9E1"/>
            </a:solidFill>
            <a:prstDash val="solid"/>
          </a:ln>
        </p:spPr>
      </p:sp>
      <p:sp>
        <p:nvSpPr>
          <p:cNvPr id="10" name="Text 7"/>
          <p:cNvSpPr/>
          <p:nvPr/>
        </p:nvSpPr>
        <p:spPr>
          <a:xfrm>
            <a:off x="1009650" y="4889698"/>
            <a:ext cx="456526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L2 STEP = WEIGHT DECAY</a:t>
            </a:r>
            <a:endParaRPr lang="en-US" sz="1200" dirty="0"/>
          </a:p>
        </p:txBody>
      </p:sp>
      <p:sp>
        <p:nvSpPr>
          <p:cNvPr id="11" name="Text 8"/>
          <p:cNvSpPr/>
          <p:nvPr/>
        </p:nvSpPr>
        <p:spPr>
          <a:xfrm>
            <a:off x="1009650" y="5179219"/>
            <a:ext cx="4565269" cy="3206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W ← (1 − ηλ) W − η ∂J/∂W</a:t>
            </a:r>
            <a:endParaRPr lang="en-US" sz="1500" dirty="0"/>
          </a:p>
        </p:txBody>
      </p:sp>
      <p:sp>
        <p:nvSpPr>
          <p:cNvPr id="12" name="Shape 9"/>
          <p:cNvSpPr/>
          <p:nvPr/>
        </p:nvSpPr>
        <p:spPr>
          <a:xfrm>
            <a:off x="6048375" y="2067123"/>
            <a:ext cx="5327650" cy="1152823"/>
          </a:xfrm>
          <a:prstGeom prst="roundRect">
            <a:avLst>
              <a:gd name="adj" fmla="val 7436"/>
            </a:avLst>
          </a:prstGeom>
          <a:solidFill>
            <a:srgbClr val="FFFFFE"/>
          </a:solidFill>
          <a:ln w="6350">
            <a:solidFill>
              <a:srgbClr val="D2D9E1"/>
            </a:solidFill>
            <a:prstDash val="solid"/>
          </a:ln>
        </p:spPr>
      </p:sp>
      <p:sp>
        <p:nvSpPr>
          <p:cNvPr id="13" name="Text 10"/>
          <p:cNvSpPr/>
          <p:nvPr/>
        </p:nvSpPr>
        <p:spPr>
          <a:xfrm>
            <a:off x="6229350" y="2248098"/>
            <a:ext cx="511467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L2 · J + (λ/2) Σ‖W‖²</a:t>
            </a:r>
            <a:endParaRPr lang="en-US" sz="1600" dirty="0"/>
          </a:p>
        </p:txBody>
      </p:sp>
      <p:sp>
        <p:nvSpPr>
          <p:cNvPr id="14" name="Text 11"/>
          <p:cNvSpPr/>
          <p:nvPr/>
        </p:nvSpPr>
        <p:spPr>
          <a:xfrm>
            <a:off x="6229350" y="2555379"/>
            <a:ext cx="511467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Smaller weights give a smoother function. It is MAP with a Gaussian prior. Apply to weights only.</a:t>
            </a:r>
            <a:endParaRPr lang="en-US" sz="1400" dirty="0"/>
          </a:p>
        </p:txBody>
      </p:sp>
      <p:sp>
        <p:nvSpPr>
          <p:cNvPr id="15" name="Shape 12"/>
          <p:cNvSpPr/>
          <p:nvPr/>
        </p:nvSpPr>
        <p:spPr>
          <a:xfrm>
            <a:off x="6048375" y="3353296"/>
            <a:ext cx="5327650" cy="1152823"/>
          </a:xfrm>
          <a:prstGeom prst="roundRect">
            <a:avLst>
              <a:gd name="adj" fmla="val 7436"/>
            </a:avLst>
          </a:prstGeom>
          <a:solidFill>
            <a:srgbClr val="FFFFFE"/>
          </a:solidFill>
          <a:ln w="6350">
            <a:solidFill>
              <a:srgbClr val="D2D9E1"/>
            </a:solidFill>
            <a:prstDash val="solid"/>
          </a:ln>
        </p:spPr>
      </p:sp>
      <p:sp>
        <p:nvSpPr>
          <p:cNvPr id="16" name="Text 13"/>
          <p:cNvSpPr/>
          <p:nvPr/>
        </p:nvSpPr>
        <p:spPr>
          <a:xfrm>
            <a:off x="6229350" y="3534271"/>
            <a:ext cx="511467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L1 · J + λ Σ|W|</a:t>
            </a:r>
            <a:endParaRPr lang="en-US" sz="1600" dirty="0"/>
          </a:p>
        </p:txBody>
      </p:sp>
      <p:sp>
        <p:nvSpPr>
          <p:cNvPr id="17" name="Text 14"/>
          <p:cNvSpPr/>
          <p:nvPr/>
        </p:nvSpPr>
        <p:spPr>
          <a:xfrm>
            <a:off x="6229350" y="3841552"/>
            <a:ext cx="511467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The constant push drives small weights exactly to zero, giving sparse models. Rare in deep learning.</a:t>
            </a:r>
            <a:endParaRPr lang="en-US" sz="1400" dirty="0"/>
          </a:p>
        </p:txBody>
      </p:sp>
      <p:sp>
        <p:nvSpPr>
          <p:cNvPr id="18" name="Text 15"/>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26 / 32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Dropout trains an implicit ensemble of 2ⁿ subnetworks, and inverted scaling spares inference.</a:t>
            </a:r>
            <a:endParaRPr lang="en-US" sz="2800" dirty="0"/>
          </a:p>
        </p:txBody>
      </p:sp>
      <p:pic>
        <p:nvPicPr>
          <p:cNvPr id="4" name="Image 0" descr="Dropout during training: three of six hidden units are dropped; the remaining units are scaled by 1 over 1 minus p">    </p:cNvPr>
          <p:cNvPicPr>
            <a:picLocks noChangeAspect="1"/>
          </p:cNvPicPr>
          <p:nvPr/>
        </p:nvPicPr>
        <p:blipFill>
          <a:blip r:embed="rId1"/>
          <a:srcRect l="0" r="0" t="0" b="0"/>
          <a:stretch/>
        </p:blipFill>
        <p:spPr>
          <a:xfrm>
            <a:off x="812800" y="2063948"/>
            <a:ext cx="4826000" cy="3175000"/>
          </a:xfrm>
          <a:prstGeom prst="rect">
            <a:avLst/>
          </a:prstGeom>
        </p:spPr>
      </p:pic>
      <p:sp>
        <p:nvSpPr>
          <p:cNvPr id="5" name="Text 2"/>
          <p:cNvSpPr/>
          <p:nvPr/>
        </p:nvSpPr>
        <p:spPr>
          <a:xfrm>
            <a:off x="3543300" y="2089348"/>
            <a:ext cx="2158365"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p = 0.5 · new mask each pass</a:t>
            </a:r>
            <a:endParaRPr lang="en-US" sz="1300" dirty="0"/>
          </a:p>
        </p:txBody>
      </p:sp>
      <p:sp>
        <p:nvSpPr>
          <p:cNvPr id="6" name="Text 3"/>
          <p:cNvSpPr/>
          <p:nvPr/>
        </p:nvSpPr>
        <p:spPr>
          <a:xfrm>
            <a:off x="812800" y="5023048"/>
            <a:ext cx="497078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kept units scaled by 1/(1 − p); dropped units output 0</a:t>
            </a:r>
            <a:endParaRPr lang="en-US" sz="1300" dirty="0"/>
          </a:p>
        </p:txBody>
      </p:sp>
      <p:sp>
        <p:nvSpPr>
          <p:cNvPr id="7" name="Shape 4"/>
          <p:cNvSpPr/>
          <p:nvPr/>
        </p:nvSpPr>
        <p:spPr>
          <a:xfrm>
            <a:off x="5921375" y="2067123"/>
            <a:ext cx="5454650" cy="1486495"/>
          </a:xfrm>
          <a:prstGeom prst="roundRect">
            <a:avLst>
              <a:gd name="adj" fmla="val 5767"/>
            </a:avLst>
          </a:prstGeom>
          <a:solidFill>
            <a:srgbClr val="F2F5F8"/>
          </a:solidFill>
          <a:ln w="6350">
            <a:solidFill>
              <a:srgbClr val="D2D9E1"/>
            </a:solidFill>
            <a:prstDash val="solid"/>
          </a:ln>
        </p:spPr>
      </p:sp>
      <p:sp>
        <p:nvSpPr>
          <p:cNvPr id="8" name="Text 5"/>
          <p:cNvSpPr/>
          <p:nvPr/>
        </p:nvSpPr>
        <p:spPr>
          <a:xfrm>
            <a:off x="6115050" y="2222698"/>
            <a:ext cx="52193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INVERTED DROPOUT</a:t>
            </a:r>
            <a:endParaRPr lang="en-US" sz="1200" dirty="0"/>
          </a:p>
        </p:txBody>
      </p:sp>
      <p:sp>
        <p:nvSpPr>
          <p:cNvPr id="9" name="Text 6"/>
          <p:cNvSpPr/>
          <p:nvPr/>
        </p:nvSpPr>
        <p:spPr>
          <a:xfrm>
            <a:off x="6115050" y="2512219"/>
            <a:ext cx="5219319" cy="91122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train: mask ~ Bernoulli(1 − p)</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a ← (a ⊙ mask) / (1 − p)</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infer: a ← a</a:t>
            </a:r>
            <a:endParaRPr lang="en-US" sz="1500" dirty="0"/>
          </a:p>
        </p:txBody>
      </p:sp>
      <p:sp>
        <p:nvSpPr>
          <p:cNvPr id="10" name="Shape 7"/>
          <p:cNvSpPr/>
          <p:nvPr/>
        </p:nvSpPr>
        <p:spPr>
          <a:xfrm>
            <a:off x="5918200" y="3829844"/>
            <a:ext cx="63500" cy="63500"/>
          </a:xfrm>
          <a:prstGeom prst="roundRect">
            <a:avLst>
              <a:gd name="adj" fmla="val 20000"/>
            </a:avLst>
          </a:prstGeom>
          <a:solidFill>
            <a:srgbClr val="1F5FBF"/>
          </a:solidFill>
          <a:ln/>
        </p:spPr>
      </p:sp>
      <p:sp>
        <p:nvSpPr>
          <p:cNvPr id="11" name="Text 8"/>
          <p:cNvSpPr/>
          <p:nvPr/>
        </p:nvSpPr>
        <p:spPr>
          <a:xfrm>
            <a:off x="6121400" y="3734594"/>
            <a:ext cx="541553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it works.</a:t>
            </a:r>
            <a:r>
              <a:rPr lang="en-US" sz="1500" dirty="0">
                <a:solidFill>
                  <a:srgbClr val="3D4A59"/>
                </a:solidFill>
                <a:latin typeface="IBM Plex Sans" pitchFamily="34" charset="0"/>
                <a:ea typeface="IBM Plex Sans" pitchFamily="34" charset="-122"/>
                <a:cs typeface="IBM Plex Sans" pitchFamily="34" charset="-120"/>
              </a:rPr>
              <a:t> No co-adaptation, and an implicit ensemble of 2ⁿ subnetworks with shared weights.</a:t>
            </a:r>
            <a:endParaRPr lang="en-US" sz="1500" dirty="0"/>
          </a:p>
        </p:txBody>
      </p:sp>
      <p:sp>
        <p:nvSpPr>
          <p:cNvPr id="12" name="Shape 9"/>
          <p:cNvSpPr/>
          <p:nvPr/>
        </p:nvSpPr>
        <p:spPr>
          <a:xfrm>
            <a:off x="5918200" y="4495205"/>
            <a:ext cx="63500" cy="63500"/>
          </a:xfrm>
          <a:prstGeom prst="roundRect">
            <a:avLst>
              <a:gd name="adj" fmla="val 20000"/>
            </a:avLst>
          </a:prstGeom>
          <a:solidFill>
            <a:srgbClr val="1F5FBF"/>
          </a:solidFill>
          <a:ln/>
        </p:spPr>
      </p:sp>
      <p:sp>
        <p:nvSpPr>
          <p:cNvPr id="13" name="Text 10"/>
          <p:cNvSpPr/>
          <p:nvPr/>
        </p:nvSpPr>
        <p:spPr>
          <a:xfrm>
            <a:off x="6121400" y="4399955"/>
            <a:ext cx="541553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Rates.</a:t>
            </a:r>
            <a:r>
              <a:rPr lang="en-US" sz="1500" dirty="0">
                <a:solidFill>
                  <a:srgbClr val="3D4A59"/>
                </a:solidFill>
                <a:latin typeface="IBM Plex Sans" pitchFamily="34" charset="0"/>
                <a:ea typeface="IBM Plex Sans" pitchFamily="34" charset="-122"/>
                <a:cs typeface="IBM Plex Sans" pitchFamily="34" charset="-120"/>
              </a:rPr>
              <a:t> p = 0.5 for dense layers, 0.1–0.3 for conv layers if at all, 0.1 in Transformers.</a:t>
            </a:r>
            <a:endParaRPr lang="en-US" sz="1500" dirty="0"/>
          </a:p>
        </p:txBody>
      </p:sp>
      <p:sp>
        <p:nvSpPr>
          <p:cNvPr id="14" name="Text 11"/>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5" name="Text 1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27 / 32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Early stopping bounds how far the weights travel, which makes it nearly free regularization.</a:t>
            </a:r>
            <a:endParaRPr lang="en-US" sz="2800" dirty="0"/>
          </a:p>
        </p:txBody>
      </p:sp>
      <p:pic>
        <p:nvPicPr>
          <p:cNvPr id="4" name="Image 0" descr="Schematic validation loss over epochs: minimum at epoch 12 where the best checkpoint is saved; after 10 epochs without improvement training stops at epoch 22">    </p:cNvPr>
          <p:cNvPicPr>
            <a:picLocks noChangeAspect="1"/>
          </p:cNvPicPr>
          <p:nvPr/>
        </p:nvPicPr>
        <p:blipFill>
          <a:blip r:embed="rId1"/>
          <a:srcRect l="0" r="0" t="0" b="0"/>
          <a:stretch/>
        </p:blipFill>
        <p:spPr>
          <a:xfrm>
            <a:off x="812800" y="2063948"/>
            <a:ext cx="5207000" cy="3175000"/>
          </a:xfrm>
          <a:prstGeom prst="rect">
            <a:avLst/>
          </a:prstGeom>
        </p:spPr>
      </p:pic>
      <p:sp>
        <p:nvSpPr>
          <p:cNvPr id="5" name="Text 2"/>
          <p:cNvSpPr/>
          <p:nvPr/>
        </p:nvSpPr>
        <p:spPr>
          <a:xfrm>
            <a:off x="761365" y="2114748"/>
            <a:ext cx="1765935" cy="438150"/>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best checkpoint saved</a:t>
            </a:r>
            <a:endParaRPr lang="en-US" sz="1300" dirty="0"/>
          </a:p>
        </p:txBody>
      </p:sp>
      <p:sp>
        <p:nvSpPr>
          <p:cNvPr id="6" name="Text 3"/>
          <p:cNvSpPr/>
          <p:nvPr/>
        </p:nvSpPr>
        <p:spPr>
          <a:xfrm>
            <a:off x="3403600" y="2444948"/>
            <a:ext cx="1447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patience = 10</a:t>
            </a:r>
            <a:endParaRPr lang="en-US" sz="1300" dirty="0"/>
          </a:p>
        </p:txBody>
      </p:sp>
      <p:sp>
        <p:nvSpPr>
          <p:cNvPr id="7" name="Text 4"/>
          <p:cNvSpPr/>
          <p:nvPr/>
        </p:nvSpPr>
        <p:spPr>
          <a:xfrm>
            <a:off x="5226050" y="2114748"/>
            <a:ext cx="685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stop</a:t>
            </a:r>
            <a:endParaRPr lang="en-US" sz="1300" dirty="0"/>
          </a:p>
        </p:txBody>
      </p:sp>
      <p:sp>
        <p:nvSpPr>
          <p:cNvPr id="8" name="Text 5"/>
          <p:cNvSpPr/>
          <p:nvPr/>
        </p:nvSpPr>
        <p:spPr>
          <a:xfrm>
            <a:off x="3695700" y="3352998"/>
            <a:ext cx="1193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validation</a:t>
            </a:r>
            <a:endParaRPr lang="en-US" sz="1300" dirty="0"/>
          </a:p>
        </p:txBody>
      </p:sp>
      <p:sp>
        <p:nvSpPr>
          <p:cNvPr id="9" name="Text 6"/>
          <p:cNvSpPr/>
          <p:nvPr/>
        </p:nvSpPr>
        <p:spPr>
          <a:xfrm>
            <a:off x="3695700" y="4349948"/>
            <a:ext cx="1066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F5FBF"/>
                </a:solidFill>
                <a:latin typeface="IBM Plex Sans" pitchFamily="34" charset="0"/>
                <a:ea typeface="IBM Plex Sans" pitchFamily="34" charset="-122"/>
                <a:cs typeface="IBM Plex Sans" pitchFamily="34" charset="-120"/>
              </a:rPr>
              <a:t>training</a:t>
            </a:r>
            <a:endParaRPr lang="en-US" sz="1300" dirty="0"/>
          </a:p>
        </p:txBody>
      </p:sp>
      <p:sp>
        <p:nvSpPr>
          <p:cNvPr id="10" name="Text 7"/>
          <p:cNvSpPr/>
          <p:nvPr/>
        </p:nvSpPr>
        <p:spPr>
          <a:xfrm>
            <a:off x="2530475" y="46293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epochs (schematic)</a:t>
            </a:r>
            <a:endParaRPr lang="en-US" sz="1300" dirty="0"/>
          </a:p>
        </p:txBody>
      </p:sp>
      <p:sp>
        <p:nvSpPr>
          <p:cNvPr id="11" name="Shape 8"/>
          <p:cNvSpPr/>
          <p:nvPr/>
        </p:nvSpPr>
        <p:spPr>
          <a:xfrm>
            <a:off x="6426200" y="2159198"/>
            <a:ext cx="63500" cy="63500"/>
          </a:xfrm>
          <a:prstGeom prst="roundRect">
            <a:avLst>
              <a:gd name="adj" fmla="val 20000"/>
            </a:avLst>
          </a:prstGeom>
          <a:solidFill>
            <a:srgbClr val="1F5FBF"/>
          </a:solidFill>
          <a:ln/>
        </p:spPr>
      </p:sp>
      <p:sp>
        <p:nvSpPr>
          <p:cNvPr id="12" name="Text 9"/>
          <p:cNvSpPr/>
          <p:nvPr/>
        </p:nvSpPr>
        <p:spPr>
          <a:xfrm>
            <a:off x="6629400" y="2063948"/>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Restore the best.</a:t>
            </a:r>
            <a:r>
              <a:rPr lang="en-US" sz="1500" dirty="0">
                <a:solidFill>
                  <a:srgbClr val="3D4A59"/>
                </a:solidFill>
                <a:latin typeface="IBM Plex Sans" pitchFamily="34" charset="0"/>
                <a:ea typeface="IBM Plex Sans" pitchFamily="34" charset="-122"/>
                <a:cs typeface="IBM Plex Sans" pitchFamily="34" charset="-120"/>
              </a:rPr>
              <a:t> Save on improvement, stop after patience epochs, keep the best, not the last.</a:t>
            </a:r>
            <a:endParaRPr lang="en-US" sz="1500" dirty="0"/>
          </a:p>
        </p:txBody>
      </p:sp>
      <p:sp>
        <p:nvSpPr>
          <p:cNvPr id="13" name="Shape 10"/>
          <p:cNvSpPr/>
          <p:nvPr/>
        </p:nvSpPr>
        <p:spPr>
          <a:xfrm>
            <a:off x="6426200" y="2849959"/>
            <a:ext cx="63500" cy="63500"/>
          </a:xfrm>
          <a:prstGeom prst="roundRect">
            <a:avLst>
              <a:gd name="adj" fmla="val 20000"/>
            </a:avLst>
          </a:prstGeom>
          <a:solidFill>
            <a:srgbClr val="1F5FBF"/>
          </a:solidFill>
          <a:ln/>
        </p:spPr>
      </p:sp>
      <p:sp>
        <p:nvSpPr>
          <p:cNvPr id="14" name="Text 11"/>
          <p:cNvSpPr/>
          <p:nvPr/>
        </p:nvSpPr>
        <p:spPr>
          <a:xfrm>
            <a:off x="6629400" y="2754709"/>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it regularizes.</a:t>
            </a:r>
            <a:r>
              <a:rPr lang="en-US" sz="1500" dirty="0">
                <a:solidFill>
                  <a:srgbClr val="3D4A59"/>
                </a:solidFill>
                <a:latin typeface="IBM Plex Sans" pitchFamily="34" charset="0"/>
                <a:ea typeface="IBM Plex Sans" pitchFamily="34" charset="-122"/>
                <a:cs typeface="IBM Plex Sans" pitchFamily="34" charset="-120"/>
              </a:rPr>
              <a:t> Bounded steps from a small start bound ‖W‖, much like L2.</a:t>
            </a:r>
            <a:endParaRPr lang="en-US" sz="1500" dirty="0"/>
          </a:p>
        </p:txBody>
      </p:sp>
      <p:sp>
        <p:nvSpPr>
          <p:cNvPr id="15" name="Shape 12"/>
          <p:cNvSpPr/>
          <p:nvPr/>
        </p:nvSpPr>
        <p:spPr>
          <a:xfrm>
            <a:off x="6426200" y="3540720"/>
            <a:ext cx="63500" cy="63500"/>
          </a:xfrm>
          <a:prstGeom prst="roundRect">
            <a:avLst>
              <a:gd name="adj" fmla="val 20000"/>
            </a:avLst>
          </a:prstGeom>
          <a:solidFill>
            <a:srgbClr val="1F5FBF"/>
          </a:solidFill>
          <a:ln/>
        </p:spPr>
      </p:sp>
      <p:sp>
        <p:nvSpPr>
          <p:cNvPr id="16" name="Text 13"/>
          <p:cNvSpPr/>
          <p:nvPr/>
        </p:nvSpPr>
        <p:spPr>
          <a:xfrm>
            <a:off x="6629400" y="3445470"/>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Never on the test set.</a:t>
            </a:r>
            <a:r>
              <a:rPr lang="en-US" sz="1500" dirty="0">
                <a:solidFill>
                  <a:srgbClr val="3D4A59"/>
                </a:solidFill>
                <a:latin typeface="IBM Plex Sans" pitchFamily="34" charset="0"/>
                <a:ea typeface="IBM Plex Sans" pitchFamily="34" charset="-122"/>
                <a:cs typeface="IBM Plex Sans" pitchFamily="34" charset="-120"/>
              </a:rPr>
              <a:t> Choosing by test score makes that score optimistic.</a:t>
            </a:r>
            <a:endParaRPr lang="en-US" sz="1500" dirty="0"/>
          </a:p>
        </p:txBody>
      </p:sp>
      <p:sp>
        <p:nvSpPr>
          <p:cNvPr id="17" name="Text 14"/>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8"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28 / 32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Augmentation is usually the strongest regularizer, provided each transform preserves the label.</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10553700" cy="2196703"/>
        </p:xfrm>
        <a:graphic>
          <a:graphicData uri="http://schemas.openxmlformats.org/drawingml/2006/table">
            <a:tbl>
              <a:tblPr/>
              <a:tblGrid>
                <a:gridCol w="2955036"/>
                <a:gridCol w="4010406"/>
                <a:gridCol w="3588258"/>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Transform</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Preserves the label for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Breaks it for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Horizontal flip</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Cats, natural photos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Digits and text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Vertical flip</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Satellite imagery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Street scenes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Rotation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Microscopy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6 versus 9</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Colour jitter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Most objects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When colour is the feature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Shape 2"/>
          <p:cNvSpPr/>
          <p:nvPr/>
        </p:nvSpPr>
        <p:spPr>
          <a:xfrm>
            <a:off x="815975" y="4454327"/>
            <a:ext cx="2800449" cy="1061442"/>
          </a:xfrm>
          <a:prstGeom prst="roundRect">
            <a:avLst>
              <a:gd name="adj" fmla="val 8076"/>
            </a:avLst>
          </a:prstGeom>
          <a:solidFill>
            <a:srgbClr val="FFFFFE"/>
          </a:solidFill>
          <a:ln w="6350">
            <a:solidFill>
              <a:srgbClr val="D2D9E1"/>
            </a:solidFill>
            <a:prstDash val="solid"/>
          </a:ln>
        </p:spPr>
      </p:sp>
      <p:sp>
        <p:nvSpPr>
          <p:cNvPr id="6" name="Text 3"/>
          <p:cNvSpPr/>
          <p:nvPr/>
        </p:nvSpPr>
        <p:spPr>
          <a:xfrm>
            <a:off x="958850" y="4597202"/>
            <a:ext cx="25901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Mixup</a:t>
            </a:r>
            <a:endParaRPr lang="en-US" sz="1500" dirty="0"/>
          </a:p>
        </p:txBody>
      </p:sp>
      <p:sp>
        <p:nvSpPr>
          <p:cNvPr id="7" name="Text 4"/>
          <p:cNvSpPr/>
          <p:nvPr/>
        </p:nvSpPr>
        <p:spPr>
          <a:xfrm>
            <a:off x="958850" y="4889302"/>
            <a:ext cx="259014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Train on λxᵢ + (1 − λ)xⱼ with labels mixed alike.</a:t>
            </a:r>
            <a:endParaRPr lang="en-US" sz="1400" dirty="0"/>
          </a:p>
        </p:txBody>
      </p:sp>
      <p:sp>
        <p:nvSpPr>
          <p:cNvPr id="8" name="Shape 5"/>
          <p:cNvSpPr/>
          <p:nvPr/>
        </p:nvSpPr>
        <p:spPr>
          <a:xfrm>
            <a:off x="3775174" y="4454327"/>
            <a:ext cx="2136973" cy="1061442"/>
          </a:xfrm>
          <a:prstGeom prst="roundRect">
            <a:avLst>
              <a:gd name="adj" fmla="val 8076"/>
            </a:avLst>
          </a:prstGeom>
          <a:solidFill>
            <a:srgbClr val="FFFFFE"/>
          </a:solidFill>
          <a:ln w="6350">
            <a:solidFill>
              <a:srgbClr val="D2D9E1"/>
            </a:solidFill>
            <a:prstDash val="solid"/>
          </a:ln>
        </p:spPr>
      </p:sp>
      <p:sp>
        <p:nvSpPr>
          <p:cNvPr id="9" name="Text 6"/>
          <p:cNvSpPr/>
          <p:nvPr/>
        </p:nvSpPr>
        <p:spPr>
          <a:xfrm>
            <a:off x="3918049" y="4597202"/>
            <a:ext cx="19067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CutMix</a:t>
            </a:r>
            <a:endParaRPr lang="en-US" sz="1500" dirty="0"/>
          </a:p>
        </p:txBody>
      </p:sp>
      <p:sp>
        <p:nvSpPr>
          <p:cNvPr id="10" name="Text 7"/>
          <p:cNvSpPr/>
          <p:nvPr/>
        </p:nvSpPr>
        <p:spPr>
          <a:xfrm>
            <a:off x="3918049" y="4889302"/>
            <a:ext cx="190676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Paste a patch; mix labels by area.</a:t>
            </a:r>
            <a:endParaRPr lang="en-US" sz="1400" dirty="0"/>
          </a:p>
        </p:txBody>
      </p:sp>
      <p:sp>
        <p:nvSpPr>
          <p:cNvPr id="11" name="Shape 8"/>
          <p:cNvSpPr/>
          <p:nvPr/>
        </p:nvSpPr>
        <p:spPr>
          <a:xfrm>
            <a:off x="6070898" y="4454327"/>
            <a:ext cx="2401590" cy="1061442"/>
          </a:xfrm>
          <a:prstGeom prst="roundRect">
            <a:avLst>
              <a:gd name="adj" fmla="val 8076"/>
            </a:avLst>
          </a:prstGeom>
          <a:solidFill>
            <a:srgbClr val="FFFFFE"/>
          </a:solidFill>
          <a:ln w="6350">
            <a:solidFill>
              <a:srgbClr val="D2D9E1"/>
            </a:solidFill>
            <a:prstDash val="solid"/>
          </a:ln>
        </p:spPr>
      </p:sp>
      <p:sp>
        <p:nvSpPr>
          <p:cNvPr id="12" name="Text 9"/>
          <p:cNvSpPr/>
          <p:nvPr/>
        </p:nvSpPr>
        <p:spPr>
          <a:xfrm>
            <a:off x="6213773" y="4597202"/>
            <a:ext cx="21793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RandAugment</a:t>
            </a:r>
            <a:endParaRPr lang="en-US" sz="1500" dirty="0"/>
          </a:p>
        </p:txBody>
      </p:sp>
      <p:sp>
        <p:nvSpPr>
          <p:cNvPr id="13" name="Text 10"/>
          <p:cNvSpPr/>
          <p:nvPr/>
        </p:nvSpPr>
        <p:spPr>
          <a:xfrm>
            <a:off x="6213773" y="4889302"/>
            <a:ext cx="2179315"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Random operations, almost no tuning.</a:t>
            </a:r>
            <a:endParaRPr lang="en-US" sz="1400" dirty="0"/>
          </a:p>
        </p:txBody>
      </p:sp>
      <p:sp>
        <p:nvSpPr>
          <p:cNvPr id="14" name="Shape 11"/>
          <p:cNvSpPr/>
          <p:nvPr/>
        </p:nvSpPr>
        <p:spPr>
          <a:xfrm>
            <a:off x="8631238" y="4454327"/>
            <a:ext cx="2744788" cy="1061442"/>
          </a:xfrm>
          <a:prstGeom prst="roundRect">
            <a:avLst>
              <a:gd name="adj" fmla="val 8076"/>
            </a:avLst>
          </a:prstGeom>
          <a:solidFill>
            <a:srgbClr val="FFFFFE"/>
          </a:solidFill>
          <a:ln w="6350">
            <a:solidFill>
              <a:srgbClr val="D2D9E1"/>
            </a:solidFill>
            <a:prstDash val="solid"/>
          </a:ln>
        </p:spPr>
      </p:sp>
      <p:sp>
        <p:nvSpPr>
          <p:cNvPr id="15" name="Text 12"/>
          <p:cNvSpPr/>
          <p:nvPr/>
        </p:nvSpPr>
        <p:spPr>
          <a:xfrm>
            <a:off x="8774113" y="4597202"/>
            <a:ext cx="25328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Test-time</a:t>
            </a:r>
            <a:endParaRPr lang="en-US" sz="1500" dirty="0"/>
          </a:p>
        </p:txBody>
      </p:sp>
      <p:sp>
        <p:nvSpPr>
          <p:cNvPr id="16" name="Text 13"/>
          <p:cNvSpPr/>
          <p:nvPr/>
        </p:nvSpPr>
        <p:spPr>
          <a:xfrm>
            <a:off x="8774113" y="4889302"/>
            <a:ext cx="2532809"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Average predictions over augmented copies.</a:t>
            </a:r>
            <a:endParaRPr lang="en-US" sz="1400" dirty="0"/>
          </a:p>
        </p:txBody>
      </p:sp>
      <p:sp>
        <p:nvSpPr>
          <p:cNvPr id="17" name="Text 14"/>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8"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29 / 32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§12 · REGULARIZATION &amp; GENERALIZATION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Diagnose the train and validation gap first, then apply remedies in order of impact.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6337300" cy="2445544"/>
        </p:xfrm>
        <a:graphic>
          <a:graphicData uri="http://schemas.openxmlformats.org/drawingml/2006/table">
            <a:tbl>
              <a:tblPr/>
              <a:tblGrid>
                <a:gridCol w="2281428"/>
                <a:gridCol w="1647698"/>
                <a:gridCol w="2408174"/>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Symptom</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Diagnosis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Action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Train high, val high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Underfitting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Bigger model, train longer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Train low, val high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Overfitting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Regularize, see the list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Train ≈ val, both good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Good fit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Try scaling up</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68818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Val below train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Usually normal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Dropout penalizes training only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Shape 2"/>
          <p:cNvSpPr/>
          <p:nvPr/>
        </p:nvSpPr>
        <p:spPr>
          <a:xfrm>
            <a:off x="7569200" y="2063948"/>
            <a:ext cx="3810000" cy="3778052"/>
          </a:xfrm>
          <a:prstGeom prst="roundRect">
            <a:avLst>
              <a:gd name="adj" fmla="val 2353"/>
            </a:avLst>
          </a:prstGeom>
          <a:solidFill>
            <a:srgbClr val="E4EEFB"/>
          </a:solidFill>
          <a:ln/>
        </p:spPr>
      </p:sp>
      <p:sp>
        <p:nvSpPr>
          <p:cNvPr id="6" name="Text 3"/>
          <p:cNvSpPr/>
          <p:nvPr/>
        </p:nvSpPr>
        <p:spPr>
          <a:xfrm>
            <a:off x="7772400" y="2241748"/>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WHEN OVERFITTING, IN ORDER</a:t>
            </a:r>
            <a:endParaRPr lang="en-US" sz="1200" dirty="0"/>
          </a:p>
        </p:txBody>
      </p:sp>
      <p:sp>
        <p:nvSpPr>
          <p:cNvPr id="7" name="Text 4"/>
          <p:cNvSpPr/>
          <p:nvPr/>
        </p:nvSpPr>
        <p:spPr>
          <a:xfrm>
            <a:off x="7772400" y="25439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1</a:t>
            </a:r>
            <a:endParaRPr lang="en-US" sz="1500" dirty="0"/>
          </a:p>
        </p:txBody>
      </p:sp>
      <p:sp>
        <p:nvSpPr>
          <p:cNvPr id="8" name="Text 5"/>
          <p:cNvSpPr/>
          <p:nvPr/>
        </p:nvSpPr>
        <p:spPr>
          <a:xfrm>
            <a:off x="8178800" y="2558256"/>
            <a:ext cx="10629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More data</a:t>
            </a:r>
            <a:endParaRPr lang="en-US" sz="1500" dirty="0"/>
          </a:p>
        </p:txBody>
      </p:sp>
      <p:sp>
        <p:nvSpPr>
          <p:cNvPr id="9" name="Text 6"/>
          <p:cNvSpPr/>
          <p:nvPr/>
        </p:nvSpPr>
        <p:spPr>
          <a:xfrm>
            <a:off x="7772400" y="28995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2</a:t>
            </a:r>
            <a:endParaRPr lang="en-US" sz="1500" dirty="0"/>
          </a:p>
        </p:txBody>
      </p:sp>
      <p:sp>
        <p:nvSpPr>
          <p:cNvPr id="10" name="Text 7"/>
          <p:cNvSpPr/>
          <p:nvPr/>
        </p:nvSpPr>
        <p:spPr>
          <a:xfrm>
            <a:off x="8178800" y="2913856"/>
            <a:ext cx="202715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Data augmentation</a:t>
            </a:r>
            <a:endParaRPr lang="en-US" sz="1500" dirty="0"/>
          </a:p>
        </p:txBody>
      </p:sp>
      <p:sp>
        <p:nvSpPr>
          <p:cNvPr id="11" name="Text 8"/>
          <p:cNvSpPr/>
          <p:nvPr/>
        </p:nvSpPr>
        <p:spPr>
          <a:xfrm>
            <a:off x="7772400" y="32551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3</a:t>
            </a:r>
            <a:endParaRPr lang="en-US" sz="1500" dirty="0"/>
          </a:p>
        </p:txBody>
      </p:sp>
      <p:sp>
        <p:nvSpPr>
          <p:cNvPr id="12" name="Text 9"/>
          <p:cNvSpPr/>
          <p:nvPr/>
        </p:nvSpPr>
        <p:spPr>
          <a:xfrm>
            <a:off x="8178800" y="3269456"/>
            <a:ext cx="180427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Transfer learning</a:t>
            </a:r>
            <a:endParaRPr lang="en-US" sz="1500" dirty="0"/>
          </a:p>
        </p:txBody>
      </p:sp>
      <p:sp>
        <p:nvSpPr>
          <p:cNvPr id="13" name="Text 10"/>
          <p:cNvSpPr/>
          <p:nvPr/>
        </p:nvSpPr>
        <p:spPr>
          <a:xfrm>
            <a:off x="7772400" y="36107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4</a:t>
            </a:r>
            <a:endParaRPr lang="en-US" sz="1500" dirty="0"/>
          </a:p>
        </p:txBody>
      </p:sp>
      <p:sp>
        <p:nvSpPr>
          <p:cNvPr id="14" name="Text 11"/>
          <p:cNvSpPr/>
          <p:nvPr/>
        </p:nvSpPr>
        <p:spPr>
          <a:xfrm>
            <a:off x="8178800" y="3625056"/>
            <a:ext cx="1375767"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IBM Plex Sans" pitchFamily="34" charset="0"/>
                <a:ea typeface="IBM Plex Sans" pitchFamily="34" charset="-122"/>
                <a:cs typeface="IBM Plex Sans" pitchFamily="34" charset="-120"/>
              </a:rPr>
              <a:t>Weight decay</a:t>
            </a:r>
            <a:endParaRPr lang="en-US" sz="1500" dirty="0"/>
          </a:p>
        </p:txBody>
      </p:sp>
      <p:sp>
        <p:nvSpPr>
          <p:cNvPr id="15" name="Text 12"/>
          <p:cNvSpPr/>
          <p:nvPr/>
        </p:nvSpPr>
        <p:spPr>
          <a:xfrm>
            <a:off x="7772400" y="39663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5</a:t>
            </a:r>
            <a:endParaRPr lang="en-US" sz="1500" dirty="0"/>
          </a:p>
        </p:txBody>
      </p:sp>
      <p:sp>
        <p:nvSpPr>
          <p:cNvPr id="16" name="Text 13"/>
          <p:cNvSpPr/>
          <p:nvPr/>
        </p:nvSpPr>
        <p:spPr>
          <a:xfrm>
            <a:off x="8178800" y="3980656"/>
            <a:ext cx="1457206"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IBM Plex Sans" pitchFamily="34" charset="0"/>
                <a:ea typeface="IBM Plex Sans" pitchFamily="34" charset="-122"/>
                <a:cs typeface="IBM Plex Sans" pitchFamily="34" charset="-120"/>
              </a:rPr>
              <a:t>Early stopping</a:t>
            </a:r>
            <a:endParaRPr lang="en-US" sz="1500" dirty="0"/>
          </a:p>
        </p:txBody>
      </p:sp>
      <p:sp>
        <p:nvSpPr>
          <p:cNvPr id="17" name="Text 14"/>
          <p:cNvSpPr/>
          <p:nvPr/>
        </p:nvSpPr>
        <p:spPr>
          <a:xfrm>
            <a:off x="7772400" y="43219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6</a:t>
            </a:r>
            <a:endParaRPr lang="en-US" sz="1500" dirty="0"/>
          </a:p>
        </p:txBody>
      </p:sp>
      <p:sp>
        <p:nvSpPr>
          <p:cNvPr id="18" name="Text 15"/>
          <p:cNvSpPr/>
          <p:nvPr/>
        </p:nvSpPr>
        <p:spPr>
          <a:xfrm>
            <a:off x="8178800" y="4336256"/>
            <a:ext cx="834866"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IBM Plex Sans" pitchFamily="34" charset="0"/>
                <a:ea typeface="IBM Plex Sans" pitchFamily="34" charset="-122"/>
                <a:cs typeface="IBM Plex Sans" pitchFamily="34" charset="-120"/>
              </a:rPr>
              <a:t>Dropout</a:t>
            </a:r>
            <a:endParaRPr lang="en-US" sz="1500" dirty="0"/>
          </a:p>
        </p:txBody>
      </p:sp>
      <p:sp>
        <p:nvSpPr>
          <p:cNvPr id="19" name="Text 16"/>
          <p:cNvSpPr/>
          <p:nvPr/>
        </p:nvSpPr>
        <p:spPr>
          <a:xfrm>
            <a:off x="7772400" y="467756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5FBF"/>
                </a:solidFill>
                <a:latin typeface="JetBrains Mono" pitchFamily="49" charset="0"/>
                <a:ea typeface="JetBrains Mono" pitchFamily="49" charset="-122"/>
                <a:cs typeface="JetBrains Mono" pitchFamily="49" charset="-120"/>
              </a:rPr>
              <a:t>7</a:t>
            </a:r>
            <a:endParaRPr lang="en-US" sz="1500" dirty="0"/>
          </a:p>
        </p:txBody>
      </p:sp>
      <p:sp>
        <p:nvSpPr>
          <p:cNvPr id="20" name="Text 17"/>
          <p:cNvSpPr/>
          <p:nvPr/>
        </p:nvSpPr>
        <p:spPr>
          <a:xfrm>
            <a:off x="8178800" y="4691856"/>
            <a:ext cx="2238018"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IBM Plex Sans" pitchFamily="34" charset="0"/>
                <a:ea typeface="IBM Plex Sans" pitchFamily="34" charset="-122"/>
                <a:cs typeface="IBM Plex Sans" pitchFamily="34" charset="-120"/>
              </a:rPr>
              <a:t>Shrink the model, last</a:t>
            </a:r>
            <a:endParaRPr lang="en-US" sz="1500" dirty="0"/>
          </a:p>
        </p:txBody>
      </p:sp>
      <p:sp>
        <p:nvSpPr>
          <p:cNvPr id="21" name="Text 18"/>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2"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30 / 32</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RECAP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Each section of today’s lecture reduces to one sentence worth remembering.</a:t>
            </a:r>
            <a:endParaRPr lang="en-US" sz="2800" dirty="0"/>
          </a:p>
        </p:txBody>
      </p:sp>
      <p:sp>
        <p:nvSpPr>
          <p:cNvPr id="4" name="Shape 2"/>
          <p:cNvSpPr/>
          <p:nvPr/>
        </p:nvSpPr>
        <p:spPr>
          <a:xfrm>
            <a:off x="815975" y="2067123"/>
            <a:ext cx="10560050" cy="517525"/>
          </a:xfrm>
          <a:prstGeom prst="roundRect">
            <a:avLst>
              <a:gd name="adj" fmla="val 14110"/>
            </a:avLst>
          </a:prstGeom>
          <a:solidFill>
            <a:srgbClr val="FFFFFE"/>
          </a:solidFill>
          <a:ln w="6350">
            <a:solidFill>
              <a:srgbClr val="D2D9E1"/>
            </a:solidFill>
            <a:prstDash val="solid"/>
          </a:ln>
        </p:spPr>
      </p:sp>
      <p:sp>
        <p:nvSpPr>
          <p:cNvPr id="5" name="Text 3"/>
          <p:cNvSpPr/>
          <p:nvPr/>
        </p:nvSpPr>
        <p:spPr>
          <a:xfrm>
            <a:off x="996950" y="220146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§8</a:t>
            </a:r>
            <a:endParaRPr lang="en-US" sz="1400" dirty="0"/>
          </a:p>
        </p:txBody>
      </p:sp>
      <p:sp>
        <p:nvSpPr>
          <p:cNvPr id="6" name="Text 4"/>
          <p:cNvSpPr/>
          <p:nvPr/>
        </p:nvSpPr>
        <p:spPr>
          <a:xfrm>
            <a:off x="2152650" y="219729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Depth composes features. Its exponential advantages are proven only for constructed functions.</a:t>
            </a:r>
            <a:endParaRPr lang="en-US" sz="1500" dirty="0"/>
          </a:p>
        </p:txBody>
      </p:sp>
      <p:sp>
        <p:nvSpPr>
          <p:cNvPr id="7" name="Shape 5"/>
          <p:cNvSpPr/>
          <p:nvPr/>
        </p:nvSpPr>
        <p:spPr>
          <a:xfrm>
            <a:off x="815975" y="2705298"/>
            <a:ext cx="10560050" cy="517525"/>
          </a:xfrm>
          <a:prstGeom prst="roundRect">
            <a:avLst>
              <a:gd name="adj" fmla="val 14110"/>
            </a:avLst>
          </a:prstGeom>
          <a:solidFill>
            <a:srgbClr val="FFFFFE"/>
          </a:solidFill>
          <a:ln w="6350">
            <a:solidFill>
              <a:srgbClr val="D2D9E1"/>
            </a:solidFill>
            <a:prstDash val="solid"/>
          </a:ln>
        </p:spPr>
      </p:sp>
      <p:sp>
        <p:nvSpPr>
          <p:cNvPr id="8" name="Text 6"/>
          <p:cNvSpPr/>
          <p:nvPr/>
        </p:nvSpPr>
        <p:spPr>
          <a:xfrm>
            <a:off x="996950" y="2839641"/>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§9</a:t>
            </a:r>
            <a:endParaRPr lang="en-US" sz="1400" dirty="0"/>
          </a:p>
        </p:txBody>
      </p:sp>
      <p:sp>
        <p:nvSpPr>
          <p:cNvPr id="9" name="Text 7"/>
          <p:cNvSpPr/>
          <p:nvPr/>
        </p:nvSpPr>
        <p:spPr>
          <a:xfrm>
            <a:off x="2152650" y="2835473"/>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Keep variance constant: He for ReLU, Xavier for tanh, and never zero weights.</a:t>
            </a:r>
            <a:endParaRPr lang="en-US" sz="1500" dirty="0"/>
          </a:p>
        </p:txBody>
      </p:sp>
      <p:sp>
        <p:nvSpPr>
          <p:cNvPr id="10" name="Shape 8"/>
          <p:cNvSpPr/>
          <p:nvPr/>
        </p:nvSpPr>
        <p:spPr>
          <a:xfrm>
            <a:off x="815975" y="3343473"/>
            <a:ext cx="10560050" cy="517525"/>
          </a:xfrm>
          <a:prstGeom prst="roundRect">
            <a:avLst>
              <a:gd name="adj" fmla="val 14110"/>
            </a:avLst>
          </a:prstGeom>
          <a:solidFill>
            <a:srgbClr val="FFFFFE"/>
          </a:solidFill>
          <a:ln w="6350">
            <a:solidFill>
              <a:srgbClr val="D2D9E1"/>
            </a:solidFill>
            <a:prstDash val="solid"/>
          </a:ln>
        </p:spPr>
      </p:sp>
      <p:sp>
        <p:nvSpPr>
          <p:cNvPr id="11" name="Text 9"/>
          <p:cNvSpPr/>
          <p:nvPr/>
        </p:nvSpPr>
        <p:spPr>
          <a:xfrm>
            <a:off x="996950" y="347781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§10</a:t>
            </a:r>
            <a:endParaRPr lang="en-US" sz="1400" dirty="0"/>
          </a:p>
        </p:txBody>
      </p:sp>
      <p:sp>
        <p:nvSpPr>
          <p:cNvPr id="12" name="Text 10"/>
          <p:cNvSpPr/>
          <p:nvPr/>
        </p:nvSpPr>
        <p:spPr>
          <a:xfrm>
            <a:off x="2152650" y="347364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Momentum, adaptive scaling and bias correction give Adam. Use AdamW with a schedule.</a:t>
            </a:r>
            <a:endParaRPr lang="en-US" sz="1500" dirty="0"/>
          </a:p>
        </p:txBody>
      </p:sp>
      <p:sp>
        <p:nvSpPr>
          <p:cNvPr id="13" name="Shape 11"/>
          <p:cNvSpPr/>
          <p:nvPr/>
        </p:nvSpPr>
        <p:spPr>
          <a:xfrm>
            <a:off x="815975" y="3981648"/>
            <a:ext cx="10560050" cy="517525"/>
          </a:xfrm>
          <a:prstGeom prst="roundRect">
            <a:avLst>
              <a:gd name="adj" fmla="val 14110"/>
            </a:avLst>
          </a:prstGeom>
          <a:solidFill>
            <a:srgbClr val="FFFFFE"/>
          </a:solidFill>
          <a:ln w="6350">
            <a:solidFill>
              <a:srgbClr val="D2D9E1"/>
            </a:solidFill>
            <a:prstDash val="solid"/>
          </a:ln>
        </p:spPr>
      </p:sp>
      <p:sp>
        <p:nvSpPr>
          <p:cNvPr id="14" name="Text 12"/>
          <p:cNvSpPr/>
          <p:nvPr/>
        </p:nvSpPr>
        <p:spPr>
          <a:xfrm>
            <a:off x="996950" y="4115991"/>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§11</a:t>
            </a:r>
            <a:endParaRPr lang="en-US" sz="1400" dirty="0"/>
          </a:p>
        </p:txBody>
      </p:sp>
      <p:sp>
        <p:nvSpPr>
          <p:cNvPr id="15" name="Text 13"/>
          <p:cNvSpPr/>
          <p:nvPr/>
        </p:nvSpPr>
        <p:spPr>
          <a:xfrm>
            <a:off x="2152650" y="4111823"/>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BatchNorm smooths optimization. Switch modes for inference, or use LayerNorm for sequences.</a:t>
            </a:r>
            <a:endParaRPr lang="en-US" sz="1500" dirty="0"/>
          </a:p>
        </p:txBody>
      </p:sp>
      <p:sp>
        <p:nvSpPr>
          <p:cNvPr id="16" name="Shape 14"/>
          <p:cNvSpPr/>
          <p:nvPr/>
        </p:nvSpPr>
        <p:spPr>
          <a:xfrm>
            <a:off x="815975" y="4619823"/>
            <a:ext cx="10560050" cy="517525"/>
          </a:xfrm>
          <a:prstGeom prst="roundRect">
            <a:avLst>
              <a:gd name="adj" fmla="val 14110"/>
            </a:avLst>
          </a:prstGeom>
          <a:solidFill>
            <a:srgbClr val="FFFFFE"/>
          </a:solidFill>
          <a:ln w="6350">
            <a:solidFill>
              <a:srgbClr val="D2D9E1"/>
            </a:solidFill>
            <a:prstDash val="solid"/>
          </a:ln>
        </p:spPr>
      </p:sp>
      <p:sp>
        <p:nvSpPr>
          <p:cNvPr id="17" name="Text 15"/>
          <p:cNvSpPr/>
          <p:nvPr/>
        </p:nvSpPr>
        <p:spPr>
          <a:xfrm>
            <a:off x="996950" y="475416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§12</a:t>
            </a:r>
            <a:endParaRPr lang="en-US" sz="1400" dirty="0"/>
          </a:p>
        </p:txBody>
      </p:sp>
      <p:sp>
        <p:nvSpPr>
          <p:cNvPr id="18" name="Text 16"/>
          <p:cNvSpPr/>
          <p:nvPr/>
        </p:nvSpPr>
        <p:spPr>
          <a:xfrm>
            <a:off x="2152650" y="474999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Regularize big models: data, augmentation, transfer, decay, early stopping, then dropout.</a:t>
            </a:r>
            <a:endParaRPr lang="en-US" sz="1500" dirty="0"/>
          </a:p>
        </p:txBody>
      </p:sp>
      <p:sp>
        <p:nvSpPr>
          <p:cNvPr id="19" name="Text 17"/>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20"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31 / 32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These are the primary sources behind today’s claims, for further reading.</a:t>
            </a:r>
            <a:endParaRPr lang="en-US" sz="2800" dirty="0"/>
          </a:p>
        </p:txBody>
      </p:sp>
      <p:sp>
        <p:nvSpPr>
          <p:cNvPr id="4" name="Text 2"/>
          <p:cNvSpPr/>
          <p:nvPr/>
        </p:nvSpPr>
        <p:spPr>
          <a:xfrm>
            <a:off x="8128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Montúfar, G. et al. (2014). On the number of linear regions of deep neural networks. NeurIPS.</a:t>
            </a:r>
            <a:endParaRPr lang="en-US" sz="1200" dirty="0"/>
          </a:p>
        </p:txBody>
      </p:sp>
      <p:sp>
        <p:nvSpPr>
          <p:cNvPr id="5" name="Text 3"/>
          <p:cNvSpPr/>
          <p:nvPr/>
        </p:nvSpPr>
        <p:spPr>
          <a:xfrm>
            <a:off x="812800" y="2542381"/>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Telgarsky, M. (2016). Benefits of depth in neural networks. COLT.</a:t>
            </a:r>
            <a:endParaRPr lang="en-US" sz="1200" dirty="0"/>
          </a:p>
        </p:txBody>
      </p:sp>
      <p:sp>
        <p:nvSpPr>
          <p:cNvPr id="6" name="Text 4"/>
          <p:cNvSpPr/>
          <p:nvPr/>
        </p:nvSpPr>
        <p:spPr>
          <a:xfrm>
            <a:off x="812800" y="281969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Håstad, J. (1986). Almost optimal lower bounds for small depth circuits. STOC.</a:t>
            </a:r>
            <a:endParaRPr lang="en-US" sz="1200" dirty="0"/>
          </a:p>
        </p:txBody>
      </p:sp>
      <p:sp>
        <p:nvSpPr>
          <p:cNvPr id="7" name="Text 5"/>
          <p:cNvSpPr/>
          <p:nvPr/>
        </p:nvSpPr>
        <p:spPr>
          <a:xfrm>
            <a:off x="812800" y="3298130"/>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Zeiler, M. &amp; Fergus, R. (2014). Visualizing and understanding convolutional networks. ECCV.</a:t>
            </a:r>
            <a:endParaRPr lang="en-US" sz="1200" dirty="0"/>
          </a:p>
        </p:txBody>
      </p:sp>
      <p:sp>
        <p:nvSpPr>
          <p:cNvPr id="8" name="Text 6"/>
          <p:cNvSpPr/>
          <p:nvPr/>
        </p:nvSpPr>
        <p:spPr>
          <a:xfrm>
            <a:off x="812800" y="3776563"/>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Glorot, X. &amp; Bengio, Y. (2010). Understanding the difficulty of training deep feedforward networks.</a:t>
            </a:r>
            <a:endParaRPr lang="en-US" sz="1200" dirty="0"/>
          </a:p>
        </p:txBody>
      </p:sp>
      <p:sp>
        <p:nvSpPr>
          <p:cNvPr id="9" name="Text 7"/>
          <p:cNvSpPr/>
          <p:nvPr/>
        </p:nvSpPr>
        <p:spPr>
          <a:xfrm>
            <a:off x="812800" y="4254996"/>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He, K. et al. (2015). Delving deep into rectifiers (He initialization). ICCV.</a:t>
            </a:r>
            <a:endParaRPr lang="en-US" sz="1200" dirty="0"/>
          </a:p>
        </p:txBody>
      </p:sp>
      <p:sp>
        <p:nvSpPr>
          <p:cNvPr id="10" name="Text 8"/>
          <p:cNvSpPr/>
          <p:nvPr/>
        </p:nvSpPr>
        <p:spPr>
          <a:xfrm>
            <a:off x="812800" y="4532313"/>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He, K. et al. (2016). Deep residual learning for image recognition. CVPR.</a:t>
            </a:r>
            <a:endParaRPr lang="en-US" sz="1200" dirty="0"/>
          </a:p>
        </p:txBody>
      </p:sp>
      <p:sp>
        <p:nvSpPr>
          <p:cNvPr id="11" name="Text 9"/>
          <p:cNvSpPr/>
          <p:nvPr/>
        </p:nvSpPr>
        <p:spPr>
          <a:xfrm>
            <a:off x="62992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Kingma, D. &amp; Ba, J. (2015). Adam: a method for stochastic optimization. ICLR.</a:t>
            </a:r>
            <a:endParaRPr lang="en-US" sz="1200" dirty="0"/>
          </a:p>
        </p:txBody>
      </p:sp>
      <p:sp>
        <p:nvSpPr>
          <p:cNvPr id="12" name="Text 10"/>
          <p:cNvSpPr/>
          <p:nvPr/>
        </p:nvSpPr>
        <p:spPr>
          <a:xfrm>
            <a:off x="6299200" y="2542381"/>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Loshchilov, I. &amp; Hutter, F. (2019). Decoupled weight decay regularization (AdamW). ICLR.</a:t>
            </a:r>
            <a:endParaRPr lang="en-US" sz="1200" dirty="0"/>
          </a:p>
        </p:txBody>
      </p:sp>
      <p:sp>
        <p:nvSpPr>
          <p:cNvPr id="13" name="Text 11"/>
          <p:cNvSpPr/>
          <p:nvPr/>
        </p:nvSpPr>
        <p:spPr>
          <a:xfrm>
            <a:off x="6299200" y="3020814"/>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Ioffe, S. &amp; Szegedy, C. (2015). Batch normalization. ICML.</a:t>
            </a:r>
            <a:endParaRPr lang="en-US" sz="1200" dirty="0"/>
          </a:p>
        </p:txBody>
      </p:sp>
      <p:sp>
        <p:nvSpPr>
          <p:cNvPr id="14" name="Text 12"/>
          <p:cNvSpPr/>
          <p:nvPr/>
        </p:nvSpPr>
        <p:spPr>
          <a:xfrm>
            <a:off x="6299200" y="3298130"/>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Santurkar, S. et al. (2018). How does batch normalization help optimization? NeurIPS.</a:t>
            </a:r>
            <a:endParaRPr lang="en-US" sz="1200" dirty="0"/>
          </a:p>
        </p:txBody>
      </p:sp>
      <p:sp>
        <p:nvSpPr>
          <p:cNvPr id="15" name="Text 13"/>
          <p:cNvSpPr/>
          <p:nvPr/>
        </p:nvSpPr>
        <p:spPr>
          <a:xfrm>
            <a:off x="6299200" y="3776563"/>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Wu, Y. &amp; He, K. (2018). Group normalization. ECCV.</a:t>
            </a:r>
            <a:endParaRPr lang="en-US" sz="1200" dirty="0"/>
          </a:p>
        </p:txBody>
      </p:sp>
      <p:sp>
        <p:nvSpPr>
          <p:cNvPr id="16" name="Text 14"/>
          <p:cNvSpPr/>
          <p:nvPr/>
        </p:nvSpPr>
        <p:spPr>
          <a:xfrm>
            <a:off x="6299200" y="4053880"/>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Srivastava, N. et al. (2014). Dropout: a simple way to prevent overfitting. JMLR.</a:t>
            </a:r>
            <a:endParaRPr lang="en-US" sz="1200" dirty="0"/>
          </a:p>
        </p:txBody>
      </p:sp>
      <p:sp>
        <p:nvSpPr>
          <p:cNvPr id="17" name="Text 15"/>
          <p:cNvSpPr/>
          <p:nvPr/>
        </p:nvSpPr>
        <p:spPr>
          <a:xfrm>
            <a:off x="6299200" y="4532313"/>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Belkin, M. et al. (2019). Reconciling modern machine learning practice and the bias-variance trade-off. PNAS.</a:t>
            </a:r>
            <a:endParaRPr lang="en-US" sz="1200" dirty="0"/>
          </a:p>
        </p:txBody>
      </p:sp>
      <p:sp>
        <p:nvSpPr>
          <p:cNvPr id="18" name="Text 16"/>
          <p:cNvSpPr/>
          <p:nvPr/>
        </p:nvSpPr>
        <p:spPr>
          <a:xfrm>
            <a:off x="812800" y="6281440"/>
            <a:ext cx="4422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3 · Making deep networks train and generalize</a:t>
            </a:r>
            <a:endParaRPr lang="en-US" sz="1200" dirty="0"/>
          </a:p>
        </p:txBody>
      </p:sp>
      <p:sp>
        <p:nvSpPr>
          <p:cNvPr id="19"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32 / 32</a:t>
            </a:r>
            <a:endParaRPr lang="en-US" sz="1200" dirty="0"/>
          </a:p>
        </p:txBody>
      </p:sp>
    </p:spTree>
  </p:cSld>
  <p:clrMapOvr>
    <a:masterClrMapping/>
  </p:clrMapOvr>
</p:sld>
</file>

<file path=ppt/theme/theme1.xml><?xml version="1.0" encoding="utf-8"?>
<a:theme xmlns:a="http://schemas.openxmlformats.org/drawingml/2006/main" name="Lecture 3 · Making Deep Networks Train and Generalize">
  <a:themeElements>
    <a:clrScheme name="Lecture 3 · Making Deep Networks Train and Generalize">
      <a:dk1>
        <a:srgbClr val="15212E"/>
      </a:dk1>
      <a:lt1>
        <a:srgbClr val="FAF9F6"/>
      </a:lt1>
      <a:dk2>
        <a:srgbClr val="4E5760"/>
      </a:dk2>
      <a:lt2>
        <a:srgbClr val="E3E3E2"/>
      </a:lt2>
      <a:accent1>
        <a:srgbClr val="1F5FBF"/>
      </a:accent1>
      <a:accent2>
        <a:srgbClr val="A04F00"/>
      </a:accent2>
      <a:accent3>
        <a:srgbClr val="5B6878"/>
      </a:accent3>
      <a:accent4>
        <a:srgbClr val="3D4A59"/>
      </a:accent4>
      <a:accent5>
        <a:srgbClr val="6B7785"/>
      </a:accent5>
      <a:accent6>
        <a:srgbClr val="9AA0A6"/>
      </a:accent6>
      <a:hlink>
        <a:srgbClr val="0563C1"/>
      </a:hlink>
      <a:folHlink>
        <a:srgbClr val="954F72"/>
      </a:folHlink>
    </a:clrScheme>
    <a:fontScheme name="Lecture 3 · Making Deep Networks Train and Generaliz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 Making Deep Networks Train and Generalize</dc:title>
  <dc:subject/>
  <dc:creator/>
  <cp:lastModifiedBy/>
  <cp:revision>1</cp:revision>
  <dcterms:created xsi:type="dcterms:W3CDTF">2026-10-01T19:09:05Z</dcterms:created>
  <dcterms:modified xsi:type="dcterms:W3CDTF">2026-10-01T19:09:05Z</dcterms:modified>
</cp:coreProperties>
</file>