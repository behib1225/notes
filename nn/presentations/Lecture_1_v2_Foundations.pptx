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4.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6.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7.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211a89-7146-30cb-60fa-1cbfad41d817}">
          <p14:sldIdLst>
            <p14:sldId id="256"/>
            <p14:sldId id="257"/>
            <p14:sldId id="258"/>
          </p14:sldIdLst>
        </p14:section>
        <p14:section name="§1 Why we needed neural networks" id="{450bde77-6898-f08f-bc2c-9ff473e646e6}">
          <p14:sldIdLst>
            <p14:sldId id="259"/>
            <p14:sldId id="260"/>
            <p14:sldId id="261"/>
            <p14:sldId id="262"/>
            <p14:sldId id="263"/>
            <p14:sldId id="264"/>
            <p14:sldId id="265"/>
            <p14:sldId id="266"/>
            <p14:sldId id="267"/>
            <p14:sldId id="268"/>
            <p14:sldId id="269"/>
            <p14:sldId id="270"/>
            <p14:sldId id="271"/>
            <p14:sldId id="272"/>
          </p14:sldIdLst>
        </p14:section>
        <p14:section name="§2 The artificial neuron" id="{2bd7148b-f009-95a0-1ad9-b12310cd8ad9}">
          <p14:sldIdLst>
            <p14:sldId id="273"/>
            <p14:sldId id="274"/>
            <p14:sldId id="275"/>
            <p14:sldId id="276"/>
            <p14:sldId id="277"/>
            <p14:sldId id="278"/>
            <p14:sldId id="279"/>
            <p14:sldId id="280"/>
          </p14:sldIdLst>
        </p14:section>
        <p14:section name="§3 Activation functions" id="{57047cc6-4cb6-f9ea-2977-7fbc9e6ea1b9}">
          <p14:sldIdLst>
            <p14:sldId id="281"/>
            <p14:sldId id="282"/>
            <p14:sldId id="283"/>
            <p14:sldId id="284"/>
            <p14:sldId id="285"/>
            <p14:sldId id="286"/>
            <p14:sldId id="287"/>
            <p14:sldId id="288"/>
            <p14:sldId id="289"/>
            <p14:sldId id="290"/>
          </p14:sldIdLst>
        </p14:section>
        <p14:section name="§4 The MLP forward pass" id="{37973e26-7da9-60c8-6344-ec97af8b9f84}">
          <p14:sldIdLst>
            <p14:sldId id="291"/>
            <p14:sldId id="292"/>
            <p14:sldId id="293"/>
            <p14:sldId id="294"/>
            <p14:sldId id="295"/>
            <p14:sldId id="296"/>
            <p14:sldId id="297"/>
            <p14:sldId id="298"/>
            <p14:sldId id="299"/>
            <p14:sldId id="300"/>
            <p14:sldId id="301"/>
            <p14:sldId id="302"/>
            <p14:sldId id="303"/>
          </p14:sldIdLst>
        </p14:section>
        <p14:section name="Wrap-up" id="{1209c4cc-29de-c71d-8e60-75bc5917b741}">
          <p14:sldIdLst>
            <p14:sldId id="304"/>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k = 1</c:v>
                </c:pt>
              </c:strCache>
            </c:strRef>
          </c:tx>
          <c:spPr>
            <a:solidFill>
              <a:srgbClr val="7CCFC6"/>
            </a:solidFill>
            <a:ln w="38100" cap="flat">
              <a:solidFill>
                <a:srgbClr val="7CCFC6"/>
              </a:solidFill>
              <a:prstDash val="solid"/>
              <a:round/>
            </a:ln>
            <a:effectLst/>
          </c:spPr>
          <c:marker>
            <c:symbol val="none"/>
            <c:size val="7"/>
            <c:spPr>
              <a:solidFill>
                <a:srgbClr val="7CCFC6"/>
              </a:solidFill>
              <a:ln w="9525" cap="flat">
                <a:solidFill>
                  <a:srgbClr val="7CCFC6"/>
                </a:solidFill>
                <a:prstDash val="solid"/>
                <a:round/>
              </a:ln>
              <a:effectLst/>
            </c:spPr>
          </c:marker>
          <c:xVal>
            <c:numRef>
              <c:f>Sheet1!$A$2:$A$162</c:f>
              <c:numCache>
                <c:formatCode>General</c:formatCode>
                <c:ptCount val="16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c:v>
                </c:pt>
                <c:pt idx="61">
                  <c:v>-0.95</c:v>
                </c:pt>
                <c:pt idx="62">
                  <c:v>-0.9</c:v>
                </c:pt>
                <c:pt idx="63">
                  <c:v>-0.85</c:v>
                </c:pt>
                <c:pt idx="64">
                  <c:v>-0.8</c:v>
                </c:pt>
                <c:pt idx="65">
                  <c:v>-0.75</c:v>
                </c:pt>
                <c:pt idx="66">
                  <c:v>-0.7</c:v>
                </c:pt>
                <c:pt idx="67">
                  <c:v>-0.65</c:v>
                </c:pt>
                <c:pt idx="68">
                  <c:v>-0.6</c:v>
                </c:pt>
                <c:pt idx="69">
                  <c:v>-0.55</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c:v>
                </c:pt>
              </c:numCache>
            </c:numRef>
          </c:xVal>
          <c:yVal>
            <c:numRef>
              <c:f>Sheet1!$B$2:$B$162</c:f>
              <c:numCache>
                <c:formatCode>General</c:formatCode>
                <c:ptCount val="161"/>
                <c:pt idx="0">
                  <c:v>0.01798620996209156</c:v>
                </c:pt>
                <c:pt idx="1">
                  <c:v>0.01889096193703905</c:v>
                </c:pt>
                <c:pt idx="2">
                  <c:v>0.01984030573407751</c:v>
                </c:pt>
                <c:pt idx="3">
                  <c:v>0.020836344518680425</c:v>
                </c:pt>
                <c:pt idx="4">
                  <c:v>0.021881270936130476</c:v>
                </c:pt>
                <c:pt idx="5">
                  <c:v>0.022977369910025615</c:v>
                </c:pt>
                <c:pt idx="6">
                  <c:v>0.024127021417669196</c:v>
                </c:pt>
                <c:pt idx="7">
                  <c:v>0.02533270322687173</c:v>
                </c:pt>
                <c:pt idx="8">
                  <c:v>0.026596993576865856</c:v>
                </c:pt>
                <c:pt idx="9">
                  <c:v>0.027922573784073024</c:v>
                </c:pt>
                <c:pt idx="10">
                  <c:v>0.02931223075135632</c:v>
                </c:pt>
                <c:pt idx="11">
                  <c:v>0.030768859357148008</c:v>
                </c:pt>
                <c:pt idx="12">
                  <c:v>0.032295464698450516</c:v>
                </c:pt>
                <c:pt idx="13">
                  <c:v>0.03389516415917814</c:v>
                </c:pt>
                <c:pt idx="14">
                  <c:v>0.03557118927263618</c:v>
                </c:pt>
                <c:pt idx="15">
                  <c:v>0.03732688734412946</c:v>
                </c:pt>
                <c:pt idx="16">
                  <c:v>0.039165722796764356</c:v>
                </c:pt>
                <c:pt idx="17">
                  <c:v>0.041091278200465015</c:v>
                </c:pt>
                <c:pt idx="18">
                  <c:v>0.043107254941086116</c:v>
                </c:pt>
                <c:pt idx="19">
                  <c:v>0.045217473483287494</c:v>
                </c:pt>
                <c:pt idx="20">
                  <c:v>0.04742587317756678</c:v>
                </c:pt>
                <c:pt idx="21">
                  <c:v>0.04973651155855672</c:v>
                </c:pt>
                <c:pt idx="22">
                  <c:v>0.05215356307841774</c:v>
                </c:pt>
                <c:pt idx="23">
                  <c:v>0.05468131721594076</c:v>
                </c:pt>
                <c:pt idx="24">
                  <c:v>0.057324175898868755</c:v>
                </c:pt>
                <c:pt idx="25">
                  <c:v>0.060086650174007626</c:v>
                </c:pt>
                <c:pt idx="26">
                  <c:v>0.06297335605699649</c:v>
                </c:pt>
                <c:pt idx="27">
                  <c:v>0.06598900949121879</c:v>
                </c:pt>
                <c:pt idx="28">
                  <c:v>0.06913842034334682</c:v>
                </c:pt>
                <c:pt idx="29">
                  <c:v>0.07242648536151773</c:v>
                </c:pt>
                <c:pt idx="30">
                  <c:v>0.07585818002124355</c:v>
                </c:pt>
                <c:pt idx="31">
                  <c:v>0.07943854918397836</c:v>
                </c:pt>
                <c:pt idx="32">
                  <c:v>0.08317269649392238</c:v>
                </c:pt>
                <c:pt idx="33">
                  <c:v>0.08706577244027125</c:v>
                </c:pt>
                <c:pt idx="34">
                  <c:v>0.09112296101485616</c:v>
                </c:pt>
                <c:pt idx="35">
                  <c:v>0.09534946489910949</c:v>
                </c:pt>
                <c:pt idx="36">
                  <c:v>0.09975048911968513</c:v>
                </c:pt>
                <c:pt idx="37">
                  <c:v>0.10433122311900131</c:v>
                </c:pt>
                <c:pt idx="38">
                  <c:v>0.10909682119561294</c:v>
                </c:pt>
                <c:pt idx="39">
                  <c:v>0.11405238127979088</c:v>
                </c:pt>
                <c:pt idx="40">
                  <c:v>0.11920292202211755</c:v>
                </c:pt>
                <c:pt idx="41">
                  <c:v>0.12455335818741645</c:v>
                </c:pt>
                <c:pt idx="42">
                  <c:v>0.13010847436299786</c:v>
                </c:pt>
                <c:pt idx="43">
                  <c:v>0.13587289700909427</c:v>
                </c:pt>
                <c:pt idx="44">
                  <c:v>0.14185106490048777</c:v>
                </c:pt>
                <c:pt idx="45">
                  <c:v>0.14804719803168948</c:v>
                </c:pt>
                <c:pt idx="46">
                  <c:v>0.15446526508353473</c:v>
                </c:pt>
                <c:pt idx="47">
                  <c:v>0.16110894957658525</c:v>
                </c:pt>
                <c:pt idx="48">
                  <c:v>0.16798161486607552</c:v>
                </c:pt>
                <c:pt idx="49">
                  <c:v>0.1750862681640398</c:v>
                </c:pt>
                <c:pt idx="50">
                  <c:v>0.18242552380635635</c:v>
                </c:pt>
                <c:pt idx="51">
                  <c:v>0.19000156601531298</c:v>
                </c:pt>
                <c:pt idx="52">
                  <c:v>0.19781611144141825</c:v>
                </c:pt>
                <c:pt idx="53">
                  <c:v>0.20587037180094733</c:v>
                </c:pt>
                <c:pt idx="54">
                  <c:v>0.2141650169574414</c:v>
                </c:pt>
                <c:pt idx="55">
                  <c:v>0.22270013882530884</c:v>
                </c:pt>
                <c:pt idx="56">
                  <c:v>0.23147521650098238</c:v>
                </c:pt>
                <c:pt idx="57">
                  <c:v>0.24048908305088892</c:v>
                </c:pt>
                <c:pt idx="58">
                  <c:v>0.24973989440488234</c:v>
                </c:pt>
                <c:pt idx="59">
                  <c:v>0.259225100817846</c:v>
                </c:pt>
                <c:pt idx="60">
                  <c:v>0.2689414213699951</c:v>
                </c:pt>
                <c:pt idx="61">
                  <c:v>0.27888482197713693</c:v>
                </c:pt>
                <c:pt idx="62">
                  <c:v>0.289050497374996</c:v>
                </c:pt>
                <c:pt idx="63">
                  <c:v>0.29943285752602705</c:v>
                </c:pt>
                <c:pt idx="64">
                  <c:v>0.31002551887238755</c:v>
                </c:pt>
                <c:pt idx="65">
                  <c:v>0.320821300824607</c:v>
                </c:pt>
                <c:pt idx="66">
                  <c:v>0.3318122278318339</c:v>
                </c:pt>
                <c:pt idx="67">
                  <c:v>0.34298953732650117</c:v>
                </c:pt>
                <c:pt idx="68">
                  <c:v>0.35434369377420455</c:v>
                </c:pt>
                <c:pt idx="69">
                  <c:v>0.36586440898919936</c:v>
                </c:pt>
                <c:pt idx="70">
                  <c:v>0.3775406687981454</c:v>
                </c:pt>
                <c:pt idx="71">
                  <c:v>0.389360766050778</c:v>
                </c:pt>
                <c:pt idx="72">
                  <c:v>0.401312339887548</c:v>
                </c:pt>
                <c:pt idx="73">
                  <c:v>0.41338242108267</c:v>
                </c:pt>
                <c:pt idx="74">
                  <c:v>0.425557483188341</c:v>
                </c:pt>
                <c:pt idx="75">
                  <c:v>0.43782349911420193</c:v>
                </c:pt>
                <c:pt idx="76">
                  <c:v>0.45016600268752216</c:v>
                </c:pt>
                <c:pt idx="77">
                  <c:v>0.46257015465625045</c:v>
                </c:pt>
                <c:pt idx="78">
                  <c:v>0.47502081252106</c:v>
                </c:pt>
                <c:pt idx="79">
                  <c:v>0.4875026035157896</c:v>
                </c:pt>
                <c:pt idx="80">
                  <c:v>0.5</c:v>
                </c:pt>
                <c:pt idx="81">
                  <c:v>0.5124973964842103</c:v>
                </c:pt>
                <c:pt idx="82">
                  <c:v>0.52497918747894</c:v>
                </c:pt>
                <c:pt idx="83">
                  <c:v>0.5374298453437496</c:v>
                </c:pt>
                <c:pt idx="84">
                  <c:v>0.549833997312478</c:v>
                </c:pt>
                <c:pt idx="85">
                  <c:v>0.5621765008857981</c:v>
                </c:pt>
                <c:pt idx="86">
                  <c:v>0.574442516811659</c:v>
                </c:pt>
                <c:pt idx="87">
                  <c:v>0.5866175789173301</c:v>
                </c:pt>
                <c:pt idx="88">
                  <c:v>0.598687660112452</c:v>
                </c:pt>
                <c:pt idx="89">
                  <c:v>0.610639233949222</c:v>
                </c:pt>
                <c:pt idx="90">
                  <c:v>0.6224593312018546</c:v>
                </c:pt>
                <c:pt idx="91">
                  <c:v>0.6341355910108007</c:v>
                </c:pt>
                <c:pt idx="92">
                  <c:v>0.6456563062257954</c:v>
                </c:pt>
                <c:pt idx="93">
                  <c:v>0.6570104626734988</c:v>
                </c:pt>
                <c:pt idx="94">
                  <c:v>0.6681877721681662</c:v>
                </c:pt>
                <c:pt idx="95">
                  <c:v>0.679178699175393</c:v>
                </c:pt>
                <c:pt idx="96">
                  <c:v>0.6899744811276125</c:v>
                </c:pt>
                <c:pt idx="97">
                  <c:v>0.7005671424739729</c:v>
                </c:pt>
                <c:pt idx="98">
                  <c:v>0.7109495026250039</c:v>
                </c:pt>
                <c:pt idx="99">
                  <c:v>0.7211151780228631</c:v>
                </c:pt>
                <c:pt idx="100">
                  <c:v>0.7310585786300049</c:v>
                </c:pt>
                <c:pt idx="101">
                  <c:v>0.740774899182154</c:v>
                </c:pt>
                <c:pt idx="102">
                  <c:v>0.7502601055951177</c:v>
                </c:pt>
                <c:pt idx="103">
                  <c:v>0.759510916949111</c:v>
                </c:pt>
                <c:pt idx="104">
                  <c:v>0.7685247834990175</c:v>
                </c:pt>
                <c:pt idx="105">
                  <c:v>0.7772998611746911</c:v>
                </c:pt>
                <c:pt idx="106">
                  <c:v>0.7858349830425586</c:v>
                </c:pt>
                <c:pt idx="107">
                  <c:v>0.7941296281990528</c:v>
                </c:pt>
                <c:pt idx="108">
                  <c:v>0.8021838885585817</c:v>
                </c:pt>
                <c:pt idx="109">
                  <c:v>0.8099984339846871</c:v>
                </c:pt>
                <c:pt idx="110">
                  <c:v>0.8175744761936437</c:v>
                </c:pt>
                <c:pt idx="111">
                  <c:v>0.8249137318359602</c:v>
                </c:pt>
                <c:pt idx="112">
                  <c:v>0.8320183851339245</c:v>
                </c:pt>
                <c:pt idx="113">
                  <c:v>0.8388910504234147</c:v>
                </c:pt>
                <c:pt idx="114">
                  <c:v>0.8455347349164652</c:v>
                </c:pt>
                <c:pt idx="115">
                  <c:v>0.8519528019683106</c:v>
                </c:pt>
                <c:pt idx="116">
                  <c:v>0.8581489350995123</c:v>
                </c:pt>
                <c:pt idx="117">
                  <c:v>0.8641271029909058</c:v>
                </c:pt>
                <c:pt idx="118">
                  <c:v>0.8698915256370021</c:v>
                </c:pt>
                <c:pt idx="119">
                  <c:v>0.8754466418125836</c:v>
                </c:pt>
                <c:pt idx="120">
                  <c:v>0.8807970779778823</c:v>
                </c:pt>
                <c:pt idx="121">
                  <c:v>0.8859476187202091</c:v>
                </c:pt>
                <c:pt idx="122">
                  <c:v>0.8909031788043871</c:v>
                </c:pt>
                <c:pt idx="123">
                  <c:v>0.8956687768809987</c:v>
                </c:pt>
                <c:pt idx="124">
                  <c:v>0.9002495108803148</c:v>
                </c:pt>
                <c:pt idx="125">
                  <c:v>0.9046505351008906</c:v>
                </c:pt>
                <c:pt idx="126">
                  <c:v>0.9088770389851438</c:v>
                </c:pt>
                <c:pt idx="127">
                  <c:v>0.9129342275597286</c:v>
                </c:pt>
                <c:pt idx="128">
                  <c:v>0.9168273035060777</c:v>
                </c:pt>
                <c:pt idx="129">
                  <c:v>0.9205614508160216</c:v>
                </c:pt>
                <c:pt idx="130">
                  <c:v>0.9241418199787566</c:v>
                </c:pt>
                <c:pt idx="131">
                  <c:v>0.9275735146384823</c:v>
                </c:pt>
                <c:pt idx="132">
                  <c:v>0.9308615796566533</c:v>
                </c:pt>
                <c:pt idx="133">
                  <c:v>0.9340109905087812</c:v>
                </c:pt>
                <c:pt idx="134">
                  <c:v>0.9370266439430035</c:v>
                </c:pt>
                <c:pt idx="135">
                  <c:v>0.9399133498259924</c:v>
                </c:pt>
                <c:pt idx="136">
                  <c:v>0.9426758241011313</c:v>
                </c:pt>
                <c:pt idx="137">
                  <c:v>0.9453186827840592</c:v>
                </c:pt>
                <c:pt idx="138">
                  <c:v>0.9478464369215823</c:v>
                </c:pt>
                <c:pt idx="139">
                  <c:v>0.9502634884414434</c:v>
                </c:pt>
                <c:pt idx="140">
                  <c:v>0.9525741268224334</c:v>
                </c:pt>
                <c:pt idx="141">
                  <c:v>0.9547825265167125</c:v>
                </c:pt>
                <c:pt idx="142">
                  <c:v>0.9568927450589139</c:v>
                </c:pt>
                <c:pt idx="143">
                  <c:v>0.958908721799535</c:v>
                </c:pt>
                <c:pt idx="144">
                  <c:v>0.9608342772032357</c:v>
                </c:pt>
                <c:pt idx="145">
                  <c:v>0.9626731126558706</c:v>
                </c:pt>
                <c:pt idx="146">
                  <c:v>0.9644288107273639</c:v>
                </c:pt>
                <c:pt idx="147">
                  <c:v>0.9661048358408219</c:v>
                </c:pt>
                <c:pt idx="148">
                  <c:v>0.9677045353015494</c:v>
                </c:pt>
                <c:pt idx="149">
                  <c:v>0.969231140642852</c:v>
                </c:pt>
                <c:pt idx="150">
                  <c:v>0.9706877692486436</c:v>
                </c:pt>
                <c:pt idx="151">
                  <c:v>0.9720774262159271</c:v>
                </c:pt>
                <c:pt idx="152">
                  <c:v>0.973403006423134</c:v>
                </c:pt>
                <c:pt idx="153">
                  <c:v>0.9746672967731284</c:v>
                </c:pt>
                <c:pt idx="154">
                  <c:v>0.9758729785823308</c:v>
                </c:pt>
                <c:pt idx="155">
                  <c:v>0.9770226300899744</c:v>
                </c:pt>
                <c:pt idx="156">
                  <c:v>0.9781187290638694</c:v>
                </c:pt>
                <c:pt idx="157">
                  <c:v>0.9791636554813196</c:v>
                </c:pt>
                <c:pt idx="158">
                  <c:v>0.9801596942659225</c:v>
                </c:pt>
                <c:pt idx="159">
                  <c:v>0.9811090380629609</c:v>
                </c:pt>
                <c:pt idx="160">
                  <c:v>0.9820137900379085</c:v>
                </c:pt>
              </c:numCache>
            </c:numRef>
          </c:yVal>
          <c:smooth val="0"/>
        </c:ser>
        <c:ser>
          <c:idx val="1"/>
          <c:order val="1"/>
          <c:tx>
            <c:strRef>
              <c:f>Sheet1!$C$1</c:f>
              <c:strCache>
                <c:ptCount val="1"/>
                <c:pt idx="0">
                  <c:v>k = 2</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Sheet1!$A$2:$A$162</c:f>
              <c:numCache>
                <c:formatCode>General</c:formatCode>
                <c:ptCount val="16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c:v>
                </c:pt>
                <c:pt idx="61">
                  <c:v>-0.95</c:v>
                </c:pt>
                <c:pt idx="62">
                  <c:v>-0.9</c:v>
                </c:pt>
                <c:pt idx="63">
                  <c:v>-0.85</c:v>
                </c:pt>
                <c:pt idx="64">
                  <c:v>-0.8</c:v>
                </c:pt>
                <c:pt idx="65">
                  <c:v>-0.75</c:v>
                </c:pt>
                <c:pt idx="66">
                  <c:v>-0.7</c:v>
                </c:pt>
                <c:pt idx="67">
                  <c:v>-0.65</c:v>
                </c:pt>
                <c:pt idx="68">
                  <c:v>-0.6</c:v>
                </c:pt>
                <c:pt idx="69">
                  <c:v>-0.55</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c:v>
                </c:pt>
              </c:numCache>
            </c:numRef>
          </c:xVal>
          <c:yVal>
            <c:numRef>
              <c:f>Sheet1!$C$2:$C$162</c:f>
              <c:numCache>
                <c:formatCode>General</c:formatCode>
                <c:ptCount val="161"/>
                <c:pt idx="0">
                  <c:v>0.0003353501304664781</c:v>
                </c:pt>
                <c:pt idx="1">
                  <c:v>0.00037060614062639654</c:v>
                </c:pt>
                <c:pt idx="2">
                  <c:v>0.00040956716498605043</c:v>
                </c:pt>
                <c:pt idx="3">
                  <c:v>0.000452622223240535</c:v>
                </c:pt>
                <c:pt idx="4">
                  <c:v>0.0005002011070795643</c:v>
                </c:pt>
                <c:pt idx="5">
                  <c:v>0.0005527786369235996</c:v>
                </c:pt>
                <c:pt idx="6">
                  <c:v>0.000610879359434401</c:v>
                </c:pt>
                <c:pt idx="7">
                  <c:v>0.0006750827306328381</c:v>
                </c:pt>
                <c:pt idx="8">
                  <c:v>0.000746028833836697</c:v>
                </c:pt>
                <c:pt idx="9">
                  <c:v>0.0008244246863982953</c:v>
                </c:pt>
                <c:pt idx="10">
                  <c:v>0.0009110511944006454</c:v>
                </c:pt>
                <c:pt idx="11">
                  <c:v>0.001006770820085637</c:v>
                </c:pt>
                <c:pt idx="12">
                  <c:v>0.0011125360328603216</c:v>
                </c:pt>
                <c:pt idx="13">
                  <c:v>0.0012293986212774202</c:v>
                </c:pt>
                <c:pt idx="14">
                  <c:v>0.0013585199504289591</c:v>
                </c:pt>
                <c:pt idx="15">
                  <c:v>0.0015011822567369917</c:v>
                </c:pt>
                <c:pt idx="16">
                  <c:v>0.0016588010801744215</c:v>
                </c:pt>
                <c:pt idx="17">
                  <c:v>0.0018329389424928053</c:v>
                </c:pt>
                <c:pt idx="18">
                  <c:v>0.002025320389049882</c:v>
                </c:pt>
                <c:pt idx="19">
                  <c:v>0.0022378485212763335</c:v>
                </c:pt>
                <c:pt idx="20">
                  <c:v>0.0024726231566347743</c:v>
                </c:pt>
                <c:pt idx="21">
                  <c:v>0.002731960763011059</c:v>
                </c:pt>
                <c:pt idx="22">
                  <c:v>0.0030184163247084245</c:v>
                </c:pt>
                <c:pt idx="23">
                  <c:v>0.0033348073074133443</c:v>
                </c:pt>
                <c:pt idx="24">
                  <c:v>0.003684239899435989</c:v>
                </c:pt>
                <c:pt idx="25">
                  <c:v>0.004070137715896128</c:v>
                </c:pt>
                <c:pt idx="26">
                  <c:v>0.004496273160941178</c:v>
                </c:pt>
                <c:pt idx="27">
                  <c:v>0.004966801650056961</c:v>
                </c:pt>
                <c:pt idx="28">
                  <c:v>0.005486298899450404</c:v>
                </c:pt>
                <c:pt idx="29">
                  <c:v>0.006059801491584117</c:v>
                </c:pt>
                <c:pt idx="30">
                  <c:v>0.0066928509242848554</c:v>
                </c:pt>
                <c:pt idx="31">
                  <c:v>0.007391541344281971</c:v>
                </c:pt>
                <c:pt idx="32">
                  <c:v>0.008162571153159897</c:v>
                </c:pt>
                <c:pt idx="33">
                  <c:v>0.009013298652847824</c:v>
                </c:pt>
                <c:pt idx="34">
                  <c:v>0.009951801866904324</c:v>
                </c:pt>
                <c:pt idx="35">
                  <c:v>0.01098694263059318</c:v>
                </c:pt>
                <c:pt idx="36">
                  <c:v>0.012128434984274237</c:v>
                </c:pt>
                <c:pt idx="37">
                  <c:v>0.013386917827664779</c:v>
                </c:pt>
                <c:pt idx="38">
                  <c:v>0.014774031693273055</c:v>
                </c:pt>
                <c:pt idx="39">
                  <c:v>0.016302499371440946</c:v>
                </c:pt>
                <c:pt idx="40">
                  <c:v>0.01798620996209156</c:v>
                </c:pt>
                <c:pt idx="41">
                  <c:v>0.01984030573407751</c:v>
                </c:pt>
                <c:pt idx="42">
                  <c:v>0.021881270936130476</c:v>
                </c:pt>
                <c:pt idx="43">
                  <c:v>0.024127021417669196</c:v>
                </c:pt>
                <c:pt idx="44">
                  <c:v>0.026596993576865856</c:v>
                </c:pt>
                <c:pt idx="45">
                  <c:v>0.02931223075135632</c:v>
                </c:pt>
                <c:pt idx="46">
                  <c:v>0.032295464698450516</c:v>
                </c:pt>
                <c:pt idx="47">
                  <c:v>0.03557118927263618</c:v>
                </c:pt>
                <c:pt idx="48">
                  <c:v>0.039165722796764356</c:v>
                </c:pt>
                <c:pt idx="49">
                  <c:v>0.043107254941086116</c:v>
                </c:pt>
                <c:pt idx="50">
                  <c:v>0.04742587317756678</c:v>
                </c:pt>
                <c:pt idx="51">
                  <c:v>0.05215356307841774</c:v>
                </c:pt>
                <c:pt idx="52">
                  <c:v>0.057324175898868755</c:v>
                </c:pt>
                <c:pt idx="53">
                  <c:v>0.06297335605699649</c:v>
                </c:pt>
                <c:pt idx="54">
                  <c:v>0.06913842034334682</c:v>
                </c:pt>
                <c:pt idx="55">
                  <c:v>0.07585818002124355</c:v>
                </c:pt>
                <c:pt idx="56">
                  <c:v>0.08317269649392238</c:v>
                </c:pt>
                <c:pt idx="57">
                  <c:v>0.09112296101485616</c:v>
                </c:pt>
                <c:pt idx="58">
                  <c:v>0.09975048911968513</c:v>
                </c:pt>
                <c:pt idx="59">
                  <c:v>0.10909682119561294</c:v>
                </c:pt>
                <c:pt idx="60">
                  <c:v>0.11920292202211755</c:v>
                </c:pt>
                <c:pt idx="61">
                  <c:v>0.13010847436299786</c:v>
                </c:pt>
                <c:pt idx="62">
                  <c:v>0.14185106490048777</c:v>
                </c:pt>
                <c:pt idx="63">
                  <c:v>0.15446526508353473</c:v>
                </c:pt>
                <c:pt idx="64">
                  <c:v>0.16798161486607552</c:v>
                </c:pt>
                <c:pt idx="65">
                  <c:v>0.18242552380635635</c:v>
                </c:pt>
                <c:pt idx="66">
                  <c:v>0.19781611144141825</c:v>
                </c:pt>
                <c:pt idx="67">
                  <c:v>0.2141650169574414</c:v>
                </c:pt>
                <c:pt idx="68">
                  <c:v>0.23147521650098238</c:v>
                </c:pt>
                <c:pt idx="69">
                  <c:v>0.24973989440488234</c:v>
                </c:pt>
                <c:pt idx="70">
                  <c:v>0.2689414213699951</c:v>
                </c:pt>
                <c:pt idx="71">
                  <c:v>0.289050497374996</c:v>
                </c:pt>
                <c:pt idx="72">
                  <c:v>0.31002551887238755</c:v>
                </c:pt>
                <c:pt idx="73">
                  <c:v>0.3318122278318339</c:v>
                </c:pt>
                <c:pt idx="74">
                  <c:v>0.35434369377420455</c:v>
                </c:pt>
                <c:pt idx="75">
                  <c:v>0.3775406687981454</c:v>
                </c:pt>
                <c:pt idx="76">
                  <c:v>0.401312339887548</c:v>
                </c:pt>
                <c:pt idx="77">
                  <c:v>0.425557483188341</c:v>
                </c:pt>
                <c:pt idx="78">
                  <c:v>0.45016600268752216</c:v>
                </c:pt>
                <c:pt idx="79">
                  <c:v>0.47502081252106</c:v>
                </c:pt>
                <c:pt idx="80">
                  <c:v>0.5</c:v>
                </c:pt>
                <c:pt idx="81">
                  <c:v>0.52497918747894</c:v>
                </c:pt>
                <c:pt idx="82">
                  <c:v>0.549833997312478</c:v>
                </c:pt>
                <c:pt idx="83">
                  <c:v>0.574442516811659</c:v>
                </c:pt>
                <c:pt idx="84">
                  <c:v>0.598687660112452</c:v>
                </c:pt>
                <c:pt idx="85">
                  <c:v>0.6224593312018546</c:v>
                </c:pt>
                <c:pt idx="86">
                  <c:v>0.6456563062257954</c:v>
                </c:pt>
                <c:pt idx="87">
                  <c:v>0.6681877721681662</c:v>
                </c:pt>
                <c:pt idx="88">
                  <c:v>0.6899744811276125</c:v>
                </c:pt>
                <c:pt idx="89">
                  <c:v>0.7109495026250039</c:v>
                </c:pt>
                <c:pt idx="90">
                  <c:v>0.7310585786300049</c:v>
                </c:pt>
                <c:pt idx="91">
                  <c:v>0.7502601055951177</c:v>
                </c:pt>
                <c:pt idx="92">
                  <c:v>0.7685247834990175</c:v>
                </c:pt>
                <c:pt idx="93">
                  <c:v>0.7858349830425586</c:v>
                </c:pt>
                <c:pt idx="94">
                  <c:v>0.8021838885585817</c:v>
                </c:pt>
                <c:pt idx="95">
                  <c:v>0.8175744761936437</c:v>
                </c:pt>
                <c:pt idx="96">
                  <c:v>0.8320183851339245</c:v>
                </c:pt>
                <c:pt idx="97">
                  <c:v>0.8455347349164652</c:v>
                </c:pt>
                <c:pt idx="98">
                  <c:v>0.8581489350995123</c:v>
                </c:pt>
                <c:pt idx="99">
                  <c:v>0.8698915256370021</c:v>
                </c:pt>
                <c:pt idx="100">
                  <c:v>0.8807970779778823</c:v>
                </c:pt>
                <c:pt idx="101">
                  <c:v>0.8909031788043871</c:v>
                </c:pt>
                <c:pt idx="102">
                  <c:v>0.9002495108803148</c:v>
                </c:pt>
                <c:pt idx="103">
                  <c:v>0.9088770389851438</c:v>
                </c:pt>
                <c:pt idx="104">
                  <c:v>0.9168273035060777</c:v>
                </c:pt>
                <c:pt idx="105">
                  <c:v>0.9241418199787566</c:v>
                </c:pt>
                <c:pt idx="106">
                  <c:v>0.9308615796566533</c:v>
                </c:pt>
                <c:pt idx="107">
                  <c:v>0.9370266439430035</c:v>
                </c:pt>
                <c:pt idx="108">
                  <c:v>0.9426758241011313</c:v>
                </c:pt>
                <c:pt idx="109">
                  <c:v>0.9478464369215823</c:v>
                </c:pt>
                <c:pt idx="110">
                  <c:v>0.9525741268224334</c:v>
                </c:pt>
                <c:pt idx="111">
                  <c:v>0.9568927450589139</c:v>
                </c:pt>
                <c:pt idx="112">
                  <c:v>0.9608342772032357</c:v>
                </c:pt>
                <c:pt idx="113">
                  <c:v>0.9644288107273639</c:v>
                </c:pt>
                <c:pt idx="114">
                  <c:v>0.9677045353015494</c:v>
                </c:pt>
                <c:pt idx="115">
                  <c:v>0.9706877692486436</c:v>
                </c:pt>
                <c:pt idx="116">
                  <c:v>0.973403006423134</c:v>
                </c:pt>
                <c:pt idx="117">
                  <c:v>0.9758729785823308</c:v>
                </c:pt>
                <c:pt idx="118">
                  <c:v>0.9781187290638694</c:v>
                </c:pt>
                <c:pt idx="119">
                  <c:v>0.9801596942659225</c:v>
                </c:pt>
                <c:pt idx="120">
                  <c:v>0.9820137900379085</c:v>
                </c:pt>
                <c:pt idx="121">
                  <c:v>0.9836975006285591</c:v>
                </c:pt>
                <c:pt idx="122">
                  <c:v>0.9852259683067269</c:v>
                </c:pt>
                <c:pt idx="123">
                  <c:v>0.9866130821723351</c:v>
                </c:pt>
                <c:pt idx="124">
                  <c:v>0.9878715650157257</c:v>
                </c:pt>
                <c:pt idx="125">
                  <c:v>0.9890130573694068</c:v>
                </c:pt>
                <c:pt idx="126">
                  <c:v>0.9900481981330957</c:v>
                </c:pt>
                <c:pt idx="127">
                  <c:v>0.990986701347152</c:v>
                </c:pt>
                <c:pt idx="128">
                  <c:v>0.9918374288468401</c:v>
                </c:pt>
                <c:pt idx="129">
                  <c:v>0.9926084586557181</c:v>
                </c:pt>
                <c:pt idx="130">
                  <c:v>0.9933071490757153</c:v>
                </c:pt>
                <c:pt idx="131">
                  <c:v>0.9939401985084158</c:v>
                </c:pt>
                <c:pt idx="132">
                  <c:v>0.9945137011005495</c:v>
                </c:pt>
                <c:pt idx="133">
                  <c:v>0.995033198349943</c:v>
                </c:pt>
                <c:pt idx="134">
                  <c:v>0.9955037268390589</c:v>
                </c:pt>
                <c:pt idx="135">
                  <c:v>0.995929862284104</c:v>
                </c:pt>
                <c:pt idx="136">
                  <c:v>0.9963157601005641</c:v>
                </c:pt>
                <c:pt idx="137">
                  <c:v>0.9966651926925867</c:v>
                </c:pt>
                <c:pt idx="138">
                  <c:v>0.9969815836752917</c:v>
                </c:pt>
                <c:pt idx="139">
                  <c:v>0.997268039236989</c:v>
                </c:pt>
                <c:pt idx="140">
                  <c:v>0.9975273768433653</c:v>
                </c:pt>
                <c:pt idx="141">
                  <c:v>0.9977621514787236</c:v>
                </c:pt>
                <c:pt idx="142">
                  <c:v>0.9979746796109501</c:v>
                </c:pt>
                <c:pt idx="143">
                  <c:v>0.9981670610575072</c:v>
                </c:pt>
                <c:pt idx="144">
                  <c:v>0.9983411989198255</c:v>
                </c:pt>
                <c:pt idx="145">
                  <c:v>0.998498817743263</c:v>
                </c:pt>
                <c:pt idx="146">
                  <c:v>0.9986414800495711</c:v>
                </c:pt>
                <c:pt idx="147">
                  <c:v>0.9987706013787226</c:v>
                </c:pt>
                <c:pt idx="148">
                  <c:v>0.9988874639671398</c:v>
                </c:pt>
                <c:pt idx="149">
                  <c:v>0.9989932291799144</c:v>
                </c:pt>
                <c:pt idx="150">
                  <c:v>0.9990889488055994</c:v>
                </c:pt>
                <c:pt idx="151">
                  <c:v>0.9991755753136017</c:v>
                </c:pt>
                <c:pt idx="152">
                  <c:v>0.9992539711661633</c:v>
                </c:pt>
                <c:pt idx="153">
                  <c:v>0.9993249172693672</c:v>
                </c:pt>
                <c:pt idx="154">
                  <c:v>0.9993891206405656</c:v>
                </c:pt>
                <c:pt idx="155">
                  <c:v>0.9994472213630764</c:v>
                </c:pt>
                <c:pt idx="156">
                  <c:v>0.9994997988929205</c:v>
                </c:pt>
                <c:pt idx="157">
                  <c:v>0.9995473777767595</c:v>
                </c:pt>
                <c:pt idx="158">
                  <c:v>0.9995904328350139</c:v>
                </c:pt>
                <c:pt idx="159">
                  <c:v>0.9996293938593735</c:v>
                </c:pt>
                <c:pt idx="160">
                  <c:v>0.9996646498695336</c:v>
                </c:pt>
              </c:numCache>
            </c:numRef>
          </c:yVal>
          <c:smooth val="0"/>
        </c:ser>
        <c:ser>
          <c:idx val="2"/>
          <c:order val="2"/>
          <c:tx>
            <c:strRef>
              <c:f>Sheet1!$D$1</c:f>
              <c:strCache>
                <c:ptCount val="1"/>
                <c:pt idx="0">
                  <c:v>k = 4</c:v>
                </c:pt>
              </c:strCache>
            </c:strRef>
          </c:tx>
          <c:spPr>
            <a:solidFill>
              <a:srgbClr val="15232D"/>
            </a:solidFill>
            <a:ln w="38100" cap="flat">
              <a:solidFill>
                <a:srgbClr val="15232D"/>
              </a:solidFill>
              <a:prstDash val="solid"/>
              <a:round/>
            </a:ln>
            <a:effectLst/>
          </c:spPr>
          <c:marker>
            <c:symbol val="none"/>
            <c:size val="7"/>
            <c:spPr>
              <a:solidFill>
                <a:srgbClr val="15232D"/>
              </a:solidFill>
              <a:ln w="9525" cap="flat">
                <a:solidFill>
                  <a:srgbClr val="15232D"/>
                </a:solidFill>
                <a:prstDash val="solid"/>
                <a:round/>
              </a:ln>
              <a:effectLst/>
            </c:spPr>
          </c:marker>
          <c:xVal>
            <c:numRef>
              <c:f>Sheet1!$A$2:$A$162</c:f>
              <c:numCache>
                <c:formatCode>General</c:formatCode>
                <c:ptCount val="16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c:v>
                </c:pt>
                <c:pt idx="61">
                  <c:v>-0.95</c:v>
                </c:pt>
                <c:pt idx="62">
                  <c:v>-0.9</c:v>
                </c:pt>
                <c:pt idx="63">
                  <c:v>-0.85</c:v>
                </c:pt>
                <c:pt idx="64">
                  <c:v>-0.8</c:v>
                </c:pt>
                <c:pt idx="65">
                  <c:v>-0.75</c:v>
                </c:pt>
                <c:pt idx="66">
                  <c:v>-0.7</c:v>
                </c:pt>
                <c:pt idx="67">
                  <c:v>-0.65</c:v>
                </c:pt>
                <c:pt idx="68">
                  <c:v>-0.6</c:v>
                </c:pt>
                <c:pt idx="69">
                  <c:v>-0.55</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c:v>
                </c:pt>
              </c:numCache>
            </c:numRef>
          </c:xVal>
          <c:yVal>
            <c:numRef>
              <c:f>Sheet1!$D$2:$D$162</c:f>
              <c:numCache>
                <c:formatCode>General</c:formatCode>
                <c:ptCount val="161"/>
                <c:pt idx="0">
                  <c:v>1.12535162055095e-7</c:v>
                </c:pt>
                <c:pt idx="1">
                  <c:v>1.3745075389942726e-7</c:v>
                </c:pt>
                <c:pt idx="2">
                  <c:v>1.6788272481495226e-7</c:v>
                </c:pt>
                <c:pt idx="3">
                  <c:v>2.0505241551469094e-7</c:v>
                </c:pt>
                <c:pt idx="4">
                  <c:v>2.5045157450675526e-7</c:v>
                </c:pt>
                <c:pt idx="5">
                  <c:v>3.059022269256247e-7</c:v>
                </c:pt>
                <c:pt idx="6">
                  <c:v>3.736297983892476e-7</c:v>
                </c:pt>
                <c:pt idx="7">
                  <c:v>4.5635242853276525e-7</c:v>
                </c:pt>
                <c:pt idx="8">
                  <c:v>5.57390058585609e-7</c:v>
                </c:pt>
                <c:pt idx="9">
                  <c:v>6.8079767091185e-7</c:v>
                </c:pt>
                <c:pt idx="10">
                  <c:v>8.315280276641321e-7</c:v>
                </c:pt>
                <c:pt idx="11">
                  <c:v>0.000001015630439496253</c:v>
                </c:pt>
                <c:pt idx="12">
                  <c:v>0.0000012404935411305788</c:v>
                </c:pt>
                <c:pt idx="13">
                  <c:v>0.0000015151418164850468</c:v>
                </c:pt>
                <c:pt idx="14">
                  <c:v>0.0000018505977728634534</c:v>
                </c:pt>
                <c:pt idx="15">
                  <c:v>0.0000022603242979035746</c:v>
                </c:pt>
                <c:pt idx="16">
                  <c:v>0.0000027607649501930464</c:v>
                </c:pt>
                <c:pt idx="17">
                  <c:v>0.000003372003863690787</c:v>
                </c:pt>
                <c:pt idx="18">
                  <c:v>0.000004118571744832629</c:v>
                </c:pt>
                <c:pt idx="19">
                  <c:v>0.0000050304303017551306</c:v>
                </c:pt>
                <c:pt idx="20">
                  <c:v>0.000006144174602214718</c:v>
                </c:pt>
                <c:pt idx="21">
                  <c:v>0.00000750450159711</c:v>
                </c:pt>
                <c:pt idx="22">
                  <c:v>0.00000916600371985333</c:v>
                </c:pt>
                <c:pt idx="23">
                  <c:v>0.000011195359505113293</c:v>
                </c:pt>
                <c:pt idx="24">
                  <c:v>0.000013674009084599736</c:v>
                </c:pt>
                <c:pt idx="25">
                  <c:v>0.00001670142184809518</c:v>
                </c:pt>
                <c:pt idx="26">
                  <c:v>0.00002039908727992137</c:v>
                </c:pt>
                <c:pt idx="27">
                  <c:v>0.000024915388939429926</c:v>
                </c:pt>
                <c:pt idx="28">
                  <c:v>0.00003043155690056533</c:v>
                </c:pt>
                <c:pt idx="29">
                  <c:v>0.00003716893710288947</c:v>
                </c:pt>
                <c:pt idx="30">
                  <c:v>0.000045397868702434395</c:v>
                </c:pt>
                <c:pt idx="31">
                  <c:v>0.000055448524722794907</c:v>
                </c:pt>
                <c:pt idx="32">
                  <c:v>0.00006772414961977023</c:v>
                </c:pt>
                <c:pt idx="33">
                  <c:v>0.00008271722285166639</c:v>
                </c:pt>
                <c:pt idx="34">
                  <c:v>0.00010102919390777289</c:v>
                </c:pt>
                <c:pt idx="35">
                  <c:v>0.00012339457598623172</c:v>
                </c:pt>
                <c:pt idx="36">
                  <c:v>0.0001507103580597574</c:v>
                </c:pt>
                <c:pt idx="37">
                  <c:v>0.00018407190496342397</c:v>
                </c:pt>
                <c:pt idx="38">
                  <c:v>0.0002248167702332953</c:v>
                </c:pt>
                <c:pt idx="39">
                  <c:v>0.0002745781561013329</c:v>
                </c:pt>
                <c:pt idx="40">
                  <c:v>0.0003353501304664781</c:v>
                </c:pt>
                <c:pt idx="41">
                  <c:v>0.00040956716498605043</c:v>
                </c:pt>
                <c:pt idx="42">
                  <c:v>0.0005002011070795643</c:v>
                </c:pt>
                <c:pt idx="43">
                  <c:v>0.000610879359434401</c:v>
                </c:pt>
                <c:pt idx="44">
                  <c:v>0.000746028833836697</c:v>
                </c:pt>
                <c:pt idx="45">
                  <c:v>0.0009110511944006454</c:v>
                </c:pt>
                <c:pt idx="46">
                  <c:v>0.0011125360328603216</c:v>
                </c:pt>
                <c:pt idx="47">
                  <c:v>0.0013585199504289591</c:v>
                </c:pt>
                <c:pt idx="48">
                  <c:v>0.0016588010801744215</c:v>
                </c:pt>
                <c:pt idx="49">
                  <c:v>0.002025320389049882</c:v>
                </c:pt>
                <c:pt idx="50">
                  <c:v>0.0024726231566347743</c:v>
                </c:pt>
                <c:pt idx="51">
                  <c:v>0.0030184163247084245</c:v>
                </c:pt>
                <c:pt idx="52">
                  <c:v>0.003684239899435989</c:v>
                </c:pt>
                <c:pt idx="53">
                  <c:v>0.004496273160941178</c:v>
                </c:pt>
                <c:pt idx="54">
                  <c:v>0.005486298899450404</c:v>
                </c:pt>
                <c:pt idx="55">
                  <c:v>0.0066928509242848554</c:v>
                </c:pt>
                <c:pt idx="56">
                  <c:v>0.008162571153159897</c:v>
                </c:pt>
                <c:pt idx="57">
                  <c:v>0.009951801866904324</c:v>
                </c:pt>
                <c:pt idx="58">
                  <c:v>0.012128434984274237</c:v>
                </c:pt>
                <c:pt idx="59">
                  <c:v>0.014774031693273055</c:v>
                </c:pt>
                <c:pt idx="60">
                  <c:v>0.01798620996209156</c:v>
                </c:pt>
                <c:pt idx="61">
                  <c:v>0.021881270936130476</c:v>
                </c:pt>
                <c:pt idx="62">
                  <c:v>0.026596993576865856</c:v>
                </c:pt>
                <c:pt idx="63">
                  <c:v>0.032295464698450516</c:v>
                </c:pt>
                <c:pt idx="64">
                  <c:v>0.039165722796764356</c:v>
                </c:pt>
                <c:pt idx="65">
                  <c:v>0.04742587317756678</c:v>
                </c:pt>
                <c:pt idx="66">
                  <c:v>0.057324175898868755</c:v>
                </c:pt>
                <c:pt idx="67">
                  <c:v>0.06913842034334682</c:v>
                </c:pt>
                <c:pt idx="68">
                  <c:v>0.08317269649392238</c:v>
                </c:pt>
                <c:pt idx="69">
                  <c:v>0.09975048911968513</c:v>
                </c:pt>
                <c:pt idx="70">
                  <c:v>0.11920292202211755</c:v>
                </c:pt>
                <c:pt idx="71">
                  <c:v>0.14185106490048777</c:v>
                </c:pt>
                <c:pt idx="72">
                  <c:v>0.16798161486607552</c:v>
                </c:pt>
                <c:pt idx="73">
                  <c:v>0.19781611144141825</c:v>
                </c:pt>
                <c:pt idx="74">
                  <c:v>0.23147521650098238</c:v>
                </c:pt>
                <c:pt idx="75">
                  <c:v>0.2689414213699951</c:v>
                </c:pt>
                <c:pt idx="76">
                  <c:v>0.31002551887238755</c:v>
                </c:pt>
                <c:pt idx="77">
                  <c:v>0.35434369377420455</c:v>
                </c:pt>
                <c:pt idx="78">
                  <c:v>0.401312339887548</c:v>
                </c:pt>
                <c:pt idx="79">
                  <c:v>0.45016600268752216</c:v>
                </c:pt>
                <c:pt idx="80">
                  <c:v>0.5</c:v>
                </c:pt>
                <c:pt idx="81">
                  <c:v>0.549833997312478</c:v>
                </c:pt>
                <c:pt idx="82">
                  <c:v>0.598687660112452</c:v>
                </c:pt>
                <c:pt idx="83">
                  <c:v>0.6456563062257954</c:v>
                </c:pt>
                <c:pt idx="84">
                  <c:v>0.6899744811276125</c:v>
                </c:pt>
                <c:pt idx="85">
                  <c:v>0.7310585786300049</c:v>
                </c:pt>
                <c:pt idx="86">
                  <c:v>0.7685247834990175</c:v>
                </c:pt>
                <c:pt idx="87">
                  <c:v>0.8021838885585817</c:v>
                </c:pt>
                <c:pt idx="88">
                  <c:v>0.8320183851339245</c:v>
                </c:pt>
                <c:pt idx="89">
                  <c:v>0.8581489350995123</c:v>
                </c:pt>
                <c:pt idx="90">
                  <c:v>0.8807970779778823</c:v>
                </c:pt>
                <c:pt idx="91">
                  <c:v>0.9002495108803148</c:v>
                </c:pt>
                <c:pt idx="92">
                  <c:v>0.9168273035060777</c:v>
                </c:pt>
                <c:pt idx="93">
                  <c:v>0.9308615796566533</c:v>
                </c:pt>
                <c:pt idx="94">
                  <c:v>0.9426758241011313</c:v>
                </c:pt>
                <c:pt idx="95">
                  <c:v>0.9525741268224334</c:v>
                </c:pt>
                <c:pt idx="96">
                  <c:v>0.9608342772032357</c:v>
                </c:pt>
                <c:pt idx="97">
                  <c:v>0.9677045353015494</c:v>
                </c:pt>
                <c:pt idx="98">
                  <c:v>0.973403006423134</c:v>
                </c:pt>
                <c:pt idx="99">
                  <c:v>0.9781187290638694</c:v>
                </c:pt>
                <c:pt idx="100">
                  <c:v>0.9820137900379085</c:v>
                </c:pt>
                <c:pt idx="101">
                  <c:v>0.9852259683067269</c:v>
                </c:pt>
                <c:pt idx="102">
                  <c:v>0.9878715650157257</c:v>
                </c:pt>
                <c:pt idx="103">
                  <c:v>0.9900481981330957</c:v>
                </c:pt>
                <c:pt idx="104">
                  <c:v>0.9918374288468401</c:v>
                </c:pt>
                <c:pt idx="105">
                  <c:v>0.9933071490757153</c:v>
                </c:pt>
                <c:pt idx="106">
                  <c:v>0.9945137011005495</c:v>
                </c:pt>
                <c:pt idx="107">
                  <c:v>0.9955037268390589</c:v>
                </c:pt>
                <c:pt idx="108">
                  <c:v>0.9963157601005641</c:v>
                </c:pt>
                <c:pt idx="109">
                  <c:v>0.9969815836752917</c:v>
                </c:pt>
                <c:pt idx="110">
                  <c:v>0.9975273768433653</c:v>
                </c:pt>
                <c:pt idx="111">
                  <c:v>0.9979746796109501</c:v>
                </c:pt>
                <c:pt idx="112">
                  <c:v>0.9983411989198255</c:v>
                </c:pt>
                <c:pt idx="113">
                  <c:v>0.9986414800495711</c:v>
                </c:pt>
                <c:pt idx="114">
                  <c:v>0.9988874639671398</c:v>
                </c:pt>
                <c:pt idx="115">
                  <c:v>0.9990889488055994</c:v>
                </c:pt>
                <c:pt idx="116">
                  <c:v>0.9992539711661633</c:v>
                </c:pt>
                <c:pt idx="117">
                  <c:v>0.9993891206405656</c:v>
                </c:pt>
                <c:pt idx="118">
                  <c:v>0.9994997988929205</c:v>
                </c:pt>
                <c:pt idx="119">
                  <c:v>0.9995904328350139</c:v>
                </c:pt>
                <c:pt idx="120">
                  <c:v>0.9996646498695336</c:v>
                </c:pt>
                <c:pt idx="121">
                  <c:v>0.9997254218438986</c:v>
                </c:pt>
                <c:pt idx="122">
                  <c:v>0.9997751832297667</c:v>
                </c:pt>
                <c:pt idx="123">
                  <c:v>0.9998159280950366</c:v>
                </c:pt>
                <c:pt idx="124">
                  <c:v>0.9998492896419403</c:v>
                </c:pt>
                <c:pt idx="125">
                  <c:v>0.9998766054240137</c:v>
                </c:pt>
                <c:pt idx="126">
                  <c:v>0.9998989708060922</c:v>
                </c:pt>
                <c:pt idx="127">
                  <c:v>0.9999172827771484</c:v>
                </c:pt>
                <c:pt idx="128">
                  <c:v>0.9999322758503804</c:v>
                </c:pt>
                <c:pt idx="129">
                  <c:v>0.9999445514752772</c:v>
                </c:pt>
                <c:pt idx="130">
                  <c:v>0.9999546021312976</c:v>
                </c:pt>
                <c:pt idx="131">
                  <c:v>0.9999628310628971</c:v>
                </c:pt>
                <c:pt idx="132">
                  <c:v>0.9999695684430994</c:v>
                </c:pt>
                <c:pt idx="133">
                  <c:v>0.9999750846110607</c:v>
                </c:pt>
                <c:pt idx="134">
                  <c:v>0.9999796009127201</c:v>
                </c:pt>
                <c:pt idx="135">
                  <c:v>0.999983298578152</c:v>
                </c:pt>
                <c:pt idx="136">
                  <c:v>0.9999863259909154</c:v>
                </c:pt>
                <c:pt idx="137">
                  <c:v>0.999988804640495</c:v>
                </c:pt>
                <c:pt idx="138">
                  <c:v>0.9999908339962802</c:v>
                </c:pt>
                <c:pt idx="139">
                  <c:v>0.9999924954984029</c:v>
                </c:pt>
                <c:pt idx="140">
                  <c:v>0.9999938558253978</c:v>
                </c:pt>
                <c:pt idx="141">
                  <c:v>0.9999949695696981</c:v>
                </c:pt>
                <c:pt idx="142">
                  <c:v>0.999995881428255</c:v>
                </c:pt>
                <c:pt idx="143">
                  <c:v>0.9999966279961363</c:v>
                </c:pt>
                <c:pt idx="144">
                  <c:v>0.9999972392350497</c:v>
                </c:pt>
                <c:pt idx="145">
                  <c:v>0.999997739675702</c:v>
                </c:pt>
                <c:pt idx="146">
                  <c:v>0.9999981494022271</c:v>
                </c:pt>
                <c:pt idx="147">
                  <c:v>0.9999984848581834</c:v>
                </c:pt>
                <c:pt idx="148">
                  <c:v>0.9999987595064589</c:v>
                </c:pt>
                <c:pt idx="149">
                  <c:v>0.9999989843695606</c:v>
                </c:pt>
                <c:pt idx="150">
                  <c:v>0.9999991684719722</c:v>
                </c:pt>
                <c:pt idx="151">
                  <c:v>0.9999993192023292</c:v>
                </c:pt>
                <c:pt idx="152">
                  <c:v>0.9999994426099414</c:v>
                </c:pt>
                <c:pt idx="153">
                  <c:v>0.9999995436475715</c:v>
                </c:pt>
                <c:pt idx="154">
                  <c:v>0.9999996263702017</c:v>
                </c:pt>
                <c:pt idx="155">
                  <c:v>0.999999694097773</c:v>
                </c:pt>
                <c:pt idx="156">
                  <c:v>0.9999997495484255</c:v>
                </c:pt>
                <c:pt idx="157">
                  <c:v>0.9999997949475846</c:v>
                </c:pt>
                <c:pt idx="158">
                  <c:v>0.9999998321172752</c:v>
                </c:pt>
                <c:pt idx="159">
                  <c:v>0.9999998625492461</c:v>
                </c:pt>
                <c:pt idx="160">
                  <c:v>0.9999998874648379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4"/>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signed distance from the boundary</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4"/>
        <c:auto val="1"/>
        <c:lblAlgn val="ctr"/>
        <c:noMultiLvlLbl val="1"/>
        <c:majorUnit val="1"/>
      </c:valAx>
      <c:valAx>
        <c:axId val="2094734552"/>
        <c:scaling>
          <c:orientation val="minMax"/>
          <c:max val="1"/>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σ(k · z)</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2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step</c:v>
                </c:pt>
              </c:strCache>
            </c:strRef>
          </c:tx>
          <c:spPr>
            <a:solidFill>
              <a:srgbClr val="15232D"/>
            </a:solidFill>
            <a:ln w="38100" cap="flat">
              <a:solidFill>
                <a:srgbClr val="15232D"/>
              </a:solidFill>
              <a:prstDash val="solid"/>
              <a:round/>
            </a:ln>
            <a:effectLst/>
          </c:spPr>
          <c:marker>
            <c:symbol val="none"/>
            <c:size val="7"/>
            <c:spPr>
              <a:solidFill>
                <a:srgbClr val="15232D"/>
              </a:solidFill>
              <a:ln w="9525" cap="flat">
                <a:solidFill>
                  <a:srgbClr val="15232D"/>
                </a:solidFill>
                <a:prstDash val="solid"/>
                <a:round/>
              </a:ln>
              <a:effectLst/>
            </c:spPr>
          </c:marker>
          <c:xVal>
            <c:numRef>
              <c:f>Sheet1!$A$2:$A$122</c:f>
              <c:numCache>
                <c:formatCode>General</c:formatCode>
                <c:ptCount val="121"/>
                <c:pt idx="0">
                  <c:v>-3</c:v>
                </c:pt>
                <c:pt idx="1">
                  <c:v>-2.95</c:v>
                </c:pt>
                <c:pt idx="2">
                  <c:v>-2.9</c:v>
                </c:pt>
                <c:pt idx="3">
                  <c:v>-2.85</c:v>
                </c:pt>
                <c:pt idx="4">
                  <c:v>-2.8</c:v>
                </c:pt>
                <c:pt idx="5">
                  <c:v>-2.75</c:v>
                </c:pt>
                <c:pt idx="6">
                  <c:v>-2.7</c:v>
                </c:pt>
                <c:pt idx="7">
                  <c:v>-2.65</c:v>
                </c:pt>
                <c:pt idx="8">
                  <c:v>-2.6</c:v>
                </c:pt>
                <c:pt idx="9">
                  <c:v>-2.55</c:v>
                </c:pt>
                <c:pt idx="10">
                  <c:v>-2.5</c:v>
                </c:pt>
                <c:pt idx="11">
                  <c:v>-2.45</c:v>
                </c:pt>
                <c:pt idx="12">
                  <c:v>-2.4</c:v>
                </c:pt>
                <c:pt idx="13">
                  <c:v>-2.35</c:v>
                </c:pt>
                <c:pt idx="14">
                  <c:v>-2.3</c:v>
                </c:pt>
                <c:pt idx="15">
                  <c:v>-2.25</c:v>
                </c:pt>
                <c:pt idx="16">
                  <c:v>-2.2</c:v>
                </c:pt>
                <c:pt idx="17">
                  <c:v>-2.15</c:v>
                </c:pt>
                <c:pt idx="18">
                  <c:v>-2.1</c:v>
                </c:pt>
                <c:pt idx="19">
                  <c:v>-2.05</c:v>
                </c:pt>
                <c:pt idx="20">
                  <c:v>-2</c:v>
                </c:pt>
                <c:pt idx="21">
                  <c:v>-1.95</c:v>
                </c:pt>
                <c:pt idx="22">
                  <c:v>-1.9</c:v>
                </c:pt>
                <c:pt idx="23">
                  <c:v>-1.85</c:v>
                </c:pt>
                <c:pt idx="24">
                  <c:v>-1.8</c:v>
                </c:pt>
                <c:pt idx="25">
                  <c:v>-1.75</c:v>
                </c:pt>
                <c:pt idx="26">
                  <c:v>-1.7</c:v>
                </c:pt>
                <c:pt idx="27">
                  <c:v>-1.65</c:v>
                </c:pt>
                <c:pt idx="28">
                  <c:v>-1.6</c:v>
                </c:pt>
                <c:pt idx="29">
                  <c:v>-1.55</c:v>
                </c:pt>
                <c:pt idx="30">
                  <c:v>-1.5</c:v>
                </c:pt>
                <c:pt idx="31">
                  <c:v>-1.45</c:v>
                </c:pt>
                <c:pt idx="32">
                  <c:v>-1.4</c:v>
                </c:pt>
                <c:pt idx="33">
                  <c:v>-1.35</c:v>
                </c:pt>
                <c:pt idx="34">
                  <c:v>-1.3</c:v>
                </c:pt>
                <c:pt idx="35">
                  <c:v>-1.25</c:v>
                </c:pt>
                <c:pt idx="36">
                  <c:v>-1.2</c:v>
                </c:pt>
                <c:pt idx="37">
                  <c:v>-1.15</c:v>
                </c:pt>
                <c:pt idx="38">
                  <c:v>-1.1</c:v>
                </c:pt>
                <c:pt idx="39">
                  <c:v>-1.05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xVal>
          <c:yVal>
            <c:numRef>
              <c:f>Sheet1!$B$2:$B$122</c:f>
              <c:numCache>
                <c:formatCode>General</c:formatCode>
                <c:ptCount val="1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z</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3"/>
        <c:auto val="1"/>
        <c:lblAlgn val="ctr"/>
        <c:noMultiLvlLbl val="1"/>
        <c:majorUnit val="1"/>
      </c:valAx>
      <c:valAx>
        <c:axId val="2094734552"/>
        <c:scaling>
          <c:orientation val="minMax"/>
          <c:max val="1.2"/>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g(z)</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Sheet1!$A$2:$A$122</c:f>
              <c:numCache>
                <c:formatCode>General</c:formatCode>
                <c:ptCount val="121"/>
                <c:pt idx="0">
                  <c:v>-6</c:v>
                </c:pt>
                <c:pt idx="1">
                  <c:v>-5.9</c:v>
                </c:pt>
                <c:pt idx="2">
                  <c:v>-5.8</c:v>
                </c:pt>
                <c:pt idx="3">
                  <c:v>-5.7</c:v>
                </c:pt>
                <c:pt idx="4">
                  <c:v>-5.6</c:v>
                </c:pt>
                <c:pt idx="5">
                  <c:v>-5.5</c:v>
                </c:pt>
                <c:pt idx="6">
                  <c:v>-5.4</c:v>
                </c:pt>
                <c:pt idx="7">
                  <c:v>-5.3</c:v>
                </c:pt>
                <c:pt idx="8">
                  <c:v>-5.2</c:v>
                </c:pt>
                <c:pt idx="9">
                  <c:v>-5.1</c:v>
                </c:pt>
                <c:pt idx="10">
                  <c:v>-5</c:v>
                </c:pt>
                <c:pt idx="11">
                  <c:v>-4.9</c:v>
                </c:pt>
                <c:pt idx="12">
                  <c:v>-4.8</c:v>
                </c:pt>
                <c:pt idx="13">
                  <c:v>-4.7</c:v>
                </c:pt>
                <c:pt idx="14">
                  <c:v>-4.6</c:v>
                </c:pt>
                <c:pt idx="15">
                  <c:v>-4.5</c:v>
                </c:pt>
                <c:pt idx="16">
                  <c:v>-4.4</c:v>
                </c:pt>
                <c:pt idx="17">
                  <c:v>-4.3</c:v>
                </c:pt>
                <c:pt idx="18">
                  <c:v>-4.2</c:v>
                </c:pt>
                <c:pt idx="19">
                  <c:v>-4.1</c:v>
                </c:pt>
                <c:pt idx="20">
                  <c:v>-4</c:v>
                </c:pt>
                <c:pt idx="21">
                  <c:v>-3.9</c:v>
                </c:pt>
                <c:pt idx="22">
                  <c:v>-3.8</c:v>
                </c:pt>
                <c:pt idx="23">
                  <c:v>-3.7</c:v>
                </c:pt>
                <c:pt idx="24">
                  <c:v>-3.6</c:v>
                </c:pt>
                <c:pt idx="25">
                  <c:v>-3.5</c:v>
                </c:pt>
                <c:pt idx="26">
                  <c:v>-3.4</c:v>
                </c:pt>
                <c:pt idx="27">
                  <c:v>-3.3</c:v>
                </c:pt>
                <c:pt idx="28">
                  <c:v>-3.2</c:v>
                </c:pt>
                <c:pt idx="29">
                  <c:v>-3.1</c:v>
                </c:pt>
                <c:pt idx="30">
                  <c:v>-3</c:v>
                </c:pt>
                <c:pt idx="31">
                  <c:v>-2.9</c:v>
                </c:pt>
                <c:pt idx="32">
                  <c:v>-2.8</c:v>
                </c:pt>
                <c:pt idx="33">
                  <c:v>-2.7</c:v>
                </c:pt>
                <c:pt idx="34">
                  <c:v>-2.6</c:v>
                </c:pt>
                <c:pt idx="35">
                  <c:v>-2.5</c:v>
                </c:pt>
                <c:pt idx="36">
                  <c:v>-2.4</c:v>
                </c:pt>
                <c:pt idx="37">
                  <c:v>-2.3</c:v>
                </c:pt>
                <c:pt idx="38">
                  <c:v>-2.2</c:v>
                </c:pt>
                <c:pt idx="39">
                  <c:v>-2.1</c:v>
                </c:pt>
                <c:pt idx="40">
                  <c:v>-2</c:v>
                </c:pt>
                <c:pt idx="41">
                  <c:v>-1.9</c:v>
                </c:pt>
                <c:pt idx="42">
                  <c:v>-1.8</c:v>
                </c:pt>
                <c:pt idx="43">
                  <c:v>-1.7</c:v>
                </c:pt>
                <c:pt idx="44">
                  <c:v>-1.6</c:v>
                </c:pt>
                <c:pt idx="45">
                  <c:v>-1.5</c:v>
                </c:pt>
                <c:pt idx="46">
                  <c:v>-1.4</c:v>
                </c:pt>
                <c:pt idx="47">
                  <c:v>-1.3</c:v>
                </c:pt>
                <c:pt idx="48">
                  <c:v>-1.2</c:v>
                </c:pt>
                <c:pt idx="49">
                  <c:v>-1.1</c:v>
                </c:pt>
                <c:pt idx="50">
                  <c:v>-1</c:v>
                </c:pt>
                <c:pt idx="51">
                  <c:v>-0.9</c:v>
                </c:pt>
                <c:pt idx="52">
                  <c:v>-0.8</c:v>
                </c:pt>
                <c:pt idx="53">
                  <c:v>-0.7</c:v>
                </c:pt>
                <c:pt idx="54">
                  <c:v>-0.6</c:v>
                </c:pt>
                <c:pt idx="55">
                  <c:v>-0.5</c:v>
                </c:pt>
                <c:pt idx="56">
                  <c:v>-0.4</c:v>
                </c:pt>
                <c:pt idx="57">
                  <c:v>-0.3</c:v>
                </c:pt>
                <c:pt idx="58">
                  <c:v>-0.2</c:v>
                </c:pt>
                <c:pt idx="59">
                  <c:v>-0.1</c:v>
                </c:pt>
                <c:pt idx="60">
                  <c:v>0</c:v>
                </c:pt>
                <c:pt idx="61">
                  <c:v>0.1</c:v>
                </c:pt>
                <c:pt idx="62">
                  <c:v>0.2</c:v>
                </c:pt>
                <c:pt idx="63">
                  <c:v>0.3</c:v>
                </c:pt>
                <c:pt idx="64">
                  <c:v>0.4</c:v>
                </c:pt>
                <c:pt idx="65">
                  <c:v>0.5</c:v>
                </c:pt>
                <c:pt idx="66">
                  <c:v>0.6</c:v>
                </c:pt>
                <c:pt idx="67">
                  <c:v>0.7</c:v>
                </c:pt>
                <c:pt idx="68">
                  <c:v>0.8</c:v>
                </c:pt>
                <c:pt idx="69">
                  <c:v>0.9</c:v>
                </c:pt>
                <c:pt idx="70">
                  <c:v>1</c:v>
                </c:pt>
                <c:pt idx="71">
                  <c:v>1.1</c:v>
                </c:pt>
                <c:pt idx="72">
                  <c:v>1.2</c:v>
                </c:pt>
                <c:pt idx="73">
                  <c:v>1.3</c:v>
                </c:pt>
                <c:pt idx="74">
                  <c:v>1.4</c:v>
                </c:pt>
                <c:pt idx="75">
                  <c:v>1.5</c:v>
                </c:pt>
                <c:pt idx="76">
                  <c:v>1.6</c:v>
                </c:pt>
                <c:pt idx="77">
                  <c:v>1.7</c:v>
                </c:pt>
                <c:pt idx="78">
                  <c:v>1.8</c:v>
                </c:pt>
                <c:pt idx="79">
                  <c:v>1.9</c:v>
                </c:pt>
                <c:pt idx="80">
                  <c:v>2</c:v>
                </c:pt>
                <c:pt idx="81">
                  <c:v>2.1</c:v>
                </c:pt>
                <c:pt idx="82">
                  <c:v>2.2</c:v>
                </c:pt>
                <c:pt idx="83">
                  <c:v>2.3</c:v>
                </c:pt>
                <c:pt idx="84">
                  <c:v>2.4</c:v>
                </c:pt>
                <c:pt idx="85">
                  <c:v>2.5</c:v>
                </c:pt>
                <c:pt idx="86">
                  <c:v>2.6</c:v>
                </c:pt>
                <c:pt idx="87">
                  <c:v>2.7</c:v>
                </c:pt>
                <c:pt idx="88">
                  <c:v>2.8</c:v>
                </c:pt>
                <c:pt idx="89">
                  <c:v>2.9</c:v>
                </c:pt>
                <c:pt idx="90">
                  <c:v>3</c:v>
                </c:pt>
                <c:pt idx="91">
                  <c:v>3.1</c:v>
                </c:pt>
                <c:pt idx="92">
                  <c:v>3.2</c:v>
                </c:pt>
                <c:pt idx="93">
                  <c:v>3.3</c:v>
                </c:pt>
                <c:pt idx="94">
                  <c:v>3.4</c:v>
                </c:pt>
                <c:pt idx="95">
                  <c:v>3.5</c:v>
                </c:pt>
                <c:pt idx="96">
                  <c:v>3.6</c:v>
                </c:pt>
                <c:pt idx="97">
                  <c:v>3.7</c:v>
                </c:pt>
                <c:pt idx="98">
                  <c:v>3.8</c:v>
                </c:pt>
                <c:pt idx="99">
                  <c:v>3.9</c:v>
                </c:pt>
                <c:pt idx="100">
                  <c:v>4</c:v>
                </c:pt>
                <c:pt idx="101">
                  <c:v>4.1</c:v>
                </c:pt>
                <c:pt idx="102">
                  <c:v>4.2</c:v>
                </c:pt>
                <c:pt idx="103">
                  <c:v>4.3</c:v>
                </c:pt>
                <c:pt idx="104">
                  <c:v>4.4</c:v>
                </c:pt>
                <c:pt idx="105">
                  <c:v>4.5</c:v>
                </c:pt>
                <c:pt idx="106">
                  <c:v>4.6</c:v>
                </c:pt>
                <c:pt idx="107">
                  <c:v>4.7</c:v>
                </c:pt>
                <c:pt idx="108">
                  <c:v>4.8</c:v>
                </c:pt>
                <c:pt idx="109">
                  <c:v>4.9</c:v>
                </c:pt>
                <c:pt idx="110">
                  <c:v>5</c:v>
                </c:pt>
                <c:pt idx="111">
                  <c:v>5.1</c:v>
                </c:pt>
                <c:pt idx="112">
                  <c:v>5.2</c:v>
                </c:pt>
                <c:pt idx="113">
                  <c:v>5.3</c:v>
                </c:pt>
                <c:pt idx="114">
                  <c:v>5.4</c:v>
                </c:pt>
                <c:pt idx="115">
                  <c:v>5.5</c:v>
                </c:pt>
                <c:pt idx="116">
                  <c:v>5.6</c:v>
                </c:pt>
                <c:pt idx="117">
                  <c:v>5.7</c:v>
                </c:pt>
                <c:pt idx="118">
                  <c:v>5.8</c:v>
                </c:pt>
                <c:pt idx="119">
                  <c:v>5.9</c:v>
                </c:pt>
                <c:pt idx="120">
                  <c:v>6</c:v>
                </c:pt>
              </c:numCache>
            </c:numRef>
          </c:xVal>
          <c:yVal>
            <c:numRef>
              <c:f>Sheet1!$B$2:$B$122</c:f>
              <c:numCache>
                <c:formatCode>General</c:formatCode>
                <c:ptCount val="121"/>
                <c:pt idx="0">
                  <c:v>0.0024726231566347743</c:v>
                </c:pt>
                <c:pt idx="1">
                  <c:v>0.002731960763011059</c:v>
                </c:pt>
                <c:pt idx="2">
                  <c:v>0.0030184163247084245</c:v>
                </c:pt>
                <c:pt idx="3">
                  <c:v>0.0033348073074133443</c:v>
                </c:pt>
                <c:pt idx="4">
                  <c:v>0.003684239899435989</c:v>
                </c:pt>
                <c:pt idx="5">
                  <c:v>0.004070137715896128</c:v>
                </c:pt>
                <c:pt idx="6">
                  <c:v>0.004496273160941178</c:v>
                </c:pt>
                <c:pt idx="7">
                  <c:v>0.004966801650056961</c:v>
                </c:pt>
                <c:pt idx="8">
                  <c:v>0.005486298899450404</c:v>
                </c:pt>
                <c:pt idx="9">
                  <c:v>0.006059801491584117</c:v>
                </c:pt>
                <c:pt idx="10">
                  <c:v>0.0066928509242848554</c:v>
                </c:pt>
                <c:pt idx="11">
                  <c:v>0.007391541344281971</c:v>
                </c:pt>
                <c:pt idx="12">
                  <c:v>0.008162571153159897</c:v>
                </c:pt>
                <c:pt idx="13">
                  <c:v>0.009013298652847824</c:v>
                </c:pt>
                <c:pt idx="14">
                  <c:v>0.009951801866904324</c:v>
                </c:pt>
                <c:pt idx="15">
                  <c:v>0.01098694263059318</c:v>
                </c:pt>
                <c:pt idx="16">
                  <c:v>0.012128434984274237</c:v>
                </c:pt>
                <c:pt idx="17">
                  <c:v>0.013386917827664779</c:v>
                </c:pt>
                <c:pt idx="18">
                  <c:v>0.014774031693273055</c:v>
                </c:pt>
                <c:pt idx="19">
                  <c:v>0.016302499371440946</c:v>
                </c:pt>
                <c:pt idx="20">
                  <c:v>0.01798620996209156</c:v>
                </c:pt>
                <c:pt idx="21">
                  <c:v>0.01984030573407751</c:v>
                </c:pt>
                <c:pt idx="22">
                  <c:v>0.021881270936130476</c:v>
                </c:pt>
                <c:pt idx="23">
                  <c:v>0.024127021417669196</c:v>
                </c:pt>
                <c:pt idx="24">
                  <c:v>0.026596993576865856</c:v>
                </c:pt>
                <c:pt idx="25">
                  <c:v>0.02931223075135632</c:v>
                </c:pt>
                <c:pt idx="26">
                  <c:v>0.032295464698450516</c:v>
                </c:pt>
                <c:pt idx="27">
                  <c:v>0.03557118927263618</c:v>
                </c:pt>
                <c:pt idx="28">
                  <c:v>0.039165722796764356</c:v>
                </c:pt>
                <c:pt idx="29">
                  <c:v>0.043107254941086116</c:v>
                </c:pt>
                <c:pt idx="30">
                  <c:v>0.04742587317756678</c:v>
                </c:pt>
                <c:pt idx="31">
                  <c:v>0.05215356307841774</c:v>
                </c:pt>
                <c:pt idx="32">
                  <c:v>0.057324175898868755</c:v>
                </c:pt>
                <c:pt idx="33">
                  <c:v>0.06297335605699649</c:v>
                </c:pt>
                <c:pt idx="34">
                  <c:v>0.06913842034334682</c:v>
                </c:pt>
                <c:pt idx="35">
                  <c:v>0.07585818002124355</c:v>
                </c:pt>
                <c:pt idx="36">
                  <c:v>0.08317269649392238</c:v>
                </c:pt>
                <c:pt idx="37">
                  <c:v>0.09112296101485616</c:v>
                </c:pt>
                <c:pt idx="38">
                  <c:v>0.09975048911968513</c:v>
                </c:pt>
                <c:pt idx="39">
                  <c:v>0.10909682119561294</c:v>
                </c:pt>
                <c:pt idx="40">
                  <c:v>0.11920292202211755</c:v>
                </c:pt>
                <c:pt idx="41">
                  <c:v>0.13010847436299786</c:v>
                </c:pt>
                <c:pt idx="42">
                  <c:v>0.14185106490048777</c:v>
                </c:pt>
                <c:pt idx="43">
                  <c:v>0.15446526508353473</c:v>
                </c:pt>
                <c:pt idx="44">
                  <c:v>0.16798161486607552</c:v>
                </c:pt>
                <c:pt idx="45">
                  <c:v>0.18242552380635635</c:v>
                </c:pt>
                <c:pt idx="46">
                  <c:v>0.19781611144141825</c:v>
                </c:pt>
                <c:pt idx="47">
                  <c:v>0.2141650169574414</c:v>
                </c:pt>
                <c:pt idx="48">
                  <c:v>0.23147521650098238</c:v>
                </c:pt>
                <c:pt idx="49">
                  <c:v>0.24973989440488234</c:v>
                </c:pt>
                <c:pt idx="50">
                  <c:v>0.2689414213699951</c:v>
                </c:pt>
                <c:pt idx="51">
                  <c:v>0.289050497374996</c:v>
                </c:pt>
                <c:pt idx="52">
                  <c:v>0.31002551887238755</c:v>
                </c:pt>
                <c:pt idx="53">
                  <c:v>0.3318122278318339</c:v>
                </c:pt>
                <c:pt idx="54">
                  <c:v>0.35434369377420455</c:v>
                </c:pt>
                <c:pt idx="55">
                  <c:v>0.3775406687981454</c:v>
                </c:pt>
                <c:pt idx="56">
                  <c:v>0.401312339887548</c:v>
                </c:pt>
                <c:pt idx="57">
                  <c:v>0.425557483188341</c:v>
                </c:pt>
                <c:pt idx="58">
                  <c:v>0.45016600268752216</c:v>
                </c:pt>
                <c:pt idx="59">
                  <c:v>0.47502081252106</c:v>
                </c:pt>
                <c:pt idx="60">
                  <c:v>0.5</c:v>
                </c:pt>
                <c:pt idx="61">
                  <c:v>0.52497918747894</c:v>
                </c:pt>
                <c:pt idx="62">
                  <c:v>0.549833997312478</c:v>
                </c:pt>
                <c:pt idx="63">
                  <c:v>0.574442516811659</c:v>
                </c:pt>
                <c:pt idx="64">
                  <c:v>0.598687660112452</c:v>
                </c:pt>
                <c:pt idx="65">
                  <c:v>0.6224593312018546</c:v>
                </c:pt>
                <c:pt idx="66">
                  <c:v>0.6456563062257954</c:v>
                </c:pt>
                <c:pt idx="67">
                  <c:v>0.6681877721681662</c:v>
                </c:pt>
                <c:pt idx="68">
                  <c:v>0.6899744811276125</c:v>
                </c:pt>
                <c:pt idx="69">
                  <c:v>0.7109495026250039</c:v>
                </c:pt>
                <c:pt idx="70">
                  <c:v>0.7310585786300049</c:v>
                </c:pt>
                <c:pt idx="71">
                  <c:v>0.7502601055951177</c:v>
                </c:pt>
                <c:pt idx="72">
                  <c:v>0.7685247834990175</c:v>
                </c:pt>
                <c:pt idx="73">
                  <c:v>0.7858349830425586</c:v>
                </c:pt>
                <c:pt idx="74">
                  <c:v>0.8021838885585817</c:v>
                </c:pt>
                <c:pt idx="75">
                  <c:v>0.8175744761936437</c:v>
                </c:pt>
                <c:pt idx="76">
                  <c:v>0.8320183851339245</c:v>
                </c:pt>
                <c:pt idx="77">
                  <c:v>0.8455347349164652</c:v>
                </c:pt>
                <c:pt idx="78">
                  <c:v>0.8581489350995123</c:v>
                </c:pt>
                <c:pt idx="79">
                  <c:v>0.8698915256370021</c:v>
                </c:pt>
                <c:pt idx="80">
                  <c:v>0.8807970779778823</c:v>
                </c:pt>
                <c:pt idx="81">
                  <c:v>0.8909031788043871</c:v>
                </c:pt>
                <c:pt idx="82">
                  <c:v>0.9002495108803148</c:v>
                </c:pt>
                <c:pt idx="83">
                  <c:v>0.9088770389851438</c:v>
                </c:pt>
                <c:pt idx="84">
                  <c:v>0.9168273035060777</c:v>
                </c:pt>
                <c:pt idx="85">
                  <c:v>0.9241418199787566</c:v>
                </c:pt>
                <c:pt idx="86">
                  <c:v>0.9308615796566533</c:v>
                </c:pt>
                <c:pt idx="87">
                  <c:v>0.9370266439430035</c:v>
                </c:pt>
                <c:pt idx="88">
                  <c:v>0.9426758241011313</c:v>
                </c:pt>
                <c:pt idx="89">
                  <c:v>0.9478464369215823</c:v>
                </c:pt>
                <c:pt idx="90">
                  <c:v>0.9525741268224334</c:v>
                </c:pt>
                <c:pt idx="91">
                  <c:v>0.9568927450589139</c:v>
                </c:pt>
                <c:pt idx="92">
                  <c:v>0.9608342772032357</c:v>
                </c:pt>
                <c:pt idx="93">
                  <c:v>0.9644288107273639</c:v>
                </c:pt>
                <c:pt idx="94">
                  <c:v>0.9677045353015494</c:v>
                </c:pt>
                <c:pt idx="95">
                  <c:v>0.9706877692486436</c:v>
                </c:pt>
                <c:pt idx="96">
                  <c:v>0.973403006423134</c:v>
                </c:pt>
                <c:pt idx="97">
                  <c:v>0.9758729785823308</c:v>
                </c:pt>
                <c:pt idx="98">
                  <c:v>0.9781187290638694</c:v>
                </c:pt>
                <c:pt idx="99">
                  <c:v>0.9801596942659225</c:v>
                </c:pt>
                <c:pt idx="100">
                  <c:v>0.9820137900379085</c:v>
                </c:pt>
                <c:pt idx="101">
                  <c:v>0.9836975006285591</c:v>
                </c:pt>
                <c:pt idx="102">
                  <c:v>0.9852259683067269</c:v>
                </c:pt>
                <c:pt idx="103">
                  <c:v>0.9866130821723351</c:v>
                </c:pt>
                <c:pt idx="104">
                  <c:v>0.9878715650157257</c:v>
                </c:pt>
                <c:pt idx="105">
                  <c:v>0.9890130573694068</c:v>
                </c:pt>
                <c:pt idx="106">
                  <c:v>0.9900481981330957</c:v>
                </c:pt>
                <c:pt idx="107">
                  <c:v>0.990986701347152</c:v>
                </c:pt>
                <c:pt idx="108">
                  <c:v>0.9918374288468401</c:v>
                </c:pt>
                <c:pt idx="109">
                  <c:v>0.9926084586557181</c:v>
                </c:pt>
                <c:pt idx="110">
                  <c:v>0.9933071490757153</c:v>
                </c:pt>
                <c:pt idx="111">
                  <c:v>0.9939401985084158</c:v>
                </c:pt>
                <c:pt idx="112">
                  <c:v>0.9945137011005495</c:v>
                </c:pt>
                <c:pt idx="113">
                  <c:v>0.995033198349943</c:v>
                </c:pt>
                <c:pt idx="114">
                  <c:v>0.9955037268390589</c:v>
                </c:pt>
                <c:pt idx="115">
                  <c:v>0.995929862284104</c:v>
                </c:pt>
                <c:pt idx="116">
                  <c:v>0.9963157601005641</c:v>
                </c:pt>
                <c:pt idx="117">
                  <c:v>0.9966651926925867</c:v>
                </c:pt>
                <c:pt idx="118">
                  <c:v>0.9969815836752917</c:v>
                </c:pt>
                <c:pt idx="119">
                  <c:v>0.997268039236989</c:v>
                </c:pt>
                <c:pt idx="120">
                  <c:v>0.9975273768433653</c:v>
                </c:pt>
              </c:numCache>
            </c:numRef>
          </c:yVal>
          <c:smooth val="0"/>
        </c:ser>
        <c:ser>
          <c:idx val="1"/>
          <c:order val="1"/>
          <c:tx>
            <c:strRef>
              <c:f>Sheet1!$C$1</c:f>
              <c:strCache>
                <c:ptCount val="1"/>
                <c:pt idx="0">
                  <c:v>σ′(z)</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Sheet1!$A$2:$A$122</c:f>
              <c:numCache>
                <c:formatCode>General</c:formatCode>
                <c:ptCount val="121"/>
                <c:pt idx="0">
                  <c:v>-6</c:v>
                </c:pt>
                <c:pt idx="1">
                  <c:v>-5.9</c:v>
                </c:pt>
                <c:pt idx="2">
                  <c:v>-5.8</c:v>
                </c:pt>
                <c:pt idx="3">
                  <c:v>-5.7</c:v>
                </c:pt>
                <c:pt idx="4">
                  <c:v>-5.6</c:v>
                </c:pt>
                <c:pt idx="5">
                  <c:v>-5.5</c:v>
                </c:pt>
                <c:pt idx="6">
                  <c:v>-5.4</c:v>
                </c:pt>
                <c:pt idx="7">
                  <c:v>-5.3</c:v>
                </c:pt>
                <c:pt idx="8">
                  <c:v>-5.2</c:v>
                </c:pt>
                <c:pt idx="9">
                  <c:v>-5.1</c:v>
                </c:pt>
                <c:pt idx="10">
                  <c:v>-5</c:v>
                </c:pt>
                <c:pt idx="11">
                  <c:v>-4.9</c:v>
                </c:pt>
                <c:pt idx="12">
                  <c:v>-4.8</c:v>
                </c:pt>
                <c:pt idx="13">
                  <c:v>-4.7</c:v>
                </c:pt>
                <c:pt idx="14">
                  <c:v>-4.6</c:v>
                </c:pt>
                <c:pt idx="15">
                  <c:v>-4.5</c:v>
                </c:pt>
                <c:pt idx="16">
                  <c:v>-4.4</c:v>
                </c:pt>
                <c:pt idx="17">
                  <c:v>-4.3</c:v>
                </c:pt>
                <c:pt idx="18">
                  <c:v>-4.2</c:v>
                </c:pt>
                <c:pt idx="19">
                  <c:v>-4.1</c:v>
                </c:pt>
                <c:pt idx="20">
                  <c:v>-4</c:v>
                </c:pt>
                <c:pt idx="21">
                  <c:v>-3.9</c:v>
                </c:pt>
                <c:pt idx="22">
                  <c:v>-3.8</c:v>
                </c:pt>
                <c:pt idx="23">
                  <c:v>-3.7</c:v>
                </c:pt>
                <c:pt idx="24">
                  <c:v>-3.6</c:v>
                </c:pt>
                <c:pt idx="25">
                  <c:v>-3.5</c:v>
                </c:pt>
                <c:pt idx="26">
                  <c:v>-3.4</c:v>
                </c:pt>
                <c:pt idx="27">
                  <c:v>-3.3</c:v>
                </c:pt>
                <c:pt idx="28">
                  <c:v>-3.2</c:v>
                </c:pt>
                <c:pt idx="29">
                  <c:v>-3.1</c:v>
                </c:pt>
                <c:pt idx="30">
                  <c:v>-3</c:v>
                </c:pt>
                <c:pt idx="31">
                  <c:v>-2.9</c:v>
                </c:pt>
                <c:pt idx="32">
                  <c:v>-2.8</c:v>
                </c:pt>
                <c:pt idx="33">
                  <c:v>-2.7</c:v>
                </c:pt>
                <c:pt idx="34">
                  <c:v>-2.6</c:v>
                </c:pt>
                <c:pt idx="35">
                  <c:v>-2.5</c:v>
                </c:pt>
                <c:pt idx="36">
                  <c:v>-2.4</c:v>
                </c:pt>
                <c:pt idx="37">
                  <c:v>-2.3</c:v>
                </c:pt>
                <c:pt idx="38">
                  <c:v>-2.2</c:v>
                </c:pt>
                <c:pt idx="39">
                  <c:v>-2.1</c:v>
                </c:pt>
                <c:pt idx="40">
                  <c:v>-2</c:v>
                </c:pt>
                <c:pt idx="41">
                  <c:v>-1.9</c:v>
                </c:pt>
                <c:pt idx="42">
                  <c:v>-1.8</c:v>
                </c:pt>
                <c:pt idx="43">
                  <c:v>-1.7</c:v>
                </c:pt>
                <c:pt idx="44">
                  <c:v>-1.6</c:v>
                </c:pt>
                <c:pt idx="45">
                  <c:v>-1.5</c:v>
                </c:pt>
                <c:pt idx="46">
                  <c:v>-1.4</c:v>
                </c:pt>
                <c:pt idx="47">
                  <c:v>-1.3</c:v>
                </c:pt>
                <c:pt idx="48">
                  <c:v>-1.2</c:v>
                </c:pt>
                <c:pt idx="49">
                  <c:v>-1.1</c:v>
                </c:pt>
                <c:pt idx="50">
                  <c:v>-1</c:v>
                </c:pt>
                <c:pt idx="51">
                  <c:v>-0.9</c:v>
                </c:pt>
                <c:pt idx="52">
                  <c:v>-0.8</c:v>
                </c:pt>
                <c:pt idx="53">
                  <c:v>-0.7</c:v>
                </c:pt>
                <c:pt idx="54">
                  <c:v>-0.6</c:v>
                </c:pt>
                <c:pt idx="55">
                  <c:v>-0.5</c:v>
                </c:pt>
                <c:pt idx="56">
                  <c:v>-0.4</c:v>
                </c:pt>
                <c:pt idx="57">
                  <c:v>-0.3</c:v>
                </c:pt>
                <c:pt idx="58">
                  <c:v>-0.2</c:v>
                </c:pt>
                <c:pt idx="59">
                  <c:v>-0.1</c:v>
                </c:pt>
                <c:pt idx="60">
                  <c:v>0</c:v>
                </c:pt>
                <c:pt idx="61">
                  <c:v>0.1</c:v>
                </c:pt>
                <c:pt idx="62">
                  <c:v>0.2</c:v>
                </c:pt>
                <c:pt idx="63">
                  <c:v>0.3</c:v>
                </c:pt>
                <c:pt idx="64">
                  <c:v>0.4</c:v>
                </c:pt>
                <c:pt idx="65">
                  <c:v>0.5</c:v>
                </c:pt>
                <c:pt idx="66">
                  <c:v>0.6</c:v>
                </c:pt>
                <c:pt idx="67">
                  <c:v>0.7</c:v>
                </c:pt>
                <c:pt idx="68">
                  <c:v>0.8</c:v>
                </c:pt>
                <c:pt idx="69">
                  <c:v>0.9</c:v>
                </c:pt>
                <c:pt idx="70">
                  <c:v>1</c:v>
                </c:pt>
                <c:pt idx="71">
                  <c:v>1.1</c:v>
                </c:pt>
                <c:pt idx="72">
                  <c:v>1.2</c:v>
                </c:pt>
                <c:pt idx="73">
                  <c:v>1.3</c:v>
                </c:pt>
                <c:pt idx="74">
                  <c:v>1.4</c:v>
                </c:pt>
                <c:pt idx="75">
                  <c:v>1.5</c:v>
                </c:pt>
                <c:pt idx="76">
                  <c:v>1.6</c:v>
                </c:pt>
                <c:pt idx="77">
                  <c:v>1.7</c:v>
                </c:pt>
                <c:pt idx="78">
                  <c:v>1.8</c:v>
                </c:pt>
                <c:pt idx="79">
                  <c:v>1.9</c:v>
                </c:pt>
                <c:pt idx="80">
                  <c:v>2</c:v>
                </c:pt>
                <c:pt idx="81">
                  <c:v>2.1</c:v>
                </c:pt>
                <c:pt idx="82">
                  <c:v>2.2</c:v>
                </c:pt>
                <c:pt idx="83">
                  <c:v>2.3</c:v>
                </c:pt>
                <c:pt idx="84">
                  <c:v>2.4</c:v>
                </c:pt>
                <c:pt idx="85">
                  <c:v>2.5</c:v>
                </c:pt>
                <c:pt idx="86">
                  <c:v>2.6</c:v>
                </c:pt>
                <c:pt idx="87">
                  <c:v>2.7</c:v>
                </c:pt>
                <c:pt idx="88">
                  <c:v>2.8</c:v>
                </c:pt>
                <c:pt idx="89">
                  <c:v>2.9</c:v>
                </c:pt>
                <c:pt idx="90">
                  <c:v>3</c:v>
                </c:pt>
                <c:pt idx="91">
                  <c:v>3.1</c:v>
                </c:pt>
                <c:pt idx="92">
                  <c:v>3.2</c:v>
                </c:pt>
                <c:pt idx="93">
                  <c:v>3.3</c:v>
                </c:pt>
                <c:pt idx="94">
                  <c:v>3.4</c:v>
                </c:pt>
                <c:pt idx="95">
                  <c:v>3.5</c:v>
                </c:pt>
                <c:pt idx="96">
                  <c:v>3.6</c:v>
                </c:pt>
                <c:pt idx="97">
                  <c:v>3.7</c:v>
                </c:pt>
                <c:pt idx="98">
                  <c:v>3.8</c:v>
                </c:pt>
                <c:pt idx="99">
                  <c:v>3.9</c:v>
                </c:pt>
                <c:pt idx="100">
                  <c:v>4</c:v>
                </c:pt>
                <c:pt idx="101">
                  <c:v>4.1</c:v>
                </c:pt>
                <c:pt idx="102">
                  <c:v>4.2</c:v>
                </c:pt>
                <c:pt idx="103">
                  <c:v>4.3</c:v>
                </c:pt>
                <c:pt idx="104">
                  <c:v>4.4</c:v>
                </c:pt>
                <c:pt idx="105">
                  <c:v>4.5</c:v>
                </c:pt>
                <c:pt idx="106">
                  <c:v>4.6</c:v>
                </c:pt>
                <c:pt idx="107">
                  <c:v>4.7</c:v>
                </c:pt>
                <c:pt idx="108">
                  <c:v>4.8</c:v>
                </c:pt>
                <c:pt idx="109">
                  <c:v>4.9</c:v>
                </c:pt>
                <c:pt idx="110">
                  <c:v>5</c:v>
                </c:pt>
                <c:pt idx="111">
                  <c:v>5.1</c:v>
                </c:pt>
                <c:pt idx="112">
                  <c:v>5.2</c:v>
                </c:pt>
                <c:pt idx="113">
                  <c:v>5.3</c:v>
                </c:pt>
                <c:pt idx="114">
                  <c:v>5.4</c:v>
                </c:pt>
                <c:pt idx="115">
                  <c:v>5.5</c:v>
                </c:pt>
                <c:pt idx="116">
                  <c:v>5.6</c:v>
                </c:pt>
                <c:pt idx="117">
                  <c:v>5.7</c:v>
                </c:pt>
                <c:pt idx="118">
                  <c:v>5.8</c:v>
                </c:pt>
                <c:pt idx="119">
                  <c:v>5.9</c:v>
                </c:pt>
                <c:pt idx="120">
                  <c:v>6</c:v>
                </c:pt>
              </c:numCache>
            </c:numRef>
          </c:xVal>
          <c:yVal>
            <c:numRef>
              <c:f>Sheet1!$C$2:$C$122</c:f>
              <c:numCache>
                <c:formatCode>General</c:formatCode>
                <c:ptCount val="121"/>
                <c:pt idx="0">
                  <c:v>0.002466509291360048</c:v>
                </c:pt>
                <c:pt idx="1">
                  <c:v>0.002724497153400427</c:v>
                </c:pt>
                <c:pt idx="2">
                  <c:v>0.003009305487599158</c:v>
                </c:pt>
                <c:pt idx="3">
                  <c:v>0.003323686367635767</c:v>
                </c:pt>
                <c:pt idx="4">
                  <c:v>0.003670666275799393</c:v>
                </c:pt>
                <c:pt idx="5">
                  <c:v>0.004053571694869767</c:v>
                </c:pt>
                <c:pt idx="6">
                  <c:v>0.004476056688603378</c:v>
                </c:pt>
                <c:pt idx="7">
                  <c:v>0.004942132531425953</c:v>
                </c:pt>
                <c:pt idx="8">
                  <c:v>0.005456199423836293</c:v>
                </c:pt>
                <c:pt idx="9">
                  <c:v>0.006023080297466712</c:v>
                </c:pt>
                <c:pt idx="10">
                  <c:v>0.006648056670790155</c:v>
                </c:pt>
                <c:pt idx="11">
                  <c:v>0.007336906460837741</c:v>
                </c:pt>
                <c:pt idx="12">
                  <c:v>0.008095943585329498</c:v>
                </c:pt>
                <c:pt idx="13">
                  <c:v>0.008932059100242395</c:v>
                </c:pt>
                <c:pt idx="14">
                  <c:v>0.009852763506506204</c:v>
                </c:pt>
                <c:pt idx="15">
                  <c:v>0.010866229722225234</c:v>
                </c:pt>
                <c:pt idx="16">
                  <c:v>0.011981336049106471</c:v>
                </c:pt>
                <c:pt idx="17">
                  <c:v>0.01320770825874013</c:v>
                </c:pt>
                <c:pt idx="18">
                  <c:v>0.014555759680799219</c:v>
                </c:pt>
                <c:pt idx="19">
                  <c:v>0.016036727885685113</c:v>
                </c:pt>
                <c:pt idx="20">
                  <c:v>0.017662706213291118</c:v>
                </c:pt>
                <c:pt idx="21">
                  <c:v>0.01944666800245584</c:v>
                </c:pt>
                <c:pt idx="22">
                  <c:v>0.02140248091835013</c:v>
                </c:pt>
                <c:pt idx="23">
                  <c:v>0.02354490825518053</c:v>
                </c:pt>
                <c:pt idx="24">
                  <c:v>0.02588959350953801</c:v>
                </c:pt>
                <c:pt idx="25">
                  <c:v>0.02845302387973556</c:v>
                </c:pt>
                <c:pt idx="26">
                  <c:v>0.03125246765836165</c:v>
                </c:pt>
                <c:pt idx="27">
                  <c:v>0.034305879766366475</c:v>
                </c:pt>
                <c:pt idx="28">
                  <c:v>0.03763176895457137</c:v>
                </c:pt>
                <c:pt idx="29">
                  <c:v>0.04124901951253032</c:v>
                </c:pt>
                <c:pt idx="30">
                  <c:v>0.04517665973091214</c:v>
                </c:pt>
                <c:pt idx="31">
                  <c:v>0.04943356893664324</c:v>
                </c:pt>
                <c:pt idx="32">
                  <c:v>0.05403811475638431</c:v>
                </c:pt>
                <c:pt idx="33">
                  <c:v>0.05900771248391523</c:v>
                </c:pt>
                <c:pt idx="34">
                  <c:v>0.0643582991757735</c:v>
                </c:pt>
                <c:pt idx="35">
                  <c:v>0.07010371654510815</c:v>
                </c:pt>
                <c:pt idx="36">
                  <c:v>0.07625499905185225</c:v>
                </c:pt>
                <c:pt idx="37">
                  <c:v>0.08281956699074117</c:v>
                </c:pt>
                <c:pt idx="38">
                  <c:v>0.08980032904006871</c:v>
                </c:pt>
                <c:pt idx="39">
                  <c:v>0.0971947048006254</c:v>
                </c:pt>
                <c:pt idx="40">
                  <c:v>0.1049935854035065</c:v>
                </c:pt>
                <c:pt idx="41">
                  <c:v>0.11318025926193098</c:v>
                </c:pt>
                <c:pt idx="42">
                  <c:v>0.12172934028708536</c:v>
                </c:pt>
                <c:pt idx="43">
                  <c:v>0.13060574696620808</c:v>
                </c:pt>
                <c:pt idx="44">
                  <c:v>0.139763791933061</c:v>
                </c:pt>
                <c:pt idx="45">
                  <c:v>0.14914645207033286</c:v>
                </c:pt>
                <c:pt idx="46">
                  <c:v>0.15868489749561462</c:v>
                </c:pt>
                <c:pt idx="47">
                  <c:v>0.16829836246906024</c:v>
                </c:pt>
                <c:pt idx="48">
                  <c:v>0.1778944406468057</c:v>
                </c:pt>
                <c:pt idx="49">
                  <c:v>0.18736987954752057</c:v>
                </c:pt>
                <c:pt idx="50">
                  <c:v>0.19661193324148185</c:v>
                </c:pt>
                <c:pt idx="51">
                  <c:v>0.20550030734226343</c:v>
                </c:pt>
                <c:pt idx="52">
                  <c:v>0.21390969652029443</c:v>
                </c:pt>
                <c:pt idx="53">
                  <c:v>0.22171287329310907</c:v>
                </c:pt>
                <c:pt idx="54">
                  <c:v>0.2287842404566573</c:v>
                </c:pt>
                <c:pt idx="55">
                  <c:v>0.2350037122015945</c:v>
                </c:pt>
                <c:pt idx="56">
                  <c:v>0.24026074574152914</c:v>
                </c:pt>
                <c:pt idx="57">
                  <c:v>0.24445831169074586</c:v>
                </c:pt>
                <c:pt idx="58">
                  <c:v>0.24751657271185995</c:v>
                </c:pt>
                <c:pt idx="59">
                  <c:v>0.24937604019289197</c:v>
                </c:pt>
                <c:pt idx="60">
                  <c:v>0.25</c:v>
                </c:pt>
                <c:pt idx="61">
                  <c:v>0.24937604019289197</c:v>
                </c:pt>
                <c:pt idx="62">
                  <c:v>0.24751657271185995</c:v>
                </c:pt>
                <c:pt idx="63">
                  <c:v>0.24445831169074586</c:v>
                </c:pt>
                <c:pt idx="64">
                  <c:v>0.24026074574152914</c:v>
                </c:pt>
                <c:pt idx="65">
                  <c:v>0.2350037122015945</c:v>
                </c:pt>
                <c:pt idx="66">
                  <c:v>0.22878424045665732</c:v>
                </c:pt>
                <c:pt idx="67">
                  <c:v>0.22171287329310904</c:v>
                </c:pt>
                <c:pt idx="68">
                  <c:v>0.2139096965202944</c:v>
                </c:pt>
                <c:pt idx="69">
                  <c:v>0.2055003073422635</c:v>
                </c:pt>
                <c:pt idx="70">
                  <c:v>0.19661193324148185</c:v>
                </c:pt>
                <c:pt idx="71">
                  <c:v>0.18736987954752055</c:v>
                </c:pt>
                <c:pt idx="72">
                  <c:v>0.17789444064680576</c:v>
                </c:pt>
                <c:pt idx="73">
                  <c:v>0.16829836246906024</c:v>
                </c:pt>
                <c:pt idx="74">
                  <c:v>0.15868489749561468</c:v>
                </c:pt>
                <c:pt idx="75">
                  <c:v>0.14914645207033286</c:v>
                </c:pt>
                <c:pt idx="76">
                  <c:v>0.13976379193306102</c:v>
                </c:pt>
                <c:pt idx="77">
                  <c:v>0.13060574696620808</c:v>
                </c:pt>
                <c:pt idx="78">
                  <c:v>0.12172934028708533</c:v>
                </c:pt>
                <c:pt idx="79">
                  <c:v>0.11318025926193101</c:v>
                </c:pt>
                <c:pt idx="80">
                  <c:v>0.10499358540350662</c:v>
                </c:pt>
                <c:pt idx="81">
                  <c:v>0.09719470480062539</c:v>
                </c:pt>
                <c:pt idx="82">
                  <c:v>0.08980032904006877</c:v>
                </c:pt>
                <c:pt idx="83">
                  <c:v>0.08281956699074118</c:v>
                </c:pt>
                <c:pt idx="84">
                  <c:v>0.07625499905185222</c:v>
                </c:pt>
                <c:pt idx="85">
                  <c:v>0.07010371654510807</c:v>
                </c:pt>
                <c:pt idx="86">
                  <c:v>0.06435829917577342</c:v>
                </c:pt>
                <c:pt idx="87">
                  <c:v>0.05900771248391524</c:v>
                </c:pt>
                <c:pt idx="88">
                  <c:v>0.054038114756384294</c:v>
                </c:pt>
                <c:pt idx="89">
                  <c:v>0.049433568936643184</c:v>
                </c:pt>
                <c:pt idx="90">
                  <c:v>0.045176659730912</c:v>
                </c:pt>
                <c:pt idx="91">
                  <c:v>0.04124901951253034</c:v>
                </c:pt>
                <c:pt idx="92">
                  <c:v>0.03763176895457135</c:v>
                </c:pt>
                <c:pt idx="93">
                  <c:v>0.03430587976636643</c:v>
                </c:pt>
                <c:pt idx="94">
                  <c:v>0.031252467658361704</c:v>
                </c:pt>
                <c:pt idx="95">
                  <c:v>0.028453023879735598</c:v>
                </c:pt>
                <c:pt idx="96">
                  <c:v>0.02588959350953811</c:v>
                </c:pt>
                <c:pt idx="97">
                  <c:v>0.023544908255180536</c:v>
                </c:pt>
                <c:pt idx="98">
                  <c:v>0.021402480918350217</c:v>
                </c:pt>
                <c:pt idx="99">
                  <c:v>0.0194466680024558</c:v>
                </c:pt>
                <c:pt idx="100">
                  <c:v>0.017662706213291107</c:v>
                </c:pt>
                <c:pt idx="101">
                  <c:v>0.016036727885685075</c:v>
                </c:pt>
                <c:pt idx="102">
                  <c:v>0.014555759680799234</c:v>
                </c:pt>
                <c:pt idx="103">
                  <c:v>0.013207708258740227</c:v>
                </c:pt>
                <c:pt idx="104">
                  <c:v>0.011981336049106527</c:v>
                </c:pt>
                <c:pt idx="105">
                  <c:v>0.010866229722225243</c:v>
                </c:pt>
                <c:pt idx="106">
                  <c:v>0.009852763506506134</c:v>
                </c:pt>
                <c:pt idx="107">
                  <c:v>0.008932059100242515</c:v>
                </c:pt>
                <c:pt idx="108">
                  <c:v>0.008095943585329482</c:v>
                </c:pt>
                <c:pt idx="109">
                  <c:v>0.0073369064608376534</c:v>
                </c:pt>
                <c:pt idx="110">
                  <c:v>0.006648056670790033</c:v>
                </c:pt>
                <c:pt idx="111">
                  <c:v>0.006023080297466842</c:v>
                </c:pt>
                <c:pt idx="112">
                  <c:v>0.005456199423836403</c:v>
                </c:pt>
                <c:pt idx="113">
                  <c:v>0.00494213253142602</c:v>
                </c:pt>
                <c:pt idx="114">
                  <c:v>0.0044760566886033444</c:v>
                </c:pt>
                <c:pt idx="115">
                  <c:v>0.004053571694869679</c:v>
                </c:pt>
                <c:pt idx="116">
                  <c:v>0.0036706662757992974</c:v>
                </c:pt>
                <c:pt idx="117">
                  <c:v>0.003323686367635735</c:v>
                </c:pt>
                <c:pt idx="118">
                  <c:v>0.003009305487599074</c:v>
                </c:pt>
                <c:pt idx="119">
                  <c:v>0.002724497153400334</c:v>
                </c:pt>
                <c:pt idx="120">
                  <c:v>0.002466509291359931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z</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6"/>
        <c:auto val="1"/>
        <c:lblAlgn val="ctr"/>
        <c:noMultiLvlLbl val="1"/>
        <c:majorUnit val="2"/>
      </c:valAx>
      <c:valAx>
        <c:axId val="2094734552"/>
        <c:scaling>
          <c:orientation val="minMax"/>
          <c:max val="1"/>
          <c:min val="0"/>
        </c:scaling>
        <c:delete val="0"/>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2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Sheet1!$A$2:$A$102</c:f>
              <c:numCache>
                <c:formatCode>General</c:formatCode>
                <c:ptCount val="101"/>
                <c:pt idx="0">
                  <c:v>-5</c:v>
                </c:pt>
                <c:pt idx="1">
                  <c:v>-4.9</c:v>
                </c:pt>
                <c:pt idx="2">
                  <c:v>-4.8</c:v>
                </c:pt>
                <c:pt idx="3">
                  <c:v>-4.7</c:v>
                </c:pt>
                <c:pt idx="4">
                  <c:v>-4.6</c:v>
                </c:pt>
                <c:pt idx="5">
                  <c:v>-4.5</c:v>
                </c:pt>
                <c:pt idx="6">
                  <c:v>-4.4</c:v>
                </c:pt>
                <c:pt idx="7">
                  <c:v>-4.3</c:v>
                </c:pt>
                <c:pt idx="8">
                  <c:v>-4.2</c:v>
                </c:pt>
                <c:pt idx="9">
                  <c:v>-4.1</c:v>
                </c:pt>
                <c:pt idx="10">
                  <c:v>-4</c:v>
                </c:pt>
                <c:pt idx="11">
                  <c:v>-3.9</c:v>
                </c:pt>
                <c:pt idx="12">
                  <c:v>-3.8</c:v>
                </c:pt>
                <c:pt idx="13">
                  <c:v>-3.7</c:v>
                </c:pt>
                <c:pt idx="14">
                  <c:v>-3.6</c:v>
                </c:pt>
                <c:pt idx="15">
                  <c:v>-3.5</c:v>
                </c:pt>
                <c:pt idx="16">
                  <c:v>-3.4</c:v>
                </c:pt>
                <c:pt idx="17">
                  <c:v>-3.3</c:v>
                </c:pt>
                <c:pt idx="18">
                  <c:v>-3.2</c:v>
                </c:pt>
                <c:pt idx="19">
                  <c:v>-3.1</c:v>
                </c:pt>
                <c:pt idx="20">
                  <c:v>-3</c:v>
                </c:pt>
                <c:pt idx="21">
                  <c:v>-2.9</c:v>
                </c:pt>
                <c:pt idx="22">
                  <c:v>-2.8</c:v>
                </c:pt>
                <c:pt idx="23">
                  <c:v>-2.7</c:v>
                </c:pt>
                <c:pt idx="24">
                  <c:v>-2.6</c:v>
                </c:pt>
                <c:pt idx="25">
                  <c:v>-2.5</c:v>
                </c:pt>
                <c:pt idx="26">
                  <c:v>-2.4</c:v>
                </c:pt>
                <c:pt idx="27">
                  <c:v>-2.3</c:v>
                </c:pt>
                <c:pt idx="28">
                  <c:v>-2.2</c:v>
                </c:pt>
                <c:pt idx="29">
                  <c:v>-2.1</c:v>
                </c:pt>
                <c:pt idx="30">
                  <c:v>-2</c:v>
                </c:pt>
                <c:pt idx="31">
                  <c:v>-1.9</c:v>
                </c:pt>
                <c:pt idx="32">
                  <c:v>-1.8</c:v>
                </c:pt>
                <c:pt idx="33">
                  <c:v>-1.7</c:v>
                </c:pt>
                <c:pt idx="34">
                  <c:v>-1.6</c:v>
                </c:pt>
                <c:pt idx="35">
                  <c:v>-1.5</c:v>
                </c:pt>
                <c:pt idx="36">
                  <c:v>-1.4</c:v>
                </c:pt>
                <c:pt idx="37">
                  <c:v>-1.3</c:v>
                </c:pt>
                <c:pt idx="38">
                  <c:v>-1.2</c:v>
                </c:pt>
                <c:pt idx="39">
                  <c:v>-1.1</c:v>
                </c:pt>
                <c:pt idx="40">
                  <c:v>-1</c:v>
                </c:pt>
                <c:pt idx="41">
                  <c:v>-0.9</c:v>
                </c:pt>
                <c:pt idx="42">
                  <c:v>-0.8</c:v>
                </c:pt>
                <c:pt idx="43">
                  <c:v>-0.7</c:v>
                </c:pt>
                <c:pt idx="44">
                  <c:v>-0.6</c:v>
                </c:pt>
                <c:pt idx="45">
                  <c:v>-0.5</c:v>
                </c:pt>
                <c:pt idx="46">
                  <c:v>-0.4</c:v>
                </c:pt>
                <c:pt idx="47">
                  <c:v>-0.3</c:v>
                </c:pt>
                <c:pt idx="48">
                  <c:v>-0.2</c:v>
                </c:pt>
                <c:pt idx="49">
                  <c:v>-0.1</c:v>
                </c:pt>
                <c:pt idx="50">
                  <c:v>0</c:v>
                </c:pt>
                <c:pt idx="51">
                  <c:v>0.1</c:v>
                </c:pt>
                <c:pt idx="52">
                  <c:v>0.2</c:v>
                </c:pt>
                <c:pt idx="53">
                  <c:v>0.3</c:v>
                </c:pt>
                <c:pt idx="54">
                  <c:v>0.4</c:v>
                </c:pt>
                <c:pt idx="55">
                  <c:v>0.5</c:v>
                </c:pt>
                <c:pt idx="56">
                  <c:v>0.6</c:v>
                </c:pt>
                <c:pt idx="57">
                  <c:v>0.7</c:v>
                </c:pt>
                <c:pt idx="58">
                  <c:v>0.8</c:v>
                </c:pt>
                <c:pt idx="59">
                  <c:v>0.9</c:v>
                </c:pt>
                <c:pt idx="60">
                  <c:v>1</c:v>
                </c:pt>
                <c:pt idx="61">
                  <c:v>1.1</c:v>
                </c:pt>
                <c:pt idx="62">
                  <c:v>1.2</c:v>
                </c:pt>
                <c:pt idx="63">
                  <c:v>1.3</c:v>
                </c:pt>
                <c:pt idx="64">
                  <c:v>1.4</c:v>
                </c:pt>
                <c:pt idx="65">
                  <c:v>1.5</c:v>
                </c:pt>
                <c:pt idx="66">
                  <c:v>1.6</c:v>
                </c:pt>
                <c:pt idx="67">
                  <c:v>1.7</c:v>
                </c:pt>
                <c:pt idx="68">
                  <c:v>1.8</c:v>
                </c:pt>
                <c:pt idx="69">
                  <c:v>1.9</c:v>
                </c:pt>
                <c:pt idx="70">
                  <c:v>2</c:v>
                </c:pt>
                <c:pt idx="71">
                  <c:v>2.1</c:v>
                </c:pt>
                <c:pt idx="72">
                  <c:v>2.2</c:v>
                </c:pt>
                <c:pt idx="73">
                  <c:v>2.3</c:v>
                </c:pt>
                <c:pt idx="74">
                  <c:v>2.4</c:v>
                </c:pt>
                <c:pt idx="75">
                  <c:v>2.5</c:v>
                </c:pt>
                <c:pt idx="76">
                  <c:v>2.6</c:v>
                </c:pt>
                <c:pt idx="77">
                  <c:v>2.7</c:v>
                </c:pt>
                <c:pt idx="78">
                  <c:v>2.8</c:v>
                </c:pt>
                <c:pt idx="79">
                  <c:v>2.9</c:v>
                </c:pt>
                <c:pt idx="80">
                  <c:v>3</c:v>
                </c:pt>
                <c:pt idx="81">
                  <c:v>3.1</c:v>
                </c:pt>
                <c:pt idx="82">
                  <c:v>3.2</c:v>
                </c:pt>
                <c:pt idx="83">
                  <c:v>3.3</c:v>
                </c:pt>
                <c:pt idx="84">
                  <c:v>3.4</c:v>
                </c:pt>
                <c:pt idx="85">
                  <c:v>3.5</c:v>
                </c:pt>
                <c:pt idx="86">
                  <c:v>3.6</c:v>
                </c:pt>
                <c:pt idx="87">
                  <c:v>3.7</c:v>
                </c:pt>
                <c:pt idx="88">
                  <c:v>3.8</c:v>
                </c:pt>
                <c:pt idx="89">
                  <c:v>3.9</c:v>
                </c:pt>
                <c:pt idx="90">
                  <c:v>4</c:v>
                </c:pt>
                <c:pt idx="91">
                  <c:v>4.1</c:v>
                </c:pt>
                <c:pt idx="92">
                  <c:v>4.2</c:v>
                </c:pt>
                <c:pt idx="93">
                  <c:v>4.3</c:v>
                </c:pt>
                <c:pt idx="94">
                  <c:v>4.4</c:v>
                </c:pt>
                <c:pt idx="95">
                  <c:v>4.5</c:v>
                </c:pt>
                <c:pt idx="96">
                  <c:v>4.6</c:v>
                </c:pt>
                <c:pt idx="97">
                  <c:v>4.7</c:v>
                </c:pt>
                <c:pt idx="98">
                  <c:v>4.8</c:v>
                </c:pt>
                <c:pt idx="99">
                  <c:v>4.9</c:v>
                </c:pt>
                <c:pt idx="100">
                  <c:v>5</c:v>
                </c:pt>
              </c:numCache>
            </c:numRef>
          </c:xVal>
          <c:yVal>
            <c:numRef>
              <c:f>Sheet1!$B$2:$B$102</c:f>
              <c:numCache>
                <c:formatCode>General</c:formatCode>
                <c:ptCount val="101"/>
                <c:pt idx="0">
                  <c:v>0.0066928509242848554</c:v>
                </c:pt>
                <c:pt idx="1">
                  <c:v>0.007391541344281971</c:v>
                </c:pt>
                <c:pt idx="2">
                  <c:v>0.008162571153159897</c:v>
                </c:pt>
                <c:pt idx="3">
                  <c:v>0.009013298652847824</c:v>
                </c:pt>
                <c:pt idx="4">
                  <c:v>0.009951801866904324</c:v>
                </c:pt>
                <c:pt idx="5">
                  <c:v>0.01098694263059318</c:v>
                </c:pt>
                <c:pt idx="6">
                  <c:v>0.012128434984274237</c:v>
                </c:pt>
                <c:pt idx="7">
                  <c:v>0.013386917827664779</c:v>
                </c:pt>
                <c:pt idx="8">
                  <c:v>0.014774031693273055</c:v>
                </c:pt>
                <c:pt idx="9">
                  <c:v>0.016302499371440946</c:v>
                </c:pt>
                <c:pt idx="10">
                  <c:v>0.01798620996209156</c:v>
                </c:pt>
                <c:pt idx="11">
                  <c:v>0.01984030573407751</c:v>
                </c:pt>
                <c:pt idx="12">
                  <c:v>0.021881270936130476</c:v>
                </c:pt>
                <c:pt idx="13">
                  <c:v>0.024127021417669196</c:v>
                </c:pt>
                <c:pt idx="14">
                  <c:v>0.026596993576865856</c:v>
                </c:pt>
                <c:pt idx="15">
                  <c:v>0.02931223075135632</c:v>
                </c:pt>
                <c:pt idx="16">
                  <c:v>0.032295464698450516</c:v>
                </c:pt>
                <c:pt idx="17">
                  <c:v>0.03557118927263618</c:v>
                </c:pt>
                <c:pt idx="18">
                  <c:v>0.039165722796764356</c:v>
                </c:pt>
                <c:pt idx="19">
                  <c:v>0.043107254941086116</c:v>
                </c:pt>
                <c:pt idx="20">
                  <c:v>0.04742587317756678</c:v>
                </c:pt>
                <c:pt idx="21">
                  <c:v>0.05215356307841774</c:v>
                </c:pt>
                <c:pt idx="22">
                  <c:v>0.057324175898868755</c:v>
                </c:pt>
                <c:pt idx="23">
                  <c:v>0.06297335605699649</c:v>
                </c:pt>
                <c:pt idx="24">
                  <c:v>0.06913842034334682</c:v>
                </c:pt>
                <c:pt idx="25">
                  <c:v>0.07585818002124355</c:v>
                </c:pt>
                <c:pt idx="26">
                  <c:v>0.08317269649392238</c:v>
                </c:pt>
                <c:pt idx="27">
                  <c:v>0.09112296101485616</c:v>
                </c:pt>
                <c:pt idx="28">
                  <c:v>0.09975048911968513</c:v>
                </c:pt>
                <c:pt idx="29">
                  <c:v>0.10909682119561294</c:v>
                </c:pt>
                <c:pt idx="30">
                  <c:v>0.11920292202211755</c:v>
                </c:pt>
                <c:pt idx="31">
                  <c:v>0.13010847436299786</c:v>
                </c:pt>
                <c:pt idx="32">
                  <c:v>0.14185106490048777</c:v>
                </c:pt>
                <c:pt idx="33">
                  <c:v>0.15446526508353473</c:v>
                </c:pt>
                <c:pt idx="34">
                  <c:v>0.16798161486607552</c:v>
                </c:pt>
                <c:pt idx="35">
                  <c:v>0.18242552380635635</c:v>
                </c:pt>
                <c:pt idx="36">
                  <c:v>0.19781611144141825</c:v>
                </c:pt>
                <c:pt idx="37">
                  <c:v>0.2141650169574414</c:v>
                </c:pt>
                <c:pt idx="38">
                  <c:v>0.23147521650098238</c:v>
                </c:pt>
                <c:pt idx="39">
                  <c:v>0.24973989440488234</c:v>
                </c:pt>
                <c:pt idx="40">
                  <c:v>0.2689414213699951</c:v>
                </c:pt>
                <c:pt idx="41">
                  <c:v>0.289050497374996</c:v>
                </c:pt>
                <c:pt idx="42">
                  <c:v>0.31002551887238755</c:v>
                </c:pt>
                <c:pt idx="43">
                  <c:v>0.3318122278318339</c:v>
                </c:pt>
                <c:pt idx="44">
                  <c:v>0.35434369377420455</c:v>
                </c:pt>
                <c:pt idx="45">
                  <c:v>0.3775406687981454</c:v>
                </c:pt>
                <c:pt idx="46">
                  <c:v>0.401312339887548</c:v>
                </c:pt>
                <c:pt idx="47">
                  <c:v>0.425557483188341</c:v>
                </c:pt>
                <c:pt idx="48">
                  <c:v>0.45016600268752216</c:v>
                </c:pt>
                <c:pt idx="49">
                  <c:v>0.47502081252106</c:v>
                </c:pt>
                <c:pt idx="50">
                  <c:v>0.5</c:v>
                </c:pt>
                <c:pt idx="51">
                  <c:v>0.52497918747894</c:v>
                </c:pt>
                <c:pt idx="52">
                  <c:v>0.549833997312478</c:v>
                </c:pt>
                <c:pt idx="53">
                  <c:v>0.574442516811659</c:v>
                </c:pt>
                <c:pt idx="54">
                  <c:v>0.598687660112452</c:v>
                </c:pt>
                <c:pt idx="55">
                  <c:v>0.6224593312018546</c:v>
                </c:pt>
                <c:pt idx="56">
                  <c:v>0.6456563062257954</c:v>
                </c:pt>
                <c:pt idx="57">
                  <c:v>0.6681877721681662</c:v>
                </c:pt>
                <c:pt idx="58">
                  <c:v>0.6899744811276125</c:v>
                </c:pt>
                <c:pt idx="59">
                  <c:v>0.7109495026250039</c:v>
                </c:pt>
                <c:pt idx="60">
                  <c:v>0.7310585786300049</c:v>
                </c:pt>
                <c:pt idx="61">
                  <c:v>0.7502601055951177</c:v>
                </c:pt>
                <c:pt idx="62">
                  <c:v>0.7685247834990175</c:v>
                </c:pt>
                <c:pt idx="63">
                  <c:v>0.7858349830425586</c:v>
                </c:pt>
                <c:pt idx="64">
                  <c:v>0.8021838885585817</c:v>
                </c:pt>
                <c:pt idx="65">
                  <c:v>0.8175744761936437</c:v>
                </c:pt>
                <c:pt idx="66">
                  <c:v>0.8320183851339245</c:v>
                </c:pt>
                <c:pt idx="67">
                  <c:v>0.8455347349164652</c:v>
                </c:pt>
                <c:pt idx="68">
                  <c:v>0.8581489350995123</c:v>
                </c:pt>
                <c:pt idx="69">
                  <c:v>0.8698915256370021</c:v>
                </c:pt>
                <c:pt idx="70">
                  <c:v>0.8807970779778823</c:v>
                </c:pt>
                <c:pt idx="71">
                  <c:v>0.8909031788043871</c:v>
                </c:pt>
                <c:pt idx="72">
                  <c:v>0.9002495108803148</c:v>
                </c:pt>
                <c:pt idx="73">
                  <c:v>0.9088770389851438</c:v>
                </c:pt>
                <c:pt idx="74">
                  <c:v>0.9168273035060777</c:v>
                </c:pt>
                <c:pt idx="75">
                  <c:v>0.9241418199787566</c:v>
                </c:pt>
                <c:pt idx="76">
                  <c:v>0.9308615796566533</c:v>
                </c:pt>
                <c:pt idx="77">
                  <c:v>0.9370266439430035</c:v>
                </c:pt>
                <c:pt idx="78">
                  <c:v>0.9426758241011313</c:v>
                </c:pt>
                <c:pt idx="79">
                  <c:v>0.9478464369215823</c:v>
                </c:pt>
                <c:pt idx="80">
                  <c:v>0.9525741268224334</c:v>
                </c:pt>
                <c:pt idx="81">
                  <c:v>0.9568927450589139</c:v>
                </c:pt>
                <c:pt idx="82">
                  <c:v>0.9608342772032357</c:v>
                </c:pt>
                <c:pt idx="83">
                  <c:v>0.9644288107273639</c:v>
                </c:pt>
                <c:pt idx="84">
                  <c:v>0.9677045353015494</c:v>
                </c:pt>
                <c:pt idx="85">
                  <c:v>0.9706877692486436</c:v>
                </c:pt>
                <c:pt idx="86">
                  <c:v>0.973403006423134</c:v>
                </c:pt>
                <c:pt idx="87">
                  <c:v>0.9758729785823308</c:v>
                </c:pt>
                <c:pt idx="88">
                  <c:v>0.9781187290638694</c:v>
                </c:pt>
                <c:pt idx="89">
                  <c:v>0.9801596942659225</c:v>
                </c:pt>
                <c:pt idx="90">
                  <c:v>0.9820137900379085</c:v>
                </c:pt>
                <c:pt idx="91">
                  <c:v>0.9836975006285591</c:v>
                </c:pt>
                <c:pt idx="92">
                  <c:v>0.9852259683067269</c:v>
                </c:pt>
                <c:pt idx="93">
                  <c:v>0.9866130821723351</c:v>
                </c:pt>
                <c:pt idx="94">
                  <c:v>0.9878715650157257</c:v>
                </c:pt>
                <c:pt idx="95">
                  <c:v>0.9890130573694068</c:v>
                </c:pt>
                <c:pt idx="96">
                  <c:v>0.9900481981330957</c:v>
                </c:pt>
                <c:pt idx="97">
                  <c:v>0.990986701347152</c:v>
                </c:pt>
                <c:pt idx="98">
                  <c:v>0.9918374288468401</c:v>
                </c:pt>
                <c:pt idx="99">
                  <c:v>0.9926084586557181</c:v>
                </c:pt>
                <c:pt idx="100">
                  <c:v>0.9933071490757153</c:v>
                </c:pt>
              </c:numCache>
            </c:numRef>
          </c:yVal>
          <c:smooth val="0"/>
        </c:ser>
        <c:ser>
          <c:idx val="1"/>
          <c:order val="1"/>
          <c:tx>
            <c:strRef>
              <c:f>Sheet1!$C$1</c:f>
              <c:strCache>
                <c:ptCount val="1"/>
                <c:pt idx="0">
                  <c:v>σ′(z)</c:v>
                </c:pt>
              </c:strCache>
            </c:strRef>
          </c:tx>
          <c:spPr>
            <a:solidFill>
              <a:srgbClr val="7CCFC6"/>
            </a:solidFill>
            <a:ln w="38100" cap="flat">
              <a:solidFill>
                <a:srgbClr val="7CCFC6"/>
              </a:solidFill>
              <a:prstDash val="solid"/>
              <a:round/>
            </a:ln>
            <a:effectLst/>
          </c:spPr>
          <c:marker>
            <c:symbol val="none"/>
            <c:size val="7"/>
            <c:spPr>
              <a:solidFill>
                <a:srgbClr val="7CCFC6"/>
              </a:solidFill>
              <a:ln w="9525" cap="flat">
                <a:solidFill>
                  <a:srgbClr val="7CCFC6"/>
                </a:solidFill>
                <a:prstDash val="solid"/>
                <a:round/>
              </a:ln>
              <a:effectLst/>
            </c:spPr>
          </c:marker>
          <c:xVal>
            <c:numRef>
              <c:f>Sheet1!$A$2:$A$102</c:f>
              <c:numCache>
                <c:formatCode>General</c:formatCode>
                <c:ptCount val="101"/>
                <c:pt idx="0">
                  <c:v>-5</c:v>
                </c:pt>
                <c:pt idx="1">
                  <c:v>-4.9</c:v>
                </c:pt>
                <c:pt idx="2">
                  <c:v>-4.8</c:v>
                </c:pt>
                <c:pt idx="3">
                  <c:v>-4.7</c:v>
                </c:pt>
                <c:pt idx="4">
                  <c:v>-4.6</c:v>
                </c:pt>
                <c:pt idx="5">
                  <c:v>-4.5</c:v>
                </c:pt>
                <c:pt idx="6">
                  <c:v>-4.4</c:v>
                </c:pt>
                <c:pt idx="7">
                  <c:v>-4.3</c:v>
                </c:pt>
                <c:pt idx="8">
                  <c:v>-4.2</c:v>
                </c:pt>
                <c:pt idx="9">
                  <c:v>-4.1</c:v>
                </c:pt>
                <c:pt idx="10">
                  <c:v>-4</c:v>
                </c:pt>
                <c:pt idx="11">
                  <c:v>-3.9</c:v>
                </c:pt>
                <c:pt idx="12">
                  <c:v>-3.8</c:v>
                </c:pt>
                <c:pt idx="13">
                  <c:v>-3.7</c:v>
                </c:pt>
                <c:pt idx="14">
                  <c:v>-3.6</c:v>
                </c:pt>
                <c:pt idx="15">
                  <c:v>-3.5</c:v>
                </c:pt>
                <c:pt idx="16">
                  <c:v>-3.4</c:v>
                </c:pt>
                <c:pt idx="17">
                  <c:v>-3.3</c:v>
                </c:pt>
                <c:pt idx="18">
                  <c:v>-3.2</c:v>
                </c:pt>
                <c:pt idx="19">
                  <c:v>-3.1</c:v>
                </c:pt>
                <c:pt idx="20">
                  <c:v>-3</c:v>
                </c:pt>
                <c:pt idx="21">
                  <c:v>-2.9</c:v>
                </c:pt>
                <c:pt idx="22">
                  <c:v>-2.8</c:v>
                </c:pt>
                <c:pt idx="23">
                  <c:v>-2.7</c:v>
                </c:pt>
                <c:pt idx="24">
                  <c:v>-2.6</c:v>
                </c:pt>
                <c:pt idx="25">
                  <c:v>-2.5</c:v>
                </c:pt>
                <c:pt idx="26">
                  <c:v>-2.4</c:v>
                </c:pt>
                <c:pt idx="27">
                  <c:v>-2.3</c:v>
                </c:pt>
                <c:pt idx="28">
                  <c:v>-2.2</c:v>
                </c:pt>
                <c:pt idx="29">
                  <c:v>-2.1</c:v>
                </c:pt>
                <c:pt idx="30">
                  <c:v>-2</c:v>
                </c:pt>
                <c:pt idx="31">
                  <c:v>-1.9</c:v>
                </c:pt>
                <c:pt idx="32">
                  <c:v>-1.8</c:v>
                </c:pt>
                <c:pt idx="33">
                  <c:v>-1.7</c:v>
                </c:pt>
                <c:pt idx="34">
                  <c:v>-1.6</c:v>
                </c:pt>
                <c:pt idx="35">
                  <c:v>-1.5</c:v>
                </c:pt>
                <c:pt idx="36">
                  <c:v>-1.4</c:v>
                </c:pt>
                <c:pt idx="37">
                  <c:v>-1.3</c:v>
                </c:pt>
                <c:pt idx="38">
                  <c:v>-1.2</c:v>
                </c:pt>
                <c:pt idx="39">
                  <c:v>-1.1</c:v>
                </c:pt>
                <c:pt idx="40">
                  <c:v>-1</c:v>
                </c:pt>
                <c:pt idx="41">
                  <c:v>-0.9</c:v>
                </c:pt>
                <c:pt idx="42">
                  <c:v>-0.8</c:v>
                </c:pt>
                <c:pt idx="43">
                  <c:v>-0.7</c:v>
                </c:pt>
                <c:pt idx="44">
                  <c:v>-0.6</c:v>
                </c:pt>
                <c:pt idx="45">
                  <c:v>-0.5</c:v>
                </c:pt>
                <c:pt idx="46">
                  <c:v>-0.4</c:v>
                </c:pt>
                <c:pt idx="47">
                  <c:v>-0.3</c:v>
                </c:pt>
                <c:pt idx="48">
                  <c:v>-0.2</c:v>
                </c:pt>
                <c:pt idx="49">
                  <c:v>-0.1</c:v>
                </c:pt>
                <c:pt idx="50">
                  <c:v>0</c:v>
                </c:pt>
                <c:pt idx="51">
                  <c:v>0.1</c:v>
                </c:pt>
                <c:pt idx="52">
                  <c:v>0.2</c:v>
                </c:pt>
                <c:pt idx="53">
                  <c:v>0.3</c:v>
                </c:pt>
                <c:pt idx="54">
                  <c:v>0.4</c:v>
                </c:pt>
                <c:pt idx="55">
                  <c:v>0.5</c:v>
                </c:pt>
                <c:pt idx="56">
                  <c:v>0.6</c:v>
                </c:pt>
                <c:pt idx="57">
                  <c:v>0.7</c:v>
                </c:pt>
                <c:pt idx="58">
                  <c:v>0.8</c:v>
                </c:pt>
                <c:pt idx="59">
                  <c:v>0.9</c:v>
                </c:pt>
                <c:pt idx="60">
                  <c:v>1</c:v>
                </c:pt>
                <c:pt idx="61">
                  <c:v>1.1</c:v>
                </c:pt>
                <c:pt idx="62">
                  <c:v>1.2</c:v>
                </c:pt>
                <c:pt idx="63">
                  <c:v>1.3</c:v>
                </c:pt>
                <c:pt idx="64">
                  <c:v>1.4</c:v>
                </c:pt>
                <c:pt idx="65">
                  <c:v>1.5</c:v>
                </c:pt>
                <c:pt idx="66">
                  <c:v>1.6</c:v>
                </c:pt>
                <c:pt idx="67">
                  <c:v>1.7</c:v>
                </c:pt>
                <c:pt idx="68">
                  <c:v>1.8</c:v>
                </c:pt>
                <c:pt idx="69">
                  <c:v>1.9</c:v>
                </c:pt>
                <c:pt idx="70">
                  <c:v>2</c:v>
                </c:pt>
                <c:pt idx="71">
                  <c:v>2.1</c:v>
                </c:pt>
                <c:pt idx="72">
                  <c:v>2.2</c:v>
                </c:pt>
                <c:pt idx="73">
                  <c:v>2.3</c:v>
                </c:pt>
                <c:pt idx="74">
                  <c:v>2.4</c:v>
                </c:pt>
                <c:pt idx="75">
                  <c:v>2.5</c:v>
                </c:pt>
                <c:pt idx="76">
                  <c:v>2.6</c:v>
                </c:pt>
                <c:pt idx="77">
                  <c:v>2.7</c:v>
                </c:pt>
                <c:pt idx="78">
                  <c:v>2.8</c:v>
                </c:pt>
                <c:pt idx="79">
                  <c:v>2.9</c:v>
                </c:pt>
                <c:pt idx="80">
                  <c:v>3</c:v>
                </c:pt>
                <c:pt idx="81">
                  <c:v>3.1</c:v>
                </c:pt>
                <c:pt idx="82">
                  <c:v>3.2</c:v>
                </c:pt>
                <c:pt idx="83">
                  <c:v>3.3</c:v>
                </c:pt>
                <c:pt idx="84">
                  <c:v>3.4</c:v>
                </c:pt>
                <c:pt idx="85">
                  <c:v>3.5</c:v>
                </c:pt>
                <c:pt idx="86">
                  <c:v>3.6</c:v>
                </c:pt>
                <c:pt idx="87">
                  <c:v>3.7</c:v>
                </c:pt>
                <c:pt idx="88">
                  <c:v>3.8</c:v>
                </c:pt>
                <c:pt idx="89">
                  <c:v>3.9</c:v>
                </c:pt>
                <c:pt idx="90">
                  <c:v>4</c:v>
                </c:pt>
                <c:pt idx="91">
                  <c:v>4.1</c:v>
                </c:pt>
                <c:pt idx="92">
                  <c:v>4.2</c:v>
                </c:pt>
                <c:pt idx="93">
                  <c:v>4.3</c:v>
                </c:pt>
                <c:pt idx="94">
                  <c:v>4.4</c:v>
                </c:pt>
                <c:pt idx="95">
                  <c:v>4.5</c:v>
                </c:pt>
                <c:pt idx="96">
                  <c:v>4.6</c:v>
                </c:pt>
                <c:pt idx="97">
                  <c:v>4.7</c:v>
                </c:pt>
                <c:pt idx="98">
                  <c:v>4.8</c:v>
                </c:pt>
                <c:pt idx="99">
                  <c:v>4.9</c:v>
                </c:pt>
                <c:pt idx="100">
                  <c:v>5</c:v>
                </c:pt>
              </c:numCache>
            </c:numRef>
          </c:xVal>
          <c:yVal>
            <c:numRef>
              <c:f>Sheet1!$C$2:$C$102</c:f>
              <c:numCache>
                <c:formatCode>General</c:formatCode>
                <c:ptCount val="101"/>
                <c:pt idx="0">
                  <c:v>0.006648056670790155</c:v>
                </c:pt>
                <c:pt idx="1">
                  <c:v>0.007336906460837741</c:v>
                </c:pt>
                <c:pt idx="2">
                  <c:v>0.008095943585329498</c:v>
                </c:pt>
                <c:pt idx="3">
                  <c:v>0.008932059100242395</c:v>
                </c:pt>
                <c:pt idx="4">
                  <c:v>0.009852763506506204</c:v>
                </c:pt>
                <c:pt idx="5">
                  <c:v>0.010866229722225234</c:v>
                </c:pt>
                <c:pt idx="6">
                  <c:v>0.011981336049106471</c:v>
                </c:pt>
                <c:pt idx="7">
                  <c:v>0.01320770825874013</c:v>
                </c:pt>
                <c:pt idx="8">
                  <c:v>0.014555759680799219</c:v>
                </c:pt>
                <c:pt idx="9">
                  <c:v>0.016036727885685113</c:v>
                </c:pt>
                <c:pt idx="10">
                  <c:v>0.017662706213291118</c:v>
                </c:pt>
                <c:pt idx="11">
                  <c:v>0.01944666800245584</c:v>
                </c:pt>
                <c:pt idx="12">
                  <c:v>0.02140248091835013</c:v>
                </c:pt>
                <c:pt idx="13">
                  <c:v>0.02354490825518053</c:v>
                </c:pt>
                <c:pt idx="14">
                  <c:v>0.02588959350953801</c:v>
                </c:pt>
                <c:pt idx="15">
                  <c:v>0.02845302387973556</c:v>
                </c:pt>
                <c:pt idx="16">
                  <c:v>0.03125246765836165</c:v>
                </c:pt>
                <c:pt idx="17">
                  <c:v>0.034305879766366475</c:v>
                </c:pt>
                <c:pt idx="18">
                  <c:v>0.03763176895457137</c:v>
                </c:pt>
                <c:pt idx="19">
                  <c:v>0.04124901951253032</c:v>
                </c:pt>
                <c:pt idx="20">
                  <c:v>0.04517665973091214</c:v>
                </c:pt>
                <c:pt idx="21">
                  <c:v>0.04943356893664324</c:v>
                </c:pt>
                <c:pt idx="22">
                  <c:v>0.05403811475638431</c:v>
                </c:pt>
                <c:pt idx="23">
                  <c:v>0.05900771248391523</c:v>
                </c:pt>
                <c:pt idx="24">
                  <c:v>0.0643582991757735</c:v>
                </c:pt>
                <c:pt idx="25">
                  <c:v>0.07010371654510815</c:v>
                </c:pt>
                <c:pt idx="26">
                  <c:v>0.07625499905185225</c:v>
                </c:pt>
                <c:pt idx="27">
                  <c:v>0.08281956699074117</c:v>
                </c:pt>
                <c:pt idx="28">
                  <c:v>0.08980032904006871</c:v>
                </c:pt>
                <c:pt idx="29">
                  <c:v>0.0971947048006254</c:v>
                </c:pt>
                <c:pt idx="30">
                  <c:v>0.1049935854035065</c:v>
                </c:pt>
                <c:pt idx="31">
                  <c:v>0.11318025926193098</c:v>
                </c:pt>
                <c:pt idx="32">
                  <c:v>0.12172934028708536</c:v>
                </c:pt>
                <c:pt idx="33">
                  <c:v>0.13060574696620808</c:v>
                </c:pt>
                <c:pt idx="34">
                  <c:v>0.139763791933061</c:v>
                </c:pt>
                <c:pt idx="35">
                  <c:v>0.14914645207033286</c:v>
                </c:pt>
                <c:pt idx="36">
                  <c:v>0.15868489749561462</c:v>
                </c:pt>
                <c:pt idx="37">
                  <c:v>0.16829836246906024</c:v>
                </c:pt>
                <c:pt idx="38">
                  <c:v>0.1778944406468057</c:v>
                </c:pt>
                <c:pt idx="39">
                  <c:v>0.18736987954752057</c:v>
                </c:pt>
                <c:pt idx="40">
                  <c:v>0.19661193324148185</c:v>
                </c:pt>
                <c:pt idx="41">
                  <c:v>0.20550030734226343</c:v>
                </c:pt>
                <c:pt idx="42">
                  <c:v>0.21390969652029443</c:v>
                </c:pt>
                <c:pt idx="43">
                  <c:v>0.22171287329310907</c:v>
                </c:pt>
                <c:pt idx="44">
                  <c:v>0.2287842404566573</c:v>
                </c:pt>
                <c:pt idx="45">
                  <c:v>0.2350037122015945</c:v>
                </c:pt>
                <c:pt idx="46">
                  <c:v>0.24026074574152914</c:v>
                </c:pt>
                <c:pt idx="47">
                  <c:v>0.24445831169074586</c:v>
                </c:pt>
                <c:pt idx="48">
                  <c:v>0.24751657271185995</c:v>
                </c:pt>
                <c:pt idx="49">
                  <c:v>0.24937604019289197</c:v>
                </c:pt>
                <c:pt idx="50">
                  <c:v>0.25</c:v>
                </c:pt>
                <c:pt idx="51">
                  <c:v>0.24937604019289197</c:v>
                </c:pt>
                <c:pt idx="52">
                  <c:v>0.24751657271185995</c:v>
                </c:pt>
                <c:pt idx="53">
                  <c:v>0.24445831169074586</c:v>
                </c:pt>
                <c:pt idx="54">
                  <c:v>0.24026074574152914</c:v>
                </c:pt>
                <c:pt idx="55">
                  <c:v>0.2350037122015945</c:v>
                </c:pt>
                <c:pt idx="56">
                  <c:v>0.22878424045665732</c:v>
                </c:pt>
                <c:pt idx="57">
                  <c:v>0.22171287329310904</c:v>
                </c:pt>
                <c:pt idx="58">
                  <c:v>0.2139096965202944</c:v>
                </c:pt>
                <c:pt idx="59">
                  <c:v>0.2055003073422635</c:v>
                </c:pt>
                <c:pt idx="60">
                  <c:v>0.19661193324148185</c:v>
                </c:pt>
                <c:pt idx="61">
                  <c:v>0.18736987954752055</c:v>
                </c:pt>
                <c:pt idx="62">
                  <c:v>0.17789444064680576</c:v>
                </c:pt>
                <c:pt idx="63">
                  <c:v>0.16829836246906024</c:v>
                </c:pt>
                <c:pt idx="64">
                  <c:v>0.15868489749561468</c:v>
                </c:pt>
                <c:pt idx="65">
                  <c:v>0.14914645207033286</c:v>
                </c:pt>
                <c:pt idx="66">
                  <c:v>0.13976379193306102</c:v>
                </c:pt>
                <c:pt idx="67">
                  <c:v>0.13060574696620808</c:v>
                </c:pt>
                <c:pt idx="68">
                  <c:v>0.12172934028708533</c:v>
                </c:pt>
                <c:pt idx="69">
                  <c:v>0.11318025926193101</c:v>
                </c:pt>
                <c:pt idx="70">
                  <c:v>0.10499358540350662</c:v>
                </c:pt>
                <c:pt idx="71">
                  <c:v>0.09719470480062539</c:v>
                </c:pt>
                <c:pt idx="72">
                  <c:v>0.08980032904006877</c:v>
                </c:pt>
                <c:pt idx="73">
                  <c:v>0.08281956699074118</c:v>
                </c:pt>
                <c:pt idx="74">
                  <c:v>0.07625499905185222</c:v>
                </c:pt>
                <c:pt idx="75">
                  <c:v>0.07010371654510807</c:v>
                </c:pt>
                <c:pt idx="76">
                  <c:v>0.06435829917577342</c:v>
                </c:pt>
                <c:pt idx="77">
                  <c:v>0.05900771248391524</c:v>
                </c:pt>
                <c:pt idx="78">
                  <c:v>0.054038114756384294</c:v>
                </c:pt>
                <c:pt idx="79">
                  <c:v>0.049433568936643184</c:v>
                </c:pt>
                <c:pt idx="80">
                  <c:v>0.045176659730912</c:v>
                </c:pt>
                <c:pt idx="81">
                  <c:v>0.04124901951253034</c:v>
                </c:pt>
                <c:pt idx="82">
                  <c:v>0.03763176895457135</c:v>
                </c:pt>
                <c:pt idx="83">
                  <c:v>0.03430587976636643</c:v>
                </c:pt>
                <c:pt idx="84">
                  <c:v>0.031252467658361704</c:v>
                </c:pt>
                <c:pt idx="85">
                  <c:v>0.028453023879735598</c:v>
                </c:pt>
                <c:pt idx="86">
                  <c:v>0.02588959350953811</c:v>
                </c:pt>
                <c:pt idx="87">
                  <c:v>0.023544908255180536</c:v>
                </c:pt>
                <c:pt idx="88">
                  <c:v>0.021402480918350217</c:v>
                </c:pt>
                <c:pt idx="89">
                  <c:v>0.0194466680024558</c:v>
                </c:pt>
                <c:pt idx="90">
                  <c:v>0.017662706213291107</c:v>
                </c:pt>
                <c:pt idx="91">
                  <c:v>0.016036727885685075</c:v>
                </c:pt>
                <c:pt idx="92">
                  <c:v>0.014555759680799234</c:v>
                </c:pt>
                <c:pt idx="93">
                  <c:v>0.013207708258740227</c:v>
                </c:pt>
                <c:pt idx="94">
                  <c:v>0.011981336049106527</c:v>
                </c:pt>
                <c:pt idx="95">
                  <c:v>0.010866229722225243</c:v>
                </c:pt>
                <c:pt idx="96">
                  <c:v>0.009852763506506134</c:v>
                </c:pt>
                <c:pt idx="97">
                  <c:v>0.008932059100242515</c:v>
                </c:pt>
                <c:pt idx="98">
                  <c:v>0.008095943585329482</c:v>
                </c:pt>
                <c:pt idx="99">
                  <c:v>0.0073369064608376534</c:v>
                </c:pt>
                <c:pt idx="100">
                  <c:v>0.006648056670790033</c:v>
                </c:pt>
              </c:numCache>
            </c:numRef>
          </c:yVal>
          <c:smooth val="0"/>
        </c:ser>
        <c:ser>
          <c:idx val="2"/>
          <c:order val="2"/>
          <c:tx>
            <c:strRef>
              <c:f>Sheet1!$D$1</c:f>
              <c:strCache>
                <c:ptCount val="1"/>
                <c:pt idx="0">
                  <c:v>tanh(z)</c:v>
                </c:pt>
              </c:strCache>
            </c:strRef>
          </c:tx>
          <c:spPr>
            <a:solidFill>
              <a:srgbClr val="4C5FD5"/>
            </a:solidFill>
            <a:ln w="38100" cap="flat">
              <a:solidFill>
                <a:srgbClr val="4C5FD5"/>
              </a:solidFill>
              <a:prstDash val="solid"/>
              <a:round/>
            </a:ln>
            <a:effectLst/>
          </c:spPr>
          <c:marker>
            <c:symbol val="none"/>
            <c:size val="7"/>
            <c:spPr>
              <a:solidFill>
                <a:srgbClr val="4C5FD5"/>
              </a:solidFill>
              <a:ln w="9525" cap="flat">
                <a:solidFill>
                  <a:srgbClr val="4C5FD5"/>
                </a:solidFill>
                <a:prstDash val="solid"/>
                <a:round/>
              </a:ln>
              <a:effectLst/>
            </c:spPr>
          </c:marker>
          <c:xVal>
            <c:numRef>
              <c:f>Sheet1!$A$2:$A$102</c:f>
              <c:numCache>
                <c:formatCode>General</c:formatCode>
                <c:ptCount val="101"/>
                <c:pt idx="0">
                  <c:v>-5</c:v>
                </c:pt>
                <c:pt idx="1">
                  <c:v>-4.9</c:v>
                </c:pt>
                <c:pt idx="2">
                  <c:v>-4.8</c:v>
                </c:pt>
                <c:pt idx="3">
                  <c:v>-4.7</c:v>
                </c:pt>
                <c:pt idx="4">
                  <c:v>-4.6</c:v>
                </c:pt>
                <c:pt idx="5">
                  <c:v>-4.5</c:v>
                </c:pt>
                <c:pt idx="6">
                  <c:v>-4.4</c:v>
                </c:pt>
                <c:pt idx="7">
                  <c:v>-4.3</c:v>
                </c:pt>
                <c:pt idx="8">
                  <c:v>-4.2</c:v>
                </c:pt>
                <c:pt idx="9">
                  <c:v>-4.1</c:v>
                </c:pt>
                <c:pt idx="10">
                  <c:v>-4</c:v>
                </c:pt>
                <c:pt idx="11">
                  <c:v>-3.9</c:v>
                </c:pt>
                <c:pt idx="12">
                  <c:v>-3.8</c:v>
                </c:pt>
                <c:pt idx="13">
                  <c:v>-3.7</c:v>
                </c:pt>
                <c:pt idx="14">
                  <c:v>-3.6</c:v>
                </c:pt>
                <c:pt idx="15">
                  <c:v>-3.5</c:v>
                </c:pt>
                <c:pt idx="16">
                  <c:v>-3.4</c:v>
                </c:pt>
                <c:pt idx="17">
                  <c:v>-3.3</c:v>
                </c:pt>
                <c:pt idx="18">
                  <c:v>-3.2</c:v>
                </c:pt>
                <c:pt idx="19">
                  <c:v>-3.1</c:v>
                </c:pt>
                <c:pt idx="20">
                  <c:v>-3</c:v>
                </c:pt>
                <c:pt idx="21">
                  <c:v>-2.9</c:v>
                </c:pt>
                <c:pt idx="22">
                  <c:v>-2.8</c:v>
                </c:pt>
                <c:pt idx="23">
                  <c:v>-2.7</c:v>
                </c:pt>
                <c:pt idx="24">
                  <c:v>-2.6</c:v>
                </c:pt>
                <c:pt idx="25">
                  <c:v>-2.5</c:v>
                </c:pt>
                <c:pt idx="26">
                  <c:v>-2.4</c:v>
                </c:pt>
                <c:pt idx="27">
                  <c:v>-2.3</c:v>
                </c:pt>
                <c:pt idx="28">
                  <c:v>-2.2</c:v>
                </c:pt>
                <c:pt idx="29">
                  <c:v>-2.1</c:v>
                </c:pt>
                <c:pt idx="30">
                  <c:v>-2</c:v>
                </c:pt>
                <c:pt idx="31">
                  <c:v>-1.9</c:v>
                </c:pt>
                <c:pt idx="32">
                  <c:v>-1.8</c:v>
                </c:pt>
                <c:pt idx="33">
                  <c:v>-1.7</c:v>
                </c:pt>
                <c:pt idx="34">
                  <c:v>-1.6</c:v>
                </c:pt>
                <c:pt idx="35">
                  <c:v>-1.5</c:v>
                </c:pt>
                <c:pt idx="36">
                  <c:v>-1.4</c:v>
                </c:pt>
                <c:pt idx="37">
                  <c:v>-1.3</c:v>
                </c:pt>
                <c:pt idx="38">
                  <c:v>-1.2</c:v>
                </c:pt>
                <c:pt idx="39">
                  <c:v>-1.1</c:v>
                </c:pt>
                <c:pt idx="40">
                  <c:v>-1</c:v>
                </c:pt>
                <c:pt idx="41">
                  <c:v>-0.9</c:v>
                </c:pt>
                <c:pt idx="42">
                  <c:v>-0.8</c:v>
                </c:pt>
                <c:pt idx="43">
                  <c:v>-0.7</c:v>
                </c:pt>
                <c:pt idx="44">
                  <c:v>-0.6</c:v>
                </c:pt>
                <c:pt idx="45">
                  <c:v>-0.5</c:v>
                </c:pt>
                <c:pt idx="46">
                  <c:v>-0.4</c:v>
                </c:pt>
                <c:pt idx="47">
                  <c:v>-0.3</c:v>
                </c:pt>
                <c:pt idx="48">
                  <c:v>-0.2</c:v>
                </c:pt>
                <c:pt idx="49">
                  <c:v>-0.1</c:v>
                </c:pt>
                <c:pt idx="50">
                  <c:v>0</c:v>
                </c:pt>
                <c:pt idx="51">
                  <c:v>0.1</c:v>
                </c:pt>
                <c:pt idx="52">
                  <c:v>0.2</c:v>
                </c:pt>
                <c:pt idx="53">
                  <c:v>0.3</c:v>
                </c:pt>
                <c:pt idx="54">
                  <c:v>0.4</c:v>
                </c:pt>
                <c:pt idx="55">
                  <c:v>0.5</c:v>
                </c:pt>
                <c:pt idx="56">
                  <c:v>0.6</c:v>
                </c:pt>
                <c:pt idx="57">
                  <c:v>0.7</c:v>
                </c:pt>
                <c:pt idx="58">
                  <c:v>0.8</c:v>
                </c:pt>
                <c:pt idx="59">
                  <c:v>0.9</c:v>
                </c:pt>
                <c:pt idx="60">
                  <c:v>1</c:v>
                </c:pt>
                <c:pt idx="61">
                  <c:v>1.1</c:v>
                </c:pt>
                <c:pt idx="62">
                  <c:v>1.2</c:v>
                </c:pt>
                <c:pt idx="63">
                  <c:v>1.3</c:v>
                </c:pt>
                <c:pt idx="64">
                  <c:v>1.4</c:v>
                </c:pt>
                <c:pt idx="65">
                  <c:v>1.5</c:v>
                </c:pt>
                <c:pt idx="66">
                  <c:v>1.6</c:v>
                </c:pt>
                <c:pt idx="67">
                  <c:v>1.7</c:v>
                </c:pt>
                <c:pt idx="68">
                  <c:v>1.8</c:v>
                </c:pt>
                <c:pt idx="69">
                  <c:v>1.9</c:v>
                </c:pt>
                <c:pt idx="70">
                  <c:v>2</c:v>
                </c:pt>
                <c:pt idx="71">
                  <c:v>2.1</c:v>
                </c:pt>
                <c:pt idx="72">
                  <c:v>2.2</c:v>
                </c:pt>
                <c:pt idx="73">
                  <c:v>2.3</c:v>
                </c:pt>
                <c:pt idx="74">
                  <c:v>2.4</c:v>
                </c:pt>
                <c:pt idx="75">
                  <c:v>2.5</c:v>
                </c:pt>
                <c:pt idx="76">
                  <c:v>2.6</c:v>
                </c:pt>
                <c:pt idx="77">
                  <c:v>2.7</c:v>
                </c:pt>
                <c:pt idx="78">
                  <c:v>2.8</c:v>
                </c:pt>
                <c:pt idx="79">
                  <c:v>2.9</c:v>
                </c:pt>
                <c:pt idx="80">
                  <c:v>3</c:v>
                </c:pt>
                <c:pt idx="81">
                  <c:v>3.1</c:v>
                </c:pt>
                <c:pt idx="82">
                  <c:v>3.2</c:v>
                </c:pt>
                <c:pt idx="83">
                  <c:v>3.3</c:v>
                </c:pt>
                <c:pt idx="84">
                  <c:v>3.4</c:v>
                </c:pt>
                <c:pt idx="85">
                  <c:v>3.5</c:v>
                </c:pt>
                <c:pt idx="86">
                  <c:v>3.6</c:v>
                </c:pt>
                <c:pt idx="87">
                  <c:v>3.7</c:v>
                </c:pt>
                <c:pt idx="88">
                  <c:v>3.8</c:v>
                </c:pt>
                <c:pt idx="89">
                  <c:v>3.9</c:v>
                </c:pt>
                <c:pt idx="90">
                  <c:v>4</c:v>
                </c:pt>
                <c:pt idx="91">
                  <c:v>4.1</c:v>
                </c:pt>
                <c:pt idx="92">
                  <c:v>4.2</c:v>
                </c:pt>
                <c:pt idx="93">
                  <c:v>4.3</c:v>
                </c:pt>
                <c:pt idx="94">
                  <c:v>4.4</c:v>
                </c:pt>
                <c:pt idx="95">
                  <c:v>4.5</c:v>
                </c:pt>
                <c:pt idx="96">
                  <c:v>4.6</c:v>
                </c:pt>
                <c:pt idx="97">
                  <c:v>4.7</c:v>
                </c:pt>
                <c:pt idx="98">
                  <c:v>4.8</c:v>
                </c:pt>
                <c:pt idx="99">
                  <c:v>4.9</c:v>
                </c:pt>
                <c:pt idx="100">
                  <c:v>5</c:v>
                </c:pt>
              </c:numCache>
            </c:numRef>
          </c:xVal>
          <c:yVal>
            <c:numRef>
              <c:f>Sheet1!$D$2:$D$102</c:f>
              <c:numCache>
                <c:formatCode>General</c:formatCode>
                <c:ptCount val="101"/>
                <c:pt idx="0">
                  <c:v>-0.9999092042625951</c:v>
                </c:pt>
                <c:pt idx="1">
                  <c:v>-0.9998891029505544</c:v>
                </c:pt>
                <c:pt idx="2">
                  <c:v>-0.9998645517007605</c:v>
                </c:pt>
                <c:pt idx="3">
                  <c:v>-0.9998345655542966</c:v>
                </c:pt>
                <c:pt idx="4">
                  <c:v>-0.9997979416121845</c:v>
                </c:pt>
                <c:pt idx="5">
                  <c:v>-0.9997532108480275</c:v>
                </c:pt>
                <c:pt idx="6">
                  <c:v>-0.9996985792838805</c:v>
                </c:pt>
                <c:pt idx="7">
                  <c:v>-0.9996318561900731</c:v>
                </c:pt>
                <c:pt idx="8">
                  <c:v>-0.9995503664595334</c:v>
                </c:pt>
                <c:pt idx="9">
                  <c:v>-0.9994508436877974</c:v>
                </c:pt>
                <c:pt idx="10">
                  <c:v>-0.999329299739067</c:v>
                </c:pt>
                <c:pt idx="11">
                  <c:v>-0.999180865670028</c:v>
                </c:pt>
                <c:pt idx="12">
                  <c:v>-0.9989995977858409</c:v>
                </c:pt>
                <c:pt idx="13">
                  <c:v>-0.9987782412811312</c:v>
                </c:pt>
                <c:pt idx="14">
                  <c:v>-0.9985079423323266</c:v>
                </c:pt>
                <c:pt idx="15">
                  <c:v>-0.9981778976111987</c:v>
                </c:pt>
                <c:pt idx="16">
                  <c:v>-0.9977749279342794</c:v>
                </c:pt>
                <c:pt idx="17">
                  <c:v>-0.9972829600991421</c:v>
                </c:pt>
                <c:pt idx="18">
                  <c:v>-0.9966823978396512</c:v>
                </c:pt>
                <c:pt idx="19">
                  <c:v>-0.9959493592219002</c:v>
                </c:pt>
                <c:pt idx="20">
                  <c:v>-0.9950547536867305</c:v>
                </c:pt>
                <c:pt idx="21">
                  <c:v>-0.9939631673505831</c:v>
                </c:pt>
                <c:pt idx="22">
                  <c:v>-0.992631520201128</c:v>
                </c:pt>
                <c:pt idx="23">
                  <c:v>-0.9910074536781176</c:v>
                </c:pt>
                <c:pt idx="24">
                  <c:v>-0.9890274022010992</c:v>
                </c:pt>
                <c:pt idx="25">
                  <c:v>-0.9866142981514303</c:v>
                </c:pt>
                <c:pt idx="26">
                  <c:v>-0.9836748576936802</c:v>
                </c:pt>
                <c:pt idx="27">
                  <c:v>-0.9800963962661914</c:v>
                </c:pt>
                <c:pt idx="28">
                  <c:v>-0.9757431300314515</c:v>
                </c:pt>
                <c:pt idx="29">
                  <c:v>-0.9704519366134539</c:v>
                </c:pt>
                <c:pt idx="30">
                  <c:v>-0.9640275800758169</c:v>
                </c:pt>
                <c:pt idx="31">
                  <c:v>-0.9562374581277391</c:v>
                </c:pt>
                <c:pt idx="32">
                  <c:v>-0.9468060128462683</c:v>
                </c:pt>
                <c:pt idx="33">
                  <c:v>-0.935409070603099</c:v>
                </c:pt>
                <c:pt idx="34">
                  <c:v>-0.9216685544064713</c:v>
                </c:pt>
                <c:pt idx="35">
                  <c:v>-0.9051482536448664</c:v>
                </c:pt>
                <c:pt idx="36">
                  <c:v>-0.8853516482022625</c:v>
                </c:pt>
                <c:pt idx="37">
                  <c:v>-0.8617231593133063</c:v>
                </c:pt>
                <c:pt idx="38">
                  <c:v>-0.8336546070121552</c:v>
                </c:pt>
                <c:pt idx="39">
                  <c:v>-0.8004990217606297</c:v>
                </c:pt>
                <c:pt idx="40">
                  <c:v>-0.7615941559557649</c:v>
                </c:pt>
                <c:pt idx="41">
                  <c:v>-0.7162978701990245</c:v>
                </c:pt>
                <c:pt idx="42">
                  <c:v>-0.6640367702678491</c:v>
                </c:pt>
                <c:pt idx="43">
                  <c:v>-0.6043677771171636</c:v>
                </c:pt>
                <c:pt idx="44">
                  <c:v>-0.5370495669980353</c:v>
                </c:pt>
                <c:pt idx="45">
                  <c:v>-0.46211715726000974</c:v>
                </c:pt>
                <c:pt idx="46">
                  <c:v>-0.3799489622552249</c:v>
                </c:pt>
                <c:pt idx="47">
                  <c:v>-0.2913126124515909</c:v>
                </c:pt>
                <c:pt idx="48">
                  <c:v>-0.197375320224904</c:v>
                </c:pt>
                <c:pt idx="49">
                  <c:v>-0.09966799462495582</c:v>
                </c:pt>
                <c:pt idx="50">
                  <c:v>0</c:v>
                </c:pt>
                <c:pt idx="51">
                  <c:v>0.09966799462495582</c:v>
                </c:pt>
                <c:pt idx="52">
                  <c:v>0.197375320224904</c:v>
                </c:pt>
                <c:pt idx="53">
                  <c:v>0.2913126124515909</c:v>
                </c:pt>
                <c:pt idx="54">
                  <c:v>0.3799489622552249</c:v>
                </c:pt>
                <c:pt idx="55">
                  <c:v>0.46211715726000974</c:v>
                </c:pt>
                <c:pt idx="56">
                  <c:v>0.5370495669980353</c:v>
                </c:pt>
                <c:pt idx="57">
                  <c:v>0.6043677771171636</c:v>
                </c:pt>
                <c:pt idx="58">
                  <c:v>0.6640367702678491</c:v>
                </c:pt>
                <c:pt idx="59">
                  <c:v>0.7162978701990245</c:v>
                </c:pt>
                <c:pt idx="60">
                  <c:v>0.7615941559557649</c:v>
                </c:pt>
                <c:pt idx="61">
                  <c:v>0.8004990217606297</c:v>
                </c:pt>
                <c:pt idx="62">
                  <c:v>0.8336546070121552</c:v>
                </c:pt>
                <c:pt idx="63">
                  <c:v>0.8617231593133063</c:v>
                </c:pt>
                <c:pt idx="64">
                  <c:v>0.8853516482022625</c:v>
                </c:pt>
                <c:pt idx="65">
                  <c:v>0.9051482536448664</c:v>
                </c:pt>
                <c:pt idx="66">
                  <c:v>0.9216685544064713</c:v>
                </c:pt>
                <c:pt idx="67">
                  <c:v>0.935409070603099</c:v>
                </c:pt>
                <c:pt idx="68">
                  <c:v>0.9468060128462683</c:v>
                </c:pt>
                <c:pt idx="69">
                  <c:v>0.9562374581277391</c:v>
                </c:pt>
                <c:pt idx="70">
                  <c:v>0.9640275800758169</c:v>
                </c:pt>
                <c:pt idx="71">
                  <c:v>0.9704519366134539</c:v>
                </c:pt>
                <c:pt idx="72">
                  <c:v>0.9757431300314515</c:v>
                </c:pt>
                <c:pt idx="73">
                  <c:v>0.9800963962661914</c:v>
                </c:pt>
                <c:pt idx="74">
                  <c:v>0.9836748576936802</c:v>
                </c:pt>
                <c:pt idx="75">
                  <c:v>0.9866142981514303</c:v>
                </c:pt>
                <c:pt idx="76">
                  <c:v>0.9890274022010992</c:v>
                </c:pt>
                <c:pt idx="77">
                  <c:v>0.9910074536781176</c:v>
                </c:pt>
                <c:pt idx="78">
                  <c:v>0.992631520201128</c:v>
                </c:pt>
                <c:pt idx="79">
                  <c:v>0.9939631673505831</c:v>
                </c:pt>
                <c:pt idx="80">
                  <c:v>0.9950547536867305</c:v>
                </c:pt>
                <c:pt idx="81">
                  <c:v>0.9959493592219002</c:v>
                </c:pt>
                <c:pt idx="82">
                  <c:v>0.9966823978396512</c:v>
                </c:pt>
                <c:pt idx="83">
                  <c:v>0.9972829600991421</c:v>
                </c:pt>
                <c:pt idx="84">
                  <c:v>0.9977749279342794</c:v>
                </c:pt>
                <c:pt idx="85">
                  <c:v>0.9981778976111987</c:v>
                </c:pt>
                <c:pt idx="86">
                  <c:v>0.9985079423323266</c:v>
                </c:pt>
                <c:pt idx="87">
                  <c:v>0.9987782412811312</c:v>
                </c:pt>
                <c:pt idx="88">
                  <c:v>0.9989995977858409</c:v>
                </c:pt>
                <c:pt idx="89">
                  <c:v>0.999180865670028</c:v>
                </c:pt>
                <c:pt idx="90">
                  <c:v>0.999329299739067</c:v>
                </c:pt>
                <c:pt idx="91">
                  <c:v>0.9994508436877974</c:v>
                </c:pt>
                <c:pt idx="92">
                  <c:v>0.9995503664595334</c:v>
                </c:pt>
                <c:pt idx="93">
                  <c:v>0.9996318561900731</c:v>
                </c:pt>
                <c:pt idx="94">
                  <c:v>0.9996985792838805</c:v>
                </c:pt>
                <c:pt idx="95">
                  <c:v>0.9997532108480275</c:v>
                </c:pt>
                <c:pt idx="96">
                  <c:v>0.9997979416121845</c:v>
                </c:pt>
                <c:pt idx="97">
                  <c:v>0.9998345655542966</c:v>
                </c:pt>
                <c:pt idx="98">
                  <c:v>0.9998645517007605</c:v>
                </c:pt>
                <c:pt idx="99">
                  <c:v>0.9998891029505544</c:v>
                </c:pt>
                <c:pt idx="100">
                  <c:v>0.9999092042625951</c:v>
                </c:pt>
              </c:numCache>
            </c:numRef>
          </c:yVal>
          <c:smooth val="0"/>
        </c:ser>
        <c:ser>
          <c:idx val="3"/>
          <c:order val="3"/>
          <c:tx>
            <c:strRef>
              <c:f>Sheet1!$E$1</c:f>
              <c:strCache>
                <c:ptCount val="1"/>
                <c:pt idx="0">
                  <c:v>tanh′(z)</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Sheet1!$A$2:$A$102</c:f>
              <c:numCache>
                <c:formatCode>General</c:formatCode>
                <c:ptCount val="101"/>
                <c:pt idx="0">
                  <c:v>-5</c:v>
                </c:pt>
                <c:pt idx="1">
                  <c:v>-4.9</c:v>
                </c:pt>
                <c:pt idx="2">
                  <c:v>-4.8</c:v>
                </c:pt>
                <c:pt idx="3">
                  <c:v>-4.7</c:v>
                </c:pt>
                <c:pt idx="4">
                  <c:v>-4.6</c:v>
                </c:pt>
                <c:pt idx="5">
                  <c:v>-4.5</c:v>
                </c:pt>
                <c:pt idx="6">
                  <c:v>-4.4</c:v>
                </c:pt>
                <c:pt idx="7">
                  <c:v>-4.3</c:v>
                </c:pt>
                <c:pt idx="8">
                  <c:v>-4.2</c:v>
                </c:pt>
                <c:pt idx="9">
                  <c:v>-4.1</c:v>
                </c:pt>
                <c:pt idx="10">
                  <c:v>-4</c:v>
                </c:pt>
                <c:pt idx="11">
                  <c:v>-3.9</c:v>
                </c:pt>
                <c:pt idx="12">
                  <c:v>-3.8</c:v>
                </c:pt>
                <c:pt idx="13">
                  <c:v>-3.7</c:v>
                </c:pt>
                <c:pt idx="14">
                  <c:v>-3.6</c:v>
                </c:pt>
                <c:pt idx="15">
                  <c:v>-3.5</c:v>
                </c:pt>
                <c:pt idx="16">
                  <c:v>-3.4</c:v>
                </c:pt>
                <c:pt idx="17">
                  <c:v>-3.3</c:v>
                </c:pt>
                <c:pt idx="18">
                  <c:v>-3.2</c:v>
                </c:pt>
                <c:pt idx="19">
                  <c:v>-3.1</c:v>
                </c:pt>
                <c:pt idx="20">
                  <c:v>-3</c:v>
                </c:pt>
                <c:pt idx="21">
                  <c:v>-2.9</c:v>
                </c:pt>
                <c:pt idx="22">
                  <c:v>-2.8</c:v>
                </c:pt>
                <c:pt idx="23">
                  <c:v>-2.7</c:v>
                </c:pt>
                <c:pt idx="24">
                  <c:v>-2.6</c:v>
                </c:pt>
                <c:pt idx="25">
                  <c:v>-2.5</c:v>
                </c:pt>
                <c:pt idx="26">
                  <c:v>-2.4</c:v>
                </c:pt>
                <c:pt idx="27">
                  <c:v>-2.3</c:v>
                </c:pt>
                <c:pt idx="28">
                  <c:v>-2.2</c:v>
                </c:pt>
                <c:pt idx="29">
                  <c:v>-2.1</c:v>
                </c:pt>
                <c:pt idx="30">
                  <c:v>-2</c:v>
                </c:pt>
                <c:pt idx="31">
                  <c:v>-1.9</c:v>
                </c:pt>
                <c:pt idx="32">
                  <c:v>-1.8</c:v>
                </c:pt>
                <c:pt idx="33">
                  <c:v>-1.7</c:v>
                </c:pt>
                <c:pt idx="34">
                  <c:v>-1.6</c:v>
                </c:pt>
                <c:pt idx="35">
                  <c:v>-1.5</c:v>
                </c:pt>
                <c:pt idx="36">
                  <c:v>-1.4</c:v>
                </c:pt>
                <c:pt idx="37">
                  <c:v>-1.3</c:v>
                </c:pt>
                <c:pt idx="38">
                  <c:v>-1.2</c:v>
                </c:pt>
                <c:pt idx="39">
                  <c:v>-1.1</c:v>
                </c:pt>
                <c:pt idx="40">
                  <c:v>-1</c:v>
                </c:pt>
                <c:pt idx="41">
                  <c:v>-0.9</c:v>
                </c:pt>
                <c:pt idx="42">
                  <c:v>-0.8</c:v>
                </c:pt>
                <c:pt idx="43">
                  <c:v>-0.7</c:v>
                </c:pt>
                <c:pt idx="44">
                  <c:v>-0.6</c:v>
                </c:pt>
                <c:pt idx="45">
                  <c:v>-0.5</c:v>
                </c:pt>
                <c:pt idx="46">
                  <c:v>-0.4</c:v>
                </c:pt>
                <c:pt idx="47">
                  <c:v>-0.3</c:v>
                </c:pt>
                <c:pt idx="48">
                  <c:v>-0.2</c:v>
                </c:pt>
                <c:pt idx="49">
                  <c:v>-0.1</c:v>
                </c:pt>
                <c:pt idx="50">
                  <c:v>0</c:v>
                </c:pt>
                <c:pt idx="51">
                  <c:v>0.1</c:v>
                </c:pt>
                <c:pt idx="52">
                  <c:v>0.2</c:v>
                </c:pt>
                <c:pt idx="53">
                  <c:v>0.3</c:v>
                </c:pt>
                <c:pt idx="54">
                  <c:v>0.4</c:v>
                </c:pt>
                <c:pt idx="55">
                  <c:v>0.5</c:v>
                </c:pt>
                <c:pt idx="56">
                  <c:v>0.6</c:v>
                </c:pt>
                <c:pt idx="57">
                  <c:v>0.7</c:v>
                </c:pt>
                <c:pt idx="58">
                  <c:v>0.8</c:v>
                </c:pt>
                <c:pt idx="59">
                  <c:v>0.9</c:v>
                </c:pt>
                <c:pt idx="60">
                  <c:v>1</c:v>
                </c:pt>
                <c:pt idx="61">
                  <c:v>1.1</c:v>
                </c:pt>
                <c:pt idx="62">
                  <c:v>1.2</c:v>
                </c:pt>
                <c:pt idx="63">
                  <c:v>1.3</c:v>
                </c:pt>
                <c:pt idx="64">
                  <c:v>1.4</c:v>
                </c:pt>
                <c:pt idx="65">
                  <c:v>1.5</c:v>
                </c:pt>
                <c:pt idx="66">
                  <c:v>1.6</c:v>
                </c:pt>
                <c:pt idx="67">
                  <c:v>1.7</c:v>
                </c:pt>
                <c:pt idx="68">
                  <c:v>1.8</c:v>
                </c:pt>
                <c:pt idx="69">
                  <c:v>1.9</c:v>
                </c:pt>
                <c:pt idx="70">
                  <c:v>2</c:v>
                </c:pt>
                <c:pt idx="71">
                  <c:v>2.1</c:v>
                </c:pt>
                <c:pt idx="72">
                  <c:v>2.2</c:v>
                </c:pt>
                <c:pt idx="73">
                  <c:v>2.3</c:v>
                </c:pt>
                <c:pt idx="74">
                  <c:v>2.4</c:v>
                </c:pt>
                <c:pt idx="75">
                  <c:v>2.5</c:v>
                </c:pt>
                <c:pt idx="76">
                  <c:v>2.6</c:v>
                </c:pt>
                <c:pt idx="77">
                  <c:v>2.7</c:v>
                </c:pt>
                <c:pt idx="78">
                  <c:v>2.8</c:v>
                </c:pt>
                <c:pt idx="79">
                  <c:v>2.9</c:v>
                </c:pt>
                <c:pt idx="80">
                  <c:v>3</c:v>
                </c:pt>
                <c:pt idx="81">
                  <c:v>3.1</c:v>
                </c:pt>
                <c:pt idx="82">
                  <c:v>3.2</c:v>
                </c:pt>
                <c:pt idx="83">
                  <c:v>3.3</c:v>
                </c:pt>
                <c:pt idx="84">
                  <c:v>3.4</c:v>
                </c:pt>
                <c:pt idx="85">
                  <c:v>3.5</c:v>
                </c:pt>
                <c:pt idx="86">
                  <c:v>3.6</c:v>
                </c:pt>
                <c:pt idx="87">
                  <c:v>3.7</c:v>
                </c:pt>
                <c:pt idx="88">
                  <c:v>3.8</c:v>
                </c:pt>
                <c:pt idx="89">
                  <c:v>3.9</c:v>
                </c:pt>
                <c:pt idx="90">
                  <c:v>4</c:v>
                </c:pt>
                <c:pt idx="91">
                  <c:v>4.1</c:v>
                </c:pt>
                <c:pt idx="92">
                  <c:v>4.2</c:v>
                </c:pt>
                <c:pt idx="93">
                  <c:v>4.3</c:v>
                </c:pt>
                <c:pt idx="94">
                  <c:v>4.4</c:v>
                </c:pt>
                <c:pt idx="95">
                  <c:v>4.5</c:v>
                </c:pt>
                <c:pt idx="96">
                  <c:v>4.6</c:v>
                </c:pt>
                <c:pt idx="97">
                  <c:v>4.7</c:v>
                </c:pt>
                <c:pt idx="98">
                  <c:v>4.8</c:v>
                </c:pt>
                <c:pt idx="99">
                  <c:v>4.9</c:v>
                </c:pt>
                <c:pt idx="100">
                  <c:v>5</c:v>
                </c:pt>
              </c:numCache>
            </c:numRef>
          </c:xVal>
          <c:yVal>
            <c:numRef>
              <c:f>Sheet1!$E$2:$E$102</c:f>
              <c:numCache>
                <c:formatCode>General</c:formatCode>
                <c:ptCount val="101"/>
                <c:pt idx="0">
                  <c:v>0.0001815832309438603</c:v>
                </c:pt>
                <c:pt idx="1">
                  <c:v>0.0002217818007355099</c:v>
                </c:pt>
                <c:pt idx="2">
                  <c:v>0.00027087825223726103</c:v>
                </c:pt>
                <c:pt idx="3">
                  <c:v>0.00033084152285089985</c:v>
                </c:pt>
                <c:pt idx="4">
                  <c:v>0.0004040759480389289</c:v>
                </c:pt>
                <c:pt idx="5">
                  <c:v>0.000493517399059451</c:v>
                </c:pt>
                <c:pt idx="6">
                  <c:v>0.0006027505777909115</c:v>
                </c:pt>
                <c:pt idx="7">
                  <c:v>0.0007361520899890062</c:v>
                </c:pt>
                <c:pt idx="8">
                  <c:v>0.0008990649106124238</c:v>
                </c:pt>
                <c:pt idx="9">
                  <c:v>0.001098011051750114</c:v>
                </c:pt>
                <c:pt idx="10">
                  <c:v>0.0013409506830258655</c:v>
                </c:pt>
                <c:pt idx="11">
                  <c:v>0.0016375976788935986</c:v>
                </c:pt>
                <c:pt idx="12">
                  <c:v>0.0019998036237280914</c:v>
                </c:pt>
                <c:pt idx="13">
                  <c:v>0.002442024743370408</c:v>
                </c:pt>
                <c:pt idx="14">
                  <c:v>0.002981889099263002</c:v>
                </c:pt>
                <c:pt idx="15">
                  <c:v>0.003640884720487403</c:v>
                </c:pt>
                <c:pt idx="16">
                  <c:v>0.004445193185743657</c:v>
                </c:pt>
                <c:pt idx="17">
                  <c:v>0.005426697495892974</c:v>
                </c:pt>
                <c:pt idx="18">
                  <c:v>0.006624197836603285</c:v>
                </c:pt>
                <c:pt idx="19">
                  <c:v>0.008084873865486397</c:v>
                </c:pt>
                <c:pt idx="20">
                  <c:v>0.009866037165440211</c:v>
                </c:pt>
                <c:pt idx="21">
                  <c:v>0.012037221950396693</c:v>
                </c:pt>
                <c:pt idx="22">
                  <c:v>0.0146826651031976</c:v>
                </c:pt>
                <c:pt idx="23">
                  <c:v>0.01790422675441361</c:v>
                </c:pt>
                <c:pt idx="24">
                  <c:v>0.021824797695345177</c:v>
                </c:pt>
                <c:pt idx="25">
                  <c:v>0.026592226683160525</c:v>
                </c:pt>
                <c:pt idx="26">
                  <c:v>0.032383774341317895</c:v>
                </c:pt>
                <c:pt idx="27">
                  <c:v>0.03941105402602474</c:v>
                </c:pt>
                <c:pt idx="28">
                  <c:v>0.04792534419642591</c:v>
                </c:pt>
                <c:pt idx="29">
                  <c:v>0.058223038723196896</c:v>
                </c:pt>
                <c:pt idx="30">
                  <c:v>0.07065082485316443</c:v>
                </c:pt>
                <c:pt idx="31">
                  <c:v>0.08560992367340048</c:v>
                </c:pt>
                <c:pt idx="32">
                  <c:v>0.10355837403815205</c:v>
                </c:pt>
                <c:pt idx="33">
                  <c:v>0.1250098706334466</c:v>
                </c:pt>
                <c:pt idx="34">
                  <c:v>0.1505270758182854</c:v>
                </c:pt>
                <c:pt idx="35">
                  <c:v>0.18070663892364858</c:v>
                </c:pt>
                <c:pt idx="36">
                  <c:v>0.21615245902553715</c:v>
                </c:pt>
                <c:pt idx="37">
                  <c:v>0.25743319670309406</c:v>
                </c:pt>
                <c:pt idx="38">
                  <c:v>0.30501999620740905</c:v>
                </c:pt>
                <c:pt idx="39">
                  <c:v>0.35920131616027484</c:v>
                </c:pt>
                <c:pt idx="40">
                  <c:v>0.41997434161402614</c:v>
                </c:pt>
                <c:pt idx="41">
                  <c:v>0.4869173611483415</c:v>
                </c:pt>
                <c:pt idx="42">
                  <c:v>0.5590551677322437</c:v>
                </c:pt>
                <c:pt idx="43">
                  <c:v>0.6347395899824584</c:v>
                </c:pt>
                <c:pt idx="44">
                  <c:v>0.7115777625872228</c:v>
                </c:pt>
                <c:pt idx="45">
                  <c:v>0.7864477329659274</c:v>
                </c:pt>
                <c:pt idx="46">
                  <c:v>0.8556387860811777</c:v>
                </c:pt>
                <c:pt idx="47">
                  <c:v>0.9151369618266292</c:v>
                </c:pt>
                <c:pt idx="48">
                  <c:v>0.9610429829661166</c:v>
                </c:pt>
                <c:pt idx="49">
                  <c:v>0.9900662908474398</c:v>
                </c:pt>
                <c:pt idx="50">
                  <c:v>1</c:v>
                </c:pt>
                <c:pt idx="51">
                  <c:v>0.9900662908474398</c:v>
                </c:pt>
                <c:pt idx="52">
                  <c:v>0.9610429829661166</c:v>
                </c:pt>
                <c:pt idx="53">
                  <c:v>0.9151369618266292</c:v>
                </c:pt>
                <c:pt idx="54">
                  <c:v>0.8556387860811777</c:v>
                </c:pt>
                <c:pt idx="55">
                  <c:v>0.7864477329659274</c:v>
                </c:pt>
                <c:pt idx="56">
                  <c:v>0.7115777625872228</c:v>
                </c:pt>
                <c:pt idx="57">
                  <c:v>0.6347395899824584</c:v>
                </c:pt>
                <c:pt idx="58">
                  <c:v>0.5590551677322437</c:v>
                </c:pt>
                <c:pt idx="59">
                  <c:v>0.4869173611483415</c:v>
                </c:pt>
                <c:pt idx="60">
                  <c:v>0.41997434161402614</c:v>
                </c:pt>
                <c:pt idx="61">
                  <c:v>0.35920131616027484</c:v>
                </c:pt>
                <c:pt idx="62">
                  <c:v>0.30501999620740905</c:v>
                </c:pt>
                <c:pt idx="63">
                  <c:v>0.25743319670309406</c:v>
                </c:pt>
                <c:pt idx="64">
                  <c:v>0.21615245902553715</c:v>
                </c:pt>
                <c:pt idx="65">
                  <c:v>0.18070663892364858</c:v>
                </c:pt>
                <c:pt idx="66">
                  <c:v>0.1505270758182854</c:v>
                </c:pt>
                <c:pt idx="67">
                  <c:v>0.1250098706334466</c:v>
                </c:pt>
                <c:pt idx="68">
                  <c:v>0.10355837403815205</c:v>
                </c:pt>
                <c:pt idx="69">
                  <c:v>0.08560992367340048</c:v>
                </c:pt>
                <c:pt idx="70">
                  <c:v>0.07065082485316443</c:v>
                </c:pt>
                <c:pt idx="71">
                  <c:v>0.058223038723196896</c:v>
                </c:pt>
                <c:pt idx="72">
                  <c:v>0.04792534419642591</c:v>
                </c:pt>
                <c:pt idx="73">
                  <c:v>0.03941105402602474</c:v>
                </c:pt>
                <c:pt idx="74">
                  <c:v>0.032383774341317895</c:v>
                </c:pt>
                <c:pt idx="75">
                  <c:v>0.026592226683160525</c:v>
                </c:pt>
                <c:pt idx="76">
                  <c:v>0.021824797695345177</c:v>
                </c:pt>
                <c:pt idx="77">
                  <c:v>0.01790422675441361</c:v>
                </c:pt>
                <c:pt idx="78">
                  <c:v>0.0146826651031976</c:v>
                </c:pt>
                <c:pt idx="79">
                  <c:v>0.012037221950396693</c:v>
                </c:pt>
                <c:pt idx="80">
                  <c:v>0.009866037165440211</c:v>
                </c:pt>
                <c:pt idx="81">
                  <c:v>0.008084873865486397</c:v>
                </c:pt>
                <c:pt idx="82">
                  <c:v>0.006624197836603285</c:v>
                </c:pt>
                <c:pt idx="83">
                  <c:v>0.005426697495892974</c:v>
                </c:pt>
                <c:pt idx="84">
                  <c:v>0.004445193185743657</c:v>
                </c:pt>
                <c:pt idx="85">
                  <c:v>0.003640884720487403</c:v>
                </c:pt>
                <c:pt idx="86">
                  <c:v>0.002981889099263002</c:v>
                </c:pt>
                <c:pt idx="87">
                  <c:v>0.002442024743370408</c:v>
                </c:pt>
                <c:pt idx="88">
                  <c:v>0.0019998036237280914</c:v>
                </c:pt>
                <c:pt idx="89">
                  <c:v>0.0016375976788935986</c:v>
                </c:pt>
                <c:pt idx="90">
                  <c:v>0.0013409506830258655</c:v>
                </c:pt>
                <c:pt idx="91">
                  <c:v>0.001098011051750114</c:v>
                </c:pt>
                <c:pt idx="92">
                  <c:v>0.0008990649106124238</c:v>
                </c:pt>
                <c:pt idx="93">
                  <c:v>0.0007361520899890062</c:v>
                </c:pt>
                <c:pt idx="94">
                  <c:v>0.0006027505777909115</c:v>
                </c:pt>
                <c:pt idx="95">
                  <c:v>0.000493517399059451</c:v>
                </c:pt>
                <c:pt idx="96">
                  <c:v>0.0004040759480389289</c:v>
                </c:pt>
                <c:pt idx="97">
                  <c:v>0.00033084152285089985</c:v>
                </c:pt>
                <c:pt idx="98">
                  <c:v>0.00027087825223726103</c:v>
                </c:pt>
                <c:pt idx="99">
                  <c:v>0.0002217818007355099</c:v>
                </c:pt>
                <c:pt idx="100">
                  <c:v>0.0001815832309438603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5"/>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z</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5"/>
        <c:auto val="1"/>
        <c:lblAlgn val="ctr"/>
        <c:noMultiLvlLbl val="1"/>
        <c:majorUnit val="1"/>
      </c:valAx>
      <c:valAx>
        <c:axId val="2094734552"/>
        <c:scaling>
          <c:orientation val="minMax"/>
          <c:max val="1"/>
          <c:min val="-1"/>
        </c:scaling>
        <c:delete val="0"/>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1"/>
        <c:crossBetween val="midCat"/>
        <c:majorUnit val="0.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ReLU(z) = max(0, z)</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Sheet1!$A$2:$A$122</c:f>
              <c:numCache>
                <c:formatCode>General</c:formatCode>
                <c:ptCount val="121"/>
                <c:pt idx="0">
                  <c:v>-3</c:v>
                </c:pt>
                <c:pt idx="1">
                  <c:v>-2.95</c:v>
                </c:pt>
                <c:pt idx="2">
                  <c:v>-2.9</c:v>
                </c:pt>
                <c:pt idx="3">
                  <c:v>-2.85</c:v>
                </c:pt>
                <c:pt idx="4">
                  <c:v>-2.8</c:v>
                </c:pt>
                <c:pt idx="5">
                  <c:v>-2.75</c:v>
                </c:pt>
                <c:pt idx="6">
                  <c:v>-2.7</c:v>
                </c:pt>
                <c:pt idx="7">
                  <c:v>-2.65</c:v>
                </c:pt>
                <c:pt idx="8">
                  <c:v>-2.6</c:v>
                </c:pt>
                <c:pt idx="9">
                  <c:v>-2.55</c:v>
                </c:pt>
                <c:pt idx="10">
                  <c:v>-2.5</c:v>
                </c:pt>
                <c:pt idx="11">
                  <c:v>-2.45</c:v>
                </c:pt>
                <c:pt idx="12">
                  <c:v>-2.4</c:v>
                </c:pt>
                <c:pt idx="13">
                  <c:v>-2.35</c:v>
                </c:pt>
                <c:pt idx="14">
                  <c:v>-2.3</c:v>
                </c:pt>
                <c:pt idx="15">
                  <c:v>-2.25</c:v>
                </c:pt>
                <c:pt idx="16">
                  <c:v>-2.2</c:v>
                </c:pt>
                <c:pt idx="17">
                  <c:v>-2.15</c:v>
                </c:pt>
                <c:pt idx="18">
                  <c:v>-2.1</c:v>
                </c:pt>
                <c:pt idx="19">
                  <c:v>-2.05</c:v>
                </c:pt>
                <c:pt idx="20">
                  <c:v>-2</c:v>
                </c:pt>
                <c:pt idx="21">
                  <c:v>-1.95</c:v>
                </c:pt>
                <c:pt idx="22">
                  <c:v>-1.9</c:v>
                </c:pt>
                <c:pt idx="23">
                  <c:v>-1.85</c:v>
                </c:pt>
                <c:pt idx="24">
                  <c:v>-1.8</c:v>
                </c:pt>
                <c:pt idx="25">
                  <c:v>-1.75</c:v>
                </c:pt>
                <c:pt idx="26">
                  <c:v>-1.7</c:v>
                </c:pt>
                <c:pt idx="27">
                  <c:v>-1.65</c:v>
                </c:pt>
                <c:pt idx="28">
                  <c:v>-1.6</c:v>
                </c:pt>
                <c:pt idx="29">
                  <c:v>-1.55</c:v>
                </c:pt>
                <c:pt idx="30">
                  <c:v>-1.5</c:v>
                </c:pt>
                <c:pt idx="31">
                  <c:v>-1.45</c:v>
                </c:pt>
                <c:pt idx="32">
                  <c:v>-1.4</c:v>
                </c:pt>
                <c:pt idx="33">
                  <c:v>-1.35</c:v>
                </c:pt>
                <c:pt idx="34">
                  <c:v>-1.3</c:v>
                </c:pt>
                <c:pt idx="35">
                  <c:v>-1.25</c:v>
                </c:pt>
                <c:pt idx="36">
                  <c:v>-1.2</c:v>
                </c:pt>
                <c:pt idx="37">
                  <c:v>-1.15</c:v>
                </c:pt>
                <c:pt idx="38">
                  <c:v>-1.1</c:v>
                </c:pt>
                <c:pt idx="39">
                  <c:v>-1.05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xVal>
          <c:yVal>
            <c:numRef>
              <c:f>Sheet1!$B$2:$B$122</c:f>
              <c:numCache>
                <c:formatCode>General</c:formatCode>
                <c:ptCount val="1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yVal>
          <c:smooth val="0"/>
        </c:ser>
        <c:ser>
          <c:idx val="1"/>
          <c:order val="1"/>
          <c:tx>
            <c:strRef>
              <c:f>Sheet1!$C$1</c:f>
              <c:strCache>
                <c:ptCount val="1"/>
                <c:pt idx="0">
                  <c:v>ReLU′(z)</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Sheet1!$A$2:$A$122</c:f>
              <c:numCache>
                <c:formatCode>General</c:formatCode>
                <c:ptCount val="121"/>
                <c:pt idx="0">
                  <c:v>-3</c:v>
                </c:pt>
                <c:pt idx="1">
                  <c:v>-2.95</c:v>
                </c:pt>
                <c:pt idx="2">
                  <c:v>-2.9</c:v>
                </c:pt>
                <c:pt idx="3">
                  <c:v>-2.85</c:v>
                </c:pt>
                <c:pt idx="4">
                  <c:v>-2.8</c:v>
                </c:pt>
                <c:pt idx="5">
                  <c:v>-2.75</c:v>
                </c:pt>
                <c:pt idx="6">
                  <c:v>-2.7</c:v>
                </c:pt>
                <c:pt idx="7">
                  <c:v>-2.65</c:v>
                </c:pt>
                <c:pt idx="8">
                  <c:v>-2.6</c:v>
                </c:pt>
                <c:pt idx="9">
                  <c:v>-2.55</c:v>
                </c:pt>
                <c:pt idx="10">
                  <c:v>-2.5</c:v>
                </c:pt>
                <c:pt idx="11">
                  <c:v>-2.45</c:v>
                </c:pt>
                <c:pt idx="12">
                  <c:v>-2.4</c:v>
                </c:pt>
                <c:pt idx="13">
                  <c:v>-2.35</c:v>
                </c:pt>
                <c:pt idx="14">
                  <c:v>-2.3</c:v>
                </c:pt>
                <c:pt idx="15">
                  <c:v>-2.25</c:v>
                </c:pt>
                <c:pt idx="16">
                  <c:v>-2.2</c:v>
                </c:pt>
                <c:pt idx="17">
                  <c:v>-2.15</c:v>
                </c:pt>
                <c:pt idx="18">
                  <c:v>-2.1</c:v>
                </c:pt>
                <c:pt idx="19">
                  <c:v>-2.05</c:v>
                </c:pt>
                <c:pt idx="20">
                  <c:v>-2</c:v>
                </c:pt>
                <c:pt idx="21">
                  <c:v>-1.95</c:v>
                </c:pt>
                <c:pt idx="22">
                  <c:v>-1.9</c:v>
                </c:pt>
                <c:pt idx="23">
                  <c:v>-1.85</c:v>
                </c:pt>
                <c:pt idx="24">
                  <c:v>-1.8</c:v>
                </c:pt>
                <c:pt idx="25">
                  <c:v>-1.75</c:v>
                </c:pt>
                <c:pt idx="26">
                  <c:v>-1.7</c:v>
                </c:pt>
                <c:pt idx="27">
                  <c:v>-1.65</c:v>
                </c:pt>
                <c:pt idx="28">
                  <c:v>-1.6</c:v>
                </c:pt>
                <c:pt idx="29">
                  <c:v>-1.55</c:v>
                </c:pt>
                <c:pt idx="30">
                  <c:v>-1.5</c:v>
                </c:pt>
                <c:pt idx="31">
                  <c:v>-1.45</c:v>
                </c:pt>
                <c:pt idx="32">
                  <c:v>-1.4</c:v>
                </c:pt>
                <c:pt idx="33">
                  <c:v>-1.35</c:v>
                </c:pt>
                <c:pt idx="34">
                  <c:v>-1.3</c:v>
                </c:pt>
                <c:pt idx="35">
                  <c:v>-1.25</c:v>
                </c:pt>
                <c:pt idx="36">
                  <c:v>-1.2</c:v>
                </c:pt>
                <c:pt idx="37">
                  <c:v>-1.15</c:v>
                </c:pt>
                <c:pt idx="38">
                  <c:v>-1.1</c:v>
                </c:pt>
                <c:pt idx="39">
                  <c:v>-1.05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xVal>
          <c:yVal>
            <c:numRef>
              <c:f>Sheet1!$C$2:$C$122</c:f>
              <c:numCache>
                <c:formatCode>General</c:formatCode>
                <c:ptCount val="1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z</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3"/>
        <c:auto val="1"/>
        <c:lblAlgn val="ctr"/>
        <c:noMultiLvlLbl val="1"/>
        <c:majorUnit val="1"/>
      </c:valAx>
      <c:valAx>
        <c:axId val="2094734552"/>
        <c:scaling>
          <c:orientation val="minMax"/>
          <c:max val="3"/>
          <c:min val="-0.5"/>
        </c:scaling>
        <c:delete val="0"/>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5"/>
        <c:crossBetween val="midCat"/>
        <c:majorUnit val="0.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Leaky ReLU (α = 0.1)</c:v>
                </c:pt>
              </c:strCache>
            </c:strRef>
          </c:tx>
          <c:spPr>
            <a:solidFill>
              <a:srgbClr val="556270"/>
            </a:solidFill>
            <a:ln w="38100" cap="flat">
              <a:solidFill>
                <a:srgbClr val="556270"/>
              </a:solidFill>
              <a:prstDash val="solid"/>
              <a:round/>
            </a:ln>
            <a:effectLst/>
          </c:spPr>
          <c:marker>
            <c:symbol val="none"/>
            <c:size val="7"/>
            <c:spPr>
              <a:solidFill>
                <a:srgbClr val="556270"/>
              </a:solidFill>
              <a:ln w="9525" cap="flat">
                <a:solidFill>
                  <a:srgbClr val="556270"/>
                </a:solidFill>
                <a:prstDash val="solid"/>
                <a:round/>
              </a:ln>
              <a:effectLst/>
            </c:spPr>
          </c:marker>
          <c:xVal>
            <c:numRef>
              <c:f>Sheet1!$A$2:$A$142</c:f>
              <c:numCache>
                <c:formatCode>General</c:formatCode>
                <c:ptCount val="14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c:v>
                </c:pt>
                <c:pt idx="61">
                  <c:v>-0.95</c:v>
                </c:pt>
                <c:pt idx="62">
                  <c:v>-0.9</c:v>
                </c:pt>
                <c:pt idx="63">
                  <c:v>-0.85</c:v>
                </c:pt>
                <c:pt idx="64">
                  <c:v>-0.8</c:v>
                </c:pt>
                <c:pt idx="65">
                  <c:v>-0.75</c:v>
                </c:pt>
                <c:pt idx="66">
                  <c:v>-0.7</c:v>
                </c:pt>
                <c:pt idx="67">
                  <c:v>-0.65</c:v>
                </c:pt>
                <c:pt idx="68">
                  <c:v>-0.6</c:v>
                </c:pt>
                <c:pt idx="69">
                  <c:v>-0.55</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numCache>
            </c:numRef>
          </c:xVal>
          <c:yVal>
            <c:numRef>
              <c:f>Sheet1!$B$2:$B$142</c:f>
              <c:numCache>
                <c:formatCode>General</c:formatCode>
                <c:ptCount val="141"/>
                <c:pt idx="0">
                  <c:v>-0.4</c:v>
                </c:pt>
                <c:pt idx="1">
                  <c:v>-0.395</c:v>
                </c:pt>
                <c:pt idx="2">
                  <c:v>-0.39</c:v>
                </c:pt>
                <c:pt idx="3">
                  <c:v>-0.385</c:v>
                </c:pt>
                <c:pt idx="4">
                  <c:v>-0.38</c:v>
                </c:pt>
                <c:pt idx="5">
                  <c:v>-0.375</c:v>
                </c:pt>
                <c:pt idx="6">
                  <c:v>-0.37000000000000005</c:v>
                </c:pt>
                <c:pt idx="7">
                  <c:v>-0.365</c:v>
                </c:pt>
                <c:pt idx="8">
                  <c:v>-0.36000000000000004</c:v>
                </c:pt>
                <c:pt idx="9">
                  <c:v>-0.355</c:v>
                </c:pt>
                <c:pt idx="10">
                  <c:v>-0.35000000000000003</c:v>
                </c:pt>
                <c:pt idx="11">
                  <c:v>-0.34500000000000003</c:v>
                </c:pt>
                <c:pt idx="12">
                  <c:v>-0.34</c:v>
                </c:pt>
                <c:pt idx="13">
                  <c:v>-0.335</c:v>
                </c:pt>
                <c:pt idx="14">
                  <c:v>-0.33</c:v>
                </c:pt>
                <c:pt idx="15">
                  <c:v>-0.325</c:v>
                </c:pt>
                <c:pt idx="16">
                  <c:v>-0.32000000000000006</c:v>
                </c:pt>
                <c:pt idx="17">
                  <c:v>-0.315</c:v>
                </c:pt>
                <c:pt idx="18">
                  <c:v>-0.31000000000000005</c:v>
                </c:pt>
                <c:pt idx="19">
                  <c:v>-0.305</c:v>
                </c:pt>
                <c:pt idx="20">
                  <c:v>-0.30000000000000004</c:v>
                </c:pt>
                <c:pt idx="21">
                  <c:v>-0.29500000000000004</c:v>
                </c:pt>
                <c:pt idx="22">
                  <c:v>-0.29</c:v>
                </c:pt>
                <c:pt idx="23">
                  <c:v>-0.28500000000000003</c:v>
                </c:pt>
                <c:pt idx="24">
                  <c:v>-0.27999999999999997</c:v>
                </c:pt>
                <c:pt idx="25">
                  <c:v>-0.275</c:v>
                </c:pt>
                <c:pt idx="26">
                  <c:v>-0.27</c:v>
                </c:pt>
                <c:pt idx="27">
                  <c:v>-0.265</c:v>
                </c:pt>
                <c:pt idx="28">
                  <c:v>-0.26</c:v>
                </c:pt>
                <c:pt idx="29">
                  <c:v>-0.255</c:v>
                </c:pt>
                <c:pt idx="30">
                  <c:v>-0.25</c:v>
                </c:pt>
                <c:pt idx="31">
                  <c:v>-0.24500000000000002</c:v>
                </c:pt>
                <c:pt idx="32">
                  <c:v>-0.24</c:v>
                </c:pt>
                <c:pt idx="33">
                  <c:v>-0.23500000000000001</c:v>
                </c:pt>
                <c:pt idx="34">
                  <c:v>-0.22999999999999998</c:v>
                </c:pt>
                <c:pt idx="35">
                  <c:v>-0.225</c:v>
                </c:pt>
                <c:pt idx="36">
                  <c:v>-0.22000000000000003</c:v>
                </c:pt>
                <c:pt idx="37">
                  <c:v>-0.215</c:v>
                </c:pt>
                <c:pt idx="38">
                  <c:v>-0.21000000000000002</c:v>
                </c:pt>
                <c:pt idx="39">
                  <c:v>-0.205</c:v>
                </c:pt>
                <c:pt idx="40">
                  <c:v>-0.2</c:v>
                </c:pt>
                <c:pt idx="41">
                  <c:v>-0.195</c:v>
                </c:pt>
                <c:pt idx="42">
                  <c:v>-0.19</c:v>
                </c:pt>
                <c:pt idx="43">
                  <c:v>-0.18500000000000003</c:v>
                </c:pt>
                <c:pt idx="44">
                  <c:v>-0.18000000000000002</c:v>
                </c:pt>
                <c:pt idx="45">
                  <c:v>-0.17500000000000002</c:v>
                </c:pt>
                <c:pt idx="46">
                  <c:v>-0.17</c:v>
                </c:pt>
                <c:pt idx="47">
                  <c:v>-0.165</c:v>
                </c:pt>
                <c:pt idx="48">
                  <c:v>-0.16000000000000003</c:v>
                </c:pt>
                <c:pt idx="49">
                  <c:v>-0.15500000000000003</c:v>
                </c:pt>
                <c:pt idx="50">
                  <c:v>-0.15000000000000002</c:v>
                </c:pt>
                <c:pt idx="51">
                  <c:v>-0.145</c:v>
                </c:pt>
                <c:pt idx="52">
                  <c:v>-0.13999999999999999</c:v>
                </c:pt>
                <c:pt idx="53">
                  <c:v>-0.135</c:v>
                </c:pt>
                <c:pt idx="54">
                  <c:v>-0.13</c:v>
                </c:pt>
                <c:pt idx="55">
                  <c:v>-0.125</c:v>
                </c:pt>
                <c:pt idx="56">
                  <c:v>-0.12</c:v>
                </c:pt>
                <c:pt idx="57">
                  <c:v>-0.11499999999999999</c:v>
                </c:pt>
                <c:pt idx="58">
                  <c:v>-0.11000000000000001</c:v>
                </c:pt>
                <c:pt idx="59">
                  <c:v>-0.10500000000000001</c:v>
                </c:pt>
                <c:pt idx="60">
                  <c:v>-0.1</c:v>
                </c:pt>
                <c:pt idx="61">
                  <c:v>-0.095</c:v>
                </c:pt>
                <c:pt idx="62">
                  <c:v>-0.09000000000000001</c:v>
                </c:pt>
                <c:pt idx="63">
                  <c:v>-0.085</c:v>
                </c:pt>
                <c:pt idx="64">
                  <c:v>-0.08000000000000002</c:v>
                </c:pt>
                <c:pt idx="65">
                  <c:v>-0.07500000000000001</c:v>
                </c:pt>
                <c:pt idx="66">
                  <c:v>-0.06999999999999999</c:v>
                </c:pt>
                <c:pt idx="67">
                  <c:v>-0.065</c:v>
                </c:pt>
                <c:pt idx="68">
                  <c:v>-0.06</c:v>
                </c:pt>
                <c:pt idx="69">
                  <c:v>-0.05500000000000001</c:v>
                </c:pt>
                <c:pt idx="70">
                  <c:v>-0.05</c:v>
                </c:pt>
                <c:pt idx="71">
                  <c:v>-0.045000000000000005</c:v>
                </c:pt>
                <c:pt idx="72">
                  <c:v>-0.04000000000000001</c:v>
                </c:pt>
                <c:pt idx="73">
                  <c:v>-0.034999999999999996</c:v>
                </c:pt>
                <c:pt idx="74">
                  <c:v>-0.03</c:v>
                </c:pt>
                <c:pt idx="75">
                  <c:v>-0.025</c:v>
                </c:pt>
                <c:pt idx="76">
                  <c:v>-0.020000000000000004</c:v>
                </c:pt>
                <c:pt idx="77">
                  <c:v>-0.015</c:v>
                </c:pt>
                <c:pt idx="78">
                  <c:v>-0.010000000000000002</c:v>
                </c:pt>
                <c:pt idx="79">
                  <c:v>-0.005000000000000001</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numCache>
            </c:numRef>
          </c:yVal>
          <c:smooth val="0"/>
        </c:ser>
        <c:ser>
          <c:idx val="1"/>
          <c:order val="1"/>
          <c:tx>
            <c:strRef>
              <c:f>Sheet1!$C$1</c:f>
              <c:strCache>
                <c:ptCount val="1"/>
                <c:pt idx="0">
                  <c:v>ELU</c:v>
                </c:pt>
              </c:strCache>
            </c:strRef>
          </c:tx>
          <c:spPr>
            <a:solidFill>
              <a:srgbClr val="4C5FD5"/>
            </a:solidFill>
            <a:ln w="38100" cap="flat">
              <a:solidFill>
                <a:srgbClr val="4C5FD5"/>
              </a:solidFill>
              <a:prstDash val="solid"/>
              <a:round/>
            </a:ln>
            <a:effectLst/>
          </c:spPr>
          <c:marker>
            <c:symbol val="none"/>
            <c:size val="7"/>
            <c:spPr>
              <a:solidFill>
                <a:srgbClr val="4C5FD5"/>
              </a:solidFill>
              <a:ln w="9525" cap="flat">
                <a:solidFill>
                  <a:srgbClr val="4C5FD5"/>
                </a:solidFill>
                <a:prstDash val="solid"/>
                <a:round/>
              </a:ln>
              <a:effectLst/>
            </c:spPr>
          </c:marker>
          <c:xVal>
            <c:numRef>
              <c:f>Sheet1!$A$2:$A$142</c:f>
              <c:numCache>
                <c:formatCode>General</c:formatCode>
                <c:ptCount val="14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c:v>
                </c:pt>
                <c:pt idx="61">
                  <c:v>-0.95</c:v>
                </c:pt>
                <c:pt idx="62">
                  <c:v>-0.9</c:v>
                </c:pt>
                <c:pt idx="63">
                  <c:v>-0.85</c:v>
                </c:pt>
                <c:pt idx="64">
                  <c:v>-0.8</c:v>
                </c:pt>
                <c:pt idx="65">
                  <c:v>-0.75</c:v>
                </c:pt>
                <c:pt idx="66">
                  <c:v>-0.7</c:v>
                </c:pt>
                <c:pt idx="67">
                  <c:v>-0.65</c:v>
                </c:pt>
                <c:pt idx="68">
                  <c:v>-0.6</c:v>
                </c:pt>
                <c:pt idx="69">
                  <c:v>-0.55</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numCache>
            </c:numRef>
          </c:xVal>
          <c:yVal>
            <c:numRef>
              <c:f>Sheet1!$C$2:$C$142</c:f>
              <c:numCache>
                <c:formatCode>General</c:formatCode>
                <c:ptCount val="141"/>
                <c:pt idx="0">
                  <c:v>-0.9816843611112658</c:v>
                </c:pt>
                <c:pt idx="1">
                  <c:v>-0.9807452982246131</c:v>
                </c:pt>
                <c:pt idx="2">
                  <c:v>-0.9797580885541957</c:v>
                </c:pt>
                <c:pt idx="3">
                  <c:v>-0.9787202635616228</c:v>
                </c:pt>
                <c:pt idx="4">
                  <c:v>-0.9776292281438344</c:v>
                </c:pt>
                <c:pt idx="5">
                  <c:v>-0.9764822541439909</c:v>
                </c:pt>
                <c:pt idx="6">
                  <c:v>-0.9752764735296606</c:v>
                </c:pt>
                <c:pt idx="7">
                  <c:v>-0.9740088712212447</c:v>
                </c:pt>
                <c:pt idx="8">
                  <c:v>-0.9726762775527075</c:v>
                </c:pt>
                <c:pt idx="9">
                  <c:v>-0.9712753603457606</c:v>
                </c:pt>
                <c:pt idx="10">
                  <c:v>-0.9698026165776815</c:v>
                </c:pt>
                <c:pt idx="11">
                  <c:v>-0.9682543636219321</c:v>
                </c:pt>
                <c:pt idx="12">
                  <c:v>-0.9666267300396739</c:v>
                </c:pt>
                <c:pt idx="13">
                  <c:v>-0.964915645899155</c:v>
                </c:pt>
                <c:pt idx="14">
                  <c:v>-0.96311683259876</c:v>
                </c:pt>
                <c:pt idx="15">
                  <c:v>-0.961225792168278</c:v>
                </c:pt>
                <c:pt idx="16">
                  <c:v>-0.9592377960216338</c:v>
                </c:pt>
                <c:pt idx="17">
                  <c:v>-0.9571478731329598</c:v>
                </c:pt>
                <c:pt idx="18">
                  <c:v>-0.9549507976064422</c:v>
                </c:pt>
                <c:pt idx="19">
                  <c:v>-0.952641075608859</c:v>
                </c:pt>
                <c:pt idx="20">
                  <c:v>-0.950212931632136</c:v>
                </c:pt>
                <c:pt idx="21">
                  <c:v>-0.9476602940515676</c:v>
                </c:pt>
                <c:pt idx="22">
                  <c:v>-0.9449767799435927</c:v>
                </c:pt>
                <c:pt idx="23">
                  <c:v>-0.9421556791251615</c:v>
                </c:pt>
                <c:pt idx="24">
                  <c:v>-0.9391899373747821</c:v>
                </c:pt>
                <c:pt idx="25">
                  <c:v>-0.9360721387932924</c:v>
                </c:pt>
                <c:pt idx="26">
                  <c:v>-0.9327944872602503</c:v>
                </c:pt>
                <c:pt idx="27">
                  <c:v>-0.9293487869395705</c:v>
                </c:pt>
                <c:pt idx="28">
                  <c:v>-0.9257264217856661</c:v>
                </c:pt>
                <c:pt idx="29">
                  <c:v>-0.9219183339988468</c:v>
                </c:pt>
                <c:pt idx="30">
                  <c:v>-0.9179150013761012</c:v>
                </c:pt>
                <c:pt idx="31">
                  <c:v>-0.9137064135006295</c:v>
                </c:pt>
                <c:pt idx="32">
                  <c:v>-0.9092820467105875</c:v>
                </c:pt>
                <c:pt idx="33">
                  <c:v>-0.9046308377844504</c:v>
                </c:pt>
                <c:pt idx="34">
                  <c:v>-0.8997411562771962</c:v>
                </c:pt>
                <c:pt idx="35">
                  <c:v>-0.8946007754381357</c:v>
                </c:pt>
                <c:pt idx="36">
                  <c:v>-0.8891968416376661</c:v>
                </c:pt>
                <c:pt idx="37">
                  <c:v>-0.883515842226503</c:v>
                </c:pt>
                <c:pt idx="38">
                  <c:v>-0.8775435717470181</c:v>
                </c:pt>
                <c:pt idx="39">
                  <c:v>-0.8712650964121957</c:v>
                </c:pt>
                <c:pt idx="40">
                  <c:v>-0.8646647167633873</c:v>
                </c:pt>
                <c:pt idx="41">
                  <c:v>-0.8577259284134864</c:v>
                </c:pt>
                <c:pt idx="42">
                  <c:v>-0.8504313807773649</c:v>
                </c:pt>
                <c:pt idx="43">
                  <c:v>-0.8427628336863724</c:v>
                </c:pt>
                <c:pt idx="44">
                  <c:v>-0.8347011117784134</c:v>
                </c:pt>
                <c:pt idx="45">
                  <c:v>-0.8262260565495549</c:v>
                </c:pt>
                <c:pt idx="46">
                  <c:v>-0.8173164759472653</c:v>
                </c:pt>
                <c:pt idx="47">
                  <c:v>-0.8079500913792459</c:v>
                </c:pt>
                <c:pt idx="48">
                  <c:v>-0.7981034820053446</c:v>
                </c:pt>
                <c:pt idx="49">
                  <c:v>-0.7877520261732569</c:v>
                </c:pt>
                <c:pt idx="50">
                  <c:v>-0.7768698398515702</c:v>
                </c:pt>
                <c:pt idx="51">
                  <c:v>-0.7654297119062023</c:v>
                </c:pt>
                <c:pt idx="52">
                  <c:v>-0.7534030360583935</c:v>
                </c:pt>
                <c:pt idx="53">
                  <c:v>-0.7407597393541085</c:v>
                </c:pt>
                <c:pt idx="54">
                  <c:v>-0.7274682069659875</c:v>
                </c:pt>
                <c:pt idx="55">
                  <c:v>-0.7134952031398099</c:v>
                </c:pt>
                <c:pt idx="56">
                  <c:v>-0.6988057880877979</c:v>
                </c:pt>
                <c:pt idx="57">
                  <c:v>-0.6833632306209467</c:v>
                </c:pt>
                <c:pt idx="58">
                  <c:v>-0.6671289163019205</c:v>
                </c:pt>
                <c:pt idx="59">
                  <c:v>-0.6500622508888447</c:v>
                </c:pt>
                <c:pt idx="60">
                  <c:v>-0.6321205588285577</c:v>
                </c:pt>
                <c:pt idx="61">
                  <c:v>-0.6132589765454988</c:v>
                </c:pt>
                <c:pt idx="62">
                  <c:v>-0.5934303402594009</c:v>
                </c:pt>
                <c:pt idx="63">
                  <c:v>-0.5725850680512733</c:v>
                </c:pt>
                <c:pt idx="64">
                  <c:v>-0.5506710358827784</c:v>
                </c:pt>
                <c:pt idx="65">
                  <c:v>-0.5276334472589853</c:v>
                </c:pt>
                <c:pt idx="66">
                  <c:v>-0.5034146962085905</c:v>
                </c:pt>
                <c:pt idx="67">
                  <c:v>-0.47795422323898396</c:v>
                </c:pt>
                <c:pt idx="68">
                  <c:v>-0.4511883639059735</c:v>
                </c:pt>
                <c:pt idx="69">
                  <c:v>-0.42305018961951335</c:v>
                </c:pt>
                <c:pt idx="70">
                  <c:v>-0.3934693402873666</c:v>
                </c:pt>
                <c:pt idx="71">
                  <c:v>-0.3623718483782268</c:v>
                </c:pt>
                <c:pt idx="72">
                  <c:v>-0.3296799539643607</c:v>
                </c:pt>
                <c:pt idx="73">
                  <c:v>-0.29531191028128656</c:v>
                </c:pt>
                <c:pt idx="74">
                  <c:v>-0.2591817793182821</c:v>
                </c:pt>
                <c:pt idx="75">
                  <c:v>-0.22119921692859512</c:v>
                </c:pt>
                <c:pt idx="76">
                  <c:v>-0.18126924692201818</c:v>
                </c:pt>
                <c:pt idx="77">
                  <c:v>-0.1392920235749422</c:v>
                </c:pt>
                <c:pt idx="78">
                  <c:v>-0.09516258196404048</c:v>
                </c:pt>
                <c:pt idx="79">
                  <c:v>-0.048770575499285984</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numCache>
            </c:numRef>
          </c:yVal>
          <c:smooth val="0"/>
        </c:ser>
        <c:ser>
          <c:idx val="2"/>
          <c:order val="2"/>
          <c:tx>
            <c:strRef>
              <c:f>Sheet1!$D$1</c:f>
              <c:strCache>
                <c:ptCount val="1"/>
                <c:pt idx="0">
                  <c:v>GELU</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Sheet1!$A$2:$A$142</c:f>
              <c:numCache>
                <c:formatCode>General</c:formatCode>
                <c:ptCount val="14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c:v>
                </c:pt>
                <c:pt idx="61">
                  <c:v>-0.95</c:v>
                </c:pt>
                <c:pt idx="62">
                  <c:v>-0.9</c:v>
                </c:pt>
                <c:pt idx="63">
                  <c:v>-0.85</c:v>
                </c:pt>
                <c:pt idx="64">
                  <c:v>-0.8</c:v>
                </c:pt>
                <c:pt idx="65">
                  <c:v>-0.75</c:v>
                </c:pt>
                <c:pt idx="66">
                  <c:v>-0.7</c:v>
                </c:pt>
                <c:pt idx="67">
                  <c:v>-0.65</c:v>
                </c:pt>
                <c:pt idx="68">
                  <c:v>-0.6</c:v>
                </c:pt>
                <c:pt idx="69">
                  <c:v>-0.55</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numCache>
            </c:numRef>
          </c:xVal>
          <c:yVal>
            <c:numRef>
              <c:f>Sheet1!$D$2:$D$142</c:f>
              <c:numCache>
                <c:formatCode>General</c:formatCode>
                <c:ptCount val="141"/>
                <c:pt idx="0">
                  <c:v>-0.00012674414425717373</c:v>
                </c:pt>
                <c:pt idx="1">
                  <c:v>-0.0001544152922413</c:v>
                </c:pt>
                <c:pt idx="2">
                  <c:v>-0.00018765053215127336</c:v>
                </c:pt>
                <c:pt idx="3">
                  <c:v>-0.00022746028489171178</c:v>
                </c:pt>
                <c:pt idx="4">
                  <c:v>-0.0002750152627500557</c:v>
                </c:pt>
                <c:pt idx="5">
                  <c:v>-0.00033166722918274993</c:v>
                </c:pt>
                <c:pt idx="6">
                  <c:v>-0.0003989715560501206</c:v>
                </c:pt>
                <c:pt idx="7">
                  <c:v>-0.0004787115644898199</c:v>
                </c:pt>
                <c:pt idx="8">
                  <c:v>-0.0005729245953402407</c:v>
                </c:pt>
                <c:pt idx="9">
                  <c:v>-0.0006839297071813549</c:v>
                </c:pt>
                <c:pt idx="10">
                  <c:v>-0.000814356844243691</c:v>
                </c:pt>
                <c:pt idx="11">
                  <c:v>-0.0009671772523756257</c:v>
                </c:pt>
                <c:pt idx="12">
                  <c:v>-0.001145734848851365</c:v>
                </c:pt>
                <c:pt idx="13">
                  <c:v>-0.0013537781711475767</c:v>
                </c:pt>
                <c:pt idx="14">
                  <c:v>-0.001595492441272367</c:v>
                </c:pt>
                <c:pt idx="15">
                  <c:v>-0.001875531186434326</c:v>
                </c:pt>
                <c:pt idx="16">
                  <c:v>-0.002199046754759415</c:v>
                </c:pt>
                <c:pt idx="17">
                  <c:v>-0.0025717189577104975</c:v>
                </c:pt>
                <c:pt idx="18">
                  <c:v>-0.002999780960551057</c:v>
                </c:pt>
                <c:pt idx="19">
                  <c:v>-0.0034900414307272253</c:v>
                </c:pt>
                <c:pt idx="20">
                  <c:v>-0.00404990184394427</c:v>
                </c:pt>
                <c:pt idx="21">
                  <c:v>-0.004687367741929269</c:v>
                </c:pt>
                <c:pt idx="22">
                  <c:v>-0.005411052637744373</c:v>
                </c:pt>
                <c:pt idx="23">
                  <c:v>-0.006230173177760804</c:v>
                </c:pt>
                <c:pt idx="24">
                  <c:v>-0.007154534098069209</c:v>
                </c:pt>
                <c:pt idx="25">
                  <c:v>-0.008194501461488285</c:v>
                </c:pt>
                <c:pt idx="26">
                  <c:v>-0.009360962633933984</c:v>
                </c:pt>
                <c:pt idx="27">
                  <c:v>-0.010665271460277808</c:v>
                </c:pt>
                <c:pt idx="28">
                  <c:v>-0.012119177134475268</c:v>
                </c:pt>
                <c:pt idx="29">
                  <c:v>-0.01373473533101484</c:v>
                </c:pt>
                <c:pt idx="30">
                  <c:v>-0.015524200278595052</c:v>
                </c:pt>
                <c:pt idx="31">
                  <c:v>-0.017499896615889396</c:v>
                </c:pt>
                <c:pt idx="32">
                  <c:v>-0.01967407007606394</c:v>
                </c:pt>
                <c:pt idx="33">
                  <c:v>-0.022058716303323025</c:v>
                </c:pt>
                <c:pt idx="34">
                  <c:v>-0.0246653874120462</c:v>
                </c:pt>
                <c:pt idx="35">
                  <c:v>-0.027504976256707753</c:v>
                </c:pt>
                <c:pt idx="36">
                  <c:v>-0.030587478787045853</c:v>
                </c:pt>
                <c:pt idx="37">
                  <c:v>-0.033921735314658384</c:v>
                </c:pt>
                <c:pt idx="38">
                  <c:v>-0.0375151520095438</c:v>
                </c:pt>
                <c:pt idx="39">
                  <c:v>-0.041373404471593156</c:v>
                </c:pt>
                <c:pt idx="40">
                  <c:v>-0.04550012577451279</c:v>
                </c:pt>
                <c:pt idx="41">
                  <c:v>-0.0498965819482791</c:v>
                </c:pt>
                <c:pt idx="42">
                  <c:v>-0.054561338439600225</c:v>
                </c:pt>
                <c:pt idx="43">
                  <c:v>-0.05948992165515214</c:v>
                </c:pt>
                <c:pt idx="44">
                  <c:v>-0.06467448023551489</c:v>
                </c:pt>
                <c:pt idx="45">
                  <c:v>-0.07010345121374058</c:v>
                </c:pt>
                <c:pt idx="46">
                  <c:v>-0.07576123666571875</c:v>
                </c:pt>
                <c:pt idx="47">
                  <c:v>-0.08162789684405351</c:v>
                </c:pt>
                <c:pt idx="48">
                  <c:v>-0.08767886608734204</c:v>
                </c:pt>
                <c:pt idx="49">
                  <c:v>-0.09388469799745722</c:v>
                </c:pt>
                <c:pt idx="50">
                  <c:v>-0.10021084646475348</c:v>
                </c:pt>
                <c:pt idx="51">
                  <c:v>-0.10661748908272012</c:v>
                </c:pt>
                <c:pt idx="52">
                  <c:v>-0.11305939931929548</c:v>
                </c:pt>
                <c:pt idx="53">
                  <c:v>-0.11948587349423898</c:v>
                </c:pt>
                <c:pt idx="54">
                  <c:v>-0.12584071814604672</c:v>
                </c:pt>
                <c:pt idx="55">
                  <c:v>-0.13206230275672004</c:v>
                </c:pt>
                <c:pt idx="56">
                  <c:v>-0.1380836820407704</c:v>
                </c:pt>
                <c:pt idx="57">
                  <c:v>-0.14383279110259078</c:v>
                </c:pt>
                <c:pt idx="58">
                  <c:v>-0.1492327157341937</c:v>
                </c:pt>
                <c:pt idx="59">
                  <c:v>-0.15420203897771687</c:v>
                </c:pt>
                <c:pt idx="60">
                  <c:v>-0.15865526383236372</c:v>
                </c:pt>
                <c:pt idx="61">
                  <c:v>-0.1625033106654282</c:v>
                </c:pt>
                <c:pt idx="62">
                  <c:v>-0.16565408651690164</c:v>
                </c:pt>
                <c:pt idx="63">
                  <c:v>-0.1680131220946355</c:v>
                </c:pt>
                <c:pt idx="64">
                  <c:v>-0.16948427087203444</c:v>
                </c:pt>
                <c:pt idx="65">
                  <c:v>-0.1699704633539934</c:v>
                </c:pt>
                <c:pt idx="66">
                  <c:v>-0.1693745083010379</c:v>
                </c:pt>
                <c:pt idx="67">
                  <c:v>-0.16759993152783845</c:v>
                </c:pt>
                <c:pt idx="68">
                  <c:v>-0.16455184185071084</c:v>
                </c:pt>
                <c:pt idx="69">
                  <c:v>-0.16013781287754136</c:v>
                </c:pt>
                <c:pt idx="70">
                  <c:v>-0.1542687686380031</c:v>
                </c:pt>
                <c:pt idx="71">
                  <c:v>-0.14685986056338243</c:v>
                </c:pt>
                <c:pt idx="72">
                  <c:v>-0.13783132306076437</c:v>
                </c:pt>
                <c:pt idx="73">
                  <c:v>-0.1271092948975394</c:v>
                </c:pt>
                <c:pt idx="74">
                  <c:v>-0.11462659382544713</c:v>
                </c:pt>
                <c:pt idx="75">
                  <c:v>-0.10032343232897158</c:v>
                </c:pt>
                <c:pt idx="76">
                  <c:v>-0.08414806307510497</c:v>
                </c:pt>
                <c:pt idx="77">
                  <c:v>-0.06605734355850766</c:v>
                </c:pt>
                <c:pt idx="78">
                  <c:v>-0.04601721056028303</c:v>
                </c:pt>
                <c:pt idx="79">
                  <c:v>-0.024003056346874677</c:v>
                </c:pt>
                <c:pt idx="80">
                  <c:v>0</c:v>
                </c:pt>
                <c:pt idx="81">
                  <c:v>0.025996943653125326</c:v>
                </c:pt>
                <c:pt idx="82">
                  <c:v>0.053982789439716974</c:v>
                </c:pt>
                <c:pt idx="83">
                  <c:v>0.08394265644149232</c:v>
                </c:pt>
                <c:pt idx="84">
                  <c:v>0.11585193692489504</c:v>
                </c:pt>
                <c:pt idx="85">
                  <c:v>0.14967656767102844</c:v>
                </c:pt>
                <c:pt idx="86">
                  <c:v>0.18537340617455283</c:v>
                </c:pt>
                <c:pt idx="87">
                  <c:v>0.22289070510246056</c:v>
                </c:pt>
                <c:pt idx="88">
                  <c:v>0.2621686769392357</c:v>
                </c:pt>
                <c:pt idx="89">
                  <c:v>0.3031401394366176</c:v>
                </c:pt>
                <c:pt idx="90">
                  <c:v>0.3457312313619969</c:v>
                </c:pt>
                <c:pt idx="91">
                  <c:v>0.3898621871224587</c:v>
                </c:pt>
                <c:pt idx="92">
                  <c:v>0.43544815814928917</c:v>
                </c:pt>
                <c:pt idx="93">
                  <c:v>0.4824000684721616</c:v>
                </c:pt>
                <c:pt idx="94">
                  <c:v>0.530625491698962</c:v>
                </c:pt>
                <c:pt idx="95">
                  <c:v>0.5800295366460066</c:v>
                </c:pt>
                <c:pt idx="96">
                  <c:v>0.6305157291279656</c:v>
                </c:pt>
                <c:pt idx="97">
                  <c:v>0.6819868779053645</c:v>
                </c:pt>
                <c:pt idx="98">
                  <c:v>0.7343459134830984</c:v>
                </c:pt>
                <c:pt idx="99">
                  <c:v>0.7874966893345717</c:v>
                </c:pt>
                <c:pt idx="100">
                  <c:v>0.8413447361676363</c:v>
                </c:pt>
                <c:pt idx="101">
                  <c:v>0.8957979610222832</c:v>
                </c:pt>
                <c:pt idx="102">
                  <c:v>0.9507672842658064</c:v>
                </c:pt>
                <c:pt idx="103">
                  <c:v>1.006167208897409</c:v>
                </c:pt>
                <c:pt idx="104">
                  <c:v>1.0619163179592295</c:v>
                </c:pt>
                <c:pt idx="105">
                  <c:v>1.11793769724328</c:v>
                </c:pt>
                <c:pt idx="106">
                  <c:v>1.1741592818539532</c:v>
                </c:pt>
                <c:pt idx="107">
                  <c:v>1.230514126505761</c:v>
                </c:pt>
                <c:pt idx="108">
                  <c:v>1.2869406006807045</c:v>
                </c:pt>
                <c:pt idx="109">
                  <c:v>1.34338251091728</c:v>
                </c:pt>
                <c:pt idx="110">
                  <c:v>1.3997891535352465</c:v>
                </c:pt>
                <c:pt idx="111">
                  <c:v>1.4561153020025428</c:v>
                </c:pt>
                <c:pt idx="112">
                  <c:v>1.512321133912658</c:v>
                </c:pt>
                <c:pt idx="113">
                  <c:v>1.5683721031559463</c:v>
                </c:pt>
                <c:pt idx="114">
                  <c:v>1.6242387633342812</c:v>
                </c:pt>
                <c:pt idx="115">
                  <c:v>1.6798965487862594</c:v>
                </c:pt>
                <c:pt idx="116">
                  <c:v>1.735325519764485</c:v>
                </c:pt>
                <c:pt idx="117">
                  <c:v>1.790510078344848</c:v>
                </c:pt>
                <c:pt idx="118">
                  <c:v>1.8454386615603997</c:v>
                </c:pt>
                <c:pt idx="119">
                  <c:v>1.900103418051721</c:v>
                </c:pt>
                <c:pt idx="120">
                  <c:v>1.9544998742254873</c:v>
                </c:pt>
                <c:pt idx="121">
                  <c:v>2.0086265955284066</c:v>
                </c:pt>
                <c:pt idx="122">
                  <c:v>2.062484847990456</c:v>
                </c:pt>
                <c:pt idx="123">
                  <c:v>2.1160782646853415</c:v>
                </c:pt>
                <c:pt idx="124">
                  <c:v>2.169412521212954</c:v>
                </c:pt>
                <c:pt idx="125">
                  <c:v>2.222495023743292</c:v>
                </c:pt>
                <c:pt idx="126">
                  <c:v>2.2753346125879537</c:v>
                </c:pt>
                <c:pt idx="127">
                  <c:v>2.327941283696677</c:v>
                </c:pt>
                <c:pt idx="128">
                  <c:v>2.3803259299239357</c:v>
                </c:pt>
                <c:pt idx="129">
                  <c:v>2.4325001033841107</c:v>
                </c:pt>
                <c:pt idx="130">
                  <c:v>2.4844757997214053</c:v>
                </c:pt>
                <c:pt idx="131">
                  <c:v>2.536265264668985</c:v>
                </c:pt>
                <c:pt idx="132">
                  <c:v>2.587880822865525</c:v>
                </c:pt>
                <c:pt idx="133">
                  <c:v>2.639334728539722</c:v>
                </c:pt>
                <c:pt idx="134">
                  <c:v>2.6906390373660662</c:v>
                </c:pt>
                <c:pt idx="135">
                  <c:v>2.7418054985385116</c:v>
                </c:pt>
                <c:pt idx="136">
                  <c:v>2.7928454659019306</c:v>
                </c:pt>
                <c:pt idx="137">
                  <c:v>2.8437698268222396</c:v>
                </c:pt>
                <c:pt idx="138">
                  <c:v>2.8945889473622555</c:v>
                </c:pt>
                <c:pt idx="139">
                  <c:v>2.945312632258071</c:v>
                </c:pt>
                <c:pt idx="140">
                  <c:v>2.995950098156056</c:v>
                </c:pt>
              </c:numCache>
            </c:numRef>
          </c:yVal>
          <c:smooth val="0"/>
        </c:ser>
        <c:ser>
          <c:idx val="3"/>
          <c:order val="3"/>
          <c:tx>
            <c:strRef>
              <c:f>Sheet1!$E$1</c:f>
              <c:strCache>
                <c:ptCount val="1"/>
                <c:pt idx="0">
                  <c:v>SiLU</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Sheet1!$A$2:$A$142</c:f>
              <c:numCache>
                <c:formatCode>General</c:formatCode>
                <c:ptCount val="14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c:v>
                </c:pt>
                <c:pt idx="61">
                  <c:v>-0.95</c:v>
                </c:pt>
                <c:pt idx="62">
                  <c:v>-0.9</c:v>
                </c:pt>
                <c:pt idx="63">
                  <c:v>-0.85</c:v>
                </c:pt>
                <c:pt idx="64">
                  <c:v>-0.8</c:v>
                </c:pt>
                <c:pt idx="65">
                  <c:v>-0.75</c:v>
                </c:pt>
                <c:pt idx="66">
                  <c:v>-0.7</c:v>
                </c:pt>
                <c:pt idx="67">
                  <c:v>-0.65</c:v>
                </c:pt>
                <c:pt idx="68">
                  <c:v>-0.6</c:v>
                </c:pt>
                <c:pt idx="69">
                  <c:v>-0.55</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c:v>
                </c:pt>
                <c:pt idx="92">
                  <c:v>0.6</c:v>
                </c:pt>
                <c:pt idx="93">
                  <c:v>0.65</c:v>
                </c:pt>
                <c:pt idx="94">
                  <c:v>0.7</c:v>
                </c:pt>
                <c:pt idx="95">
                  <c:v>0.75</c:v>
                </c:pt>
                <c:pt idx="96">
                  <c:v>0.8</c:v>
                </c:pt>
                <c:pt idx="97">
                  <c:v>0.85</c:v>
                </c:pt>
                <c:pt idx="98">
                  <c:v>0.9</c:v>
                </c:pt>
                <c:pt idx="99">
                  <c:v>0.95</c:v>
                </c:pt>
                <c:pt idx="100">
                  <c:v>1</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c:v>
                </c:pt>
              </c:numCache>
            </c:numRef>
          </c:xVal>
          <c:yVal>
            <c:numRef>
              <c:f>Sheet1!$E$2:$E$142</c:f>
              <c:numCache>
                <c:formatCode>General</c:formatCode>
                <c:ptCount val="141"/>
                <c:pt idx="0">
                  <c:v>-0.07194483984836623</c:v>
                </c:pt>
                <c:pt idx="1">
                  <c:v>-0.07461929965130425</c:v>
                </c:pt>
                <c:pt idx="2">
                  <c:v>-0.07737719236290229</c:v>
                </c:pt>
                <c:pt idx="3">
                  <c:v>-0.08021992639691963</c:v>
                </c:pt>
                <c:pt idx="4">
                  <c:v>-0.0831488295572958</c:v>
                </c:pt>
                <c:pt idx="5">
                  <c:v>-0.08616513716259605</c:v>
                </c:pt>
                <c:pt idx="6">
                  <c:v>-0.08926997924537602</c:v>
                </c:pt>
                <c:pt idx="7">
                  <c:v>-0.09246436677808181</c:v>
                </c:pt>
                <c:pt idx="8">
                  <c:v>-0.09574917687671708</c:v>
                </c:pt>
                <c:pt idx="9">
                  <c:v>-0.09912513693345923</c:v>
                </c:pt>
                <c:pt idx="10">
                  <c:v>-0.10259280762974712</c:v>
                </c:pt>
                <c:pt idx="11">
                  <c:v>-0.10615256478216063</c:v>
                </c:pt>
                <c:pt idx="12">
                  <c:v>-0.10980457997473175</c:v>
                </c:pt>
                <c:pt idx="13">
                  <c:v>-0.11354879993324678</c:v>
                </c:pt>
                <c:pt idx="14">
                  <c:v>-0.11738492459969939</c:v>
                </c:pt>
                <c:pt idx="15">
                  <c:v>-0.12131238386842073</c:v>
                </c:pt>
                <c:pt idx="16">
                  <c:v>-0.12533031294964594</c:v>
                </c:pt>
                <c:pt idx="17">
                  <c:v>-0.1294375263314648</c:v>
                </c:pt>
                <c:pt idx="18">
                  <c:v>-0.13363249031736696</c:v>
                </c:pt>
                <c:pt idx="19">
                  <c:v>-0.13791329412402684</c:v>
                </c:pt>
                <c:pt idx="20">
                  <c:v>-0.14227761953270035</c:v>
                </c:pt>
                <c:pt idx="21">
                  <c:v>-0.14672270909774232</c:v>
                </c:pt>
                <c:pt idx="22">
                  <c:v>-0.15124533292741144</c:v>
                </c:pt>
                <c:pt idx="23">
                  <c:v>-0.15584175406543116</c:v>
                </c:pt>
                <c:pt idx="24">
                  <c:v>-0.1605076925168325</c:v>
                </c:pt>
                <c:pt idx="25">
                  <c:v>-0.16523828797852097</c:v>
                </c:pt>
                <c:pt idx="26">
                  <c:v>-0.1700280613538905</c:v>
                </c:pt>
                <c:pt idx="27">
                  <c:v>-0.17487087515172978</c:v>
                </c:pt>
                <c:pt idx="28">
                  <c:v>-0.17975989289270172</c:v>
                </c:pt>
                <c:pt idx="29">
                  <c:v>-0.1846875376718702</c:v>
                </c:pt>
                <c:pt idx="30">
                  <c:v>-0.18964545005310887</c:v>
                </c:pt>
                <c:pt idx="31">
                  <c:v>-0.19462444550074698</c:v>
                </c:pt>
                <c:pt idx="32">
                  <c:v>-0.1996144715854137</c:v>
                </c:pt>
                <c:pt idx="33">
                  <c:v>-0.20460456523463744</c:v>
                </c:pt>
                <c:pt idx="34">
                  <c:v>-0.20958281033416915</c:v>
                </c:pt>
                <c:pt idx="35">
                  <c:v>-0.21453629602299634</c:v>
                </c:pt>
                <c:pt idx="36">
                  <c:v>-0.21945107606330733</c:v>
                </c:pt>
                <c:pt idx="37">
                  <c:v>-0.22431212970585282</c:v>
                </c:pt>
                <c:pt idx="38">
                  <c:v>-0.2291033245107872</c:v>
                </c:pt>
                <c:pt idx="39">
                  <c:v>-0.2338073816235713</c:v>
                </c:pt>
                <c:pt idx="40">
                  <c:v>-0.2384058440442351</c:v>
                </c:pt>
                <c:pt idx="41">
                  <c:v>-0.24287904846546207</c:v>
                </c:pt>
                <c:pt idx="42">
                  <c:v>-0.24720610128969592</c:v>
                </c:pt>
                <c:pt idx="43">
                  <c:v>-0.2513648594668244</c:v>
                </c:pt>
                <c:pt idx="44">
                  <c:v>-0.25533191682087797</c:v>
                </c:pt>
                <c:pt idx="45">
                  <c:v>-0.25908259655545657</c:v>
                </c:pt>
                <c:pt idx="46">
                  <c:v>-0.26259095064200905</c:v>
                </c:pt>
                <c:pt idx="47">
                  <c:v>-0.26582976680136566</c:v>
                </c:pt>
                <c:pt idx="48">
                  <c:v>-0.26877058378572083</c:v>
                </c:pt>
                <c:pt idx="49">
                  <c:v>-0.27138371565426167</c:v>
                </c:pt>
                <c:pt idx="50">
                  <c:v>-0.2736382857095345</c:v>
                </c:pt>
                <c:pt idx="51">
                  <c:v>-0.2755022707222038</c:v>
                </c:pt>
                <c:pt idx="52">
                  <c:v>-0.2769425560179855</c:v>
                </c:pt>
                <c:pt idx="53">
                  <c:v>-0.2779250019312789</c:v>
                </c:pt>
                <c:pt idx="54">
                  <c:v>-0.2784145220446738</c:v>
                </c:pt>
                <c:pt idx="55">
                  <c:v>-0.27837517353163604</c:v>
                </c:pt>
                <c:pt idx="56">
                  <c:v>-0.27777025980117886</c:v>
                </c:pt>
                <c:pt idx="57">
                  <c:v>-0.2765624455085222</c:v>
                </c:pt>
                <c:pt idx="58">
                  <c:v>-0.2747138838453706</c:v>
                </c:pt>
                <c:pt idx="59">
                  <c:v>-0.2721863558587383</c:v>
                </c:pt>
                <c:pt idx="60">
                  <c:v>-0.2689414213699951</c:v>
                </c:pt>
                <c:pt idx="61">
                  <c:v>-0.2649405808782801</c:v>
                </c:pt>
                <c:pt idx="62">
                  <c:v>-0.2601454476374964</c:v>
                </c:pt>
                <c:pt idx="63">
                  <c:v>-0.254517928897123</c:v>
                </c:pt>
                <c:pt idx="64">
                  <c:v>-0.24802041509791006</c:v>
                </c:pt>
                <c:pt idx="65">
                  <c:v>-0.24061597561845527</c:v>
                </c:pt>
                <c:pt idx="66">
                  <c:v>-0.2322685594822837</c:v>
                </c:pt>
                <c:pt idx="67">
                  <c:v>-0.22294319926222578</c:v>
                </c:pt>
                <c:pt idx="68">
                  <c:v>-0.21260621626452272</c:v>
                </c:pt>
                <c:pt idx="69">
                  <c:v>-0.20122542494405968</c:v>
                </c:pt>
                <c:pt idx="70">
                  <c:v>-0.1887703343990727</c:v>
                </c:pt>
                <c:pt idx="71">
                  <c:v>-0.1752123447228501</c:v>
                </c:pt>
                <c:pt idx="72">
                  <c:v>-0.1605249359550192</c:v>
                </c:pt>
                <c:pt idx="73">
                  <c:v>-0.14468384737893447</c:v>
                </c:pt>
                <c:pt idx="74">
                  <c:v>-0.1276672449565023</c:v>
                </c:pt>
                <c:pt idx="75">
                  <c:v>-0.10945587477855048</c:v>
                </c:pt>
                <c:pt idx="76">
                  <c:v>-0.09003320053750444</c:v>
                </c:pt>
                <c:pt idx="77">
                  <c:v>-0.06938552319843756</c:v>
                </c:pt>
                <c:pt idx="78">
                  <c:v>-0.047502081252106004</c:v>
                </c:pt>
                <c:pt idx="79">
                  <c:v>-0.024375130175789482</c:v>
                </c:pt>
                <c:pt idx="80">
                  <c:v>0</c:v>
                </c:pt>
                <c:pt idx="81">
                  <c:v>0.025624869824210517</c:v>
                </c:pt>
                <c:pt idx="82">
                  <c:v>0.052497918747894</c:v>
                </c:pt>
                <c:pt idx="83">
                  <c:v>0.08061447680156243</c:v>
                </c:pt>
                <c:pt idx="84">
                  <c:v>0.1099667994624956</c:v>
                </c:pt>
                <c:pt idx="85">
                  <c:v>0.14054412522144952</c:v>
                </c:pt>
                <c:pt idx="86">
                  <c:v>0.1723327550434977</c:v>
                </c:pt>
                <c:pt idx="87">
                  <c:v>0.20531615262106553</c:v>
                </c:pt>
                <c:pt idx="88">
                  <c:v>0.2394750640449808</c:v>
                </c:pt>
                <c:pt idx="89">
                  <c:v>0.27478765527714993</c:v>
                </c:pt>
                <c:pt idx="90">
                  <c:v>0.3112296656009273</c:v>
                </c:pt>
                <c:pt idx="91">
                  <c:v>0.34877457505594045</c:v>
                </c:pt>
                <c:pt idx="92">
                  <c:v>0.3873937837354772</c:v>
                </c:pt>
                <c:pt idx="93">
                  <c:v>0.42705680073777424</c:v>
                </c:pt>
                <c:pt idx="94">
                  <c:v>0.46773144051771626</c:v>
                </c:pt>
                <c:pt idx="95">
                  <c:v>0.5093840243815447</c:v>
                </c:pt>
                <c:pt idx="96">
                  <c:v>0.55197958490209</c:v>
                </c:pt>
                <c:pt idx="97">
                  <c:v>0.595482071102877</c:v>
                </c:pt>
                <c:pt idx="98">
                  <c:v>0.6398545523625035</c:v>
                </c:pt>
                <c:pt idx="99">
                  <c:v>0.6850594191217199</c:v>
                </c:pt>
                <c:pt idx="100">
                  <c:v>0.7310585786300049</c:v>
                </c:pt>
                <c:pt idx="101">
                  <c:v>0.7778136441412618</c:v>
                </c:pt>
                <c:pt idx="102">
                  <c:v>0.8252861161546295</c:v>
                </c:pt>
                <c:pt idx="103">
                  <c:v>0.8734375544914775</c:v>
                </c:pt>
                <c:pt idx="104">
                  <c:v>0.922229740198821</c:v>
                </c:pt>
                <c:pt idx="105">
                  <c:v>0.9716248264683638</c:v>
                </c:pt>
                <c:pt idx="106">
                  <c:v>1.0215854779553262</c:v>
                </c:pt>
                <c:pt idx="107">
                  <c:v>1.0720749980687212</c:v>
                </c:pt>
                <c:pt idx="108">
                  <c:v>1.1230574439820142</c:v>
                </c:pt>
                <c:pt idx="109">
                  <c:v>1.1744977292777963</c:v>
                </c:pt>
                <c:pt idx="110">
                  <c:v>1.2263617142904655</c:v>
                </c:pt>
                <c:pt idx="111">
                  <c:v>1.2786162843457383</c:v>
                </c:pt>
                <c:pt idx="112">
                  <c:v>1.3312294162142793</c:v>
                </c:pt>
                <c:pt idx="113">
                  <c:v>1.3841702331986343</c:v>
                </c:pt>
                <c:pt idx="114">
                  <c:v>1.437409049357991</c:v>
                </c:pt>
                <c:pt idx="115">
                  <c:v>1.4909174034445436</c:v>
                </c:pt>
                <c:pt idx="116">
                  <c:v>1.5446680831791222</c:v>
                </c:pt>
                <c:pt idx="117">
                  <c:v>1.5986351405331758</c:v>
                </c:pt>
                <c:pt idx="118">
                  <c:v>1.652793898710304</c:v>
                </c:pt>
                <c:pt idx="119">
                  <c:v>1.707120951534538</c:v>
                </c:pt>
                <c:pt idx="120">
                  <c:v>1.7615941559557646</c:v>
                </c:pt>
                <c:pt idx="121">
                  <c:v>1.8161926183764285</c:v>
                </c:pt>
                <c:pt idx="122">
                  <c:v>1.870896675489213</c:v>
                </c:pt>
                <c:pt idx="123">
                  <c:v>1.9256878702941471</c:v>
                </c:pt>
                <c:pt idx="124">
                  <c:v>1.9805489239366927</c:v>
                </c:pt>
                <c:pt idx="125">
                  <c:v>2.035463703977004</c:v>
                </c:pt>
                <c:pt idx="126">
                  <c:v>2.0904171896658306</c:v>
                </c:pt>
                <c:pt idx="127">
                  <c:v>2.1453954347653625</c:v>
                </c:pt>
                <c:pt idx="128">
                  <c:v>2.200385528414586</c:v>
                </c:pt>
                <c:pt idx="129">
                  <c:v>2.255375554499253</c:v>
                </c:pt>
                <c:pt idx="130">
                  <c:v>2.3103545499468914</c:v>
                </c:pt>
                <c:pt idx="131">
                  <c:v>2.3653124623281294</c:v>
                </c:pt>
                <c:pt idx="132">
                  <c:v>2.4202401071072988</c:v>
                </c:pt>
                <c:pt idx="133">
                  <c:v>2.4751291248482703</c:v>
                </c:pt>
                <c:pt idx="134">
                  <c:v>2.5299719386461095</c:v>
                </c:pt>
                <c:pt idx="135">
                  <c:v>2.584761712021479</c:v>
                </c:pt>
                <c:pt idx="136">
                  <c:v>2.6394923074831675</c:v>
                </c:pt>
                <c:pt idx="137">
                  <c:v>2.6941582459345685</c:v>
                </c:pt>
                <c:pt idx="138">
                  <c:v>2.7487546670725886</c:v>
                </c:pt>
                <c:pt idx="139">
                  <c:v>2.8032772909022583</c:v>
                </c:pt>
                <c:pt idx="140">
                  <c:v>2.8577223804673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4"/>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z</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4"/>
        <c:auto val="1"/>
        <c:lblAlgn val="ctr"/>
        <c:noMultiLvlLbl val="1"/>
        <c:majorUnit val="1"/>
      </c:valAx>
      <c:valAx>
        <c:axId val="2094734552"/>
        <c:scaling>
          <c:orientation val="minMax"/>
          <c:max val="3"/>
          <c:min val="-1"/>
        </c:scaling>
        <c:delete val="0"/>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1"/>
        <c:crossBetween val="midCat"/>
        <c:majorUnit val="1"/>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0F7B78"/>
            </a:solidFill>
            <a:effectLst/>
          </c:spPr>
          <c:invertIfNegative val="0"/>
          <c:dLbls>
            <c:numFmt formatCode="#,##0" sourceLinked="0"/>
            <c:txPr>
              <a:bodyPr/>
              <a:lstStyle/>
              <a:p>
                <a:pPr>
                  <a:defRPr b="0" i="0" strike="noStrike" sz="1400" u="none">
                    <a:solidFill>
                      <a:srgbClr val="15232D"/>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3  64→10</c:v>
                  </c:pt>
                  <c:pt idx="1">
                    <c:v>Layer 2  128→64</c:v>
                  </c:pt>
                  <c:pt idx="2">
                    <c:v>Layer 1  784→128</c:v>
                  </c:pt>
                </c:lvl>
              </c:multiLvlStrCache>
            </c:multiLvlStrRef>
          </c:cat>
          <c:val>
            <c:numRef>
              <c:f>Sheet1!$B$2:$B$4</c:f>
              <c:numCache>
                <c:formatCode>General</c:formatCode>
                <c:ptCount val="3"/>
                <c:pt idx="0">
                  <c:v>650</c:v>
                </c:pt>
                <c:pt idx="1">
                  <c:v>8256</c:v>
                </c:pt>
                <c:pt idx="2">
                  <c:v>100480</c:v>
                </c:pt>
              </c:numCache>
            </c:numRef>
          </c:val>
        </c:ser>
        <c:dLbls>
          <c:numFmt formatCode="#,##0" sourceLinked="0"/>
          <c:txPr>
            <a:bodyPr/>
            <a:lstStyle/>
            <a:p>
              <a:pPr>
                <a:defRPr b="0" i="0" strike="noStrike" sz="1400" u="none">
                  <a:solidFill>
                    <a:srgbClr val="1523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3CCD4"/>
            </a:solidFill>
            <a:prstDash val="solid"/>
            <a:round/>
          </a:ln>
        </c:spPr>
        <c:txPr>
          <a:bodyPr/>
          <a:lstStyle/>
          <a:p>
            <a:pPr>
              <a:defRPr sz="1400" b="0" i="0" u="none" strike="noStrike">
                <a:solidFill>
                  <a:srgbClr val="556270"/>
                </a:solidFill>
                <a:latin typeface="+mn-lt"/>
              </a:defRPr>
            </a:pPr>
            <a:endParaRPr lang="en-US"/>
          </a:p>
        </c:txPr>
        <c:crossAx val="2094734552"/>
        <c:crosses val="autoZero"/>
        <c:auto val="1"/>
        <c:lblAlgn val="ctr"/>
        <c:noMultiLvlLbl val="1"/>
      </c:catAx>
      <c:valAx>
        <c:axId val="2094734552"/>
        <c:scaling>
          <c:orientation val="minMax"/>
          <c:max val="125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first of three lectures that take us from linear models to deep networks that train well. Today is about representation: what a network computes and why. Learning — losses and backpropagation — is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 of today. We start with the one limitation of linear models, build a single neuron, prove that nonlinearity is mandatory, and finish with the full forward pass of a multi-layer perceptron with correct shapes. The prerequisites on the right are what I will assume.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notation once. Bold lowercase is a column vector, bold uppercase a matrix. Square brackets index layers, round brackets index training examples. The bracket distinction trips people up constantly, so read the example on the right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answers a single question: why not just use the linear models you already know? The answer is one limitation, and the escape from it is the core idea of the whole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know these models from your first ML course. Linear regression uses the score directly; logistic regression squashes it into a probability. They are convex, interpretable and data-efficient. But they share one fatal limitation: the decision boundary is a straight line, or a hyperplane in higher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classic demonstration. Four points on a unit square: the two labelled 1 sit on one diagonal, the two labelled 0 on the other. Try drawing a line with both ones on one side — you always catch at least one zero. On the next slide we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takes three lines. Suppose weights exist so that we predict class 1 exactly when w1 x1 plus w2 x2 plus b is positive. Write down what each point requires. Add the two class-1 conditions, use b at most zero, and you contradict the last requirement. This is the general shape of the problem: real boundaries curve and linear models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classical answer was feature engineering. Add the product x1 times x2 as a third feature. Now y equals x1 plus x2 minus twice the product, exactly. Nothing about the data changed; the representation did. This is the key insight of the field. Kernel methods such as an RBF SVM automate it by working implicitly in a very high-dimensional feature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not stop at feature engineering? Three failure modes, all worse at scale. You must already know the answer — nobody can write down which function of 150,528 pixel values means "cat"; decades of SIFT, HOG and Haar features were useful but never sufficient. The number of candidate features explodes combinatorially. And features designed for one task rarely transfer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neural network idea in one sentence: instead of designing a fixed transformation phi of x and fitting a linear model on top, give the transformation its own parameters and learn them at the same time as the linear model, by gradient descent on the same loss. The vector h is a learned representation of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single change buys three things. The features are shaped by the loss you care about. They are reusable: early layers of an image network learn edge and texture detectors useful for almost any vision task, which is transfer learning. And they compose: stack layers and each builds on the one below. That hierarchy, shown on the right, is what the word deep refers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 needed to see a network work, but let me show a near-miss first because the repair is instructive. Two ReLU units with thresholds one half and one and a half. Trace the four inputs. The point (1,1) produces 0.5, the same as the two class-1 points, so no threshold separates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both thresholds down by a half. Now h1 is OR-like and h2 is AND-like, and the output computes OR minus twice AND, which is exactly XOR. Nobody told the network to build OR and AND detectors; this is the kind of decomposition gradient descent finds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dates explain the field. Backpropagation was popularized in 1986; deep learning took over in 2012. The 26-year gap is the lesson: the algorithm was not the bottleneck. Data, compute and a handful of training tricks were — which is exactly why lecture 3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engineering means knowing the limits of your tool. With a few hundred rows, use regularized linear models, boosted trees or a Gaussian process. On tabular data, gradient-boosted trees are still highly competitive in 2026 — try them first. If a regulator must audit each decision, use something auditable. And always fit the simple baseline first: it is the only way to know whether your network 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builds the single neuron and, more importantly, gives you the geometry of w transpose x plus b. Once you see it, decision boundaries stop being mysterious.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artificial neuron computes a weighted sum of its inputs, adds a bias, and applies a nonlinear function. The biology analogy — dendrites, synapses, firing — is useful for about ten minutes. Real neurons spike, dendrites compute nonlinearly, and brains do not run backpropagation. A better mental model: a learned linear feature detector followed by a soft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each with its reason. First, w is perpendicular to the boundary: for two boundary points, subtracting gives w transpose times their difference equals zero. Second, the bias shifts the boundary without rotating it; the distance from the origin is the absolute bias over the norm of w. Remove biases and every boundary must pass through the origin. Third, z divided by the norm of w is the signed distance to the boundary, which is why the size of z behaves like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of w sets the orientation of the boundary; its magnitude sets how sharply the activation changes across it. Doubling both w and b leaves the boundary exactly where it was but makes a sigmoid twice as steep. Weight decay in lecture 3 exploits this: shrinking the norm of w makes the model smoother and less confident without moving its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Rosenblatt’s perceptron used a hard step. Its learning rule adds eta times x to the weights when it under-predicts and subtracts when it over-predicts. Novikoff proved in 1962 that it converges in finitely many updates on linearly separable data; otherwise it oscillates forever. The deeper problem: the step has zero derivative wherever it is defined, so you cannot stack perceptrons and train the stack. That is the reason modern networks use smooth activations.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the step for a sigmoid and you have logistic regression. The sigmoid is not an arbitrary squashing function: assume the log-odds of the two classes is linear in x, solve for p, and the sigmoid falls out. Its derivative has the convenient form sigma times one minus sigma, maximum one quarter at zero, so once you have the forward output you get the derivative for free. Remember that 0.25 — it comes back in lecture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Activation functions are not a detail. We prove that without them a deep network is one linear layer, then go through the menu and finish with a decision rule you can actually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most-asked conceptual interview question in the field, and the answer is the composition argument, not “nonlinearity adds power”. Substitute each layer into the next and you get a single matrix times x plus a single bias. Worse, the rank of a product is at most the smallest factor’s rank, so a narrow middle layer can only make the effective map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Sigmoid has three problems. For large inputs its derivative is essentially zero, and backpropagation multiplies these derivatives layer by layer: ten sigmoid layers scale the gradient by at most 0.25 to the tenth, about ten to the minus six, even in the best case. Its outputs are all positive, so updates zigzag. Tanh is a rescaled sigmoid, zero-centred with maximum slope one, but it still saturates.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ReLU is the workhorse. Its derivative is exactly one whenever the unit is active, so gradients pass through undiminished — the single biggest reason deep networks became trainable around 2012. It is cheap and sparse, and still nonlinear: a ReLU network carves input space into polyhedral regions with a linear function on each. The cost is dying ReLU: a unit pushed negative for every input outputs zero forever and gets zero gradient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Leaky ReLU keeps a small slope on the negative side so units can come back from the dead; it is standard in GAN discriminators. ELU, GELU and SiLU are smooth relatives. GELU multiplies the input by the probability that a standard normal falls below it. It is the activation of BERT, GPT-2 and Vision Transformers. Many recent large language models use SwiGLU, a gated SiLU, in their feed-forward blocks. For a first CNN, ReLU and GELU perform within noise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to keep. Notice the pattern: everything after tanh exists to avoid saturation, and the smooth variants trade a little compute for a nonzero negative-side gradient. Softmax is in the table but it is an output function, not a hidden activation; it belongs with the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decision rule you can follow. Hidden layers: start with ReLU and switch if you see dead units. Transformer blocks: use what the architecture was tuned with. For classifier outputs, pass raw logits to the loss — this is the version you should actually use, and lecture 2 explains why. Never put a bounded activation on a regression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styles appear constantly in real code. Modules are objects you put into nn.Sequential; functional calls are common inside a hand-written forward method. They compute the same thing — the printed tensors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defines the multi-layer perceptron precisely, gets every shape right, and states what the universal approximation theorem does and does not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MLP is a stack of fully connected layers, each followed by a nonlinearity. Layer zero is the input and has no parameters, so it is not counted. Each layer computes a pre-activation z and then an activation a. That is the entire forward pass. Everything else in this course is choosing g, measuring the error in y-hat, or differentiating that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shape? Row i of W holds the weights of unit i in layer l, one entry per unit in the layer below, so its length is n of l minus one. There are n of l such rows. The matrix–vector product is one multiplication: (n[l], n[l−1]) times (n[l−1], 1) gives (n[l], 1). When shapes confuse you, write out what one row means, then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never process one example at a time. Stack m examples into a matrix. In the math convention each column is an example; in the framework convention, which PyTorch uses, each row is an example. Both are one matrix multiplication — the shapes just transpose. nn.Linear stores its weight as (out, in), the math layout, but data flows as rows, so it computes x times W transpose plus b. I use columns for derivations and rows for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classifier on 28 by 28 grayscale images, ten classes, hidden layers of 128 and 64, batch size 32. Read the shapes top to bottom. The batch dimension never changes: 32 goes in, 32 comes out. If it changes mid-network you have made an error, almost always a wrong reshape or view. The output layer has no activation; the loss applies softmax.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has n[l] times n[l−1] weights plus n[l] biases. For our network that totals 109,386, and layer 1 alone holds 92 percent of them, simply because the 784-pixel input is fully connected to 128 units. That observation is the seed of the whole convolutional-network argument later in the course. Check counts in PyTorch with the one-liner below, and make it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that a neural network can approximate any function. That is a garbled version of a real theorem. Here is the real one: continuous functions on compact sets, one hidden layer, finitely many units, any non-polynomial activation. What it settles is one question only: expressive power is not the bottleneck. A dual result shows bounded width with unbounded depth is also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routinely dropped. The function must be continuous on a closed, bounded set. The width is finite but can be exponential in the input dimension. The theorem promises that weights exist, not that gradient descent finds them. And fitting the training data arbitrarily well is exactly what overfitting looks like. So when a model performs badly, look at optimization, regularization, data or architecture — not a representational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starting points. Input and output sizes are fixed by the data and the task. Start with two hidden layers; going to ten rarely helps on tabular data without residual connections. Use powers of two in a funnel. And the golden rule: build the smallest network that can overfit a small subset, confirm that it does, then regularize and scale up. A model that cannot overfit 100 examples has a bug, not a capacity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anything beyond a simple stack, subclass nn.Module. Define layers in init, assigned to self so they are registered, and the computation in forward. The model returns logits — no softmax. Call the model directly, which runs forward plus any registered hooks. The parameter count matches our hand calculation: 109,386.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that cause real bugs. Calling model.forward directly skips hooks, which breaks many debugging and quantization tools. Omitting super init means PyTorch cannot register parameters, so the optimizer updates nothing: the model trains, reports a loss, and never improves. And a layer stored in a plain Python list is not registered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section reduces to one sentence. If students can say these four sentences and justify each, they are ready for lecture 2. Next time: how the network measures its error, and how backpropagation computes every gradient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today’s claims, for students who want to read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rtlCol="0"/>
          <a:lstStyle>
            <a:lvl1pPr indent="0" marL="0">
              <a:buNone/>
              <a:defRPr lang="en-US" sz="1300" b="1" spc="150" kern="0" dirty="0">
                <a:solidFill>
                  <a:schemeClr val="accent1"/>
                </a:solidFill>
              </a:defRPr>
            </a:lvl1pPr>
          </a:lstStyle>
          <a:p>
            <a:pPr indent="0" marL="0">
              <a:buNone/>
            </a:pP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200" dirty="0">
                <a:solidFill>
                  <a:schemeClr val="tx2"/>
                </a:solidFill>
              </a:rPr>
              <a:t>Lecture 1 · Foundations: from linear models to the MLP</a:t>
            </a:r>
            <a:endParaRPr lang="en-US" sz="12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rtlCol="0"/>
          <a:lstStyle>
            <a:lvl1pPr indent="0" marL="0">
              <a:buNone/>
              <a:defRPr lang="en-US" sz="1600" b="1" spc="200" kern="0" dirty="0">
                <a:solidFill>
                  <a:schemeClr val="accent6"/>
                </a:solidFill>
              </a:defRPr>
            </a:lvl1pPr>
          </a:lstStyle>
          <a:p>
            <a:pPr indent="0" marL="0">
              <a:buNone/>
            </a:pP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LECTURE 1 OF 3</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Foundations: from linear models to the MLP</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Why neural networks exist, what a neuron computes, why nonlinearity is mandatory, and how a forward pass works.</a:t>
            </a:r>
            <a:endParaRPr lang="en-US" sz="2000" dirty="0"/>
          </a:p>
        </p:txBody>
      </p:sp>
      <p:sp>
        <p:nvSpPr>
          <p:cNvPr id="5" name="Text 3"/>
          <p:cNvSpPr txBox="1"/>
          <p:nvPr/>
        </p:nvSpPr>
        <p:spPr>
          <a:xfrm>
            <a:off x="731520" y="5989320"/>
            <a:ext cx="7315200" cy="365760"/>
          </a:xfrm>
          <a:prstGeom prst="rect">
            <a:avLst/>
          </a:prstGeom>
          <a:noFill/>
          <a:ln/>
        </p:spPr>
        <p:txBody>
          <a:bodyPr wrap="square" lIns="0" tIns="0" rIns="0" bIns="0" rtlCol="0" anchor="t"/>
          <a:lstStyle/>
          <a:p>
            <a:pPr algn="l" indent="0" marL="0">
              <a:lnSpc>
                <a:spcPct val="105000"/>
              </a:lnSpc>
              <a:buNone/>
            </a:pPr>
            <a:r>
              <a:rPr lang="en-US" sz="1500" dirty="0">
                <a:solidFill>
                  <a:schemeClr val="accent6"/>
                </a:solidFill>
              </a:rPr>
              <a:t>Neural Networks &amp; Deep Learning  ·  Undergraduate Engineering</a:t>
            </a:r>
            <a:endParaRPr lang="en-US" sz="1500" dirty="0"/>
          </a:p>
        </p:txBody>
      </p:sp>
      <p:sp>
        <p:nvSpPr>
          <p:cNvPr id="6" name="Shape 4"/>
          <p:cNvSpPr/>
          <p:nvPr/>
        </p:nvSpPr>
        <p:spPr>
          <a:xfrm flipV="1">
            <a:off x="8449056" y="1956816"/>
            <a:ext cx="713232" cy="713232"/>
          </a:xfrm>
          <a:prstGeom prst="line">
            <a:avLst/>
          </a:prstGeom>
          <a:noFill/>
          <a:ln w="12700">
            <a:solidFill>
              <a:srgbClr val="3A4E5B"/>
            </a:solidFill>
            <a:prstDash val="solid"/>
          </a:ln>
        </p:spPr>
      </p:sp>
      <p:sp>
        <p:nvSpPr>
          <p:cNvPr id="7" name="Shape 5"/>
          <p:cNvSpPr/>
          <p:nvPr/>
        </p:nvSpPr>
        <p:spPr>
          <a:xfrm>
            <a:off x="8449056" y="2670048"/>
            <a:ext cx="713232" cy="0"/>
          </a:xfrm>
          <a:prstGeom prst="line">
            <a:avLst/>
          </a:prstGeom>
          <a:noFill/>
          <a:ln w="31750">
            <a:solidFill>
              <a:srgbClr val="7CCFC6"/>
            </a:solidFill>
            <a:prstDash val="solid"/>
          </a:ln>
        </p:spPr>
      </p:sp>
      <p:sp>
        <p:nvSpPr>
          <p:cNvPr id="8" name="Shape 6"/>
          <p:cNvSpPr/>
          <p:nvPr/>
        </p:nvSpPr>
        <p:spPr>
          <a:xfrm>
            <a:off x="8449056" y="2670048"/>
            <a:ext cx="713232" cy="713232"/>
          </a:xfrm>
          <a:prstGeom prst="line">
            <a:avLst/>
          </a:prstGeom>
          <a:noFill/>
          <a:ln w="12700">
            <a:solidFill>
              <a:srgbClr val="3A4E5B"/>
            </a:solidFill>
            <a:prstDash val="solid"/>
          </a:ln>
        </p:spPr>
      </p:sp>
      <p:sp>
        <p:nvSpPr>
          <p:cNvPr id="9" name="Shape 7"/>
          <p:cNvSpPr/>
          <p:nvPr/>
        </p:nvSpPr>
        <p:spPr>
          <a:xfrm>
            <a:off x="8449056" y="2670048"/>
            <a:ext cx="713232" cy="1426464"/>
          </a:xfrm>
          <a:prstGeom prst="line">
            <a:avLst/>
          </a:prstGeom>
          <a:noFill/>
          <a:ln w="12700">
            <a:solidFill>
              <a:srgbClr val="3A4E5B"/>
            </a:solidFill>
            <a:prstDash val="solid"/>
          </a:ln>
        </p:spPr>
      </p:sp>
      <p:sp>
        <p:nvSpPr>
          <p:cNvPr id="10" name="Shape 8"/>
          <p:cNvSpPr/>
          <p:nvPr/>
        </p:nvSpPr>
        <p:spPr>
          <a:xfrm>
            <a:off x="8449056" y="2670048"/>
            <a:ext cx="713232" cy="2139696"/>
          </a:xfrm>
          <a:prstGeom prst="line">
            <a:avLst/>
          </a:prstGeom>
          <a:noFill/>
          <a:ln w="12700">
            <a:solidFill>
              <a:srgbClr val="3A4E5B"/>
            </a:solidFill>
            <a:prstDash val="solid"/>
          </a:ln>
        </p:spPr>
      </p:sp>
      <p:sp>
        <p:nvSpPr>
          <p:cNvPr id="11" name="Shape 9"/>
          <p:cNvSpPr/>
          <p:nvPr/>
        </p:nvSpPr>
        <p:spPr>
          <a:xfrm flipV="1">
            <a:off x="8449056" y="1956816"/>
            <a:ext cx="713232" cy="1426464"/>
          </a:xfrm>
          <a:prstGeom prst="line">
            <a:avLst/>
          </a:prstGeom>
          <a:noFill/>
          <a:ln w="12700">
            <a:solidFill>
              <a:srgbClr val="3A4E5B"/>
            </a:solidFill>
            <a:prstDash val="solid"/>
          </a:ln>
        </p:spPr>
      </p:sp>
      <p:sp>
        <p:nvSpPr>
          <p:cNvPr id="12" name="Shape 10"/>
          <p:cNvSpPr/>
          <p:nvPr/>
        </p:nvSpPr>
        <p:spPr>
          <a:xfrm flipV="1">
            <a:off x="8449056" y="2670048"/>
            <a:ext cx="713232" cy="713232"/>
          </a:xfrm>
          <a:prstGeom prst="line">
            <a:avLst/>
          </a:prstGeom>
          <a:noFill/>
          <a:ln w="12700">
            <a:solidFill>
              <a:srgbClr val="3A4E5B"/>
            </a:solidFill>
            <a:prstDash val="solid"/>
          </a:ln>
        </p:spPr>
      </p:sp>
      <p:sp>
        <p:nvSpPr>
          <p:cNvPr id="13" name="Shape 11"/>
          <p:cNvSpPr/>
          <p:nvPr/>
        </p:nvSpPr>
        <p:spPr>
          <a:xfrm>
            <a:off x="8449056" y="3383280"/>
            <a:ext cx="713232" cy="0"/>
          </a:xfrm>
          <a:prstGeom prst="line">
            <a:avLst/>
          </a:prstGeom>
          <a:noFill/>
          <a:ln w="12700">
            <a:solidFill>
              <a:srgbClr val="3A4E5B"/>
            </a:solidFill>
            <a:prstDash val="solid"/>
          </a:ln>
        </p:spPr>
      </p:sp>
      <p:sp>
        <p:nvSpPr>
          <p:cNvPr id="14" name="Shape 12"/>
          <p:cNvSpPr/>
          <p:nvPr/>
        </p:nvSpPr>
        <p:spPr>
          <a:xfrm>
            <a:off x="8449056" y="3383280"/>
            <a:ext cx="713232" cy="713232"/>
          </a:xfrm>
          <a:prstGeom prst="line">
            <a:avLst/>
          </a:prstGeom>
          <a:noFill/>
          <a:ln w="12700">
            <a:solidFill>
              <a:srgbClr val="3A4E5B"/>
            </a:solidFill>
            <a:prstDash val="solid"/>
          </a:ln>
        </p:spPr>
      </p:sp>
      <p:sp>
        <p:nvSpPr>
          <p:cNvPr id="15" name="Shape 13"/>
          <p:cNvSpPr/>
          <p:nvPr/>
        </p:nvSpPr>
        <p:spPr>
          <a:xfrm>
            <a:off x="8449056" y="3383280"/>
            <a:ext cx="713232" cy="1426464"/>
          </a:xfrm>
          <a:prstGeom prst="line">
            <a:avLst/>
          </a:prstGeom>
          <a:noFill/>
          <a:ln w="12700">
            <a:solidFill>
              <a:srgbClr val="3A4E5B"/>
            </a:solidFill>
            <a:prstDash val="solid"/>
          </a:ln>
        </p:spPr>
      </p:sp>
      <p:sp>
        <p:nvSpPr>
          <p:cNvPr id="16" name="Shape 14"/>
          <p:cNvSpPr/>
          <p:nvPr/>
        </p:nvSpPr>
        <p:spPr>
          <a:xfrm flipV="1">
            <a:off x="8449056" y="1956816"/>
            <a:ext cx="713232" cy="2139696"/>
          </a:xfrm>
          <a:prstGeom prst="line">
            <a:avLst/>
          </a:prstGeom>
          <a:noFill/>
          <a:ln w="12700">
            <a:solidFill>
              <a:srgbClr val="3A4E5B"/>
            </a:solidFill>
            <a:prstDash val="solid"/>
          </a:ln>
        </p:spPr>
      </p:sp>
      <p:sp>
        <p:nvSpPr>
          <p:cNvPr id="17" name="Shape 15"/>
          <p:cNvSpPr/>
          <p:nvPr/>
        </p:nvSpPr>
        <p:spPr>
          <a:xfrm flipV="1">
            <a:off x="8449056" y="2670048"/>
            <a:ext cx="713232" cy="1426464"/>
          </a:xfrm>
          <a:prstGeom prst="line">
            <a:avLst/>
          </a:prstGeom>
          <a:noFill/>
          <a:ln w="12700">
            <a:solidFill>
              <a:srgbClr val="3A4E5B"/>
            </a:solidFill>
            <a:prstDash val="solid"/>
          </a:ln>
        </p:spPr>
      </p:sp>
      <p:sp>
        <p:nvSpPr>
          <p:cNvPr id="18" name="Shape 16"/>
          <p:cNvSpPr/>
          <p:nvPr/>
        </p:nvSpPr>
        <p:spPr>
          <a:xfrm flipV="1">
            <a:off x="8449056" y="3383280"/>
            <a:ext cx="713232" cy="713232"/>
          </a:xfrm>
          <a:prstGeom prst="line">
            <a:avLst/>
          </a:prstGeom>
          <a:noFill/>
          <a:ln w="12700">
            <a:solidFill>
              <a:srgbClr val="3A4E5B"/>
            </a:solidFill>
            <a:prstDash val="solid"/>
          </a:ln>
        </p:spPr>
      </p:sp>
      <p:sp>
        <p:nvSpPr>
          <p:cNvPr id="19" name="Shape 17"/>
          <p:cNvSpPr/>
          <p:nvPr/>
        </p:nvSpPr>
        <p:spPr>
          <a:xfrm>
            <a:off x="8449056" y="4096512"/>
            <a:ext cx="713232" cy="0"/>
          </a:xfrm>
          <a:prstGeom prst="line">
            <a:avLst/>
          </a:prstGeom>
          <a:noFill/>
          <a:ln w="12700">
            <a:solidFill>
              <a:srgbClr val="3A4E5B"/>
            </a:solidFill>
            <a:prstDash val="solid"/>
          </a:ln>
        </p:spPr>
      </p:sp>
      <p:sp>
        <p:nvSpPr>
          <p:cNvPr id="20" name="Shape 18"/>
          <p:cNvSpPr/>
          <p:nvPr/>
        </p:nvSpPr>
        <p:spPr>
          <a:xfrm>
            <a:off x="8449056" y="4096512"/>
            <a:ext cx="713232" cy="713232"/>
          </a:xfrm>
          <a:prstGeom prst="line">
            <a:avLst/>
          </a:prstGeom>
          <a:noFill/>
          <a:ln w="12700">
            <a:solidFill>
              <a:srgbClr val="3A4E5B"/>
            </a:solidFill>
            <a:prstDash val="solid"/>
          </a:ln>
        </p:spPr>
      </p:sp>
      <p:sp>
        <p:nvSpPr>
          <p:cNvPr id="21" name="Shape 19"/>
          <p:cNvSpPr/>
          <p:nvPr/>
        </p:nvSpPr>
        <p:spPr>
          <a:xfrm>
            <a:off x="9473184" y="1956816"/>
            <a:ext cx="713232" cy="0"/>
          </a:xfrm>
          <a:prstGeom prst="line">
            <a:avLst/>
          </a:prstGeom>
          <a:noFill/>
          <a:ln w="12700">
            <a:solidFill>
              <a:srgbClr val="3A4E5B"/>
            </a:solidFill>
            <a:prstDash val="solid"/>
          </a:ln>
        </p:spPr>
      </p:sp>
      <p:sp>
        <p:nvSpPr>
          <p:cNvPr id="22" name="Shape 20"/>
          <p:cNvSpPr/>
          <p:nvPr/>
        </p:nvSpPr>
        <p:spPr>
          <a:xfrm>
            <a:off x="9473184" y="1956816"/>
            <a:ext cx="713232" cy="713232"/>
          </a:xfrm>
          <a:prstGeom prst="line">
            <a:avLst/>
          </a:prstGeom>
          <a:noFill/>
          <a:ln w="12700">
            <a:solidFill>
              <a:srgbClr val="3A4E5B"/>
            </a:solidFill>
            <a:prstDash val="solid"/>
          </a:ln>
        </p:spPr>
      </p:sp>
      <p:sp>
        <p:nvSpPr>
          <p:cNvPr id="23" name="Shape 21"/>
          <p:cNvSpPr/>
          <p:nvPr/>
        </p:nvSpPr>
        <p:spPr>
          <a:xfrm>
            <a:off x="9473184" y="1956816"/>
            <a:ext cx="713232" cy="1426464"/>
          </a:xfrm>
          <a:prstGeom prst="line">
            <a:avLst/>
          </a:prstGeom>
          <a:noFill/>
          <a:ln w="12700">
            <a:solidFill>
              <a:srgbClr val="3A4E5B"/>
            </a:solidFill>
            <a:prstDash val="solid"/>
          </a:ln>
        </p:spPr>
      </p:sp>
      <p:sp>
        <p:nvSpPr>
          <p:cNvPr id="24" name="Shape 22"/>
          <p:cNvSpPr/>
          <p:nvPr/>
        </p:nvSpPr>
        <p:spPr>
          <a:xfrm>
            <a:off x="9473184" y="1956816"/>
            <a:ext cx="713232" cy="2139696"/>
          </a:xfrm>
          <a:prstGeom prst="line">
            <a:avLst/>
          </a:prstGeom>
          <a:noFill/>
          <a:ln w="12700">
            <a:solidFill>
              <a:srgbClr val="3A4E5B"/>
            </a:solidFill>
            <a:prstDash val="solid"/>
          </a:ln>
        </p:spPr>
      </p:sp>
      <p:sp>
        <p:nvSpPr>
          <p:cNvPr id="25" name="Shape 23"/>
          <p:cNvSpPr/>
          <p:nvPr/>
        </p:nvSpPr>
        <p:spPr>
          <a:xfrm>
            <a:off x="9473184" y="1956816"/>
            <a:ext cx="713232" cy="2852928"/>
          </a:xfrm>
          <a:prstGeom prst="line">
            <a:avLst/>
          </a:prstGeom>
          <a:noFill/>
          <a:ln w="12700">
            <a:solidFill>
              <a:srgbClr val="3A4E5B"/>
            </a:solidFill>
            <a:prstDash val="solid"/>
          </a:ln>
        </p:spPr>
      </p:sp>
      <p:sp>
        <p:nvSpPr>
          <p:cNvPr id="26" name="Shape 24"/>
          <p:cNvSpPr/>
          <p:nvPr/>
        </p:nvSpPr>
        <p:spPr>
          <a:xfrm flipV="1">
            <a:off x="9473184" y="1956816"/>
            <a:ext cx="713232" cy="713232"/>
          </a:xfrm>
          <a:prstGeom prst="line">
            <a:avLst/>
          </a:prstGeom>
          <a:noFill/>
          <a:ln w="12700">
            <a:solidFill>
              <a:srgbClr val="3A4E5B"/>
            </a:solidFill>
            <a:prstDash val="solid"/>
          </a:ln>
        </p:spPr>
      </p:sp>
      <p:sp>
        <p:nvSpPr>
          <p:cNvPr id="27" name="Shape 25"/>
          <p:cNvSpPr/>
          <p:nvPr/>
        </p:nvSpPr>
        <p:spPr>
          <a:xfrm>
            <a:off x="9473184" y="2670048"/>
            <a:ext cx="713232" cy="0"/>
          </a:xfrm>
          <a:prstGeom prst="line">
            <a:avLst/>
          </a:prstGeom>
          <a:noFill/>
          <a:ln w="31750">
            <a:solidFill>
              <a:srgbClr val="7CCFC6"/>
            </a:solidFill>
            <a:prstDash val="solid"/>
          </a:ln>
        </p:spPr>
      </p:sp>
      <p:sp>
        <p:nvSpPr>
          <p:cNvPr id="28" name="Shape 26"/>
          <p:cNvSpPr/>
          <p:nvPr/>
        </p:nvSpPr>
        <p:spPr>
          <a:xfrm>
            <a:off x="9473184" y="2670048"/>
            <a:ext cx="713232" cy="713232"/>
          </a:xfrm>
          <a:prstGeom prst="line">
            <a:avLst/>
          </a:prstGeom>
          <a:noFill/>
          <a:ln w="31750">
            <a:solidFill>
              <a:srgbClr val="7CCFC6"/>
            </a:solidFill>
            <a:prstDash val="solid"/>
          </a:ln>
        </p:spPr>
      </p:sp>
      <p:sp>
        <p:nvSpPr>
          <p:cNvPr id="29" name="Shape 27"/>
          <p:cNvSpPr/>
          <p:nvPr/>
        </p:nvSpPr>
        <p:spPr>
          <a:xfrm>
            <a:off x="9473184" y="2670048"/>
            <a:ext cx="713232" cy="1426464"/>
          </a:xfrm>
          <a:prstGeom prst="line">
            <a:avLst/>
          </a:prstGeom>
          <a:noFill/>
          <a:ln w="12700">
            <a:solidFill>
              <a:srgbClr val="3A4E5B"/>
            </a:solidFill>
            <a:prstDash val="solid"/>
          </a:ln>
        </p:spPr>
      </p:sp>
      <p:sp>
        <p:nvSpPr>
          <p:cNvPr id="30" name="Shape 28"/>
          <p:cNvSpPr/>
          <p:nvPr/>
        </p:nvSpPr>
        <p:spPr>
          <a:xfrm>
            <a:off x="9473184" y="2670048"/>
            <a:ext cx="713232" cy="2139696"/>
          </a:xfrm>
          <a:prstGeom prst="line">
            <a:avLst/>
          </a:prstGeom>
          <a:noFill/>
          <a:ln w="12700">
            <a:solidFill>
              <a:srgbClr val="3A4E5B"/>
            </a:solidFill>
            <a:prstDash val="solid"/>
          </a:ln>
        </p:spPr>
      </p:sp>
      <p:sp>
        <p:nvSpPr>
          <p:cNvPr id="31" name="Shape 29"/>
          <p:cNvSpPr/>
          <p:nvPr/>
        </p:nvSpPr>
        <p:spPr>
          <a:xfrm flipV="1">
            <a:off x="9473184" y="1956816"/>
            <a:ext cx="713232" cy="1426464"/>
          </a:xfrm>
          <a:prstGeom prst="line">
            <a:avLst/>
          </a:prstGeom>
          <a:noFill/>
          <a:ln w="12700">
            <a:solidFill>
              <a:srgbClr val="3A4E5B"/>
            </a:solidFill>
            <a:prstDash val="solid"/>
          </a:ln>
        </p:spPr>
      </p:sp>
      <p:sp>
        <p:nvSpPr>
          <p:cNvPr id="32" name="Shape 30"/>
          <p:cNvSpPr/>
          <p:nvPr/>
        </p:nvSpPr>
        <p:spPr>
          <a:xfrm flipV="1">
            <a:off x="9473184" y="2670048"/>
            <a:ext cx="713232" cy="713232"/>
          </a:xfrm>
          <a:prstGeom prst="line">
            <a:avLst/>
          </a:prstGeom>
          <a:noFill/>
          <a:ln w="12700">
            <a:solidFill>
              <a:srgbClr val="3A4E5B"/>
            </a:solidFill>
            <a:prstDash val="solid"/>
          </a:ln>
        </p:spPr>
      </p:sp>
      <p:sp>
        <p:nvSpPr>
          <p:cNvPr id="33" name="Shape 31"/>
          <p:cNvSpPr/>
          <p:nvPr/>
        </p:nvSpPr>
        <p:spPr>
          <a:xfrm>
            <a:off x="9473184" y="3383280"/>
            <a:ext cx="713232" cy="0"/>
          </a:xfrm>
          <a:prstGeom prst="line">
            <a:avLst/>
          </a:prstGeom>
          <a:noFill/>
          <a:ln w="12700">
            <a:solidFill>
              <a:srgbClr val="3A4E5B"/>
            </a:solidFill>
            <a:prstDash val="solid"/>
          </a:ln>
        </p:spPr>
      </p:sp>
      <p:sp>
        <p:nvSpPr>
          <p:cNvPr id="34" name="Shape 32"/>
          <p:cNvSpPr/>
          <p:nvPr/>
        </p:nvSpPr>
        <p:spPr>
          <a:xfrm>
            <a:off x="9473184" y="3383280"/>
            <a:ext cx="713232" cy="713232"/>
          </a:xfrm>
          <a:prstGeom prst="line">
            <a:avLst/>
          </a:prstGeom>
          <a:noFill/>
          <a:ln w="12700">
            <a:solidFill>
              <a:srgbClr val="3A4E5B"/>
            </a:solidFill>
            <a:prstDash val="solid"/>
          </a:ln>
        </p:spPr>
      </p:sp>
      <p:sp>
        <p:nvSpPr>
          <p:cNvPr id="35" name="Shape 33"/>
          <p:cNvSpPr/>
          <p:nvPr/>
        </p:nvSpPr>
        <p:spPr>
          <a:xfrm>
            <a:off x="9473184" y="3383280"/>
            <a:ext cx="713232" cy="1426464"/>
          </a:xfrm>
          <a:prstGeom prst="line">
            <a:avLst/>
          </a:prstGeom>
          <a:noFill/>
          <a:ln w="12700">
            <a:solidFill>
              <a:srgbClr val="3A4E5B"/>
            </a:solidFill>
            <a:prstDash val="solid"/>
          </a:ln>
        </p:spPr>
      </p:sp>
      <p:sp>
        <p:nvSpPr>
          <p:cNvPr id="36" name="Shape 34"/>
          <p:cNvSpPr/>
          <p:nvPr/>
        </p:nvSpPr>
        <p:spPr>
          <a:xfrm flipV="1">
            <a:off x="9473184" y="1956816"/>
            <a:ext cx="713232" cy="2139696"/>
          </a:xfrm>
          <a:prstGeom prst="line">
            <a:avLst/>
          </a:prstGeom>
          <a:noFill/>
          <a:ln w="12700">
            <a:solidFill>
              <a:srgbClr val="3A4E5B"/>
            </a:solidFill>
            <a:prstDash val="solid"/>
          </a:ln>
        </p:spPr>
      </p:sp>
      <p:sp>
        <p:nvSpPr>
          <p:cNvPr id="37" name="Shape 35"/>
          <p:cNvSpPr/>
          <p:nvPr/>
        </p:nvSpPr>
        <p:spPr>
          <a:xfrm flipV="1">
            <a:off x="9473184" y="2670048"/>
            <a:ext cx="713232" cy="1426464"/>
          </a:xfrm>
          <a:prstGeom prst="line">
            <a:avLst/>
          </a:prstGeom>
          <a:noFill/>
          <a:ln w="12700">
            <a:solidFill>
              <a:srgbClr val="3A4E5B"/>
            </a:solidFill>
            <a:prstDash val="solid"/>
          </a:ln>
        </p:spPr>
      </p:sp>
      <p:sp>
        <p:nvSpPr>
          <p:cNvPr id="38" name="Shape 36"/>
          <p:cNvSpPr/>
          <p:nvPr/>
        </p:nvSpPr>
        <p:spPr>
          <a:xfrm flipV="1">
            <a:off x="9473184" y="3383280"/>
            <a:ext cx="713232" cy="713232"/>
          </a:xfrm>
          <a:prstGeom prst="line">
            <a:avLst/>
          </a:prstGeom>
          <a:noFill/>
          <a:ln w="12700">
            <a:solidFill>
              <a:srgbClr val="3A4E5B"/>
            </a:solidFill>
            <a:prstDash val="solid"/>
          </a:ln>
        </p:spPr>
      </p:sp>
      <p:sp>
        <p:nvSpPr>
          <p:cNvPr id="39" name="Shape 37"/>
          <p:cNvSpPr/>
          <p:nvPr/>
        </p:nvSpPr>
        <p:spPr>
          <a:xfrm>
            <a:off x="9473184" y="4096512"/>
            <a:ext cx="713232" cy="0"/>
          </a:xfrm>
          <a:prstGeom prst="line">
            <a:avLst/>
          </a:prstGeom>
          <a:noFill/>
          <a:ln w="12700">
            <a:solidFill>
              <a:srgbClr val="3A4E5B"/>
            </a:solidFill>
            <a:prstDash val="solid"/>
          </a:ln>
        </p:spPr>
      </p:sp>
      <p:sp>
        <p:nvSpPr>
          <p:cNvPr id="40" name="Shape 38"/>
          <p:cNvSpPr/>
          <p:nvPr/>
        </p:nvSpPr>
        <p:spPr>
          <a:xfrm>
            <a:off x="9473184" y="4096512"/>
            <a:ext cx="713232" cy="713232"/>
          </a:xfrm>
          <a:prstGeom prst="line">
            <a:avLst/>
          </a:prstGeom>
          <a:noFill/>
          <a:ln w="12700">
            <a:solidFill>
              <a:srgbClr val="3A4E5B"/>
            </a:solidFill>
            <a:prstDash val="solid"/>
          </a:ln>
        </p:spPr>
      </p:sp>
      <p:sp>
        <p:nvSpPr>
          <p:cNvPr id="41" name="Shape 39"/>
          <p:cNvSpPr/>
          <p:nvPr/>
        </p:nvSpPr>
        <p:spPr>
          <a:xfrm flipV="1">
            <a:off x="9473184" y="1956816"/>
            <a:ext cx="713232" cy="2852928"/>
          </a:xfrm>
          <a:prstGeom prst="line">
            <a:avLst/>
          </a:prstGeom>
          <a:noFill/>
          <a:ln w="12700">
            <a:solidFill>
              <a:srgbClr val="3A4E5B"/>
            </a:solidFill>
            <a:prstDash val="solid"/>
          </a:ln>
        </p:spPr>
      </p:sp>
      <p:sp>
        <p:nvSpPr>
          <p:cNvPr id="42" name="Shape 40"/>
          <p:cNvSpPr/>
          <p:nvPr/>
        </p:nvSpPr>
        <p:spPr>
          <a:xfrm flipV="1">
            <a:off x="9473184" y="2670048"/>
            <a:ext cx="713232" cy="2139696"/>
          </a:xfrm>
          <a:prstGeom prst="line">
            <a:avLst/>
          </a:prstGeom>
          <a:noFill/>
          <a:ln w="12700">
            <a:solidFill>
              <a:srgbClr val="3A4E5B"/>
            </a:solidFill>
            <a:prstDash val="solid"/>
          </a:ln>
        </p:spPr>
      </p:sp>
      <p:sp>
        <p:nvSpPr>
          <p:cNvPr id="43" name="Shape 41"/>
          <p:cNvSpPr/>
          <p:nvPr/>
        </p:nvSpPr>
        <p:spPr>
          <a:xfrm flipV="1">
            <a:off x="9473184" y="3383280"/>
            <a:ext cx="713232" cy="1426464"/>
          </a:xfrm>
          <a:prstGeom prst="line">
            <a:avLst/>
          </a:prstGeom>
          <a:noFill/>
          <a:ln w="12700">
            <a:solidFill>
              <a:srgbClr val="3A4E5B"/>
            </a:solidFill>
            <a:prstDash val="solid"/>
          </a:ln>
        </p:spPr>
      </p:sp>
      <p:sp>
        <p:nvSpPr>
          <p:cNvPr id="44" name="Shape 42"/>
          <p:cNvSpPr/>
          <p:nvPr/>
        </p:nvSpPr>
        <p:spPr>
          <a:xfrm flipV="1">
            <a:off x="9473184" y="4096512"/>
            <a:ext cx="713232" cy="713232"/>
          </a:xfrm>
          <a:prstGeom prst="line">
            <a:avLst/>
          </a:prstGeom>
          <a:noFill/>
          <a:ln w="12700">
            <a:solidFill>
              <a:srgbClr val="3A4E5B"/>
            </a:solidFill>
            <a:prstDash val="solid"/>
          </a:ln>
        </p:spPr>
      </p:sp>
      <p:sp>
        <p:nvSpPr>
          <p:cNvPr id="45" name="Shape 43"/>
          <p:cNvSpPr/>
          <p:nvPr/>
        </p:nvSpPr>
        <p:spPr>
          <a:xfrm>
            <a:off x="9473184" y="4809744"/>
            <a:ext cx="713232" cy="0"/>
          </a:xfrm>
          <a:prstGeom prst="line">
            <a:avLst/>
          </a:prstGeom>
          <a:noFill/>
          <a:ln w="12700">
            <a:solidFill>
              <a:srgbClr val="3A4E5B"/>
            </a:solidFill>
            <a:prstDash val="solid"/>
          </a:ln>
        </p:spPr>
      </p:sp>
      <p:sp>
        <p:nvSpPr>
          <p:cNvPr id="46" name="Shape 44"/>
          <p:cNvSpPr/>
          <p:nvPr/>
        </p:nvSpPr>
        <p:spPr>
          <a:xfrm>
            <a:off x="10497312" y="1956816"/>
            <a:ext cx="713232" cy="1069848"/>
          </a:xfrm>
          <a:prstGeom prst="line">
            <a:avLst/>
          </a:prstGeom>
          <a:noFill/>
          <a:ln w="12700">
            <a:solidFill>
              <a:srgbClr val="3A4E5B"/>
            </a:solidFill>
            <a:prstDash val="solid"/>
          </a:ln>
        </p:spPr>
      </p:sp>
      <p:sp>
        <p:nvSpPr>
          <p:cNvPr id="47" name="Shape 45"/>
          <p:cNvSpPr/>
          <p:nvPr/>
        </p:nvSpPr>
        <p:spPr>
          <a:xfrm>
            <a:off x="10497312" y="1956816"/>
            <a:ext cx="713232" cy="1783080"/>
          </a:xfrm>
          <a:prstGeom prst="line">
            <a:avLst/>
          </a:prstGeom>
          <a:noFill/>
          <a:ln w="12700">
            <a:solidFill>
              <a:srgbClr val="3A4E5B"/>
            </a:solidFill>
            <a:prstDash val="solid"/>
          </a:ln>
        </p:spPr>
      </p:sp>
      <p:sp>
        <p:nvSpPr>
          <p:cNvPr id="48" name="Shape 46"/>
          <p:cNvSpPr/>
          <p:nvPr/>
        </p:nvSpPr>
        <p:spPr>
          <a:xfrm>
            <a:off x="10497312" y="2670048"/>
            <a:ext cx="713232" cy="356616"/>
          </a:xfrm>
          <a:prstGeom prst="line">
            <a:avLst/>
          </a:prstGeom>
          <a:noFill/>
          <a:ln w="12700">
            <a:solidFill>
              <a:srgbClr val="3A4E5B"/>
            </a:solidFill>
            <a:prstDash val="solid"/>
          </a:ln>
        </p:spPr>
      </p:sp>
      <p:sp>
        <p:nvSpPr>
          <p:cNvPr id="49" name="Shape 47"/>
          <p:cNvSpPr/>
          <p:nvPr/>
        </p:nvSpPr>
        <p:spPr>
          <a:xfrm>
            <a:off x="10497312" y="2670048"/>
            <a:ext cx="713232" cy="1069848"/>
          </a:xfrm>
          <a:prstGeom prst="line">
            <a:avLst/>
          </a:prstGeom>
          <a:noFill/>
          <a:ln w="12700">
            <a:solidFill>
              <a:srgbClr val="3A4E5B"/>
            </a:solidFill>
            <a:prstDash val="solid"/>
          </a:ln>
        </p:spPr>
      </p:sp>
      <p:sp>
        <p:nvSpPr>
          <p:cNvPr id="50" name="Shape 48"/>
          <p:cNvSpPr/>
          <p:nvPr/>
        </p:nvSpPr>
        <p:spPr>
          <a:xfrm flipV="1">
            <a:off x="10497312" y="3026664"/>
            <a:ext cx="713232" cy="356616"/>
          </a:xfrm>
          <a:prstGeom prst="line">
            <a:avLst/>
          </a:prstGeom>
          <a:noFill/>
          <a:ln w="31750">
            <a:solidFill>
              <a:srgbClr val="7CCFC6"/>
            </a:solidFill>
            <a:prstDash val="solid"/>
          </a:ln>
        </p:spPr>
      </p:sp>
      <p:sp>
        <p:nvSpPr>
          <p:cNvPr id="51" name="Shape 49"/>
          <p:cNvSpPr/>
          <p:nvPr/>
        </p:nvSpPr>
        <p:spPr>
          <a:xfrm>
            <a:off x="10497312" y="3383280"/>
            <a:ext cx="713232" cy="356616"/>
          </a:xfrm>
          <a:prstGeom prst="line">
            <a:avLst/>
          </a:prstGeom>
          <a:noFill/>
          <a:ln w="12700">
            <a:solidFill>
              <a:srgbClr val="3A4E5B"/>
            </a:solidFill>
            <a:prstDash val="solid"/>
          </a:ln>
        </p:spPr>
      </p:sp>
      <p:sp>
        <p:nvSpPr>
          <p:cNvPr id="52" name="Shape 50"/>
          <p:cNvSpPr/>
          <p:nvPr/>
        </p:nvSpPr>
        <p:spPr>
          <a:xfrm flipV="1">
            <a:off x="10497312" y="3026664"/>
            <a:ext cx="713232" cy="1069848"/>
          </a:xfrm>
          <a:prstGeom prst="line">
            <a:avLst/>
          </a:prstGeom>
          <a:noFill/>
          <a:ln w="12700">
            <a:solidFill>
              <a:srgbClr val="3A4E5B"/>
            </a:solidFill>
            <a:prstDash val="solid"/>
          </a:ln>
        </p:spPr>
      </p:sp>
      <p:sp>
        <p:nvSpPr>
          <p:cNvPr id="53" name="Shape 51"/>
          <p:cNvSpPr/>
          <p:nvPr/>
        </p:nvSpPr>
        <p:spPr>
          <a:xfrm flipV="1">
            <a:off x="10497312" y="3739896"/>
            <a:ext cx="713232" cy="356616"/>
          </a:xfrm>
          <a:prstGeom prst="line">
            <a:avLst/>
          </a:prstGeom>
          <a:noFill/>
          <a:ln w="12700">
            <a:solidFill>
              <a:srgbClr val="3A4E5B"/>
            </a:solidFill>
            <a:prstDash val="solid"/>
          </a:ln>
        </p:spPr>
      </p:sp>
      <p:sp>
        <p:nvSpPr>
          <p:cNvPr id="54" name="Shape 52"/>
          <p:cNvSpPr/>
          <p:nvPr/>
        </p:nvSpPr>
        <p:spPr>
          <a:xfrm flipV="1">
            <a:off x="10497312" y="3026664"/>
            <a:ext cx="713232" cy="1783080"/>
          </a:xfrm>
          <a:prstGeom prst="line">
            <a:avLst/>
          </a:prstGeom>
          <a:noFill/>
          <a:ln w="12700">
            <a:solidFill>
              <a:srgbClr val="3A4E5B"/>
            </a:solidFill>
            <a:prstDash val="solid"/>
          </a:ln>
        </p:spPr>
      </p:sp>
      <p:sp>
        <p:nvSpPr>
          <p:cNvPr id="55" name="Shape 53"/>
          <p:cNvSpPr/>
          <p:nvPr/>
        </p:nvSpPr>
        <p:spPr>
          <a:xfrm flipV="1">
            <a:off x="10497312" y="3739896"/>
            <a:ext cx="713232" cy="1069848"/>
          </a:xfrm>
          <a:prstGeom prst="line">
            <a:avLst/>
          </a:prstGeom>
          <a:noFill/>
          <a:ln w="12700">
            <a:solidFill>
              <a:srgbClr val="3A4E5B"/>
            </a:solidFill>
            <a:prstDash val="solid"/>
          </a:ln>
        </p:spPr>
      </p:sp>
      <p:sp>
        <p:nvSpPr>
          <p:cNvPr id="56" name="Shape 54"/>
          <p:cNvSpPr/>
          <p:nvPr/>
        </p:nvSpPr>
        <p:spPr>
          <a:xfrm flipH="1">
            <a:off x="10497312" y="3739896"/>
            <a:ext cx="713232" cy="356616"/>
          </a:xfrm>
          <a:prstGeom prst="line">
            <a:avLst/>
          </a:prstGeom>
          <a:noFill/>
          <a:ln w="31750">
            <a:solidFill>
              <a:srgbClr val="D45D27"/>
            </a:solidFill>
            <a:prstDash val="solid"/>
          </a:ln>
        </p:spPr>
      </p:sp>
      <p:sp>
        <p:nvSpPr>
          <p:cNvPr id="57" name="Shape 55"/>
          <p:cNvSpPr/>
          <p:nvPr/>
        </p:nvSpPr>
        <p:spPr>
          <a:xfrm flipH="1">
            <a:off x="9473184" y="4096512"/>
            <a:ext cx="713232" cy="0"/>
          </a:xfrm>
          <a:prstGeom prst="line">
            <a:avLst/>
          </a:prstGeom>
          <a:noFill/>
          <a:ln w="31750">
            <a:solidFill>
              <a:srgbClr val="D45D27"/>
            </a:solidFill>
            <a:prstDash val="solid"/>
          </a:ln>
        </p:spPr>
      </p:sp>
      <p:sp>
        <p:nvSpPr>
          <p:cNvPr id="58" name="Shape 56"/>
          <p:cNvSpPr/>
          <p:nvPr/>
        </p:nvSpPr>
        <p:spPr>
          <a:xfrm>
            <a:off x="8138160" y="2514600"/>
            <a:ext cx="310896" cy="310896"/>
          </a:xfrm>
          <a:prstGeom prst="ellipse">
            <a:avLst/>
          </a:prstGeom>
          <a:solidFill>
            <a:srgbClr val="1F3440"/>
          </a:solidFill>
          <a:ln w="19050">
            <a:solidFill>
              <a:srgbClr val="7CCFC6"/>
            </a:solidFill>
            <a:prstDash val="solid"/>
          </a:ln>
        </p:spPr>
      </p:sp>
      <p:sp>
        <p:nvSpPr>
          <p:cNvPr id="59" name="Shape 57"/>
          <p:cNvSpPr/>
          <p:nvPr/>
        </p:nvSpPr>
        <p:spPr>
          <a:xfrm>
            <a:off x="8138160" y="3227832"/>
            <a:ext cx="310896" cy="310896"/>
          </a:xfrm>
          <a:prstGeom prst="ellipse">
            <a:avLst/>
          </a:prstGeom>
          <a:solidFill>
            <a:srgbClr val="1F3440"/>
          </a:solidFill>
          <a:ln w="19050">
            <a:solidFill>
              <a:srgbClr val="7CCFC6"/>
            </a:solidFill>
            <a:prstDash val="solid"/>
          </a:ln>
        </p:spPr>
      </p:sp>
      <p:sp>
        <p:nvSpPr>
          <p:cNvPr id="60" name="Shape 58"/>
          <p:cNvSpPr/>
          <p:nvPr/>
        </p:nvSpPr>
        <p:spPr>
          <a:xfrm>
            <a:off x="8138160" y="3941064"/>
            <a:ext cx="310896" cy="310896"/>
          </a:xfrm>
          <a:prstGeom prst="ellipse">
            <a:avLst/>
          </a:prstGeom>
          <a:solidFill>
            <a:srgbClr val="1F3440"/>
          </a:solidFill>
          <a:ln w="19050">
            <a:solidFill>
              <a:srgbClr val="7CCFC6"/>
            </a:solidFill>
            <a:prstDash val="solid"/>
          </a:ln>
        </p:spPr>
      </p:sp>
      <p:sp>
        <p:nvSpPr>
          <p:cNvPr id="61" name="Shape 59"/>
          <p:cNvSpPr/>
          <p:nvPr/>
        </p:nvSpPr>
        <p:spPr>
          <a:xfrm>
            <a:off x="9162288" y="1801368"/>
            <a:ext cx="310896" cy="310896"/>
          </a:xfrm>
          <a:prstGeom prst="ellipse">
            <a:avLst/>
          </a:prstGeom>
          <a:solidFill>
            <a:srgbClr val="1F3440"/>
          </a:solidFill>
          <a:ln w="19050">
            <a:solidFill>
              <a:srgbClr val="7CCFC6"/>
            </a:solidFill>
            <a:prstDash val="solid"/>
          </a:ln>
        </p:spPr>
      </p:sp>
      <p:sp>
        <p:nvSpPr>
          <p:cNvPr id="62" name="Shape 60"/>
          <p:cNvSpPr/>
          <p:nvPr/>
        </p:nvSpPr>
        <p:spPr>
          <a:xfrm>
            <a:off x="9162288" y="2514600"/>
            <a:ext cx="310896" cy="310896"/>
          </a:xfrm>
          <a:prstGeom prst="ellipse">
            <a:avLst/>
          </a:prstGeom>
          <a:solidFill>
            <a:srgbClr val="1F3440"/>
          </a:solidFill>
          <a:ln w="19050">
            <a:solidFill>
              <a:srgbClr val="7CCFC6"/>
            </a:solidFill>
            <a:prstDash val="solid"/>
          </a:ln>
        </p:spPr>
      </p:sp>
      <p:sp>
        <p:nvSpPr>
          <p:cNvPr id="63" name="Shape 61"/>
          <p:cNvSpPr/>
          <p:nvPr/>
        </p:nvSpPr>
        <p:spPr>
          <a:xfrm>
            <a:off x="9162288" y="3227832"/>
            <a:ext cx="310896" cy="310896"/>
          </a:xfrm>
          <a:prstGeom prst="ellipse">
            <a:avLst/>
          </a:prstGeom>
          <a:solidFill>
            <a:srgbClr val="1F3440"/>
          </a:solidFill>
          <a:ln w="19050">
            <a:solidFill>
              <a:srgbClr val="7CCFC6"/>
            </a:solidFill>
            <a:prstDash val="solid"/>
          </a:ln>
        </p:spPr>
      </p:sp>
      <p:sp>
        <p:nvSpPr>
          <p:cNvPr id="64" name="Shape 62"/>
          <p:cNvSpPr/>
          <p:nvPr/>
        </p:nvSpPr>
        <p:spPr>
          <a:xfrm>
            <a:off x="9162288" y="3941064"/>
            <a:ext cx="310896" cy="310896"/>
          </a:xfrm>
          <a:prstGeom prst="ellipse">
            <a:avLst/>
          </a:prstGeom>
          <a:solidFill>
            <a:srgbClr val="1F3440"/>
          </a:solidFill>
          <a:ln w="19050">
            <a:solidFill>
              <a:srgbClr val="7CCFC6"/>
            </a:solidFill>
            <a:prstDash val="solid"/>
          </a:ln>
        </p:spPr>
      </p:sp>
      <p:sp>
        <p:nvSpPr>
          <p:cNvPr id="65" name="Shape 63"/>
          <p:cNvSpPr/>
          <p:nvPr/>
        </p:nvSpPr>
        <p:spPr>
          <a:xfrm>
            <a:off x="9162288" y="4654296"/>
            <a:ext cx="310896" cy="310896"/>
          </a:xfrm>
          <a:prstGeom prst="ellipse">
            <a:avLst/>
          </a:prstGeom>
          <a:solidFill>
            <a:srgbClr val="1F3440"/>
          </a:solidFill>
          <a:ln w="19050">
            <a:solidFill>
              <a:srgbClr val="7CCFC6"/>
            </a:solidFill>
            <a:prstDash val="solid"/>
          </a:ln>
        </p:spPr>
      </p:sp>
      <p:sp>
        <p:nvSpPr>
          <p:cNvPr id="66" name="Shape 64"/>
          <p:cNvSpPr/>
          <p:nvPr/>
        </p:nvSpPr>
        <p:spPr>
          <a:xfrm>
            <a:off x="10186416" y="1801368"/>
            <a:ext cx="310896" cy="310896"/>
          </a:xfrm>
          <a:prstGeom prst="ellipse">
            <a:avLst/>
          </a:prstGeom>
          <a:solidFill>
            <a:srgbClr val="1F3440"/>
          </a:solidFill>
          <a:ln w="19050">
            <a:solidFill>
              <a:srgbClr val="7CCFC6"/>
            </a:solidFill>
            <a:prstDash val="solid"/>
          </a:ln>
        </p:spPr>
      </p:sp>
      <p:sp>
        <p:nvSpPr>
          <p:cNvPr id="67" name="Shape 65"/>
          <p:cNvSpPr/>
          <p:nvPr/>
        </p:nvSpPr>
        <p:spPr>
          <a:xfrm>
            <a:off x="10186416" y="2514600"/>
            <a:ext cx="310896" cy="310896"/>
          </a:xfrm>
          <a:prstGeom prst="ellipse">
            <a:avLst/>
          </a:prstGeom>
          <a:solidFill>
            <a:srgbClr val="1F3440"/>
          </a:solidFill>
          <a:ln w="19050">
            <a:solidFill>
              <a:srgbClr val="7CCFC6"/>
            </a:solidFill>
            <a:prstDash val="solid"/>
          </a:ln>
        </p:spPr>
      </p:sp>
      <p:sp>
        <p:nvSpPr>
          <p:cNvPr id="68" name="Shape 66"/>
          <p:cNvSpPr/>
          <p:nvPr/>
        </p:nvSpPr>
        <p:spPr>
          <a:xfrm>
            <a:off x="10186416" y="3227832"/>
            <a:ext cx="310896" cy="310896"/>
          </a:xfrm>
          <a:prstGeom prst="ellipse">
            <a:avLst/>
          </a:prstGeom>
          <a:solidFill>
            <a:srgbClr val="1F3440"/>
          </a:solidFill>
          <a:ln w="19050">
            <a:solidFill>
              <a:srgbClr val="7CCFC6"/>
            </a:solidFill>
            <a:prstDash val="solid"/>
          </a:ln>
        </p:spPr>
      </p:sp>
      <p:sp>
        <p:nvSpPr>
          <p:cNvPr id="69" name="Shape 67"/>
          <p:cNvSpPr/>
          <p:nvPr/>
        </p:nvSpPr>
        <p:spPr>
          <a:xfrm>
            <a:off x="10186416" y="3941064"/>
            <a:ext cx="310896" cy="310896"/>
          </a:xfrm>
          <a:prstGeom prst="ellipse">
            <a:avLst/>
          </a:prstGeom>
          <a:solidFill>
            <a:srgbClr val="1F3440"/>
          </a:solidFill>
          <a:ln w="19050">
            <a:solidFill>
              <a:srgbClr val="7CCFC6"/>
            </a:solidFill>
            <a:prstDash val="solid"/>
          </a:ln>
        </p:spPr>
      </p:sp>
      <p:sp>
        <p:nvSpPr>
          <p:cNvPr id="70" name="Shape 68"/>
          <p:cNvSpPr/>
          <p:nvPr/>
        </p:nvSpPr>
        <p:spPr>
          <a:xfrm>
            <a:off x="10186416" y="4654296"/>
            <a:ext cx="310896" cy="310896"/>
          </a:xfrm>
          <a:prstGeom prst="ellipse">
            <a:avLst/>
          </a:prstGeom>
          <a:solidFill>
            <a:srgbClr val="1F3440"/>
          </a:solidFill>
          <a:ln w="19050">
            <a:solidFill>
              <a:srgbClr val="7CCFC6"/>
            </a:solidFill>
            <a:prstDash val="solid"/>
          </a:ln>
        </p:spPr>
      </p:sp>
      <p:sp>
        <p:nvSpPr>
          <p:cNvPr id="71" name="Shape 69"/>
          <p:cNvSpPr/>
          <p:nvPr/>
        </p:nvSpPr>
        <p:spPr>
          <a:xfrm>
            <a:off x="11210544" y="2871216"/>
            <a:ext cx="310896" cy="310896"/>
          </a:xfrm>
          <a:prstGeom prst="ellipse">
            <a:avLst/>
          </a:prstGeom>
          <a:solidFill>
            <a:srgbClr val="1F3440"/>
          </a:solidFill>
          <a:ln w="19050">
            <a:solidFill>
              <a:srgbClr val="7CCFC6"/>
            </a:solidFill>
            <a:prstDash val="solid"/>
          </a:ln>
        </p:spPr>
      </p:sp>
      <p:sp>
        <p:nvSpPr>
          <p:cNvPr id="72" name="Shape 70"/>
          <p:cNvSpPr/>
          <p:nvPr/>
        </p:nvSpPr>
        <p:spPr>
          <a:xfrm>
            <a:off x="11210544" y="3584448"/>
            <a:ext cx="310896" cy="310896"/>
          </a:xfrm>
          <a:prstGeom prst="ellipse">
            <a:avLst/>
          </a:prstGeom>
          <a:solidFill>
            <a:srgbClr val="1F3440"/>
          </a:solidFill>
          <a:ln w="19050">
            <a:solidFill>
              <a:srgbClr val="7CCFC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1 · ROADMAP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Today: four ideas that build the forward pass</a:t>
            </a:r>
            <a:endParaRPr lang="en-US" sz="3000" dirty="0"/>
          </a:p>
        </p:txBody>
      </p:sp>
      <p:sp>
        <p:nvSpPr>
          <p:cNvPr id="5" name="Shape 2"/>
          <p:cNvSpPr/>
          <p:nvPr/>
        </p:nvSpPr>
        <p:spPr>
          <a:xfrm>
            <a:off x="822960" y="1920240"/>
            <a:ext cx="0" cy="3346704"/>
          </a:xfrm>
          <a:prstGeom prst="line">
            <a:avLst/>
          </a:prstGeom>
          <a:noFill/>
          <a:ln w="25400">
            <a:solidFill>
              <a:schemeClr val="accent1">
                <a:alpha val="50000"/>
              </a:schemeClr>
            </a:solidFill>
            <a:prstDash val="solid"/>
          </a:ln>
        </p:spPr>
      </p:sp>
      <p:sp>
        <p:nvSpPr>
          <p:cNvPr id="6" name="Shape 3"/>
          <p:cNvSpPr/>
          <p:nvPr/>
        </p:nvSpPr>
        <p:spPr>
          <a:xfrm>
            <a:off x="548640" y="1645920"/>
            <a:ext cx="548640" cy="548640"/>
          </a:xfrm>
          <a:prstGeom prst="ellipse">
            <a:avLst/>
          </a:prstGeom>
          <a:solidFill>
            <a:schemeClr val="accent1"/>
          </a:solidFill>
          <a:ln w="25400">
            <a:solidFill>
              <a:schemeClr val="bg1"/>
            </a:solidFill>
            <a:prstDash val="solid"/>
          </a:ln>
        </p:spPr>
      </p:sp>
      <p:sp>
        <p:nvSpPr>
          <p:cNvPr id="7" name="Text 4"/>
          <p:cNvSpPr txBox="1"/>
          <p:nvPr/>
        </p:nvSpPr>
        <p:spPr>
          <a:xfrm>
            <a:off x="548640" y="16459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1325880" y="1682496"/>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Why we needed neural networks</a:t>
            </a:r>
            <a:endParaRPr lang="en-US" sz="1900" dirty="0"/>
          </a:p>
        </p:txBody>
      </p:sp>
      <p:sp>
        <p:nvSpPr>
          <p:cNvPr id="9" name="Text 6"/>
          <p:cNvSpPr txBox="1"/>
          <p:nvPr/>
        </p:nvSpPr>
        <p:spPr>
          <a:xfrm>
            <a:off x="1325880" y="1985518"/>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Prove no linear classifier solves XOR; solve it with two ReLU units.</a:t>
            </a:r>
            <a:endParaRPr lang="en-US" sz="1600" dirty="0"/>
          </a:p>
        </p:txBody>
      </p:sp>
      <p:sp>
        <p:nvSpPr>
          <p:cNvPr id="10" name="Shape 7"/>
          <p:cNvSpPr/>
          <p:nvPr/>
        </p:nvSpPr>
        <p:spPr>
          <a:xfrm>
            <a:off x="548640" y="2761488"/>
            <a:ext cx="548640" cy="548640"/>
          </a:xfrm>
          <a:prstGeom prst="ellipse">
            <a:avLst/>
          </a:prstGeom>
          <a:solidFill>
            <a:schemeClr val="accent1"/>
          </a:solidFill>
          <a:ln w="25400">
            <a:solidFill>
              <a:schemeClr val="bg1"/>
            </a:solidFill>
            <a:prstDash val="solid"/>
          </a:ln>
        </p:spPr>
      </p:sp>
      <p:sp>
        <p:nvSpPr>
          <p:cNvPr id="11" name="Text 8"/>
          <p:cNvSpPr txBox="1"/>
          <p:nvPr/>
        </p:nvSpPr>
        <p:spPr>
          <a:xfrm>
            <a:off x="548640" y="2761488"/>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9"/>
          <p:cNvSpPr txBox="1"/>
          <p:nvPr/>
        </p:nvSpPr>
        <p:spPr>
          <a:xfrm>
            <a:off x="1325880" y="2798064"/>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artificial neuron</a:t>
            </a:r>
            <a:endParaRPr lang="en-US" sz="1900" dirty="0"/>
          </a:p>
        </p:txBody>
      </p:sp>
      <p:sp>
        <p:nvSpPr>
          <p:cNvPr id="13" name="Text 10"/>
          <p:cNvSpPr txBox="1"/>
          <p:nvPr/>
        </p:nvSpPr>
        <p:spPr>
          <a:xfrm>
            <a:off x="1325880" y="3101086"/>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Read wᵀx + b geometrically: orientation, offset, signed distance.</a:t>
            </a:r>
            <a:endParaRPr lang="en-US" sz="1600" dirty="0"/>
          </a:p>
        </p:txBody>
      </p:sp>
      <p:sp>
        <p:nvSpPr>
          <p:cNvPr id="14" name="Shape 11"/>
          <p:cNvSpPr/>
          <p:nvPr/>
        </p:nvSpPr>
        <p:spPr>
          <a:xfrm>
            <a:off x="548640" y="3877056"/>
            <a:ext cx="548640" cy="548640"/>
          </a:xfrm>
          <a:prstGeom prst="ellipse">
            <a:avLst/>
          </a:prstGeom>
          <a:solidFill>
            <a:schemeClr val="accent1"/>
          </a:solidFill>
          <a:ln w="25400">
            <a:solidFill>
              <a:schemeClr val="bg1"/>
            </a:solidFill>
            <a:prstDash val="solid"/>
          </a:ln>
        </p:spPr>
      </p:sp>
      <p:sp>
        <p:nvSpPr>
          <p:cNvPr id="15" name="Text 12"/>
          <p:cNvSpPr txBox="1"/>
          <p:nvPr/>
        </p:nvSpPr>
        <p:spPr>
          <a:xfrm>
            <a:off x="548640" y="3877056"/>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3"/>
          <p:cNvSpPr txBox="1"/>
          <p:nvPr/>
        </p:nvSpPr>
        <p:spPr>
          <a:xfrm>
            <a:off x="1325880" y="3913632"/>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Activation functions</a:t>
            </a:r>
            <a:endParaRPr lang="en-US" sz="1900" dirty="0"/>
          </a:p>
        </p:txBody>
      </p:sp>
      <p:sp>
        <p:nvSpPr>
          <p:cNvPr id="17" name="Text 14"/>
          <p:cNvSpPr txBox="1"/>
          <p:nvPr/>
        </p:nvSpPr>
        <p:spPr>
          <a:xfrm>
            <a:off x="1325880" y="4216654"/>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Show linear stacks collapse; choose an activation for each layer role.</a:t>
            </a:r>
            <a:endParaRPr lang="en-US" sz="1600" dirty="0"/>
          </a:p>
        </p:txBody>
      </p:sp>
      <p:sp>
        <p:nvSpPr>
          <p:cNvPr id="18" name="Shape 15"/>
          <p:cNvSpPr/>
          <p:nvPr/>
        </p:nvSpPr>
        <p:spPr>
          <a:xfrm>
            <a:off x="548640" y="4992624"/>
            <a:ext cx="548640" cy="548640"/>
          </a:xfrm>
          <a:prstGeom prst="ellipse">
            <a:avLst/>
          </a:prstGeom>
          <a:solidFill>
            <a:schemeClr val="accent1"/>
          </a:solidFill>
          <a:ln w="25400">
            <a:solidFill>
              <a:schemeClr val="bg1"/>
            </a:solidFill>
            <a:prstDash val="solid"/>
          </a:ln>
        </p:spPr>
      </p:sp>
      <p:sp>
        <p:nvSpPr>
          <p:cNvPr id="19" name="Text 16"/>
          <p:cNvSpPr txBox="1"/>
          <p:nvPr/>
        </p:nvSpPr>
        <p:spPr>
          <a:xfrm>
            <a:off x="548640" y="4992624"/>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Text 17"/>
          <p:cNvSpPr txBox="1"/>
          <p:nvPr/>
        </p:nvSpPr>
        <p:spPr>
          <a:xfrm>
            <a:off x="1325880" y="5029200"/>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MLP forward pass</a:t>
            </a:r>
            <a:endParaRPr lang="en-US" sz="1900" dirty="0"/>
          </a:p>
        </p:txBody>
      </p:sp>
      <p:sp>
        <p:nvSpPr>
          <p:cNvPr id="21" name="Text 18"/>
          <p:cNvSpPr txBox="1"/>
          <p:nvPr/>
        </p:nvSpPr>
        <p:spPr>
          <a:xfrm>
            <a:off x="1325880" y="5332222"/>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Write the forward pass with correct shapes; state the approximation theorem honestly.</a:t>
            </a:r>
            <a:endParaRPr lang="en-US" sz="1600" dirty="0"/>
          </a:p>
        </p:txBody>
      </p:sp>
      <p:sp>
        <p:nvSpPr>
          <p:cNvPr id="22" name="Shape 19"/>
          <p:cNvSpPr/>
          <p:nvPr/>
        </p:nvSpPr>
        <p:spPr>
          <a:xfrm>
            <a:off x="7818120" y="1645920"/>
            <a:ext cx="3822192" cy="4343400"/>
          </a:xfrm>
          <a:prstGeom prst="roundRect">
            <a:avLst>
              <a:gd name="adj" fmla="val 1914"/>
            </a:avLst>
          </a:prstGeom>
          <a:solidFill>
            <a:schemeClr val="bg2"/>
          </a:solidFill>
          <a:ln w="12700">
            <a:solidFill>
              <a:schemeClr val="bg2"/>
            </a:solidFill>
            <a:prstDash val="solid"/>
          </a:ln>
        </p:spPr>
      </p:sp>
      <p:sp>
        <p:nvSpPr>
          <p:cNvPr id="23" name="Text 20"/>
          <p:cNvSpPr txBox="1"/>
          <p:nvPr/>
        </p:nvSpPr>
        <p:spPr>
          <a:xfrm>
            <a:off x="8019288" y="1847088"/>
            <a:ext cx="34198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You should already know</a:t>
            </a:r>
            <a:endParaRPr lang="en-US" sz="1900" dirty="0"/>
          </a:p>
        </p:txBody>
      </p:sp>
      <p:sp>
        <p:nvSpPr>
          <p:cNvPr id="24" name="Text 21"/>
          <p:cNvSpPr txBox="1"/>
          <p:nvPr/>
        </p:nvSpPr>
        <p:spPr>
          <a:xfrm>
            <a:off x="8019288" y="2204974"/>
            <a:ext cx="3419856" cy="3583178"/>
          </a:xfrm>
          <a:prstGeom prst="rect">
            <a:avLst/>
          </a:prstGeom>
          <a:noFill/>
          <a:ln/>
        </p:spPr>
        <p:txBody>
          <a:bodyPr wrap="square" lIns="0" tIns="0" rIns="0" bIns="0" rtlCol="0" anchor="t"/>
          <a:lstStyle/>
          <a:p>
            <a:pPr algn="l" indent="0" marL="0">
              <a:lnSpc>
                <a:spcPct val="105000"/>
              </a:lnSpc>
              <a:spcAft>
                <a:spcPts val="600"/>
              </a:spcAft>
              <a:buNone/>
            </a:pPr>
            <a:r>
              <a:rPr lang="en-US" sz="1600" b="1" dirty="0">
                <a:solidFill>
                  <a:schemeClr val="tx1"/>
                </a:solidFill>
              </a:rPr>
              <a:t>Linear algebra:</a:t>
            </a:r>
            <a:r>
              <a:rPr lang="en-US" sz="1600" dirty="0">
                <a:solidFill>
                  <a:schemeClr val="tx1"/>
                </a:solidFill>
              </a:rPr>
              <a:t> matrix–vector products, transpose, dot products.</a:t>
            </a:r>
            <a:endParaRPr lang="en-US" sz="1600" dirty="0"/>
          </a:p>
          <a:p>
            <a:pPr algn="l" indent="0" marL="0">
              <a:lnSpc>
                <a:spcPct val="105000"/>
              </a:lnSpc>
              <a:spcAft>
                <a:spcPts val="600"/>
              </a:spcAft>
              <a:buNone/>
            </a:pPr>
            <a:r>
              <a:rPr lang="en-US" sz="1600" b="1" dirty="0">
                <a:solidFill>
                  <a:schemeClr val="tx1"/>
                </a:solidFill>
              </a:rPr>
              <a:t>Calculus:</a:t>
            </a:r>
            <a:r>
              <a:rPr lang="en-US" sz="1600" dirty="0">
                <a:solidFill>
                  <a:schemeClr val="tx1"/>
                </a:solidFill>
              </a:rPr>
              <a:t> partial derivatives and the chain rule.</a:t>
            </a:r>
            <a:endParaRPr lang="en-US" sz="1600" dirty="0"/>
          </a:p>
          <a:p>
            <a:pPr algn="l" indent="0" marL="0">
              <a:lnSpc>
                <a:spcPct val="105000"/>
              </a:lnSpc>
              <a:spcAft>
                <a:spcPts val="600"/>
              </a:spcAft>
              <a:buNone/>
            </a:pPr>
            <a:r>
              <a:rPr lang="en-US" sz="1600" b="1" dirty="0">
                <a:solidFill>
                  <a:schemeClr val="tx1"/>
                </a:solidFill>
              </a:rPr>
              <a:t>Probability:</a:t>
            </a:r>
            <a:r>
              <a:rPr lang="en-US" sz="1600" dirty="0">
                <a:solidFill>
                  <a:schemeClr val="tx1"/>
                </a:solidFill>
              </a:rPr>
              <a:t> expectation, variance, the Gaussian, likelihood.</a:t>
            </a:r>
            <a:endParaRPr lang="en-US" sz="1600" dirty="0"/>
          </a:p>
          <a:p>
            <a:pPr algn="l" indent="0" marL="0">
              <a:lnSpc>
                <a:spcPct val="105000"/>
              </a:lnSpc>
              <a:spcAft>
                <a:spcPts val="600"/>
              </a:spcAft>
              <a:buNone/>
            </a:pPr>
            <a:r>
              <a:rPr lang="en-US" sz="1600" b="1" dirty="0">
                <a:solidFill>
                  <a:schemeClr val="tx1"/>
                </a:solidFill>
              </a:rPr>
              <a:t>ML basics:</a:t>
            </a:r>
            <a:r>
              <a:rPr lang="en-US" sz="1600" dirty="0">
                <a:solidFill>
                  <a:schemeClr val="tx1"/>
                </a:solidFill>
              </a:rPr>
              <a:t> linear and logistic regression, train/validation/test splits.</a:t>
            </a:r>
            <a:endParaRPr lang="en-US" sz="1600" dirty="0"/>
          </a:p>
          <a:p>
            <a:pPr algn="l" indent="0" marL="0">
              <a:lnSpc>
                <a:spcPct val="105000"/>
              </a:lnSpc>
              <a:buNone/>
            </a:pPr>
            <a:r>
              <a:rPr lang="en-US" sz="1600" b="1" dirty="0">
                <a:solidFill>
                  <a:schemeClr val="tx1"/>
                </a:solidFill>
              </a:rPr>
              <a:t>Python</a:t>
            </a:r>
            <a:r>
              <a:rPr lang="en-US" sz="1600" dirty="0">
                <a:solidFill>
                  <a:schemeClr val="tx1"/>
                </a:solidFill>
              </a:rPr>
              <a:t> with NumPy.</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1 · NOTATION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Notation: square brackets for layers, round for examples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1828800"/>
                <a:gridCol w="4754880"/>
              </a:tblGrid>
              <a:tr h="384048">
                <a:tc>
                  <a:txBody>
                    <a:bodyPr/>
                    <a:lstStyle/>
                    <a:p>
                      <a:pPr indent="0" marL="0">
                        <a:buNone/>
                      </a:pPr>
                      <a:r>
                        <a:rPr lang="en-US" sz="1600" b="1" dirty="0">
                          <a:solidFill>
                            <a:schemeClr val="bg1"/>
                          </a:solidFill>
                        </a:rPr>
                        <a:t>Symbol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Meaning</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x, y</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Scalars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𝐱, 𝐲</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Column vectors (bold lowercase)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𝐖, 𝐗</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Matrices (bold uppercase)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x⁽ⁱ⁾</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The i-th training example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W[l], b[l]</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Weights and bias of layer 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z[l]</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Pre-activation of layer 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a[l]</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Activation (output) of layer 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g, g′</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Activation function and its derivative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n[l]</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Number of units in layer 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384048">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m</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Number of examples in a batch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Shape 2"/>
          <p:cNvSpPr/>
          <p:nvPr/>
        </p:nvSpPr>
        <p:spPr>
          <a:xfrm>
            <a:off x="7680960" y="1645920"/>
            <a:ext cx="3959352" cy="1380998"/>
          </a:xfrm>
          <a:prstGeom prst="roundRect">
            <a:avLst>
              <a:gd name="adj" fmla="val 5297"/>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909560" y="1792224"/>
            <a:ext cx="350215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READ IT AS</a:t>
            </a:r>
            <a:endParaRPr lang="en-US" sz="1200" dirty="0"/>
          </a:p>
        </p:txBody>
      </p:sp>
      <p:sp>
        <p:nvSpPr>
          <p:cNvPr id="8" name="Text 4"/>
          <p:cNvSpPr txBox="1"/>
          <p:nvPr/>
        </p:nvSpPr>
        <p:spPr>
          <a:xfrm>
            <a:off x="7909560" y="2221992"/>
            <a:ext cx="3502152" cy="612902"/>
          </a:xfrm>
          <a:prstGeom prst="rect">
            <a:avLst/>
          </a:prstGeom>
          <a:noFill/>
          <a:ln/>
        </p:spPr>
        <p:txBody>
          <a:bodyPr wrap="square" lIns="0" tIns="0" rIns="0" bIns="0" rtlCol="0" anchor="t"/>
          <a:lstStyle/>
          <a:p>
            <a:pPr algn="ctr" indent="0" marL="0">
              <a:lnSpc>
                <a:spcPct val="112000"/>
              </a:lnSpc>
              <a:buNone/>
            </a:pPr>
            <a:r>
              <a:rPr lang="en-US" sz="3400" dirty="0">
                <a:solidFill>
                  <a:schemeClr val="tx1"/>
                </a:solidFill>
                <a:latin typeface="Cambria Math" pitchFamily="34" charset="0"/>
                <a:ea typeface="Cambria Math" pitchFamily="34" charset="-122"/>
                <a:cs typeface="Cambria Math" pitchFamily="34" charset="-120"/>
              </a:rPr>
              <a:t>a[2](7)</a:t>
            </a:r>
            <a:endParaRPr lang="en-US" sz="3400" dirty="0"/>
          </a:p>
        </p:txBody>
      </p:sp>
      <p:sp>
        <p:nvSpPr>
          <p:cNvPr id="9" name="Text 5"/>
          <p:cNvSpPr txBox="1"/>
          <p:nvPr/>
        </p:nvSpPr>
        <p:spPr>
          <a:xfrm>
            <a:off x="7680960" y="3063240"/>
            <a:ext cx="3959352" cy="640080"/>
          </a:xfrm>
          <a:prstGeom prst="rect">
            <a:avLst/>
          </a:prstGeom>
          <a:noFill/>
          <a:ln/>
        </p:spPr>
        <p:txBody>
          <a:bodyPr wrap="square" lIns="0" tIns="0" rIns="0" bIns="0" rtlCol="0" anchor="t"/>
          <a:lstStyle/>
          <a:p>
            <a:pPr algn="l" indent="0" marL="0">
              <a:lnSpc>
                <a:spcPct val="105000"/>
              </a:lnSpc>
              <a:buNone/>
            </a:pPr>
            <a:r>
              <a:rPr lang="en-US" sz="1800" dirty="0">
                <a:solidFill>
                  <a:schemeClr val="tx1"/>
                </a:solidFill>
              </a:rPr>
              <a:t>The </a:t>
            </a:r>
            <a:r>
              <a:rPr lang="en-US" sz="1800" b="1" dirty="0">
                <a:solidFill>
                  <a:schemeClr val="tx1"/>
                </a:solidFill>
              </a:rPr>
              <a:t>layer-2</a:t>
            </a:r>
            <a:r>
              <a:rPr lang="en-US" sz="1800" dirty="0">
                <a:solidFill>
                  <a:schemeClr val="tx1"/>
                </a:solidFill>
              </a:rPr>
              <a:t> activation for </a:t>
            </a:r>
            <a:r>
              <a:rPr lang="en-US" sz="1800" b="1" dirty="0">
                <a:solidFill>
                  <a:schemeClr val="tx1"/>
                </a:solidFill>
              </a:rPr>
              <a:t>training example 7</a:t>
            </a:r>
            <a:r>
              <a:rPr lang="en-US" sz="1800" dirty="0">
                <a:solidFill>
                  <a:schemeClr val="tx1"/>
                </a:solidFill>
              </a:rPr>
              <a:t>.</a:t>
            </a:r>
            <a:endParaRPr lang="en-US" sz="1800" dirty="0"/>
          </a:p>
        </p:txBody>
      </p:sp>
      <p:sp>
        <p:nvSpPr>
          <p:cNvPr id="10" name="Shape 6"/>
          <p:cNvSpPr/>
          <p:nvPr/>
        </p:nvSpPr>
        <p:spPr>
          <a:xfrm>
            <a:off x="7680960" y="3931920"/>
            <a:ext cx="3959352" cy="1828800"/>
          </a:xfrm>
          <a:prstGeom prst="roundRect">
            <a:avLst>
              <a:gd name="adj" fmla="val 4000"/>
            </a:avLst>
          </a:prstGeom>
          <a:solidFill>
            <a:schemeClr val="accent1">
              <a:alpha val="10000"/>
            </a:schemeClr>
          </a:solidFill>
          <a:ln w="12700">
            <a:solidFill>
              <a:schemeClr val="accent1">
                <a:alpha val="10000"/>
              </a:schemeClr>
            </a:solidFill>
            <a:prstDash val="solid"/>
          </a:ln>
        </p:spPr>
      </p:sp>
      <p:sp>
        <p:nvSpPr>
          <p:cNvPr id="11" name="Text 7"/>
          <p:cNvSpPr txBox="1"/>
          <p:nvPr/>
        </p:nvSpPr>
        <p:spPr>
          <a:xfrm>
            <a:off x="7882128" y="4133088"/>
            <a:ext cx="35570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Two conventions, flagged</a:t>
            </a:r>
            <a:endParaRPr lang="en-US" sz="1900" dirty="0"/>
          </a:p>
        </p:txBody>
      </p:sp>
      <p:sp>
        <p:nvSpPr>
          <p:cNvPr id="12" name="Text 8"/>
          <p:cNvSpPr txBox="1"/>
          <p:nvPr/>
        </p:nvSpPr>
        <p:spPr>
          <a:xfrm>
            <a:off x="7882128" y="4490974"/>
            <a:ext cx="3557016" cy="10685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Derivations use examples as columns. Code uses examples as rows. Every switch is marked.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1</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Why we needed neural networks</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Linear models draw straight lines. Learned features let the boundary bend.</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§1</a:t>
            </a:r>
            <a:endParaRPr lang="en-US" sz="15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Linear models score inputs with one weighted sum</a:t>
            </a:r>
            <a:endParaRPr lang="en-US" sz="3000" dirty="0"/>
          </a:p>
        </p:txBody>
      </p:sp>
      <p:sp>
        <p:nvSpPr>
          <p:cNvPr id="5" name="Shape 2"/>
          <p:cNvSpPr/>
          <p:nvPr/>
        </p:nvSpPr>
        <p:spPr>
          <a:xfrm>
            <a:off x="548640" y="1645920"/>
            <a:ext cx="6035040" cy="1155700"/>
          </a:xfrm>
          <a:prstGeom prst="roundRect">
            <a:avLst>
              <a:gd name="adj" fmla="val 6330"/>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837944"/>
            <a:ext cx="5577840" cy="771652"/>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prediction = w₁x₁ + w₂x₂ + … + wₙxₙ + b</a:t>
            </a:r>
            <a:endParaRPr lang="en-US" sz="2200" dirty="0"/>
          </a:p>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               = wᵀx + b</a:t>
            </a:r>
            <a:endParaRPr lang="en-US" sz="2200" dirty="0"/>
          </a:p>
        </p:txBody>
      </p:sp>
      <p:sp>
        <p:nvSpPr>
          <p:cNvPr id="7" name="Text 4"/>
          <p:cNvSpPr txBox="1"/>
          <p:nvPr/>
        </p:nvSpPr>
        <p:spPr>
          <a:xfrm>
            <a:off x="548640" y="3154680"/>
            <a:ext cx="6035040" cy="1737360"/>
          </a:xfrm>
          <a:prstGeom prst="rect">
            <a:avLst/>
          </a:prstGeom>
          <a:noFill/>
          <a:ln/>
        </p:spPr>
        <p:txBody>
          <a:bodyPr wrap="square" lIns="0" tIns="0" rIns="0" bIns="0" rtlCol="0" anchor="t"/>
          <a:lstStyle/>
          <a:p>
            <a:pPr marL="254000" indent="-254000">
              <a:lnSpc>
                <a:spcPct val="105000"/>
              </a:lnSpc>
              <a:spcAft>
                <a:spcPts val="1000"/>
              </a:spcAft>
              <a:buSzPct val="100000"/>
              <a:buChar char="●"/>
            </a:pPr>
            <a:r>
              <a:rPr lang="en-US" sz="1800" b="1" dirty="0">
                <a:solidFill>
                  <a:schemeClr val="tx1"/>
                </a:solidFill>
              </a:rPr>
              <a:t>Convex:</a:t>
            </a:r>
            <a:r>
              <a:rPr lang="en-US" sz="1800" dirty="0">
                <a:solidFill>
                  <a:schemeClr val="tx1"/>
                </a:solidFill>
              </a:rPr>
              <a:t> optimization is reliable.</a:t>
            </a:r>
            <a:endParaRPr lang="en-US" sz="1800" dirty="0"/>
          </a:p>
          <a:p>
            <a:pPr marL="254000" indent="-254000">
              <a:lnSpc>
                <a:spcPct val="105000"/>
              </a:lnSpc>
              <a:spcAft>
                <a:spcPts val="1000"/>
              </a:spcAft>
              <a:buSzPct val="100000"/>
              <a:buChar char="●"/>
            </a:pPr>
            <a:r>
              <a:rPr lang="en-US" sz="1800" b="1" dirty="0">
                <a:solidFill>
                  <a:schemeClr val="tx1"/>
                </a:solidFill>
              </a:rPr>
              <a:t>Interpretable:</a:t>
            </a:r>
            <a:r>
              <a:rPr lang="en-US" sz="1800" dirty="0">
                <a:solidFill>
                  <a:schemeClr val="tx1"/>
                </a:solidFill>
              </a:rPr>
              <a:t> w₃ = 2.4 means one more unit of feature 3 adds 2.4 to the score.</a:t>
            </a:r>
            <a:endParaRPr lang="en-US" sz="1800" dirty="0"/>
          </a:p>
          <a:p>
            <a:pPr marL="254000" indent="-254000">
              <a:lnSpc>
                <a:spcPct val="105000"/>
              </a:lnSpc>
              <a:spcAft>
                <a:spcPts val="1000"/>
              </a:spcAft>
              <a:buSzPct val="100000"/>
              <a:buChar char="●"/>
            </a:pPr>
            <a:r>
              <a:rPr lang="en-US" sz="1800" b="1" dirty="0">
                <a:solidFill>
                  <a:schemeClr val="tx1"/>
                </a:solidFill>
              </a:rPr>
              <a:t>Data-efficient:</a:t>
            </a:r>
            <a:r>
              <a:rPr lang="en-US" sz="1800" dirty="0">
                <a:solidFill>
                  <a:schemeClr val="tx1"/>
                </a:solidFill>
              </a:rPr>
              <a:t> few parameters, little data needed.</a:t>
            </a:r>
            <a:endParaRPr lang="en-US" sz="1800" dirty="0"/>
          </a:p>
        </p:txBody>
      </p:sp>
      <p:sp>
        <p:nvSpPr>
          <p:cNvPr id="8" name="Shape 5"/>
          <p:cNvSpPr/>
          <p:nvPr/>
        </p:nvSpPr>
        <p:spPr>
          <a:xfrm>
            <a:off x="548640" y="5074920"/>
            <a:ext cx="6035040" cy="868680"/>
          </a:xfrm>
          <a:prstGeom prst="roundRect">
            <a:avLst>
              <a:gd name="adj" fmla="val 8421"/>
            </a:avLst>
          </a:prstGeom>
          <a:solidFill>
            <a:schemeClr val="accent2">
              <a:alpha val="12000"/>
            </a:schemeClr>
          </a:solidFill>
          <a:ln w="12700">
            <a:solidFill>
              <a:schemeClr val="accent2">
                <a:alpha val="12000"/>
              </a:schemeClr>
            </a:solidFill>
            <a:prstDash val="solid"/>
          </a:ln>
        </p:spPr>
      </p:sp>
      <p:sp>
        <p:nvSpPr>
          <p:cNvPr id="9" name="Text 6"/>
          <p:cNvSpPr txBox="1"/>
          <p:nvPr/>
        </p:nvSpPr>
        <p:spPr>
          <a:xfrm>
            <a:off x="777240" y="5074920"/>
            <a:ext cx="5577840" cy="868680"/>
          </a:xfrm>
          <a:prstGeom prst="rect">
            <a:avLst/>
          </a:prstGeom>
          <a:noFill/>
          <a:ln/>
        </p:spPr>
        <p:txBody>
          <a:bodyPr wrap="square" lIns="0" tIns="0" rIns="0" bIns="0" rtlCol="0" anchor="ctr"/>
          <a:lstStyle/>
          <a:p>
            <a:pPr algn="l" indent="0" marL="0">
              <a:lnSpc>
                <a:spcPct val="105000"/>
              </a:lnSpc>
              <a:buNone/>
            </a:pPr>
            <a:r>
              <a:rPr lang="en-US" sz="1800" b="1" dirty="0">
                <a:solidFill>
                  <a:schemeClr val="accent2"/>
                </a:solidFill>
              </a:rPr>
              <a:t>The limitation: the decision boundary is always a straight line (a hyperplane).</a:t>
            </a:r>
            <a:endParaRPr lang="en-US" sz="1800" dirty="0"/>
          </a:p>
        </p:txBody>
      </p:sp>
      <p:sp>
        <p:nvSpPr>
          <p:cNvPr id="10" name="Shape 7"/>
          <p:cNvSpPr/>
          <p:nvPr/>
        </p:nvSpPr>
        <p:spPr>
          <a:xfrm>
            <a:off x="7086600" y="1645920"/>
            <a:ext cx="4553712" cy="4297680"/>
          </a:xfrm>
          <a:prstGeom prst="roundRect">
            <a:avLst>
              <a:gd name="adj" fmla="val 1702"/>
            </a:avLst>
          </a:prstGeom>
          <a:solidFill>
            <a:schemeClr val="bg2"/>
          </a:solidFill>
          <a:ln w="12700">
            <a:solidFill>
              <a:schemeClr val="bg2"/>
            </a:solidFill>
            <a:prstDash val="solid"/>
          </a:ln>
        </p:spPr>
      </p:sp>
      <p:sp>
        <p:nvSpPr>
          <p:cNvPr id="11" name="Shape 8"/>
          <p:cNvSpPr/>
          <p:nvPr/>
        </p:nvSpPr>
        <p:spPr>
          <a:xfrm flipV="1">
            <a:off x="8503920" y="1874520"/>
            <a:ext cx="2103120" cy="3886200"/>
          </a:xfrm>
          <a:prstGeom prst="line">
            <a:avLst/>
          </a:prstGeom>
          <a:noFill/>
          <a:ln w="25400">
            <a:solidFill>
              <a:srgbClr val="15232D"/>
            </a:solidFill>
            <a:prstDash val="solid"/>
          </a:ln>
        </p:spPr>
      </p:sp>
      <p:sp>
        <p:nvSpPr>
          <p:cNvPr id="12" name="Shape 9"/>
          <p:cNvSpPr/>
          <p:nvPr/>
        </p:nvSpPr>
        <p:spPr>
          <a:xfrm>
            <a:off x="7562088" y="2075688"/>
            <a:ext cx="237744" cy="237744"/>
          </a:xfrm>
          <a:prstGeom prst="ellipse">
            <a:avLst/>
          </a:prstGeom>
          <a:solidFill>
            <a:schemeClr val="accent1"/>
          </a:solidFill>
          <a:ln w="19050">
            <a:solidFill>
              <a:schemeClr val="accent1"/>
            </a:solidFill>
            <a:prstDash val="solid"/>
          </a:ln>
        </p:spPr>
      </p:sp>
      <p:sp>
        <p:nvSpPr>
          <p:cNvPr id="13" name="Shape 10"/>
          <p:cNvSpPr/>
          <p:nvPr/>
        </p:nvSpPr>
        <p:spPr>
          <a:xfrm>
            <a:off x="8019288" y="2532888"/>
            <a:ext cx="237744" cy="237744"/>
          </a:xfrm>
          <a:prstGeom prst="ellipse">
            <a:avLst/>
          </a:prstGeom>
          <a:solidFill>
            <a:schemeClr val="accent1"/>
          </a:solidFill>
          <a:ln w="19050">
            <a:solidFill>
              <a:schemeClr val="accent1"/>
            </a:solidFill>
            <a:prstDash val="solid"/>
          </a:ln>
        </p:spPr>
      </p:sp>
      <p:sp>
        <p:nvSpPr>
          <p:cNvPr id="14" name="Shape 11"/>
          <p:cNvSpPr/>
          <p:nvPr/>
        </p:nvSpPr>
        <p:spPr>
          <a:xfrm>
            <a:off x="7470648" y="2990088"/>
            <a:ext cx="237744" cy="237744"/>
          </a:xfrm>
          <a:prstGeom prst="ellipse">
            <a:avLst/>
          </a:prstGeom>
          <a:solidFill>
            <a:schemeClr val="accent1"/>
          </a:solidFill>
          <a:ln w="19050">
            <a:solidFill>
              <a:schemeClr val="accent1"/>
            </a:solidFill>
            <a:prstDash val="solid"/>
          </a:ln>
        </p:spPr>
      </p:sp>
      <p:sp>
        <p:nvSpPr>
          <p:cNvPr id="15" name="Shape 12"/>
          <p:cNvSpPr/>
          <p:nvPr/>
        </p:nvSpPr>
        <p:spPr>
          <a:xfrm>
            <a:off x="8476488" y="1984248"/>
            <a:ext cx="237744" cy="237744"/>
          </a:xfrm>
          <a:prstGeom prst="ellipse">
            <a:avLst/>
          </a:prstGeom>
          <a:solidFill>
            <a:schemeClr val="accent1"/>
          </a:solidFill>
          <a:ln w="19050">
            <a:solidFill>
              <a:schemeClr val="accent1"/>
            </a:solidFill>
            <a:prstDash val="solid"/>
          </a:ln>
        </p:spPr>
      </p:sp>
      <p:sp>
        <p:nvSpPr>
          <p:cNvPr id="16" name="Shape 13"/>
          <p:cNvSpPr/>
          <p:nvPr/>
        </p:nvSpPr>
        <p:spPr>
          <a:xfrm>
            <a:off x="8110728" y="3355848"/>
            <a:ext cx="237744" cy="237744"/>
          </a:xfrm>
          <a:prstGeom prst="ellipse">
            <a:avLst/>
          </a:prstGeom>
          <a:solidFill>
            <a:schemeClr val="accent1"/>
          </a:solidFill>
          <a:ln w="19050">
            <a:solidFill>
              <a:schemeClr val="accent1"/>
            </a:solidFill>
            <a:prstDash val="solid"/>
          </a:ln>
        </p:spPr>
      </p:sp>
      <p:sp>
        <p:nvSpPr>
          <p:cNvPr id="17" name="Shape 14"/>
          <p:cNvSpPr/>
          <p:nvPr/>
        </p:nvSpPr>
        <p:spPr>
          <a:xfrm>
            <a:off x="7744968" y="3813048"/>
            <a:ext cx="237744" cy="237744"/>
          </a:xfrm>
          <a:prstGeom prst="ellipse">
            <a:avLst/>
          </a:prstGeom>
          <a:solidFill>
            <a:schemeClr val="accent1"/>
          </a:solidFill>
          <a:ln w="19050">
            <a:solidFill>
              <a:schemeClr val="accent1"/>
            </a:solidFill>
            <a:prstDash val="solid"/>
          </a:ln>
        </p:spPr>
      </p:sp>
      <p:sp>
        <p:nvSpPr>
          <p:cNvPr id="18" name="Shape 15"/>
          <p:cNvSpPr/>
          <p:nvPr/>
        </p:nvSpPr>
        <p:spPr>
          <a:xfrm>
            <a:off x="9939528" y="3538728"/>
            <a:ext cx="237744" cy="237744"/>
          </a:xfrm>
          <a:prstGeom prst="ellipse">
            <a:avLst/>
          </a:prstGeom>
          <a:solidFill>
            <a:schemeClr val="bg1"/>
          </a:solidFill>
          <a:ln w="25400">
            <a:solidFill>
              <a:schemeClr val="accent2"/>
            </a:solidFill>
            <a:prstDash val="solid"/>
          </a:ln>
        </p:spPr>
      </p:sp>
      <p:sp>
        <p:nvSpPr>
          <p:cNvPr id="19" name="Shape 16"/>
          <p:cNvSpPr/>
          <p:nvPr/>
        </p:nvSpPr>
        <p:spPr>
          <a:xfrm>
            <a:off x="10488168" y="3172968"/>
            <a:ext cx="237744" cy="237744"/>
          </a:xfrm>
          <a:prstGeom prst="ellipse">
            <a:avLst/>
          </a:prstGeom>
          <a:solidFill>
            <a:schemeClr val="bg1"/>
          </a:solidFill>
          <a:ln w="25400">
            <a:solidFill>
              <a:schemeClr val="accent2"/>
            </a:solidFill>
            <a:prstDash val="solid"/>
          </a:ln>
        </p:spPr>
      </p:sp>
      <p:sp>
        <p:nvSpPr>
          <p:cNvPr id="20" name="Shape 17"/>
          <p:cNvSpPr/>
          <p:nvPr/>
        </p:nvSpPr>
        <p:spPr>
          <a:xfrm>
            <a:off x="9573768" y="4361688"/>
            <a:ext cx="237744" cy="237744"/>
          </a:xfrm>
          <a:prstGeom prst="ellipse">
            <a:avLst/>
          </a:prstGeom>
          <a:solidFill>
            <a:schemeClr val="bg1"/>
          </a:solidFill>
          <a:ln w="25400">
            <a:solidFill>
              <a:schemeClr val="accent2"/>
            </a:solidFill>
            <a:prstDash val="solid"/>
          </a:ln>
        </p:spPr>
      </p:sp>
      <p:sp>
        <p:nvSpPr>
          <p:cNvPr id="21" name="Shape 18"/>
          <p:cNvSpPr/>
          <p:nvPr/>
        </p:nvSpPr>
        <p:spPr>
          <a:xfrm>
            <a:off x="10762488" y="4178808"/>
            <a:ext cx="237744" cy="237744"/>
          </a:xfrm>
          <a:prstGeom prst="ellipse">
            <a:avLst/>
          </a:prstGeom>
          <a:solidFill>
            <a:schemeClr val="bg1"/>
          </a:solidFill>
          <a:ln w="25400">
            <a:solidFill>
              <a:schemeClr val="accent2"/>
            </a:solidFill>
            <a:prstDash val="solid"/>
          </a:ln>
        </p:spPr>
      </p:sp>
      <p:sp>
        <p:nvSpPr>
          <p:cNvPr id="22" name="Shape 19"/>
          <p:cNvSpPr/>
          <p:nvPr/>
        </p:nvSpPr>
        <p:spPr>
          <a:xfrm>
            <a:off x="10122408" y="4910328"/>
            <a:ext cx="237744" cy="237744"/>
          </a:xfrm>
          <a:prstGeom prst="ellipse">
            <a:avLst/>
          </a:prstGeom>
          <a:solidFill>
            <a:schemeClr val="bg1"/>
          </a:solidFill>
          <a:ln w="25400">
            <a:solidFill>
              <a:schemeClr val="accent2"/>
            </a:solidFill>
            <a:prstDash val="solid"/>
          </a:ln>
        </p:spPr>
      </p:sp>
      <p:sp>
        <p:nvSpPr>
          <p:cNvPr id="23" name="Shape 20"/>
          <p:cNvSpPr/>
          <p:nvPr/>
        </p:nvSpPr>
        <p:spPr>
          <a:xfrm>
            <a:off x="10945368" y="5093208"/>
            <a:ext cx="237744" cy="237744"/>
          </a:xfrm>
          <a:prstGeom prst="ellipse">
            <a:avLst/>
          </a:prstGeom>
          <a:solidFill>
            <a:schemeClr val="bg1"/>
          </a:solidFill>
          <a:ln w="25400">
            <a:solidFill>
              <a:schemeClr val="accent2"/>
            </a:solidFill>
            <a:prstDash val="solid"/>
          </a:ln>
        </p:spPr>
      </p:sp>
      <p:sp>
        <p:nvSpPr>
          <p:cNvPr id="24" name="Shape 21"/>
          <p:cNvSpPr/>
          <p:nvPr/>
        </p:nvSpPr>
        <p:spPr>
          <a:xfrm>
            <a:off x="9390888" y="5184648"/>
            <a:ext cx="237744" cy="237744"/>
          </a:xfrm>
          <a:prstGeom prst="ellipse">
            <a:avLst/>
          </a:prstGeom>
          <a:solidFill>
            <a:schemeClr val="bg1"/>
          </a:solidFill>
          <a:ln w="25400">
            <a:solidFill>
              <a:schemeClr val="accent2"/>
            </a:solidFill>
            <a:prstDash val="solid"/>
          </a:ln>
        </p:spPr>
      </p:sp>
      <p:sp>
        <p:nvSpPr>
          <p:cNvPr id="25" name="Text 22"/>
          <p:cNvSpPr txBox="1"/>
          <p:nvPr/>
        </p:nvSpPr>
        <p:spPr>
          <a:xfrm>
            <a:off x="8732520" y="5440680"/>
            <a:ext cx="1828800" cy="36576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latin typeface="Cambria Math" pitchFamily="34" charset="0"/>
                <a:ea typeface="Cambria Math" pitchFamily="34" charset="-122"/>
                <a:cs typeface="Cambria Math" pitchFamily="34" charset="-120"/>
              </a:rPr>
              <a:t>wᵀx + b = 0</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XOR: no single straight line separates the classes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023360" cy="914400"/>
        </p:xfrm>
        <a:graphic>
          <a:graphicData uri="http://schemas.openxmlformats.org/drawingml/2006/table">
            <a:tbl>
              <a:tblPr/>
              <a:tblGrid>
                <a:gridCol w="1280160"/>
                <a:gridCol w="1280160"/>
                <a:gridCol w="1463040"/>
              </a:tblGrid>
              <a:tr h="502920">
                <a:tc>
                  <a:txBody>
                    <a:bodyPr/>
                    <a:lstStyle/>
                    <a:p>
                      <a:pPr indent="0" marL="0">
                        <a:buNone/>
                      </a:pPr>
                      <a:r>
                        <a:rPr lang="en-US" sz="2000" b="1" dirty="0">
                          <a:solidFill>
                            <a:schemeClr val="bg1"/>
                          </a:solidFill>
                        </a:rPr>
                        <a:t>x₁</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2000" b="1" dirty="0">
                          <a:solidFill>
                            <a:schemeClr val="bg1"/>
                          </a:solidFill>
                        </a:rPr>
                        <a:t>x₂</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2000" b="1" dirty="0">
                          <a:solidFill>
                            <a:schemeClr val="bg1"/>
                          </a:solidFill>
                        </a:rPr>
                        <a:t>y = XOR</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02920">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02920">
                <a:tc>
                  <a:txBody>
                    <a:bodyPr/>
                    <a:lstStyle/>
                    <a:p>
                      <a:pPr indent="0" marL="0">
                        <a:buNone/>
                      </a:pPr>
                      <a:r>
                        <a:rPr lang="en-US" sz="2000" b="1" dirty="0">
                          <a:solidFill>
                            <a:schemeClr val="accent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2000" dirty="0">
                          <a:solidFill>
                            <a:schemeClr val="accent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2000" dirty="0">
                          <a:solidFill>
                            <a:schemeClr val="accent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502920">
                <a:tc>
                  <a:txBody>
                    <a:bodyPr/>
                    <a:lstStyle/>
                    <a:p>
                      <a:pPr indent="0" marL="0">
                        <a:buNone/>
                      </a:pPr>
                      <a:r>
                        <a:rPr lang="en-US" sz="2000" b="1" dirty="0">
                          <a:solidFill>
                            <a:schemeClr val="accent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2000" dirty="0">
                          <a:solidFill>
                            <a:schemeClr val="accent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2000" dirty="0">
                          <a:solidFill>
                            <a:schemeClr val="accent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502920">
                <a:tc>
                  <a:txBody>
                    <a:bodyPr/>
                    <a:lstStyle/>
                    <a:p>
                      <a:pPr indent="0" marL="0">
                        <a:buNone/>
                      </a:pPr>
                      <a:r>
                        <a:rPr lang="en-US" sz="2000" dirty="0">
                          <a:solidFill>
                            <a:schemeClr val="tx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2000" dirty="0">
                          <a:solidFill>
                            <a:schemeClr val="tx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Text 2"/>
          <p:cNvSpPr txBox="1"/>
          <p:nvPr/>
        </p:nvSpPr>
        <p:spPr>
          <a:xfrm>
            <a:off x="548640" y="4434840"/>
            <a:ext cx="4023360" cy="36576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Two highlighted rows are class 1.</a:t>
            </a:r>
            <a:endParaRPr lang="en-US" sz="1500" dirty="0"/>
          </a:p>
        </p:txBody>
      </p:sp>
      <p:sp>
        <p:nvSpPr>
          <p:cNvPr id="7" name="Shape 3"/>
          <p:cNvSpPr/>
          <p:nvPr/>
        </p:nvSpPr>
        <p:spPr>
          <a:xfrm>
            <a:off x="5760720" y="5577840"/>
            <a:ext cx="4114800" cy="0"/>
          </a:xfrm>
          <a:prstGeom prst="line">
            <a:avLst/>
          </a:prstGeom>
          <a:noFill/>
          <a:ln w="15875">
            <a:solidFill>
              <a:srgbClr val="556270"/>
            </a:solidFill>
            <a:prstDash val="solid"/>
            <a:tailEnd type="triangle"/>
          </a:ln>
        </p:spPr>
      </p:sp>
      <p:sp>
        <p:nvSpPr>
          <p:cNvPr id="8" name="Shape 4"/>
          <p:cNvSpPr/>
          <p:nvPr/>
        </p:nvSpPr>
        <p:spPr>
          <a:xfrm flipV="1">
            <a:off x="6035040" y="1737360"/>
            <a:ext cx="0" cy="4114800"/>
          </a:xfrm>
          <a:prstGeom prst="line">
            <a:avLst/>
          </a:prstGeom>
          <a:noFill/>
          <a:ln w="15875">
            <a:solidFill>
              <a:srgbClr val="556270"/>
            </a:solidFill>
            <a:prstDash val="solid"/>
            <a:tailEnd type="triangle"/>
          </a:ln>
        </p:spPr>
      </p:sp>
      <p:sp>
        <p:nvSpPr>
          <p:cNvPr id="9" name="Shape 5"/>
          <p:cNvSpPr/>
          <p:nvPr/>
        </p:nvSpPr>
        <p:spPr>
          <a:xfrm>
            <a:off x="6217920" y="2103120"/>
            <a:ext cx="3291840" cy="2651760"/>
          </a:xfrm>
          <a:prstGeom prst="line">
            <a:avLst/>
          </a:prstGeom>
          <a:noFill/>
          <a:ln w="25400">
            <a:solidFill>
              <a:srgbClr val="C3CCD4"/>
            </a:solidFill>
            <a:prstDash val="dash"/>
          </a:ln>
        </p:spPr>
      </p:sp>
      <p:sp>
        <p:nvSpPr>
          <p:cNvPr id="10" name="Shape 6"/>
          <p:cNvSpPr/>
          <p:nvPr/>
        </p:nvSpPr>
        <p:spPr>
          <a:xfrm flipV="1">
            <a:off x="5943600" y="2011680"/>
            <a:ext cx="3017520" cy="2468880"/>
          </a:xfrm>
          <a:prstGeom prst="line">
            <a:avLst/>
          </a:prstGeom>
          <a:noFill/>
          <a:ln w="25400">
            <a:solidFill>
              <a:srgbClr val="C3CCD4"/>
            </a:solidFill>
            <a:prstDash val="dash"/>
          </a:ln>
        </p:spPr>
      </p:sp>
      <p:sp>
        <p:nvSpPr>
          <p:cNvPr id="11" name="Shape 7"/>
          <p:cNvSpPr/>
          <p:nvPr/>
        </p:nvSpPr>
        <p:spPr>
          <a:xfrm>
            <a:off x="5852160" y="5394960"/>
            <a:ext cx="365760" cy="365760"/>
          </a:xfrm>
          <a:prstGeom prst="ellipse">
            <a:avLst/>
          </a:prstGeom>
          <a:solidFill>
            <a:schemeClr val="bg1"/>
          </a:solidFill>
          <a:ln w="31750">
            <a:solidFill>
              <a:schemeClr val="accent2"/>
            </a:solidFill>
            <a:prstDash val="solid"/>
          </a:ln>
        </p:spPr>
      </p:sp>
      <p:sp>
        <p:nvSpPr>
          <p:cNvPr id="12" name="Shape 8"/>
          <p:cNvSpPr/>
          <p:nvPr/>
        </p:nvSpPr>
        <p:spPr>
          <a:xfrm>
            <a:off x="5852160" y="2103120"/>
            <a:ext cx="365760" cy="365760"/>
          </a:xfrm>
          <a:prstGeom prst="ellipse">
            <a:avLst/>
          </a:prstGeom>
          <a:solidFill>
            <a:schemeClr val="accent1"/>
          </a:solidFill>
          <a:ln w="19050">
            <a:solidFill>
              <a:schemeClr val="accent1"/>
            </a:solidFill>
            <a:prstDash val="solid"/>
          </a:ln>
        </p:spPr>
      </p:sp>
      <p:sp>
        <p:nvSpPr>
          <p:cNvPr id="13" name="Shape 9"/>
          <p:cNvSpPr/>
          <p:nvPr/>
        </p:nvSpPr>
        <p:spPr>
          <a:xfrm>
            <a:off x="9144000" y="5394960"/>
            <a:ext cx="365760" cy="365760"/>
          </a:xfrm>
          <a:prstGeom prst="ellipse">
            <a:avLst/>
          </a:prstGeom>
          <a:solidFill>
            <a:schemeClr val="accent1"/>
          </a:solidFill>
          <a:ln w="19050">
            <a:solidFill>
              <a:schemeClr val="accent1"/>
            </a:solidFill>
            <a:prstDash val="solid"/>
          </a:ln>
        </p:spPr>
      </p:sp>
      <p:sp>
        <p:nvSpPr>
          <p:cNvPr id="14" name="Shape 10"/>
          <p:cNvSpPr/>
          <p:nvPr/>
        </p:nvSpPr>
        <p:spPr>
          <a:xfrm>
            <a:off x="9144000" y="2103120"/>
            <a:ext cx="365760" cy="365760"/>
          </a:xfrm>
          <a:prstGeom prst="ellipse">
            <a:avLst/>
          </a:prstGeom>
          <a:solidFill>
            <a:schemeClr val="bg1"/>
          </a:solidFill>
          <a:ln w="31750">
            <a:solidFill>
              <a:schemeClr val="accent2"/>
            </a:solidFill>
            <a:prstDash val="solid"/>
          </a:ln>
        </p:spPr>
      </p:sp>
      <p:sp>
        <p:nvSpPr>
          <p:cNvPr id="15" name="Text 11"/>
          <p:cNvSpPr txBox="1"/>
          <p:nvPr/>
        </p:nvSpPr>
        <p:spPr>
          <a:xfrm>
            <a:off x="9784080" y="5532120"/>
            <a:ext cx="457200" cy="365760"/>
          </a:xfrm>
          <a:prstGeom prst="rect">
            <a:avLst/>
          </a:prstGeom>
          <a:noFill/>
          <a:ln/>
        </p:spPr>
        <p:txBody>
          <a:bodyPr wrap="square" lIns="0" tIns="0" rIns="0" bIns="0" rtlCol="0" anchor="t"/>
          <a:lstStyle/>
          <a:p>
            <a:pPr algn="l" indent="0" marL="0">
              <a:lnSpc>
                <a:spcPct val="105000"/>
              </a:lnSpc>
              <a:buNone/>
            </a:pPr>
            <a:r>
              <a:rPr lang="en-US" sz="1800" dirty="0">
                <a:solidFill>
                  <a:schemeClr val="tx1"/>
                </a:solidFill>
                <a:latin typeface="Cambria Math" pitchFamily="34" charset="0"/>
                <a:ea typeface="Cambria Math" pitchFamily="34" charset="-122"/>
                <a:cs typeface="Cambria Math" pitchFamily="34" charset="-120"/>
              </a:rPr>
              <a:t>x₁</a:t>
            </a:r>
            <a:endParaRPr lang="en-US" sz="1800" dirty="0"/>
          </a:p>
        </p:txBody>
      </p:sp>
      <p:sp>
        <p:nvSpPr>
          <p:cNvPr id="16" name="Text 12"/>
          <p:cNvSpPr txBox="1"/>
          <p:nvPr/>
        </p:nvSpPr>
        <p:spPr>
          <a:xfrm>
            <a:off x="5486400" y="1600200"/>
            <a:ext cx="457200" cy="365760"/>
          </a:xfrm>
          <a:prstGeom prst="rect">
            <a:avLst/>
          </a:prstGeom>
          <a:noFill/>
          <a:ln/>
        </p:spPr>
        <p:txBody>
          <a:bodyPr wrap="square" lIns="0" tIns="0" rIns="0" bIns="0" rtlCol="0" anchor="t"/>
          <a:lstStyle/>
          <a:p>
            <a:pPr algn="l" indent="0" marL="0">
              <a:lnSpc>
                <a:spcPct val="105000"/>
              </a:lnSpc>
              <a:buNone/>
            </a:pPr>
            <a:r>
              <a:rPr lang="en-US" sz="1800" dirty="0">
                <a:solidFill>
                  <a:schemeClr val="tx1"/>
                </a:solidFill>
                <a:latin typeface="Cambria Math" pitchFamily="34" charset="0"/>
                <a:ea typeface="Cambria Math" pitchFamily="34" charset="-122"/>
                <a:cs typeface="Cambria Math" pitchFamily="34" charset="-120"/>
              </a:rPr>
              <a:t>x₂</a:t>
            </a:r>
            <a:endParaRPr lang="en-US" sz="1800" dirty="0"/>
          </a:p>
        </p:txBody>
      </p:sp>
      <p:sp>
        <p:nvSpPr>
          <p:cNvPr id="17" name="Text 13"/>
          <p:cNvSpPr txBox="1"/>
          <p:nvPr/>
        </p:nvSpPr>
        <p:spPr>
          <a:xfrm>
            <a:off x="5897880" y="5779008"/>
            <a:ext cx="274320" cy="274320"/>
          </a:xfrm>
          <a:prstGeom prst="rect">
            <a:avLst/>
          </a:prstGeom>
          <a:noFill/>
          <a:ln/>
        </p:spPr>
        <p:txBody>
          <a:bodyPr wrap="square" lIns="0" tIns="0" rIns="0" bIns="0" rtlCol="0" anchor="t"/>
          <a:lstStyle/>
          <a:p>
            <a:pPr algn="ctr" indent="0" marL="0">
              <a:lnSpc>
                <a:spcPct val="105000"/>
              </a:lnSpc>
              <a:buNone/>
            </a:pPr>
            <a:r>
              <a:rPr lang="en-US" sz="1500" dirty="0">
                <a:solidFill>
                  <a:schemeClr val="tx1"/>
                </a:solidFill>
              </a:rPr>
              <a:t>0</a:t>
            </a:r>
            <a:endParaRPr lang="en-US" sz="1500" dirty="0"/>
          </a:p>
        </p:txBody>
      </p:sp>
      <p:sp>
        <p:nvSpPr>
          <p:cNvPr id="18" name="Text 14"/>
          <p:cNvSpPr txBox="1"/>
          <p:nvPr/>
        </p:nvSpPr>
        <p:spPr>
          <a:xfrm>
            <a:off x="9189720" y="5779008"/>
            <a:ext cx="274320" cy="274320"/>
          </a:xfrm>
          <a:prstGeom prst="rect">
            <a:avLst/>
          </a:prstGeom>
          <a:noFill/>
          <a:ln/>
        </p:spPr>
        <p:txBody>
          <a:bodyPr wrap="square" lIns="0" tIns="0" rIns="0" bIns="0" rtlCol="0" anchor="t"/>
          <a:lstStyle/>
          <a:p>
            <a:pPr algn="ctr" indent="0" marL="0">
              <a:lnSpc>
                <a:spcPct val="105000"/>
              </a:lnSpc>
              <a:buNone/>
            </a:pPr>
            <a:r>
              <a:rPr lang="en-US" sz="1500" dirty="0">
                <a:solidFill>
                  <a:schemeClr val="tx1"/>
                </a:solidFill>
              </a:rPr>
              <a:t>1</a:t>
            </a:r>
            <a:endParaRPr lang="en-US" sz="1500" dirty="0"/>
          </a:p>
        </p:txBody>
      </p:sp>
      <p:sp>
        <p:nvSpPr>
          <p:cNvPr id="19" name="Text 15"/>
          <p:cNvSpPr txBox="1"/>
          <p:nvPr/>
        </p:nvSpPr>
        <p:spPr>
          <a:xfrm>
            <a:off x="5440680" y="2148840"/>
            <a:ext cx="274320" cy="274320"/>
          </a:xfrm>
          <a:prstGeom prst="rect">
            <a:avLst/>
          </a:prstGeom>
          <a:noFill/>
          <a:ln/>
        </p:spPr>
        <p:txBody>
          <a:bodyPr wrap="square" lIns="0" tIns="0" rIns="0" bIns="0" rtlCol="0" anchor="t"/>
          <a:lstStyle/>
          <a:p>
            <a:pPr algn="ctr" indent="0" marL="0">
              <a:lnSpc>
                <a:spcPct val="105000"/>
              </a:lnSpc>
              <a:buNone/>
            </a:pPr>
            <a:r>
              <a:rPr lang="en-US" sz="1500" dirty="0">
                <a:solidFill>
                  <a:schemeClr val="tx1"/>
                </a:solidFill>
              </a:rPr>
              <a:t>1</a:t>
            </a:r>
            <a:endParaRPr lang="en-US" sz="1500" dirty="0"/>
          </a:p>
        </p:txBody>
      </p:sp>
      <p:sp>
        <p:nvSpPr>
          <p:cNvPr id="20" name="Shape 16"/>
          <p:cNvSpPr/>
          <p:nvPr/>
        </p:nvSpPr>
        <p:spPr>
          <a:xfrm>
            <a:off x="10168128" y="1892808"/>
            <a:ext cx="237744" cy="237744"/>
          </a:xfrm>
          <a:prstGeom prst="ellipse">
            <a:avLst/>
          </a:prstGeom>
          <a:solidFill>
            <a:schemeClr val="accent1"/>
          </a:solidFill>
          <a:ln w="19050">
            <a:solidFill>
              <a:schemeClr val="accent1"/>
            </a:solidFill>
            <a:prstDash val="solid"/>
          </a:ln>
        </p:spPr>
      </p:sp>
      <p:sp>
        <p:nvSpPr>
          <p:cNvPr id="21" name="Text 17"/>
          <p:cNvSpPr txBox="1"/>
          <p:nvPr/>
        </p:nvSpPr>
        <p:spPr>
          <a:xfrm>
            <a:off x="10515600" y="1856232"/>
            <a:ext cx="1097280" cy="32004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y = 1</a:t>
            </a:r>
            <a:endParaRPr lang="en-US" sz="1600" dirty="0"/>
          </a:p>
        </p:txBody>
      </p:sp>
      <p:sp>
        <p:nvSpPr>
          <p:cNvPr id="22" name="Shape 18"/>
          <p:cNvSpPr/>
          <p:nvPr/>
        </p:nvSpPr>
        <p:spPr>
          <a:xfrm>
            <a:off x="10168128" y="2350008"/>
            <a:ext cx="237744" cy="237744"/>
          </a:xfrm>
          <a:prstGeom prst="ellipse">
            <a:avLst/>
          </a:prstGeom>
          <a:solidFill>
            <a:schemeClr val="bg1"/>
          </a:solidFill>
          <a:ln w="25400">
            <a:solidFill>
              <a:schemeClr val="accent2"/>
            </a:solidFill>
            <a:prstDash val="solid"/>
          </a:ln>
        </p:spPr>
      </p:sp>
      <p:sp>
        <p:nvSpPr>
          <p:cNvPr id="23" name="Text 19"/>
          <p:cNvSpPr txBox="1"/>
          <p:nvPr/>
        </p:nvSpPr>
        <p:spPr>
          <a:xfrm>
            <a:off x="10515600" y="2313432"/>
            <a:ext cx="1097280" cy="32004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y = 0</a:t>
            </a:r>
            <a:endParaRPr lang="en-US" sz="1600" dirty="0"/>
          </a:p>
        </p:txBody>
      </p:sp>
      <p:sp>
        <p:nvSpPr>
          <p:cNvPr id="24" name="Text 20"/>
          <p:cNvSpPr txBox="1"/>
          <p:nvPr/>
        </p:nvSpPr>
        <p:spPr>
          <a:xfrm>
            <a:off x="9921240" y="2926080"/>
            <a:ext cx="1737360" cy="109728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Dashed: attempted boundaries, each one fails.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Proof: no linear classifier can solve XOR</a:t>
            </a:r>
            <a:endParaRPr lang="en-US" sz="3000" dirty="0"/>
          </a:p>
        </p:txBody>
      </p:sp>
      <p:sp>
        <p:nvSpPr>
          <p:cNvPr id="5" name="Text 2"/>
          <p:cNvSpPr txBox="1"/>
          <p:nvPr/>
        </p:nvSpPr>
        <p:spPr>
          <a:xfrm>
            <a:off x="548640" y="1645920"/>
            <a:ext cx="11064240" cy="457200"/>
          </a:xfrm>
          <a:prstGeom prst="rect">
            <a:avLst/>
          </a:prstGeom>
          <a:noFill/>
          <a:ln/>
        </p:spPr>
        <p:txBody>
          <a:bodyPr wrap="square" lIns="0" tIns="0" rIns="0" bIns="0" rtlCol="0" anchor="t"/>
          <a:lstStyle/>
          <a:p>
            <a:pPr algn="l" indent="0" marL="0">
              <a:lnSpc>
                <a:spcPct val="105000"/>
              </a:lnSpc>
              <a:buNone/>
            </a:pPr>
            <a:r>
              <a:rPr lang="en-US" sz="1800" dirty="0">
                <a:solidFill>
                  <a:schemeClr val="tx1"/>
                </a:solidFill>
              </a:rPr>
              <a:t>Suppose a classifier predicts class 1 when </a:t>
            </a:r>
            <a:r>
              <a:rPr lang="en-US" sz="1800" dirty="0">
                <a:solidFill>
                  <a:schemeClr val="tx1"/>
                </a:solidFill>
                <a:latin typeface="Cambria Math" pitchFamily="34" charset="0"/>
                <a:ea typeface="Cambria Math" pitchFamily="34" charset="-122"/>
                <a:cs typeface="Cambria Math" pitchFamily="34" charset="-120"/>
              </a:rPr>
              <a:t>w₁x₁ + w₂x₂ + b &gt; 0</a:t>
            </a:r>
            <a:r>
              <a:rPr lang="en-US" sz="1800" dirty="0">
                <a:solidFill>
                  <a:schemeClr val="tx1"/>
                </a:solidFill>
              </a:rPr>
              <a:t>. Each point imposes a condition:</a:t>
            </a:r>
            <a:endParaRPr lang="en-US" sz="1800" dirty="0"/>
          </a:p>
        </p:txBody>
      </p:sp>
      <p:sp>
        <p:nvSpPr>
          <p:cNvPr id="6" name="Shape 3"/>
          <p:cNvSpPr/>
          <p:nvPr/>
        </p:nvSpPr>
        <p:spPr>
          <a:xfrm>
            <a:off x="548640" y="2240280"/>
            <a:ext cx="5852160" cy="2111248"/>
          </a:xfrm>
          <a:prstGeom prst="roundRect">
            <a:avLst>
              <a:gd name="adj" fmla="val 3465"/>
            </a:avLst>
          </a:prstGeom>
          <a:solidFill>
            <a:schemeClr val="accent1">
              <a:alpha val="10000"/>
            </a:schemeClr>
          </a:solidFill>
          <a:ln w="12700">
            <a:solidFill>
              <a:schemeClr val="accent1">
                <a:alpha val="10000"/>
              </a:schemeClr>
            </a:solidFill>
            <a:prstDash val="solid"/>
          </a:ln>
        </p:spPr>
      </p:sp>
      <p:sp>
        <p:nvSpPr>
          <p:cNvPr id="7" name="Text 4"/>
          <p:cNvSpPr txBox="1"/>
          <p:nvPr/>
        </p:nvSpPr>
        <p:spPr>
          <a:xfrm>
            <a:off x="777240" y="2386584"/>
            <a:ext cx="53949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FOUR REQUIREMENTS</a:t>
            </a:r>
            <a:endParaRPr lang="en-US" sz="1200" dirty="0"/>
          </a:p>
        </p:txBody>
      </p:sp>
      <p:sp>
        <p:nvSpPr>
          <p:cNvPr id="8" name="Text 5"/>
          <p:cNvSpPr txBox="1"/>
          <p:nvPr/>
        </p:nvSpPr>
        <p:spPr>
          <a:xfrm>
            <a:off x="777240" y="2816352"/>
            <a:ext cx="5394960" cy="1343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(0,0) → y = 0   requires   b ≤ 0</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(0,1) → y = 1   requires   w₂ + b &gt; 0</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(1,0) → y = 1   requires   w₁ + b &gt; 0</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(1,1) → y = 0   requires   w₁ + w₂ + b ≤ 0</a:t>
            </a:r>
            <a:endParaRPr lang="en-US" sz="2000" dirty="0"/>
          </a:p>
        </p:txBody>
      </p:sp>
      <p:sp>
        <p:nvSpPr>
          <p:cNvPr id="9" name="Shape 6"/>
          <p:cNvSpPr/>
          <p:nvPr/>
        </p:nvSpPr>
        <p:spPr>
          <a:xfrm>
            <a:off x="7068312" y="2496312"/>
            <a:ext cx="0" cy="2103120"/>
          </a:xfrm>
          <a:prstGeom prst="line">
            <a:avLst/>
          </a:prstGeom>
          <a:noFill/>
          <a:ln w="25400">
            <a:solidFill>
              <a:schemeClr val="accent1">
                <a:alpha val="50000"/>
              </a:schemeClr>
            </a:solidFill>
            <a:prstDash val="solid"/>
          </a:ln>
        </p:spPr>
      </p:sp>
      <p:sp>
        <p:nvSpPr>
          <p:cNvPr id="10" name="Shape 7"/>
          <p:cNvSpPr/>
          <p:nvPr/>
        </p:nvSpPr>
        <p:spPr>
          <a:xfrm>
            <a:off x="6858000" y="2286000"/>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6858000" y="22860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9"/>
          <p:cNvSpPr txBox="1"/>
          <p:nvPr/>
        </p:nvSpPr>
        <p:spPr>
          <a:xfrm>
            <a:off x="7507224" y="2322576"/>
            <a:ext cx="41056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Add rows 2 and 3</a:t>
            </a:r>
            <a:endParaRPr lang="en-US" sz="1900" dirty="0"/>
          </a:p>
        </p:txBody>
      </p:sp>
      <p:sp>
        <p:nvSpPr>
          <p:cNvPr id="13" name="Text 10"/>
          <p:cNvSpPr txBox="1"/>
          <p:nvPr/>
        </p:nvSpPr>
        <p:spPr>
          <a:xfrm>
            <a:off x="7507224" y="2625598"/>
            <a:ext cx="4105656" cy="675386"/>
          </a:xfrm>
          <a:prstGeom prst="rect">
            <a:avLst/>
          </a:prstGeom>
          <a:noFill/>
          <a:ln/>
        </p:spPr>
        <p:txBody>
          <a:bodyPr wrap="square" lIns="0" tIns="0" rIns="0" bIns="0" rtlCol="0" anchor="t"/>
          <a:lstStyle/>
          <a:p>
            <a:pPr algn="l" indent="0" marL="0">
              <a:lnSpc>
                <a:spcPct val="105000"/>
              </a:lnSpc>
              <a:buNone/>
            </a:pPr>
            <a:r>
              <a:rPr lang="en-US" sz="1800" dirty="0">
                <a:solidFill>
                  <a:schemeClr val="tx2"/>
                </a:solidFill>
                <a:latin typeface="Cambria Math" pitchFamily="34" charset="0"/>
                <a:ea typeface="Cambria Math" pitchFamily="34" charset="-122"/>
                <a:cs typeface="Cambria Math" pitchFamily="34" charset="-120"/>
              </a:rPr>
              <a:t>w₁ + w₂ + 2b &gt; 0</a:t>
            </a:r>
            <a:endParaRPr lang="en-US" sz="1800" dirty="0"/>
          </a:p>
        </p:txBody>
      </p:sp>
      <p:sp>
        <p:nvSpPr>
          <p:cNvPr id="14" name="Shape 11"/>
          <p:cNvSpPr/>
          <p:nvPr/>
        </p:nvSpPr>
        <p:spPr>
          <a:xfrm>
            <a:off x="6858000" y="3337560"/>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6858000" y="33375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Text 13"/>
          <p:cNvSpPr txBox="1"/>
          <p:nvPr/>
        </p:nvSpPr>
        <p:spPr>
          <a:xfrm>
            <a:off x="7507224" y="3374136"/>
            <a:ext cx="41056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Use b ≤ 0 from row 1</a:t>
            </a:r>
            <a:endParaRPr lang="en-US" sz="1900" dirty="0"/>
          </a:p>
        </p:txBody>
      </p:sp>
      <p:sp>
        <p:nvSpPr>
          <p:cNvPr id="17" name="Text 14"/>
          <p:cNvSpPr txBox="1"/>
          <p:nvPr/>
        </p:nvSpPr>
        <p:spPr>
          <a:xfrm>
            <a:off x="7507224" y="3677158"/>
            <a:ext cx="4105656" cy="675386"/>
          </a:xfrm>
          <a:prstGeom prst="rect">
            <a:avLst/>
          </a:prstGeom>
          <a:noFill/>
          <a:ln/>
        </p:spPr>
        <p:txBody>
          <a:bodyPr wrap="square" lIns="0" tIns="0" rIns="0" bIns="0" rtlCol="0" anchor="t"/>
          <a:lstStyle/>
          <a:p>
            <a:pPr algn="l" indent="0" marL="0">
              <a:lnSpc>
                <a:spcPct val="105000"/>
              </a:lnSpc>
              <a:buNone/>
            </a:pPr>
            <a:r>
              <a:rPr lang="en-US" sz="1800" dirty="0">
                <a:solidFill>
                  <a:schemeClr val="tx2"/>
                </a:solidFill>
                <a:latin typeface="Cambria Math" pitchFamily="34" charset="0"/>
                <a:ea typeface="Cambria Math" pitchFamily="34" charset="-122"/>
                <a:cs typeface="Cambria Math" pitchFamily="34" charset="-120"/>
              </a:rPr>
              <a:t>w₁ + w₂ + b ≥ w₁ + w₂ + 2b &gt; 0</a:t>
            </a:r>
            <a:endParaRPr lang="en-US" sz="1800" dirty="0"/>
          </a:p>
        </p:txBody>
      </p:sp>
      <p:sp>
        <p:nvSpPr>
          <p:cNvPr id="18" name="Shape 15"/>
          <p:cNvSpPr/>
          <p:nvPr/>
        </p:nvSpPr>
        <p:spPr>
          <a:xfrm>
            <a:off x="6858000" y="4389120"/>
            <a:ext cx="420624" cy="420624"/>
          </a:xfrm>
          <a:prstGeom prst="ellipse">
            <a:avLst/>
          </a:prstGeom>
          <a:solidFill>
            <a:schemeClr val="accent2"/>
          </a:solidFill>
          <a:ln w="25400">
            <a:solidFill>
              <a:schemeClr val="bg1"/>
            </a:solidFill>
            <a:prstDash val="solid"/>
          </a:ln>
        </p:spPr>
      </p:sp>
      <p:sp>
        <p:nvSpPr>
          <p:cNvPr id="19" name="Text 16"/>
          <p:cNvSpPr txBox="1"/>
          <p:nvPr/>
        </p:nvSpPr>
        <p:spPr>
          <a:xfrm>
            <a:off x="6858000" y="43891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7"/>
          <p:cNvSpPr txBox="1"/>
          <p:nvPr/>
        </p:nvSpPr>
        <p:spPr>
          <a:xfrm>
            <a:off x="7507224" y="4425696"/>
            <a:ext cx="41056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Contradiction with row 4</a:t>
            </a:r>
            <a:endParaRPr lang="en-US" sz="1900" dirty="0"/>
          </a:p>
        </p:txBody>
      </p:sp>
      <p:sp>
        <p:nvSpPr>
          <p:cNvPr id="21" name="Text 18"/>
          <p:cNvSpPr txBox="1"/>
          <p:nvPr/>
        </p:nvSpPr>
        <p:spPr>
          <a:xfrm>
            <a:off x="7507224" y="4728718"/>
            <a:ext cx="4105656" cy="675386"/>
          </a:xfrm>
          <a:prstGeom prst="rect">
            <a:avLst/>
          </a:prstGeom>
          <a:noFill/>
          <a:ln/>
        </p:spPr>
        <p:txBody>
          <a:bodyPr wrap="square" lIns="0" tIns="0" rIns="0" bIns="0" rtlCol="0" anchor="t"/>
          <a:lstStyle/>
          <a:p>
            <a:pPr algn="l" indent="0" marL="0">
              <a:lnSpc>
                <a:spcPct val="105000"/>
              </a:lnSpc>
              <a:buNone/>
            </a:pPr>
            <a:r>
              <a:rPr lang="en-US" sz="1800" dirty="0">
                <a:solidFill>
                  <a:schemeClr val="tx2"/>
                </a:solidFill>
              </a:rPr>
              <a:t>Row 4 demanded </a:t>
            </a:r>
            <a:r>
              <a:rPr lang="en-US" sz="1800" dirty="0">
                <a:solidFill>
                  <a:schemeClr val="tx2"/>
                </a:solidFill>
                <a:latin typeface="Cambria Math" pitchFamily="34" charset="0"/>
                <a:ea typeface="Cambria Math" pitchFamily="34" charset="-122"/>
                <a:cs typeface="Cambria Math" pitchFamily="34" charset="-120"/>
              </a:rPr>
              <a:t>w₁ + w₂ + b ≤ 0</a:t>
            </a:r>
            <a:r>
              <a:rPr lang="en-US" sz="1800" dirty="0">
                <a:solidFill>
                  <a:schemeClr val="tx2"/>
                </a:solidFill>
              </a:rPr>
              <a:t>.</a:t>
            </a:r>
            <a:endParaRPr lang="en-US" sz="1800" dirty="0"/>
          </a:p>
        </p:txBody>
      </p:sp>
      <p:sp>
        <p:nvSpPr>
          <p:cNvPr id="22" name="Shape 19"/>
          <p:cNvSpPr/>
          <p:nvPr/>
        </p:nvSpPr>
        <p:spPr>
          <a:xfrm>
            <a:off x="548640" y="5349240"/>
            <a:ext cx="11091672" cy="731520"/>
          </a:xfrm>
          <a:prstGeom prst="roundRect">
            <a:avLst>
              <a:gd name="adj" fmla="val 10000"/>
            </a:avLst>
          </a:prstGeom>
          <a:solidFill>
            <a:schemeClr val="accent1">
              <a:alpha val="10000"/>
            </a:schemeClr>
          </a:solidFill>
          <a:ln w="12700">
            <a:solidFill>
              <a:schemeClr val="accent1">
                <a:alpha val="10000"/>
              </a:schemeClr>
            </a:solidFill>
            <a:prstDash val="solid"/>
          </a:ln>
        </p:spPr>
      </p:sp>
      <p:sp>
        <p:nvSpPr>
          <p:cNvPr id="23" name="Text 20"/>
          <p:cNvSpPr txBox="1"/>
          <p:nvPr/>
        </p:nvSpPr>
        <p:spPr>
          <a:xfrm>
            <a:off x="777240" y="5349240"/>
            <a:ext cx="10634472" cy="731520"/>
          </a:xfrm>
          <a:prstGeom prst="rect">
            <a:avLst/>
          </a:prstGeom>
          <a:noFill/>
          <a:ln/>
        </p:spPr>
        <p:txBody>
          <a:bodyPr wrap="square" lIns="0" tIns="0" rIns="0" bIns="0" rtlCol="0" anchor="ctr"/>
          <a:lstStyle/>
          <a:p>
            <a:pPr algn="l" indent="0" marL="0">
              <a:lnSpc>
                <a:spcPct val="105000"/>
              </a:lnSpc>
              <a:buNone/>
            </a:pPr>
            <a:r>
              <a:rPr lang="en-US" sz="1900" b="1" dirty="0">
                <a:solidFill>
                  <a:schemeClr val="accent1"/>
                </a:solidFill>
              </a:rPr>
              <a:t>No such weights exist. Most real decision boundaries are curved, and linear models cannot curve.</a:t>
            </a:r>
            <a:endParaRPr lang="en-US" sz="19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One new feature, x₁x₂, makes XOR linear</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120640" cy="914400"/>
        </p:xfrm>
        <a:graphic>
          <a:graphicData uri="http://schemas.openxmlformats.org/drawingml/2006/table">
            <a:tbl>
              <a:tblPr/>
              <a:tblGrid>
                <a:gridCol w="1188720"/>
                <a:gridCol w="1188720"/>
                <a:gridCol w="1554480"/>
                <a:gridCol w="1188720"/>
              </a:tblGrid>
              <a:tr h="502920">
                <a:tc>
                  <a:txBody>
                    <a:bodyPr/>
                    <a:lstStyle/>
                    <a:p>
                      <a:pPr indent="0" marL="0">
                        <a:buNone/>
                      </a:pPr>
                      <a:r>
                        <a:rPr lang="en-US" sz="2000" b="1" dirty="0">
                          <a:solidFill>
                            <a:schemeClr val="bg1"/>
                          </a:solidFill>
                        </a:rPr>
                        <a:t>x₁</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2000" b="1" dirty="0">
                          <a:solidFill>
                            <a:schemeClr val="bg1"/>
                          </a:solidFill>
                        </a:rPr>
                        <a:t>x₂</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2000" b="1" dirty="0">
                          <a:solidFill>
                            <a:schemeClr val="bg1"/>
                          </a:solidFill>
                        </a:rPr>
                        <a:t>x₁x₂</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2000" b="1" dirty="0">
                          <a:solidFill>
                            <a:schemeClr val="bg1"/>
                          </a:solidFill>
                        </a:rPr>
                        <a:t>y</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02920">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02920">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2000" dirty="0">
                          <a:solidFill>
                            <a:schemeClr val="tx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2000" dirty="0">
                          <a:solidFill>
                            <a:schemeClr val="tx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02920">
                <a:tc>
                  <a:txBody>
                    <a:bodyPr/>
                    <a:lstStyle/>
                    <a:p>
                      <a:pPr indent="0" marL="0">
                        <a:buNone/>
                      </a:pPr>
                      <a:r>
                        <a:rPr lang="en-US" sz="2000" dirty="0">
                          <a:solidFill>
                            <a:schemeClr val="tx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2000" dirty="0">
                          <a:solidFill>
                            <a:schemeClr val="tx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02920">
                <a:tc>
                  <a:txBody>
                    <a:bodyPr/>
                    <a:lstStyle/>
                    <a:p>
                      <a:pPr indent="0" marL="0">
                        <a:buNone/>
                      </a:pPr>
                      <a:r>
                        <a:rPr lang="en-US" sz="2000" b="1" dirty="0">
                          <a:solidFill>
                            <a:schemeClr val="accent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2000" dirty="0">
                          <a:solidFill>
                            <a:schemeClr val="accent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2000" dirty="0">
                          <a:solidFill>
                            <a:schemeClr val="accent1"/>
                          </a:solidFill>
                        </a:rPr>
                        <a:t>1</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2000" dirty="0">
                          <a:solidFill>
                            <a:schemeClr val="accent1"/>
                          </a:solidFill>
                        </a:rPr>
                        <a:t>0</a:t>
                      </a:r>
                      <a:endParaRPr lang="en-US" sz="20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bl>
          </a:graphicData>
        </a:graphic>
      </p:graphicFrame>
      <p:sp>
        <p:nvSpPr>
          <p:cNvPr id="6" name="Shape 2"/>
          <p:cNvSpPr/>
          <p:nvPr/>
        </p:nvSpPr>
        <p:spPr>
          <a:xfrm>
            <a:off x="6217920" y="1691640"/>
            <a:ext cx="5422392" cy="1841373"/>
          </a:xfrm>
          <a:prstGeom prst="roundRect">
            <a:avLst>
              <a:gd name="adj" fmla="val 3973"/>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6446520" y="1837944"/>
            <a:ext cx="496519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LINEAR IN THE NEW SPACE</a:t>
            </a:r>
            <a:endParaRPr lang="en-US" sz="1200" dirty="0"/>
          </a:p>
        </p:txBody>
      </p:sp>
      <p:sp>
        <p:nvSpPr>
          <p:cNvPr id="8" name="Text 4"/>
          <p:cNvSpPr txBox="1"/>
          <p:nvPr/>
        </p:nvSpPr>
        <p:spPr>
          <a:xfrm>
            <a:off x="6446520" y="2267712"/>
            <a:ext cx="4965192" cy="1073277"/>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y = x₁ + x₂ − 2·x₁x₂</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(0,0) → 0     (0,1) → 1</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(1,0) → 1     (1,1) → 1 + 1 − 2 = 0</a:t>
            </a:r>
            <a:endParaRPr lang="en-US" sz="2100" dirty="0"/>
          </a:p>
        </p:txBody>
      </p:sp>
      <p:sp>
        <p:nvSpPr>
          <p:cNvPr id="9" name="Shape 5"/>
          <p:cNvSpPr/>
          <p:nvPr/>
        </p:nvSpPr>
        <p:spPr>
          <a:xfrm>
            <a:off x="548640" y="4572000"/>
            <a:ext cx="11091672" cy="868680"/>
          </a:xfrm>
          <a:prstGeom prst="roundRect">
            <a:avLst>
              <a:gd name="adj" fmla="val 8421"/>
            </a:avLst>
          </a:prstGeom>
          <a:solidFill>
            <a:schemeClr val="accent1">
              <a:alpha val="10000"/>
            </a:schemeClr>
          </a:solidFill>
          <a:ln w="12700">
            <a:solidFill>
              <a:schemeClr val="accent1">
                <a:alpha val="10000"/>
              </a:schemeClr>
            </a:solidFill>
            <a:prstDash val="solid"/>
          </a:ln>
        </p:spPr>
      </p:sp>
      <p:sp>
        <p:nvSpPr>
          <p:cNvPr id="10" name="Text 6"/>
          <p:cNvSpPr txBox="1"/>
          <p:nvPr/>
        </p:nvSpPr>
        <p:spPr>
          <a:xfrm>
            <a:off x="777240" y="4572000"/>
            <a:ext cx="10634472" cy="868680"/>
          </a:xfrm>
          <a:prstGeom prst="rect">
            <a:avLst/>
          </a:prstGeom>
          <a:noFill/>
          <a:ln/>
        </p:spPr>
        <p:txBody>
          <a:bodyPr wrap="square" lIns="0" tIns="0" rIns="0" bIns="0" rtlCol="0" anchor="ctr"/>
          <a:lstStyle/>
          <a:p>
            <a:pPr algn="l" indent="0" marL="0">
              <a:lnSpc>
                <a:spcPct val="105000"/>
              </a:lnSpc>
              <a:buNone/>
            </a:pPr>
            <a:r>
              <a:rPr lang="en-US" sz="2200" b="1" dirty="0">
                <a:solidFill>
                  <a:schemeClr val="accent1"/>
                </a:solidFill>
              </a:rPr>
              <a:t>A hard problem in one representation can be an easy problem in another.</a:t>
            </a:r>
            <a:endParaRPr lang="en-US" sz="2200" dirty="0"/>
          </a:p>
        </p:txBody>
      </p:sp>
      <p:sp>
        <p:nvSpPr>
          <p:cNvPr id="11" name="Text 7"/>
          <p:cNvSpPr txBox="1"/>
          <p:nvPr/>
        </p:nvSpPr>
        <p:spPr>
          <a:xfrm>
            <a:off x="548640" y="5577840"/>
            <a:ext cx="11091672" cy="36576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Kernel methods (an SVM with an RBF kernel) automate this, implicitly, in a very high-dimensional space.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Hand-crafted features stop working as problems grow</a:t>
            </a:r>
            <a:endParaRPr lang="en-US" sz="3000" dirty="0"/>
          </a:p>
        </p:txBody>
      </p:sp>
      <p:sp>
        <p:nvSpPr>
          <p:cNvPr id="5" name="Shape 2"/>
          <p:cNvSpPr/>
          <p:nvPr/>
        </p:nvSpPr>
        <p:spPr>
          <a:xfrm>
            <a:off x="758952" y="1901952"/>
            <a:ext cx="0" cy="2834640"/>
          </a:xfrm>
          <a:prstGeom prst="line">
            <a:avLst/>
          </a:prstGeom>
          <a:noFill/>
          <a:ln w="25400">
            <a:solidFill>
              <a:schemeClr val="accent2">
                <a:alpha val="50000"/>
              </a:schemeClr>
            </a:solidFill>
            <a:prstDash val="solid"/>
          </a:ln>
        </p:spPr>
      </p:sp>
      <p:sp>
        <p:nvSpPr>
          <p:cNvPr id="6" name="Shape 3"/>
          <p:cNvSpPr/>
          <p:nvPr/>
        </p:nvSpPr>
        <p:spPr>
          <a:xfrm>
            <a:off x="548640" y="1691640"/>
            <a:ext cx="420624" cy="420624"/>
          </a:xfrm>
          <a:prstGeom prst="ellipse">
            <a:avLst/>
          </a:prstGeom>
          <a:solidFill>
            <a:schemeClr val="accent2"/>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3002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It needs the answer first</a:t>
            </a:r>
            <a:endParaRPr lang="en-US" sz="1900" dirty="0"/>
          </a:p>
        </p:txBody>
      </p:sp>
      <p:sp>
        <p:nvSpPr>
          <p:cNvPr id="9" name="Text 6"/>
          <p:cNvSpPr txBox="1"/>
          <p:nvPr/>
        </p:nvSpPr>
        <p:spPr>
          <a:xfrm>
            <a:off x="1197864" y="2031238"/>
            <a:ext cx="630021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Which function of 224 × 224 × 3 = 150,528 pixels means “cat”? SIFT and HOG took years of expert work and were never enough.</a:t>
            </a:r>
            <a:endParaRPr lang="en-US" sz="1600" dirty="0"/>
          </a:p>
        </p:txBody>
      </p:sp>
      <p:sp>
        <p:nvSpPr>
          <p:cNvPr id="10" name="Shape 7"/>
          <p:cNvSpPr/>
          <p:nvPr/>
        </p:nvSpPr>
        <p:spPr>
          <a:xfrm>
            <a:off x="548640" y="3108960"/>
            <a:ext cx="420624" cy="420624"/>
          </a:xfrm>
          <a:prstGeom prst="ellipse">
            <a:avLst/>
          </a:prstGeom>
          <a:solidFill>
            <a:schemeClr val="accent2"/>
          </a:solidFill>
          <a:ln w="25400">
            <a:solidFill>
              <a:schemeClr val="bg1"/>
            </a:solidFill>
            <a:prstDash val="solid"/>
          </a:ln>
        </p:spPr>
      </p:sp>
      <p:sp>
        <p:nvSpPr>
          <p:cNvPr id="11" name="Text 8"/>
          <p:cNvSpPr txBox="1"/>
          <p:nvPr/>
        </p:nvSpPr>
        <p:spPr>
          <a:xfrm>
            <a:off x="548640" y="3108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3145536"/>
            <a:ext cx="63002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It explodes combinatorially</a:t>
            </a:r>
            <a:endParaRPr lang="en-US" sz="1900" dirty="0"/>
          </a:p>
        </p:txBody>
      </p:sp>
      <p:sp>
        <p:nvSpPr>
          <p:cNvPr id="13" name="Text 10"/>
          <p:cNvSpPr txBox="1"/>
          <p:nvPr/>
        </p:nvSpPr>
        <p:spPr>
          <a:xfrm>
            <a:off x="1197864" y="3448558"/>
            <a:ext cx="630021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All degree-3 products of n inputs number about n³/6.</a:t>
            </a:r>
            <a:endParaRPr lang="en-US" sz="1600" dirty="0"/>
          </a:p>
        </p:txBody>
      </p:sp>
      <p:sp>
        <p:nvSpPr>
          <p:cNvPr id="14" name="Shape 11"/>
          <p:cNvSpPr/>
          <p:nvPr/>
        </p:nvSpPr>
        <p:spPr>
          <a:xfrm>
            <a:off x="548640" y="4526280"/>
            <a:ext cx="420624" cy="420624"/>
          </a:xfrm>
          <a:prstGeom prst="ellipse">
            <a:avLst/>
          </a:prstGeom>
          <a:solidFill>
            <a:schemeClr val="accent2"/>
          </a:solidFill>
          <a:ln w="25400">
            <a:solidFill>
              <a:schemeClr val="bg1"/>
            </a:solidFill>
            <a:prstDash val="solid"/>
          </a:ln>
        </p:spPr>
      </p:sp>
      <p:sp>
        <p:nvSpPr>
          <p:cNvPr id="15" name="Text 12"/>
          <p:cNvSpPr txBox="1"/>
          <p:nvPr/>
        </p:nvSpPr>
        <p:spPr>
          <a:xfrm>
            <a:off x="548640" y="45262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4562856"/>
            <a:ext cx="63002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It does not transfer</a:t>
            </a:r>
            <a:endParaRPr lang="en-US" sz="1900" dirty="0"/>
          </a:p>
        </p:txBody>
      </p:sp>
      <p:sp>
        <p:nvSpPr>
          <p:cNvPr id="17" name="Text 14"/>
          <p:cNvSpPr txBox="1"/>
          <p:nvPr/>
        </p:nvSpPr>
        <p:spPr>
          <a:xfrm>
            <a:off x="1197864" y="4865878"/>
            <a:ext cx="630021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Face-detection features are nearly useless for tumours in MRI scans. Every new problem restarts the expert clock.</a:t>
            </a:r>
            <a:endParaRPr lang="en-US" sz="1600" dirty="0"/>
          </a:p>
        </p:txBody>
      </p:sp>
      <p:sp>
        <p:nvSpPr>
          <p:cNvPr id="18" name="Shape 15"/>
          <p:cNvSpPr/>
          <p:nvPr/>
        </p:nvSpPr>
        <p:spPr>
          <a:xfrm>
            <a:off x="8001000" y="1691640"/>
            <a:ext cx="3639312" cy="4023360"/>
          </a:xfrm>
          <a:prstGeom prst="roundRect">
            <a:avLst>
              <a:gd name="adj" fmla="val 2010"/>
            </a:avLst>
          </a:prstGeom>
          <a:solidFill>
            <a:schemeClr val="accent2">
              <a:alpha val="12000"/>
            </a:schemeClr>
          </a:solidFill>
          <a:ln w="12700">
            <a:solidFill>
              <a:schemeClr val="accent2">
                <a:alpha val="12000"/>
              </a:schemeClr>
            </a:solidFill>
            <a:prstDash val="solid"/>
          </a:ln>
        </p:spPr>
      </p:sp>
      <p:sp>
        <p:nvSpPr>
          <p:cNvPr id="19" name="Text 16"/>
          <p:cNvSpPr txBox="1"/>
          <p:nvPr/>
        </p:nvSpPr>
        <p:spPr>
          <a:xfrm>
            <a:off x="8183880" y="2286000"/>
            <a:ext cx="3291840" cy="914400"/>
          </a:xfrm>
          <a:prstGeom prst="rect">
            <a:avLst/>
          </a:prstGeom>
          <a:noFill/>
          <a:ln/>
        </p:spPr>
        <p:txBody>
          <a:bodyPr wrap="square" lIns="0" tIns="0" rIns="0" bIns="0" rtlCol="0" anchor="t"/>
          <a:lstStyle/>
          <a:p>
            <a:pPr algn="ctr" indent="0" marL="0">
              <a:lnSpc>
                <a:spcPct val="105000"/>
              </a:lnSpc>
              <a:buNone/>
            </a:pPr>
            <a:r>
              <a:rPr lang="en-US" sz="4400" b="1" dirty="0">
                <a:solidFill>
                  <a:schemeClr val="accent2"/>
                </a:solidFill>
              </a:rPr>
              <a:t>≈ 1.7 × 10⁸</a:t>
            </a:r>
            <a:endParaRPr lang="en-US" sz="4400" dirty="0"/>
          </a:p>
        </p:txBody>
      </p:sp>
      <p:sp>
        <p:nvSpPr>
          <p:cNvPr id="20" name="Text 17"/>
          <p:cNvSpPr txBox="1"/>
          <p:nvPr/>
        </p:nvSpPr>
        <p:spPr>
          <a:xfrm>
            <a:off x="8183880" y="3291840"/>
            <a:ext cx="3291840" cy="731520"/>
          </a:xfrm>
          <a:prstGeom prst="rect">
            <a:avLst/>
          </a:prstGeom>
          <a:noFill/>
          <a:ln/>
        </p:spPr>
        <p:txBody>
          <a:bodyPr wrap="square" lIns="0" tIns="0" rIns="0" bIns="0" rtlCol="0" anchor="t"/>
          <a:lstStyle/>
          <a:p>
            <a:pPr algn="ctr" indent="0" marL="0">
              <a:lnSpc>
                <a:spcPct val="105000"/>
              </a:lnSpc>
              <a:buNone/>
            </a:pPr>
            <a:r>
              <a:rPr lang="en-US" sz="1800" dirty="0">
                <a:solidFill>
                  <a:schemeClr val="tx1"/>
                </a:solidFill>
              </a:rPr>
              <a:t>degree-3 features for n = 1,000 inputs</a:t>
            </a:r>
            <a:endParaRPr lang="en-US" sz="1800" dirty="0"/>
          </a:p>
        </p:txBody>
      </p:sp>
      <p:sp>
        <p:nvSpPr>
          <p:cNvPr id="21" name="Text 18"/>
          <p:cNvSpPr txBox="1"/>
          <p:nvPr/>
        </p:nvSpPr>
        <p:spPr>
          <a:xfrm>
            <a:off x="8183880" y="4206240"/>
            <a:ext cx="3291840" cy="914400"/>
          </a:xfrm>
          <a:prstGeom prst="rect">
            <a:avLst/>
          </a:prstGeom>
          <a:noFill/>
          <a:ln/>
        </p:spPr>
        <p:txBody>
          <a:bodyPr wrap="square" lIns="0" tIns="0" rIns="0" bIns="0" rtlCol="0" anchor="t"/>
          <a:lstStyle/>
          <a:p>
            <a:pPr algn="ctr" indent="0" marL="0">
              <a:lnSpc>
                <a:spcPct val="105000"/>
              </a:lnSpc>
              <a:buNone/>
            </a:pPr>
            <a:r>
              <a:rPr lang="en-US" sz="1600" dirty="0">
                <a:solidFill>
                  <a:schemeClr val="tx2"/>
                </a:solidFill>
              </a:rPr>
              <a:t>You cannot store that weight vector, let alone fit it.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 network learns its features and its classifier jointly</a:t>
            </a:r>
            <a:endParaRPr lang="en-US" sz="3000" dirty="0"/>
          </a:p>
        </p:txBody>
      </p:sp>
      <p:sp>
        <p:nvSpPr>
          <p:cNvPr id="5" name="Shape 2"/>
          <p:cNvSpPr/>
          <p:nvPr/>
        </p:nvSpPr>
        <p:spPr>
          <a:xfrm>
            <a:off x="548640" y="1828800"/>
            <a:ext cx="1097280" cy="1097280"/>
          </a:xfrm>
          <a:prstGeom prst="roundRect">
            <a:avLst>
              <a:gd name="adj" fmla="val 5000"/>
            </a:avLst>
          </a:prstGeom>
          <a:solidFill>
            <a:schemeClr val="bg1"/>
          </a:solidFill>
          <a:ln w="15875">
            <a:solidFill>
              <a:schemeClr val="tx1"/>
            </a:solidFill>
            <a:prstDash val="solid"/>
          </a:ln>
        </p:spPr>
      </p:sp>
      <p:sp>
        <p:nvSpPr>
          <p:cNvPr id="6" name="Text 3"/>
          <p:cNvSpPr txBox="1"/>
          <p:nvPr/>
        </p:nvSpPr>
        <p:spPr>
          <a:xfrm>
            <a:off x="594360" y="1828800"/>
            <a:ext cx="1005840" cy="1097280"/>
          </a:xfrm>
          <a:prstGeom prst="rect">
            <a:avLst/>
          </a:prstGeom>
          <a:noFill/>
          <a:ln/>
        </p:spPr>
        <p:txBody>
          <a:bodyPr wrap="square" lIns="0" tIns="0" rIns="0" bIns="0" rtlCol="0" anchor="ctr"/>
          <a:lstStyle/>
          <a:p>
            <a:pPr algn="ctr" indent="0" marL="0">
              <a:lnSpc>
                <a:spcPct val="105000"/>
              </a:lnSpc>
              <a:buNone/>
            </a:pPr>
            <a:r>
              <a:rPr lang="en-US" sz="2400" dirty="0">
                <a:solidFill>
                  <a:schemeClr val="tx1"/>
                </a:solidFill>
                <a:latin typeface="Cambria Math" pitchFamily="34" charset="0"/>
                <a:ea typeface="Cambria Math" pitchFamily="34" charset="-122"/>
                <a:cs typeface="Cambria Math" pitchFamily="34" charset="-120"/>
              </a:rPr>
              <a:t>x</a:t>
            </a:r>
            <a:endParaRPr lang="en-US" sz="2400" dirty="0"/>
          </a:p>
        </p:txBody>
      </p:sp>
      <p:sp>
        <p:nvSpPr>
          <p:cNvPr id="7" name="Shape 4"/>
          <p:cNvSpPr/>
          <p:nvPr/>
        </p:nvSpPr>
        <p:spPr>
          <a:xfrm>
            <a:off x="1645920" y="2377440"/>
            <a:ext cx="548640" cy="0"/>
          </a:xfrm>
          <a:prstGeom prst="line">
            <a:avLst/>
          </a:prstGeom>
          <a:noFill/>
          <a:ln w="25400">
            <a:solidFill>
              <a:srgbClr val="0F7B78"/>
            </a:solidFill>
            <a:prstDash val="solid"/>
            <a:tailEnd type="triangle"/>
          </a:ln>
        </p:spPr>
      </p:sp>
      <p:sp>
        <p:nvSpPr>
          <p:cNvPr id="8" name="Shape 5"/>
          <p:cNvSpPr/>
          <p:nvPr/>
        </p:nvSpPr>
        <p:spPr>
          <a:xfrm>
            <a:off x="2194560" y="1828800"/>
            <a:ext cx="3931920" cy="1097280"/>
          </a:xfrm>
          <a:prstGeom prst="roundRect">
            <a:avLst>
              <a:gd name="adj" fmla="val 5000"/>
            </a:avLst>
          </a:prstGeom>
          <a:solidFill>
            <a:schemeClr val="accent1">
              <a:alpha val="10000"/>
            </a:schemeClr>
          </a:solidFill>
          <a:ln w="15875">
            <a:solidFill>
              <a:schemeClr val="accent1"/>
            </a:solidFill>
            <a:prstDash val="solid"/>
          </a:ln>
        </p:spPr>
      </p:sp>
      <p:sp>
        <p:nvSpPr>
          <p:cNvPr id="9" name="Text 6"/>
          <p:cNvSpPr txBox="1"/>
          <p:nvPr/>
        </p:nvSpPr>
        <p:spPr>
          <a:xfrm>
            <a:off x="2240280" y="1828800"/>
            <a:ext cx="3840480" cy="109728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Learned feature extractor</a:t>
            </a:r>
            <a:endParaRPr lang="en-US" sz="1800" dirty="0"/>
          </a:p>
          <a:p>
            <a:pPr algn="ctr" indent="0" marL="0">
              <a:lnSpc>
                <a:spcPct val="105000"/>
              </a:lnSpc>
              <a:buNone/>
            </a:pPr>
            <a:r>
              <a:rPr lang="en-US" sz="1800" dirty="0">
                <a:solidFill>
                  <a:schemeClr val="tx1"/>
                </a:solidFill>
                <a:latin typeface="Cambria Math" pitchFamily="34" charset="0"/>
                <a:ea typeface="Cambria Math" pitchFamily="34" charset="-122"/>
                <a:cs typeface="Cambria Math" pitchFamily="34" charset="-120"/>
              </a:rPr>
              <a:t>h = g(Wx + c)</a:t>
            </a:r>
            <a:endParaRPr lang="en-US" sz="1800" dirty="0"/>
          </a:p>
        </p:txBody>
      </p:sp>
      <p:sp>
        <p:nvSpPr>
          <p:cNvPr id="10" name="Shape 7"/>
          <p:cNvSpPr/>
          <p:nvPr/>
        </p:nvSpPr>
        <p:spPr>
          <a:xfrm>
            <a:off x="6126480" y="2377440"/>
            <a:ext cx="548640" cy="0"/>
          </a:xfrm>
          <a:prstGeom prst="line">
            <a:avLst/>
          </a:prstGeom>
          <a:noFill/>
          <a:ln w="25400">
            <a:solidFill>
              <a:srgbClr val="0F7B78"/>
            </a:solidFill>
            <a:prstDash val="solid"/>
            <a:tailEnd type="triangle"/>
          </a:ln>
        </p:spPr>
      </p:sp>
      <p:sp>
        <p:nvSpPr>
          <p:cNvPr id="11" name="Shape 8"/>
          <p:cNvSpPr/>
          <p:nvPr/>
        </p:nvSpPr>
        <p:spPr>
          <a:xfrm>
            <a:off x="6675120" y="1828800"/>
            <a:ext cx="3566160" cy="1097280"/>
          </a:xfrm>
          <a:prstGeom prst="roundRect">
            <a:avLst>
              <a:gd name="adj" fmla="val 5000"/>
            </a:avLst>
          </a:prstGeom>
          <a:solidFill>
            <a:schemeClr val="bg1"/>
          </a:solidFill>
          <a:ln w="15875">
            <a:solidFill>
              <a:schemeClr val="tx1"/>
            </a:solidFill>
            <a:prstDash val="solid"/>
          </a:ln>
        </p:spPr>
      </p:sp>
      <p:sp>
        <p:nvSpPr>
          <p:cNvPr id="12" name="Text 9"/>
          <p:cNvSpPr txBox="1"/>
          <p:nvPr/>
        </p:nvSpPr>
        <p:spPr>
          <a:xfrm>
            <a:off x="6720840" y="1828800"/>
            <a:ext cx="3474720" cy="109728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Linear model on top</a:t>
            </a:r>
            <a:endParaRPr lang="en-US" sz="1800" dirty="0"/>
          </a:p>
          <a:p>
            <a:pPr algn="ctr" indent="0" marL="0">
              <a:lnSpc>
                <a:spcPct val="105000"/>
              </a:lnSpc>
              <a:buNone/>
            </a:pPr>
            <a:r>
              <a:rPr lang="en-US" sz="1800" dirty="0">
                <a:solidFill>
                  <a:schemeClr val="tx1"/>
                </a:solidFill>
                <a:latin typeface="Cambria Math" pitchFamily="34" charset="0"/>
                <a:ea typeface="Cambria Math" pitchFamily="34" charset="-122"/>
                <a:cs typeface="Cambria Math" pitchFamily="34" charset="-120"/>
              </a:rPr>
              <a:t>ŷ = wᵀh + b</a:t>
            </a:r>
            <a:endParaRPr lang="en-US" sz="1800" dirty="0"/>
          </a:p>
        </p:txBody>
      </p:sp>
      <p:sp>
        <p:nvSpPr>
          <p:cNvPr id="13" name="Shape 10"/>
          <p:cNvSpPr/>
          <p:nvPr/>
        </p:nvSpPr>
        <p:spPr>
          <a:xfrm>
            <a:off x="10241280" y="2377440"/>
            <a:ext cx="548640" cy="0"/>
          </a:xfrm>
          <a:prstGeom prst="line">
            <a:avLst/>
          </a:prstGeom>
          <a:noFill/>
          <a:ln w="25400">
            <a:solidFill>
              <a:srgbClr val="0F7B78"/>
            </a:solidFill>
            <a:prstDash val="solid"/>
            <a:tailEnd type="triangle"/>
          </a:ln>
        </p:spPr>
      </p:sp>
      <p:sp>
        <p:nvSpPr>
          <p:cNvPr id="14" name="Shape 11"/>
          <p:cNvSpPr/>
          <p:nvPr/>
        </p:nvSpPr>
        <p:spPr>
          <a:xfrm>
            <a:off x="10789920" y="1828800"/>
            <a:ext cx="850392" cy="1097280"/>
          </a:xfrm>
          <a:prstGeom prst="roundRect">
            <a:avLst>
              <a:gd name="adj" fmla="val 6452"/>
            </a:avLst>
          </a:prstGeom>
          <a:solidFill>
            <a:schemeClr val="bg1"/>
          </a:solidFill>
          <a:ln w="15875">
            <a:solidFill>
              <a:schemeClr val="tx1"/>
            </a:solidFill>
            <a:prstDash val="solid"/>
          </a:ln>
        </p:spPr>
      </p:sp>
      <p:sp>
        <p:nvSpPr>
          <p:cNvPr id="15" name="Text 12"/>
          <p:cNvSpPr txBox="1"/>
          <p:nvPr/>
        </p:nvSpPr>
        <p:spPr>
          <a:xfrm>
            <a:off x="10835640" y="1828800"/>
            <a:ext cx="758952" cy="1097280"/>
          </a:xfrm>
          <a:prstGeom prst="rect">
            <a:avLst/>
          </a:prstGeom>
          <a:noFill/>
          <a:ln/>
        </p:spPr>
        <p:txBody>
          <a:bodyPr wrap="square" lIns="0" tIns="0" rIns="0" bIns="0" rtlCol="0" anchor="ctr"/>
          <a:lstStyle/>
          <a:p>
            <a:pPr algn="ctr" indent="0" marL="0">
              <a:lnSpc>
                <a:spcPct val="105000"/>
              </a:lnSpc>
              <a:buNone/>
            </a:pPr>
            <a:r>
              <a:rPr lang="en-US" sz="2400" dirty="0">
                <a:solidFill>
                  <a:schemeClr val="tx1"/>
                </a:solidFill>
                <a:latin typeface="Cambria Math" pitchFamily="34" charset="0"/>
                <a:ea typeface="Cambria Math" pitchFamily="34" charset="-122"/>
                <a:cs typeface="Cambria Math" pitchFamily="34" charset="-120"/>
              </a:rPr>
              <a:t>ŷ</a:t>
            </a:r>
            <a:endParaRPr lang="en-US" sz="2400" dirty="0"/>
          </a:p>
        </p:txBody>
      </p:sp>
      <p:sp>
        <p:nvSpPr>
          <p:cNvPr id="16" name="Shape 13"/>
          <p:cNvSpPr/>
          <p:nvPr/>
        </p:nvSpPr>
        <p:spPr>
          <a:xfrm>
            <a:off x="8458200" y="2926080"/>
            <a:ext cx="0" cy="411480"/>
          </a:xfrm>
          <a:prstGeom prst="line">
            <a:avLst/>
          </a:prstGeom>
          <a:noFill/>
          <a:ln w="25400">
            <a:solidFill>
              <a:srgbClr val="D45D27"/>
            </a:solidFill>
            <a:prstDash val="solid"/>
          </a:ln>
        </p:spPr>
      </p:sp>
      <p:sp>
        <p:nvSpPr>
          <p:cNvPr id="17" name="Shape 14"/>
          <p:cNvSpPr/>
          <p:nvPr/>
        </p:nvSpPr>
        <p:spPr>
          <a:xfrm flipH="1">
            <a:off x="4160520" y="3337560"/>
            <a:ext cx="4297680" cy="0"/>
          </a:xfrm>
          <a:prstGeom prst="line">
            <a:avLst/>
          </a:prstGeom>
          <a:noFill/>
          <a:ln w="25400">
            <a:solidFill>
              <a:srgbClr val="D45D27"/>
            </a:solidFill>
            <a:prstDash val="solid"/>
          </a:ln>
        </p:spPr>
      </p:sp>
      <p:sp>
        <p:nvSpPr>
          <p:cNvPr id="18" name="Shape 15"/>
          <p:cNvSpPr/>
          <p:nvPr/>
        </p:nvSpPr>
        <p:spPr>
          <a:xfrm flipV="1">
            <a:off x="4160520" y="2944368"/>
            <a:ext cx="0" cy="393192"/>
          </a:xfrm>
          <a:prstGeom prst="line">
            <a:avLst/>
          </a:prstGeom>
          <a:noFill/>
          <a:ln w="25400">
            <a:solidFill>
              <a:srgbClr val="D45D27"/>
            </a:solidFill>
            <a:prstDash val="solid"/>
            <a:tailEnd type="triangle"/>
          </a:ln>
        </p:spPr>
      </p:sp>
      <p:sp>
        <p:nvSpPr>
          <p:cNvPr id="19" name="Text 16"/>
          <p:cNvSpPr txBox="1"/>
          <p:nvPr/>
        </p:nvSpPr>
        <p:spPr>
          <a:xfrm>
            <a:off x="4389120" y="3383280"/>
            <a:ext cx="4114800" cy="320040"/>
          </a:xfrm>
          <a:prstGeom prst="rect">
            <a:avLst/>
          </a:prstGeom>
          <a:noFill/>
          <a:ln/>
        </p:spPr>
        <p:txBody>
          <a:bodyPr wrap="square" lIns="0" tIns="0" rIns="0" bIns="0" rtlCol="0" anchor="t"/>
          <a:lstStyle/>
          <a:p>
            <a:pPr algn="l" indent="0" marL="0">
              <a:lnSpc>
                <a:spcPct val="105000"/>
              </a:lnSpc>
              <a:buNone/>
            </a:pPr>
            <a:r>
              <a:rPr lang="en-US" sz="1500" dirty="0">
                <a:solidFill>
                  <a:schemeClr val="accent2"/>
                </a:solidFill>
              </a:rPr>
              <a:t>both trained by gradient descent on the same loss</a:t>
            </a:r>
            <a:endParaRPr lang="en-US" sz="1500" dirty="0"/>
          </a:p>
        </p:txBody>
      </p:sp>
      <p:sp>
        <p:nvSpPr>
          <p:cNvPr id="20" name="Shape 17"/>
          <p:cNvSpPr/>
          <p:nvPr/>
        </p:nvSpPr>
        <p:spPr>
          <a:xfrm>
            <a:off x="548640" y="3931920"/>
            <a:ext cx="11091672" cy="1507998"/>
          </a:xfrm>
          <a:prstGeom prst="roundRect">
            <a:avLst>
              <a:gd name="adj" fmla="val 4851"/>
            </a:avLst>
          </a:prstGeom>
          <a:solidFill>
            <a:schemeClr val="bg2"/>
          </a:solidFill>
          <a:ln w="12700">
            <a:solidFill>
              <a:schemeClr val="bg2"/>
            </a:solidFill>
            <a:prstDash val="solid"/>
          </a:ln>
        </p:spPr>
      </p:sp>
      <p:sp>
        <p:nvSpPr>
          <p:cNvPr id="21" name="Text 18"/>
          <p:cNvSpPr txBox="1"/>
          <p:nvPr/>
        </p:nvSpPr>
        <p:spPr>
          <a:xfrm>
            <a:off x="777240" y="4078224"/>
            <a:ext cx="10634472" cy="274320"/>
          </a:xfrm>
          <a:prstGeom prst="rect">
            <a:avLst/>
          </a:prstGeom>
          <a:noFill/>
          <a:ln/>
        </p:spPr>
        <p:txBody>
          <a:bodyPr wrap="square" lIns="0" tIns="0" rIns="0" bIns="0" rtlCol="0" anchor="ctr"/>
          <a:lstStyle/>
          <a:p>
            <a:pPr indent="0" marL="0">
              <a:buNone/>
            </a:pPr>
            <a:r>
              <a:rPr lang="en-US" sz="1200" b="1" spc="120" kern="0" dirty="0">
                <a:solidFill>
                  <a:schemeClr val="tx2"/>
                </a:solidFill>
              </a:rPr>
              <a:t>THE ONLY CHANGE</a:t>
            </a:r>
            <a:endParaRPr lang="en-US" sz="1200" dirty="0"/>
          </a:p>
        </p:txBody>
      </p:sp>
      <p:sp>
        <p:nvSpPr>
          <p:cNvPr id="22" name="Text 19"/>
          <p:cNvSpPr txBox="1"/>
          <p:nvPr/>
        </p:nvSpPr>
        <p:spPr>
          <a:xfrm>
            <a:off x="777240" y="4507992"/>
            <a:ext cx="10634472" cy="739902"/>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Linear model:            ŷ = wᵀx + b</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One hidden layer:       h = g(Wx + c),    ŷ = wᵀh + b</a:t>
            </a:r>
            <a:endParaRPr lang="en-US" sz="2100" dirty="0"/>
          </a:p>
        </p:txBody>
      </p:sp>
      <p:sp>
        <p:nvSpPr>
          <p:cNvPr id="23" name="Text 20"/>
          <p:cNvSpPr txBox="1"/>
          <p:nvPr/>
        </p:nvSpPr>
        <p:spPr>
          <a:xfrm>
            <a:off x="548640" y="5532120"/>
            <a:ext cx="11091672" cy="41148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latin typeface="Cambria Math" pitchFamily="34" charset="0"/>
                <a:ea typeface="Cambria Math" pitchFamily="34" charset="-122"/>
                <a:cs typeface="Cambria Math" pitchFamily="34" charset="-120"/>
              </a:rPr>
              <a:t>g</a:t>
            </a:r>
            <a:r>
              <a:rPr lang="en-US" sz="1600" dirty="0">
                <a:solidFill>
                  <a:schemeClr val="tx2"/>
                </a:solidFill>
              </a:rPr>
              <a:t> is a nonlinear function applied elementwise. Without it, the two layers would merge into one linear model (§3).</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Learned features are task-driven, reusable and composable</a:t>
            </a:r>
            <a:endParaRPr lang="en-US" sz="3000" dirty="0"/>
          </a:p>
        </p:txBody>
      </p:sp>
      <p:sp>
        <p:nvSpPr>
          <p:cNvPr id="5" name="Shape 2"/>
          <p:cNvSpPr/>
          <p:nvPr/>
        </p:nvSpPr>
        <p:spPr>
          <a:xfrm>
            <a:off x="758952" y="1901952"/>
            <a:ext cx="0" cy="2743200"/>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Task-driven</a:t>
            </a:r>
            <a:endParaRPr lang="en-US" sz="1900" dirty="0"/>
          </a:p>
        </p:txBody>
      </p:sp>
      <p:sp>
        <p:nvSpPr>
          <p:cNvPr id="9" name="Text 6"/>
          <p:cNvSpPr txBox="1"/>
          <p:nvPr/>
        </p:nvSpPr>
        <p:spPr>
          <a:xfrm>
            <a:off x="1197864" y="2031238"/>
            <a:ext cx="60258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Shaped by the loss you actually care about, not an expert’s guess.</a:t>
            </a:r>
            <a:endParaRPr lang="en-US" sz="1600" dirty="0"/>
          </a:p>
        </p:txBody>
      </p:sp>
      <p:sp>
        <p:nvSpPr>
          <p:cNvPr id="10" name="Shape 7"/>
          <p:cNvSpPr/>
          <p:nvPr/>
        </p:nvSpPr>
        <p:spPr>
          <a:xfrm>
            <a:off x="548640" y="3063240"/>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3099816"/>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Reusable</a:t>
            </a:r>
            <a:endParaRPr lang="en-US" sz="1900" dirty="0"/>
          </a:p>
        </p:txBody>
      </p:sp>
      <p:sp>
        <p:nvSpPr>
          <p:cNvPr id="13" name="Text 10"/>
          <p:cNvSpPr txBox="1"/>
          <p:nvPr/>
        </p:nvSpPr>
        <p:spPr>
          <a:xfrm>
            <a:off x="1197864" y="3402838"/>
            <a:ext cx="60258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Edge and texture detectors learned on millions of photos help almost any vision task. This is transfer learning.</a:t>
            </a:r>
            <a:endParaRPr lang="en-US" sz="1600" dirty="0"/>
          </a:p>
        </p:txBody>
      </p:sp>
      <p:sp>
        <p:nvSpPr>
          <p:cNvPr id="14" name="Shape 11"/>
          <p:cNvSpPr/>
          <p:nvPr/>
        </p:nvSpPr>
        <p:spPr>
          <a:xfrm>
            <a:off x="548640" y="4434840"/>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4471416"/>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Composable</a:t>
            </a:r>
            <a:endParaRPr lang="en-US" sz="1900" dirty="0"/>
          </a:p>
        </p:txBody>
      </p:sp>
      <p:sp>
        <p:nvSpPr>
          <p:cNvPr id="17" name="Text 14"/>
          <p:cNvSpPr txBox="1"/>
          <p:nvPr/>
        </p:nvSpPr>
        <p:spPr>
          <a:xfrm>
            <a:off x="1197864" y="4774438"/>
            <a:ext cx="60258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Layer 2 builds features from layer 1’s, layer 3 from layer 2’s. This hierarchy is what “deep” means.</a:t>
            </a:r>
            <a:endParaRPr lang="en-US" sz="1600" dirty="0"/>
          </a:p>
        </p:txBody>
      </p:sp>
      <p:sp>
        <p:nvSpPr>
          <p:cNvPr id="18" name="Shape 15"/>
          <p:cNvSpPr/>
          <p:nvPr/>
        </p:nvSpPr>
        <p:spPr>
          <a:xfrm>
            <a:off x="8229600" y="1691640"/>
            <a:ext cx="3108960" cy="502920"/>
          </a:xfrm>
          <a:prstGeom prst="roundRect">
            <a:avLst>
              <a:gd name="adj" fmla="val 10909"/>
            </a:avLst>
          </a:prstGeom>
          <a:solidFill>
            <a:schemeClr val="accent1">
              <a:alpha val="10000"/>
            </a:schemeClr>
          </a:solidFill>
          <a:ln w="15875">
            <a:solidFill>
              <a:schemeClr val="accent1"/>
            </a:solidFill>
            <a:prstDash val="solid"/>
          </a:ln>
        </p:spPr>
      </p:sp>
      <p:sp>
        <p:nvSpPr>
          <p:cNvPr id="19" name="Text 16"/>
          <p:cNvSpPr txBox="1"/>
          <p:nvPr/>
        </p:nvSpPr>
        <p:spPr>
          <a:xfrm>
            <a:off x="8275320" y="1691640"/>
            <a:ext cx="3017520" cy="502920"/>
          </a:xfrm>
          <a:prstGeom prst="rect">
            <a:avLst/>
          </a:prstGeom>
          <a:noFill/>
          <a:ln/>
        </p:spPr>
        <p:txBody>
          <a:bodyPr wrap="square" lIns="0" tIns="0" rIns="0" bIns="0" rtlCol="0" anchor="ctr"/>
          <a:lstStyle/>
          <a:p>
            <a:pPr algn="ctr" indent="0" marL="0">
              <a:lnSpc>
                <a:spcPct val="105000"/>
              </a:lnSpc>
              <a:buNone/>
            </a:pPr>
            <a:r>
              <a:rPr lang="en-US" sz="1700" b="1" dirty="0">
                <a:solidFill>
                  <a:schemeClr val="tx1"/>
                </a:solidFill>
              </a:rPr>
              <a:t>Objects</a:t>
            </a:r>
            <a:endParaRPr lang="en-US" sz="1700" dirty="0"/>
          </a:p>
        </p:txBody>
      </p:sp>
      <p:sp>
        <p:nvSpPr>
          <p:cNvPr id="20" name="Shape 17"/>
          <p:cNvSpPr/>
          <p:nvPr/>
        </p:nvSpPr>
        <p:spPr>
          <a:xfrm flipV="1">
            <a:off x="9784080" y="2212848"/>
            <a:ext cx="0" cy="192024"/>
          </a:xfrm>
          <a:prstGeom prst="line">
            <a:avLst/>
          </a:prstGeom>
          <a:noFill/>
          <a:ln w="25400">
            <a:solidFill>
              <a:srgbClr val="0F7B78"/>
            </a:solidFill>
            <a:prstDash val="solid"/>
            <a:tailEnd type="triangle"/>
          </a:ln>
        </p:spPr>
      </p:sp>
      <p:sp>
        <p:nvSpPr>
          <p:cNvPr id="21" name="Shape 18"/>
          <p:cNvSpPr/>
          <p:nvPr/>
        </p:nvSpPr>
        <p:spPr>
          <a:xfrm>
            <a:off x="8229600" y="2404872"/>
            <a:ext cx="3108960" cy="502920"/>
          </a:xfrm>
          <a:prstGeom prst="roundRect">
            <a:avLst>
              <a:gd name="adj" fmla="val 10909"/>
            </a:avLst>
          </a:prstGeom>
          <a:solidFill>
            <a:schemeClr val="accent1">
              <a:alpha val="10000"/>
            </a:schemeClr>
          </a:solidFill>
          <a:ln w="15875">
            <a:solidFill>
              <a:schemeClr val="accent1"/>
            </a:solidFill>
            <a:prstDash val="solid"/>
          </a:ln>
        </p:spPr>
      </p:sp>
      <p:sp>
        <p:nvSpPr>
          <p:cNvPr id="22" name="Text 19"/>
          <p:cNvSpPr txBox="1"/>
          <p:nvPr/>
        </p:nvSpPr>
        <p:spPr>
          <a:xfrm>
            <a:off x="8275320" y="2404872"/>
            <a:ext cx="301752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Object parts</a:t>
            </a:r>
            <a:endParaRPr lang="en-US" sz="1700" dirty="0"/>
          </a:p>
        </p:txBody>
      </p:sp>
      <p:sp>
        <p:nvSpPr>
          <p:cNvPr id="23" name="Shape 20"/>
          <p:cNvSpPr/>
          <p:nvPr/>
        </p:nvSpPr>
        <p:spPr>
          <a:xfrm flipV="1">
            <a:off x="9784080" y="2926080"/>
            <a:ext cx="0" cy="192024"/>
          </a:xfrm>
          <a:prstGeom prst="line">
            <a:avLst/>
          </a:prstGeom>
          <a:noFill/>
          <a:ln w="25400">
            <a:solidFill>
              <a:srgbClr val="0F7B78"/>
            </a:solidFill>
            <a:prstDash val="solid"/>
            <a:tailEnd type="triangle"/>
          </a:ln>
        </p:spPr>
      </p:sp>
      <p:sp>
        <p:nvSpPr>
          <p:cNvPr id="24" name="Shape 21"/>
          <p:cNvSpPr/>
          <p:nvPr/>
        </p:nvSpPr>
        <p:spPr>
          <a:xfrm>
            <a:off x="8229600" y="3118104"/>
            <a:ext cx="3108960" cy="502920"/>
          </a:xfrm>
          <a:prstGeom prst="roundRect">
            <a:avLst>
              <a:gd name="adj" fmla="val 10909"/>
            </a:avLst>
          </a:prstGeom>
          <a:solidFill>
            <a:schemeClr val="accent1">
              <a:alpha val="10000"/>
            </a:schemeClr>
          </a:solidFill>
          <a:ln w="15875">
            <a:solidFill>
              <a:schemeClr val="accent1"/>
            </a:solidFill>
            <a:prstDash val="solid"/>
          </a:ln>
        </p:spPr>
      </p:sp>
      <p:sp>
        <p:nvSpPr>
          <p:cNvPr id="25" name="Text 22"/>
          <p:cNvSpPr txBox="1"/>
          <p:nvPr/>
        </p:nvSpPr>
        <p:spPr>
          <a:xfrm>
            <a:off x="8275320" y="3118104"/>
            <a:ext cx="301752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Motifs</a:t>
            </a:r>
            <a:endParaRPr lang="en-US" sz="1700" dirty="0"/>
          </a:p>
        </p:txBody>
      </p:sp>
      <p:sp>
        <p:nvSpPr>
          <p:cNvPr id="26" name="Shape 23"/>
          <p:cNvSpPr/>
          <p:nvPr/>
        </p:nvSpPr>
        <p:spPr>
          <a:xfrm flipV="1">
            <a:off x="9784080" y="3639312"/>
            <a:ext cx="0" cy="192024"/>
          </a:xfrm>
          <a:prstGeom prst="line">
            <a:avLst/>
          </a:prstGeom>
          <a:noFill/>
          <a:ln w="25400">
            <a:solidFill>
              <a:srgbClr val="0F7B78"/>
            </a:solidFill>
            <a:prstDash val="solid"/>
            <a:tailEnd type="triangle"/>
          </a:ln>
        </p:spPr>
      </p:sp>
      <p:sp>
        <p:nvSpPr>
          <p:cNvPr id="27" name="Shape 24"/>
          <p:cNvSpPr/>
          <p:nvPr/>
        </p:nvSpPr>
        <p:spPr>
          <a:xfrm>
            <a:off x="8229600" y="3831336"/>
            <a:ext cx="3108960" cy="502920"/>
          </a:xfrm>
          <a:prstGeom prst="roundRect">
            <a:avLst>
              <a:gd name="adj" fmla="val 10909"/>
            </a:avLst>
          </a:prstGeom>
          <a:solidFill>
            <a:schemeClr val="accent1">
              <a:alpha val="10000"/>
            </a:schemeClr>
          </a:solidFill>
          <a:ln w="15875">
            <a:solidFill>
              <a:schemeClr val="accent1"/>
            </a:solidFill>
            <a:prstDash val="solid"/>
          </a:ln>
        </p:spPr>
      </p:sp>
      <p:sp>
        <p:nvSpPr>
          <p:cNvPr id="28" name="Text 25"/>
          <p:cNvSpPr txBox="1"/>
          <p:nvPr/>
        </p:nvSpPr>
        <p:spPr>
          <a:xfrm>
            <a:off x="8275320" y="3831336"/>
            <a:ext cx="301752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Corners</a:t>
            </a:r>
            <a:endParaRPr lang="en-US" sz="1700" dirty="0"/>
          </a:p>
        </p:txBody>
      </p:sp>
      <p:sp>
        <p:nvSpPr>
          <p:cNvPr id="29" name="Shape 26"/>
          <p:cNvSpPr/>
          <p:nvPr/>
        </p:nvSpPr>
        <p:spPr>
          <a:xfrm flipV="1">
            <a:off x="9784080" y="4352544"/>
            <a:ext cx="0" cy="192024"/>
          </a:xfrm>
          <a:prstGeom prst="line">
            <a:avLst/>
          </a:prstGeom>
          <a:noFill/>
          <a:ln w="25400">
            <a:solidFill>
              <a:srgbClr val="0F7B78"/>
            </a:solidFill>
            <a:prstDash val="solid"/>
            <a:tailEnd type="triangle"/>
          </a:ln>
        </p:spPr>
      </p:sp>
      <p:sp>
        <p:nvSpPr>
          <p:cNvPr id="30" name="Shape 27"/>
          <p:cNvSpPr/>
          <p:nvPr/>
        </p:nvSpPr>
        <p:spPr>
          <a:xfrm>
            <a:off x="8229600" y="4544568"/>
            <a:ext cx="3108960" cy="502920"/>
          </a:xfrm>
          <a:prstGeom prst="roundRect">
            <a:avLst>
              <a:gd name="adj" fmla="val 10909"/>
            </a:avLst>
          </a:prstGeom>
          <a:solidFill>
            <a:schemeClr val="accent1">
              <a:alpha val="10000"/>
            </a:schemeClr>
          </a:solidFill>
          <a:ln w="15875">
            <a:solidFill>
              <a:schemeClr val="accent1"/>
            </a:solidFill>
            <a:prstDash val="solid"/>
          </a:ln>
        </p:spPr>
      </p:sp>
      <p:sp>
        <p:nvSpPr>
          <p:cNvPr id="31" name="Text 28"/>
          <p:cNvSpPr txBox="1"/>
          <p:nvPr/>
        </p:nvSpPr>
        <p:spPr>
          <a:xfrm>
            <a:off x="8275320" y="4544568"/>
            <a:ext cx="301752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Edges</a:t>
            </a:r>
            <a:endParaRPr lang="en-US" sz="1700" dirty="0"/>
          </a:p>
        </p:txBody>
      </p:sp>
      <p:sp>
        <p:nvSpPr>
          <p:cNvPr id="32" name="Shape 29"/>
          <p:cNvSpPr/>
          <p:nvPr/>
        </p:nvSpPr>
        <p:spPr>
          <a:xfrm flipV="1">
            <a:off x="9784080" y="5065776"/>
            <a:ext cx="0" cy="192024"/>
          </a:xfrm>
          <a:prstGeom prst="line">
            <a:avLst/>
          </a:prstGeom>
          <a:noFill/>
          <a:ln w="25400">
            <a:solidFill>
              <a:srgbClr val="0F7B78"/>
            </a:solidFill>
            <a:prstDash val="solid"/>
            <a:tailEnd type="triangle"/>
          </a:ln>
        </p:spPr>
      </p:sp>
      <p:sp>
        <p:nvSpPr>
          <p:cNvPr id="33" name="Shape 30"/>
          <p:cNvSpPr/>
          <p:nvPr/>
        </p:nvSpPr>
        <p:spPr>
          <a:xfrm>
            <a:off x="8229600" y="5257800"/>
            <a:ext cx="3108960" cy="502920"/>
          </a:xfrm>
          <a:prstGeom prst="roundRect">
            <a:avLst>
              <a:gd name="adj" fmla="val 10909"/>
            </a:avLst>
          </a:prstGeom>
          <a:solidFill>
            <a:schemeClr val="bg2"/>
          </a:solidFill>
          <a:ln w="15875">
            <a:solidFill>
              <a:schemeClr val="bg2"/>
            </a:solidFill>
            <a:prstDash val="solid"/>
          </a:ln>
        </p:spPr>
      </p:sp>
      <p:sp>
        <p:nvSpPr>
          <p:cNvPr id="34" name="Text 31"/>
          <p:cNvSpPr txBox="1"/>
          <p:nvPr/>
        </p:nvSpPr>
        <p:spPr>
          <a:xfrm>
            <a:off x="8275320" y="5257800"/>
            <a:ext cx="301752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Pixels</a:t>
            </a:r>
            <a:endParaRPr lang="en-US" sz="1700" dirty="0"/>
          </a:p>
        </p:txBody>
      </p:sp>
      <p:sp>
        <p:nvSpPr>
          <p:cNvPr id="35" name="Text 32"/>
          <p:cNvSpPr txBox="1"/>
          <p:nvPr/>
        </p:nvSpPr>
        <p:spPr>
          <a:xfrm>
            <a:off x="7543800" y="1783080"/>
            <a:ext cx="640080" cy="54864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deeper layer</a:t>
            </a:r>
            <a:endParaRPr lang="en-US" sz="1300" dirty="0"/>
          </a:p>
        </p:txBody>
      </p:sp>
      <p:sp>
        <p:nvSpPr>
          <p:cNvPr id="36" name="Text 33"/>
          <p:cNvSpPr txBox="1"/>
          <p:nvPr/>
        </p:nvSpPr>
        <p:spPr>
          <a:xfrm>
            <a:off x="7543800" y="5349240"/>
            <a:ext cx="640080" cy="36576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input</a:t>
            </a:r>
            <a:endParaRPr lang="en-US" sz="13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XOR by hand: a first attempt fails at (1, 1)</a:t>
            </a:r>
            <a:endParaRPr lang="en-US" sz="3000" dirty="0"/>
          </a:p>
        </p:txBody>
      </p:sp>
      <p:sp>
        <p:nvSpPr>
          <p:cNvPr id="5" name="Shape 2"/>
          <p:cNvSpPr/>
          <p:nvPr/>
        </p:nvSpPr>
        <p:spPr>
          <a:xfrm>
            <a:off x="548640" y="1645920"/>
            <a:ext cx="6400800" cy="1793748"/>
          </a:xfrm>
          <a:prstGeom prst="roundRect">
            <a:avLst>
              <a:gd name="adj" fmla="val 4078"/>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9436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ATTEMPT 1</a:t>
            </a:r>
            <a:endParaRPr lang="en-US" sz="1200" dirty="0"/>
          </a:p>
        </p:txBody>
      </p:sp>
      <p:sp>
        <p:nvSpPr>
          <p:cNvPr id="7" name="Text 4"/>
          <p:cNvSpPr txBox="1"/>
          <p:nvPr/>
        </p:nvSpPr>
        <p:spPr>
          <a:xfrm>
            <a:off x="777240" y="2221992"/>
            <a:ext cx="5943600" cy="1025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h₁ = ReLU(x₁ + x₂ − 0.5)</a:t>
            </a:r>
            <a:r>
              <a:rPr lang="en-US" sz="1600" dirty="0">
                <a:solidFill>
                  <a:schemeClr val="tx2"/>
                </a:solidFill>
                <a:latin typeface="Calibri" pitchFamily="34" charset="0"/>
                <a:ea typeface="Calibri" pitchFamily="34" charset="-122"/>
                <a:cs typeface="Calibri" pitchFamily="34" charset="-120"/>
              </a:rPr>
              <a:t>    “at least one input on”</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h₂ = ReLU(x₁ + x₂ − 1.5)</a:t>
            </a:r>
            <a:r>
              <a:rPr lang="en-US" sz="1600" dirty="0">
                <a:solidFill>
                  <a:schemeClr val="tx2"/>
                </a:solidFill>
                <a:latin typeface="Calibri" pitchFamily="34" charset="0"/>
                <a:ea typeface="Calibri" pitchFamily="34" charset="-122"/>
                <a:cs typeface="Calibri" pitchFamily="34" charset="-120"/>
              </a:rPr>
              <a:t>    “both inputs on”</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y = h₁ − 2·h₂</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6400800" cy="914400"/>
        </p:xfrm>
        <a:graphic>
          <a:graphicData uri="http://schemas.openxmlformats.org/drawingml/2006/table">
            <a:tbl>
              <a:tblPr/>
              <a:tblGrid>
                <a:gridCol w="914400"/>
                <a:gridCol w="914400"/>
                <a:gridCol w="1097280"/>
                <a:gridCol w="1097280"/>
                <a:gridCol w="1097280"/>
                <a:gridCol w="1280160"/>
              </a:tblGrid>
              <a:tr h="438912">
                <a:tc>
                  <a:txBody>
                    <a:bodyPr/>
                    <a:lstStyle/>
                    <a:p>
                      <a:pPr indent="0" marL="0">
                        <a:buNone/>
                      </a:pPr>
                      <a:r>
                        <a:rPr lang="en-US" sz="1800" b="1" dirty="0">
                          <a:solidFill>
                            <a:schemeClr val="bg1"/>
                          </a:solidFill>
                        </a:rPr>
                        <a:t>x₁</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x₂</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h₁</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h₂</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y</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target</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38912">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38912">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0.5</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0.5</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38912">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0.5</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0.5</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38912">
                <a:tc>
                  <a:txBody>
                    <a:bodyPr/>
                    <a:lstStyle/>
                    <a:p>
                      <a:pPr indent="0" marL="0">
                        <a:buNone/>
                      </a:pPr>
                      <a:r>
                        <a:rPr lang="en-US" sz="1800" b="1" dirty="0">
                          <a:solidFill>
                            <a:schemeClr val="accent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1.5</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0.5</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0.5</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bl>
          </a:graphicData>
        </a:graphic>
      </p:graphicFrame>
      <p:sp>
        <p:nvSpPr>
          <p:cNvPr id="9" name="Shape 5"/>
          <p:cNvSpPr/>
          <p:nvPr/>
        </p:nvSpPr>
        <p:spPr>
          <a:xfrm>
            <a:off x="7498080" y="1645920"/>
            <a:ext cx="4142232" cy="4206240"/>
          </a:xfrm>
          <a:prstGeom prst="roundRect">
            <a:avLst>
              <a:gd name="adj" fmla="val 1766"/>
            </a:avLst>
          </a:prstGeom>
          <a:solidFill>
            <a:schemeClr val="accent2">
              <a:alpha val="12000"/>
            </a:schemeClr>
          </a:solidFill>
          <a:ln w="12700">
            <a:solidFill>
              <a:schemeClr val="accent2">
                <a:alpha val="12000"/>
              </a:schemeClr>
            </a:solidFill>
            <a:prstDash val="solid"/>
          </a:ln>
        </p:spPr>
      </p:sp>
      <p:sp>
        <p:nvSpPr>
          <p:cNvPr id="10" name="Text 6"/>
          <p:cNvSpPr txBox="1"/>
          <p:nvPr/>
        </p:nvSpPr>
        <p:spPr>
          <a:xfrm>
            <a:off x="7699248" y="1847088"/>
            <a:ext cx="3739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Why it fails</a:t>
            </a:r>
            <a:endParaRPr lang="en-US" sz="1900" dirty="0"/>
          </a:p>
        </p:txBody>
      </p:sp>
      <p:sp>
        <p:nvSpPr>
          <p:cNvPr id="11" name="Text 7"/>
          <p:cNvSpPr txBox="1"/>
          <p:nvPr/>
        </p:nvSpPr>
        <p:spPr>
          <a:xfrm>
            <a:off x="7699248" y="2204974"/>
            <a:ext cx="3739896" cy="344601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tx1"/>
                </a:solidFill>
              </a:rPr>
              <a:t>Outputs are 0, 0.5, 0.5, </a:t>
            </a:r>
            <a:r>
              <a:rPr lang="en-US" sz="1600" b="1" dirty="0">
                <a:solidFill>
                  <a:schemeClr val="tx1"/>
                </a:solidFill>
              </a:rPr>
              <a:t>0.5</a:t>
            </a:r>
            <a:r>
              <a:rPr lang="en-US" sz="1600" dirty="0">
                <a:solidFill>
                  <a:schemeClr val="tx1"/>
                </a:solidFill>
              </a:rPr>
              <a:t>.</a:t>
            </a:r>
            <a:endParaRPr lang="en-US" sz="1600" dirty="0"/>
          </a:p>
          <a:p>
            <a:pPr algn="l" indent="0" marL="0">
              <a:lnSpc>
                <a:spcPct val="105000"/>
              </a:lnSpc>
              <a:spcAft>
                <a:spcPts val="600"/>
              </a:spcAft>
              <a:buNone/>
            </a:pPr>
            <a:r>
              <a:rPr lang="en-US" sz="1600" dirty="0">
                <a:solidFill>
                  <a:schemeClr val="tx1"/>
                </a:solidFill>
              </a:rPr>
              <a:t>(1, 1) should be class 0 but looks exactly like the class-1 points, so no threshold separates them.</a:t>
            </a:r>
            <a:endParaRPr lang="en-US" sz="1600" dirty="0"/>
          </a:p>
          <a:p>
            <a:pPr algn="l" indent="0" marL="0">
              <a:lnSpc>
                <a:spcPct val="105000"/>
              </a:lnSpc>
              <a:buNone/>
            </a:pPr>
            <a:r>
              <a:rPr lang="en-US" sz="1600" b="1" dirty="0">
                <a:solidFill>
                  <a:schemeClr val="tx1"/>
                </a:solidFill>
              </a:rPr>
              <a:t>The fix:</a:t>
            </a:r>
            <a:r>
              <a:rPr lang="en-US" sz="1600" dirty="0">
                <a:solidFill>
                  <a:schemeClr val="tx1"/>
                </a:solidFill>
              </a:rPr>
              <a:t> the AND-like unit must fire harder once both inputs are on, so subtracting it pulls the output back down.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Shift the thresholds and two ReLU units solve XOR</a:t>
            </a:r>
            <a:endParaRPr lang="en-US" sz="3000" dirty="0"/>
          </a:p>
        </p:txBody>
      </p:sp>
      <p:sp>
        <p:nvSpPr>
          <p:cNvPr id="5" name="Shape 2"/>
          <p:cNvSpPr/>
          <p:nvPr/>
        </p:nvSpPr>
        <p:spPr>
          <a:xfrm>
            <a:off x="1481328" y="2286000"/>
            <a:ext cx="1700784" cy="0"/>
          </a:xfrm>
          <a:prstGeom prst="line">
            <a:avLst/>
          </a:prstGeom>
          <a:noFill/>
          <a:ln w="22225">
            <a:solidFill>
              <a:srgbClr val="0F7B78"/>
            </a:solidFill>
            <a:prstDash val="solid"/>
            <a:tailEnd type="triangle"/>
          </a:ln>
        </p:spPr>
      </p:sp>
      <p:sp>
        <p:nvSpPr>
          <p:cNvPr id="6" name="Shape 3"/>
          <p:cNvSpPr/>
          <p:nvPr/>
        </p:nvSpPr>
        <p:spPr>
          <a:xfrm>
            <a:off x="1481328" y="2286000"/>
            <a:ext cx="1700784" cy="2194560"/>
          </a:xfrm>
          <a:prstGeom prst="line">
            <a:avLst/>
          </a:prstGeom>
          <a:noFill/>
          <a:ln w="22225">
            <a:solidFill>
              <a:srgbClr val="0F7B78"/>
            </a:solidFill>
            <a:prstDash val="solid"/>
            <a:tailEnd type="triangle"/>
          </a:ln>
        </p:spPr>
      </p:sp>
      <p:sp>
        <p:nvSpPr>
          <p:cNvPr id="7" name="Shape 4"/>
          <p:cNvSpPr/>
          <p:nvPr/>
        </p:nvSpPr>
        <p:spPr>
          <a:xfrm flipV="1">
            <a:off x="1481328" y="2286000"/>
            <a:ext cx="1700784" cy="2194560"/>
          </a:xfrm>
          <a:prstGeom prst="line">
            <a:avLst/>
          </a:prstGeom>
          <a:noFill/>
          <a:ln w="22225">
            <a:solidFill>
              <a:srgbClr val="0F7B78"/>
            </a:solidFill>
            <a:prstDash val="solid"/>
            <a:tailEnd type="triangle"/>
          </a:ln>
        </p:spPr>
      </p:sp>
      <p:sp>
        <p:nvSpPr>
          <p:cNvPr id="8" name="Shape 5"/>
          <p:cNvSpPr/>
          <p:nvPr/>
        </p:nvSpPr>
        <p:spPr>
          <a:xfrm>
            <a:off x="1481328" y="4480560"/>
            <a:ext cx="1700784" cy="0"/>
          </a:xfrm>
          <a:prstGeom prst="line">
            <a:avLst/>
          </a:prstGeom>
          <a:noFill/>
          <a:ln w="22225">
            <a:solidFill>
              <a:srgbClr val="0F7B78"/>
            </a:solidFill>
            <a:prstDash val="solid"/>
            <a:tailEnd type="triangle"/>
          </a:ln>
        </p:spPr>
      </p:sp>
      <p:sp>
        <p:nvSpPr>
          <p:cNvPr id="9" name="Shape 6"/>
          <p:cNvSpPr/>
          <p:nvPr/>
        </p:nvSpPr>
        <p:spPr>
          <a:xfrm>
            <a:off x="3950208" y="2286000"/>
            <a:ext cx="1517904" cy="1097280"/>
          </a:xfrm>
          <a:prstGeom prst="line">
            <a:avLst/>
          </a:prstGeom>
          <a:noFill/>
          <a:ln w="22225">
            <a:solidFill>
              <a:srgbClr val="0F7B78"/>
            </a:solidFill>
            <a:prstDash val="solid"/>
            <a:tailEnd type="triangle"/>
          </a:ln>
        </p:spPr>
      </p:sp>
      <p:sp>
        <p:nvSpPr>
          <p:cNvPr id="10" name="Shape 7"/>
          <p:cNvSpPr/>
          <p:nvPr/>
        </p:nvSpPr>
        <p:spPr>
          <a:xfrm flipV="1">
            <a:off x="3950208" y="3383280"/>
            <a:ext cx="1517904" cy="1097280"/>
          </a:xfrm>
          <a:prstGeom prst="line">
            <a:avLst/>
          </a:prstGeom>
          <a:noFill/>
          <a:ln w="22225">
            <a:solidFill>
              <a:srgbClr val="D45D27"/>
            </a:solidFill>
            <a:prstDash val="solid"/>
            <a:tailEnd type="triangle"/>
          </a:ln>
        </p:spPr>
      </p:sp>
      <p:sp>
        <p:nvSpPr>
          <p:cNvPr id="11" name="Shape 8"/>
          <p:cNvSpPr/>
          <p:nvPr/>
        </p:nvSpPr>
        <p:spPr>
          <a:xfrm>
            <a:off x="713232" y="1901952"/>
            <a:ext cx="768096" cy="768096"/>
          </a:xfrm>
          <a:prstGeom prst="ellipse">
            <a:avLst/>
          </a:prstGeom>
          <a:solidFill>
            <a:schemeClr val="bg2"/>
          </a:solidFill>
          <a:ln w="19050">
            <a:solidFill>
              <a:schemeClr val="tx1"/>
            </a:solidFill>
            <a:prstDash val="solid"/>
          </a:ln>
        </p:spPr>
      </p:sp>
      <p:sp>
        <p:nvSpPr>
          <p:cNvPr id="12" name="Text 9"/>
          <p:cNvSpPr txBox="1"/>
          <p:nvPr/>
        </p:nvSpPr>
        <p:spPr>
          <a:xfrm>
            <a:off x="530352" y="1901952"/>
            <a:ext cx="1133856" cy="768096"/>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x₁</a:t>
            </a:r>
            <a:endParaRPr lang="en-US" sz="2000" dirty="0"/>
          </a:p>
        </p:txBody>
      </p:sp>
      <p:sp>
        <p:nvSpPr>
          <p:cNvPr id="13" name="Shape 10"/>
          <p:cNvSpPr/>
          <p:nvPr/>
        </p:nvSpPr>
        <p:spPr>
          <a:xfrm>
            <a:off x="713232" y="4096512"/>
            <a:ext cx="768096" cy="768096"/>
          </a:xfrm>
          <a:prstGeom prst="ellipse">
            <a:avLst/>
          </a:prstGeom>
          <a:solidFill>
            <a:schemeClr val="bg2"/>
          </a:solidFill>
          <a:ln w="19050">
            <a:solidFill>
              <a:schemeClr val="tx1"/>
            </a:solidFill>
            <a:prstDash val="solid"/>
          </a:ln>
        </p:spPr>
      </p:sp>
      <p:sp>
        <p:nvSpPr>
          <p:cNvPr id="14" name="Text 11"/>
          <p:cNvSpPr txBox="1"/>
          <p:nvPr/>
        </p:nvSpPr>
        <p:spPr>
          <a:xfrm>
            <a:off x="530352" y="4096512"/>
            <a:ext cx="1133856" cy="768096"/>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x₂</a:t>
            </a:r>
            <a:endParaRPr lang="en-US" sz="2000" dirty="0"/>
          </a:p>
        </p:txBody>
      </p:sp>
      <p:sp>
        <p:nvSpPr>
          <p:cNvPr id="15" name="Shape 12"/>
          <p:cNvSpPr/>
          <p:nvPr/>
        </p:nvSpPr>
        <p:spPr>
          <a:xfrm>
            <a:off x="3182112" y="1901952"/>
            <a:ext cx="768096" cy="768096"/>
          </a:xfrm>
          <a:prstGeom prst="ellipse">
            <a:avLst/>
          </a:prstGeom>
          <a:solidFill>
            <a:schemeClr val="bg1"/>
          </a:solidFill>
          <a:ln w="31750">
            <a:solidFill>
              <a:schemeClr val="accent1"/>
            </a:solidFill>
            <a:prstDash val="solid"/>
          </a:ln>
        </p:spPr>
      </p:sp>
      <p:sp>
        <p:nvSpPr>
          <p:cNvPr id="16" name="Text 13"/>
          <p:cNvSpPr txBox="1"/>
          <p:nvPr/>
        </p:nvSpPr>
        <p:spPr>
          <a:xfrm>
            <a:off x="2999232" y="1901952"/>
            <a:ext cx="1133856" cy="768096"/>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h₁</a:t>
            </a:r>
            <a:endParaRPr lang="en-US" sz="2000" dirty="0"/>
          </a:p>
        </p:txBody>
      </p:sp>
      <p:sp>
        <p:nvSpPr>
          <p:cNvPr id="17" name="Shape 14"/>
          <p:cNvSpPr/>
          <p:nvPr/>
        </p:nvSpPr>
        <p:spPr>
          <a:xfrm>
            <a:off x="3182112" y="4096512"/>
            <a:ext cx="768096" cy="768096"/>
          </a:xfrm>
          <a:prstGeom prst="ellipse">
            <a:avLst/>
          </a:prstGeom>
          <a:solidFill>
            <a:schemeClr val="bg1"/>
          </a:solidFill>
          <a:ln w="31750">
            <a:solidFill>
              <a:schemeClr val="accent1"/>
            </a:solidFill>
            <a:prstDash val="solid"/>
          </a:ln>
        </p:spPr>
      </p:sp>
      <p:sp>
        <p:nvSpPr>
          <p:cNvPr id="18" name="Text 15"/>
          <p:cNvSpPr txBox="1"/>
          <p:nvPr/>
        </p:nvSpPr>
        <p:spPr>
          <a:xfrm>
            <a:off x="2999232" y="4096512"/>
            <a:ext cx="1133856" cy="768096"/>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h₂</a:t>
            </a:r>
            <a:endParaRPr lang="en-US" sz="2000" dirty="0"/>
          </a:p>
        </p:txBody>
      </p:sp>
      <p:sp>
        <p:nvSpPr>
          <p:cNvPr id="19" name="Shape 16"/>
          <p:cNvSpPr/>
          <p:nvPr/>
        </p:nvSpPr>
        <p:spPr>
          <a:xfrm>
            <a:off x="5468112" y="2999232"/>
            <a:ext cx="768096" cy="768096"/>
          </a:xfrm>
          <a:prstGeom prst="ellipse">
            <a:avLst/>
          </a:prstGeom>
          <a:solidFill>
            <a:schemeClr val="bg1"/>
          </a:solidFill>
          <a:ln w="31750">
            <a:solidFill>
              <a:schemeClr val="tx1"/>
            </a:solidFill>
            <a:prstDash val="solid"/>
          </a:ln>
        </p:spPr>
      </p:sp>
      <p:sp>
        <p:nvSpPr>
          <p:cNvPr id="20" name="Text 17"/>
          <p:cNvSpPr txBox="1"/>
          <p:nvPr/>
        </p:nvSpPr>
        <p:spPr>
          <a:xfrm>
            <a:off x="5285232" y="2999232"/>
            <a:ext cx="1133856" cy="768096"/>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y</a:t>
            </a:r>
            <a:endParaRPr lang="en-US" sz="2000" dirty="0"/>
          </a:p>
        </p:txBody>
      </p:sp>
      <p:sp>
        <p:nvSpPr>
          <p:cNvPr id="21" name="Text 18"/>
          <p:cNvSpPr txBox="1"/>
          <p:nvPr/>
        </p:nvSpPr>
        <p:spPr>
          <a:xfrm>
            <a:off x="2743200" y="1463040"/>
            <a:ext cx="1645920" cy="365760"/>
          </a:xfrm>
          <a:prstGeom prst="rect">
            <a:avLst/>
          </a:prstGeom>
          <a:noFill/>
          <a:ln/>
        </p:spPr>
        <p:txBody>
          <a:bodyPr wrap="square" lIns="0" tIns="0" rIns="0" bIns="0" rtlCol="0" anchor="t"/>
          <a:lstStyle/>
          <a:p>
            <a:pPr algn="ctr" indent="0" marL="0">
              <a:lnSpc>
                <a:spcPct val="105000"/>
              </a:lnSpc>
              <a:buNone/>
            </a:pPr>
            <a:r>
              <a:rPr lang="en-US" sz="1400" b="1" dirty="0">
                <a:solidFill>
                  <a:schemeClr val="accent1"/>
                </a:solidFill>
              </a:rPr>
              <a:t>bias 0 · OR-like</a:t>
            </a:r>
            <a:endParaRPr lang="en-US" sz="1400" dirty="0"/>
          </a:p>
        </p:txBody>
      </p:sp>
      <p:sp>
        <p:nvSpPr>
          <p:cNvPr id="22" name="Text 19"/>
          <p:cNvSpPr txBox="1"/>
          <p:nvPr/>
        </p:nvSpPr>
        <p:spPr>
          <a:xfrm>
            <a:off x="2651760" y="4937760"/>
            <a:ext cx="1828800" cy="365760"/>
          </a:xfrm>
          <a:prstGeom prst="rect">
            <a:avLst/>
          </a:prstGeom>
          <a:noFill/>
          <a:ln/>
        </p:spPr>
        <p:txBody>
          <a:bodyPr wrap="square" lIns="0" tIns="0" rIns="0" bIns="0" rtlCol="0" anchor="t"/>
          <a:lstStyle/>
          <a:p>
            <a:pPr algn="ctr" indent="0" marL="0">
              <a:lnSpc>
                <a:spcPct val="105000"/>
              </a:lnSpc>
              <a:buNone/>
            </a:pPr>
            <a:r>
              <a:rPr lang="en-US" sz="1400" b="1" dirty="0">
                <a:solidFill>
                  <a:schemeClr val="accent1"/>
                </a:solidFill>
              </a:rPr>
              <a:t>bias −1 · AND-like</a:t>
            </a:r>
            <a:endParaRPr lang="en-US" sz="1400" dirty="0"/>
          </a:p>
        </p:txBody>
      </p:sp>
      <p:sp>
        <p:nvSpPr>
          <p:cNvPr id="23" name="Text 20"/>
          <p:cNvSpPr txBox="1"/>
          <p:nvPr/>
        </p:nvSpPr>
        <p:spPr>
          <a:xfrm>
            <a:off x="4709160" y="2423160"/>
            <a:ext cx="548640" cy="365760"/>
          </a:xfrm>
          <a:prstGeom prst="rect">
            <a:avLst/>
          </a:prstGeom>
          <a:noFill/>
          <a:ln/>
        </p:spPr>
        <p:txBody>
          <a:bodyPr wrap="square" lIns="0" tIns="0" rIns="0" bIns="0" rtlCol="0" anchor="t"/>
          <a:lstStyle/>
          <a:p>
            <a:pPr algn="l" indent="0" marL="0">
              <a:lnSpc>
                <a:spcPct val="105000"/>
              </a:lnSpc>
              <a:buNone/>
            </a:pPr>
            <a:r>
              <a:rPr lang="en-US" sz="1800" b="1" dirty="0">
                <a:solidFill>
                  <a:schemeClr val="accent1"/>
                </a:solidFill>
                <a:latin typeface="Cambria Math" pitchFamily="34" charset="0"/>
                <a:ea typeface="Cambria Math" pitchFamily="34" charset="-122"/>
                <a:cs typeface="Cambria Math" pitchFamily="34" charset="-120"/>
              </a:rPr>
              <a:t>+1</a:t>
            </a:r>
            <a:endParaRPr lang="en-US" sz="1800" dirty="0"/>
          </a:p>
        </p:txBody>
      </p:sp>
      <p:sp>
        <p:nvSpPr>
          <p:cNvPr id="24" name="Text 21"/>
          <p:cNvSpPr txBox="1"/>
          <p:nvPr/>
        </p:nvSpPr>
        <p:spPr>
          <a:xfrm>
            <a:off x="4709160" y="4023360"/>
            <a:ext cx="548640" cy="365760"/>
          </a:xfrm>
          <a:prstGeom prst="rect">
            <a:avLst/>
          </a:prstGeom>
          <a:noFill/>
          <a:ln/>
        </p:spPr>
        <p:txBody>
          <a:bodyPr wrap="square" lIns="0" tIns="0" rIns="0" bIns="0" rtlCol="0" anchor="t"/>
          <a:lstStyle/>
          <a:p>
            <a:pPr algn="l" indent="0" marL="0">
              <a:lnSpc>
                <a:spcPct val="105000"/>
              </a:lnSpc>
              <a:buNone/>
            </a:pPr>
            <a:r>
              <a:rPr lang="en-US" sz="1800" b="1" dirty="0">
                <a:solidFill>
                  <a:schemeClr val="accent2"/>
                </a:solidFill>
                <a:latin typeface="Cambria Math" pitchFamily="34" charset="0"/>
                <a:ea typeface="Cambria Math" pitchFamily="34" charset="-122"/>
                <a:cs typeface="Cambria Math" pitchFamily="34" charset="-120"/>
              </a:rPr>
              <a:t>−2</a:t>
            </a:r>
            <a:endParaRPr lang="en-US" sz="1800" dirty="0"/>
          </a:p>
        </p:txBody>
      </p:sp>
      <p:sp>
        <p:nvSpPr>
          <p:cNvPr id="25" name="Text 22"/>
          <p:cNvSpPr txBox="1"/>
          <p:nvPr/>
        </p:nvSpPr>
        <p:spPr>
          <a:xfrm>
            <a:off x="548640" y="5486400"/>
            <a:ext cx="5943600" cy="3657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All input-to-hidden weights are 1; g = ReLU</a:t>
            </a:r>
            <a:endParaRPr lang="en-US" sz="1400" dirty="0"/>
          </a:p>
        </p:txBody>
      </p:sp>
      <p:sp>
        <p:nvSpPr>
          <p:cNvPr id="26" name="Shape 23"/>
          <p:cNvSpPr/>
          <p:nvPr/>
        </p:nvSpPr>
        <p:spPr>
          <a:xfrm>
            <a:off x="6766560" y="1645920"/>
            <a:ext cx="4873752" cy="1793748"/>
          </a:xfrm>
          <a:prstGeom prst="roundRect">
            <a:avLst>
              <a:gd name="adj" fmla="val 4078"/>
            </a:avLst>
          </a:prstGeom>
          <a:solidFill>
            <a:schemeClr val="accent1">
              <a:alpha val="10000"/>
            </a:schemeClr>
          </a:solidFill>
          <a:ln w="12700">
            <a:solidFill>
              <a:schemeClr val="accent1">
                <a:alpha val="10000"/>
              </a:schemeClr>
            </a:solidFill>
            <a:prstDash val="solid"/>
          </a:ln>
        </p:spPr>
      </p:sp>
      <p:sp>
        <p:nvSpPr>
          <p:cNvPr id="27" name="Text 24"/>
          <p:cNvSpPr txBox="1"/>
          <p:nvPr/>
        </p:nvSpPr>
        <p:spPr>
          <a:xfrm>
            <a:off x="6995160" y="1792224"/>
            <a:ext cx="441655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ATTEMPT 2</a:t>
            </a:r>
            <a:endParaRPr lang="en-US" sz="1200" dirty="0"/>
          </a:p>
        </p:txBody>
      </p:sp>
      <p:sp>
        <p:nvSpPr>
          <p:cNvPr id="28" name="Text 25"/>
          <p:cNvSpPr txBox="1"/>
          <p:nvPr/>
        </p:nvSpPr>
        <p:spPr>
          <a:xfrm>
            <a:off x="6995160" y="2221992"/>
            <a:ext cx="4416552" cy="1025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h₁ = ReLU(x₁ + x₂)</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h₂ = ReLU(x₁ + x₂ − 1)</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y = h₁ − 2·h₂</a:t>
            </a:r>
            <a:endParaRPr lang="en-US" sz="2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766560" y="3520440"/>
          <a:ext cx="4873752" cy="914400"/>
        </p:xfrm>
        <a:graphic>
          <a:graphicData uri="http://schemas.openxmlformats.org/drawingml/2006/table">
            <a:tbl>
              <a:tblPr/>
              <a:tblGrid>
                <a:gridCol w="914400"/>
                <a:gridCol w="914400"/>
                <a:gridCol w="1005840"/>
                <a:gridCol w="1005840"/>
                <a:gridCol w="1033272"/>
              </a:tblGrid>
              <a:tr h="420624">
                <a:tc>
                  <a:txBody>
                    <a:bodyPr/>
                    <a:lstStyle/>
                    <a:p>
                      <a:pPr indent="0" marL="0">
                        <a:buNone/>
                      </a:pPr>
                      <a:r>
                        <a:rPr lang="en-US" sz="1800" b="1" dirty="0">
                          <a:solidFill>
                            <a:schemeClr val="bg1"/>
                          </a:solidFill>
                        </a:rPr>
                        <a:t>x₁</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x₂</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h₁</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h₂</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y</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20624">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20624">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20624">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20624">
                <a:tc>
                  <a:txBody>
                    <a:bodyPr/>
                    <a:lstStyle/>
                    <a:p>
                      <a:pPr indent="0" marL="0">
                        <a:buNone/>
                      </a:pPr>
                      <a:r>
                        <a:rPr lang="en-US" sz="1800" b="1" dirty="0">
                          <a:solidFill>
                            <a:schemeClr val="accent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2</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1</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800" dirty="0">
                          <a:solidFill>
                            <a:schemeClr val="accent1"/>
                          </a:solidFill>
                        </a:rPr>
                        <a:t>0</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bl>
          </a:graphicData>
        </a:graphic>
      </p:graphicFrame>
      <p:sp>
        <p:nvSpPr>
          <p:cNvPr id="30" name="Text 26"/>
          <p:cNvSpPr txBox="1"/>
          <p:nvPr/>
        </p:nvSpPr>
        <p:spPr>
          <a:xfrm>
            <a:off x="6766560" y="5715000"/>
            <a:ext cx="4873752" cy="36576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Exact:</a:t>
            </a:r>
            <a:r>
              <a:rPr lang="en-US" sz="1700" dirty="0">
                <a:solidFill>
                  <a:schemeClr val="accent1"/>
                </a:solidFill>
              </a:rPr>
              <a:t> y = OR − 2·AND = XOR.</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Backprop existed by 1986 but took 26 years to dominate</a:t>
            </a:r>
            <a:endParaRPr lang="en-US" sz="3000" dirty="0"/>
          </a:p>
        </p:txBody>
      </p:sp>
      <p:sp>
        <p:nvSpPr>
          <p:cNvPr id="5" name="Shape 2"/>
          <p:cNvSpPr/>
          <p:nvPr/>
        </p:nvSpPr>
        <p:spPr>
          <a:xfrm>
            <a:off x="566928" y="1737360"/>
            <a:ext cx="182880" cy="182880"/>
          </a:xfrm>
          <a:prstGeom prst="ellipse">
            <a:avLst/>
          </a:prstGeom>
          <a:solidFill>
            <a:schemeClr val="accent1"/>
          </a:solidFill>
          <a:ln w="19050">
            <a:solidFill>
              <a:schemeClr val="accent1"/>
            </a:solidFill>
            <a:prstDash val="solid"/>
          </a:ln>
        </p:spPr>
      </p:sp>
      <p:sp>
        <p:nvSpPr>
          <p:cNvPr id="6" name="Shape 3"/>
          <p:cNvSpPr/>
          <p:nvPr/>
        </p:nvSpPr>
        <p:spPr>
          <a:xfrm>
            <a:off x="658368" y="1938528"/>
            <a:ext cx="0" cy="548640"/>
          </a:xfrm>
          <a:prstGeom prst="line">
            <a:avLst/>
          </a:prstGeom>
          <a:noFill/>
          <a:ln w="19050">
            <a:solidFill>
              <a:srgbClr val="C3CCD4"/>
            </a:solidFill>
            <a:prstDash val="solid"/>
          </a:ln>
        </p:spPr>
      </p:sp>
      <p:sp>
        <p:nvSpPr>
          <p:cNvPr id="7" name="Text 4"/>
          <p:cNvSpPr txBox="1"/>
          <p:nvPr/>
        </p:nvSpPr>
        <p:spPr>
          <a:xfrm>
            <a:off x="914400" y="1664208"/>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1943</a:t>
            </a:r>
            <a:r>
              <a:rPr lang="en-US" sz="1700" dirty="0">
                <a:solidFill>
                  <a:schemeClr val="tx1"/>
                </a:solidFill>
              </a:rPr>
              <a:t>  McCulloch &amp; Pitts threshold neuron</a:t>
            </a:r>
            <a:endParaRPr lang="en-US" sz="1700" dirty="0"/>
          </a:p>
        </p:txBody>
      </p:sp>
      <p:sp>
        <p:nvSpPr>
          <p:cNvPr id="8" name="Text 5"/>
          <p:cNvSpPr txBox="1"/>
          <p:nvPr/>
        </p:nvSpPr>
        <p:spPr>
          <a:xfrm>
            <a:off x="914400" y="2002536"/>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First mathematical neuron</a:t>
            </a:r>
            <a:endParaRPr lang="en-US" sz="1400" dirty="0"/>
          </a:p>
        </p:txBody>
      </p:sp>
      <p:sp>
        <p:nvSpPr>
          <p:cNvPr id="9" name="Shape 6"/>
          <p:cNvSpPr/>
          <p:nvPr/>
        </p:nvSpPr>
        <p:spPr>
          <a:xfrm>
            <a:off x="566928" y="2505456"/>
            <a:ext cx="182880" cy="182880"/>
          </a:xfrm>
          <a:prstGeom prst="ellipse">
            <a:avLst/>
          </a:prstGeom>
          <a:solidFill>
            <a:schemeClr val="accent1"/>
          </a:solidFill>
          <a:ln w="19050">
            <a:solidFill>
              <a:schemeClr val="accent1"/>
            </a:solidFill>
            <a:prstDash val="solid"/>
          </a:ln>
        </p:spPr>
      </p:sp>
      <p:sp>
        <p:nvSpPr>
          <p:cNvPr id="10" name="Shape 7"/>
          <p:cNvSpPr/>
          <p:nvPr/>
        </p:nvSpPr>
        <p:spPr>
          <a:xfrm>
            <a:off x="658368" y="2706624"/>
            <a:ext cx="0" cy="548640"/>
          </a:xfrm>
          <a:prstGeom prst="line">
            <a:avLst/>
          </a:prstGeom>
          <a:noFill/>
          <a:ln w="19050">
            <a:solidFill>
              <a:srgbClr val="C3CCD4"/>
            </a:solidFill>
            <a:prstDash val="solid"/>
          </a:ln>
        </p:spPr>
      </p:sp>
      <p:sp>
        <p:nvSpPr>
          <p:cNvPr id="11" name="Text 8"/>
          <p:cNvSpPr txBox="1"/>
          <p:nvPr/>
        </p:nvSpPr>
        <p:spPr>
          <a:xfrm>
            <a:off x="914400" y="2432304"/>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1958</a:t>
            </a:r>
            <a:r>
              <a:rPr lang="en-US" sz="1700" dirty="0">
                <a:solidFill>
                  <a:schemeClr val="tx1"/>
                </a:solidFill>
              </a:rPr>
              <a:t>  Rosenblatt’s perceptron</a:t>
            </a:r>
            <a:endParaRPr lang="en-US" sz="1700" dirty="0"/>
          </a:p>
        </p:txBody>
      </p:sp>
      <p:sp>
        <p:nvSpPr>
          <p:cNvPr id="12" name="Text 9"/>
          <p:cNvSpPr txBox="1"/>
          <p:nvPr/>
        </p:nvSpPr>
        <p:spPr>
          <a:xfrm>
            <a:off x="914400" y="2770632"/>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A learning rule with a convergence guarantee</a:t>
            </a:r>
            <a:endParaRPr lang="en-US" sz="1400" dirty="0"/>
          </a:p>
        </p:txBody>
      </p:sp>
      <p:sp>
        <p:nvSpPr>
          <p:cNvPr id="13" name="Shape 10"/>
          <p:cNvSpPr/>
          <p:nvPr/>
        </p:nvSpPr>
        <p:spPr>
          <a:xfrm>
            <a:off x="566928" y="3273552"/>
            <a:ext cx="182880" cy="182880"/>
          </a:xfrm>
          <a:prstGeom prst="ellipse">
            <a:avLst/>
          </a:prstGeom>
          <a:solidFill>
            <a:schemeClr val="accent1"/>
          </a:solidFill>
          <a:ln w="19050">
            <a:solidFill>
              <a:schemeClr val="accent1"/>
            </a:solidFill>
            <a:prstDash val="solid"/>
          </a:ln>
        </p:spPr>
      </p:sp>
      <p:sp>
        <p:nvSpPr>
          <p:cNvPr id="14" name="Shape 11"/>
          <p:cNvSpPr/>
          <p:nvPr/>
        </p:nvSpPr>
        <p:spPr>
          <a:xfrm>
            <a:off x="658368" y="3474720"/>
            <a:ext cx="0" cy="548640"/>
          </a:xfrm>
          <a:prstGeom prst="line">
            <a:avLst/>
          </a:prstGeom>
          <a:noFill/>
          <a:ln w="19050">
            <a:solidFill>
              <a:srgbClr val="C3CCD4"/>
            </a:solidFill>
            <a:prstDash val="solid"/>
          </a:ln>
        </p:spPr>
      </p:sp>
      <p:sp>
        <p:nvSpPr>
          <p:cNvPr id="15" name="Text 12"/>
          <p:cNvSpPr txBox="1"/>
          <p:nvPr/>
        </p:nvSpPr>
        <p:spPr>
          <a:xfrm>
            <a:off x="914400" y="3200400"/>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1969</a:t>
            </a:r>
            <a:r>
              <a:rPr lang="en-US" sz="1700" dirty="0">
                <a:solidFill>
                  <a:schemeClr val="tx1"/>
                </a:solidFill>
              </a:rPr>
              <a:t>  Minsky &amp; Papert, Perceptrons</a:t>
            </a:r>
            <a:endParaRPr lang="en-US" sz="1700" dirty="0"/>
          </a:p>
        </p:txBody>
      </p:sp>
      <p:sp>
        <p:nvSpPr>
          <p:cNvPr id="16" name="Text 13"/>
          <p:cNvSpPr txBox="1"/>
          <p:nvPr/>
        </p:nvSpPr>
        <p:spPr>
          <a:xfrm>
            <a:off x="914400" y="3538728"/>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Single layers cannot do XOR; funding collapsed</a:t>
            </a:r>
            <a:endParaRPr lang="en-US" sz="1400" dirty="0"/>
          </a:p>
        </p:txBody>
      </p:sp>
      <p:sp>
        <p:nvSpPr>
          <p:cNvPr id="17" name="Shape 14"/>
          <p:cNvSpPr/>
          <p:nvPr/>
        </p:nvSpPr>
        <p:spPr>
          <a:xfrm>
            <a:off x="566928" y="4041648"/>
            <a:ext cx="182880" cy="182880"/>
          </a:xfrm>
          <a:prstGeom prst="ellipse">
            <a:avLst/>
          </a:prstGeom>
          <a:solidFill>
            <a:schemeClr val="accent2"/>
          </a:solidFill>
          <a:ln w="19050">
            <a:solidFill>
              <a:schemeClr val="accent2"/>
            </a:solidFill>
            <a:prstDash val="solid"/>
          </a:ln>
        </p:spPr>
      </p:sp>
      <p:sp>
        <p:nvSpPr>
          <p:cNvPr id="18" name="Shape 15"/>
          <p:cNvSpPr/>
          <p:nvPr/>
        </p:nvSpPr>
        <p:spPr>
          <a:xfrm>
            <a:off x="658368" y="4242816"/>
            <a:ext cx="0" cy="548640"/>
          </a:xfrm>
          <a:prstGeom prst="line">
            <a:avLst/>
          </a:prstGeom>
          <a:noFill/>
          <a:ln w="19050">
            <a:solidFill>
              <a:srgbClr val="C3CCD4"/>
            </a:solidFill>
            <a:prstDash val="solid"/>
          </a:ln>
        </p:spPr>
      </p:sp>
      <p:sp>
        <p:nvSpPr>
          <p:cNvPr id="19" name="Text 16"/>
          <p:cNvSpPr txBox="1"/>
          <p:nvPr/>
        </p:nvSpPr>
        <p:spPr>
          <a:xfrm>
            <a:off x="914400" y="3968496"/>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1986</a:t>
            </a:r>
            <a:r>
              <a:rPr lang="en-US" sz="1700" dirty="0">
                <a:solidFill>
                  <a:schemeClr val="accent2"/>
                </a:solidFill>
              </a:rPr>
              <a:t>  Rumelhart, Hinton &amp; Williams</a:t>
            </a:r>
            <a:endParaRPr lang="en-US" sz="1700" dirty="0"/>
          </a:p>
        </p:txBody>
      </p:sp>
      <p:sp>
        <p:nvSpPr>
          <p:cNvPr id="20" name="Text 17"/>
          <p:cNvSpPr txBox="1"/>
          <p:nvPr/>
        </p:nvSpPr>
        <p:spPr>
          <a:xfrm>
            <a:off x="914400" y="4306824"/>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Popularized backpropagation</a:t>
            </a:r>
            <a:endParaRPr lang="en-US" sz="1400" dirty="0"/>
          </a:p>
        </p:txBody>
      </p:sp>
      <p:sp>
        <p:nvSpPr>
          <p:cNvPr id="21" name="Shape 18"/>
          <p:cNvSpPr/>
          <p:nvPr/>
        </p:nvSpPr>
        <p:spPr>
          <a:xfrm>
            <a:off x="566928" y="4809744"/>
            <a:ext cx="182880" cy="182880"/>
          </a:xfrm>
          <a:prstGeom prst="ellipse">
            <a:avLst/>
          </a:prstGeom>
          <a:solidFill>
            <a:schemeClr val="accent1"/>
          </a:solidFill>
          <a:ln w="19050">
            <a:solidFill>
              <a:schemeClr val="accent1"/>
            </a:solidFill>
            <a:prstDash val="solid"/>
          </a:ln>
        </p:spPr>
      </p:sp>
      <p:sp>
        <p:nvSpPr>
          <p:cNvPr id="22" name="Text 19"/>
          <p:cNvSpPr txBox="1"/>
          <p:nvPr/>
        </p:nvSpPr>
        <p:spPr>
          <a:xfrm>
            <a:off x="914400" y="4736592"/>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1998</a:t>
            </a:r>
            <a:r>
              <a:rPr lang="en-US" sz="1700" dirty="0">
                <a:solidFill>
                  <a:schemeClr val="tx1"/>
                </a:solidFill>
              </a:rPr>
              <a:t>  LeCun’s LeNet-5 reads cheques</a:t>
            </a:r>
            <a:endParaRPr lang="en-US" sz="1700" dirty="0"/>
          </a:p>
        </p:txBody>
      </p:sp>
      <p:sp>
        <p:nvSpPr>
          <p:cNvPr id="23" name="Text 20"/>
          <p:cNvSpPr txBox="1"/>
          <p:nvPr/>
        </p:nvSpPr>
        <p:spPr>
          <a:xfrm>
            <a:off x="914400" y="5074920"/>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First large commercial CNN success</a:t>
            </a:r>
            <a:endParaRPr lang="en-US" sz="1400" dirty="0"/>
          </a:p>
        </p:txBody>
      </p:sp>
      <p:sp>
        <p:nvSpPr>
          <p:cNvPr id="24" name="Shape 21"/>
          <p:cNvSpPr/>
          <p:nvPr/>
        </p:nvSpPr>
        <p:spPr>
          <a:xfrm>
            <a:off x="6236208" y="1737360"/>
            <a:ext cx="182880" cy="182880"/>
          </a:xfrm>
          <a:prstGeom prst="ellipse">
            <a:avLst/>
          </a:prstGeom>
          <a:solidFill>
            <a:schemeClr val="accent1"/>
          </a:solidFill>
          <a:ln w="19050">
            <a:solidFill>
              <a:schemeClr val="accent1"/>
            </a:solidFill>
            <a:prstDash val="solid"/>
          </a:ln>
        </p:spPr>
      </p:sp>
      <p:sp>
        <p:nvSpPr>
          <p:cNvPr id="25" name="Shape 22"/>
          <p:cNvSpPr/>
          <p:nvPr/>
        </p:nvSpPr>
        <p:spPr>
          <a:xfrm>
            <a:off x="6327648" y="1938528"/>
            <a:ext cx="0" cy="548640"/>
          </a:xfrm>
          <a:prstGeom prst="line">
            <a:avLst/>
          </a:prstGeom>
          <a:noFill/>
          <a:ln w="19050">
            <a:solidFill>
              <a:srgbClr val="C3CCD4"/>
            </a:solidFill>
            <a:prstDash val="solid"/>
          </a:ln>
        </p:spPr>
      </p:sp>
      <p:sp>
        <p:nvSpPr>
          <p:cNvPr id="26" name="Text 23"/>
          <p:cNvSpPr txBox="1"/>
          <p:nvPr/>
        </p:nvSpPr>
        <p:spPr>
          <a:xfrm>
            <a:off x="6583680" y="1664208"/>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2006–09</a:t>
            </a:r>
            <a:r>
              <a:rPr lang="en-US" sz="1700" dirty="0">
                <a:solidFill>
                  <a:schemeClr val="tx1"/>
                </a:solidFill>
              </a:rPr>
              <a:t>  Deep belief nets; ImageNet</a:t>
            </a:r>
            <a:endParaRPr lang="en-US" sz="1700" dirty="0"/>
          </a:p>
        </p:txBody>
      </p:sp>
      <p:sp>
        <p:nvSpPr>
          <p:cNvPr id="27" name="Text 24"/>
          <p:cNvSpPr txBox="1"/>
          <p:nvPr/>
        </p:nvSpPr>
        <p:spPr>
          <a:xfrm>
            <a:off x="6583680" y="2002536"/>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Pretraining ideas; a dataset big enough to matter</a:t>
            </a:r>
            <a:endParaRPr lang="en-US" sz="1400" dirty="0"/>
          </a:p>
        </p:txBody>
      </p:sp>
      <p:sp>
        <p:nvSpPr>
          <p:cNvPr id="28" name="Shape 25"/>
          <p:cNvSpPr/>
          <p:nvPr/>
        </p:nvSpPr>
        <p:spPr>
          <a:xfrm>
            <a:off x="6236208" y="2505456"/>
            <a:ext cx="182880" cy="182880"/>
          </a:xfrm>
          <a:prstGeom prst="ellipse">
            <a:avLst/>
          </a:prstGeom>
          <a:solidFill>
            <a:schemeClr val="accent2"/>
          </a:solidFill>
          <a:ln w="19050">
            <a:solidFill>
              <a:schemeClr val="accent2"/>
            </a:solidFill>
            <a:prstDash val="solid"/>
          </a:ln>
        </p:spPr>
      </p:sp>
      <p:sp>
        <p:nvSpPr>
          <p:cNvPr id="29" name="Shape 26"/>
          <p:cNvSpPr/>
          <p:nvPr/>
        </p:nvSpPr>
        <p:spPr>
          <a:xfrm>
            <a:off x="6327648" y="2706624"/>
            <a:ext cx="0" cy="548640"/>
          </a:xfrm>
          <a:prstGeom prst="line">
            <a:avLst/>
          </a:prstGeom>
          <a:noFill/>
          <a:ln w="19050">
            <a:solidFill>
              <a:srgbClr val="C3CCD4"/>
            </a:solidFill>
            <a:prstDash val="solid"/>
          </a:ln>
        </p:spPr>
      </p:sp>
      <p:sp>
        <p:nvSpPr>
          <p:cNvPr id="30" name="Text 27"/>
          <p:cNvSpPr txBox="1"/>
          <p:nvPr/>
        </p:nvSpPr>
        <p:spPr>
          <a:xfrm>
            <a:off x="6583680" y="2432304"/>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2012</a:t>
            </a:r>
            <a:r>
              <a:rPr lang="en-US" sz="1700" dirty="0">
                <a:solidFill>
                  <a:schemeClr val="accent2"/>
                </a:solidFill>
              </a:rPr>
              <a:t>  AlexNet wins ImageNet</a:t>
            </a:r>
            <a:endParaRPr lang="en-US" sz="1700" dirty="0"/>
          </a:p>
        </p:txBody>
      </p:sp>
      <p:sp>
        <p:nvSpPr>
          <p:cNvPr id="31" name="Text 28"/>
          <p:cNvSpPr txBox="1"/>
          <p:nvPr/>
        </p:nvSpPr>
        <p:spPr>
          <a:xfrm>
            <a:off x="6583680" y="2770632"/>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GPUs + ReLU + dropout + data</a:t>
            </a:r>
            <a:endParaRPr lang="en-US" sz="1400" dirty="0"/>
          </a:p>
        </p:txBody>
      </p:sp>
      <p:sp>
        <p:nvSpPr>
          <p:cNvPr id="32" name="Shape 29"/>
          <p:cNvSpPr/>
          <p:nvPr/>
        </p:nvSpPr>
        <p:spPr>
          <a:xfrm>
            <a:off x="6236208" y="3273552"/>
            <a:ext cx="182880" cy="182880"/>
          </a:xfrm>
          <a:prstGeom prst="ellipse">
            <a:avLst/>
          </a:prstGeom>
          <a:solidFill>
            <a:schemeClr val="accent1"/>
          </a:solidFill>
          <a:ln w="19050">
            <a:solidFill>
              <a:schemeClr val="accent1"/>
            </a:solidFill>
            <a:prstDash val="solid"/>
          </a:ln>
        </p:spPr>
      </p:sp>
      <p:sp>
        <p:nvSpPr>
          <p:cNvPr id="33" name="Shape 30"/>
          <p:cNvSpPr/>
          <p:nvPr/>
        </p:nvSpPr>
        <p:spPr>
          <a:xfrm>
            <a:off x="6327648" y="3474720"/>
            <a:ext cx="0" cy="548640"/>
          </a:xfrm>
          <a:prstGeom prst="line">
            <a:avLst/>
          </a:prstGeom>
          <a:noFill/>
          <a:ln w="19050">
            <a:solidFill>
              <a:srgbClr val="C3CCD4"/>
            </a:solidFill>
            <a:prstDash val="solid"/>
          </a:ln>
        </p:spPr>
      </p:sp>
      <p:sp>
        <p:nvSpPr>
          <p:cNvPr id="34" name="Text 31"/>
          <p:cNvSpPr txBox="1"/>
          <p:nvPr/>
        </p:nvSpPr>
        <p:spPr>
          <a:xfrm>
            <a:off x="6583680" y="3200400"/>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2015</a:t>
            </a:r>
            <a:r>
              <a:rPr lang="en-US" sz="1700" dirty="0">
                <a:solidFill>
                  <a:schemeClr val="tx1"/>
                </a:solidFill>
              </a:rPr>
              <a:t>  ResNet, 152 layers</a:t>
            </a:r>
            <a:endParaRPr lang="en-US" sz="1700" dirty="0"/>
          </a:p>
        </p:txBody>
      </p:sp>
      <p:sp>
        <p:nvSpPr>
          <p:cNvPr id="35" name="Text 32"/>
          <p:cNvSpPr txBox="1"/>
          <p:nvPr/>
        </p:nvSpPr>
        <p:spPr>
          <a:xfrm>
            <a:off x="6583680" y="3538728"/>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Residual connections make depth trainable</a:t>
            </a:r>
            <a:endParaRPr lang="en-US" sz="1400" dirty="0"/>
          </a:p>
        </p:txBody>
      </p:sp>
      <p:sp>
        <p:nvSpPr>
          <p:cNvPr id="36" name="Shape 33"/>
          <p:cNvSpPr/>
          <p:nvPr/>
        </p:nvSpPr>
        <p:spPr>
          <a:xfrm>
            <a:off x="6236208" y="4041648"/>
            <a:ext cx="182880" cy="182880"/>
          </a:xfrm>
          <a:prstGeom prst="ellipse">
            <a:avLst/>
          </a:prstGeom>
          <a:solidFill>
            <a:schemeClr val="accent1"/>
          </a:solidFill>
          <a:ln w="19050">
            <a:solidFill>
              <a:schemeClr val="accent1"/>
            </a:solidFill>
            <a:prstDash val="solid"/>
          </a:ln>
        </p:spPr>
      </p:sp>
      <p:sp>
        <p:nvSpPr>
          <p:cNvPr id="37" name="Shape 34"/>
          <p:cNvSpPr/>
          <p:nvPr/>
        </p:nvSpPr>
        <p:spPr>
          <a:xfrm>
            <a:off x="6327648" y="4242816"/>
            <a:ext cx="0" cy="548640"/>
          </a:xfrm>
          <a:prstGeom prst="line">
            <a:avLst/>
          </a:prstGeom>
          <a:noFill/>
          <a:ln w="19050">
            <a:solidFill>
              <a:srgbClr val="C3CCD4"/>
            </a:solidFill>
            <a:prstDash val="solid"/>
          </a:ln>
        </p:spPr>
      </p:sp>
      <p:sp>
        <p:nvSpPr>
          <p:cNvPr id="38" name="Text 35"/>
          <p:cNvSpPr txBox="1"/>
          <p:nvPr/>
        </p:nvSpPr>
        <p:spPr>
          <a:xfrm>
            <a:off x="6583680" y="3968496"/>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2017</a:t>
            </a:r>
            <a:r>
              <a:rPr lang="en-US" sz="1700" dirty="0">
                <a:solidFill>
                  <a:schemeClr val="tx1"/>
                </a:solidFill>
              </a:rPr>
              <a:t>  The Transformer</a:t>
            </a:r>
            <a:endParaRPr lang="en-US" sz="1700" dirty="0"/>
          </a:p>
        </p:txBody>
      </p:sp>
      <p:sp>
        <p:nvSpPr>
          <p:cNvPr id="39" name="Text 36"/>
          <p:cNvSpPr txBox="1"/>
          <p:nvPr/>
        </p:nvSpPr>
        <p:spPr>
          <a:xfrm>
            <a:off x="6583680" y="4306824"/>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Attention-based models, later in vision too</a:t>
            </a:r>
            <a:endParaRPr lang="en-US" sz="1400" dirty="0"/>
          </a:p>
        </p:txBody>
      </p:sp>
      <p:sp>
        <p:nvSpPr>
          <p:cNvPr id="40" name="Shape 37"/>
          <p:cNvSpPr/>
          <p:nvPr/>
        </p:nvSpPr>
        <p:spPr>
          <a:xfrm>
            <a:off x="6236208" y="4809744"/>
            <a:ext cx="182880" cy="182880"/>
          </a:xfrm>
          <a:prstGeom prst="ellipse">
            <a:avLst/>
          </a:prstGeom>
          <a:solidFill>
            <a:schemeClr val="accent1"/>
          </a:solidFill>
          <a:ln w="19050">
            <a:solidFill>
              <a:schemeClr val="accent1"/>
            </a:solidFill>
            <a:prstDash val="solid"/>
          </a:ln>
        </p:spPr>
      </p:sp>
      <p:sp>
        <p:nvSpPr>
          <p:cNvPr id="41" name="Text 38"/>
          <p:cNvSpPr txBox="1"/>
          <p:nvPr/>
        </p:nvSpPr>
        <p:spPr>
          <a:xfrm>
            <a:off x="6583680" y="4736592"/>
            <a:ext cx="5120640" cy="329184"/>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2020s</a:t>
            </a:r>
            <a:r>
              <a:rPr lang="en-US" sz="1700" dirty="0">
                <a:solidFill>
                  <a:schemeClr val="tx1"/>
                </a:solidFill>
              </a:rPr>
              <a:t>  ViT, ConvNeXt, self-supervision</a:t>
            </a:r>
            <a:endParaRPr lang="en-US" sz="1700" dirty="0"/>
          </a:p>
        </p:txBody>
      </p:sp>
      <p:sp>
        <p:nvSpPr>
          <p:cNvPr id="42" name="Text 39"/>
          <p:cNvSpPr txBox="1"/>
          <p:nvPr/>
        </p:nvSpPr>
        <p:spPr>
          <a:xfrm>
            <a:off x="6583680" y="5074920"/>
            <a:ext cx="512064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Convolution and attention converge</a:t>
            </a:r>
            <a:endParaRPr lang="en-US" sz="1400" dirty="0"/>
          </a:p>
        </p:txBody>
      </p:sp>
      <p:sp>
        <p:nvSpPr>
          <p:cNvPr id="43" name="Shape 40"/>
          <p:cNvSpPr/>
          <p:nvPr/>
        </p:nvSpPr>
        <p:spPr>
          <a:xfrm>
            <a:off x="548640" y="5532120"/>
            <a:ext cx="11091672" cy="640080"/>
          </a:xfrm>
          <a:prstGeom prst="roundRect">
            <a:avLst>
              <a:gd name="adj" fmla="val 11429"/>
            </a:avLst>
          </a:prstGeom>
          <a:solidFill>
            <a:schemeClr val="accent2">
              <a:alpha val="12000"/>
            </a:schemeClr>
          </a:solidFill>
          <a:ln w="12700">
            <a:solidFill>
              <a:schemeClr val="accent2">
                <a:alpha val="12000"/>
              </a:schemeClr>
            </a:solidFill>
            <a:prstDash val="solid"/>
          </a:ln>
        </p:spPr>
      </p:sp>
      <p:sp>
        <p:nvSpPr>
          <p:cNvPr id="44" name="Text 41"/>
          <p:cNvSpPr txBox="1"/>
          <p:nvPr/>
        </p:nvSpPr>
        <p:spPr>
          <a:xfrm>
            <a:off x="777240" y="5532120"/>
            <a:ext cx="10634472" cy="640080"/>
          </a:xfrm>
          <a:prstGeom prst="rect">
            <a:avLst/>
          </a:prstGeom>
          <a:noFill/>
          <a:ln/>
        </p:spPr>
        <p:txBody>
          <a:bodyPr wrap="square" lIns="0" tIns="0" rIns="0" bIns="0" rtlCol="0" anchor="ctr"/>
          <a:lstStyle/>
          <a:p>
            <a:pPr algn="l" indent="0" marL="0">
              <a:lnSpc>
                <a:spcPct val="105000"/>
              </a:lnSpc>
              <a:buNone/>
            </a:pPr>
            <a:r>
              <a:rPr lang="en-US" sz="1900" b="1" dirty="0">
                <a:solidFill>
                  <a:schemeClr val="accent2"/>
                </a:solidFill>
              </a:rPr>
              <a:t>The algorithm was not the bottleneck. Data, compute and training engineering were.</a:t>
            </a:r>
            <a:endParaRPr lang="en-US" sz="19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WHY WE NEEDED NEURAL NETWORKS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When not to use a neural network</a:t>
            </a:r>
            <a:endParaRPr lang="en-US" sz="3000" dirty="0"/>
          </a:p>
        </p:txBody>
      </p:sp>
      <p:sp>
        <p:nvSpPr>
          <p:cNvPr id="5" name="Shape 2"/>
          <p:cNvSpPr/>
          <p:nvPr/>
        </p:nvSpPr>
        <p:spPr>
          <a:xfrm>
            <a:off x="548640" y="1691640"/>
            <a:ext cx="3429000" cy="1965960"/>
          </a:xfrm>
          <a:prstGeom prst="roundRect">
            <a:avLst>
              <a:gd name="adj" fmla="val 3721"/>
            </a:avLst>
          </a:prstGeom>
          <a:solidFill>
            <a:schemeClr val="bg2"/>
          </a:solidFill>
          <a:ln w="12700">
            <a:solidFill>
              <a:schemeClr val="bg2"/>
            </a:solidFill>
            <a:prstDash val="solid"/>
          </a:ln>
        </p:spPr>
      </p:sp>
      <p:sp>
        <p:nvSpPr>
          <p:cNvPr id="6" name="Text 3"/>
          <p:cNvSpPr txBox="1"/>
          <p:nvPr/>
        </p:nvSpPr>
        <p:spPr>
          <a:xfrm>
            <a:off x="749808" y="1892808"/>
            <a:ext cx="302666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Small data</a:t>
            </a:r>
            <a:endParaRPr lang="en-US" sz="1900" dirty="0"/>
          </a:p>
        </p:txBody>
      </p:sp>
      <p:sp>
        <p:nvSpPr>
          <p:cNvPr id="7" name="Text 4"/>
          <p:cNvSpPr txBox="1"/>
          <p:nvPr/>
        </p:nvSpPr>
        <p:spPr>
          <a:xfrm>
            <a:off x="749808" y="2250694"/>
            <a:ext cx="3026664" cy="12057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 few hundred rows: regularized linear models, boosted trees or a Gaussian process.</a:t>
            </a:r>
            <a:endParaRPr lang="en-US" sz="1600" dirty="0"/>
          </a:p>
        </p:txBody>
      </p:sp>
      <p:sp>
        <p:nvSpPr>
          <p:cNvPr id="8" name="Shape 5"/>
          <p:cNvSpPr/>
          <p:nvPr/>
        </p:nvSpPr>
        <p:spPr>
          <a:xfrm>
            <a:off x="4160520" y="1691640"/>
            <a:ext cx="3429000" cy="1965960"/>
          </a:xfrm>
          <a:prstGeom prst="roundRect">
            <a:avLst>
              <a:gd name="adj" fmla="val 3721"/>
            </a:avLst>
          </a:prstGeom>
          <a:solidFill>
            <a:schemeClr val="bg2"/>
          </a:solidFill>
          <a:ln w="12700">
            <a:solidFill>
              <a:schemeClr val="bg2"/>
            </a:solidFill>
            <a:prstDash val="solid"/>
          </a:ln>
        </p:spPr>
      </p:sp>
      <p:sp>
        <p:nvSpPr>
          <p:cNvPr id="9" name="Text 6"/>
          <p:cNvSpPr txBox="1"/>
          <p:nvPr/>
        </p:nvSpPr>
        <p:spPr>
          <a:xfrm>
            <a:off x="4361688" y="1892808"/>
            <a:ext cx="302666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Tabular data</a:t>
            </a:r>
            <a:endParaRPr lang="en-US" sz="1900" dirty="0"/>
          </a:p>
        </p:txBody>
      </p:sp>
      <p:sp>
        <p:nvSpPr>
          <p:cNvPr id="10" name="Text 7"/>
          <p:cNvSpPr txBox="1"/>
          <p:nvPr/>
        </p:nvSpPr>
        <p:spPr>
          <a:xfrm>
            <a:off x="4361688" y="2250694"/>
            <a:ext cx="3026664" cy="12057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Gradient-boosted trees (XGBoost, LightGBM, CatBoost) remain highly competitive. Try them first.</a:t>
            </a:r>
            <a:endParaRPr lang="en-US" sz="1600" dirty="0"/>
          </a:p>
        </p:txBody>
      </p:sp>
      <p:sp>
        <p:nvSpPr>
          <p:cNvPr id="11" name="Shape 8"/>
          <p:cNvSpPr/>
          <p:nvPr/>
        </p:nvSpPr>
        <p:spPr>
          <a:xfrm>
            <a:off x="548640" y="3840480"/>
            <a:ext cx="3429000" cy="1965960"/>
          </a:xfrm>
          <a:prstGeom prst="roundRect">
            <a:avLst>
              <a:gd name="adj" fmla="val 3721"/>
            </a:avLst>
          </a:prstGeom>
          <a:solidFill>
            <a:schemeClr val="bg2"/>
          </a:solidFill>
          <a:ln w="12700">
            <a:solidFill>
              <a:schemeClr val="bg2"/>
            </a:solidFill>
            <a:prstDash val="solid"/>
          </a:ln>
        </p:spPr>
      </p:sp>
      <p:sp>
        <p:nvSpPr>
          <p:cNvPr id="12" name="Text 9"/>
          <p:cNvSpPr txBox="1"/>
          <p:nvPr/>
        </p:nvSpPr>
        <p:spPr>
          <a:xfrm>
            <a:off x="749808" y="4041648"/>
            <a:ext cx="302666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Hard interpretability</a:t>
            </a:r>
            <a:endParaRPr lang="en-US" sz="1900" dirty="0"/>
          </a:p>
        </p:txBody>
      </p:sp>
      <p:sp>
        <p:nvSpPr>
          <p:cNvPr id="13" name="Text 10"/>
          <p:cNvSpPr txBox="1"/>
          <p:nvPr/>
        </p:nvSpPr>
        <p:spPr>
          <a:xfrm>
            <a:off x="749808" y="4399534"/>
            <a:ext cx="3026664" cy="12057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If each decision must be audited, a logistic regression or small tree is defensible.</a:t>
            </a:r>
            <a:endParaRPr lang="en-US" sz="1600" dirty="0"/>
          </a:p>
        </p:txBody>
      </p:sp>
      <p:sp>
        <p:nvSpPr>
          <p:cNvPr id="14" name="Shape 11"/>
          <p:cNvSpPr/>
          <p:nvPr/>
        </p:nvSpPr>
        <p:spPr>
          <a:xfrm>
            <a:off x="4160520" y="3840480"/>
            <a:ext cx="3429000" cy="1965960"/>
          </a:xfrm>
          <a:prstGeom prst="roundRect">
            <a:avLst>
              <a:gd name="adj" fmla="val 3721"/>
            </a:avLst>
          </a:prstGeom>
          <a:solidFill>
            <a:schemeClr val="bg2"/>
          </a:solidFill>
          <a:ln w="12700">
            <a:solidFill>
              <a:schemeClr val="bg2"/>
            </a:solidFill>
            <a:prstDash val="solid"/>
          </a:ln>
        </p:spPr>
      </p:sp>
      <p:sp>
        <p:nvSpPr>
          <p:cNvPr id="15" name="Text 12"/>
          <p:cNvSpPr txBox="1"/>
          <p:nvPr/>
        </p:nvSpPr>
        <p:spPr>
          <a:xfrm>
            <a:off x="4361688" y="4041648"/>
            <a:ext cx="302666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 simple baseline works</a:t>
            </a:r>
            <a:endParaRPr lang="en-US" sz="1900" dirty="0"/>
          </a:p>
        </p:txBody>
      </p:sp>
      <p:sp>
        <p:nvSpPr>
          <p:cNvPr id="16" name="Text 13"/>
          <p:cNvSpPr txBox="1"/>
          <p:nvPr/>
        </p:nvSpPr>
        <p:spPr>
          <a:xfrm>
            <a:off x="4361688" y="4399534"/>
            <a:ext cx="3026664" cy="12057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Always fit it first. It tells you what score is easy.</a:t>
            </a:r>
            <a:endParaRPr lang="en-US" sz="1600" dirty="0"/>
          </a:p>
        </p:txBody>
      </p:sp>
      <p:sp>
        <p:nvSpPr>
          <p:cNvPr id="17" name="Shape 14"/>
          <p:cNvSpPr/>
          <p:nvPr/>
        </p:nvSpPr>
        <p:spPr>
          <a:xfrm>
            <a:off x="8001000" y="1691640"/>
            <a:ext cx="3639312" cy="4114800"/>
          </a:xfrm>
          <a:prstGeom prst="roundRect">
            <a:avLst>
              <a:gd name="adj" fmla="val 2010"/>
            </a:avLst>
          </a:prstGeom>
          <a:solidFill>
            <a:schemeClr val="accent1">
              <a:alpha val="10000"/>
            </a:schemeClr>
          </a:solidFill>
          <a:ln w="12700">
            <a:solidFill>
              <a:schemeClr val="accent1">
                <a:alpha val="10000"/>
              </a:schemeClr>
            </a:solidFill>
            <a:prstDash val="solid"/>
          </a:ln>
        </p:spPr>
      </p:sp>
      <p:sp>
        <p:nvSpPr>
          <p:cNvPr id="18" name="Text 15"/>
          <p:cNvSpPr txBox="1"/>
          <p:nvPr/>
        </p:nvSpPr>
        <p:spPr>
          <a:xfrm>
            <a:off x="8229600" y="1874520"/>
            <a:ext cx="32004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NEURAL NETWORKS WIN ON</a:t>
            </a:r>
            <a:endParaRPr lang="en-US" sz="1200" dirty="0"/>
          </a:p>
        </p:txBody>
      </p:sp>
      <p:sp>
        <p:nvSpPr>
          <p:cNvPr id="19" name="Text 16"/>
          <p:cNvSpPr txBox="1"/>
          <p:nvPr/>
        </p:nvSpPr>
        <p:spPr>
          <a:xfrm>
            <a:off x="8229600" y="2286000"/>
            <a:ext cx="3200400" cy="2194560"/>
          </a:xfrm>
          <a:prstGeom prst="rect">
            <a:avLst/>
          </a:prstGeom>
          <a:noFill/>
          <a:ln/>
        </p:spPr>
        <p:txBody>
          <a:bodyPr wrap="square" lIns="0" tIns="0" rIns="0" bIns="0" rtlCol="0" anchor="t"/>
          <a:lstStyle/>
          <a:p>
            <a:pPr algn="l" indent="0" marL="0">
              <a:lnSpc>
                <a:spcPct val="105000"/>
              </a:lnSpc>
              <a:spcAft>
                <a:spcPts val="800"/>
              </a:spcAft>
              <a:buNone/>
            </a:pPr>
            <a:r>
              <a:rPr lang="en-US" sz="2200" b="1" dirty="0">
                <a:solidFill>
                  <a:schemeClr val="tx1"/>
                </a:solidFill>
              </a:rPr>
              <a:t>Images</a:t>
            </a:r>
            <a:endParaRPr lang="en-US" sz="2200" dirty="0"/>
          </a:p>
          <a:p>
            <a:pPr algn="l" indent="0" marL="0">
              <a:lnSpc>
                <a:spcPct val="105000"/>
              </a:lnSpc>
              <a:spcAft>
                <a:spcPts val="800"/>
              </a:spcAft>
              <a:buNone/>
            </a:pPr>
            <a:r>
              <a:rPr lang="en-US" sz="2200" b="1" dirty="0">
                <a:solidFill>
                  <a:schemeClr val="tx1"/>
                </a:solidFill>
              </a:rPr>
              <a:t>Audio and video</a:t>
            </a:r>
            <a:endParaRPr lang="en-US" sz="2200" dirty="0"/>
          </a:p>
          <a:p>
            <a:pPr algn="l" indent="0" marL="0">
              <a:lnSpc>
                <a:spcPct val="105000"/>
              </a:lnSpc>
              <a:spcAft>
                <a:spcPts val="800"/>
              </a:spcAft>
              <a:buNone/>
            </a:pPr>
            <a:r>
              <a:rPr lang="en-US" sz="2200" b="1" dirty="0">
                <a:solidFill>
                  <a:schemeClr val="tx1"/>
                </a:solidFill>
              </a:rPr>
              <a:t>Text</a:t>
            </a:r>
            <a:endParaRPr lang="en-US" sz="2200" dirty="0"/>
          </a:p>
          <a:p>
            <a:pPr algn="l" indent="0" marL="0">
              <a:lnSpc>
                <a:spcPct val="105000"/>
              </a:lnSpc>
              <a:buNone/>
            </a:pPr>
            <a:r>
              <a:rPr lang="en-US" sz="2200" b="1" dirty="0">
                <a:solidFill>
                  <a:schemeClr val="tx1"/>
                </a:solidFill>
              </a:rPr>
              <a:t>Protein sequences</a:t>
            </a:r>
            <a:endParaRPr lang="en-US" sz="2200" dirty="0"/>
          </a:p>
        </p:txBody>
      </p:sp>
      <p:sp>
        <p:nvSpPr>
          <p:cNvPr id="20" name="Text 17"/>
          <p:cNvSpPr txBox="1"/>
          <p:nvPr/>
        </p:nvSpPr>
        <p:spPr>
          <a:xfrm>
            <a:off x="8229600" y="4572000"/>
            <a:ext cx="3200400" cy="100584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Abundant data with structure that is hard to describe by hand.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why we needed neural networks</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Give a 2-D dataset of 3 points that no linear classifier can separate, or argue that none exists.</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In the XOR network, what happens if g is the identity instead of ReLU?</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did h₁ = OR and h₂ = AND emerge naturally? Name another hidden pair that solves XOR.</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why we needed neural networks</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Give a 2-D dataset of 3 points that no linear classifier can separate, or argue that none exists.</a:t>
            </a:r>
            <a:endParaRPr lang="en-US" sz="1600" dirty="0"/>
          </a:p>
        </p:txBody>
      </p:sp>
      <p:sp>
        <p:nvSpPr>
          <p:cNvPr id="8" name="Text 5"/>
          <p:cNvSpPr txBox="1"/>
          <p:nvPr/>
        </p:nvSpPr>
        <p:spPr>
          <a:xfrm>
            <a:off x="1234440" y="1849120"/>
            <a:ext cx="10378440" cy="829056"/>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In general position (distinct, not collinear) every labelling of 3 points is separable, so you need 4 points: XOR. In degenerate cases 3 suffice: A, B, A at x = 0, 1, 2 on a line. Separability claims carry a hidden general-position assumption.</a:t>
            </a:r>
            <a:endParaRPr lang="en-US" sz="1600" dirty="0"/>
          </a:p>
        </p:txBody>
      </p:sp>
      <p:sp>
        <p:nvSpPr>
          <p:cNvPr id="9" name="Shape 6"/>
          <p:cNvSpPr/>
          <p:nvPr/>
        </p:nvSpPr>
        <p:spPr>
          <a:xfrm>
            <a:off x="576072" y="2943352"/>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94335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94335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In the XOR network, what happens if g is the identity instead of ReLU?</a:t>
            </a:r>
            <a:endParaRPr lang="en-US" sz="1600" dirty="0"/>
          </a:p>
        </p:txBody>
      </p:sp>
      <p:sp>
        <p:nvSpPr>
          <p:cNvPr id="12" name="Text 9"/>
          <p:cNvSpPr txBox="1"/>
          <p:nvPr/>
        </p:nvSpPr>
        <p:spPr>
          <a:xfrm>
            <a:off x="1234440" y="3237992"/>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 composition of linear maps is linear, so the network collapses to one linear model and XOR becomes impossible again (proved in §3).</a:t>
            </a:r>
            <a:endParaRPr lang="en-US" sz="1600" dirty="0"/>
          </a:p>
        </p:txBody>
      </p:sp>
      <p:sp>
        <p:nvSpPr>
          <p:cNvPr id="13" name="Shape 10"/>
          <p:cNvSpPr/>
          <p:nvPr/>
        </p:nvSpPr>
        <p:spPr>
          <a:xfrm>
            <a:off x="576072" y="4092448"/>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4092448"/>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4092448"/>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did h₁ = OR and h₂ = AND emerge naturally? Name another hidden pair that solves XOR.</a:t>
            </a:r>
            <a:endParaRPr lang="en-US" sz="1600" dirty="0"/>
          </a:p>
        </p:txBody>
      </p:sp>
      <p:sp>
        <p:nvSpPr>
          <p:cNvPr id="16" name="Text 13"/>
          <p:cNvSpPr txBox="1"/>
          <p:nvPr/>
        </p:nvSpPr>
        <p:spPr>
          <a:xfrm>
            <a:off x="1234440" y="4387088"/>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XOR = OR and not AND, and the network can express OR − 2·AND. Another solution: ReLU(x₁ − x₂) + ReLU(x₂ − x₁) = |x₁ − x₂|.</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2</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The artificial neuron</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A weighted sum, a bias, and a nonlinearity. Everything else is built from this.</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§2</a:t>
            </a:r>
            <a:endParaRPr lang="en-US" sz="15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§2 · THE ARTIFICIAL NEURON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 neuron: weighted sum, plus bias, through a nonlinearity</a:t>
            </a:r>
            <a:endParaRPr lang="en-US" sz="3000" dirty="0"/>
          </a:p>
        </p:txBody>
      </p:sp>
      <p:sp>
        <p:nvSpPr>
          <p:cNvPr id="5" name="Shape 2"/>
          <p:cNvSpPr/>
          <p:nvPr/>
        </p:nvSpPr>
        <p:spPr>
          <a:xfrm>
            <a:off x="1325880" y="2103120"/>
            <a:ext cx="1783080" cy="1280160"/>
          </a:xfrm>
          <a:prstGeom prst="line">
            <a:avLst/>
          </a:prstGeom>
          <a:noFill/>
          <a:ln w="22225">
            <a:solidFill>
              <a:srgbClr val="0F7B78"/>
            </a:solidFill>
            <a:prstDash val="solid"/>
            <a:tailEnd type="triangle"/>
          </a:ln>
        </p:spPr>
      </p:sp>
      <p:sp>
        <p:nvSpPr>
          <p:cNvPr id="6" name="Shape 3"/>
          <p:cNvSpPr/>
          <p:nvPr/>
        </p:nvSpPr>
        <p:spPr>
          <a:xfrm>
            <a:off x="685800" y="1783080"/>
            <a:ext cx="640080" cy="640080"/>
          </a:xfrm>
          <a:prstGeom prst="ellipse">
            <a:avLst/>
          </a:prstGeom>
          <a:solidFill>
            <a:schemeClr val="bg2"/>
          </a:solidFill>
          <a:ln w="19050">
            <a:solidFill>
              <a:schemeClr val="tx1"/>
            </a:solidFill>
            <a:prstDash val="solid"/>
          </a:ln>
        </p:spPr>
      </p:sp>
      <p:sp>
        <p:nvSpPr>
          <p:cNvPr id="7" name="Text 4"/>
          <p:cNvSpPr txBox="1"/>
          <p:nvPr/>
        </p:nvSpPr>
        <p:spPr>
          <a:xfrm>
            <a:off x="502920" y="1783080"/>
            <a:ext cx="1005840" cy="640080"/>
          </a:xfrm>
          <a:prstGeom prst="rect">
            <a:avLst/>
          </a:prstGeom>
          <a:noFill/>
          <a:ln/>
        </p:spPr>
        <p:txBody>
          <a:bodyPr wrap="square" lIns="0" tIns="0" rIns="0" bIns="0" rtlCol="0" anchor="ctr"/>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x₁</a:t>
            </a:r>
            <a:endParaRPr lang="en-US" sz="1800" dirty="0"/>
          </a:p>
        </p:txBody>
      </p:sp>
      <p:sp>
        <p:nvSpPr>
          <p:cNvPr id="8" name="Text 5"/>
          <p:cNvSpPr txBox="1"/>
          <p:nvPr/>
        </p:nvSpPr>
        <p:spPr>
          <a:xfrm>
            <a:off x="2011680" y="2359152"/>
            <a:ext cx="548640" cy="320040"/>
          </a:xfrm>
          <a:prstGeom prst="rect">
            <a:avLst/>
          </a:prstGeom>
          <a:noFill/>
          <a:ln/>
        </p:spPr>
        <p:txBody>
          <a:bodyPr wrap="square" lIns="0" tIns="0" rIns="0" bIns="0" rtlCol="0" anchor="t"/>
          <a:lstStyle/>
          <a:p>
            <a:pPr algn="l" indent="0" marL="0">
              <a:lnSpc>
                <a:spcPct val="105000"/>
              </a:lnSpc>
              <a:buNone/>
            </a:pPr>
            <a:r>
              <a:rPr lang="en-US" sz="1600" dirty="0">
                <a:solidFill>
                  <a:schemeClr val="accent1"/>
                </a:solidFill>
                <a:latin typeface="Cambria Math" pitchFamily="34" charset="0"/>
                <a:ea typeface="Cambria Math" pitchFamily="34" charset="-122"/>
                <a:cs typeface="Cambria Math" pitchFamily="34" charset="-120"/>
              </a:rPr>
              <a:t>w₁</a:t>
            </a:r>
            <a:endParaRPr lang="en-US" sz="1600" dirty="0"/>
          </a:p>
        </p:txBody>
      </p:sp>
      <p:sp>
        <p:nvSpPr>
          <p:cNvPr id="9" name="Shape 6"/>
          <p:cNvSpPr/>
          <p:nvPr/>
        </p:nvSpPr>
        <p:spPr>
          <a:xfrm>
            <a:off x="1325880" y="2971800"/>
            <a:ext cx="1783080" cy="411480"/>
          </a:xfrm>
          <a:prstGeom prst="line">
            <a:avLst/>
          </a:prstGeom>
          <a:noFill/>
          <a:ln w="22225">
            <a:solidFill>
              <a:srgbClr val="0F7B78"/>
            </a:solidFill>
            <a:prstDash val="solid"/>
            <a:tailEnd type="triangle"/>
          </a:ln>
        </p:spPr>
      </p:sp>
      <p:sp>
        <p:nvSpPr>
          <p:cNvPr id="10" name="Shape 7"/>
          <p:cNvSpPr/>
          <p:nvPr/>
        </p:nvSpPr>
        <p:spPr>
          <a:xfrm>
            <a:off x="685800" y="2651760"/>
            <a:ext cx="640080" cy="640080"/>
          </a:xfrm>
          <a:prstGeom prst="ellipse">
            <a:avLst/>
          </a:prstGeom>
          <a:solidFill>
            <a:schemeClr val="bg2"/>
          </a:solidFill>
          <a:ln w="19050">
            <a:solidFill>
              <a:schemeClr val="tx1"/>
            </a:solidFill>
            <a:prstDash val="solid"/>
          </a:ln>
        </p:spPr>
      </p:sp>
      <p:sp>
        <p:nvSpPr>
          <p:cNvPr id="11" name="Text 8"/>
          <p:cNvSpPr txBox="1"/>
          <p:nvPr/>
        </p:nvSpPr>
        <p:spPr>
          <a:xfrm>
            <a:off x="502920" y="2651760"/>
            <a:ext cx="1005840" cy="640080"/>
          </a:xfrm>
          <a:prstGeom prst="rect">
            <a:avLst/>
          </a:prstGeom>
          <a:noFill/>
          <a:ln/>
        </p:spPr>
        <p:txBody>
          <a:bodyPr wrap="square" lIns="0" tIns="0" rIns="0" bIns="0" rtlCol="0" anchor="ctr"/>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x₂</a:t>
            </a:r>
            <a:endParaRPr lang="en-US" sz="1800" dirty="0"/>
          </a:p>
        </p:txBody>
      </p:sp>
      <p:sp>
        <p:nvSpPr>
          <p:cNvPr id="12" name="Text 9"/>
          <p:cNvSpPr txBox="1"/>
          <p:nvPr/>
        </p:nvSpPr>
        <p:spPr>
          <a:xfrm>
            <a:off x="2011680" y="2793492"/>
            <a:ext cx="548640" cy="320040"/>
          </a:xfrm>
          <a:prstGeom prst="rect">
            <a:avLst/>
          </a:prstGeom>
          <a:noFill/>
          <a:ln/>
        </p:spPr>
        <p:txBody>
          <a:bodyPr wrap="square" lIns="0" tIns="0" rIns="0" bIns="0" rtlCol="0" anchor="t"/>
          <a:lstStyle/>
          <a:p>
            <a:pPr algn="l" indent="0" marL="0">
              <a:lnSpc>
                <a:spcPct val="105000"/>
              </a:lnSpc>
              <a:buNone/>
            </a:pPr>
            <a:r>
              <a:rPr lang="en-US" sz="1600" dirty="0">
                <a:solidFill>
                  <a:schemeClr val="accent1"/>
                </a:solidFill>
                <a:latin typeface="Cambria Math" pitchFamily="34" charset="0"/>
                <a:ea typeface="Cambria Math" pitchFamily="34" charset="-122"/>
                <a:cs typeface="Cambria Math" pitchFamily="34" charset="-120"/>
              </a:rPr>
              <a:t>w₂</a:t>
            </a:r>
            <a:endParaRPr lang="en-US" sz="1600" dirty="0"/>
          </a:p>
        </p:txBody>
      </p:sp>
      <p:sp>
        <p:nvSpPr>
          <p:cNvPr id="13" name="Shape 10"/>
          <p:cNvSpPr/>
          <p:nvPr/>
        </p:nvSpPr>
        <p:spPr>
          <a:xfrm flipV="1">
            <a:off x="1325880" y="3383280"/>
            <a:ext cx="1783080" cy="1280160"/>
          </a:xfrm>
          <a:prstGeom prst="line">
            <a:avLst/>
          </a:prstGeom>
          <a:noFill/>
          <a:ln w="22225">
            <a:solidFill>
              <a:srgbClr val="0F7B78"/>
            </a:solidFill>
            <a:prstDash val="solid"/>
            <a:tailEnd type="triangle"/>
          </a:ln>
        </p:spPr>
      </p:sp>
      <p:sp>
        <p:nvSpPr>
          <p:cNvPr id="14" name="Shape 11"/>
          <p:cNvSpPr/>
          <p:nvPr/>
        </p:nvSpPr>
        <p:spPr>
          <a:xfrm>
            <a:off x="685800" y="4343400"/>
            <a:ext cx="640080" cy="640080"/>
          </a:xfrm>
          <a:prstGeom prst="ellipse">
            <a:avLst/>
          </a:prstGeom>
          <a:solidFill>
            <a:schemeClr val="bg2"/>
          </a:solidFill>
          <a:ln w="19050">
            <a:solidFill>
              <a:schemeClr val="tx1"/>
            </a:solidFill>
            <a:prstDash val="solid"/>
          </a:ln>
        </p:spPr>
      </p:sp>
      <p:sp>
        <p:nvSpPr>
          <p:cNvPr id="15" name="Text 12"/>
          <p:cNvSpPr txBox="1"/>
          <p:nvPr/>
        </p:nvSpPr>
        <p:spPr>
          <a:xfrm>
            <a:off x="502920" y="4343400"/>
            <a:ext cx="1005840" cy="640080"/>
          </a:xfrm>
          <a:prstGeom prst="rect">
            <a:avLst/>
          </a:prstGeom>
          <a:noFill/>
          <a:ln/>
        </p:spPr>
        <p:txBody>
          <a:bodyPr wrap="square" lIns="0" tIns="0" rIns="0" bIns="0" rtlCol="0" anchor="ctr"/>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xₙ</a:t>
            </a:r>
            <a:endParaRPr lang="en-US" sz="1800" dirty="0"/>
          </a:p>
        </p:txBody>
      </p:sp>
      <p:sp>
        <p:nvSpPr>
          <p:cNvPr id="16" name="Text 13"/>
          <p:cNvSpPr txBox="1"/>
          <p:nvPr/>
        </p:nvSpPr>
        <p:spPr>
          <a:xfrm>
            <a:off x="2011680" y="3639312"/>
            <a:ext cx="548640" cy="320040"/>
          </a:xfrm>
          <a:prstGeom prst="rect">
            <a:avLst/>
          </a:prstGeom>
          <a:noFill/>
          <a:ln/>
        </p:spPr>
        <p:txBody>
          <a:bodyPr wrap="square" lIns="0" tIns="0" rIns="0" bIns="0" rtlCol="0" anchor="t"/>
          <a:lstStyle/>
          <a:p>
            <a:pPr algn="l" indent="0" marL="0">
              <a:lnSpc>
                <a:spcPct val="105000"/>
              </a:lnSpc>
              <a:buNone/>
            </a:pPr>
            <a:r>
              <a:rPr lang="en-US" sz="1600" dirty="0">
                <a:solidFill>
                  <a:schemeClr val="accent1"/>
                </a:solidFill>
                <a:latin typeface="Cambria Math" pitchFamily="34" charset="0"/>
                <a:ea typeface="Cambria Math" pitchFamily="34" charset="-122"/>
                <a:cs typeface="Cambria Math" pitchFamily="34" charset="-120"/>
              </a:rPr>
              <a:t>wₙ</a:t>
            </a:r>
            <a:endParaRPr lang="en-US" sz="1600" dirty="0"/>
          </a:p>
        </p:txBody>
      </p:sp>
      <p:sp>
        <p:nvSpPr>
          <p:cNvPr id="17" name="Text 14"/>
          <p:cNvSpPr txBox="1"/>
          <p:nvPr/>
        </p:nvSpPr>
        <p:spPr>
          <a:xfrm>
            <a:off x="777240" y="3474720"/>
            <a:ext cx="457200" cy="548640"/>
          </a:xfrm>
          <a:prstGeom prst="rect">
            <a:avLst/>
          </a:prstGeom>
          <a:noFill/>
          <a:ln/>
        </p:spPr>
        <p:txBody>
          <a:bodyPr wrap="square" lIns="0" tIns="0" rIns="0" bIns="0" rtlCol="0" anchor="t"/>
          <a:lstStyle/>
          <a:p>
            <a:pPr algn="ctr" indent="0" marL="0">
              <a:lnSpc>
                <a:spcPct val="105000"/>
              </a:lnSpc>
              <a:buNone/>
            </a:pPr>
            <a:r>
              <a:rPr lang="en-US" sz="2400" dirty="0">
                <a:solidFill>
                  <a:schemeClr val="tx2"/>
                </a:solidFill>
              </a:rPr>
              <a:t>⋮</a:t>
            </a:r>
            <a:endParaRPr lang="en-US" sz="2400" dirty="0"/>
          </a:p>
        </p:txBody>
      </p:sp>
      <p:sp>
        <p:nvSpPr>
          <p:cNvPr id="18" name="Shape 15"/>
          <p:cNvSpPr/>
          <p:nvPr/>
        </p:nvSpPr>
        <p:spPr>
          <a:xfrm>
            <a:off x="3566160" y="1828800"/>
            <a:ext cx="0" cy="1097280"/>
          </a:xfrm>
          <a:prstGeom prst="line">
            <a:avLst/>
          </a:prstGeom>
          <a:noFill/>
          <a:ln w="22225">
            <a:solidFill>
              <a:srgbClr val="0F7B78"/>
            </a:solidFill>
            <a:prstDash val="solid"/>
            <a:tailEnd type="triangle"/>
          </a:ln>
        </p:spPr>
      </p:sp>
      <p:sp>
        <p:nvSpPr>
          <p:cNvPr id="19" name="Text 16"/>
          <p:cNvSpPr txBox="1"/>
          <p:nvPr/>
        </p:nvSpPr>
        <p:spPr>
          <a:xfrm>
            <a:off x="3657600" y="1783080"/>
            <a:ext cx="365760" cy="365760"/>
          </a:xfrm>
          <a:prstGeom prst="rect">
            <a:avLst/>
          </a:prstGeom>
          <a:noFill/>
          <a:ln/>
        </p:spPr>
        <p:txBody>
          <a:bodyPr wrap="square" lIns="0" tIns="0" rIns="0" bIns="0" rtlCol="0" anchor="t"/>
          <a:lstStyle/>
          <a:p>
            <a:pPr algn="l" indent="0" marL="0">
              <a:lnSpc>
                <a:spcPct val="105000"/>
              </a:lnSpc>
              <a:buNone/>
            </a:pPr>
            <a:r>
              <a:rPr lang="en-US" sz="1800" dirty="0">
                <a:solidFill>
                  <a:schemeClr val="accent1"/>
                </a:solidFill>
                <a:latin typeface="Cambria Math" pitchFamily="34" charset="0"/>
                <a:ea typeface="Cambria Math" pitchFamily="34" charset="-122"/>
                <a:cs typeface="Cambria Math" pitchFamily="34" charset="-120"/>
              </a:rPr>
              <a:t>b</a:t>
            </a:r>
            <a:endParaRPr lang="en-US" sz="1800" dirty="0"/>
          </a:p>
        </p:txBody>
      </p:sp>
      <p:sp>
        <p:nvSpPr>
          <p:cNvPr id="20" name="Shape 17"/>
          <p:cNvSpPr/>
          <p:nvPr/>
        </p:nvSpPr>
        <p:spPr>
          <a:xfrm>
            <a:off x="3108960" y="2926080"/>
            <a:ext cx="914400" cy="914400"/>
          </a:xfrm>
          <a:prstGeom prst="ellipse">
            <a:avLst/>
          </a:prstGeom>
          <a:solidFill>
            <a:schemeClr val="bg1"/>
          </a:solidFill>
          <a:ln w="31750">
            <a:solidFill>
              <a:schemeClr val="accent1"/>
            </a:solidFill>
            <a:prstDash val="solid"/>
          </a:ln>
        </p:spPr>
      </p:sp>
      <p:sp>
        <p:nvSpPr>
          <p:cNvPr id="21" name="Text 18"/>
          <p:cNvSpPr txBox="1"/>
          <p:nvPr/>
        </p:nvSpPr>
        <p:spPr>
          <a:xfrm>
            <a:off x="2926080" y="2926080"/>
            <a:ext cx="1280160" cy="914400"/>
          </a:xfrm>
          <a:prstGeom prst="rect">
            <a:avLst/>
          </a:prstGeom>
          <a:noFill/>
          <a:ln/>
        </p:spPr>
        <p:txBody>
          <a:bodyPr wrap="square" lIns="0" tIns="0" rIns="0" bIns="0" rtlCol="0" anchor="ctr"/>
          <a:lstStyle/>
          <a:p>
            <a:pPr algn="ctr" indent="0" marL="0">
              <a:buNone/>
            </a:pPr>
            <a:r>
              <a:rPr lang="en-US" sz="2600" dirty="0">
                <a:solidFill>
                  <a:schemeClr val="tx1"/>
                </a:solidFill>
                <a:latin typeface="Cambria Math" pitchFamily="34" charset="0"/>
                <a:ea typeface="Cambria Math" pitchFamily="34" charset="-122"/>
                <a:cs typeface="Cambria Math" pitchFamily="34" charset="-120"/>
              </a:rPr>
              <a:t>Σ</a:t>
            </a:r>
            <a:endParaRPr lang="en-US" sz="2600" dirty="0"/>
          </a:p>
        </p:txBody>
      </p:sp>
      <p:sp>
        <p:nvSpPr>
          <p:cNvPr id="22" name="Shape 19"/>
          <p:cNvSpPr/>
          <p:nvPr/>
        </p:nvSpPr>
        <p:spPr>
          <a:xfrm>
            <a:off x="4023360" y="3383280"/>
            <a:ext cx="731520" cy="0"/>
          </a:xfrm>
          <a:prstGeom prst="line">
            <a:avLst/>
          </a:prstGeom>
          <a:noFill/>
          <a:ln w="22225">
            <a:solidFill>
              <a:srgbClr val="0F7B78"/>
            </a:solidFill>
            <a:prstDash val="solid"/>
            <a:tailEnd type="triangle"/>
          </a:ln>
        </p:spPr>
      </p:sp>
      <p:sp>
        <p:nvSpPr>
          <p:cNvPr id="23" name="Shape 20"/>
          <p:cNvSpPr/>
          <p:nvPr/>
        </p:nvSpPr>
        <p:spPr>
          <a:xfrm>
            <a:off x="4754880" y="3035808"/>
            <a:ext cx="1097280" cy="694944"/>
          </a:xfrm>
          <a:prstGeom prst="roundRect">
            <a:avLst>
              <a:gd name="adj" fmla="val 7895"/>
            </a:avLst>
          </a:prstGeom>
          <a:solidFill>
            <a:schemeClr val="accent1">
              <a:alpha val="10000"/>
            </a:schemeClr>
          </a:solidFill>
          <a:ln w="15875">
            <a:solidFill>
              <a:schemeClr val="accent1"/>
            </a:solidFill>
            <a:prstDash val="solid"/>
          </a:ln>
        </p:spPr>
      </p:sp>
      <p:sp>
        <p:nvSpPr>
          <p:cNvPr id="24" name="Text 21"/>
          <p:cNvSpPr txBox="1"/>
          <p:nvPr/>
        </p:nvSpPr>
        <p:spPr>
          <a:xfrm>
            <a:off x="4800600" y="3035808"/>
            <a:ext cx="1005840" cy="694944"/>
          </a:xfrm>
          <a:prstGeom prst="rect">
            <a:avLst/>
          </a:prstGeom>
          <a:noFill/>
          <a:ln/>
        </p:spPr>
        <p:txBody>
          <a:bodyPr wrap="square" lIns="0" tIns="0" rIns="0" bIns="0" rtlCol="0" anchor="ctr"/>
          <a:lstStyle/>
          <a:p>
            <a:pPr algn="ctr" indent="0" marL="0">
              <a:lnSpc>
                <a:spcPct val="105000"/>
              </a:lnSpc>
              <a:buNone/>
            </a:pPr>
            <a:r>
              <a:rPr lang="en-US" sz="2000" dirty="0">
                <a:solidFill>
                  <a:schemeClr val="tx1"/>
                </a:solidFill>
                <a:latin typeface="Cambria Math" pitchFamily="34" charset="0"/>
                <a:ea typeface="Cambria Math" pitchFamily="34" charset="-122"/>
                <a:cs typeface="Cambria Math" pitchFamily="34" charset="-120"/>
              </a:rPr>
              <a:t>g(·)</a:t>
            </a:r>
            <a:endParaRPr lang="en-US" sz="2000" dirty="0"/>
          </a:p>
        </p:txBody>
      </p:sp>
      <p:sp>
        <p:nvSpPr>
          <p:cNvPr id="25" name="Shape 22"/>
          <p:cNvSpPr/>
          <p:nvPr/>
        </p:nvSpPr>
        <p:spPr>
          <a:xfrm>
            <a:off x="5852160" y="3383280"/>
            <a:ext cx="548640" cy="0"/>
          </a:xfrm>
          <a:prstGeom prst="line">
            <a:avLst/>
          </a:prstGeom>
          <a:noFill/>
          <a:ln w="22225">
            <a:solidFill>
              <a:srgbClr val="0F7B78"/>
            </a:solidFill>
            <a:prstDash val="solid"/>
            <a:tailEnd type="triangle"/>
          </a:ln>
        </p:spPr>
      </p:sp>
      <p:sp>
        <p:nvSpPr>
          <p:cNvPr id="26" name="Shape 23"/>
          <p:cNvSpPr/>
          <p:nvPr/>
        </p:nvSpPr>
        <p:spPr>
          <a:xfrm>
            <a:off x="6400800" y="3063240"/>
            <a:ext cx="640080" cy="640080"/>
          </a:xfrm>
          <a:prstGeom prst="ellipse">
            <a:avLst/>
          </a:prstGeom>
          <a:solidFill>
            <a:schemeClr val="bg1"/>
          </a:solidFill>
          <a:ln w="19050">
            <a:solidFill>
              <a:schemeClr val="tx1"/>
            </a:solidFill>
            <a:prstDash val="solid"/>
          </a:ln>
        </p:spPr>
      </p:sp>
      <p:sp>
        <p:nvSpPr>
          <p:cNvPr id="27" name="Text 24"/>
          <p:cNvSpPr txBox="1"/>
          <p:nvPr/>
        </p:nvSpPr>
        <p:spPr>
          <a:xfrm>
            <a:off x="6217920" y="3063240"/>
            <a:ext cx="1005840" cy="64008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a</a:t>
            </a:r>
            <a:endParaRPr lang="en-US" sz="2000" dirty="0"/>
          </a:p>
        </p:txBody>
      </p:sp>
      <p:sp>
        <p:nvSpPr>
          <p:cNvPr id="28" name="Text 25"/>
          <p:cNvSpPr txBox="1"/>
          <p:nvPr/>
        </p:nvSpPr>
        <p:spPr>
          <a:xfrm>
            <a:off x="2834640" y="3977640"/>
            <a:ext cx="1463040" cy="320040"/>
          </a:xfrm>
          <a:prstGeom prst="rect">
            <a:avLst/>
          </a:prstGeom>
          <a:noFill/>
          <a:ln/>
        </p:spPr>
        <p:txBody>
          <a:bodyPr wrap="square" lIns="0" tIns="0" rIns="0" bIns="0" rtlCol="0" anchor="t"/>
          <a:lstStyle/>
          <a:p>
            <a:pPr algn="ctr" indent="0" marL="0">
              <a:lnSpc>
                <a:spcPct val="105000"/>
              </a:lnSpc>
              <a:buNone/>
            </a:pPr>
            <a:r>
              <a:rPr lang="en-US" sz="1400" dirty="0">
                <a:solidFill>
                  <a:schemeClr val="tx2"/>
                </a:solidFill>
              </a:rPr>
              <a:t>pre-activation z</a:t>
            </a:r>
            <a:endParaRPr lang="en-US" sz="1400" dirty="0"/>
          </a:p>
        </p:txBody>
      </p:sp>
      <p:sp>
        <p:nvSpPr>
          <p:cNvPr id="29" name="Text 26"/>
          <p:cNvSpPr txBox="1"/>
          <p:nvPr/>
        </p:nvSpPr>
        <p:spPr>
          <a:xfrm>
            <a:off x="6217920" y="3840480"/>
            <a:ext cx="1005840" cy="320040"/>
          </a:xfrm>
          <a:prstGeom prst="rect">
            <a:avLst/>
          </a:prstGeom>
          <a:noFill/>
          <a:ln/>
        </p:spPr>
        <p:txBody>
          <a:bodyPr wrap="square" lIns="0" tIns="0" rIns="0" bIns="0" rtlCol="0" anchor="t"/>
          <a:lstStyle/>
          <a:p>
            <a:pPr algn="ctr" indent="0" marL="0">
              <a:lnSpc>
                <a:spcPct val="105000"/>
              </a:lnSpc>
              <a:buNone/>
            </a:pPr>
            <a:r>
              <a:rPr lang="en-US" sz="1400" dirty="0">
                <a:solidFill>
                  <a:schemeClr val="tx2"/>
                </a:solidFill>
              </a:rPr>
              <a:t>activation</a:t>
            </a:r>
            <a:endParaRPr lang="en-US" sz="1400" dirty="0"/>
          </a:p>
        </p:txBody>
      </p:sp>
      <p:sp>
        <p:nvSpPr>
          <p:cNvPr id="30" name="Shape 27"/>
          <p:cNvSpPr/>
          <p:nvPr/>
        </p:nvSpPr>
        <p:spPr>
          <a:xfrm>
            <a:off x="7635240" y="1691640"/>
            <a:ext cx="4005072" cy="1539748"/>
          </a:xfrm>
          <a:prstGeom prst="roundRect">
            <a:avLst>
              <a:gd name="adj" fmla="val 4751"/>
            </a:avLst>
          </a:prstGeom>
          <a:solidFill>
            <a:schemeClr val="accent1">
              <a:alpha val="10000"/>
            </a:schemeClr>
          </a:solidFill>
          <a:ln w="12700">
            <a:solidFill>
              <a:schemeClr val="accent1">
                <a:alpha val="10000"/>
              </a:schemeClr>
            </a:solidFill>
            <a:prstDash val="solid"/>
          </a:ln>
        </p:spPr>
      </p:sp>
      <p:sp>
        <p:nvSpPr>
          <p:cNvPr id="31" name="Text 28"/>
          <p:cNvSpPr txBox="1"/>
          <p:nvPr/>
        </p:nvSpPr>
        <p:spPr>
          <a:xfrm>
            <a:off x="7863840" y="1837944"/>
            <a:ext cx="354787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THE WHOLE THING</a:t>
            </a:r>
            <a:endParaRPr lang="en-US" sz="1200" dirty="0"/>
          </a:p>
        </p:txBody>
      </p:sp>
      <p:sp>
        <p:nvSpPr>
          <p:cNvPr id="32" name="Text 29"/>
          <p:cNvSpPr txBox="1"/>
          <p:nvPr/>
        </p:nvSpPr>
        <p:spPr>
          <a:xfrm>
            <a:off x="7863840" y="2267712"/>
            <a:ext cx="3547872" cy="771652"/>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z = wᵀx + b</a:t>
            </a:r>
            <a:r>
              <a:rPr lang="en-US" sz="1800" dirty="0">
                <a:solidFill>
                  <a:schemeClr val="tx2"/>
                </a:solidFill>
                <a:latin typeface="Calibri" pitchFamily="34" charset="0"/>
                <a:ea typeface="Calibri" pitchFamily="34" charset="-122"/>
                <a:cs typeface="Calibri" pitchFamily="34" charset="-120"/>
              </a:rPr>
              <a:t>    a scalar</a:t>
            </a:r>
            <a:endParaRPr lang="en-US" sz="2200" dirty="0"/>
          </a:p>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a = g(z)</a:t>
            </a:r>
            <a:r>
              <a:rPr lang="en-US" sz="1800" dirty="0">
                <a:solidFill>
                  <a:schemeClr val="tx2"/>
                </a:solidFill>
                <a:latin typeface="Calibri" pitchFamily="34" charset="0"/>
                <a:ea typeface="Calibri" pitchFamily="34" charset="-122"/>
                <a:cs typeface="Calibri" pitchFamily="34" charset="-120"/>
              </a:rPr>
              <a:t>    also a scalar</a:t>
            </a:r>
            <a:endParaRPr lang="en-US" sz="2200" dirty="0"/>
          </a:p>
        </p:txBody>
      </p:sp>
      <p:sp>
        <p:nvSpPr>
          <p:cNvPr id="33" name="Shape 30"/>
          <p:cNvSpPr/>
          <p:nvPr/>
        </p:nvSpPr>
        <p:spPr>
          <a:xfrm>
            <a:off x="7635240" y="3429000"/>
            <a:ext cx="4005072" cy="1280160"/>
          </a:xfrm>
          <a:prstGeom prst="roundRect">
            <a:avLst>
              <a:gd name="adj" fmla="val 5714"/>
            </a:avLst>
          </a:prstGeom>
          <a:solidFill>
            <a:schemeClr val="accent1">
              <a:alpha val="10000"/>
            </a:schemeClr>
          </a:solidFill>
          <a:ln w="12700">
            <a:solidFill>
              <a:schemeClr val="accent1">
                <a:alpha val="10000"/>
              </a:schemeClr>
            </a:solidFill>
            <a:prstDash val="solid"/>
          </a:ln>
        </p:spPr>
      </p:sp>
      <p:sp>
        <p:nvSpPr>
          <p:cNvPr id="34" name="Text 31"/>
          <p:cNvSpPr txBox="1"/>
          <p:nvPr/>
        </p:nvSpPr>
        <p:spPr>
          <a:xfrm>
            <a:off x="7836408" y="3630168"/>
            <a:ext cx="36027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Mental model</a:t>
            </a:r>
            <a:endParaRPr lang="en-US" sz="1900" dirty="0"/>
          </a:p>
        </p:txBody>
      </p:sp>
      <p:sp>
        <p:nvSpPr>
          <p:cNvPr id="35" name="Text 32"/>
          <p:cNvSpPr txBox="1"/>
          <p:nvPr/>
        </p:nvSpPr>
        <p:spPr>
          <a:xfrm>
            <a:off x="7836408" y="3988054"/>
            <a:ext cx="3602736" cy="5199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 learned linear feature detector followed by a soft threshold.</a:t>
            </a:r>
            <a:endParaRPr lang="en-US" sz="1600" dirty="0"/>
          </a:p>
        </p:txBody>
      </p:sp>
      <p:sp>
        <p:nvSpPr>
          <p:cNvPr id="36" name="Text 33"/>
          <p:cNvSpPr txBox="1"/>
          <p:nvPr/>
        </p:nvSpPr>
        <p:spPr>
          <a:xfrm>
            <a:off x="7635240" y="4892040"/>
            <a:ext cx="4005072" cy="118872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The biological analogy (synapses, firing) helps briefly, then misleads: real neurons spike and brains do not backpropagate. Judge networks by their mathematics.</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§2 · THE ARTIFICIAL NEURON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Weights orient the boundary; the bias shifts it</a:t>
            </a:r>
            <a:endParaRPr lang="en-US" sz="3000" dirty="0"/>
          </a:p>
        </p:txBody>
      </p:sp>
      <p:sp>
        <p:nvSpPr>
          <p:cNvPr id="5" name="Shape 2"/>
          <p:cNvSpPr/>
          <p:nvPr/>
        </p:nvSpPr>
        <p:spPr>
          <a:xfrm>
            <a:off x="548640" y="1645920"/>
            <a:ext cx="5212080" cy="4434840"/>
          </a:xfrm>
          <a:prstGeom prst="roundRect">
            <a:avLst>
              <a:gd name="adj" fmla="val 1649"/>
            </a:avLst>
          </a:prstGeom>
          <a:solidFill>
            <a:schemeClr val="bg2"/>
          </a:solidFill>
          <a:ln w="12700">
            <a:solidFill>
              <a:schemeClr val="bg2"/>
            </a:solidFill>
            <a:prstDash val="solid"/>
          </a:ln>
        </p:spPr>
      </p:sp>
      <p:sp>
        <p:nvSpPr>
          <p:cNvPr id="6" name="Shape 3"/>
          <p:cNvSpPr/>
          <p:nvPr/>
        </p:nvSpPr>
        <p:spPr>
          <a:xfrm>
            <a:off x="1097280" y="2743200"/>
            <a:ext cx="4023360" cy="3017520"/>
          </a:xfrm>
          <a:prstGeom prst="line">
            <a:avLst/>
          </a:prstGeom>
          <a:noFill/>
          <a:ln w="31750">
            <a:solidFill>
              <a:srgbClr val="15232D"/>
            </a:solidFill>
            <a:prstDash val="solid"/>
          </a:ln>
        </p:spPr>
      </p:sp>
      <p:sp>
        <p:nvSpPr>
          <p:cNvPr id="7" name="Shape 4"/>
          <p:cNvSpPr/>
          <p:nvPr/>
        </p:nvSpPr>
        <p:spPr>
          <a:xfrm flipV="1">
            <a:off x="2011680" y="2551176"/>
            <a:ext cx="658368" cy="877824"/>
          </a:xfrm>
          <a:prstGeom prst="line">
            <a:avLst/>
          </a:prstGeom>
          <a:noFill/>
          <a:ln w="38100">
            <a:solidFill>
              <a:srgbClr val="0F7B78"/>
            </a:solidFill>
            <a:prstDash val="solid"/>
            <a:tailEnd type="triangle"/>
          </a:ln>
        </p:spPr>
      </p:sp>
      <p:sp>
        <p:nvSpPr>
          <p:cNvPr id="8" name="Text 5"/>
          <p:cNvSpPr txBox="1"/>
          <p:nvPr/>
        </p:nvSpPr>
        <p:spPr>
          <a:xfrm>
            <a:off x="2697480" y="2240280"/>
            <a:ext cx="365760" cy="365760"/>
          </a:xfrm>
          <a:prstGeom prst="rect">
            <a:avLst/>
          </a:prstGeom>
          <a:noFill/>
          <a:ln/>
        </p:spPr>
        <p:txBody>
          <a:bodyPr wrap="square" lIns="0" tIns="0" rIns="0" bIns="0" rtlCol="0" anchor="t"/>
          <a:lstStyle/>
          <a:p>
            <a:pPr algn="l" indent="0" marL="0">
              <a:lnSpc>
                <a:spcPct val="105000"/>
              </a:lnSpc>
              <a:buNone/>
            </a:pPr>
            <a:r>
              <a:rPr lang="en-US" sz="2200" b="1" dirty="0">
                <a:solidFill>
                  <a:schemeClr val="accent1"/>
                </a:solidFill>
                <a:latin typeface="Cambria Math" pitchFamily="34" charset="0"/>
                <a:ea typeface="Cambria Math" pitchFamily="34" charset="-122"/>
                <a:cs typeface="Cambria Math" pitchFamily="34" charset="-120"/>
              </a:rPr>
              <a:t>w</a:t>
            </a:r>
            <a:endParaRPr lang="en-US" sz="2200" dirty="0"/>
          </a:p>
        </p:txBody>
      </p:sp>
      <p:sp>
        <p:nvSpPr>
          <p:cNvPr id="9" name="Shape 6"/>
          <p:cNvSpPr/>
          <p:nvPr/>
        </p:nvSpPr>
        <p:spPr>
          <a:xfrm>
            <a:off x="1298448" y="5596128"/>
            <a:ext cx="146304" cy="146304"/>
          </a:xfrm>
          <a:prstGeom prst="ellipse">
            <a:avLst/>
          </a:prstGeom>
          <a:solidFill>
            <a:schemeClr val="tx1"/>
          </a:solidFill>
          <a:ln w="19050">
            <a:solidFill>
              <a:schemeClr val="tx1"/>
            </a:solidFill>
            <a:prstDash val="solid"/>
          </a:ln>
        </p:spPr>
      </p:sp>
      <p:sp>
        <p:nvSpPr>
          <p:cNvPr id="10" name="Text 7"/>
          <p:cNvSpPr txBox="1"/>
          <p:nvPr/>
        </p:nvSpPr>
        <p:spPr>
          <a:xfrm>
            <a:off x="685800" y="5715000"/>
            <a:ext cx="914400" cy="27432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origin</a:t>
            </a:r>
            <a:endParaRPr lang="en-US" sz="1300" dirty="0"/>
          </a:p>
        </p:txBody>
      </p:sp>
      <p:sp>
        <p:nvSpPr>
          <p:cNvPr id="11" name="Shape 8"/>
          <p:cNvSpPr/>
          <p:nvPr/>
        </p:nvSpPr>
        <p:spPr>
          <a:xfrm flipV="1">
            <a:off x="1371600" y="3931920"/>
            <a:ext cx="1307592" cy="1737360"/>
          </a:xfrm>
          <a:prstGeom prst="line">
            <a:avLst/>
          </a:prstGeom>
          <a:noFill/>
          <a:ln w="25400">
            <a:solidFill>
              <a:srgbClr val="D45D27"/>
            </a:solidFill>
            <a:prstDash val="dash"/>
          </a:ln>
        </p:spPr>
      </p:sp>
      <p:sp>
        <p:nvSpPr>
          <p:cNvPr id="12" name="Text 9"/>
          <p:cNvSpPr txBox="1"/>
          <p:nvPr/>
        </p:nvSpPr>
        <p:spPr>
          <a:xfrm>
            <a:off x="868680" y="4526280"/>
            <a:ext cx="1280160" cy="365760"/>
          </a:xfrm>
          <a:prstGeom prst="rect">
            <a:avLst/>
          </a:prstGeom>
          <a:noFill/>
          <a:ln/>
        </p:spPr>
        <p:txBody>
          <a:bodyPr wrap="square" lIns="0" tIns="0" rIns="0" bIns="0" rtlCol="0" anchor="t"/>
          <a:lstStyle/>
          <a:p>
            <a:pPr algn="l" indent="0" marL="0">
              <a:lnSpc>
                <a:spcPct val="105000"/>
              </a:lnSpc>
              <a:buNone/>
            </a:pPr>
            <a:r>
              <a:rPr lang="en-US" sz="1600" dirty="0">
                <a:solidFill>
                  <a:schemeClr val="accent2"/>
                </a:solidFill>
                <a:latin typeface="Cambria Math" pitchFamily="34" charset="0"/>
                <a:ea typeface="Cambria Math" pitchFamily="34" charset="-122"/>
                <a:cs typeface="Cambria Math" pitchFamily="34" charset="-120"/>
              </a:rPr>
              <a:t>|b| / ‖w‖</a:t>
            </a:r>
            <a:endParaRPr lang="en-US" sz="1600" dirty="0"/>
          </a:p>
        </p:txBody>
      </p:sp>
      <p:sp>
        <p:nvSpPr>
          <p:cNvPr id="13" name="Shape 10"/>
          <p:cNvSpPr/>
          <p:nvPr/>
        </p:nvSpPr>
        <p:spPr>
          <a:xfrm>
            <a:off x="4389120" y="2560320"/>
            <a:ext cx="182880" cy="182880"/>
          </a:xfrm>
          <a:prstGeom prst="ellipse">
            <a:avLst/>
          </a:prstGeom>
          <a:solidFill>
            <a:schemeClr val="accent1"/>
          </a:solidFill>
          <a:ln w="19050">
            <a:solidFill>
              <a:schemeClr val="accent1"/>
            </a:solidFill>
            <a:prstDash val="solid"/>
          </a:ln>
        </p:spPr>
      </p:sp>
      <p:sp>
        <p:nvSpPr>
          <p:cNvPr id="14" name="Text 11"/>
          <p:cNvSpPr txBox="1"/>
          <p:nvPr/>
        </p:nvSpPr>
        <p:spPr>
          <a:xfrm>
            <a:off x="4617720" y="2423160"/>
            <a:ext cx="365760" cy="365760"/>
          </a:xfrm>
          <a:prstGeom prst="rect">
            <a:avLst/>
          </a:prstGeom>
          <a:noFill/>
          <a:ln/>
        </p:spPr>
        <p:txBody>
          <a:bodyPr wrap="square" lIns="0" tIns="0" rIns="0" bIns="0" rtlCol="0" anchor="t"/>
          <a:lstStyle/>
          <a:p>
            <a:pPr algn="l" indent="0" marL="0">
              <a:lnSpc>
                <a:spcPct val="105000"/>
              </a:lnSpc>
              <a:buNone/>
            </a:pPr>
            <a:r>
              <a:rPr lang="en-US" sz="1800" dirty="0">
                <a:solidFill>
                  <a:schemeClr val="tx1"/>
                </a:solidFill>
                <a:latin typeface="Cambria Math" pitchFamily="34" charset="0"/>
                <a:ea typeface="Cambria Math" pitchFamily="34" charset="-122"/>
                <a:cs typeface="Cambria Math" pitchFamily="34" charset="-120"/>
              </a:rPr>
              <a:t>x</a:t>
            </a:r>
            <a:endParaRPr lang="en-US" sz="1800" dirty="0"/>
          </a:p>
        </p:txBody>
      </p:sp>
      <p:sp>
        <p:nvSpPr>
          <p:cNvPr id="15" name="Shape 12"/>
          <p:cNvSpPr/>
          <p:nvPr/>
        </p:nvSpPr>
        <p:spPr>
          <a:xfrm flipH="1">
            <a:off x="3218688" y="2651760"/>
            <a:ext cx="1261872" cy="1682496"/>
          </a:xfrm>
          <a:prstGeom prst="line">
            <a:avLst/>
          </a:prstGeom>
          <a:noFill/>
          <a:ln w="22225">
            <a:solidFill>
              <a:srgbClr val="0F7B78"/>
            </a:solidFill>
            <a:prstDash val="dash"/>
          </a:ln>
        </p:spPr>
      </p:sp>
      <p:sp>
        <p:nvSpPr>
          <p:cNvPr id="16" name="Text 13"/>
          <p:cNvSpPr txBox="1"/>
          <p:nvPr/>
        </p:nvSpPr>
        <p:spPr>
          <a:xfrm>
            <a:off x="3886200" y="3520440"/>
            <a:ext cx="1097280" cy="365760"/>
          </a:xfrm>
          <a:prstGeom prst="rect">
            <a:avLst/>
          </a:prstGeom>
          <a:noFill/>
          <a:ln/>
        </p:spPr>
        <p:txBody>
          <a:bodyPr wrap="square" lIns="0" tIns="0" rIns="0" bIns="0" rtlCol="0" anchor="t"/>
          <a:lstStyle/>
          <a:p>
            <a:pPr algn="l" indent="0" marL="0">
              <a:lnSpc>
                <a:spcPct val="105000"/>
              </a:lnSpc>
              <a:buNone/>
            </a:pPr>
            <a:r>
              <a:rPr lang="en-US" sz="1600" dirty="0">
                <a:solidFill>
                  <a:schemeClr val="accent1"/>
                </a:solidFill>
                <a:latin typeface="Cambria Math" pitchFamily="34" charset="0"/>
                <a:ea typeface="Cambria Math" pitchFamily="34" charset="-122"/>
                <a:cs typeface="Cambria Math" pitchFamily="34" charset="-120"/>
              </a:rPr>
              <a:t>z / ‖w‖</a:t>
            </a:r>
            <a:endParaRPr lang="en-US" sz="1600" dirty="0"/>
          </a:p>
        </p:txBody>
      </p:sp>
      <p:sp>
        <p:nvSpPr>
          <p:cNvPr id="17" name="Text 14"/>
          <p:cNvSpPr txBox="1"/>
          <p:nvPr/>
        </p:nvSpPr>
        <p:spPr>
          <a:xfrm>
            <a:off x="4480560" y="1828800"/>
            <a:ext cx="1097280" cy="36576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z &gt; 0</a:t>
            </a:r>
            <a:endParaRPr lang="en-US" sz="1700" dirty="0"/>
          </a:p>
        </p:txBody>
      </p:sp>
      <p:sp>
        <p:nvSpPr>
          <p:cNvPr id="18" name="Text 15"/>
          <p:cNvSpPr txBox="1"/>
          <p:nvPr/>
        </p:nvSpPr>
        <p:spPr>
          <a:xfrm>
            <a:off x="777240" y="4023360"/>
            <a:ext cx="1097280" cy="365760"/>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z &lt; 0</a:t>
            </a:r>
            <a:endParaRPr lang="en-US" sz="1700" dirty="0"/>
          </a:p>
        </p:txBody>
      </p:sp>
      <p:sp>
        <p:nvSpPr>
          <p:cNvPr id="19" name="Text 16"/>
          <p:cNvSpPr txBox="1"/>
          <p:nvPr/>
        </p:nvSpPr>
        <p:spPr>
          <a:xfrm>
            <a:off x="2834640" y="5623560"/>
            <a:ext cx="1554480" cy="36576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latin typeface="Cambria Math" pitchFamily="34" charset="0"/>
                <a:ea typeface="Cambria Math" pitchFamily="34" charset="-122"/>
                <a:cs typeface="Cambria Math" pitchFamily="34" charset="-120"/>
              </a:rPr>
              <a:t>wᵀx + b = 0</a:t>
            </a:r>
            <a:endParaRPr lang="en-US" sz="1500" dirty="0"/>
          </a:p>
        </p:txBody>
      </p:sp>
      <p:sp>
        <p:nvSpPr>
          <p:cNvPr id="20" name="Shape 17"/>
          <p:cNvSpPr/>
          <p:nvPr/>
        </p:nvSpPr>
        <p:spPr>
          <a:xfrm>
            <a:off x="6519672" y="1901952"/>
            <a:ext cx="0" cy="2926080"/>
          </a:xfrm>
          <a:prstGeom prst="line">
            <a:avLst/>
          </a:prstGeom>
          <a:noFill/>
          <a:ln w="25400">
            <a:solidFill>
              <a:schemeClr val="accent1">
                <a:alpha val="50000"/>
              </a:schemeClr>
            </a:solidFill>
            <a:prstDash val="solid"/>
          </a:ln>
        </p:spPr>
      </p:sp>
      <p:sp>
        <p:nvSpPr>
          <p:cNvPr id="21" name="Shape 18"/>
          <p:cNvSpPr/>
          <p:nvPr/>
        </p:nvSpPr>
        <p:spPr>
          <a:xfrm>
            <a:off x="6309360" y="1691640"/>
            <a:ext cx="420624" cy="420624"/>
          </a:xfrm>
          <a:prstGeom prst="ellipse">
            <a:avLst/>
          </a:prstGeom>
          <a:solidFill>
            <a:schemeClr val="accent1"/>
          </a:solidFill>
          <a:ln w="25400">
            <a:solidFill>
              <a:schemeClr val="bg1"/>
            </a:solidFill>
            <a:prstDash val="solid"/>
          </a:ln>
        </p:spPr>
      </p:sp>
      <p:sp>
        <p:nvSpPr>
          <p:cNvPr id="22" name="Text 19"/>
          <p:cNvSpPr txBox="1"/>
          <p:nvPr/>
        </p:nvSpPr>
        <p:spPr>
          <a:xfrm>
            <a:off x="630936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3" name="Text 20"/>
          <p:cNvSpPr txBox="1"/>
          <p:nvPr/>
        </p:nvSpPr>
        <p:spPr>
          <a:xfrm>
            <a:off x="6958584" y="1728216"/>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 is perpendicular to the boundary</a:t>
            </a:r>
            <a:endParaRPr lang="en-US" sz="1900" dirty="0"/>
          </a:p>
        </p:txBody>
      </p:sp>
      <p:sp>
        <p:nvSpPr>
          <p:cNvPr id="24" name="Text 21"/>
          <p:cNvSpPr txBox="1"/>
          <p:nvPr/>
        </p:nvSpPr>
        <p:spPr>
          <a:xfrm>
            <a:off x="6958584" y="2031238"/>
            <a:ext cx="4681728" cy="108686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For boundary points x, x′: wᵀ(x − x′) = 0. So w points in the direction of steepest increase.</a:t>
            </a:r>
            <a:endParaRPr lang="en-US" sz="1600" dirty="0"/>
          </a:p>
        </p:txBody>
      </p:sp>
      <p:sp>
        <p:nvSpPr>
          <p:cNvPr id="25" name="Shape 22"/>
          <p:cNvSpPr/>
          <p:nvPr/>
        </p:nvSpPr>
        <p:spPr>
          <a:xfrm>
            <a:off x="6309360" y="3154680"/>
            <a:ext cx="420624" cy="420624"/>
          </a:xfrm>
          <a:prstGeom prst="ellipse">
            <a:avLst/>
          </a:prstGeom>
          <a:solidFill>
            <a:schemeClr val="accent1"/>
          </a:solidFill>
          <a:ln w="25400">
            <a:solidFill>
              <a:schemeClr val="bg1"/>
            </a:solidFill>
            <a:prstDash val="solid"/>
          </a:ln>
        </p:spPr>
      </p:sp>
      <p:sp>
        <p:nvSpPr>
          <p:cNvPr id="26" name="Text 23"/>
          <p:cNvSpPr txBox="1"/>
          <p:nvPr/>
        </p:nvSpPr>
        <p:spPr>
          <a:xfrm>
            <a:off x="6309360" y="31546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7" name="Text 24"/>
          <p:cNvSpPr txBox="1"/>
          <p:nvPr/>
        </p:nvSpPr>
        <p:spPr>
          <a:xfrm>
            <a:off x="6958584" y="3191256"/>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bias shifts, never rotates</a:t>
            </a:r>
            <a:endParaRPr lang="en-US" sz="1900" dirty="0"/>
          </a:p>
        </p:txBody>
      </p:sp>
      <p:sp>
        <p:nvSpPr>
          <p:cNvPr id="28" name="Text 25"/>
          <p:cNvSpPr txBox="1"/>
          <p:nvPr/>
        </p:nvSpPr>
        <p:spPr>
          <a:xfrm>
            <a:off x="6958584" y="3494278"/>
            <a:ext cx="4681728" cy="108686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Distance from the origin is |b| / ‖w‖. With no bias, every boundary passes through the origin.</a:t>
            </a:r>
            <a:endParaRPr lang="en-US" sz="1600" dirty="0"/>
          </a:p>
        </p:txBody>
      </p:sp>
      <p:sp>
        <p:nvSpPr>
          <p:cNvPr id="29" name="Shape 26"/>
          <p:cNvSpPr/>
          <p:nvPr/>
        </p:nvSpPr>
        <p:spPr>
          <a:xfrm>
            <a:off x="6309360" y="4617720"/>
            <a:ext cx="420624" cy="420624"/>
          </a:xfrm>
          <a:prstGeom prst="ellipse">
            <a:avLst/>
          </a:prstGeom>
          <a:solidFill>
            <a:schemeClr val="accent1"/>
          </a:solidFill>
          <a:ln w="25400">
            <a:solidFill>
              <a:schemeClr val="bg1"/>
            </a:solidFill>
            <a:prstDash val="solid"/>
          </a:ln>
        </p:spPr>
      </p:sp>
      <p:sp>
        <p:nvSpPr>
          <p:cNvPr id="30" name="Text 27"/>
          <p:cNvSpPr txBox="1"/>
          <p:nvPr/>
        </p:nvSpPr>
        <p:spPr>
          <a:xfrm>
            <a:off x="6309360" y="46177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1" name="Text 28"/>
          <p:cNvSpPr txBox="1"/>
          <p:nvPr/>
        </p:nvSpPr>
        <p:spPr>
          <a:xfrm>
            <a:off x="6958584" y="4654296"/>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z is a signed, scaled distance</a:t>
            </a:r>
            <a:endParaRPr lang="en-US" sz="1900" dirty="0"/>
          </a:p>
        </p:txBody>
      </p:sp>
      <p:sp>
        <p:nvSpPr>
          <p:cNvPr id="32" name="Text 29"/>
          <p:cNvSpPr txBox="1"/>
          <p:nvPr/>
        </p:nvSpPr>
        <p:spPr>
          <a:xfrm>
            <a:off x="6958584" y="4957318"/>
            <a:ext cx="4681728" cy="108686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(wᵀx + b) / ‖w‖ is the distance to the boundary, so |z| behaves like confidence.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§2 · THE ARTIFICIAL NEURON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 sets how sharply the neuron switches</a:t>
            </a:r>
            <a:endParaRPr lang="en-US" sz="3000" dirty="0"/>
          </a:p>
        </p:txBody>
      </p:sp>
      <p:graphicFrame>
        <p:nvGraphicFramePr>
          <p:cNvPr id="5" name="Chart 0" descr=""/>
          <p:cNvGraphicFramePr/>
          <p:nvPr/>
        </p:nvGraphicFramePr>
        <p:xfrm>
          <a:off x="457200" y="160020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08392" y="1993392"/>
            <a:ext cx="0" cy="2743200"/>
          </a:xfrm>
          <a:prstGeom prst="line">
            <a:avLst/>
          </a:prstGeom>
          <a:noFill/>
          <a:ln w="25400">
            <a:solidFill>
              <a:schemeClr val="accent1">
                <a:alpha val="50000"/>
              </a:schemeClr>
            </a:solidFill>
            <a:prstDash val="solid"/>
          </a:ln>
        </p:spPr>
      </p:sp>
      <p:sp>
        <p:nvSpPr>
          <p:cNvPr id="7" name="Shape 3"/>
          <p:cNvSpPr/>
          <p:nvPr/>
        </p:nvSpPr>
        <p:spPr>
          <a:xfrm>
            <a:off x="7498080" y="1783080"/>
            <a:ext cx="420624" cy="420624"/>
          </a:xfrm>
          <a:prstGeom prst="ellipse">
            <a:avLst/>
          </a:prstGeom>
          <a:solidFill>
            <a:schemeClr val="accent1"/>
          </a:solidFill>
          <a:ln w="25400">
            <a:solidFill>
              <a:schemeClr val="bg1"/>
            </a:solidFill>
            <a:prstDash val="solid"/>
          </a:ln>
        </p:spPr>
      </p:sp>
      <p:sp>
        <p:nvSpPr>
          <p:cNvPr id="8" name="Text 4"/>
          <p:cNvSpPr txBox="1"/>
          <p:nvPr/>
        </p:nvSpPr>
        <p:spPr>
          <a:xfrm>
            <a:off x="7498080" y="17830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5"/>
          <p:cNvSpPr txBox="1"/>
          <p:nvPr/>
        </p:nvSpPr>
        <p:spPr>
          <a:xfrm>
            <a:off x="8147304" y="1819656"/>
            <a:ext cx="34930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Same boundary</a:t>
            </a:r>
            <a:endParaRPr lang="en-US" sz="1900" dirty="0"/>
          </a:p>
        </p:txBody>
      </p:sp>
      <p:sp>
        <p:nvSpPr>
          <p:cNvPr id="10" name="Text 6"/>
          <p:cNvSpPr txBox="1"/>
          <p:nvPr/>
        </p:nvSpPr>
        <p:spPr>
          <a:xfrm>
            <a:off x="8147304" y="2122678"/>
            <a:ext cx="34930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Scaling w and b by k leaves wᵀx + b = 0 unchanged.</a:t>
            </a:r>
            <a:endParaRPr lang="en-US" sz="1600" dirty="0"/>
          </a:p>
        </p:txBody>
      </p:sp>
      <p:sp>
        <p:nvSpPr>
          <p:cNvPr id="11" name="Shape 7"/>
          <p:cNvSpPr/>
          <p:nvPr/>
        </p:nvSpPr>
        <p:spPr>
          <a:xfrm>
            <a:off x="7498080" y="3154680"/>
            <a:ext cx="420624" cy="420624"/>
          </a:xfrm>
          <a:prstGeom prst="ellipse">
            <a:avLst/>
          </a:prstGeom>
          <a:solidFill>
            <a:schemeClr val="accent1"/>
          </a:solidFill>
          <a:ln w="25400">
            <a:solidFill>
              <a:schemeClr val="bg1"/>
            </a:solidFill>
            <a:prstDash val="solid"/>
          </a:ln>
        </p:spPr>
      </p:sp>
      <p:sp>
        <p:nvSpPr>
          <p:cNvPr id="12" name="Text 8"/>
          <p:cNvSpPr txBox="1"/>
          <p:nvPr/>
        </p:nvSpPr>
        <p:spPr>
          <a:xfrm>
            <a:off x="7498080" y="31546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9"/>
          <p:cNvSpPr txBox="1"/>
          <p:nvPr/>
        </p:nvSpPr>
        <p:spPr>
          <a:xfrm>
            <a:off x="8147304" y="3191256"/>
            <a:ext cx="34930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Steeper switch</a:t>
            </a:r>
            <a:endParaRPr lang="en-US" sz="1900" dirty="0"/>
          </a:p>
        </p:txBody>
      </p:sp>
      <p:sp>
        <p:nvSpPr>
          <p:cNvPr id="14" name="Text 10"/>
          <p:cNvSpPr txBox="1"/>
          <p:nvPr/>
        </p:nvSpPr>
        <p:spPr>
          <a:xfrm>
            <a:off x="8147304" y="3494278"/>
            <a:ext cx="34930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The sigmoid becomes k times steeper across the boundary.</a:t>
            </a:r>
            <a:endParaRPr lang="en-US" sz="1600" dirty="0"/>
          </a:p>
        </p:txBody>
      </p:sp>
      <p:sp>
        <p:nvSpPr>
          <p:cNvPr id="15" name="Shape 11"/>
          <p:cNvSpPr/>
          <p:nvPr/>
        </p:nvSpPr>
        <p:spPr>
          <a:xfrm>
            <a:off x="7498080" y="4526280"/>
            <a:ext cx="420624" cy="420624"/>
          </a:xfrm>
          <a:prstGeom prst="ellipse">
            <a:avLst/>
          </a:prstGeom>
          <a:solidFill>
            <a:schemeClr val="accent1"/>
          </a:solidFill>
          <a:ln w="25400">
            <a:solidFill>
              <a:schemeClr val="bg1"/>
            </a:solidFill>
            <a:prstDash val="solid"/>
          </a:ln>
        </p:spPr>
      </p:sp>
      <p:sp>
        <p:nvSpPr>
          <p:cNvPr id="16" name="Text 12"/>
          <p:cNvSpPr txBox="1"/>
          <p:nvPr/>
        </p:nvSpPr>
        <p:spPr>
          <a:xfrm>
            <a:off x="7498080" y="45262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3"/>
          <p:cNvSpPr txBox="1"/>
          <p:nvPr/>
        </p:nvSpPr>
        <p:spPr>
          <a:xfrm>
            <a:off x="8147304" y="4562856"/>
            <a:ext cx="34930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Why it matters</a:t>
            </a:r>
            <a:endParaRPr lang="en-US" sz="1900" dirty="0"/>
          </a:p>
        </p:txBody>
      </p:sp>
      <p:sp>
        <p:nvSpPr>
          <p:cNvPr id="18" name="Text 14"/>
          <p:cNvSpPr txBox="1"/>
          <p:nvPr/>
        </p:nvSpPr>
        <p:spPr>
          <a:xfrm>
            <a:off x="8147304" y="4865878"/>
            <a:ext cx="34930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Weight decay shrinks ‖w‖: a smoother, less confident function with the same boundaries (§12).</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§2 · THE ARTIFICIAL NEURON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The perceptron learns separable data but has no gradient</a:t>
            </a:r>
            <a:endParaRPr lang="en-US" sz="3000" dirty="0"/>
          </a:p>
        </p:txBody>
      </p:sp>
      <p:graphicFrame>
        <p:nvGraphicFramePr>
          <p:cNvPr id="5" name="Chart 0" descr=""/>
          <p:cNvGraphicFramePr/>
          <p:nvPr/>
        </p:nvGraphicFramePr>
        <p:xfrm>
          <a:off x="457200" y="160020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983480"/>
            <a:ext cx="5212080" cy="1060450"/>
          </a:xfrm>
          <a:prstGeom prst="roundRect">
            <a:avLst>
              <a:gd name="adj" fmla="val 6898"/>
            </a:avLst>
          </a:prstGeom>
          <a:solidFill>
            <a:schemeClr val="accent2">
              <a:alpha val="12000"/>
            </a:schemeClr>
          </a:solidFill>
          <a:ln w="12700">
            <a:solidFill>
              <a:schemeClr val="accent2">
                <a:alpha val="12000"/>
              </a:schemeClr>
            </a:solidFill>
            <a:prstDash val="solid"/>
          </a:ln>
        </p:spPr>
      </p:sp>
      <p:sp>
        <p:nvSpPr>
          <p:cNvPr id="7" name="Text 3"/>
          <p:cNvSpPr txBox="1"/>
          <p:nvPr/>
        </p:nvSpPr>
        <p:spPr>
          <a:xfrm>
            <a:off x="777240" y="5175504"/>
            <a:ext cx="4754880" cy="676402"/>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g(z) = 1 if z ≥ 0, else 0</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g′(z) = 0 wherever it is defined</a:t>
            </a:r>
            <a:endParaRPr lang="en-US" sz="1900" dirty="0"/>
          </a:p>
        </p:txBody>
      </p:sp>
      <p:sp>
        <p:nvSpPr>
          <p:cNvPr id="8" name="Shape 4"/>
          <p:cNvSpPr/>
          <p:nvPr/>
        </p:nvSpPr>
        <p:spPr>
          <a:xfrm>
            <a:off x="6309360" y="1691640"/>
            <a:ext cx="5330952" cy="1539748"/>
          </a:xfrm>
          <a:prstGeom prst="roundRect">
            <a:avLst>
              <a:gd name="adj" fmla="val 4751"/>
            </a:avLst>
          </a:prstGeom>
          <a:solidFill>
            <a:schemeClr val="accent1">
              <a:alpha val="10000"/>
            </a:schemeClr>
          </a:solidFill>
          <a:ln w="12700">
            <a:solidFill>
              <a:schemeClr val="accent1">
                <a:alpha val="10000"/>
              </a:schemeClr>
            </a:solidFill>
            <a:prstDash val="solid"/>
          </a:ln>
        </p:spPr>
      </p:sp>
      <p:sp>
        <p:nvSpPr>
          <p:cNvPr id="9" name="Text 5"/>
          <p:cNvSpPr txBox="1"/>
          <p:nvPr/>
        </p:nvSpPr>
        <p:spPr>
          <a:xfrm>
            <a:off x="6537960" y="1837944"/>
            <a:ext cx="487375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UPDATE ON EACH MISTAKE</a:t>
            </a:r>
            <a:endParaRPr lang="en-US" sz="1200" dirty="0"/>
          </a:p>
        </p:txBody>
      </p:sp>
      <p:sp>
        <p:nvSpPr>
          <p:cNvPr id="10" name="Text 6"/>
          <p:cNvSpPr txBox="1"/>
          <p:nvPr/>
        </p:nvSpPr>
        <p:spPr>
          <a:xfrm>
            <a:off x="6537960" y="2267712"/>
            <a:ext cx="4873752" cy="771652"/>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w ← w + η (y − ŷ) x</a:t>
            </a:r>
            <a:endParaRPr lang="en-US" sz="2200" dirty="0"/>
          </a:p>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b ← b + η (y − ŷ)</a:t>
            </a:r>
            <a:endParaRPr lang="en-US" sz="2200" dirty="0"/>
          </a:p>
        </p:txBody>
      </p:sp>
      <p:sp>
        <p:nvSpPr>
          <p:cNvPr id="11" name="Shape 7"/>
          <p:cNvSpPr/>
          <p:nvPr/>
        </p:nvSpPr>
        <p:spPr>
          <a:xfrm>
            <a:off x="6519672" y="3639312"/>
            <a:ext cx="0" cy="1792224"/>
          </a:xfrm>
          <a:prstGeom prst="line">
            <a:avLst/>
          </a:prstGeom>
          <a:noFill/>
          <a:ln w="25400">
            <a:solidFill>
              <a:schemeClr val="accent1">
                <a:alpha val="50000"/>
              </a:schemeClr>
            </a:solidFill>
            <a:prstDash val="solid"/>
          </a:ln>
        </p:spPr>
      </p:sp>
      <p:sp>
        <p:nvSpPr>
          <p:cNvPr id="12" name="Shape 8"/>
          <p:cNvSpPr/>
          <p:nvPr/>
        </p:nvSpPr>
        <p:spPr>
          <a:xfrm>
            <a:off x="6309360" y="3429000"/>
            <a:ext cx="420624" cy="420624"/>
          </a:xfrm>
          <a:prstGeom prst="ellipse">
            <a:avLst/>
          </a:prstGeom>
          <a:solidFill>
            <a:schemeClr val="accent1"/>
          </a:solidFill>
          <a:ln w="25400">
            <a:solidFill>
              <a:schemeClr val="bg1"/>
            </a:solidFill>
            <a:prstDash val="solid"/>
          </a:ln>
        </p:spPr>
      </p:sp>
      <p:sp>
        <p:nvSpPr>
          <p:cNvPr id="13" name="Text 9"/>
          <p:cNvSpPr txBox="1"/>
          <p:nvPr/>
        </p:nvSpPr>
        <p:spPr>
          <a:xfrm>
            <a:off x="6309360" y="34290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4" name="Text 10"/>
          <p:cNvSpPr txBox="1"/>
          <p:nvPr/>
        </p:nvSpPr>
        <p:spPr>
          <a:xfrm>
            <a:off x="6958584" y="3465576"/>
            <a:ext cx="468172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Converges on separable data</a:t>
            </a:r>
            <a:endParaRPr lang="en-US" sz="1800" dirty="0"/>
          </a:p>
        </p:txBody>
      </p:sp>
      <p:sp>
        <p:nvSpPr>
          <p:cNvPr id="15" name="Text 11"/>
          <p:cNvSpPr txBox="1"/>
          <p:nvPr/>
        </p:nvSpPr>
        <p:spPr>
          <a:xfrm>
            <a:off x="6958584" y="3753612"/>
            <a:ext cx="4681728" cy="53492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Finite number of updates (Novikoff, 1962).</a:t>
            </a:r>
            <a:endParaRPr lang="en-US" sz="1600" dirty="0"/>
          </a:p>
        </p:txBody>
      </p:sp>
      <p:sp>
        <p:nvSpPr>
          <p:cNvPr id="16" name="Shape 12"/>
          <p:cNvSpPr/>
          <p:nvPr/>
        </p:nvSpPr>
        <p:spPr>
          <a:xfrm>
            <a:off x="6309360" y="4325112"/>
            <a:ext cx="420624" cy="420624"/>
          </a:xfrm>
          <a:prstGeom prst="ellipse">
            <a:avLst/>
          </a:prstGeom>
          <a:solidFill>
            <a:schemeClr val="accent1"/>
          </a:solidFill>
          <a:ln w="25400">
            <a:solidFill>
              <a:schemeClr val="bg1"/>
            </a:solidFill>
            <a:prstDash val="solid"/>
          </a:ln>
        </p:spPr>
      </p:sp>
      <p:sp>
        <p:nvSpPr>
          <p:cNvPr id="17" name="Text 13"/>
          <p:cNvSpPr txBox="1"/>
          <p:nvPr/>
        </p:nvSpPr>
        <p:spPr>
          <a:xfrm>
            <a:off x="6309360" y="432511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4"/>
          <p:cNvSpPr txBox="1"/>
          <p:nvPr/>
        </p:nvSpPr>
        <p:spPr>
          <a:xfrm>
            <a:off x="6958584" y="4361688"/>
            <a:ext cx="468172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Never stops otherwise</a:t>
            </a:r>
            <a:endParaRPr lang="en-US" sz="1800" dirty="0"/>
          </a:p>
        </p:txBody>
      </p:sp>
      <p:sp>
        <p:nvSpPr>
          <p:cNvPr id="19" name="Text 15"/>
          <p:cNvSpPr txBox="1"/>
          <p:nvPr/>
        </p:nvSpPr>
        <p:spPr>
          <a:xfrm>
            <a:off x="6958584" y="4649724"/>
            <a:ext cx="4681728" cy="53492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On non-separable data it oscillates forever.</a:t>
            </a:r>
            <a:endParaRPr lang="en-US" sz="1600" dirty="0"/>
          </a:p>
        </p:txBody>
      </p:sp>
      <p:sp>
        <p:nvSpPr>
          <p:cNvPr id="20" name="Shape 16"/>
          <p:cNvSpPr/>
          <p:nvPr/>
        </p:nvSpPr>
        <p:spPr>
          <a:xfrm>
            <a:off x="6309360" y="5221224"/>
            <a:ext cx="420624" cy="420624"/>
          </a:xfrm>
          <a:prstGeom prst="ellipse">
            <a:avLst/>
          </a:prstGeom>
          <a:solidFill>
            <a:schemeClr val="accent2"/>
          </a:solidFill>
          <a:ln w="25400">
            <a:solidFill>
              <a:schemeClr val="bg1"/>
            </a:solidFill>
            <a:prstDash val="solid"/>
          </a:ln>
        </p:spPr>
      </p:sp>
      <p:sp>
        <p:nvSpPr>
          <p:cNvPr id="21" name="Text 17"/>
          <p:cNvSpPr txBox="1"/>
          <p:nvPr/>
        </p:nvSpPr>
        <p:spPr>
          <a:xfrm>
            <a:off x="6309360" y="52212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18"/>
          <p:cNvSpPr txBox="1"/>
          <p:nvPr/>
        </p:nvSpPr>
        <p:spPr>
          <a:xfrm>
            <a:off x="6958584" y="5257800"/>
            <a:ext cx="468172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No gradient signal</a:t>
            </a:r>
            <a:endParaRPr lang="en-US" sz="1800" dirty="0"/>
          </a:p>
        </p:txBody>
      </p:sp>
      <p:sp>
        <p:nvSpPr>
          <p:cNvPr id="23" name="Text 19"/>
          <p:cNvSpPr txBox="1"/>
          <p:nvPr/>
        </p:nvSpPr>
        <p:spPr>
          <a:xfrm>
            <a:off x="6958584" y="5545836"/>
            <a:ext cx="4681728" cy="53492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The step’s derivative is 0, so stacked perceptrons cannot be trained. Hence smooth activations.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§2 · THE ARTIFICIAL NEURON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The sigmoid is what linear log-odds imply</a:t>
            </a:r>
            <a:endParaRPr lang="en-US" sz="3000" dirty="0"/>
          </a:p>
        </p:txBody>
      </p:sp>
      <p:sp>
        <p:nvSpPr>
          <p:cNvPr id="5" name="Shape 2"/>
          <p:cNvSpPr/>
          <p:nvPr/>
        </p:nvSpPr>
        <p:spPr>
          <a:xfrm>
            <a:off x="548640" y="1645920"/>
            <a:ext cx="5852160" cy="2111248"/>
          </a:xfrm>
          <a:prstGeom prst="roundRect">
            <a:avLst>
              <a:gd name="adj" fmla="val 346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3949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ASSUME LINEAR LOG-ODDS, SOLVE FOR P</a:t>
            </a:r>
            <a:endParaRPr lang="en-US" sz="1200" dirty="0"/>
          </a:p>
        </p:txBody>
      </p:sp>
      <p:sp>
        <p:nvSpPr>
          <p:cNvPr id="7" name="Text 4"/>
          <p:cNvSpPr txBox="1"/>
          <p:nvPr/>
        </p:nvSpPr>
        <p:spPr>
          <a:xfrm>
            <a:off x="777240" y="2221992"/>
            <a:ext cx="5394960" cy="1343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log( p / (1 − p) ) = wᵀx + b = z</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p / (1 − p) = eᶻ</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p (1 + eᶻ) = eᶻ</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p = eᶻ / (1 + eᶻ) = 1 / (1 + e⁻ᶻ) = σ(z)</a:t>
            </a:r>
            <a:endParaRPr lang="en-US" sz="2000" dirty="0"/>
          </a:p>
        </p:txBody>
      </p:sp>
      <p:sp>
        <p:nvSpPr>
          <p:cNvPr id="8" name="Shape 5"/>
          <p:cNvSpPr/>
          <p:nvPr/>
        </p:nvSpPr>
        <p:spPr>
          <a:xfrm>
            <a:off x="548640" y="3931920"/>
            <a:ext cx="5852160" cy="1476248"/>
          </a:xfrm>
          <a:prstGeom prst="roundRect">
            <a:avLst>
              <a:gd name="adj" fmla="val 4955"/>
            </a:avLst>
          </a:prstGeom>
          <a:solidFill>
            <a:schemeClr val="accent2">
              <a:alpha val="12000"/>
            </a:schemeClr>
          </a:solidFill>
          <a:ln w="12700">
            <a:solidFill>
              <a:schemeClr val="accent2">
                <a:alpha val="12000"/>
              </a:schemeClr>
            </a:solidFill>
            <a:prstDash val="solid"/>
          </a:ln>
        </p:spPr>
      </p:sp>
      <p:sp>
        <p:nvSpPr>
          <p:cNvPr id="9" name="Text 6"/>
          <p:cNvSpPr txBox="1"/>
          <p:nvPr/>
        </p:nvSpPr>
        <p:spPr>
          <a:xfrm>
            <a:off x="777240" y="4078224"/>
            <a:ext cx="539496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DERIVATIVE</a:t>
            </a:r>
            <a:endParaRPr lang="en-US" sz="1200" dirty="0"/>
          </a:p>
        </p:txBody>
      </p:sp>
      <p:sp>
        <p:nvSpPr>
          <p:cNvPr id="10" name="Text 7"/>
          <p:cNvSpPr txBox="1"/>
          <p:nvPr/>
        </p:nvSpPr>
        <p:spPr>
          <a:xfrm>
            <a:off x="777240" y="4507992"/>
            <a:ext cx="5394960"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σ′(z) = σ(z) · (1 − σ(z))</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maximum 0.25 at z = 0</a:t>
            </a:r>
            <a:endParaRPr lang="en-US" sz="2000" dirty="0"/>
          </a:p>
        </p:txBody>
      </p:sp>
      <p:sp>
        <p:nvSpPr>
          <p:cNvPr id="11" name="Text 8"/>
          <p:cNvSpPr txBox="1"/>
          <p:nvPr/>
        </p:nvSpPr>
        <p:spPr>
          <a:xfrm>
            <a:off x="548640" y="5577840"/>
            <a:ext cx="6035040" cy="45720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Logistic regression is a single neuron: </a:t>
            </a:r>
            <a:r>
              <a:rPr lang="en-US" sz="1600" dirty="0">
                <a:solidFill>
                  <a:schemeClr val="tx1"/>
                </a:solidFill>
                <a:latin typeface="Cambria Math" pitchFamily="34" charset="0"/>
                <a:ea typeface="Cambria Math" pitchFamily="34" charset="-122"/>
                <a:cs typeface="Cambria Math" pitchFamily="34" charset="-120"/>
              </a:rPr>
              <a:t>P(y = 1 | x) = σ(wᵀx + b)</a:t>
            </a:r>
            <a:r>
              <a:rPr lang="en-US" sz="1600" dirty="0">
                <a:solidFill>
                  <a:schemeClr val="tx1"/>
                </a:solidFill>
              </a:rPr>
              <a:t>.</a:t>
            </a:r>
            <a:endParaRPr lang="en-US" sz="1600" dirty="0"/>
          </a:p>
        </p:txBody>
      </p:sp>
      <p:graphicFrame>
        <p:nvGraphicFramePr>
          <p:cNvPr id="12" name="Chart 0" descr=""/>
          <p:cNvGraphicFramePr/>
          <p:nvPr/>
        </p:nvGraphicFramePr>
        <p:xfrm>
          <a:off x="6675120" y="1600200"/>
          <a:ext cx="502920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§2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the artificial neuron</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neuron has w = [3, −4] and b = 10. How far is the origin from its decision boundary, and which side is it on?</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Show that a step perceptron and one with g(z) = 1 if z ≥ 5, else 0, are equivalent models. What changes?</a:t>
            </a:r>
            <a:endParaRPr lang="en-US" sz="2000" dirty="0"/>
          </a:p>
        </p:txBody>
      </p:sp>
      <p:sp>
        <p:nvSpPr>
          <p:cNvPr id="11" name="Shape 8"/>
          <p:cNvSpPr/>
          <p:nvPr/>
        </p:nvSpPr>
        <p:spPr>
          <a:xfrm>
            <a:off x="576072" y="364032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64032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67690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Multiply all weights and the bias of a sigmoid neuron by 100. What happens, and why does it matter for initialization?</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§2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the artificial neuron</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neuron has w = [3, −4] and b = 10. How far is the origin from its decision boundary, and which side is it on?</a:t>
            </a:r>
            <a:endParaRPr lang="en-US" sz="1600" dirty="0"/>
          </a:p>
        </p:txBody>
      </p:sp>
      <p:sp>
        <p:nvSpPr>
          <p:cNvPr id="8" name="Text 5"/>
          <p:cNvSpPr txBox="1"/>
          <p:nvPr/>
        </p:nvSpPr>
        <p:spPr>
          <a:xfrm>
            <a:off x="1234440" y="2088896"/>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‖w‖ = 5, so the distance is |b| / ‖w‖ = 10 / 5 = 2. At the origin z = b = 10 &gt; 0, so the origin is on the positive side.</a:t>
            </a:r>
            <a:endParaRPr lang="en-US" sz="1600" dirty="0"/>
          </a:p>
        </p:txBody>
      </p:sp>
      <p:sp>
        <p:nvSpPr>
          <p:cNvPr id="9" name="Shape 6"/>
          <p:cNvSpPr/>
          <p:nvPr/>
        </p:nvSpPr>
        <p:spPr>
          <a:xfrm>
            <a:off x="576072" y="2943352"/>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94335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943352"/>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Show that a step perceptron and one with g(z) = 1 if z ≥ 5, else 0, are equivalent models. What changes?</a:t>
            </a:r>
            <a:endParaRPr lang="en-US" sz="1600" dirty="0"/>
          </a:p>
        </p:txBody>
      </p:sp>
      <p:sp>
        <p:nvSpPr>
          <p:cNvPr id="12" name="Text 9"/>
          <p:cNvSpPr txBox="1"/>
          <p:nvPr/>
        </p:nvSpPr>
        <p:spPr>
          <a:xfrm>
            <a:off x="1234440" y="3477768"/>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z ≥ 5 is the same as z − 5 ≥ 0, so the second model is the first with b reduced by 5. The bias is exactly a learnable threshold.</a:t>
            </a:r>
            <a:endParaRPr lang="en-US" sz="1600" dirty="0"/>
          </a:p>
        </p:txBody>
      </p:sp>
      <p:sp>
        <p:nvSpPr>
          <p:cNvPr id="13" name="Shape 10"/>
          <p:cNvSpPr/>
          <p:nvPr/>
        </p:nvSpPr>
        <p:spPr>
          <a:xfrm>
            <a:off x="576072" y="4332224"/>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4332224"/>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4332224"/>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Multiply all weights and the bias of a sigmoid neuron by 100. What happens, and why does it matter for initialization?</a:t>
            </a:r>
            <a:endParaRPr lang="en-US" sz="1600" dirty="0"/>
          </a:p>
        </p:txBody>
      </p:sp>
      <p:sp>
        <p:nvSpPr>
          <p:cNvPr id="16" name="Text 13"/>
          <p:cNvSpPr txBox="1"/>
          <p:nvPr/>
        </p:nvSpPr>
        <p:spPr>
          <a:xfrm>
            <a:off x="1234440" y="4866640"/>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Outputs saturate near 0 or 1, so σ′(z) ≈ 0 and gradients vanish. Initializing weights too large stalls training (lecture 3, §9).</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3</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Activation functions</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Without a nonlinearity, depth buys nothing. With the right one, gradients flow.</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§3</a:t>
            </a:r>
            <a:endParaRPr lang="en-US" sz="15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ACTIVATION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Without a nonlinearity, linear layers collapse into one</a:t>
            </a:r>
            <a:endParaRPr lang="en-US" sz="3000" dirty="0"/>
          </a:p>
        </p:txBody>
      </p:sp>
      <p:sp>
        <p:nvSpPr>
          <p:cNvPr id="5" name="Shape 2"/>
          <p:cNvSpPr/>
          <p:nvPr/>
        </p:nvSpPr>
        <p:spPr>
          <a:xfrm>
            <a:off x="548640" y="1874520"/>
            <a:ext cx="640080" cy="777240"/>
          </a:xfrm>
          <a:prstGeom prst="roundRect">
            <a:avLst>
              <a:gd name="adj" fmla="val 8571"/>
            </a:avLst>
          </a:prstGeom>
          <a:solidFill>
            <a:schemeClr val="bg1"/>
          </a:solidFill>
          <a:ln w="15875">
            <a:solidFill>
              <a:schemeClr val="tx1"/>
            </a:solidFill>
            <a:prstDash val="solid"/>
          </a:ln>
        </p:spPr>
      </p:sp>
      <p:sp>
        <p:nvSpPr>
          <p:cNvPr id="6" name="Text 3"/>
          <p:cNvSpPr txBox="1"/>
          <p:nvPr/>
        </p:nvSpPr>
        <p:spPr>
          <a:xfrm>
            <a:off x="594360" y="1874520"/>
            <a:ext cx="548640" cy="777240"/>
          </a:xfrm>
          <a:prstGeom prst="rect">
            <a:avLst/>
          </a:prstGeom>
          <a:noFill/>
          <a:ln/>
        </p:spPr>
        <p:txBody>
          <a:bodyPr wrap="square" lIns="0" tIns="0" rIns="0" bIns="0" rtlCol="0" anchor="ctr"/>
          <a:lstStyle/>
          <a:p>
            <a:pPr algn="ctr" indent="0" marL="0">
              <a:lnSpc>
                <a:spcPct val="105000"/>
              </a:lnSpc>
              <a:buNone/>
            </a:pPr>
            <a:r>
              <a:rPr lang="en-US" sz="2000" dirty="0">
                <a:solidFill>
                  <a:schemeClr val="tx1"/>
                </a:solidFill>
                <a:latin typeface="Cambria Math" pitchFamily="34" charset="0"/>
                <a:ea typeface="Cambria Math" pitchFamily="34" charset="-122"/>
                <a:cs typeface="Cambria Math" pitchFamily="34" charset="-120"/>
              </a:rPr>
              <a:t>x</a:t>
            </a:r>
            <a:endParaRPr lang="en-US" sz="2000" dirty="0"/>
          </a:p>
        </p:txBody>
      </p:sp>
      <p:sp>
        <p:nvSpPr>
          <p:cNvPr id="7" name="Shape 4"/>
          <p:cNvSpPr/>
          <p:nvPr/>
        </p:nvSpPr>
        <p:spPr>
          <a:xfrm>
            <a:off x="1508760" y="1874520"/>
            <a:ext cx="1463040" cy="777240"/>
          </a:xfrm>
          <a:prstGeom prst="roundRect">
            <a:avLst>
              <a:gd name="adj" fmla="val 7059"/>
            </a:avLst>
          </a:prstGeom>
          <a:solidFill>
            <a:schemeClr val="bg1"/>
          </a:solidFill>
          <a:ln w="15875">
            <a:solidFill>
              <a:schemeClr val="tx1"/>
            </a:solidFill>
            <a:prstDash val="solid"/>
          </a:ln>
        </p:spPr>
      </p:sp>
      <p:sp>
        <p:nvSpPr>
          <p:cNvPr id="8" name="Text 5"/>
          <p:cNvSpPr txBox="1"/>
          <p:nvPr/>
        </p:nvSpPr>
        <p:spPr>
          <a:xfrm>
            <a:off x="1554480" y="1874520"/>
            <a:ext cx="1371600" cy="77724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W[1], b[1]</a:t>
            </a:r>
            <a:endParaRPr lang="en-US" sz="1700" dirty="0"/>
          </a:p>
        </p:txBody>
      </p:sp>
      <p:sp>
        <p:nvSpPr>
          <p:cNvPr id="9" name="Shape 6"/>
          <p:cNvSpPr/>
          <p:nvPr/>
        </p:nvSpPr>
        <p:spPr>
          <a:xfrm>
            <a:off x="3246120" y="1874520"/>
            <a:ext cx="1463040" cy="777240"/>
          </a:xfrm>
          <a:prstGeom prst="roundRect">
            <a:avLst>
              <a:gd name="adj" fmla="val 7059"/>
            </a:avLst>
          </a:prstGeom>
          <a:solidFill>
            <a:schemeClr val="bg1"/>
          </a:solidFill>
          <a:ln w="15875">
            <a:solidFill>
              <a:schemeClr val="tx1"/>
            </a:solidFill>
            <a:prstDash val="solid"/>
          </a:ln>
        </p:spPr>
      </p:sp>
      <p:sp>
        <p:nvSpPr>
          <p:cNvPr id="10" name="Text 7"/>
          <p:cNvSpPr txBox="1"/>
          <p:nvPr/>
        </p:nvSpPr>
        <p:spPr>
          <a:xfrm>
            <a:off x="3291840" y="1874520"/>
            <a:ext cx="1371600" cy="77724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W[2], b[2]</a:t>
            </a:r>
            <a:endParaRPr lang="en-US" sz="1700" dirty="0"/>
          </a:p>
        </p:txBody>
      </p:sp>
      <p:sp>
        <p:nvSpPr>
          <p:cNvPr id="11" name="Shape 8"/>
          <p:cNvSpPr/>
          <p:nvPr/>
        </p:nvSpPr>
        <p:spPr>
          <a:xfrm>
            <a:off x="4983480" y="1874520"/>
            <a:ext cx="1463040" cy="777240"/>
          </a:xfrm>
          <a:prstGeom prst="roundRect">
            <a:avLst>
              <a:gd name="adj" fmla="val 7059"/>
            </a:avLst>
          </a:prstGeom>
          <a:solidFill>
            <a:schemeClr val="bg1"/>
          </a:solidFill>
          <a:ln w="15875">
            <a:solidFill>
              <a:schemeClr val="tx1"/>
            </a:solidFill>
            <a:prstDash val="solid"/>
          </a:ln>
        </p:spPr>
      </p:sp>
      <p:sp>
        <p:nvSpPr>
          <p:cNvPr id="12" name="Text 9"/>
          <p:cNvSpPr txBox="1"/>
          <p:nvPr/>
        </p:nvSpPr>
        <p:spPr>
          <a:xfrm>
            <a:off x="5029200" y="1874520"/>
            <a:ext cx="1371600" cy="77724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W[3], b[3]</a:t>
            </a:r>
            <a:endParaRPr lang="en-US" sz="1700" dirty="0"/>
          </a:p>
        </p:txBody>
      </p:sp>
      <p:sp>
        <p:nvSpPr>
          <p:cNvPr id="13" name="Shape 10"/>
          <p:cNvSpPr/>
          <p:nvPr/>
        </p:nvSpPr>
        <p:spPr>
          <a:xfrm>
            <a:off x="1188720" y="2263140"/>
            <a:ext cx="320040" cy="0"/>
          </a:xfrm>
          <a:prstGeom prst="line">
            <a:avLst/>
          </a:prstGeom>
          <a:noFill/>
          <a:ln w="19050">
            <a:solidFill>
              <a:srgbClr val="556270"/>
            </a:solidFill>
            <a:prstDash val="solid"/>
            <a:tailEnd type="triangle"/>
          </a:ln>
        </p:spPr>
      </p:sp>
      <p:sp>
        <p:nvSpPr>
          <p:cNvPr id="14" name="Shape 11"/>
          <p:cNvSpPr/>
          <p:nvPr/>
        </p:nvSpPr>
        <p:spPr>
          <a:xfrm>
            <a:off x="2971800" y="2263140"/>
            <a:ext cx="274320" cy="0"/>
          </a:xfrm>
          <a:prstGeom prst="line">
            <a:avLst/>
          </a:prstGeom>
          <a:noFill/>
          <a:ln w="19050">
            <a:solidFill>
              <a:srgbClr val="556270"/>
            </a:solidFill>
            <a:prstDash val="solid"/>
            <a:tailEnd type="triangle"/>
          </a:ln>
        </p:spPr>
      </p:sp>
      <p:sp>
        <p:nvSpPr>
          <p:cNvPr id="15" name="Shape 12"/>
          <p:cNvSpPr/>
          <p:nvPr/>
        </p:nvSpPr>
        <p:spPr>
          <a:xfrm>
            <a:off x="4709160" y="2263140"/>
            <a:ext cx="274320" cy="0"/>
          </a:xfrm>
          <a:prstGeom prst="line">
            <a:avLst/>
          </a:prstGeom>
          <a:noFill/>
          <a:ln w="19050">
            <a:solidFill>
              <a:srgbClr val="556270"/>
            </a:solidFill>
            <a:prstDash val="solid"/>
            <a:tailEnd type="triangle"/>
          </a:ln>
        </p:spPr>
      </p:sp>
      <p:sp>
        <p:nvSpPr>
          <p:cNvPr id="16" name="Shape 13"/>
          <p:cNvSpPr/>
          <p:nvPr/>
        </p:nvSpPr>
        <p:spPr>
          <a:xfrm>
            <a:off x="6446520" y="2263140"/>
            <a:ext cx="228600" cy="0"/>
          </a:xfrm>
          <a:prstGeom prst="line">
            <a:avLst/>
          </a:prstGeom>
          <a:noFill/>
          <a:ln w="19050">
            <a:solidFill>
              <a:srgbClr val="556270"/>
            </a:solidFill>
            <a:prstDash val="solid"/>
            <a:tailEnd type="triangle"/>
          </a:ln>
        </p:spPr>
      </p:sp>
      <p:sp>
        <p:nvSpPr>
          <p:cNvPr id="17" name="Shape 14"/>
          <p:cNvSpPr/>
          <p:nvPr/>
        </p:nvSpPr>
        <p:spPr>
          <a:xfrm>
            <a:off x="6675120" y="1874520"/>
            <a:ext cx="822960" cy="777240"/>
          </a:xfrm>
          <a:prstGeom prst="roundRect">
            <a:avLst>
              <a:gd name="adj" fmla="val 7059"/>
            </a:avLst>
          </a:prstGeom>
          <a:solidFill>
            <a:schemeClr val="bg1"/>
          </a:solidFill>
          <a:ln w="15875">
            <a:solidFill>
              <a:schemeClr val="tx1"/>
            </a:solidFill>
            <a:prstDash val="solid"/>
          </a:ln>
        </p:spPr>
      </p:sp>
      <p:sp>
        <p:nvSpPr>
          <p:cNvPr id="18" name="Text 15"/>
          <p:cNvSpPr txBox="1"/>
          <p:nvPr/>
        </p:nvSpPr>
        <p:spPr>
          <a:xfrm>
            <a:off x="6720840" y="1874520"/>
            <a:ext cx="731520" cy="777240"/>
          </a:xfrm>
          <a:prstGeom prst="rect">
            <a:avLst/>
          </a:prstGeom>
          <a:noFill/>
          <a:ln/>
        </p:spPr>
        <p:txBody>
          <a:bodyPr wrap="square" lIns="0" tIns="0" rIns="0" bIns="0" rtlCol="0" anchor="ctr"/>
          <a:lstStyle/>
          <a:p>
            <a:pPr algn="ctr" indent="0" marL="0">
              <a:lnSpc>
                <a:spcPct val="105000"/>
              </a:lnSpc>
              <a:buNone/>
            </a:pPr>
            <a:r>
              <a:rPr lang="en-US" sz="1800" dirty="0">
                <a:solidFill>
                  <a:schemeClr val="tx1"/>
                </a:solidFill>
                <a:latin typeface="Cambria Math" pitchFamily="34" charset="0"/>
                <a:ea typeface="Cambria Math" pitchFamily="34" charset="-122"/>
                <a:cs typeface="Cambria Math" pitchFamily="34" charset="-120"/>
              </a:rPr>
              <a:t>a[3]</a:t>
            </a:r>
            <a:endParaRPr lang="en-US" sz="1800" dirty="0"/>
          </a:p>
        </p:txBody>
      </p:sp>
      <p:sp>
        <p:nvSpPr>
          <p:cNvPr id="19" name="Text 16"/>
          <p:cNvSpPr txBox="1"/>
          <p:nvPr/>
        </p:nvSpPr>
        <p:spPr>
          <a:xfrm>
            <a:off x="7543800" y="1874520"/>
            <a:ext cx="640080" cy="777240"/>
          </a:xfrm>
          <a:prstGeom prst="rect">
            <a:avLst/>
          </a:prstGeom>
          <a:noFill/>
          <a:ln/>
        </p:spPr>
        <p:txBody>
          <a:bodyPr wrap="square" lIns="0" tIns="0" rIns="0" bIns="0" rtlCol="0" anchor="ctr"/>
          <a:lstStyle/>
          <a:p>
            <a:pPr algn="ctr" indent="0" marL="0">
              <a:lnSpc>
                <a:spcPct val="105000"/>
              </a:lnSpc>
              <a:buNone/>
            </a:pPr>
            <a:r>
              <a:rPr lang="en-US" sz="4000" dirty="0">
                <a:solidFill>
                  <a:schemeClr val="tx2"/>
                </a:solidFill>
              </a:rPr>
              <a:t>≡</a:t>
            </a:r>
            <a:endParaRPr lang="en-US" sz="4000" dirty="0"/>
          </a:p>
        </p:txBody>
      </p:sp>
      <p:sp>
        <p:nvSpPr>
          <p:cNvPr id="20" name="Shape 17"/>
          <p:cNvSpPr/>
          <p:nvPr/>
        </p:nvSpPr>
        <p:spPr>
          <a:xfrm>
            <a:off x="8229600" y="1874520"/>
            <a:ext cx="640080" cy="777240"/>
          </a:xfrm>
          <a:prstGeom prst="roundRect">
            <a:avLst>
              <a:gd name="adj" fmla="val 8571"/>
            </a:avLst>
          </a:prstGeom>
          <a:solidFill>
            <a:schemeClr val="bg1"/>
          </a:solidFill>
          <a:ln w="15875">
            <a:solidFill>
              <a:schemeClr val="tx1"/>
            </a:solidFill>
            <a:prstDash val="solid"/>
          </a:ln>
        </p:spPr>
      </p:sp>
      <p:sp>
        <p:nvSpPr>
          <p:cNvPr id="21" name="Text 18"/>
          <p:cNvSpPr txBox="1"/>
          <p:nvPr/>
        </p:nvSpPr>
        <p:spPr>
          <a:xfrm>
            <a:off x="8275320" y="1874520"/>
            <a:ext cx="548640" cy="777240"/>
          </a:xfrm>
          <a:prstGeom prst="rect">
            <a:avLst/>
          </a:prstGeom>
          <a:noFill/>
          <a:ln/>
        </p:spPr>
        <p:txBody>
          <a:bodyPr wrap="square" lIns="0" tIns="0" rIns="0" bIns="0" rtlCol="0" anchor="ctr"/>
          <a:lstStyle/>
          <a:p>
            <a:pPr algn="ctr" indent="0" marL="0">
              <a:lnSpc>
                <a:spcPct val="105000"/>
              </a:lnSpc>
              <a:buNone/>
            </a:pPr>
            <a:r>
              <a:rPr lang="en-US" sz="2000" dirty="0">
                <a:solidFill>
                  <a:schemeClr val="tx1"/>
                </a:solidFill>
                <a:latin typeface="Cambria Math" pitchFamily="34" charset="0"/>
                <a:ea typeface="Cambria Math" pitchFamily="34" charset="-122"/>
                <a:cs typeface="Cambria Math" pitchFamily="34" charset="-120"/>
              </a:rPr>
              <a:t>x</a:t>
            </a:r>
            <a:endParaRPr lang="en-US" sz="2000" dirty="0"/>
          </a:p>
        </p:txBody>
      </p:sp>
      <p:sp>
        <p:nvSpPr>
          <p:cNvPr id="22" name="Shape 19"/>
          <p:cNvSpPr/>
          <p:nvPr/>
        </p:nvSpPr>
        <p:spPr>
          <a:xfrm>
            <a:off x="8869680" y="2263140"/>
            <a:ext cx="274320" cy="0"/>
          </a:xfrm>
          <a:prstGeom prst="line">
            <a:avLst/>
          </a:prstGeom>
          <a:noFill/>
          <a:ln w="19050">
            <a:solidFill>
              <a:srgbClr val="556270"/>
            </a:solidFill>
            <a:prstDash val="solid"/>
            <a:tailEnd type="triangle"/>
          </a:ln>
        </p:spPr>
      </p:sp>
      <p:sp>
        <p:nvSpPr>
          <p:cNvPr id="23" name="Shape 20"/>
          <p:cNvSpPr/>
          <p:nvPr/>
        </p:nvSpPr>
        <p:spPr>
          <a:xfrm>
            <a:off x="9144000" y="1874520"/>
            <a:ext cx="1463040" cy="777240"/>
          </a:xfrm>
          <a:prstGeom prst="roundRect">
            <a:avLst>
              <a:gd name="adj" fmla="val 7059"/>
            </a:avLst>
          </a:prstGeom>
          <a:solidFill>
            <a:schemeClr val="accent2">
              <a:alpha val="12000"/>
            </a:schemeClr>
          </a:solidFill>
          <a:ln w="15875">
            <a:solidFill>
              <a:schemeClr val="accent2"/>
            </a:solidFill>
            <a:prstDash val="solid"/>
          </a:ln>
        </p:spPr>
      </p:sp>
      <p:sp>
        <p:nvSpPr>
          <p:cNvPr id="24" name="Text 21"/>
          <p:cNvSpPr txBox="1"/>
          <p:nvPr/>
        </p:nvSpPr>
        <p:spPr>
          <a:xfrm>
            <a:off x="9189720" y="1874520"/>
            <a:ext cx="1371600" cy="77724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W′, b′</a:t>
            </a:r>
            <a:endParaRPr lang="en-US" sz="1700" dirty="0"/>
          </a:p>
        </p:txBody>
      </p:sp>
      <p:sp>
        <p:nvSpPr>
          <p:cNvPr id="25" name="Shape 22"/>
          <p:cNvSpPr/>
          <p:nvPr/>
        </p:nvSpPr>
        <p:spPr>
          <a:xfrm>
            <a:off x="10607040" y="2263140"/>
            <a:ext cx="228600" cy="0"/>
          </a:xfrm>
          <a:prstGeom prst="line">
            <a:avLst/>
          </a:prstGeom>
          <a:noFill/>
          <a:ln w="19050">
            <a:solidFill>
              <a:srgbClr val="556270"/>
            </a:solidFill>
            <a:prstDash val="solid"/>
            <a:tailEnd type="triangle"/>
          </a:ln>
        </p:spPr>
      </p:sp>
      <p:sp>
        <p:nvSpPr>
          <p:cNvPr id="26" name="Shape 23"/>
          <p:cNvSpPr/>
          <p:nvPr/>
        </p:nvSpPr>
        <p:spPr>
          <a:xfrm>
            <a:off x="10835640" y="1874520"/>
            <a:ext cx="804672" cy="777240"/>
          </a:xfrm>
          <a:prstGeom prst="roundRect">
            <a:avLst>
              <a:gd name="adj" fmla="val 7059"/>
            </a:avLst>
          </a:prstGeom>
          <a:solidFill>
            <a:schemeClr val="bg1"/>
          </a:solidFill>
          <a:ln w="15875">
            <a:solidFill>
              <a:schemeClr val="tx1"/>
            </a:solidFill>
            <a:prstDash val="solid"/>
          </a:ln>
        </p:spPr>
      </p:sp>
      <p:sp>
        <p:nvSpPr>
          <p:cNvPr id="27" name="Text 24"/>
          <p:cNvSpPr txBox="1"/>
          <p:nvPr/>
        </p:nvSpPr>
        <p:spPr>
          <a:xfrm>
            <a:off x="10881360" y="1874520"/>
            <a:ext cx="713232" cy="777240"/>
          </a:xfrm>
          <a:prstGeom prst="rect">
            <a:avLst/>
          </a:prstGeom>
          <a:noFill/>
          <a:ln/>
        </p:spPr>
        <p:txBody>
          <a:bodyPr wrap="square" lIns="0" tIns="0" rIns="0" bIns="0" rtlCol="0" anchor="ctr"/>
          <a:lstStyle/>
          <a:p>
            <a:pPr algn="ctr" indent="0" marL="0">
              <a:lnSpc>
                <a:spcPct val="105000"/>
              </a:lnSpc>
              <a:buNone/>
            </a:pPr>
            <a:r>
              <a:rPr lang="en-US" sz="1800" dirty="0">
                <a:solidFill>
                  <a:schemeClr val="tx1"/>
                </a:solidFill>
                <a:latin typeface="Cambria Math" pitchFamily="34" charset="0"/>
                <a:ea typeface="Cambria Math" pitchFamily="34" charset="-122"/>
                <a:cs typeface="Cambria Math" pitchFamily="34" charset="-120"/>
              </a:rPr>
              <a:t>a[3]</a:t>
            </a:r>
            <a:endParaRPr lang="en-US" sz="1800" dirty="0"/>
          </a:p>
        </p:txBody>
      </p:sp>
      <p:sp>
        <p:nvSpPr>
          <p:cNvPr id="28" name="Text 25"/>
          <p:cNvSpPr txBox="1"/>
          <p:nvPr/>
        </p:nvSpPr>
        <p:spPr>
          <a:xfrm>
            <a:off x="1508760" y="2724912"/>
            <a:ext cx="4937760" cy="320040"/>
          </a:xfrm>
          <a:prstGeom prst="rect">
            <a:avLst/>
          </a:prstGeom>
          <a:noFill/>
          <a:ln/>
        </p:spPr>
        <p:txBody>
          <a:bodyPr wrap="square" lIns="0" tIns="0" rIns="0" bIns="0" rtlCol="0" anchor="t"/>
          <a:lstStyle/>
          <a:p>
            <a:pPr algn="ctr" indent="0" marL="0">
              <a:lnSpc>
                <a:spcPct val="105000"/>
              </a:lnSpc>
              <a:buNone/>
            </a:pPr>
            <a:r>
              <a:rPr lang="en-US" sz="1400" dirty="0">
                <a:solidFill>
                  <a:schemeClr val="tx2"/>
                </a:solidFill>
              </a:rPr>
              <a:t>three linear layers, no activation</a:t>
            </a:r>
            <a:endParaRPr lang="en-US" sz="1400" dirty="0"/>
          </a:p>
        </p:txBody>
      </p:sp>
      <p:sp>
        <p:nvSpPr>
          <p:cNvPr id="29" name="Text 26"/>
          <p:cNvSpPr txBox="1"/>
          <p:nvPr/>
        </p:nvSpPr>
        <p:spPr>
          <a:xfrm>
            <a:off x="8778240" y="2724912"/>
            <a:ext cx="2377440" cy="320040"/>
          </a:xfrm>
          <a:prstGeom prst="rect">
            <a:avLst/>
          </a:prstGeom>
          <a:noFill/>
          <a:ln/>
        </p:spPr>
        <p:txBody>
          <a:bodyPr wrap="square" lIns="0" tIns="0" rIns="0" bIns="0" rtlCol="0" anchor="t"/>
          <a:lstStyle/>
          <a:p>
            <a:pPr algn="ctr" indent="0" marL="0">
              <a:lnSpc>
                <a:spcPct val="105000"/>
              </a:lnSpc>
              <a:buNone/>
            </a:pPr>
            <a:r>
              <a:rPr lang="en-US" sz="1400" dirty="0">
                <a:solidFill>
                  <a:schemeClr val="tx2"/>
                </a:solidFill>
              </a:rPr>
              <a:t>one linear layer</a:t>
            </a:r>
            <a:endParaRPr lang="en-US" sz="1400" dirty="0"/>
          </a:p>
        </p:txBody>
      </p:sp>
      <p:sp>
        <p:nvSpPr>
          <p:cNvPr id="30" name="Shape 27"/>
          <p:cNvSpPr/>
          <p:nvPr/>
        </p:nvSpPr>
        <p:spPr>
          <a:xfrm>
            <a:off x="548640" y="3246120"/>
            <a:ext cx="11091672" cy="1841373"/>
          </a:xfrm>
          <a:prstGeom prst="roundRect">
            <a:avLst>
              <a:gd name="adj" fmla="val 3973"/>
            </a:avLst>
          </a:prstGeom>
          <a:solidFill>
            <a:schemeClr val="accent1">
              <a:alpha val="10000"/>
            </a:schemeClr>
          </a:solidFill>
          <a:ln w="12700">
            <a:solidFill>
              <a:schemeClr val="accent1">
                <a:alpha val="10000"/>
              </a:schemeClr>
            </a:solidFill>
            <a:prstDash val="solid"/>
          </a:ln>
        </p:spPr>
      </p:sp>
      <p:sp>
        <p:nvSpPr>
          <p:cNvPr id="31" name="Text 28"/>
          <p:cNvSpPr txBox="1"/>
          <p:nvPr/>
        </p:nvSpPr>
        <p:spPr>
          <a:xfrm>
            <a:off x="777240" y="3392424"/>
            <a:ext cx="1063447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SUBSTITUTE UPWARD</a:t>
            </a:r>
            <a:endParaRPr lang="en-US" sz="1200" dirty="0"/>
          </a:p>
        </p:txBody>
      </p:sp>
      <p:sp>
        <p:nvSpPr>
          <p:cNvPr id="32" name="Text 29"/>
          <p:cNvSpPr txBox="1"/>
          <p:nvPr/>
        </p:nvSpPr>
        <p:spPr>
          <a:xfrm>
            <a:off x="777240" y="3822192"/>
            <a:ext cx="10634472" cy="1073277"/>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a[2] = W[2](W[1]x + b[1]) + b[2] = (W[2]W[1]) x + (W[2]b[1] + b[2])</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a[3] = (W[3]W[2]W[1]) x + (W[3]W[2]b[1] + W[3]b[2] + b[3])</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      = W′ x + b′</a:t>
            </a:r>
            <a:r>
              <a:rPr lang="en-US" sz="1700" dirty="0">
                <a:solidFill>
                  <a:schemeClr val="tx2"/>
                </a:solidFill>
                <a:latin typeface="Calibri" pitchFamily="34" charset="0"/>
                <a:ea typeface="Calibri" pitchFamily="34" charset="-122"/>
                <a:cs typeface="Calibri" pitchFamily="34" charset="-120"/>
              </a:rPr>
              <a:t>    W′ = W[3]W[2]W[1]</a:t>
            </a:r>
            <a:endParaRPr lang="en-US" sz="2100" dirty="0"/>
          </a:p>
        </p:txBody>
      </p:sp>
      <p:sp>
        <p:nvSpPr>
          <p:cNvPr id="33" name="Text 30"/>
          <p:cNvSpPr txBox="1"/>
          <p:nvPr/>
        </p:nvSpPr>
        <p:spPr>
          <a:xfrm>
            <a:off x="548640" y="5257800"/>
            <a:ext cx="11091672" cy="731520"/>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Depth without nonlinearity buys nothing.</a:t>
            </a:r>
            <a:r>
              <a:rPr lang="en-US" sz="1700" dirty="0">
                <a:solidFill>
                  <a:schemeClr val="tx1"/>
                </a:solidFill>
              </a:rPr>
              <a:t> It can even hurt: rank(W[3]W[2]W[1]) ≤ the smallest factor’s rank, so a narrow middle layer restricts the map.</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ACTIVATION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Sigmoid and tanh saturate, so deep gradients vanish</a:t>
            </a:r>
            <a:endParaRPr lang="en-US" sz="3000" dirty="0"/>
          </a:p>
        </p:txBody>
      </p:sp>
      <p:graphicFrame>
        <p:nvGraphicFramePr>
          <p:cNvPr id="5" name="Chart 0" descr=""/>
          <p:cNvGraphicFramePr/>
          <p:nvPr/>
        </p:nvGraphicFramePr>
        <p:xfrm>
          <a:off x="457200" y="1600200"/>
          <a:ext cx="6309360" cy="45262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370064" y="1837944"/>
            <a:ext cx="0" cy="3346704"/>
          </a:xfrm>
          <a:prstGeom prst="line">
            <a:avLst/>
          </a:prstGeom>
          <a:noFill/>
          <a:ln w="25400">
            <a:solidFill>
              <a:schemeClr val="accent1">
                <a:alpha val="50000"/>
              </a:schemeClr>
            </a:solidFill>
            <a:prstDash val="solid"/>
          </a:ln>
        </p:spPr>
      </p:sp>
      <p:sp>
        <p:nvSpPr>
          <p:cNvPr id="7" name="Shape 3"/>
          <p:cNvSpPr/>
          <p:nvPr/>
        </p:nvSpPr>
        <p:spPr>
          <a:xfrm>
            <a:off x="7178040" y="1645920"/>
            <a:ext cx="384048" cy="384048"/>
          </a:xfrm>
          <a:prstGeom prst="ellipse">
            <a:avLst/>
          </a:prstGeom>
          <a:solidFill>
            <a:schemeClr val="accent2"/>
          </a:solidFill>
          <a:ln w="25400">
            <a:solidFill>
              <a:schemeClr val="bg1"/>
            </a:solidFill>
            <a:prstDash val="solid"/>
          </a:ln>
        </p:spPr>
      </p:sp>
      <p:sp>
        <p:nvSpPr>
          <p:cNvPr id="8" name="Text 4"/>
          <p:cNvSpPr txBox="1"/>
          <p:nvPr/>
        </p:nvSpPr>
        <p:spPr>
          <a:xfrm>
            <a:off x="7178040" y="16459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5"/>
          <p:cNvSpPr txBox="1"/>
          <p:nvPr/>
        </p:nvSpPr>
        <p:spPr>
          <a:xfrm>
            <a:off x="7790688" y="1682496"/>
            <a:ext cx="384962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Saturation kills gradients</a:t>
            </a:r>
            <a:endParaRPr lang="en-US" sz="1700" dirty="0"/>
          </a:p>
        </p:txBody>
      </p:sp>
      <p:sp>
        <p:nvSpPr>
          <p:cNvPr id="10" name="Text 6"/>
          <p:cNvSpPr txBox="1"/>
          <p:nvPr/>
        </p:nvSpPr>
        <p:spPr>
          <a:xfrm>
            <a:off x="7790688" y="1955546"/>
            <a:ext cx="3849624" cy="769366"/>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For |z| &gt; 5, σ′(z) &lt; 0.007. Ten layers scale gradients by at most 0.25¹⁰ ≈ 10⁻⁶.</a:t>
            </a:r>
            <a:endParaRPr lang="en-US" sz="1500" dirty="0"/>
          </a:p>
        </p:txBody>
      </p:sp>
      <p:sp>
        <p:nvSpPr>
          <p:cNvPr id="11" name="Shape 7"/>
          <p:cNvSpPr/>
          <p:nvPr/>
        </p:nvSpPr>
        <p:spPr>
          <a:xfrm>
            <a:off x="7178040" y="2761488"/>
            <a:ext cx="384048" cy="384048"/>
          </a:xfrm>
          <a:prstGeom prst="ellipse">
            <a:avLst/>
          </a:prstGeom>
          <a:solidFill>
            <a:schemeClr val="accent1"/>
          </a:solidFill>
          <a:ln w="25400">
            <a:solidFill>
              <a:schemeClr val="bg1"/>
            </a:solidFill>
            <a:prstDash val="solid"/>
          </a:ln>
        </p:spPr>
      </p:sp>
      <p:sp>
        <p:nvSpPr>
          <p:cNvPr id="12" name="Text 8"/>
          <p:cNvSpPr txBox="1"/>
          <p:nvPr/>
        </p:nvSpPr>
        <p:spPr>
          <a:xfrm>
            <a:off x="7178040" y="27614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9"/>
          <p:cNvSpPr txBox="1"/>
          <p:nvPr/>
        </p:nvSpPr>
        <p:spPr>
          <a:xfrm>
            <a:off x="7790688" y="2798064"/>
            <a:ext cx="384962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Sigmoid is not zero-centred</a:t>
            </a:r>
            <a:endParaRPr lang="en-US" sz="1700" dirty="0"/>
          </a:p>
        </p:txBody>
      </p:sp>
      <p:sp>
        <p:nvSpPr>
          <p:cNvPr id="14" name="Text 10"/>
          <p:cNvSpPr txBox="1"/>
          <p:nvPr/>
        </p:nvSpPr>
        <p:spPr>
          <a:xfrm>
            <a:off x="7790688" y="3071114"/>
            <a:ext cx="3849624" cy="769366"/>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All outputs are positive, so the next layer’s weight gradients share a sign and updates zigzag.</a:t>
            </a:r>
            <a:endParaRPr lang="en-US" sz="1500" dirty="0"/>
          </a:p>
        </p:txBody>
      </p:sp>
      <p:sp>
        <p:nvSpPr>
          <p:cNvPr id="15" name="Shape 11"/>
          <p:cNvSpPr/>
          <p:nvPr/>
        </p:nvSpPr>
        <p:spPr>
          <a:xfrm>
            <a:off x="7178040" y="3877056"/>
            <a:ext cx="384048" cy="384048"/>
          </a:xfrm>
          <a:prstGeom prst="ellipse">
            <a:avLst/>
          </a:prstGeom>
          <a:solidFill>
            <a:schemeClr val="accent1"/>
          </a:solidFill>
          <a:ln w="25400">
            <a:solidFill>
              <a:schemeClr val="bg1"/>
            </a:solidFill>
            <a:prstDash val="solid"/>
          </a:ln>
        </p:spPr>
      </p:sp>
      <p:sp>
        <p:nvSpPr>
          <p:cNvPr id="16" name="Text 12"/>
          <p:cNvSpPr txBox="1"/>
          <p:nvPr/>
        </p:nvSpPr>
        <p:spPr>
          <a:xfrm>
            <a:off x="7178040" y="38770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3"/>
          <p:cNvSpPr txBox="1"/>
          <p:nvPr/>
        </p:nvSpPr>
        <p:spPr>
          <a:xfrm>
            <a:off x="7790688" y="3913632"/>
            <a:ext cx="384962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tanh(z) = 2σ(2z) − 1</a:t>
            </a:r>
            <a:endParaRPr lang="en-US" sz="1700" dirty="0"/>
          </a:p>
        </p:txBody>
      </p:sp>
      <p:sp>
        <p:nvSpPr>
          <p:cNvPr id="18" name="Text 14"/>
          <p:cNvSpPr txBox="1"/>
          <p:nvPr/>
        </p:nvSpPr>
        <p:spPr>
          <a:xfrm>
            <a:off x="7790688" y="4186682"/>
            <a:ext cx="3849624" cy="769366"/>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Zero-centred, slope up to 1, but both tails still saturate.</a:t>
            </a:r>
            <a:endParaRPr lang="en-US" sz="1500" dirty="0"/>
          </a:p>
        </p:txBody>
      </p:sp>
      <p:sp>
        <p:nvSpPr>
          <p:cNvPr id="19" name="Shape 15"/>
          <p:cNvSpPr/>
          <p:nvPr/>
        </p:nvSpPr>
        <p:spPr>
          <a:xfrm>
            <a:off x="7178040" y="4992624"/>
            <a:ext cx="384048" cy="384048"/>
          </a:xfrm>
          <a:prstGeom prst="ellipse">
            <a:avLst/>
          </a:prstGeom>
          <a:solidFill>
            <a:schemeClr val="accent1"/>
          </a:solidFill>
          <a:ln w="25400">
            <a:solidFill>
              <a:schemeClr val="bg1"/>
            </a:solidFill>
            <a:prstDash val="solid"/>
          </a:ln>
        </p:spPr>
      </p:sp>
      <p:sp>
        <p:nvSpPr>
          <p:cNvPr id="20" name="Text 16"/>
          <p:cNvSpPr txBox="1"/>
          <p:nvPr/>
        </p:nvSpPr>
        <p:spPr>
          <a:xfrm>
            <a:off x="7178040" y="499262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7"/>
          <p:cNvSpPr txBox="1"/>
          <p:nvPr/>
        </p:nvSpPr>
        <p:spPr>
          <a:xfrm>
            <a:off x="7790688" y="5029200"/>
            <a:ext cx="384962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Where they live today</a:t>
            </a:r>
            <a:endParaRPr lang="en-US" sz="1700" dirty="0"/>
          </a:p>
        </p:txBody>
      </p:sp>
      <p:sp>
        <p:nvSpPr>
          <p:cNvPr id="22" name="Text 18"/>
          <p:cNvSpPr txBox="1"/>
          <p:nvPr/>
        </p:nvSpPr>
        <p:spPr>
          <a:xfrm>
            <a:off x="7790688" y="5302250"/>
            <a:ext cx="3849624" cy="769366"/>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Sigmoid: binary outputs, LSTM/GRU gates. Tanh: RNN hidden states.</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ACTIVATION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ReLU passes gradients undiminished when active</a:t>
            </a:r>
            <a:endParaRPr lang="en-US" sz="3000" dirty="0"/>
          </a:p>
        </p:txBody>
      </p:sp>
      <p:graphicFrame>
        <p:nvGraphicFramePr>
          <p:cNvPr id="5" name="Chart 0" descr=""/>
          <p:cNvGraphicFramePr/>
          <p:nvPr/>
        </p:nvGraphicFramePr>
        <p:xfrm>
          <a:off x="457200" y="1600200"/>
          <a:ext cx="5486400" cy="44805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592824" y="1837944"/>
            <a:ext cx="0" cy="3291840"/>
          </a:xfrm>
          <a:prstGeom prst="line">
            <a:avLst/>
          </a:prstGeom>
          <a:noFill/>
          <a:ln w="25400">
            <a:solidFill>
              <a:schemeClr val="accent1">
                <a:alpha val="50000"/>
              </a:schemeClr>
            </a:solidFill>
            <a:prstDash val="solid"/>
          </a:ln>
        </p:spPr>
      </p:sp>
      <p:sp>
        <p:nvSpPr>
          <p:cNvPr id="7" name="Shape 3"/>
          <p:cNvSpPr/>
          <p:nvPr/>
        </p:nvSpPr>
        <p:spPr>
          <a:xfrm>
            <a:off x="6400800" y="1645920"/>
            <a:ext cx="384048" cy="384048"/>
          </a:xfrm>
          <a:prstGeom prst="ellipse">
            <a:avLst/>
          </a:prstGeom>
          <a:solidFill>
            <a:schemeClr val="accent1"/>
          </a:solidFill>
          <a:ln w="25400">
            <a:solidFill>
              <a:schemeClr val="bg1"/>
            </a:solidFill>
            <a:prstDash val="solid"/>
          </a:ln>
        </p:spPr>
      </p:sp>
      <p:sp>
        <p:nvSpPr>
          <p:cNvPr id="8" name="Text 4"/>
          <p:cNvSpPr txBox="1"/>
          <p:nvPr/>
        </p:nvSpPr>
        <p:spPr>
          <a:xfrm>
            <a:off x="6400800" y="16459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5"/>
          <p:cNvSpPr txBox="1"/>
          <p:nvPr/>
        </p:nvSpPr>
        <p:spPr>
          <a:xfrm>
            <a:off x="7013448" y="1682496"/>
            <a:ext cx="462686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No positive saturation</a:t>
            </a:r>
            <a:endParaRPr lang="en-US" sz="1800" dirty="0"/>
          </a:p>
        </p:txBody>
      </p:sp>
      <p:sp>
        <p:nvSpPr>
          <p:cNvPr id="10" name="Text 6"/>
          <p:cNvSpPr txBox="1"/>
          <p:nvPr/>
        </p:nvSpPr>
        <p:spPr>
          <a:xfrm>
            <a:off x="7013448" y="1970532"/>
            <a:ext cx="4626864" cy="7360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Derivative is exactly 1 when active.</a:t>
            </a:r>
            <a:endParaRPr lang="en-US" sz="1600" dirty="0"/>
          </a:p>
        </p:txBody>
      </p:sp>
      <p:sp>
        <p:nvSpPr>
          <p:cNvPr id="11" name="Shape 7"/>
          <p:cNvSpPr/>
          <p:nvPr/>
        </p:nvSpPr>
        <p:spPr>
          <a:xfrm>
            <a:off x="6400800" y="2743200"/>
            <a:ext cx="384048" cy="384048"/>
          </a:xfrm>
          <a:prstGeom prst="ellipse">
            <a:avLst/>
          </a:prstGeom>
          <a:solidFill>
            <a:schemeClr val="accent1"/>
          </a:solidFill>
          <a:ln w="25400">
            <a:solidFill>
              <a:schemeClr val="bg1"/>
            </a:solidFill>
            <a:prstDash val="solid"/>
          </a:ln>
        </p:spPr>
      </p:sp>
      <p:sp>
        <p:nvSpPr>
          <p:cNvPr id="12" name="Text 8"/>
          <p:cNvSpPr txBox="1"/>
          <p:nvPr/>
        </p:nvSpPr>
        <p:spPr>
          <a:xfrm>
            <a:off x="6400800" y="2743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9"/>
          <p:cNvSpPr txBox="1"/>
          <p:nvPr/>
        </p:nvSpPr>
        <p:spPr>
          <a:xfrm>
            <a:off x="7013448" y="2779776"/>
            <a:ext cx="462686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Cheap and sparse</a:t>
            </a:r>
            <a:endParaRPr lang="en-US" sz="1800" dirty="0"/>
          </a:p>
        </p:txBody>
      </p:sp>
      <p:sp>
        <p:nvSpPr>
          <p:cNvPr id="14" name="Text 10"/>
          <p:cNvSpPr txBox="1"/>
          <p:nvPr/>
        </p:nvSpPr>
        <p:spPr>
          <a:xfrm>
            <a:off x="7013448" y="3067812"/>
            <a:ext cx="4626864" cy="7360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One comparison; often half the units output exactly 0.</a:t>
            </a:r>
            <a:endParaRPr lang="en-US" sz="1600" dirty="0"/>
          </a:p>
        </p:txBody>
      </p:sp>
      <p:sp>
        <p:nvSpPr>
          <p:cNvPr id="15" name="Shape 11"/>
          <p:cNvSpPr/>
          <p:nvPr/>
        </p:nvSpPr>
        <p:spPr>
          <a:xfrm>
            <a:off x="6400800" y="3840480"/>
            <a:ext cx="384048" cy="384048"/>
          </a:xfrm>
          <a:prstGeom prst="ellipse">
            <a:avLst/>
          </a:prstGeom>
          <a:solidFill>
            <a:schemeClr val="accent1"/>
          </a:solidFill>
          <a:ln w="25400">
            <a:solidFill>
              <a:schemeClr val="bg1"/>
            </a:solidFill>
            <a:prstDash val="solid"/>
          </a:ln>
        </p:spPr>
      </p:sp>
      <p:sp>
        <p:nvSpPr>
          <p:cNvPr id="16" name="Text 12"/>
          <p:cNvSpPr txBox="1"/>
          <p:nvPr/>
        </p:nvSpPr>
        <p:spPr>
          <a:xfrm>
            <a:off x="6400800" y="38404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3"/>
          <p:cNvSpPr txBox="1"/>
          <p:nvPr/>
        </p:nvSpPr>
        <p:spPr>
          <a:xfrm>
            <a:off x="7013448" y="3877056"/>
            <a:ext cx="462686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Still nonlinear</a:t>
            </a:r>
            <a:endParaRPr lang="en-US" sz="1800" dirty="0"/>
          </a:p>
        </p:txBody>
      </p:sp>
      <p:sp>
        <p:nvSpPr>
          <p:cNvPr id="18" name="Text 14"/>
          <p:cNvSpPr txBox="1"/>
          <p:nvPr/>
        </p:nvSpPr>
        <p:spPr>
          <a:xfrm>
            <a:off x="7013448" y="4165092"/>
            <a:ext cx="4626864" cy="7360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Piecewise linear: a different linear map on each polyhedral region.</a:t>
            </a:r>
            <a:endParaRPr lang="en-US" sz="1600" dirty="0"/>
          </a:p>
        </p:txBody>
      </p:sp>
      <p:sp>
        <p:nvSpPr>
          <p:cNvPr id="19" name="Shape 15"/>
          <p:cNvSpPr/>
          <p:nvPr/>
        </p:nvSpPr>
        <p:spPr>
          <a:xfrm>
            <a:off x="6400800" y="4937760"/>
            <a:ext cx="384048" cy="384048"/>
          </a:xfrm>
          <a:prstGeom prst="ellipse">
            <a:avLst/>
          </a:prstGeom>
          <a:solidFill>
            <a:schemeClr val="accent2"/>
          </a:solidFill>
          <a:ln w="25400">
            <a:solidFill>
              <a:schemeClr val="bg1"/>
            </a:solidFill>
            <a:prstDash val="solid"/>
          </a:ln>
        </p:spPr>
      </p:sp>
      <p:sp>
        <p:nvSpPr>
          <p:cNvPr id="20" name="Text 16"/>
          <p:cNvSpPr txBox="1"/>
          <p:nvPr/>
        </p:nvSpPr>
        <p:spPr>
          <a:xfrm>
            <a:off x="6400800" y="49377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7"/>
          <p:cNvSpPr txBox="1"/>
          <p:nvPr/>
        </p:nvSpPr>
        <p:spPr>
          <a:xfrm>
            <a:off x="7013448" y="4974336"/>
            <a:ext cx="462686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Dying ReLU</a:t>
            </a:r>
            <a:endParaRPr lang="en-US" sz="1800" dirty="0"/>
          </a:p>
        </p:txBody>
      </p:sp>
      <p:sp>
        <p:nvSpPr>
          <p:cNvPr id="22" name="Text 18"/>
          <p:cNvSpPr txBox="1"/>
          <p:nvPr/>
        </p:nvSpPr>
        <p:spPr>
          <a:xfrm>
            <a:off x="7013448" y="5262372"/>
            <a:ext cx="4626864" cy="7360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 unit with z &lt; 0 for every input gets zero gradient forever — sometimes 20–40% of a layer after a bad learning rate.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ACTIVATION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Leaky and smooth variants keep a gradient for z &lt; 0</a:t>
            </a:r>
            <a:endParaRPr lang="en-US" sz="3000" dirty="0"/>
          </a:p>
        </p:txBody>
      </p:sp>
      <p:graphicFrame>
        <p:nvGraphicFramePr>
          <p:cNvPr id="5" name="Chart 0" descr=""/>
          <p:cNvGraphicFramePr/>
          <p:nvPr/>
        </p:nvGraphicFramePr>
        <p:xfrm>
          <a:off x="457200" y="1600200"/>
          <a:ext cx="5760720" cy="4526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6035040"/>
            <a:ext cx="5669280" cy="27432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Leaky slope drawn at 0.1 for visibility; the usual default is 0.01.</a:t>
            </a:r>
            <a:endParaRPr lang="en-US" sz="1200" dirty="0"/>
          </a:p>
        </p:txBody>
      </p:sp>
      <p:sp>
        <p:nvSpPr>
          <p:cNvPr id="7" name="Shape 3"/>
          <p:cNvSpPr/>
          <p:nvPr/>
        </p:nvSpPr>
        <p:spPr>
          <a:xfrm>
            <a:off x="6629400" y="1645920"/>
            <a:ext cx="5010912" cy="1984248"/>
          </a:xfrm>
          <a:prstGeom prst="roundRect">
            <a:avLst>
              <a:gd name="adj" fmla="val 3687"/>
            </a:avLst>
          </a:prstGeom>
          <a:solidFill>
            <a:schemeClr val="accent1">
              <a:alpha val="10000"/>
            </a:schemeClr>
          </a:solidFill>
          <a:ln w="12700">
            <a:solidFill>
              <a:schemeClr val="accent1">
                <a:alpha val="10000"/>
              </a:schemeClr>
            </a:solidFill>
            <a:prstDash val="solid"/>
          </a:ln>
        </p:spPr>
      </p:sp>
      <p:sp>
        <p:nvSpPr>
          <p:cNvPr id="8" name="Text 4"/>
          <p:cNvSpPr txBox="1"/>
          <p:nvPr/>
        </p:nvSpPr>
        <p:spPr>
          <a:xfrm>
            <a:off x="6858000" y="1792224"/>
            <a:ext cx="455371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DEFINITIONS</a:t>
            </a:r>
            <a:endParaRPr lang="en-US" sz="1200" dirty="0"/>
          </a:p>
        </p:txBody>
      </p:sp>
      <p:sp>
        <p:nvSpPr>
          <p:cNvPr id="9" name="Text 5"/>
          <p:cNvSpPr txBox="1"/>
          <p:nvPr/>
        </p:nvSpPr>
        <p:spPr>
          <a:xfrm>
            <a:off x="6858000" y="2221992"/>
            <a:ext cx="4553712" cy="121615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LeakyReLU(z) = z if z &gt; 0, else αz</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ELU(z) = z if z &gt; 0, else α(eᶻ − 1)</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GELU(z) = z · Φ(z)</a:t>
            </a:r>
            <a:r>
              <a:rPr lang="en-US" sz="1400" dirty="0">
                <a:solidFill>
                  <a:schemeClr val="tx2"/>
                </a:solidFill>
                <a:latin typeface="Calibri" pitchFamily="34" charset="0"/>
                <a:ea typeface="Calibri" pitchFamily="34" charset="-122"/>
                <a:cs typeface="Calibri" pitchFamily="34" charset="-120"/>
              </a:rPr>
              <a:t>    Φ: normal CDF</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SiLU(z) = z · σ(z)</a:t>
            </a:r>
            <a:r>
              <a:rPr lang="en-US" sz="1400" dirty="0">
                <a:solidFill>
                  <a:schemeClr val="tx2"/>
                </a:solidFill>
                <a:latin typeface="Calibri" pitchFamily="34" charset="0"/>
                <a:ea typeface="Calibri" pitchFamily="34" charset="-122"/>
                <a:cs typeface="Calibri" pitchFamily="34" charset="-120"/>
              </a:rPr>
              <a:t>    also “Swish”</a:t>
            </a:r>
            <a:endParaRPr lang="en-US" sz="1800" dirty="0"/>
          </a:p>
        </p:txBody>
      </p:sp>
      <p:sp>
        <p:nvSpPr>
          <p:cNvPr id="10" name="Text 6"/>
          <p:cNvSpPr txBox="1"/>
          <p:nvPr/>
        </p:nvSpPr>
        <p:spPr>
          <a:xfrm>
            <a:off x="6629400" y="3977640"/>
            <a:ext cx="5010912" cy="2103120"/>
          </a:xfrm>
          <a:prstGeom prst="rect">
            <a:avLst/>
          </a:prstGeom>
          <a:noFill/>
          <a:ln/>
        </p:spPr>
        <p:txBody>
          <a:bodyPr wrap="square" lIns="0" tIns="0" rIns="0" bIns="0" rtlCol="0" anchor="t"/>
          <a:lstStyle/>
          <a:p>
            <a:pPr marL="254000" indent="-254000">
              <a:lnSpc>
                <a:spcPct val="105000"/>
              </a:lnSpc>
              <a:spcAft>
                <a:spcPts val="800"/>
              </a:spcAft>
              <a:buSzPct val="100000"/>
              <a:buChar char="●"/>
            </a:pPr>
            <a:r>
              <a:rPr lang="en-US" sz="1600" b="1" dirty="0">
                <a:solidFill>
                  <a:schemeClr val="tx1"/>
                </a:solidFill>
              </a:rPr>
              <a:t>GELU:</a:t>
            </a:r>
            <a:r>
              <a:rPr lang="en-US" sz="1600" dirty="0">
                <a:solidFill>
                  <a:schemeClr val="tx1"/>
                </a:solidFill>
              </a:rPr>
              <a:t> BERT, GPT-2, Vision Transformers.</a:t>
            </a:r>
            <a:endParaRPr lang="en-US" sz="1600" dirty="0"/>
          </a:p>
          <a:p>
            <a:pPr marL="254000" indent="-254000">
              <a:lnSpc>
                <a:spcPct val="105000"/>
              </a:lnSpc>
              <a:spcAft>
                <a:spcPts val="800"/>
              </a:spcAft>
              <a:buSzPct val="100000"/>
              <a:buChar char="●"/>
            </a:pPr>
            <a:r>
              <a:rPr lang="en-US" sz="1600" b="1" dirty="0">
                <a:solidFill>
                  <a:schemeClr val="tx1"/>
                </a:solidFill>
              </a:rPr>
              <a:t>SwiGLU</a:t>
            </a:r>
            <a:r>
              <a:rPr lang="en-US" sz="1600" dirty="0">
                <a:solidFill>
                  <a:schemeClr val="tx1"/>
                </a:solidFill>
              </a:rPr>
              <a:t> (gated SiLU): feed-forward blocks of many recent LLMs.</a:t>
            </a:r>
            <a:endParaRPr lang="en-US" sz="1600" dirty="0"/>
          </a:p>
          <a:p>
            <a:pPr marL="254000" indent="-254000">
              <a:lnSpc>
                <a:spcPct val="105000"/>
              </a:lnSpc>
              <a:spcAft>
                <a:spcPts val="800"/>
              </a:spcAft>
              <a:buSzPct val="100000"/>
              <a:buChar char="●"/>
            </a:pPr>
            <a:r>
              <a:rPr lang="en-US" sz="1600" b="1" dirty="0">
                <a:solidFill>
                  <a:schemeClr val="tx1"/>
                </a:solidFill>
              </a:rPr>
              <a:t>SiLU:</a:t>
            </a:r>
            <a:r>
              <a:rPr lang="en-US" sz="1600" dirty="0">
                <a:solidFill>
                  <a:schemeClr val="tx1"/>
                </a:solidFill>
              </a:rPr>
              <a:t> EfficientNet, many detectors. </a:t>
            </a:r>
            <a:r>
              <a:rPr lang="en-US" sz="1600" b="1" dirty="0">
                <a:solidFill>
                  <a:schemeClr val="tx1"/>
                </a:solidFill>
              </a:rPr>
              <a:t>Leaky ReLU:</a:t>
            </a:r>
            <a:r>
              <a:rPr lang="en-US" sz="1600" dirty="0">
                <a:solidFill>
                  <a:schemeClr val="tx1"/>
                </a:solidFill>
              </a:rPr>
              <a:t> GAN discriminators.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ACTIVATION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Activation functions at a glance</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737360"/>
                <a:gridCol w="1920240"/>
                <a:gridCol w="1371600"/>
                <a:gridCol w="1554480"/>
                <a:gridCol w="1673352"/>
                <a:gridCol w="2834640"/>
              </a:tblGrid>
              <a:tr h="475488">
                <a:tc>
                  <a:txBody>
                    <a:bodyPr/>
                    <a:lstStyle/>
                    <a:p>
                      <a:pPr indent="0" marL="0">
                        <a:buNone/>
                      </a:pPr>
                      <a:r>
                        <a:rPr lang="en-US" sz="1600" b="1" dirty="0">
                          <a:solidFill>
                            <a:schemeClr val="bg1"/>
                          </a:solidFill>
                        </a:rPr>
                        <a:t>Function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Range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Max slope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Zero-centred</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Saturates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Typical use (2026)</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75488">
                <a:tc>
                  <a:txBody>
                    <a:bodyPr/>
                    <a:lstStyle/>
                    <a:p>
                      <a:pPr indent="0" marL="0">
                        <a:buNone/>
                      </a:pPr>
                      <a:r>
                        <a:rPr lang="en-US" sz="1600" dirty="0">
                          <a:solidFill>
                            <a:schemeClr val="tx1"/>
                          </a:solidFill>
                        </a:rPr>
                        <a:t>Sigmoid</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(0, 1)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0.25</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Both tails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Binary output; LSTM gates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75488">
                <a:tc>
                  <a:txBody>
                    <a:bodyPr/>
                    <a:lstStyle/>
                    <a:p>
                      <a:pPr indent="0" marL="0">
                        <a:buNone/>
                      </a:pPr>
                      <a:r>
                        <a:rPr lang="en-US" sz="1600" dirty="0">
                          <a:solidFill>
                            <a:schemeClr val="tx1"/>
                          </a:solidFill>
                        </a:rPr>
                        <a:t>Tanh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(−1, 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Yes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Both tails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RNN hidden states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75488">
                <a:tc>
                  <a:txBody>
                    <a:bodyPr/>
                    <a:lstStyle/>
                    <a:p>
                      <a:pPr indent="0" marL="0">
                        <a:buNone/>
                      </a:pPr>
                      <a:r>
                        <a:rPr lang="en-US" sz="1600" b="1" dirty="0">
                          <a:solidFill>
                            <a:schemeClr val="accent1"/>
                          </a:solidFill>
                        </a:rPr>
                        <a:t>ReLU</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rPr>
                        <a:t>[0, ∞)</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rPr>
                        <a:t>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rPr>
                        <a:t>Negative side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rPr>
                        <a:t>Default for CNNs and MLPs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475488">
                <a:tc>
                  <a:txBody>
                    <a:bodyPr/>
                    <a:lstStyle/>
                    <a:p>
                      <a:pPr indent="0" marL="0">
                        <a:buNone/>
                      </a:pPr>
                      <a:r>
                        <a:rPr lang="en-US" sz="1600" dirty="0">
                          <a:solidFill>
                            <a:schemeClr val="tx1"/>
                          </a:solidFill>
                        </a:rPr>
                        <a:t>Leaky ReLU</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 ∞)</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Nearly</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GANs; when ReLUs die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75488">
                <a:tc>
                  <a:txBody>
                    <a:bodyPr/>
                    <a:lstStyle/>
                    <a:p>
                      <a:pPr indent="0" marL="0">
                        <a:buNone/>
                      </a:pPr>
                      <a:r>
                        <a:rPr lang="en-US" sz="1600" dirty="0">
                          <a:solidFill>
                            <a:schemeClr val="tx1"/>
                          </a:solidFill>
                        </a:rPr>
                        <a:t>ELU</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(−α, ∞)</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Nearly</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Negative tail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Occasional alternative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75488">
                <a:tc>
                  <a:txBody>
                    <a:bodyPr/>
                    <a:lstStyle/>
                    <a:p>
                      <a:pPr indent="0" marL="0">
                        <a:buNone/>
                      </a:pPr>
                      <a:r>
                        <a:rPr lang="en-US" sz="1600" dirty="0">
                          <a:solidFill>
                            <a:schemeClr val="tx1"/>
                          </a:solidFill>
                        </a:rPr>
                        <a:t>GELU</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 (−0.17, ∞)</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 1.13</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Nearly</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Transformers, ViTs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75488">
                <a:tc>
                  <a:txBody>
                    <a:bodyPr/>
                    <a:lstStyle/>
                    <a:p>
                      <a:pPr indent="0" marL="0">
                        <a:buNone/>
                      </a:pPr>
                      <a:r>
                        <a:rPr lang="en-US" sz="1600" dirty="0">
                          <a:solidFill>
                            <a:schemeClr val="tx1"/>
                          </a:solidFill>
                        </a:rPr>
                        <a:t>SiLU / Swish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 (−0.28, ∞)</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 1.1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Nearly</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EfficientNet; SwiGLU in LLMs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75488">
                <a:tc>
                  <a:txBody>
                    <a:bodyPr/>
                    <a:lstStyle/>
                    <a:p>
                      <a:pPr indent="0" marL="0">
                        <a:buNone/>
                      </a:pPr>
                      <a:r>
                        <a:rPr lang="en-US" sz="1600" dirty="0">
                          <a:solidFill>
                            <a:schemeClr val="tx1"/>
                          </a:solidFill>
                        </a:rPr>
                        <a:t>Softmax</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(0, 1), sums to 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Multi-class output layer</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ACTIVATION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Choose the activation by the layer’s role</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651760"/>
                <a:gridCol w="2651760"/>
                <a:gridCol w="5788152"/>
              </a:tblGrid>
              <a:tr h="512064">
                <a:tc>
                  <a:txBody>
                    <a:bodyPr/>
                    <a:lstStyle/>
                    <a:p>
                      <a:pPr indent="0" marL="0">
                        <a:buNone/>
                      </a:pPr>
                      <a:r>
                        <a:rPr lang="en-US" sz="1700" b="1" dirty="0">
                          <a:solidFill>
                            <a:schemeClr val="bg1"/>
                          </a:solidFill>
                        </a:rPr>
                        <a:t>Layer role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Activation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Why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12064">
                <a:tc>
                  <a:txBody>
                    <a:bodyPr/>
                    <a:lstStyle/>
                    <a:p>
                      <a:pPr indent="0" marL="0">
                        <a:buNone/>
                      </a:pPr>
                      <a:r>
                        <a:rPr lang="en-US" sz="1700" dirty="0">
                          <a:solidFill>
                            <a:schemeClr val="tx1"/>
                          </a:solidFill>
                        </a:rPr>
                        <a:t>Hidden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ReLU</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Switch to Leaky ReLU or GELU if many units are dead</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dirty="0">
                          <a:solidFill>
                            <a:schemeClr val="tx1"/>
                          </a:solidFill>
                        </a:rPr>
                        <a:t>Transformer blocks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GELU (or SwiGLU)</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What the architecture was tuned with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12064">
                <a:tc>
                  <a:txBody>
                    <a:bodyPr/>
                    <a:lstStyle/>
                    <a:p>
                      <a:pPr indent="0" marL="0">
                        <a:buNone/>
                      </a:pPr>
                      <a:r>
                        <a:rPr lang="en-US" sz="1700" b="1" dirty="0">
                          <a:solidFill>
                            <a:schemeClr val="accent1"/>
                          </a:solidFill>
                        </a:rPr>
                        <a:t>Binary output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None: raw logit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BCEWithLogitsLoss applies the sigmoid internally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512064">
                <a:tc>
                  <a:txBody>
                    <a:bodyPr/>
                    <a:lstStyle/>
                    <a:p>
                      <a:pPr indent="0" marL="0">
                        <a:buNone/>
                      </a:pPr>
                      <a:r>
                        <a:rPr lang="en-US" sz="1700" b="1" dirty="0">
                          <a:solidFill>
                            <a:schemeClr val="accent1"/>
                          </a:solidFill>
                        </a:rPr>
                        <a:t>Multi-class output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None: raw logits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CrossEntropyLoss applies softmax internally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512064">
                <a:tc>
                  <a:txBody>
                    <a:bodyPr/>
                    <a:lstStyle/>
                    <a:p>
                      <a:pPr indent="0" marL="0">
                        <a:buNone/>
                      </a:pPr>
                      <a:r>
                        <a:rPr lang="en-US" sz="1700" dirty="0">
                          <a:solidFill>
                            <a:schemeClr val="tx1"/>
                          </a:solidFill>
                        </a:rPr>
                        <a:t>Regression output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None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A bounded activation caps what the model can predict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dirty="0">
                          <a:solidFill>
                            <a:schemeClr val="tx1"/>
                          </a:solidFill>
                        </a:rPr>
                        <a:t>Positive output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Softplus or ReLU</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Or predict log y and exponentiate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Shape 2"/>
          <p:cNvSpPr/>
          <p:nvPr/>
        </p:nvSpPr>
        <p:spPr>
          <a:xfrm>
            <a:off x="548640" y="5440680"/>
            <a:ext cx="11091672" cy="685800"/>
          </a:xfrm>
          <a:prstGeom prst="roundRect">
            <a:avLst>
              <a:gd name="adj" fmla="val 10667"/>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77240" y="5440680"/>
            <a:ext cx="10634472" cy="685800"/>
          </a:xfrm>
          <a:prstGeom prst="rect">
            <a:avLst/>
          </a:prstGeom>
          <a:noFill/>
          <a:ln/>
        </p:spPr>
        <p:txBody>
          <a:bodyPr wrap="square" lIns="0" tIns="0" rIns="0" bIns="0" rtlCol="0" anchor="ctr"/>
          <a:lstStyle/>
          <a:p>
            <a:pPr algn="l" indent="0" marL="0">
              <a:lnSpc>
                <a:spcPct val="105000"/>
              </a:lnSpc>
              <a:buNone/>
            </a:pPr>
            <a:r>
              <a:rPr lang="en-US" sz="1900" b="1" dirty="0">
                <a:solidFill>
                  <a:schemeClr val="accent1"/>
                </a:solidFill>
              </a:rPr>
              <a:t>Classifiers end in raw logits. The loss function applies sigmoid or softmax, stably (lecture 2).</a:t>
            </a:r>
            <a:endParaRPr lang="en-US" sz="19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ACTIVATION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In PyTorch: module style and functional style</a:t>
            </a:r>
            <a:endParaRPr lang="en-US" sz="3000" dirty="0"/>
          </a:p>
        </p:txBody>
      </p:sp>
      <p:sp>
        <p:nvSpPr>
          <p:cNvPr id="5" name="Shape 2"/>
          <p:cNvSpPr/>
          <p:nvPr/>
        </p:nvSpPr>
        <p:spPr>
          <a:xfrm>
            <a:off x="548640" y="1645920"/>
            <a:ext cx="6949440" cy="2916936"/>
          </a:xfrm>
          <a:prstGeom prst="roundRect">
            <a:avLst>
              <a:gd name="adj" fmla="val 2508"/>
            </a:avLst>
          </a:prstGeom>
          <a:solidFill>
            <a:schemeClr val="bg2"/>
          </a:solidFill>
          <a:ln w="12700">
            <a:solidFill>
              <a:schemeClr val="bg2"/>
            </a:solidFill>
            <a:prstDash val="solid"/>
          </a:ln>
        </p:spPr>
      </p:sp>
      <p:sp>
        <p:nvSpPr>
          <p:cNvPr id="6" name="Text 3"/>
          <p:cNvSpPr txBox="1"/>
          <p:nvPr/>
        </p:nvSpPr>
        <p:spPr>
          <a:xfrm>
            <a:off x="749808" y="1819656"/>
            <a:ext cx="6547104" cy="25694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import torch</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import torch.nn as nn</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import torch.nn.functional as F</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z = torch.tensor([-2.0, -0.5, 0.0, 0.5, 2.0])</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relu = nn.ReLU()         </a:t>
            </a:r>
            <a:r>
              <a:rPr lang="en-US" sz="1500" dirty="0">
                <a:solidFill>
                  <a:schemeClr val="accent1"/>
                </a:solidFill>
                <a:latin typeface="Consolas" pitchFamily="34" charset="0"/>
                <a:ea typeface="Consolas" pitchFamily="34" charset="-122"/>
                <a:cs typeface="Consolas" pitchFamily="34" charset="-120"/>
              </a:rPr>
              <a:t># module style</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print(relu(z))           </a:t>
            </a:r>
            <a:r>
              <a:rPr lang="en-US" sz="1500" dirty="0">
                <a:solidFill>
                  <a:schemeClr val="accent1"/>
                </a:solidFill>
                <a:latin typeface="Consolas" pitchFamily="34" charset="0"/>
                <a:ea typeface="Consolas" pitchFamily="34" charset="-122"/>
                <a:cs typeface="Consolas" pitchFamily="34" charset="-120"/>
              </a:rPr>
              <a:t># [0, 0, 0, 0.5, 2]</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print(F.relu(z))         </a:t>
            </a:r>
            <a:r>
              <a:rPr lang="en-US" sz="1500" dirty="0">
                <a:solidFill>
                  <a:schemeClr val="accent1"/>
                </a:solidFill>
                <a:latin typeface="Consolas" pitchFamily="34" charset="0"/>
                <a:ea typeface="Consolas" pitchFamily="34" charset="-122"/>
                <a:cs typeface="Consolas" pitchFamily="34" charset="-120"/>
              </a:rPr>
              <a:t># functional: same</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print(torch.sigmoid(z))  </a:t>
            </a:r>
            <a:r>
              <a:rPr lang="en-US" sz="1500" dirty="0">
                <a:solidFill>
                  <a:schemeClr val="accent1"/>
                </a:solidFill>
                <a:latin typeface="Consolas" pitchFamily="34" charset="0"/>
                <a:ea typeface="Consolas" pitchFamily="34" charset="-122"/>
                <a:cs typeface="Consolas" pitchFamily="34" charset="-120"/>
              </a:rPr>
              <a:t># [.12 .38 .50 .62 .88]</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print(F.gelu(z))         </a:t>
            </a:r>
            <a:r>
              <a:rPr lang="en-US" sz="1500" dirty="0">
                <a:solidFill>
                  <a:schemeClr val="accent1"/>
                </a:solidFill>
                <a:latin typeface="Consolas" pitchFamily="34" charset="0"/>
                <a:ea typeface="Consolas" pitchFamily="34" charset="-122"/>
                <a:cs typeface="Consolas" pitchFamily="34" charset="-120"/>
              </a:rPr>
              <a:t># [-.05 -.15 0 .35 1.95]</a:t>
            </a:r>
            <a:endParaRPr lang="en-US" sz="1500" dirty="0"/>
          </a:p>
        </p:txBody>
      </p:sp>
      <p:sp>
        <p:nvSpPr>
          <p:cNvPr id="7" name="Shape 4"/>
          <p:cNvSpPr/>
          <p:nvPr/>
        </p:nvSpPr>
        <p:spPr>
          <a:xfrm>
            <a:off x="7955280" y="1645920"/>
            <a:ext cx="3685032" cy="1828800"/>
          </a:xfrm>
          <a:prstGeom prst="roundRect">
            <a:avLst>
              <a:gd name="adj" fmla="val 4000"/>
            </a:avLst>
          </a:prstGeom>
          <a:solidFill>
            <a:schemeClr val="accent1">
              <a:alpha val="10000"/>
            </a:schemeClr>
          </a:solidFill>
          <a:ln w="12700">
            <a:solidFill>
              <a:schemeClr val="accent1">
                <a:alpha val="10000"/>
              </a:schemeClr>
            </a:solidFill>
            <a:prstDash val="solid"/>
          </a:ln>
        </p:spPr>
      </p:sp>
      <p:sp>
        <p:nvSpPr>
          <p:cNvPr id="8" name="Text 5"/>
          <p:cNvSpPr txBox="1"/>
          <p:nvPr/>
        </p:nvSpPr>
        <p:spPr>
          <a:xfrm>
            <a:off x="8156448" y="1847088"/>
            <a:ext cx="32826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Module: nn.ReLU()</a:t>
            </a:r>
            <a:endParaRPr lang="en-US" sz="1900" dirty="0"/>
          </a:p>
        </p:txBody>
      </p:sp>
      <p:sp>
        <p:nvSpPr>
          <p:cNvPr id="9" name="Text 6"/>
          <p:cNvSpPr txBox="1"/>
          <p:nvPr/>
        </p:nvSpPr>
        <p:spPr>
          <a:xfrm>
            <a:off x="8156448" y="2204974"/>
            <a:ext cx="3282696" cy="10685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An object. Use it when you build with nn.Sequential.</a:t>
            </a:r>
            <a:endParaRPr lang="en-US" sz="1600" dirty="0"/>
          </a:p>
        </p:txBody>
      </p:sp>
      <p:sp>
        <p:nvSpPr>
          <p:cNvPr id="10" name="Shape 7"/>
          <p:cNvSpPr/>
          <p:nvPr/>
        </p:nvSpPr>
        <p:spPr>
          <a:xfrm>
            <a:off x="7955280" y="3703320"/>
            <a:ext cx="3685032" cy="1828800"/>
          </a:xfrm>
          <a:prstGeom prst="roundRect">
            <a:avLst>
              <a:gd name="adj" fmla="val 4000"/>
            </a:avLst>
          </a:prstGeom>
          <a:solidFill>
            <a:schemeClr val="bg2"/>
          </a:solidFill>
          <a:ln w="12700">
            <a:solidFill>
              <a:schemeClr val="bg2"/>
            </a:solidFill>
            <a:prstDash val="solid"/>
          </a:ln>
        </p:spPr>
      </p:sp>
      <p:sp>
        <p:nvSpPr>
          <p:cNvPr id="11" name="Text 8"/>
          <p:cNvSpPr txBox="1"/>
          <p:nvPr/>
        </p:nvSpPr>
        <p:spPr>
          <a:xfrm>
            <a:off x="8156448" y="3904488"/>
            <a:ext cx="32826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Functional: F.relu(z)</a:t>
            </a:r>
            <a:endParaRPr lang="en-US" sz="1900" dirty="0"/>
          </a:p>
        </p:txBody>
      </p:sp>
      <p:sp>
        <p:nvSpPr>
          <p:cNvPr id="12" name="Text 9"/>
          <p:cNvSpPr txBox="1"/>
          <p:nvPr/>
        </p:nvSpPr>
        <p:spPr>
          <a:xfrm>
            <a:off x="8156448" y="4262374"/>
            <a:ext cx="3282696" cy="10685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 plain function. Common inside a hand-written forward().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activation functions</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Prove that tanh(z) = 2σ(2z) − 1.</a:t>
            </a:r>
            <a:endParaRPr lang="en-US" sz="2000" dirty="0"/>
          </a:p>
        </p:txBody>
      </p:sp>
      <p:sp>
        <p:nvSpPr>
          <p:cNvPr id="8" name="Shape 5"/>
          <p:cNvSpPr/>
          <p:nvPr/>
        </p:nvSpPr>
        <p:spPr>
          <a:xfrm>
            <a:off x="576072" y="253288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5328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5694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20-layer network uses sigmoid everywhere. Bound the gradient reaching layer 1, relative to the output.</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In a trained ReLU network, 60% of one layer’s units output zero on every validation example. Give two causes and a fix for each.</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§3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activation functions</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Prove that tanh(z) = 2σ(2z) − 1.</a:t>
            </a:r>
            <a:endParaRPr lang="en-US" sz="1600" dirty="0"/>
          </a:p>
        </p:txBody>
      </p:sp>
      <p:sp>
        <p:nvSpPr>
          <p:cNvPr id="8" name="Text 5"/>
          <p:cNvSpPr txBox="1"/>
          <p:nvPr/>
        </p:nvSpPr>
        <p:spPr>
          <a:xfrm>
            <a:off x="1234440" y="1849120"/>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2σ(2z) − 1 = 2/(1 + e⁻²ᶻ) − 1 = (1 − e⁻²ᶻ)/(1 + e⁻²ᶻ). Multiply top and bottom by eᶻ: (eᶻ − e⁻ᶻ)/(eᶻ + e⁻ᶻ) = tanh(z).</a:t>
            </a:r>
            <a:endParaRPr lang="en-US" sz="1600" dirty="0"/>
          </a:p>
        </p:txBody>
      </p:sp>
      <p:sp>
        <p:nvSpPr>
          <p:cNvPr id="9" name="Shape 6"/>
          <p:cNvSpPr/>
          <p:nvPr/>
        </p:nvSpPr>
        <p:spPr>
          <a:xfrm>
            <a:off x="576072" y="2703576"/>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70357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703576"/>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20-layer network uses sigmoid everywhere. Bound the gradient reaching layer 1, relative to the output.</a:t>
            </a:r>
            <a:endParaRPr lang="en-US" sz="1600" dirty="0"/>
          </a:p>
        </p:txBody>
      </p:sp>
      <p:sp>
        <p:nvSpPr>
          <p:cNvPr id="12" name="Text 9"/>
          <p:cNvSpPr txBox="1"/>
          <p:nvPr/>
        </p:nvSpPr>
        <p:spPr>
          <a:xfrm>
            <a:off x="1234440" y="3237992"/>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Each layer contributes a factor of at most 0.25, so the bound is 0.25²⁰ ≈ 10⁻¹². Essentially nothing reaches layer 1.</a:t>
            </a:r>
            <a:endParaRPr lang="en-US" sz="1600" dirty="0"/>
          </a:p>
        </p:txBody>
      </p:sp>
      <p:sp>
        <p:nvSpPr>
          <p:cNvPr id="13" name="Shape 10"/>
          <p:cNvSpPr/>
          <p:nvPr/>
        </p:nvSpPr>
        <p:spPr>
          <a:xfrm>
            <a:off x="576072" y="4092448"/>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4092448"/>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4092448"/>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In a trained ReLU network, 60% of one layer’s units output zero on every validation example. Give two causes and a fix for each.</a:t>
            </a:r>
            <a:endParaRPr lang="en-US" sz="1600" dirty="0"/>
          </a:p>
        </p:txBody>
      </p:sp>
      <p:sp>
        <p:nvSpPr>
          <p:cNvPr id="16" name="Text 13"/>
          <p:cNvSpPr txBox="1"/>
          <p:nvPr/>
        </p:nvSpPr>
        <p:spPr>
          <a:xfrm>
            <a:off x="1234440" y="4626864"/>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Dying ReLU from too high a learning rate: lower it or add warmup. Poor initialization pushing pre-activations negative: use He initialization or Leaky ReLU. Also check for unstandardized inputs.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4</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The MLP forward pass</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One two-step rule, repeated per layer. Get the shapes right and the rest follows.</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§4</a:t>
            </a:r>
            <a:endParaRPr lang="en-US" sz="15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The forward pass repeats one two-step rule per layer</a:t>
            </a:r>
            <a:endParaRPr lang="en-US" sz="3000" dirty="0"/>
          </a:p>
        </p:txBody>
      </p:sp>
      <p:sp>
        <p:nvSpPr>
          <p:cNvPr id="5" name="Shape 2"/>
          <p:cNvSpPr/>
          <p:nvPr/>
        </p:nvSpPr>
        <p:spPr>
          <a:xfrm flipV="1">
            <a:off x="1188720" y="2468880"/>
            <a:ext cx="1341120" cy="365760"/>
          </a:xfrm>
          <a:prstGeom prst="line">
            <a:avLst/>
          </a:prstGeom>
          <a:noFill/>
          <a:ln w="9525">
            <a:solidFill>
              <a:srgbClr val="C3CCD4"/>
            </a:solidFill>
            <a:prstDash val="solid"/>
          </a:ln>
        </p:spPr>
      </p:sp>
      <p:sp>
        <p:nvSpPr>
          <p:cNvPr id="6" name="Shape 3"/>
          <p:cNvSpPr/>
          <p:nvPr/>
        </p:nvSpPr>
        <p:spPr>
          <a:xfrm>
            <a:off x="1188720" y="2834640"/>
            <a:ext cx="1341120" cy="365760"/>
          </a:xfrm>
          <a:prstGeom prst="line">
            <a:avLst/>
          </a:prstGeom>
          <a:noFill/>
          <a:ln w="9525">
            <a:solidFill>
              <a:srgbClr val="C3CCD4"/>
            </a:solidFill>
            <a:prstDash val="solid"/>
          </a:ln>
        </p:spPr>
      </p:sp>
      <p:sp>
        <p:nvSpPr>
          <p:cNvPr id="7" name="Shape 4"/>
          <p:cNvSpPr/>
          <p:nvPr/>
        </p:nvSpPr>
        <p:spPr>
          <a:xfrm>
            <a:off x="1188720" y="2834640"/>
            <a:ext cx="1341120" cy="1097280"/>
          </a:xfrm>
          <a:prstGeom prst="line">
            <a:avLst/>
          </a:prstGeom>
          <a:noFill/>
          <a:ln w="9525">
            <a:solidFill>
              <a:srgbClr val="C3CCD4"/>
            </a:solidFill>
            <a:prstDash val="solid"/>
          </a:ln>
        </p:spPr>
      </p:sp>
      <p:sp>
        <p:nvSpPr>
          <p:cNvPr id="8" name="Shape 5"/>
          <p:cNvSpPr/>
          <p:nvPr/>
        </p:nvSpPr>
        <p:spPr>
          <a:xfrm>
            <a:off x="1188720" y="2834640"/>
            <a:ext cx="1341120" cy="1828800"/>
          </a:xfrm>
          <a:prstGeom prst="line">
            <a:avLst/>
          </a:prstGeom>
          <a:noFill/>
          <a:ln w="9525">
            <a:solidFill>
              <a:srgbClr val="C3CCD4"/>
            </a:solidFill>
            <a:prstDash val="solid"/>
          </a:ln>
        </p:spPr>
      </p:sp>
      <p:sp>
        <p:nvSpPr>
          <p:cNvPr id="9" name="Shape 6"/>
          <p:cNvSpPr/>
          <p:nvPr/>
        </p:nvSpPr>
        <p:spPr>
          <a:xfrm flipV="1">
            <a:off x="1188720" y="2468880"/>
            <a:ext cx="1341120" cy="1097280"/>
          </a:xfrm>
          <a:prstGeom prst="line">
            <a:avLst/>
          </a:prstGeom>
          <a:noFill/>
          <a:ln w="9525">
            <a:solidFill>
              <a:srgbClr val="C3CCD4"/>
            </a:solidFill>
            <a:prstDash val="solid"/>
          </a:ln>
        </p:spPr>
      </p:sp>
      <p:sp>
        <p:nvSpPr>
          <p:cNvPr id="10" name="Shape 7"/>
          <p:cNvSpPr/>
          <p:nvPr/>
        </p:nvSpPr>
        <p:spPr>
          <a:xfrm flipV="1">
            <a:off x="1188720" y="3200400"/>
            <a:ext cx="1341120" cy="365760"/>
          </a:xfrm>
          <a:prstGeom prst="line">
            <a:avLst/>
          </a:prstGeom>
          <a:noFill/>
          <a:ln w="9525">
            <a:solidFill>
              <a:srgbClr val="C3CCD4"/>
            </a:solidFill>
            <a:prstDash val="solid"/>
          </a:ln>
        </p:spPr>
      </p:sp>
      <p:sp>
        <p:nvSpPr>
          <p:cNvPr id="11" name="Shape 8"/>
          <p:cNvSpPr/>
          <p:nvPr/>
        </p:nvSpPr>
        <p:spPr>
          <a:xfrm>
            <a:off x="1188720" y="3566160"/>
            <a:ext cx="1341120" cy="365760"/>
          </a:xfrm>
          <a:prstGeom prst="line">
            <a:avLst/>
          </a:prstGeom>
          <a:noFill/>
          <a:ln w="9525">
            <a:solidFill>
              <a:srgbClr val="C3CCD4"/>
            </a:solidFill>
            <a:prstDash val="solid"/>
          </a:ln>
        </p:spPr>
      </p:sp>
      <p:sp>
        <p:nvSpPr>
          <p:cNvPr id="12" name="Shape 9"/>
          <p:cNvSpPr/>
          <p:nvPr/>
        </p:nvSpPr>
        <p:spPr>
          <a:xfrm>
            <a:off x="1188720" y="3566160"/>
            <a:ext cx="1341120" cy="1097280"/>
          </a:xfrm>
          <a:prstGeom prst="line">
            <a:avLst/>
          </a:prstGeom>
          <a:noFill/>
          <a:ln w="9525">
            <a:solidFill>
              <a:srgbClr val="C3CCD4"/>
            </a:solidFill>
            <a:prstDash val="solid"/>
          </a:ln>
        </p:spPr>
      </p:sp>
      <p:sp>
        <p:nvSpPr>
          <p:cNvPr id="13" name="Shape 10"/>
          <p:cNvSpPr/>
          <p:nvPr/>
        </p:nvSpPr>
        <p:spPr>
          <a:xfrm flipV="1">
            <a:off x="1188720" y="2468880"/>
            <a:ext cx="1341120" cy="1828800"/>
          </a:xfrm>
          <a:prstGeom prst="line">
            <a:avLst/>
          </a:prstGeom>
          <a:noFill/>
          <a:ln w="9525">
            <a:solidFill>
              <a:srgbClr val="C3CCD4"/>
            </a:solidFill>
            <a:prstDash val="solid"/>
          </a:ln>
        </p:spPr>
      </p:sp>
      <p:sp>
        <p:nvSpPr>
          <p:cNvPr id="14" name="Shape 11"/>
          <p:cNvSpPr/>
          <p:nvPr/>
        </p:nvSpPr>
        <p:spPr>
          <a:xfrm flipV="1">
            <a:off x="1188720" y="3200400"/>
            <a:ext cx="1341120" cy="1097280"/>
          </a:xfrm>
          <a:prstGeom prst="line">
            <a:avLst/>
          </a:prstGeom>
          <a:noFill/>
          <a:ln w="9525">
            <a:solidFill>
              <a:srgbClr val="C3CCD4"/>
            </a:solidFill>
            <a:prstDash val="solid"/>
          </a:ln>
        </p:spPr>
      </p:sp>
      <p:sp>
        <p:nvSpPr>
          <p:cNvPr id="15" name="Shape 12"/>
          <p:cNvSpPr/>
          <p:nvPr/>
        </p:nvSpPr>
        <p:spPr>
          <a:xfrm flipV="1">
            <a:off x="1188720" y="3931920"/>
            <a:ext cx="1341120" cy="365760"/>
          </a:xfrm>
          <a:prstGeom prst="line">
            <a:avLst/>
          </a:prstGeom>
          <a:noFill/>
          <a:ln w="9525">
            <a:solidFill>
              <a:srgbClr val="C3CCD4"/>
            </a:solidFill>
            <a:prstDash val="solid"/>
          </a:ln>
        </p:spPr>
      </p:sp>
      <p:sp>
        <p:nvSpPr>
          <p:cNvPr id="16" name="Shape 13"/>
          <p:cNvSpPr/>
          <p:nvPr/>
        </p:nvSpPr>
        <p:spPr>
          <a:xfrm>
            <a:off x="1188720" y="4297680"/>
            <a:ext cx="1341120" cy="365760"/>
          </a:xfrm>
          <a:prstGeom prst="line">
            <a:avLst/>
          </a:prstGeom>
          <a:noFill/>
          <a:ln w="9525">
            <a:solidFill>
              <a:srgbClr val="C3CCD4"/>
            </a:solidFill>
            <a:prstDash val="solid"/>
          </a:ln>
        </p:spPr>
      </p:sp>
      <p:sp>
        <p:nvSpPr>
          <p:cNvPr id="17" name="Shape 14"/>
          <p:cNvSpPr/>
          <p:nvPr/>
        </p:nvSpPr>
        <p:spPr>
          <a:xfrm>
            <a:off x="2895600" y="2468880"/>
            <a:ext cx="1341120" cy="0"/>
          </a:xfrm>
          <a:prstGeom prst="line">
            <a:avLst/>
          </a:prstGeom>
          <a:noFill/>
          <a:ln w="9525">
            <a:solidFill>
              <a:srgbClr val="C3CCD4"/>
            </a:solidFill>
            <a:prstDash val="solid"/>
          </a:ln>
        </p:spPr>
      </p:sp>
      <p:sp>
        <p:nvSpPr>
          <p:cNvPr id="18" name="Shape 15"/>
          <p:cNvSpPr/>
          <p:nvPr/>
        </p:nvSpPr>
        <p:spPr>
          <a:xfrm>
            <a:off x="2895600" y="2468880"/>
            <a:ext cx="1341120" cy="731520"/>
          </a:xfrm>
          <a:prstGeom prst="line">
            <a:avLst/>
          </a:prstGeom>
          <a:noFill/>
          <a:ln w="9525">
            <a:solidFill>
              <a:srgbClr val="C3CCD4"/>
            </a:solidFill>
            <a:prstDash val="solid"/>
          </a:ln>
        </p:spPr>
      </p:sp>
      <p:sp>
        <p:nvSpPr>
          <p:cNvPr id="19" name="Shape 16"/>
          <p:cNvSpPr/>
          <p:nvPr/>
        </p:nvSpPr>
        <p:spPr>
          <a:xfrm>
            <a:off x="2895600" y="2468880"/>
            <a:ext cx="1341120" cy="1463040"/>
          </a:xfrm>
          <a:prstGeom prst="line">
            <a:avLst/>
          </a:prstGeom>
          <a:noFill/>
          <a:ln w="9525">
            <a:solidFill>
              <a:srgbClr val="C3CCD4"/>
            </a:solidFill>
            <a:prstDash val="solid"/>
          </a:ln>
        </p:spPr>
      </p:sp>
      <p:sp>
        <p:nvSpPr>
          <p:cNvPr id="20" name="Shape 17"/>
          <p:cNvSpPr/>
          <p:nvPr/>
        </p:nvSpPr>
        <p:spPr>
          <a:xfrm>
            <a:off x="2895600" y="2468880"/>
            <a:ext cx="1341120" cy="2194560"/>
          </a:xfrm>
          <a:prstGeom prst="line">
            <a:avLst/>
          </a:prstGeom>
          <a:noFill/>
          <a:ln w="9525">
            <a:solidFill>
              <a:srgbClr val="C3CCD4"/>
            </a:solidFill>
            <a:prstDash val="solid"/>
          </a:ln>
        </p:spPr>
      </p:sp>
      <p:sp>
        <p:nvSpPr>
          <p:cNvPr id="21" name="Shape 18"/>
          <p:cNvSpPr/>
          <p:nvPr/>
        </p:nvSpPr>
        <p:spPr>
          <a:xfrm flipV="1">
            <a:off x="2895600" y="2468880"/>
            <a:ext cx="1341120" cy="731520"/>
          </a:xfrm>
          <a:prstGeom prst="line">
            <a:avLst/>
          </a:prstGeom>
          <a:noFill/>
          <a:ln w="9525">
            <a:solidFill>
              <a:srgbClr val="C3CCD4"/>
            </a:solidFill>
            <a:prstDash val="solid"/>
          </a:ln>
        </p:spPr>
      </p:sp>
      <p:sp>
        <p:nvSpPr>
          <p:cNvPr id="22" name="Shape 19"/>
          <p:cNvSpPr/>
          <p:nvPr/>
        </p:nvSpPr>
        <p:spPr>
          <a:xfrm>
            <a:off x="2895600" y="3200400"/>
            <a:ext cx="1341120" cy="0"/>
          </a:xfrm>
          <a:prstGeom prst="line">
            <a:avLst/>
          </a:prstGeom>
          <a:noFill/>
          <a:ln w="9525">
            <a:solidFill>
              <a:srgbClr val="C3CCD4"/>
            </a:solidFill>
            <a:prstDash val="solid"/>
          </a:ln>
        </p:spPr>
      </p:sp>
      <p:sp>
        <p:nvSpPr>
          <p:cNvPr id="23" name="Shape 20"/>
          <p:cNvSpPr/>
          <p:nvPr/>
        </p:nvSpPr>
        <p:spPr>
          <a:xfrm>
            <a:off x="2895600" y="3200400"/>
            <a:ext cx="1341120" cy="731520"/>
          </a:xfrm>
          <a:prstGeom prst="line">
            <a:avLst/>
          </a:prstGeom>
          <a:noFill/>
          <a:ln w="9525">
            <a:solidFill>
              <a:srgbClr val="C3CCD4"/>
            </a:solidFill>
            <a:prstDash val="solid"/>
          </a:ln>
        </p:spPr>
      </p:sp>
      <p:sp>
        <p:nvSpPr>
          <p:cNvPr id="24" name="Shape 21"/>
          <p:cNvSpPr/>
          <p:nvPr/>
        </p:nvSpPr>
        <p:spPr>
          <a:xfrm>
            <a:off x="2895600" y="3200400"/>
            <a:ext cx="1341120" cy="1463040"/>
          </a:xfrm>
          <a:prstGeom prst="line">
            <a:avLst/>
          </a:prstGeom>
          <a:noFill/>
          <a:ln w="9525">
            <a:solidFill>
              <a:srgbClr val="C3CCD4"/>
            </a:solidFill>
            <a:prstDash val="solid"/>
          </a:ln>
        </p:spPr>
      </p:sp>
      <p:sp>
        <p:nvSpPr>
          <p:cNvPr id="25" name="Shape 22"/>
          <p:cNvSpPr/>
          <p:nvPr/>
        </p:nvSpPr>
        <p:spPr>
          <a:xfrm flipV="1">
            <a:off x="2895600" y="2468880"/>
            <a:ext cx="1341120" cy="1463040"/>
          </a:xfrm>
          <a:prstGeom prst="line">
            <a:avLst/>
          </a:prstGeom>
          <a:noFill/>
          <a:ln w="9525">
            <a:solidFill>
              <a:srgbClr val="C3CCD4"/>
            </a:solidFill>
            <a:prstDash val="solid"/>
          </a:ln>
        </p:spPr>
      </p:sp>
      <p:sp>
        <p:nvSpPr>
          <p:cNvPr id="26" name="Shape 23"/>
          <p:cNvSpPr/>
          <p:nvPr/>
        </p:nvSpPr>
        <p:spPr>
          <a:xfrm flipV="1">
            <a:off x="2895600" y="3200400"/>
            <a:ext cx="1341120" cy="731520"/>
          </a:xfrm>
          <a:prstGeom prst="line">
            <a:avLst/>
          </a:prstGeom>
          <a:noFill/>
          <a:ln w="9525">
            <a:solidFill>
              <a:srgbClr val="C3CCD4"/>
            </a:solidFill>
            <a:prstDash val="solid"/>
          </a:ln>
        </p:spPr>
      </p:sp>
      <p:sp>
        <p:nvSpPr>
          <p:cNvPr id="27" name="Shape 24"/>
          <p:cNvSpPr/>
          <p:nvPr/>
        </p:nvSpPr>
        <p:spPr>
          <a:xfrm>
            <a:off x="2895600" y="3931920"/>
            <a:ext cx="1341120" cy="0"/>
          </a:xfrm>
          <a:prstGeom prst="line">
            <a:avLst/>
          </a:prstGeom>
          <a:noFill/>
          <a:ln w="9525">
            <a:solidFill>
              <a:srgbClr val="C3CCD4"/>
            </a:solidFill>
            <a:prstDash val="solid"/>
          </a:ln>
        </p:spPr>
      </p:sp>
      <p:sp>
        <p:nvSpPr>
          <p:cNvPr id="28" name="Shape 25"/>
          <p:cNvSpPr/>
          <p:nvPr/>
        </p:nvSpPr>
        <p:spPr>
          <a:xfrm>
            <a:off x="2895600" y="3931920"/>
            <a:ext cx="1341120" cy="731520"/>
          </a:xfrm>
          <a:prstGeom prst="line">
            <a:avLst/>
          </a:prstGeom>
          <a:noFill/>
          <a:ln w="9525">
            <a:solidFill>
              <a:srgbClr val="C3CCD4"/>
            </a:solidFill>
            <a:prstDash val="solid"/>
          </a:ln>
        </p:spPr>
      </p:sp>
      <p:sp>
        <p:nvSpPr>
          <p:cNvPr id="29" name="Shape 26"/>
          <p:cNvSpPr/>
          <p:nvPr/>
        </p:nvSpPr>
        <p:spPr>
          <a:xfrm flipV="1">
            <a:off x="2895600" y="2468880"/>
            <a:ext cx="1341120" cy="2194560"/>
          </a:xfrm>
          <a:prstGeom prst="line">
            <a:avLst/>
          </a:prstGeom>
          <a:noFill/>
          <a:ln w="9525">
            <a:solidFill>
              <a:srgbClr val="C3CCD4"/>
            </a:solidFill>
            <a:prstDash val="solid"/>
          </a:ln>
        </p:spPr>
      </p:sp>
      <p:sp>
        <p:nvSpPr>
          <p:cNvPr id="30" name="Shape 27"/>
          <p:cNvSpPr/>
          <p:nvPr/>
        </p:nvSpPr>
        <p:spPr>
          <a:xfrm flipV="1">
            <a:off x="2895600" y="3200400"/>
            <a:ext cx="1341120" cy="1463040"/>
          </a:xfrm>
          <a:prstGeom prst="line">
            <a:avLst/>
          </a:prstGeom>
          <a:noFill/>
          <a:ln w="9525">
            <a:solidFill>
              <a:srgbClr val="C3CCD4"/>
            </a:solidFill>
            <a:prstDash val="solid"/>
          </a:ln>
        </p:spPr>
      </p:sp>
      <p:sp>
        <p:nvSpPr>
          <p:cNvPr id="31" name="Shape 28"/>
          <p:cNvSpPr/>
          <p:nvPr/>
        </p:nvSpPr>
        <p:spPr>
          <a:xfrm flipV="1">
            <a:off x="2895600" y="3931920"/>
            <a:ext cx="1341120" cy="731520"/>
          </a:xfrm>
          <a:prstGeom prst="line">
            <a:avLst/>
          </a:prstGeom>
          <a:noFill/>
          <a:ln w="9525">
            <a:solidFill>
              <a:srgbClr val="C3CCD4"/>
            </a:solidFill>
            <a:prstDash val="solid"/>
          </a:ln>
        </p:spPr>
      </p:sp>
      <p:sp>
        <p:nvSpPr>
          <p:cNvPr id="32" name="Shape 29"/>
          <p:cNvSpPr/>
          <p:nvPr/>
        </p:nvSpPr>
        <p:spPr>
          <a:xfrm>
            <a:off x="2895600" y="4663440"/>
            <a:ext cx="1341120" cy="0"/>
          </a:xfrm>
          <a:prstGeom prst="line">
            <a:avLst/>
          </a:prstGeom>
          <a:noFill/>
          <a:ln w="9525">
            <a:solidFill>
              <a:srgbClr val="C3CCD4"/>
            </a:solidFill>
            <a:prstDash val="solid"/>
          </a:ln>
        </p:spPr>
      </p:sp>
      <p:sp>
        <p:nvSpPr>
          <p:cNvPr id="33" name="Shape 30"/>
          <p:cNvSpPr/>
          <p:nvPr/>
        </p:nvSpPr>
        <p:spPr>
          <a:xfrm>
            <a:off x="4602480" y="2468880"/>
            <a:ext cx="1341120" cy="731520"/>
          </a:xfrm>
          <a:prstGeom prst="line">
            <a:avLst/>
          </a:prstGeom>
          <a:noFill/>
          <a:ln w="9525">
            <a:solidFill>
              <a:srgbClr val="C3CCD4"/>
            </a:solidFill>
            <a:prstDash val="solid"/>
          </a:ln>
        </p:spPr>
      </p:sp>
      <p:sp>
        <p:nvSpPr>
          <p:cNvPr id="34" name="Shape 31"/>
          <p:cNvSpPr/>
          <p:nvPr/>
        </p:nvSpPr>
        <p:spPr>
          <a:xfrm>
            <a:off x="4602480" y="2468880"/>
            <a:ext cx="1341120" cy="1463040"/>
          </a:xfrm>
          <a:prstGeom prst="line">
            <a:avLst/>
          </a:prstGeom>
          <a:noFill/>
          <a:ln w="9525">
            <a:solidFill>
              <a:srgbClr val="C3CCD4"/>
            </a:solidFill>
            <a:prstDash val="solid"/>
          </a:ln>
        </p:spPr>
      </p:sp>
      <p:sp>
        <p:nvSpPr>
          <p:cNvPr id="35" name="Shape 32"/>
          <p:cNvSpPr/>
          <p:nvPr/>
        </p:nvSpPr>
        <p:spPr>
          <a:xfrm>
            <a:off x="4602480" y="3200400"/>
            <a:ext cx="1341120" cy="0"/>
          </a:xfrm>
          <a:prstGeom prst="line">
            <a:avLst/>
          </a:prstGeom>
          <a:noFill/>
          <a:ln w="9525">
            <a:solidFill>
              <a:srgbClr val="C3CCD4"/>
            </a:solidFill>
            <a:prstDash val="solid"/>
          </a:ln>
        </p:spPr>
      </p:sp>
      <p:sp>
        <p:nvSpPr>
          <p:cNvPr id="36" name="Shape 33"/>
          <p:cNvSpPr/>
          <p:nvPr/>
        </p:nvSpPr>
        <p:spPr>
          <a:xfrm>
            <a:off x="4602480" y="3200400"/>
            <a:ext cx="1341120" cy="731520"/>
          </a:xfrm>
          <a:prstGeom prst="line">
            <a:avLst/>
          </a:prstGeom>
          <a:noFill/>
          <a:ln w="9525">
            <a:solidFill>
              <a:srgbClr val="C3CCD4"/>
            </a:solidFill>
            <a:prstDash val="solid"/>
          </a:ln>
        </p:spPr>
      </p:sp>
      <p:sp>
        <p:nvSpPr>
          <p:cNvPr id="37" name="Shape 34"/>
          <p:cNvSpPr/>
          <p:nvPr/>
        </p:nvSpPr>
        <p:spPr>
          <a:xfrm flipV="1">
            <a:off x="4602480" y="3200400"/>
            <a:ext cx="1341120" cy="731520"/>
          </a:xfrm>
          <a:prstGeom prst="line">
            <a:avLst/>
          </a:prstGeom>
          <a:noFill/>
          <a:ln w="9525">
            <a:solidFill>
              <a:srgbClr val="C3CCD4"/>
            </a:solidFill>
            <a:prstDash val="solid"/>
          </a:ln>
        </p:spPr>
      </p:sp>
      <p:sp>
        <p:nvSpPr>
          <p:cNvPr id="38" name="Shape 35"/>
          <p:cNvSpPr/>
          <p:nvPr/>
        </p:nvSpPr>
        <p:spPr>
          <a:xfrm>
            <a:off x="4602480" y="3931920"/>
            <a:ext cx="1341120" cy="0"/>
          </a:xfrm>
          <a:prstGeom prst="line">
            <a:avLst/>
          </a:prstGeom>
          <a:noFill/>
          <a:ln w="9525">
            <a:solidFill>
              <a:srgbClr val="C3CCD4"/>
            </a:solidFill>
            <a:prstDash val="solid"/>
          </a:ln>
        </p:spPr>
      </p:sp>
      <p:sp>
        <p:nvSpPr>
          <p:cNvPr id="39" name="Shape 36"/>
          <p:cNvSpPr/>
          <p:nvPr/>
        </p:nvSpPr>
        <p:spPr>
          <a:xfrm flipV="1">
            <a:off x="4602480" y="3200400"/>
            <a:ext cx="1341120" cy="1463040"/>
          </a:xfrm>
          <a:prstGeom prst="line">
            <a:avLst/>
          </a:prstGeom>
          <a:noFill/>
          <a:ln w="9525">
            <a:solidFill>
              <a:srgbClr val="C3CCD4"/>
            </a:solidFill>
            <a:prstDash val="solid"/>
          </a:ln>
        </p:spPr>
      </p:sp>
      <p:sp>
        <p:nvSpPr>
          <p:cNvPr id="40" name="Shape 37"/>
          <p:cNvSpPr/>
          <p:nvPr/>
        </p:nvSpPr>
        <p:spPr>
          <a:xfrm flipV="1">
            <a:off x="4602480" y="3931920"/>
            <a:ext cx="1341120" cy="731520"/>
          </a:xfrm>
          <a:prstGeom prst="line">
            <a:avLst/>
          </a:prstGeom>
          <a:noFill/>
          <a:ln w="9525">
            <a:solidFill>
              <a:srgbClr val="C3CCD4"/>
            </a:solidFill>
            <a:prstDash val="solid"/>
          </a:ln>
        </p:spPr>
      </p:sp>
      <p:sp>
        <p:nvSpPr>
          <p:cNvPr id="41" name="Shape 38"/>
          <p:cNvSpPr/>
          <p:nvPr/>
        </p:nvSpPr>
        <p:spPr>
          <a:xfrm>
            <a:off x="822960" y="2651760"/>
            <a:ext cx="365760" cy="365760"/>
          </a:xfrm>
          <a:prstGeom prst="ellipse">
            <a:avLst/>
          </a:prstGeom>
          <a:solidFill>
            <a:schemeClr val="bg2"/>
          </a:solidFill>
          <a:ln w="15875">
            <a:solidFill>
              <a:schemeClr val="tx1"/>
            </a:solidFill>
            <a:prstDash val="solid"/>
          </a:ln>
        </p:spPr>
      </p:sp>
      <p:sp>
        <p:nvSpPr>
          <p:cNvPr id="42" name="Shape 39"/>
          <p:cNvSpPr/>
          <p:nvPr/>
        </p:nvSpPr>
        <p:spPr>
          <a:xfrm>
            <a:off x="822960" y="3383280"/>
            <a:ext cx="365760" cy="365760"/>
          </a:xfrm>
          <a:prstGeom prst="ellipse">
            <a:avLst/>
          </a:prstGeom>
          <a:solidFill>
            <a:schemeClr val="bg2"/>
          </a:solidFill>
          <a:ln w="15875">
            <a:solidFill>
              <a:schemeClr val="tx1"/>
            </a:solidFill>
            <a:prstDash val="solid"/>
          </a:ln>
        </p:spPr>
      </p:sp>
      <p:sp>
        <p:nvSpPr>
          <p:cNvPr id="43" name="Shape 40"/>
          <p:cNvSpPr/>
          <p:nvPr/>
        </p:nvSpPr>
        <p:spPr>
          <a:xfrm>
            <a:off x="822960" y="4114800"/>
            <a:ext cx="365760" cy="365760"/>
          </a:xfrm>
          <a:prstGeom prst="ellipse">
            <a:avLst/>
          </a:prstGeom>
          <a:solidFill>
            <a:schemeClr val="bg2"/>
          </a:solidFill>
          <a:ln w="15875">
            <a:solidFill>
              <a:schemeClr val="tx1"/>
            </a:solidFill>
            <a:prstDash val="solid"/>
          </a:ln>
        </p:spPr>
      </p:sp>
      <p:sp>
        <p:nvSpPr>
          <p:cNvPr id="44" name="Shape 41"/>
          <p:cNvSpPr/>
          <p:nvPr/>
        </p:nvSpPr>
        <p:spPr>
          <a:xfrm>
            <a:off x="2529840" y="2286000"/>
            <a:ext cx="365760" cy="365760"/>
          </a:xfrm>
          <a:prstGeom prst="ellipse">
            <a:avLst/>
          </a:prstGeom>
          <a:solidFill>
            <a:schemeClr val="bg1"/>
          </a:solidFill>
          <a:ln w="15875">
            <a:solidFill>
              <a:schemeClr val="tx1"/>
            </a:solidFill>
            <a:prstDash val="solid"/>
          </a:ln>
        </p:spPr>
      </p:sp>
      <p:sp>
        <p:nvSpPr>
          <p:cNvPr id="45" name="Shape 42"/>
          <p:cNvSpPr/>
          <p:nvPr/>
        </p:nvSpPr>
        <p:spPr>
          <a:xfrm>
            <a:off x="2529840" y="3017520"/>
            <a:ext cx="365760" cy="365760"/>
          </a:xfrm>
          <a:prstGeom prst="ellipse">
            <a:avLst/>
          </a:prstGeom>
          <a:solidFill>
            <a:schemeClr val="bg1"/>
          </a:solidFill>
          <a:ln w="15875">
            <a:solidFill>
              <a:schemeClr val="tx1"/>
            </a:solidFill>
            <a:prstDash val="solid"/>
          </a:ln>
        </p:spPr>
      </p:sp>
      <p:sp>
        <p:nvSpPr>
          <p:cNvPr id="46" name="Shape 43"/>
          <p:cNvSpPr/>
          <p:nvPr/>
        </p:nvSpPr>
        <p:spPr>
          <a:xfrm>
            <a:off x="2529840" y="3749040"/>
            <a:ext cx="365760" cy="365760"/>
          </a:xfrm>
          <a:prstGeom prst="ellipse">
            <a:avLst/>
          </a:prstGeom>
          <a:solidFill>
            <a:schemeClr val="bg1"/>
          </a:solidFill>
          <a:ln w="15875">
            <a:solidFill>
              <a:schemeClr val="tx1"/>
            </a:solidFill>
            <a:prstDash val="solid"/>
          </a:ln>
        </p:spPr>
      </p:sp>
      <p:sp>
        <p:nvSpPr>
          <p:cNvPr id="47" name="Shape 44"/>
          <p:cNvSpPr/>
          <p:nvPr/>
        </p:nvSpPr>
        <p:spPr>
          <a:xfrm>
            <a:off x="2529840" y="4480560"/>
            <a:ext cx="365760" cy="365760"/>
          </a:xfrm>
          <a:prstGeom prst="ellipse">
            <a:avLst/>
          </a:prstGeom>
          <a:solidFill>
            <a:schemeClr val="bg1"/>
          </a:solidFill>
          <a:ln w="15875">
            <a:solidFill>
              <a:schemeClr val="tx1"/>
            </a:solidFill>
            <a:prstDash val="solid"/>
          </a:ln>
        </p:spPr>
      </p:sp>
      <p:sp>
        <p:nvSpPr>
          <p:cNvPr id="48" name="Shape 45"/>
          <p:cNvSpPr/>
          <p:nvPr/>
        </p:nvSpPr>
        <p:spPr>
          <a:xfrm>
            <a:off x="4236720" y="2286000"/>
            <a:ext cx="365760" cy="365760"/>
          </a:xfrm>
          <a:prstGeom prst="ellipse">
            <a:avLst/>
          </a:prstGeom>
          <a:solidFill>
            <a:schemeClr val="bg1"/>
          </a:solidFill>
          <a:ln w="15875">
            <a:solidFill>
              <a:schemeClr val="tx1"/>
            </a:solidFill>
            <a:prstDash val="solid"/>
          </a:ln>
        </p:spPr>
      </p:sp>
      <p:sp>
        <p:nvSpPr>
          <p:cNvPr id="49" name="Shape 46"/>
          <p:cNvSpPr/>
          <p:nvPr/>
        </p:nvSpPr>
        <p:spPr>
          <a:xfrm>
            <a:off x="4236720" y="3017520"/>
            <a:ext cx="365760" cy="365760"/>
          </a:xfrm>
          <a:prstGeom prst="ellipse">
            <a:avLst/>
          </a:prstGeom>
          <a:solidFill>
            <a:schemeClr val="bg1"/>
          </a:solidFill>
          <a:ln w="15875">
            <a:solidFill>
              <a:schemeClr val="tx1"/>
            </a:solidFill>
            <a:prstDash val="solid"/>
          </a:ln>
        </p:spPr>
      </p:sp>
      <p:sp>
        <p:nvSpPr>
          <p:cNvPr id="50" name="Shape 47"/>
          <p:cNvSpPr/>
          <p:nvPr/>
        </p:nvSpPr>
        <p:spPr>
          <a:xfrm>
            <a:off x="4236720" y="3749040"/>
            <a:ext cx="365760" cy="365760"/>
          </a:xfrm>
          <a:prstGeom prst="ellipse">
            <a:avLst/>
          </a:prstGeom>
          <a:solidFill>
            <a:schemeClr val="bg1"/>
          </a:solidFill>
          <a:ln w="15875">
            <a:solidFill>
              <a:schemeClr val="tx1"/>
            </a:solidFill>
            <a:prstDash val="solid"/>
          </a:ln>
        </p:spPr>
      </p:sp>
      <p:sp>
        <p:nvSpPr>
          <p:cNvPr id="51" name="Shape 48"/>
          <p:cNvSpPr/>
          <p:nvPr/>
        </p:nvSpPr>
        <p:spPr>
          <a:xfrm>
            <a:off x="4236720" y="4480560"/>
            <a:ext cx="365760" cy="365760"/>
          </a:xfrm>
          <a:prstGeom prst="ellipse">
            <a:avLst/>
          </a:prstGeom>
          <a:solidFill>
            <a:schemeClr val="bg1"/>
          </a:solidFill>
          <a:ln w="15875">
            <a:solidFill>
              <a:schemeClr val="tx1"/>
            </a:solidFill>
            <a:prstDash val="solid"/>
          </a:ln>
        </p:spPr>
      </p:sp>
      <p:sp>
        <p:nvSpPr>
          <p:cNvPr id="52" name="Shape 49"/>
          <p:cNvSpPr/>
          <p:nvPr/>
        </p:nvSpPr>
        <p:spPr>
          <a:xfrm>
            <a:off x="5943600" y="3017520"/>
            <a:ext cx="365760" cy="365760"/>
          </a:xfrm>
          <a:prstGeom prst="ellipse">
            <a:avLst/>
          </a:prstGeom>
          <a:solidFill>
            <a:schemeClr val="bg1"/>
          </a:solidFill>
          <a:ln w="15875">
            <a:solidFill>
              <a:schemeClr val="accent1"/>
            </a:solidFill>
            <a:prstDash val="solid"/>
          </a:ln>
        </p:spPr>
      </p:sp>
      <p:sp>
        <p:nvSpPr>
          <p:cNvPr id="53" name="Shape 50"/>
          <p:cNvSpPr/>
          <p:nvPr/>
        </p:nvSpPr>
        <p:spPr>
          <a:xfrm>
            <a:off x="5943600" y="3749040"/>
            <a:ext cx="365760" cy="365760"/>
          </a:xfrm>
          <a:prstGeom prst="ellipse">
            <a:avLst/>
          </a:prstGeom>
          <a:solidFill>
            <a:schemeClr val="bg1"/>
          </a:solidFill>
          <a:ln w="15875">
            <a:solidFill>
              <a:schemeClr val="accent1"/>
            </a:solidFill>
            <a:prstDash val="solid"/>
          </a:ln>
        </p:spPr>
      </p:sp>
      <p:sp>
        <p:nvSpPr>
          <p:cNvPr id="54" name="Text 51"/>
          <p:cNvSpPr txBox="1"/>
          <p:nvPr/>
        </p:nvSpPr>
        <p:spPr>
          <a:xfrm>
            <a:off x="457200" y="5349240"/>
            <a:ext cx="1463040" cy="320040"/>
          </a:xfrm>
          <a:prstGeom prst="rect">
            <a:avLst/>
          </a:prstGeom>
          <a:noFill/>
          <a:ln/>
        </p:spPr>
        <p:txBody>
          <a:bodyPr wrap="square" lIns="0" tIns="0" rIns="0" bIns="0" rtlCol="0" anchor="t"/>
          <a:lstStyle/>
          <a:p>
            <a:pPr algn="ctr" indent="0" marL="0">
              <a:lnSpc>
                <a:spcPct val="105000"/>
              </a:lnSpc>
              <a:buNone/>
            </a:pPr>
            <a:r>
              <a:rPr lang="en-US" sz="1600" dirty="0">
                <a:solidFill>
                  <a:schemeClr val="tx1"/>
                </a:solidFill>
                <a:latin typeface="Cambria Math" pitchFamily="34" charset="0"/>
                <a:ea typeface="Cambria Math" pitchFamily="34" charset="-122"/>
                <a:cs typeface="Cambria Math" pitchFamily="34" charset="-120"/>
              </a:rPr>
              <a:t>a[0] = x</a:t>
            </a:r>
            <a:endParaRPr lang="en-US" sz="1600" dirty="0"/>
          </a:p>
        </p:txBody>
      </p:sp>
      <p:sp>
        <p:nvSpPr>
          <p:cNvPr id="55" name="Text 52"/>
          <p:cNvSpPr txBox="1"/>
          <p:nvPr/>
        </p:nvSpPr>
        <p:spPr>
          <a:xfrm>
            <a:off x="2167128" y="5349240"/>
            <a:ext cx="1463040" cy="320040"/>
          </a:xfrm>
          <a:prstGeom prst="rect">
            <a:avLst/>
          </a:prstGeom>
          <a:noFill/>
          <a:ln/>
        </p:spPr>
        <p:txBody>
          <a:bodyPr wrap="square" lIns="0" tIns="0" rIns="0" bIns="0" rtlCol="0" anchor="t"/>
          <a:lstStyle/>
          <a:p>
            <a:pPr algn="ctr" indent="0" marL="0">
              <a:lnSpc>
                <a:spcPct val="105000"/>
              </a:lnSpc>
              <a:buNone/>
            </a:pPr>
            <a:r>
              <a:rPr lang="en-US" sz="1600" dirty="0">
                <a:solidFill>
                  <a:schemeClr val="tx1"/>
                </a:solidFill>
                <a:latin typeface="Cambria Math" pitchFamily="34" charset="0"/>
                <a:ea typeface="Cambria Math" pitchFamily="34" charset="-122"/>
                <a:cs typeface="Cambria Math" pitchFamily="34" charset="-120"/>
              </a:rPr>
              <a:t>a[1]</a:t>
            </a:r>
            <a:endParaRPr lang="en-US" sz="1600" dirty="0"/>
          </a:p>
        </p:txBody>
      </p:sp>
      <p:sp>
        <p:nvSpPr>
          <p:cNvPr id="56" name="Text 53"/>
          <p:cNvSpPr txBox="1"/>
          <p:nvPr/>
        </p:nvSpPr>
        <p:spPr>
          <a:xfrm>
            <a:off x="3877056" y="5349240"/>
            <a:ext cx="1463040" cy="320040"/>
          </a:xfrm>
          <a:prstGeom prst="rect">
            <a:avLst/>
          </a:prstGeom>
          <a:noFill/>
          <a:ln/>
        </p:spPr>
        <p:txBody>
          <a:bodyPr wrap="square" lIns="0" tIns="0" rIns="0" bIns="0" rtlCol="0" anchor="t"/>
          <a:lstStyle/>
          <a:p>
            <a:pPr algn="ctr" indent="0" marL="0">
              <a:lnSpc>
                <a:spcPct val="105000"/>
              </a:lnSpc>
              <a:buNone/>
            </a:pPr>
            <a:r>
              <a:rPr lang="en-US" sz="1600" dirty="0">
                <a:solidFill>
                  <a:schemeClr val="tx1"/>
                </a:solidFill>
                <a:latin typeface="Cambria Math" pitchFamily="34" charset="0"/>
                <a:ea typeface="Cambria Math" pitchFamily="34" charset="-122"/>
                <a:cs typeface="Cambria Math" pitchFamily="34" charset="-120"/>
              </a:rPr>
              <a:t>a[2]</a:t>
            </a:r>
            <a:endParaRPr lang="en-US" sz="1600" dirty="0"/>
          </a:p>
        </p:txBody>
      </p:sp>
      <p:sp>
        <p:nvSpPr>
          <p:cNvPr id="57" name="Text 54"/>
          <p:cNvSpPr txBox="1"/>
          <p:nvPr/>
        </p:nvSpPr>
        <p:spPr>
          <a:xfrm>
            <a:off x="5586984" y="5349240"/>
            <a:ext cx="1463040" cy="320040"/>
          </a:xfrm>
          <a:prstGeom prst="rect">
            <a:avLst/>
          </a:prstGeom>
          <a:noFill/>
          <a:ln/>
        </p:spPr>
        <p:txBody>
          <a:bodyPr wrap="square" lIns="0" tIns="0" rIns="0" bIns="0" rtlCol="0" anchor="t"/>
          <a:lstStyle/>
          <a:p>
            <a:pPr algn="ctr" indent="0" marL="0">
              <a:lnSpc>
                <a:spcPct val="105000"/>
              </a:lnSpc>
              <a:buNone/>
            </a:pPr>
            <a:r>
              <a:rPr lang="en-US" sz="1600" dirty="0">
                <a:solidFill>
                  <a:schemeClr val="tx1"/>
                </a:solidFill>
                <a:latin typeface="Cambria Math" pitchFamily="34" charset="0"/>
                <a:ea typeface="Cambria Math" pitchFamily="34" charset="-122"/>
                <a:cs typeface="Cambria Math" pitchFamily="34" charset="-120"/>
              </a:rPr>
              <a:t>ŷ = a[3]</a:t>
            </a:r>
            <a:endParaRPr lang="en-US" sz="1600" dirty="0"/>
          </a:p>
        </p:txBody>
      </p:sp>
      <p:sp>
        <p:nvSpPr>
          <p:cNvPr id="58" name="Text 55"/>
          <p:cNvSpPr txBox="1"/>
          <p:nvPr/>
        </p:nvSpPr>
        <p:spPr>
          <a:xfrm>
            <a:off x="457200" y="5669280"/>
            <a:ext cx="1463040" cy="27432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n[0]</a:t>
            </a:r>
            <a:endParaRPr lang="en-US" sz="1300" dirty="0"/>
          </a:p>
        </p:txBody>
      </p:sp>
      <p:sp>
        <p:nvSpPr>
          <p:cNvPr id="59" name="Text 56"/>
          <p:cNvSpPr txBox="1"/>
          <p:nvPr/>
        </p:nvSpPr>
        <p:spPr>
          <a:xfrm>
            <a:off x="2167128" y="5669280"/>
            <a:ext cx="1463040" cy="27432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n[1]</a:t>
            </a:r>
            <a:endParaRPr lang="en-US" sz="1300" dirty="0"/>
          </a:p>
        </p:txBody>
      </p:sp>
      <p:sp>
        <p:nvSpPr>
          <p:cNvPr id="60" name="Text 57"/>
          <p:cNvSpPr txBox="1"/>
          <p:nvPr/>
        </p:nvSpPr>
        <p:spPr>
          <a:xfrm>
            <a:off x="3877056" y="5669280"/>
            <a:ext cx="1463040" cy="27432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n[2]</a:t>
            </a:r>
            <a:endParaRPr lang="en-US" sz="1300" dirty="0"/>
          </a:p>
        </p:txBody>
      </p:sp>
      <p:sp>
        <p:nvSpPr>
          <p:cNvPr id="61" name="Text 58"/>
          <p:cNvSpPr txBox="1"/>
          <p:nvPr/>
        </p:nvSpPr>
        <p:spPr>
          <a:xfrm>
            <a:off x="5586984" y="5669280"/>
            <a:ext cx="1463040" cy="27432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n[3]</a:t>
            </a:r>
            <a:endParaRPr lang="en-US" sz="1300" dirty="0"/>
          </a:p>
        </p:txBody>
      </p:sp>
      <p:sp>
        <p:nvSpPr>
          <p:cNvPr id="62" name="Text 59"/>
          <p:cNvSpPr txBox="1"/>
          <p:nvPr/>
        </p:nvSpPr>
        <p:spPr>
          <a:xfrm>
            <a:off x="1325880" y="1645920"/>
            <a:ext cx="1097280" cy="320040"/>
          </a:xfrm>
          <a:prstGeom prst="rect">
            <a:avLst/>
          </a:prstGeom>
          <a:noFill/>
          <a:ln/>
        </p:spPr>
        <p:txBody>
          <a:bodyPr wrap="square" lIns="0" tIns="0" rIns="0" bIns="0" rtlCol="0" anchor="t"/>
          <a:lstStyle/>
          <a:p>
            <a:pPr algn="ctr"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W[1]</a:t>
            </a:r>
            <a:endParaRPr lang="en-US" sz="1700" dirty="0"/>
          </a:p>
        </p:txBody>
      </p:sp>
      <p:sp>
        <p:nvSpPr>
          <p:cNvPr id="63" name="Text 60"/>
          <p:cNvSpPr txBox="1"/>
          <p:nvPr/>
        </p:nvSpPr>
        <p:spPr>
          <a:xfrm>
            <a:off x="3035808" y="1645920"/>
            <a:ext cx="1097280" cy="320040"/>
          </a:xfrm>
          <a:prstGeom prst="rect">
            <a:avLst/>
          </a:prstGeom>
          <a:noFill/>
          <a:ln/>
        </p:spPr>
        <p:txBody>
          <a:bodyPr wrap="square" lIns="0" tIns="0" rIns="0" bIns="0" rtlCol="0" anchor="t"/>
          <a:lstStyle/>
          <a:p>
            <a:pPr algn="ctr"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W[2]</a:t>
            </a:r>
            <a:endParaRPr lang="en-US" sz="1700" dirty="0"/>
          </a:p>
        </p:txBody>
      </p:sp>
      <p:sp>
        <p:nvSpPr>
          <p:cNvPr id="64" name="Text 61"/>
          <p:cNvSpPr txBox="1"/>
          <p:nvPr/>
        </p:nvSpPr>
        <p:spPr>
          <a:xfrm>
            <a:off x="4745736" y="1645920"/>
            <a:ext cx="1097280" cy="320040"/>
          </a:xfrm>
          <a:prstGeom prst="rect">
            <a:avLst/>
          </a:prstGeom>
          <a:noFill/>
          <a:ln/>
        </p:spPr>
        <p:txBody>
          <a:bodyPr wrap="square" lIns="0" tIns="0" rIns="0" bIns="0" rtlCol="0" anchor="t"/>
          <a:lstStyle/>
          <a:p>
            <a:pPr algn="ctr"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W[3]</a:t>
            </a:r>
            <a:endParaRPr lang="en-US" sz="1700" dirty="0"/>
          </a:p>
        </p:txBody>
      </p:sp>
      <p:sp>
        <p:nvSpPr>
          <p:cNvPr id="65" name="Shape 62"/>
          <p:cNvSpPr/>
          <p:nvPr/>
        </p:nvSpPr>
        <p:spPr>
          <a:xfrm>
            <a:off x="6766560" y="1645920"/>
            <a:ext cx="4873752" cy="2349373"/>
          </a:xfrm>
          <a:prstGeom prst="roundRect">
            <a:avLst>
              <a:gd name="adj" fmla="val 3114"/>
            </a:avLst>
          </a:prstGeom>
          <a:solidFill>
            <a:schemeClr val="accent1">
              <a:alpha val="10000"/>
            </a:schemeClr>
          </a:solidFill>
          <a:ln w="12700">
            <a:solidFill>
              <a:schemeClr val="accent1">
                <a:alpha val="10000"/>
              </a:schemeClr>
            </a:solidFill>
            <a:prstDash val="solid"/>
          </a:ln>
        </p:spPr>
      </p:sp>
      <p:sp>
        <p:nvSpPr>
          <p:cNvPr id="66" name="Text 63"/>
          <p:cNvSpPr txBox="1"/>
          <p:nvPr/>
        </p:nvSpPr>
        <p:spPr>
          <a:xfrm>
            <a:off x="6995160" y="1792224"/>
            <a:ext cx="441655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FORWARD PASS, ONE EXAMPLE</a:t>
            </a:r>
            <a:endParaRPr lang="en-US" sz="1200" dirty="0"/>
          </a:p>
        </p:txBody>
      </p:sp>
      <p:sp>
        <p:nvSpPr>
          <p:cNvPr id="67" name="Text 64"/>
          <p:cNvSpPr txBox="1"/>
          <p:nvPr/>
        </p:nvSpPr>
        <p:spPr>
          <a:xfrm>
            <a:off x="6995160" y="2221992"/>
            <a:ext cx="4416552" cy="1581277"/>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a[0] = x</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for l = 1, …, L:</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    z[l] = W[l] a[l−1] + b[l]</a:t>
            </a:r>
            <a:r>
              <a:rPr lang="en-US" sz="1500" dirty="0">
                <a:solidFill>
                  <a:schemeClr val="tx2"/>
                </a:solidFill>
                <a:latin typeface="Calibri" pitchFamily="34" charset="0"/>
                <a:ea typeface="Calibri" pitchFamily="34" charset="-122"/>
                <a:cs typeface="Calibri" pitchFamily="34" charset="-120"/>
              </a:rPr>
              <a:t>    pre-activation</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    a[l] = g[l](z[l])</a:t>
            </a:r>
            <a:r>
              <a:rPr lang="en-US" sz="1500" dirty="0">
                <a:solidFill>
                  <a:schemeClr val="tx2"/>
                </a:solidFill>
                <a:latin typeface="Calibri" pitchFamily="34" charset="0"/>
                <a:ea typeface="Calibri" pitchFamily="34" charset="-122"/>
                <a:cs typeface="Calibri" pitchFamily="34" charset="-120"/>
              </a:rPr>
              <a:t>    activation</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ŷ = a[L]</a:t>
            </a:r>
            <a:endParaRPr lang="en-US" sz="1900" dirty="0"/>
          </a:p>
        </p:txBody>
      </p:sp>
      <p:sp>
        <p:nvSpPr>
          <p:cNvPr id="68" name="Text 65"/>
          <p:cNvSpPr txBox="1"/>
          <p:nvPr/>
        </p:nvSpPr>
        <p:spPr>
          <a:xfrm>
            <a:off x="6766560" y="4572000"/>
            <a:ext cx="4873752" cy="914400"/>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Everything else is choosing g, measuring the error in ŷ, or differentiating that error.</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W[l] has shape (n[l], n[l−1]): one row per unit</a:t>
            </a:r>
            <a:endParaRPr lang="en-US" sz="3000" dirty="0"/>
          </a:p>
        </p:txBody>
      </p:sp>
      <p:sp>
        <p:nvSpPr>
          <p:cNvPr id="5" name="Shape 2"/>
          <p:cNvSpPr/>
          <p:nvPr/>
        </p:nvSpPr>
        <p:spPr>
          <a:xfrm>
            <a:off x="640080" y="2468880"/>
            <a:ext cx="502920" cy="1554480"/>
          </a:xfrm>
          <a:prstGeom prst="rect">
            <a:avLst/>
          </a:prstGeom>
          <a:solidFill>
            <a:schemeClr val="accent1">
              <a:alpha val="10000"/>
            </a:schemeClr>
          </a:solidFill>
          <a:ln w="19050">
            <a:solidFill>
              <a:schemeClr val="accent1"/>
            </a:solidFill>
            <a:prstDash val="solid"/>
          </a:ln>
        </p:spPr>
      </p:sp>
      <p:sp>
        <p:nvSpPr>
          <p:cNvPr id="6" name="Text 3"/>
          <p:cNvSpPr txBox="1"/>
          <p:nvPr/>
        </p:nvSpPr>
        <p:spPr>
          <a:xfrm>
            <a:off x="365760" y="2468880"/>
            <a:ext cx="1051560" cy="155448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z[l]</a:t>
            </a:r>
            <a:endParaRPr lang="en-US" sz="2000" dirty="0"/>
          </a:p>
        </p:txBody>
      </p:sp>
      <p:sp>
        <p:nvSpPr>
          <p:cNvPr id="7" name="Text 4"/>
          <p:cNvSpPr txBox="1"/>
          <p:nvPr/>
        </p:nvSpPr>
        <p:spPr>
          <a:xfrm>
            <a:off x="91440" y="4078224"/>
            <a:ext cx="160020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1)</a:t>
            </a:r>
            <a:endParaRPr lang="en-US" sz="1300" dirty="0"/>
          </a:p>
        </p:txBody>
      </p:sp>
      <p:sp>
        <p:nvSpPr>
          <p:cNvPr id="8" name="Text 5"/>
          <p:cNvSpPr txBox="1"/>
          <p:nvPr/>
        </p:nvSpPr>
        <p:spPr>
          <a:xfrm>
            <a:off x="1234440" y="297180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9" name="Shape 6"/>
          <p:cNvSpPr/>
          <p:nvPr/>
        </p:nvSpPr>
        <p:spPr>
          <a:xfrm>
            <a:off x="1874520" y="2468880"/>
            <a:ext cx="2468880" cy="1554480"/>
          </a:xfrm>
          <a:prstGeom prst="rect">
            <a:avLst/>
          </a:prstGeom>
          <a:solidFill>
            <a:schemeClr val="bg1"/>
          </a:solidFill>
          <a:ln w="19050">
            <a:solidFill>
              <a:schemeClr val="tx1"/>
            </a:solidFill>
            <a:prstDash val="solid"/>
          </a:ln>
        </p:spPr>
      </p:sp>
      <p:sp>
        <p:nvSpPr>
          <p:cNvPr id="10" name="Text 7"/>
          <p:cNvSpPr txBox="1"/>
          <p:nvPr/>
        </p:nvSpPr>
        <p:spPr>
          <a:xfrm>
            <a:off x="1600200" y="2468880"/>
            <a:ext cx="3017520" cy="1554480"/>
          </a:xfrm>
          <a:prstGeom prst="rect">
            <a:avLst/>
          </a:prstGeom>
          <a:noFill/>
          <a:ln/>
        </p:spPr>
        <p:txBody>
          <a:bodyPr wrap="square" lIns="0" tIns="0" rIns="0" bIns="0" rtlCol="0" anchor="ctr"/>
          <a:lstStyle/>
          <a:p>
            <a:pPr algn="ctr" indent="0" marL="0">
              <a:buNone/>
            </a:pPr>
            <a:endParaRPr lang="en-US" sz="2000" dirty="0"/>
          </a:p>
        </p:txBody>
      </p:sp>
      <p:sp>
        <p:nvSpPr>
          <p:cNvPr id="11" name="Text 8"/>
          <p:cNvSpPr txBox="1"/>
          <p:nvPr/>
        </p:nvSpPr>
        <p:spPr>
          <a:xfrm>
            <a:off x="1325880" y="4078224"/>
            <a:ext cx="35661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n[l−1])</a:t>
            </a:r>
            <a:endParaRPr lang="en-US" sz="1300" dirty="0"/>
          </a:p>
        </p:txBody>
      </p:sp>
      <p:sp>
        <p:nvSpPr>
          <p:cNvPr id="12" name="Shape 9"/>
          <p:cNvSpPr/>
          <p:nvPr/>
        </p:nvSpPr>
        <p:spPr>
          <a:xfrm>
            <a:off x="1874520" y="2926080"/>
            <a:ext cx="2468880" cy="310896"/>
          </a:xfrm>
          <a:prstGeom prst="rect">
            <a:avLst/>
          </a:prstGeom>
          <a:solidFill>
            <a:schemeClr val="accent1">
              <a:alpha val="25000"/>
            </a:schemeClr>
          </a:solidFill>
          <a:ln w="12700">
            <a:solidFill>
              <a:schemeClr val="accent1"/>
            </a:solidFill>
            <a:prstDash val="solid"/>
          </a:ln>
        </p:spPr>
      </p:sp>
      <p:sp>
        <p:nvSpPr>
          <p:cNvPr id="13" name="Text 10"/>
          <p:cNvSpPr txBox="1"/>
          <p:nvPr/>
        </p:nvSpPr>
        <p:spPr>
          <a:xfrm>
            <a:off x="1874520" y="2468880"/>
            <a:ext cx="2468880" cy="457200"/>
          </a:xfrm>
          <a:prstGeom prst="rect">
            <a:avLst/>
          </a:prstGeom>
          <a:noFill/>
          <a:ln/>
        </p:spPr>
        <p:txBody>
          <a:bodyPr wrap="square" lIns="0" tIns="0" rIns="0" bIns="0" rtlCol="0" anchor="ctr"/>
          <a:lstStyle/>
          <a:p>
            <a:pPr algn="ctr" indent="0" marL="0">
              <a:lnSpc>
                <a:spcPct val="105000"/>
              </a:lnSpc>
              <a:buNone/>
            </a:pPr>
            <a:r>
              <a:rPr lang="en-US" sz="2000" dirty="0">
                <a:solidFill>
                  <a:schemeClr val="tx1"/>
                </a:solidFill>
                <a:latin typeface="Cambria Math" pitchFamily="34" charset="0"/>
                <a:ea typeface="Cambria Math" pitchFamily="34" charset="-122"/>
                <a:cs typeface="Cambria Math" pitchFamily="34" charset="-120"/>
              </a:rPr>
              <a:t>W[l]</a:t>
            </a:r>
            <a:endParaRPr lang="en-US" sz="2000" dirty="0"/>
          </a:p>
        </p:txBody>
      </p:sp>
      <p:sp>
        <p:nvSpPr>
          <p:cNvPr id="14" name="Text 11"/>
          <p:cNvSpPr txBox="1"/>
          <p:nvPr/>
        </p:nvSpPr>
        <p:spPr>
          <a:xfrm>
            <a:off x="1874520" y="2916936"/>
            <a:ext cx="2468880" cy="329184"/>
          </a:xfrm>
          <a:prstGeom prst="rect">
            <a:avLst/>
          </a:prstGeom>
          <a:noFill/>
          <a:ln/>
        </p:spPr>
        <p:txBody>
          <a:bodyPr wrap="square" lIns="0" tIns="0" rIns="0" bIns="0" rtlCol="0" anchor="ctr"/>
          <a:lstStyle/>
          <a:p>
            <a:pPr algn="ctr" indent="0" marL="0">
              <a:lnSpc>
                <a:spcPct val="105000"/>
              </a:lnSpc>
              <a:buNone/>
            </a:pPr>
            <a:r>
              <a:rPr lang="en-US" sz="1300" b="1" dirty="0">
                <a:solidFill>
                  <a:schemeClr val="accent1"/>
                </a:solidFill>
              </a:rPr>
              <a:t>row i: unit i’s weights</a:t>
            </a:r>
            <a:endParaRPr lang="en-US" sz="1300" dirty="0"/>
          </a:p>
        </p:txBody>
      </p:sp>
      <p:sp>
        <p:nvSpPr>
          <p:cNvPr id="15" name="Text 12"/>
          <p:cNvSpPr txBox="1"/>
          <p:nvPr/>
        </p:nvSpPr>
        <p:spPr>
          <a:xfrm>
            <a:off x="4343400" y="297180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16" name="Shape 13"/>
          <p:cNvSpPr/>
          <p:nvPr/>
        </p:nvSpPr>
        <p:spPr>
          <a:xfrm>
            <a:off x="4983480" y="2011680"/>
            <a:ext cx="502920" cy="2468880"/>
          </a:xfrm>
          <a:prstGeom prst="rect">
            <a:avLst/>
          </a:prstGeom>
          <a:solidFill>
            <a:schemeClr val="bg1"/>
          </a:solidFill>
          <a:ln w="19050">
            <a:solidFill>
              <a:schemeClr val="tx1"/>
            </a:solidFill>
            <a:prstDash val="solid"/>
          </a:ln>
        </p:spPr>
      </p:sp>
      <p:sp>
        <p:nvSpPr>
          <p:cNvPr id="17" name="Text 14"/>
          <p:cNvSpPr txBox="1"/>
          <p:nvPr/>
        </p:nvSpPr>
        <p:spPr>
          <a:xfrm>
            <a:off x="4709160" y="2011680"/>
            <a:ext cx="1051560" cy="2468880"/>
          </a:xfrm>
          <a:prstGeom prst="rect">
            <a:avLst/>
          </a:prstGeom>
          <a:noFill/>
          <a:ln/>
        </p:spPr>
        <p:txBody>
          <a:bodyPr wrap="square" lIns="0" tIns="0" rIns="0" bIns="0" rtlCol="0" anchor="ctr"/>
          <a:lstStyle/>
          <a:p>
            <a:pPr algn="ctr" indent="0" marL="0">
              <a:buNone/>
            </a:pPr>
            <a:r>
              <a:rPr lang="en-US" sz="1500" dirty="0">
                <a:solidFill>
                  <a:schemeClr val="tx1"/>
                </a:solidFill>
                <a:latin typeface="Cambria Math" pitchFamily="34" charset="0"/>
                <a:ea typeface="Cambria Math" pitchFamily="34" charset="-122"/>
                <a:cs typeface="Cambria Math" pitchFamily="34" charset="-120"/>
              </a:rPr>
              <a:t>a[l−1]</a:t>
            </a:r>
            <a:endParaRPr lang="en-US" sz="1500" dirty="0"/>
          </a:p>
        </p:txBody>
      </p:sp>
      <p:sp>
        <p:nvSpPr>
          <p:cNvPr id="18" name="Text 15"/>
          <p:cNvSpPr txBox="1"/>
          <p:nvPr/>
        </p:nvSpPr>
        <p:spPr>
          <a:xfrm>
            <a:off x="4434840" y="4535424"/>
            <a:ext cx="160020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(n[l−1], 1)</a:t>
            </a:r>
            <a:endParaRPr lang="en-US" sz="1300" dirty="0"/>
          </a:p>
        </p:txBody>
      </p:sp>
      <p:sp>
        <p:nvSpPr>
          <p:cNvPr id="19" name="Text 16"/>
          <p:cNvSpPr txBox="1"/>
          <p:nvPr/>
        </p:nvSpPr>
        <p:spPr>
          <a:xfrm>
            <a:off x="5532120" y="297180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20" name="Shape 17"/>
          <p:cNvSpPr/>
          <p:nvPr/>
        </p:nvSpPr>
        <p:spPr>
          <a:xfrm>
            <a:off x="6172200" y="2468880"/>
            <a:ext cx="502920" cy="1554480"/>
          </a:xfrm>
          <a:prstGeom prst="rect">
            <a:avLst/>
          </a:prstGeom>
          <a:solidFill>
            <a:schemeClr val="bg1"/>
          </a:solidFill>
          <a:ln w="19050">
            <a:solidFill>
              <a:schemeClr val="tx1"/>
            </a:solidFill>
            <a:prstDash val="solid"/>
          </a:ln>
        </p:spPr>
      </p:sp>
      <p:sp>
        <p:nvSpPr>
          <p:cNvPr id="21" name="Text 18"/>
          <p:cNvSpPr txBox="1"/>
          <p:nvPr/>
        </p:nvSpPr>
        <p:spPr>
          <a:xfrm>
            <a:off x="5897880" y="2468880"/>
            <a:ext cx="1051560" cy="1554480"/>
          </a:xfrm>
          <a:prstGeom prst="rect">
            <a:avLst/>
          </a:prstGeom>
          <a:noFill/>
          <a:ln/>
        </p:spPr>
        <p:txBody>
          <a:bodyPr wrap="square" lIns="0" tIns="0" rIns="0" bIns="0" rtlCol="0" anchor="ctr"/>
          <a:lstStyle/>
          <a:p>
            <a:pPr algn="ctr" indent="0" marL="0">
              <a:buNone/>
            </a:pPr>
            <a:r>
              <a:rPr lang="en-US" sz="1700" dirty="0">
                <a:solidFill>
                  <a:schemeClr val="tx1"/>
                </a:solidFill>
                <a:latin typeface="Cambria Math" pitchFamily="34" charset="0"/>
                <a:ea typeface="Cambria Math" pitchFamily="34" charset="-122"/>
                <a:cs typeface="Cambria Math" pitchFamily="34" charset="-120"/>
              </a:rPr>
              <a:t>b[l]</a:t>
            </a:r>
            <a:endParaRPr lang="en-US" sz="1700" dirty="0"/>
          </a:p>
        </p:txBody>
      </p:sp>
      <p:sp>
        <p:nvSpPr>
          <p:cNvPr id="22" name="Text 19"/>
          <p:cNvSpPr txBox="1"/>
          <p:nvPr/>
        </p:nvSpPr>
        <p:spPr>
          <a:xfrm>
            <a:off x="5623560" y="4078224"/>
            <a:ext cx="160020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1)</a:t>
            </a:r>
            <a:endParaRPr lang="en-US" sz="1300" dirty="0"/>
          </a:p>
        </p:txBody>
      </p:sp>
      <p:sp>
        <p:nvSpPr>
          <p:cNvPr id="23" name="Shape 20"/>
          <p:cNvSpPr/>
          <p:nvPr/>
        </p:nvSpPr>
        <p:spPr>
          <a:xfrm>
            <a:off x="548640" y="5074920"/>
            <a:ext cx="6309360" cy="1158748"/>
          </a:xfrm>
          <a:prstGeom prst="roundRect">
            <a:avLst>
              <a:gd name="adj" fmla="val 6313"/>
            </a:avLst>
          </a:prstGeom>
          <a:solidFill>
            <a:schemeClr val="bg2"/>
          </a:solidFill>
          <a:ln w="12700">
            <a:solidFill>
              <a:schemeClr val="bg2"/>
            </a:solidFill>
            <a:prstDash val="solid"/>
          </a:ln>
        </p:spPr>
      </p:sp>
      <p:sp>
        <p:nvSpPr>
          <p:cNvPr id="24" name="Text 21"/>
          <p:cNvSpPr txBox="1"/>
          <p:nvPr/>
        </p:nvSpPr>
        <p:spPr>
          <a:xfrm>
            <a:off x="777240" y="5221224"/>
            <a:ext cx="5852160" cy="274320"/>
          </a:xfrm>
          <a:prstGeom prst="rect">
            <a:avLst/>
          </a:prstGeom>
          <a:noFill/>
          <a:ln/>
        </p:spPr>
        <p:txBody>
          <a:bodyPr wrap="square" lIns="0" tIns="0" rIns="0" bIns="0" rtlCol="0" anchor="ctr"/>
          <a:lstStyle/>
          <a:p>
            <a:pPr indent="0" marL="0">
              <a:buNone/>
            </a:pPr>
            <a:r>
              <a:rPr lang="en-US" sz="1200" b="1" spc="120" kern="0" dirty="0">
                <a:solidFill>
                  <a:schemeClr val="tx2"/>
                </a:solidFill>
              </a:rPr>
              <a:t>SHAPE CHECK</a:t>
            </a:r>
            <a:endParaRPr lang="en-US" sz="1200" dirty="0"/>
          </a:p>
        </p:txBody>
      </p:sp>
      <p:sp>
        <p:nvSpPr>
          <p:cNvPr id="25" name="Text 22"/>
          <p:cNvSpPr txBox="1"/>
          <p:nvPr/>
        </p:nvSpPr>
        <p:spPr>
          <a:xfrm>
            <a:off x="777240" y="5650992"/>
            <a:ext cx="5852160" cy="390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(n[l], n[l−1]) × (n[l−1], 1) = (n[l], 1)</a:t>
            </a:r>
            <a:endParaRPr lang="en-US" sz="2000" dirty="0"/>
          </a:p>
        </p:txBody>
      </p:sp>
      <p:sp>
        <p:nvSpPr>
          <p:cNvPr id="26" name="Shape 23"/>
          <p:cNvSpPr/>
          <p:nvPr/>
        </p:nvSpPr>
        <p:spPr>
          <a:xfrm>
            <a:off x="7616952" y="1901952"/>
            <a:ext cx="0" cy="2743200"/>
          </a:xfrm>
          <a:prstGeom prst="line">
            <a:avLst/>
          </a:prstGeom>
          <a:noFill/>
          <a:ln w="25400">
            <a:solidFill>
              <a:schemeClr val="accent1">
                <a:alpha val="50000"/>
              </a:schemeClr>
            </a:solidFill>
            <a:prstDash val="solid"/>
          </a:ln>
        </p:spPr>
      </p:sp>
      <p:sp>
        <p:nvSpPr>
          <p:cNvPr id="27" name="Shape 24"/>
          <p:cNvSpPr/>
          <p:nvPr/>
        </p:nvSpPr>
        <p:spPr>
          <a:xfrm>
            <a:off x="7406640" y="1691640"/>
            <a:ext cx="420624" cy="420624"/>
          </a:xfrm>
          <a:prstGeom prst="ellipse">
            <a:avLst/>
          </a:prstGeom>
          <a:solidFill>
            <a:schemeClr val="accent1"/>
          </a:solidFill>
          <a:ln w="25400">
            <a:solidFill>
              <a:schemeClr val="bg1"/>
            </a:solidFill>
            <a:prstDash val="solid"/>
          </a:ln>
        </p:spPr>
      </p:sp>
      <p:sp>
        <p:nvSpPr>
          <p:cNvPr id="28" name="Text 25"/>
          <p:cNvSpPr txBox="1"/>
          <p:nvPr/>
        </p:nvSpPr>
        <p:spPr>
          <a:xfrm>
            <a:off x="7406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9" name="Text 26"/>
          <p:cNvSpPr txBox="1"/>
          <p:nvPr/>
        </p:nvSpPr>
        <p:spPr>
          <a:xfrm>
            <a:off x="8055864" y="1728216"/>
            <a:ext cx="3584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Rows</a:t>
            </a:r>
            <a:endParaRPr lang="en-US" sz="1900" dirty="0"/>
          </a:p>
        </p:txBody>
      </p:sp>
      <p:sp>
        <p:nvSpPr>
          <p:cNvPr id="30" name="Text 27"/>
          <p:cNvSpPr txBox="1"/>
          <p:nvPr/>
        </p:nvSpPr>
        <p:spPr>
          <a:xfrm>
            <a:off x="8055864" y="2031238"/>
            <a:ext cx="358444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Row i of W[l] holds unit i’s weights: one per unit in layer l−1.</a:t>
            </a:r>
            <a:endParaRPr lang="en-US" sz="1600" dirty="0"/>
          </a:p>
        </p:txBody>
      </p:sp>
      <p:sp>
        <p:nvSpPr>
          <p:cNvPr id="31" name="Shape 28"/>
          <p:cNvSpPr/>
          <p:nvPr/>
        </p:nvSpPr>
        <p:spPr>
          <a:xfrm>
            <a:off x="7406640" y="3063240"/>
            <a:ext cx="420624" cy="420624"/>
          </a:xfrm>
          <a:prstGeom prst="ellipse">
            <a:avLst/>
          </a:prstGeom>
          <a:solidFill>
            <a:schemeClr val="accent1"/>
          </a:solidFill>
          <a:ln w="25400">
            <a:solidFill>
              <a:schemeClr val="bg1"/>
            </a:solidFill>
            <a:prstDash val="solid"/>
          </a:ln>
        </p:spPr>
      </p:sp>
      <p:sp>
        <p:nvSpPr>
          <p:cNvPr id="32" name="Text 29"/>
          <p:cNvSpPr txBox="1"/>
          <p:nvPr/>
        </p:nvSpPr>
        <p:spPr>
          <a:xfrm>
            <a:off x="740664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3" name="Text 30"/>
          <p:cNvSpPr txBox="1"/>
          <p:nvPr/>
        </p:nvSpPr>
        <p:spPr>
          <a:xfrm>
            <a:off x="8055864" y="3099816"/>
            <a:ext cx="3584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Count</a:t>
            </a:r>
            <a:endParaRPr lang="en-US" sz="1900" dirty="0"/>
          </a:p>
        </p:txBody>
      </p:sp>
      <p:sp>
        <p:nvSpPr>
          <p:cNvPr id="34" name="Text 31"/>
          <p:cNvSpPr txBox="1"/>
          <p:nvPr/>
        </p:nvSpPr>
        <p:spPr>
          <a:xfrm>
            <a:off x="8055864" y="3402838"/>
            <a:ext cx="358444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n[l] rows of length n[l−1]: shape (n[l], n[l−1]).</a:t>
            </a:r>
            <a:endParaRPr lang="en-US" sz="1600" dirty="0"/>
          </a:p>
        </p:txBody>
      </p:sp>
      <p:sp>
        <p:nvSpPr>
          <p:cNvPr id="35" name="Shape 32"/>
          <p:cNvSpPr/>
          <p:nvPr/>
        </p:nvSpPr>
        <p:spPr>
          <a:xfrm>
            <a:off x="7406640" y="4434840"/>
            <a:ext cx="420624" cy="420624"/>
          </a:xfrm>
          <a:prstGeom prst="ellipse">
            <a:avLst/>
          </a:prstGeom>
          <a:solidFill>
            <a:schemeClr val="accent1"/>
          </a:solidFill>
          <a:ln w="25400">
            <a:solidFill>
              <a:schemeClr val="bg1"/>
            </a:solidFill>
            <a:prstDash val="solid"/>
          </a:ln>
        </p:spPr>
      </p:sp>
      <p:sp>
        <p:nvSpPr>
          <p:cNvPr id="36" name="Text 33"/>
          <p:cNvSpPr txBox="1"/>
          <p:nvPr/>
        </p:nvSpPr>
        <p:spPr>
          <a:xfrm>
            <a:off x="740664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7" name="Text 34"/>
          <p:cNvSpPr txBox="1"/>
          <p:nvPr/>
        </p:nvSpPr>
        <p:spPr>
          <a:xfrm>
            <a:off x="8055864" y="4471416"/>
            <a:ext cx="3584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Recover</a:t>
            </a:r>
            <a:endParaRPr lang="en-US" sz="1900" dirty="0"/>
          </a:p>
        </p:txBody>
      </p:sp>
      <p:sp>
        <p:nvSpPr>
          <p:cNvPr id="38" name="Text 35"/>
          <p:cNvSpPr txBox="1"/>
          <p:nvPr/>
        </p:nvSpPr>
        <p:spPr>
          <a:xfrm>
            <a:off x="8055864" y="4774438"/>
            <a:ext cx="358444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When shapes confuse you, write what one row means, then count.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In batches, frameworks store examples as rows</a:t>
            </a:r>
            <a:endParaRPr lang="en-US" sz="3000" dirty="0"/>
          </a:p>
        </p:txBody>
      </p:sp>
      <p:sp>
        <p:nvSpPr>
          <p:cNvPr id="5" name="Text 2"/>
          <p:cNvSpPr txBox="1"/>
          <p:nvPr/>
        </p:nvSpPr>
        <p:spPr>
          <a:xfrm>
            <a:off x="548640" y="1600200"/>
            <a:ext cx="64008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MATH CONVENTION: EXAMPLES AS COLUMNS</a:t>
            </a:r>
            <a:endParaRPr lang="en-US" sz="1200" dirty="0"/>
          </a:p>
        </p:txBody>
      </p:sp>
      <p:sp>
        <p:nvSpPr>
          <p:cNvPr id="6" name="Shape 3"/>
          <p:cNvSpPr/>
          <p:nvPr/>
        </p:nvSpPr>
        <p:spPr>
          <a:xfrm>
            <a:off x="640080" y="2263140"/>
            <a:ext cx="1463040" cy="868680"/>
          </a:xfrm>
          <a:prstGeom prst="rect">
            <a:avLst/>
          </a:prstGeom>
          <a:solidFill>
            <a:schemeClr val="accent1">
              <a:alpha val="10000"/>
            </a:schemeClr>
          </a:solidFill>
          <a:ln w="19050">
            <a:solidFill>
              <a:schemeClr val="accent1"/>
            </a:solidFill>
            <a:prstDash val="solid"/>
          </a:ln>
        </p:spPr>
      </p:sp>
      <p:sp>
        <p:nvSpPr>
          <p:cNvPr id="7" name="Text 4"/>
          <p:cNvSpPr txBox="1"/>
          <p:nvPr/>
        </p:nvSpPr>
        <p:spPr>
          <a:xfrm>
            <a:off x="365760" y="2263140"/>
            <a:ext cx="201168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Z[l]</a:t>
            </a:r>
            <a:endParaRPr lang="en-US" sz="2000" dirty="0"/>
          </a:p>
        </p:txBody>
      </p:sp>
      <p:sp>
        <p:nvSpPr>
          <p:cNvPr id="8" name="Text 5"/>
          <p:cNvSpPr txBox="1"/>
          <p:nvPr/>
        </p:nvSpPr>
        <p:spPr>
          <a:xfrm>
            <a:off x="91440" y="3186684"/>
            <a:ext cx="256032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m)</a:t>
            </a:r>
            <a:endParaRPr lang="en-US" sz="1300" dirty="0"/>
          </a:p>
        </p:txBody>
      </p:sp>
      <p:sp>
        <p:nvSpPr>
          <p:cNvPr id="9" name="Text 6"/>
          <p:cNvSpPr txBox="1"/>
          <p:nvPr/>
        </p:nvSpPr>
        <p:spPr>
          <a:xfrm>
            <a:off x="2194560" y="242316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10" name="Shape 7"/>
          <p:cNvSpPr/>
          <p:nvPr/>
        </p:nvSpPr>
        <p:spPr>
          <a:xfrm>
            <a:off x="2697480" y="2263140"/>
            <a:ext cx="1143000" cy="868680"/>
          </a:xfrm>
          <a:prstGeom prst="rect">
            <a:avLst/>
          </a:prstGeom>
          <a:solidFill>
            <a:schemeClr val="bg1"/>
          </a:solidFill>
          <a:ln w="19050">
            <a:solidFill>
              <a:schemeClr val="tx1"/>
            </a:solidFill>
            <a:prstDash val="solid"/>
          </a:ln>
        </p:spPr>
      </p:sp>
      <p:sp>
        <p:nvSpPr>
          <p:cNvPr id="11" name="Text 8"/>
          <p:cNvSpPr txBox="1"/>
          <p:nvPr/>
        </p:nvSpPr>
        <p:spPr>
          <a:xfrm>
            <a:off x="2423160" y="2263140"/>
            <a:ext cx="1691640" cy="86868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W[l]</a:t>
            </a:r>
            <a:endParaRPr lang="en-US" sz="2000" dirty="0"/>
          </a:p>
        </p:txBody>
      </p:sp>
      <p:sp>
        <p:nvSpPr>
          <p:cNvPr id="12" name="Text 9"/>
          <p:cNvSpPr txBox="1"/>
          <p:nvPr/>
        </p:nvSpPr>
        <p:spPr>
          <a:xfrm>
            <a:off x="2148840" y="3186684"/>
            <a:ext cx="224028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n[l−1])</a:t>
            </a:r>
            <a:endParaRPr lang="en-US" sz="1300" dirty="0"/>
          </a:p>
        </p:txBody>
      </p:sp>
      <p:sp>
        <p:nvSpPr>
          <p:cNvPr id="13" name="Text 10"/>
          <p:cNvSpPr txBox="1"/>
          <p:nvPr/>
        </p:nvSpPr>
        <p:spPr>
          <a:xfrm>
            <a:off x="3931920" y="242316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14" name="Shape 11"/>
          <p:cNvSpPr/>
          <p:nvPr/>
        </p:nvSpPr>
        <p:spPr>
          <a:xfrm>
            <a:off x="4434840" y="2125980"/>
            <a:ext cx="1463040" cy="1143000"/>
          </a:xfrm>
          <a:prstGeom prst="rect">
            <a:avLst/>
          </a:prstGeom>
          <a:solidFill>
            <a:schemeClr val="bg1"/>
          </a:solidFill>
          <a:ln w="19050">
            <a:solidFill>
              <a:schemeClr val="tx1"/>
            </a:solidFill>
            <a:prstDash val="solid"/>
          </a:ln>
        </p:spPr>
      </p:sp>
      <p:sp>
        <p:nvSpPr>
          <p:cNvPr id="15" name="Text 12"/>
          <p:cNvSpPr txBox="1"/>
          <p:nvPr/>
        </p:nvSpPr>
        <p:spPr>
          <a:xfrm>
            <a:off x="4160520" y="2125980"/>
            <a:ext cx="2011680" cy="114300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A[l−1]</a:t>
            </a:r>
            <a:endParaRPr lang="en-US" sz="2000" dirty="0"/>
          </a:p>
        </p:txBody>
      </p:sp>
      <p:sp>
        <p:nvSpPr>
          <p:cNvPr id="16" name="Text 13"/>
          <p:cNvSpPr txBox="1"/>
          <p:nvPr/>
        </p:nvSpPr>
        <p:spPr>
          <a:xfrm>
            <a:off x="3886200" y="3323844"/>
            <a:ext cx="256032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(n[l−1], m)</a:t>
            </a:r>
            <a:endParaRPr lang="en-US" sz="1300" dirty="0"/>
          </a:p>
        </p:txBody>
      </p:sp>
      <p:sp>
        <p:nvSpPr>
          <p:cNvPr id="17" name="Text 14"/>
          <p:cNvSpPr txBox="1"/>
          <p:nvPr/>
        </p:nvSpPr>
        <p:spPr>
          <a:xfrm>
            <a:off x="5989320" y="242316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18" name="Shape 15"/>
          <p:cNvSpPr/>
          <p:nvPr/>
        </p:nvSpPr>
        <p:spPr>
          <a:xfrm>
            <a:off x="6492240" y="2263140"/>
            <a:ext cx="292608" cy="868680"/>
          </a:xfrm>
          <a:prstGeom prst="rect">
            <a:avLst/>
          </a:prstGeom>
          <a:solidFill>
            <a:schemeClr val="bg1"/>
          </a:solidFill>
          <a:ln w="19050">
            <a:solidFill>
              <a:schemeClr val="tx1"/>
            </a:solidFill>
            <a:prstDash val="solid"/>
          </a:ln>
        </p:spPr>
      </p:sp>
      <p:sp>
        <p:nvSpPr>
          <p:cNvPr id="19" name="Text 16"/>
          <p:cNvSpPr txBox="1"/>
          <p:nvPr/>
        </p:nvSpPr>
        <p:spPr>
          <a:xfrm>
            <a:off x="6217920" y="2263140"/>
            <a:ext cx="841248" cy="868680"/>
          </a:xfrm>
          <a:prstGeom prst="rect">
            <a:avLst/>
          </a:prstGeom>
          <a:noFill/>
          <a:ln/>
        </p:spPr>
        <p:txBody>
          <a:bodyPr wrap="square" lIns="0" tIns="0" rIns="0" bIns="0" rtlCol="0" anchor="ctr"/>
          <a:lstStyle/>
          <a:p>
            <a:pPr algn="ctr" indent="0" marL="0">
              <a:buNone/>
            </a:pPr>
            <a:r>
              <a:rPr lang="en-US" sz="1400" dirty="0">
                <a:solidFill>
                  <a:schemeClr val="tx1"/>
                </a:solidFill>
                <a:latin typeface="Cambria Math" pitchFamily="34" charset="0"/>
                <a:ea typeface="Cambria Math" pitchFamily="34" charset="-122"/>
                <a:cs typeface="Cambria Math" pitchFamily="34" charset="-120"/>
              </a:rPr>
              <a:t>b[l]</a:t>
            </a:r>
            <a:endParaRPr lang="en-US" sz="1400" dirty="0"/>
          </a:p>
        </p:txBody>
      </p:sp>
      <p:sp>
        <p:nvSpPr>
          <p:cNvPr id="20" name="Text 17"/>
          <p:cNvSpPr txBox="1"/>
          <p:nvPr/>
        </p:nvSpPr>
        <p:spPr>
          <a:xfrm>
            <a:off x="5943600" y="3186684"/>
            <a:ext cx="1389888"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1)</a:t>
            </a:r>
            <a:endParaRPr lang="en-US" sz="1300" dirty="0"/>
          </a:p>
        </p:txBody>
      </p:sp>
      <p:sp>
        <p:nvSpPr>
          <p:cNvPr id="21" name="Text 18"/>
          <p:cNvSpPr txBox="1"/>
          <p:nvPr/>
        </p:nvSpPr>
        <p:spPr>
          <a:xfrm>
            <a:off x="548640" y="3749040"/>
            <a:ext cx="64008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PYTORCH CONVENTION: EXAMPLES AS ROWS</a:t>
            </a:r>
            <a:endParaRPr lang="en-US" sz="1200" dirty="0"/>
          </a:p>
        </p:txBody>
      </p:sp>
      <p:sp>
        <p:nvSpPr>
          <p:cNvPr id="22" name="Shape 19"/>
          <p:cNvSpPr/>
          <p:nvPr/>
        </p:nvSpPr>
        <p:spPr>
          <a:xfrm>
            <a:off x="640080" y="4343400"/>
            <a:ext cx="868680" cy="1371600"/>
          </a:xfrm>
          <a:prstGeom prst="rect">
            <a:avLst/>
          </a:prstGeom>
          <a:solidFill>
            <a:schemeClr val="accent1">
              <a:alpha val="10000"/>
            </a:schemeClr>
          </a:solidFill>
          <a:ln w="19050">
            <a:solidFill>
              <a:schemeClr val="accent1"/>
            </a:solidFill>
            <a:prstDash val="solid"/>
          </a:ln>
        </p:spPr>
      </p:sp>
      <p:sp>
        <p:nvSpPr>
          <p:cNvPr id="23" name="Text 20"/>
          <p:cNvSpPr txBox="1"/>
          <p:nvPr/>
        </p:nvSpPr>
        <p:spPr>
          <a:xfrm>
            <a:off x="365760" y="4343400"/>
            <a:ext cx="1417320" cy="137160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Z[l]</a:t>
            </a:r>
            <a:endParaRPr lang="en-US" sz="2000" dirty="0"/>
          </a:p>
        </p:txBody>
      </p:sp>
      <p:sp>
        <p:nvSpPr>
          <p:cNvPr id="24" name="Text 21"/>
          <p:cNvSpPr txBox="1"/>
          <p:nvPr/>
        </p:nvSpPr>
        <p:spPr>
          <a:xfrm>
            <a:off x="91440" y="5769864"/>
            <a:ext cx="19659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(m, n[l])</a:t>
            </a:r>
            <a:endParaRPr lang="en-US" sz="1300" dirty="0"/>
          </a:p>
        </p:txBody>
      </p:sp>
      <p:sp>
        <p:nvSpPr>
          <p:cNvPr id="25" name="Text 22"/>
          <p:cNvSpPr txBox="1"/>
          <p:nvPr/>
        </p:nvSpPr>
        <p:spPr>
          <a:xfrm>
            <a:off x="1600200" y="475488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26" name="Shape 23"/>
          <p:cNvSpPr/>
          <p:nvPr/>
        </p:nvSpPr>
        <p:spPr>
          <a:xfrm>
            <a:off x="2103120" y="4343400"/>
            <a:ext cx="1143000" cy="1371600"/>
          </a:xfrm>
          <a:prstGeom prst="rect">
            <a:avLst/>
          </a:prstGeom>
          <a:solidFill>
            <a:schemeClr val="bg1"/>
          </a:solidFill>
          <a:ln w="19050">
            <a:solidFill>
              <a:schemeClr val="tx1"/>
            </a:solidFill>
            <a:prstDash val="solid"/>
          </a:ln>
        </p:spPr>
      </p:sp>
      <p:sp>
        <p:nvSpPr>
          <p:cNvPr id="27" name="Text 24"/>
          <p:cNvSpPr txBox="1"/>
          <p:nvPr/>
        </p:nvSpPr>
        <p:spPr>
          <a:xfrm>
            <a:off x="1828800" y="4343400"/>
            <a:ext cx="1691640" cy="137160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A[l−1]</a:t>
            </a:r>
            <a:endParaRPr lang="en-US" sz="2000" dirty="0"/>
          </a:p>
        </p:txBody>
      </p:sp>
      <p:sp>
        <p:nvSpPr>
          <p:cNvPr id="28" name="Text 25"/>
          <p:cNvSpPr txBox="1"/>
          <p:nvPr/>
        </p:nvSpPr>
        <p:spPr>
          <a:xfrm>
            <a:off x="1554480" y="5769864"/>
            <a:ext cx="224028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(m, n[l−1])</a:t>
            </a:r>
            <a:endParaRPr lang="en-US" sz="1300" dirty="0"/>
          </a:p>
        </p:txBody>
      </p:sp>
      <p:sp>
        <p:nvSpPr>
          <p:cNvPr id="29" name="Text 26"/>
          <p:cNvSpPr txBox="1"/>
          <p:nvPr/>
        </p:nvSpPr>
        <p:spPr>
          <a:xfrm>
            <a:off x="3337560" y="475488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30" name="Shape 27"/>
          <p:cNvSpPr/>
          <p:nvPr/>
        </p:nvSpPr>
        <p:spPr>
          <a:xfrm>
            <a:off x="3840480" y="4457700"/>
            <a:ext cx="868680" cy="1143000"/>
          </a:xfrm>
          <a:prstGeom prst="rect">
            <a:avLst/>
          </a:prstGeom>
          <a:solidFill>
            <a:schemeClr val="bg1"/>
          </a:solidFill>
          <a:ln w="19050">
            <a:solidFill>
              <a:schemeClr val="tx1"/>
            </a:solidFill>
            <a:prstDash val="solid"/>
          </a:ln>
        </p:spPr>
      </p:sp>
      <p:sp>
        <p:nvSpPr>
          <p:cNvPr id="31" name="Text 28"/>
          <p:cNvSpPr txBox="1"/>
          <p:nvPr/>
        </p:nvSpPr>
        <p:spPr>
          <a:xfrm>
            <a:off x="3566160" y="4457700"/>
            <a:ext cx="1417320" cy="114300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W[l]ᵀ</a:t>
            </a:r>
            <a:endParaRPr lang="en-US" sz="2000" dirty="0"/>
          </a:p>
        </p:txBody>
      </p:sp>
      <p:sp>
        <p:nvSpPr>
          <p:cNvPr id="32" name="Text 29"/>
          <p:cNvSpPr txBox="1"/>
          <p:nvPr/>
        </p:nvSpPr>
        <p:spPr>
          <a:xfrm>
            <a:off x="3291840" y="5655564"/>
            <a:ext cx="19659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(n[l−1], n[l])</a:t>
            </a:r>
            <a:endParaRPr lang="en-US" sz="1300" dirty="0"/>
          </a:p>
        </p:txBody>
      </p:sp>
      <p:sp>
        <p:nvSpPr>
          <p:cNvPr id="33" name="Text 30"/>
          <p:cNvSpPr txBox="1"/>
          <p:nvPr/>
        </p:nvSpPr>
        <p:spPr>
          <a:xfrm>
            <a:off x="4800600" y="475488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34" name="Shape 31"/>
          <p:cNvSpPr/>
          <p:nvPr/>
        </p:nvSpPr>
        <p:spPr>
          <a:xfrm>
            <a:off x="5303520" y="4882896"/>
            <a:ext cx="868680" cy="292608"/>
          </a:xfrm>
          <a:prstGeom prst="rect">
            <a:avLst/>
          </a:prstGeom>
          <a:solidFill>
            <a:schemeClr val="bg1"/>
          </a:solidFill>
          <a:ln w="19050">
            <a:solidFill>
              <a:schemeClr val="tx1"/>
            </a:solidFill>
            <a:prstDash val="solid"/>
          </a:ln>
        </p:spPr>
      </p:sp>
      <p:sp>
        <p:nvSpPr>
          <p:cNvPr id="35" name="Text 32"/>
          <p:cNvSpPr txBox="1"/>
          <p:nvPr/>
        </p:nvSpPr>
        <p:spPr>
          <a:xfrm>
            <a:off x="5029200" y="4882896"/>
            <a:ext cx="1417320" cy="292608"/>
          </a:xfrm>
          <a:prstGeom prst="rect">
            <a:avLst/>
          </a:prstGeom>
          <a:noFill/>
          <a:ln/>
        </p:spPr>
        <p:txBody>
          <a:bodyPr wrap="square" lIns="0" tIns="0" rIns="0" bIns="0" rtlCol="0" anchor="ctr"/>
          <a:lstStyle/>
          <a:p>
            <a:pPr algn="ctr" indent="0" marL="0">
              <a:buNone/>
            </a:pPr>
            <a:r>
              <a:rPr lang="en-US" sz="1400" dirty="0">
                <a:solidFill>
                  <a:schemeClr val="tx1"/>
                </a:solidFill>
                <a:latin typeface="Cambria Math" pitchFamily="34" charset="0"/>
                <a:ea typeface="Cambria Math" pitchFamily="34" charset="-122"/>
                <a:cs typeface="Cambria Math" pitchFamily="34" charset="-120"/>
              </a:rPr>
              <a:t>b[l]</a:t>
            </a:r>
            <a:endParaRPr lang="en-US" sz="1400" dirty="0"/>
          </a:p>
        </p:txBody>
      </p:sp>
      <p:sp>
        <p:nvSpPr>
          <p:cNvPr id="36" name="Text 33"/>
          <p:cNvSpPr txBox="1"/>
          <p:nvPr/>
        </p:nvSpPr>
        <p:spPr>
          <a:xfrm>
            <a:off x="4754880" y="5230368"/>
            <a:ext cx="19659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(1, n[l])</a:t>
            </a:r>
            <a:endParaRPr lang="en-US" sz="1300" dirty="0"/>
          </a:p>
        </p:txBody>
      </p:sp>
      <p:sp>
        <p:nvSpPr>
          <p:cNvPr id="37" name="Shape 34"/>
          <p:cNvSpPr/>
          <p:nvPr/>
        </p:nvSpPr>
        <p:spPr>
          <a:xfrm>
            <a:off x="7772400" y="1645920"/>
            <a:ext cx="3867912" cy="2331720"/>
          </a:xfrm>
          <a:prstGeom prst="roundRect">
            <a:avLst>
              <a:gd name="adj" fmla="val 3137"/>
            </a:avLst>
          </a:prstGeom>
          <a:solidFill>
            <a:schemeClr val="accent1">
              <a:alpha val="10000"/>
            </a:schemeClr>
          </a:solidFill>
          <a:ln w="12700">
            <a:solidFill>
              <a:schemeClr val="accent1">
                <a:alpha val="10000"/>
              </a:schemeClr>
            </a:solidFill>
            <a:prstDash val="solid"/>
          </a:ln>
        </p:spPr>
      </p:sp>
      <p:sp>
        <p:nvSpPr>
          <p:cNvPr id="38" name="Text 35"/>
          <p:cNvSpPr txBox="1"/>
          <p:nvPr/>
        </p:nvSpPr>
        <p:spPr>
          <a:xfrm>
            <a:off x="7973568" y="1847088"/>
            <a:ext cx="34655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nn.Linear(in, out)</a:t>
            </a:r>
            <a:endParaRPr lang="en-US" sz="1900" dirty="0"/>
          </a:p>
        </p:txBody>
      </p:sp>
      <p:sp>
        <p:nvSpPr>
          <p:cNvPr id="39" name="Text 36"/>
          <p:cNvSpPr txBox="1"/>
          <p:nvPr/>
        </p:nvSpPr>
        <p:spPr>
          <a:xfrm>
            <a:off x="7973568" y="2204974"/>
            <a:ext cx="3465576" cy="157149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tx1"/>
                </a:solidFill>
              </a:rPr>
              <a:t>Stores </a:t>
            </a:r>
            <a:r>
              <a:rPr lang="en-US" sz="1600" dirty="0">
                <a:solidFill>
                  <a:schemeClr val="accent1"/>
                </a:solidFill>
                <a:latin typeface="Consolas" pitchFamily="34" charset="0"/>
                <a:ea typeface="Consolas" pitchFamily="34" charset="-122"/>
                <a:cs typeface="Consolas" pitchFamily="34" charset="-120"/>
              </a:rPr>
              <a:t>weight</a:t>
            </a:r>
            <a:r>
              <a:rPr lang="en-US" sz="1600" dirty="0">
                <a:solidFill>
                  <a:schemeClr val="tx1"/>
                </a:solidFill>
              </a:rPr>
              <a:t> as </a:t>
            </a:r>
            <a:r>
              <a:rPr lang="en-US" sz="1600" b="1" dirty="0">
                <a:solidFill>
                  <a:schemeClr val="tx1"/>
                </a:solidFill>
              </a:rPr>
              <a:t>(out, in)</a:t>
            </a:r>
            <a:r>
              <a:rPr lang="en-US" sz="1600" dirty="0">
                <a:solidFill>
                  <a:schemeClr val="tx1"/>
                </a:solidFill>
              </a:rPr>
              <a:t>, the math layout.</a:t>
            </a:r>
            <a:endParaRPr lang="en-US" sz="1600" dirty="0"/>
          </a:p>
          <a:p>
            <a:pPr algn="l" indent="0" marL="0">
              <a:lnSpc>
                <a:spcPct val="105000"/>
              </a:lnSpc>
              <a:buNone/>
            </a:pPr>
            <a:r>
              <a:rPr lang="en-US" sz="1600" dirty="0">
                <a:solidFill>
                  <a:schemeClr val="tx1"/>
                </a:solidFill>
              </a:rPr>
              <a:t>Data flows as rows, so it computes </a:t>
            </a:r>
            <a:r>
              <a:rPr lang="en-US" sz="1600" dirty="0">
                <a:solidFill>
                  <a:schemeClr val="accent1"/>
                </a:solidFill>
                <a:latin typeface="Consolas" pitchFamily="34" charset="0"/>
                <a:ea typeface="Consolas" pitchFamily="34" charset="-122"/>
                <a:cs typeface="Consolas" pitchFamily="34" charset="-120"/>
              </a:rPr>
              <a:t>x @ W.T + b</a:t>
            </a:r>
            <a:r>
              <a:rPr lang="en-US" sz="1600" dirty="0">
                <a:solidFill>
                  <a:schemeClr val="tx1"/>
                </a:solidFill>
              </a:rPr>
              <a:t>.</a:t>
            </a:r>
            <a:endParaRPr lang="en-US" sz="1600" dirty="0"/>
          </a:p>
        </p:txBody>
      </p:sp>
      <p:sp>
        <p:nvSpPr>
          <p:cNvPr id="40" name="Shape 37"/>
          <p:cNvSpPr/>
          <p:nvPr/>
        </p:nvSpPr>
        <p:spPr>
          <a:xfrm>
            <a:off x="7772400" y="4206240"/>
            <a:ext cx="3867912" cy="1783080"/>
          </a:xfrm>
          <a:prstGeom prst="roundRect">
            <a:avLst>
              <a:gd name="adj" fmla="val 4103"/>
            </a:avLst>
          </a:prstGeom>
          <a:solidFill>
            <a:schemeClr val="bg2"/>
          </a:solidFill>
          <a:ln w="12700">
            <a:solidFill>
              <a:schemeClr val="bg2"/>
            </a:solidFill>
            <a:prstDash val="solid"/>
          </a:ln>
        </p:spPr>
      </p:sp>
      <p:sp>
        <p:nvSpPr>
          <p:cNvPr id="41" name="Text 38"/>
          <p:cNvSpPr txBox="1"/>
          <p:nvPr/>
        </p:nvSpPr>
        <p:spPr>
          <a:xfrm>
            <a:off x="7973568" y="4407408"/>
            <a:ext cx="34655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Broadcasting</a:t>
            </a:r>
            <a:endParaRPr lang="en-US" sz="1900" dirty="0"/>
          </a:p>
        </p:txBody>
      </p:sp>
      <p:sp>
        <p:nvSpPr>
          <p:cNvPr id="42" name="Text 39"/>
          <p:cNvSpPr txBox="1"/>
          <p:nvPr/>
        </p:nvSpPr>
        <p:spPr>
          <a:xfrm>
            <a:off x="7973568" y="4765294"/>
            <a:ext cx="3465576" cy="102285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b is added to every column (math) or every row (PyTorch) of the batch.</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Track every shape: 784 → 128 → 64 → 10, batch of 32</a:t>
            </a:r>
            <a:endParaRPr lang="en-US" sz="3000" dirty="0"/>
          </a:p>
        </p:txBody>
      </p:sp>
      <p:sp>
        <p:nvSpPr>
          <p:cNvPr id="5" name="Shape 2"/>
          <p:cNvSpPr/>
          <p:nvPr/>
        </p:nvSpPr>
        <p:spPr>
          <a:xfrm>
            <a:off x="548640" y="1645920"/>
            <a:ext cx="6035040" cy="530352"/>
          </a:xfrm>
          <a:prstGeom prst="roundRect">
            <a:avLst>
              <a:gd name="adj" fmla="val 10345"/>
            </a:avLst>
          </a:prstGeom>
          <a:solidFill>
            <a:schemeClr val="bg2"/>
          </a:solidFill>
          <a:ln w="15875">
            <a:solidFill>
              <a:schemeClr val="bg2"/>
            </a:solidFill>
            <a:prstDash val="solid"/>
          </a:ln>
        </p:spPr>
      </p:sp>
      <p:sp>
        <p:nvSpPr>
          <p:cNvPr id="6" name="Text 3"/>
          <p:cNvSpPr txBox="1"/>
          <p:nvPr/>
        </p:nvSpPr>
        <p:spPr>
          <a:xfrm>
            <a:off x="731520" y="1645920"/>
            <a:ext cx="26517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Input images</a:t>
            </a:r>
            <a:endParaRPr lang="en-US" sz="1700" dirty="0"/>
          </a:p>
        </p:txBody>
      </p:sp>
      <p:sp>
        <p:nvSpPr>
          <p:cNvPr id="7" name="Text 4"/>
          <p:cNvSpPr txBox="1"/>
          <p:nvPr/>
        </p:nvSpPr>
        <p:spPr>
          <a:xfrm>
            <a:off x="3291840" y="1645920"/>
            <a:ext cx="17373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(32, 1, 28, 28)</a:t>
            </a:r>
            <a:endParaRPr lang="en-US" sz="1700" dirty="0"/>
          </a:p>
        </p:txBody>
      </p:sp>
      <p:sp>
        <p:nvSpPr>
          <p:cNvPr id="8" name="Text 5"/>
          <p:cNvSpPr txBox="1"/>
          <p:nvPr/>
        </p:nvSpPr>
        <p:spPr>
          <a:xfrm>
            <a:off x="4800600" y="1645920"/>
            <a:ext cx="1737360" cy="53035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batch, channel, height, width</a:t>
            </a:r>
            <a:endParaRPr lang="en-US" sz="1300" dirty="0"/>
          </a:p>
        </p:txBody>
      </p:sp>
      <p:sp>
        <p:nvSpPr>
          <p:cNvPr id="9" name="Shape 6"/>
          <p:cNvSpPr/>
          <p:nvPr/>
        </p:nvSpPr>
        <p:spPr>
          <a:xfrm>
            <a:off x="3566160" y="2176272"/>
            <a:ext cx="0" cy="201168"/>
          </a:xfrm>
          <a:prstGeom prst="line">
            <a:avLst/>
          </a:prstGeom>
          <a:noFill/>
          <a:ln w="19050">
            <a:solidFill>
              <a:srgbClr val="556270"/>
            </a:solidFill>
            <a:prstDash val="solid"/>
            <a:tailEnd type="triangle"/>
          </a:ln>
        </p:spPr>
      </p:sp>
      <p:sp>
        <p:nvSpPr>
          <p:cNvPr id="10" name="Shape 7"/>
          <p:cNvSpPr/>
          <p:nvPr/>
        </p:nvSpPr>
        <p:spPr>
          <a:xfrm>
            <a:off x="548640" y="2377440"/>
            <a:ext cx="6035040" cy="530352"/>
          </a:xfrm>
          <a:prstGeom prst="roundRect">
            <a:avLst>
              <a:gd name="adj" fmla="val 10345"/>
            </a:avLst>
          </a:prstGeom>
          <a:solidFill>
            <a:schemeClr val="bg1"/>
          </a:solidFill>
          <a:ln w="15875">
            <a:solidFill>
              <a:schemeClr val="tx1"/>
            </a:solidFill>
            <a:prstDash val="solid"/>
          </a:ln>
        </p:spPr>
      </p:sp>
      <p:sp>
        <p:nvSpPr>
          <p:cNvPr id="11" name="Text 8"/>
          <p:cNvSpPr txBox="1"/>
          <p:nvPr/>
        </p:nvSpPr>
        <p:spPr>
          <a:xfrm>
            <a:off x="731520" y="2377440"/>
            <a:ext cx="26517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Flatten</a:t>
            </a:r>
            <a:endParaRPr lang="en-US" sz="1700" dirty="0"/>
          </a:p>
        </p:txBody>
      </p:sp>
      <p:sp>
        <p:nvSpPr>
          <p:cNvPr id="12" name="Text 9"/>
          <p:cNvSpPr txBox="1"/>
          <p:nvPr/>
        </p:nvSpPr>
        <p:spPr>
          <a:xfrm>
            <a:off x="3291840" y="2377440"/>
            <a:ext cx="17373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(32, 784)</a:t>
            </a:r>
            <a:endParaRPr lang="en-US" sz="1700" dirty="0"/>
          </a:p>
        </p:txBody>
      </p:sp>
      <p:sp>
        <p:nvSpPr>
          <p:cNvPr id="13" name="Text 10"/>
          <p:cNvSpPr txBox="1"/>
          <p:nvPr/>
        </p:nvSpPr>
        <p:spPr>
          <a:xfrm>
            <a:off x="4800600" y="2377440"/>
            <a:ext cx="1737360" cy="53035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1 × 28 × 28 = 784</a:t>
            </a:r>
            <a:endParaRPr lang="en-US" sz="1300" dirty="0"/>
          </a:p>
        </p:txBody>
      </p:sp>
      <p:sp>
        <p:nvSpPr>
          <p:cNvPr id="14" name="Shape 11"/>
          <p:cNvSpPr/>
          <p:nvPr/>
        </p:nvSpPr>
        <p:spPr>
          <a:xfrm>
            <a:off x="3566160" y="2907792"/>
            <a:ext cx="0" cy="201168"/>
          </a:xfrm>
          <a:prstGeom prst="line">
            <a:avLst/>
          </a:prstGeom>
          <a:noFill/>
          <a:ln w="19050">
            <a:solidFill>
              <a:srgbClr val="556270"/>
            </a:solidFill>
            <a:prstDash val="solid"/>
            <a:tailEnd type="triangle"/>
          </a:ln>
        </p:spPr>
      </p:sp>
      <p:sp>
        <p:nvSpPr>
          <p:cNvPr id="15" name="Shape 12"/>
          <p:cNvSpPr/>
          <p:nvPr/>
        </p:nvSpPr>
        <p:spPr>
          <a:xfrm>
            <a:off x="548640" y="3108960"/>
            <a:ext cx="6035040" cy="530352"/>
          </a:xfrm>
          <a:prstGeom prst="roundRect">
            <a:avLst>
              <a:gd name="adj" fmla="val 10345"/>
            </a:avLst>
          </a:prstGeom>
          <a:solidFill>
            <a:schemeClr val="accent1">
              <a:alpha val="10000"/>
            </a:schemeClr>
          </a:solidFill>
          <a:ln w="15875">
            <a:solidFill>
              <a:schemeClr val="accent1"/>
            </a:solidFill>
            <a:prstDash val="solid"/>
          </a:ln>
        </p:spPr>
      </p:sp>
      <p:sp>
        <p:nvSpPr>
          <p:cNvPr id="16" name="Text 13"/>
          <p:cNvSpPr txBox="1"/>
          <p:nvPr/>
        </p:nvSpPr>
        <p:spPr>
          <a:xfrm>
            <a:off x="731520" y="3108960"/>
            <a:ext cx="26517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Linear + ReLU</a:t>
            </a:r>
            <a:endParaRPr lang="en-US" sz="1700" dirty="0"/>
          </a:p>
        </p:txBody>
      </p:sp>
      <p:sp>
        <p:nvSpPr>
          <p:cNvPr id="17" name="Text 14"/>
          <p:cNvSpPr txBox="1"/>
          <p:nvPr/>
        </p:nvSpPr>
        <p:spPr>
          <a:xfrm>
            <a:off x="3291840" y="3108960"/>
            <a:ext cx="17373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(32, 128)</a:t>
            </a:r>
            <a:endParaRPr lang="en-US" sz="1700" dirty="0"/>
          </a:p>
        </p:txBody>
      </p:sp>
      <p:sp>
        <p:nvSpPr>
          <p:cNvPr id="18" name="Text 15"/>
          <p:cNvSpPr txBox="1"/>
          <p:nvPr/>
        </p:nvSpPr>
        <p:spPr>
          <a:xfrm>
            <a:off x="4800600" y="3108960"/>
            <a:ext cx="1737360" cy="53035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W[1]: (128, 784)</a:t>
            </a:r>
            <a:endParaRPr lang="en-US" sz="1300" dirty="0"/>
          </a:p>
        </p:txBody>
      </p:sp>
      <p:sp>
        <p:nvSpPr>
          <p:cNvPr id="19" name="Shape 16"/>
          <p:cNvSpPr/>
          <p:nvPr/>
        </p:nvSpPr>
        <p:spPr>
          <a:xfrm>
            <a:off x="3566160" y="3639312"/>
            <a:ext cx="0" cy="201168"/>
          </a:xfrm>
          <a:prstGeom prst="line">
            <a:avLst/>
          </a:prstGeom>
          <a:noFill/>
          <a:ln w="19050">
            <a:solidFill>
              <a:srgbClr val="556270"/>
            </a:solidFill>
            <a:prstDash val="solid"/>
            <a:tailEnd type="triangle"/>
          </a:ln>
        </p:spPr>
      </p:sp>
      <p:sp>
        <p:nvSpPr>
          <p:cNvPr id="20" name="Shape 17"/>
          <p:cNvSpPr/>
          <p:nvPr/>
        </p:nvSpPr>
        <p:spPr>
          <a:xfrm>
            <a:off x="548640" y="3840480"/>
            <a:ext cx="6035040" cy="530352"/>
          </a:xfrm>
          <a:prstGeom prst="roundRect">
            <a:avLst>
              <a:gd name="adj" fmla="val 10345"/>
            </a:avLst>
          </a:prstGeom>
          <a:solidFill>
            <a:schemeClr val="accent1">
              <a:alpha val="10000"/>
            </a:schemeClr>
          </a:solidFill>
          <a:ln w="15875">
            <a:solidFill>
              <a:schemeClr val="accent1"/>
            </a:solidFill>
            <a:prstDash val="solid"/>
          </a:ln>
        </p:spPr>
      </p:sp>
      <p:sp>
        <p:nvSpPr>
          <p:cNvPr id="21" name="Text 18"/>
          <p:cNvSpPr txBox="1"/>
          <p:nvPr/>
        </p:nvSpPr>
        <p:spPr>
          <a:xfrm>
            <a:off x="731520" y="3840480"/>
            <a:ext cx="26517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Linear + ReLU</a:t>
            </a:r>
            <a:endParaRPr lang="en-US" sz="1700" dirty="0"/>
          </a:p>
        </p:txBody>
      </p:sp>
      <p:sp>
        <p:nvSpPr>
          <p:cNvPr id="22" name="Text 19"/>
          <p:cNvSpPr txBox="1"/>
          <p:nvPr/>
        </p:nvSpPr>
        <p:spPr>
          <a:xfrm>
            <a:off x="3291840" y="3840480"/>
            <a:ext cx="17373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(32, 64)</a:t>
            </a:r>
            <a:endParaRPr lang="en-US" sz="1700" dirty="0"/>
          </a:p>
        </p:txBody>
      </p:sp>
      <p:sp>
        <p:nvSpPr>
          <p:cNvPr id="23" name="Text 20"/>
          <p:cNvSpPr txBox="1"/>
          <p:nvPr/>
        </p:nvSpPr>
        <p:spPr>
          <a:xfrm>
            <a:off x="4800600" y="3840480"/>
            <a:ext cx="1737360" cy="53035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W[2]: (64, 128)</a:t>
            </a:r>
            <a:endParaRPr lang="en-US" sz="1300" dirty="0"/>
          </a:p>
        </p:txBody>
      </p:sp>
      <p:sp>
        <p:nvSpPr>
          <p:cNvPr id="24" name="Shape 21"/>
          <p:cNvSpPr/>
          <p:nvPr/>
        </p:nvSpPr>
        <p:spPr>
          <a:xfrm>
            <a:off x="3566160" y="4370832"/>
            <a:ext cx="0" cy="201168"/>
          </a:xfrm>
          <a:prstGeom prst="line">
            <a:avLst/>
          </a:prstGeom>
          <a:noFill/>
          <a:ln w="19050">
            <a:solidFill>
              <a:srgbClr val="556270"/>
            </a:solidFill>
            <a:prstDash val="solid"/>
            <a:tailEnd type="triangle"/>
          </a:ln>
        </p:spPr>
      </p:sp>
      <p:sp>
        <p:nvSpPr>
          <p:cNvPr id="25" name="Shape 22"/>
          <p:cNvSpPr/>
          <p:nvPr/>
        </p:nvSpPr>
        <p:spPr>
          <a:xfrm>
            <a:off x="548640" y="4572000"/>
            <a:ext cx="6035040" cy="530352"/>
          </a:xfrm>
          <a:prstGeom prst="roundRect">
            <a:avLst>
              <a:gd name="adj" fmla="val 10345"/>
            </a:avLst>
          </a:prstGeom>
          <a:solidFill>
            <a:schemeClr val="accent1">
              <a:alpha val="10000"/>
            </a:schemeClr>
          </a:solidFill>
          <a:ln w="15875">
            <a:solidFill>
              <a:schemeClr val="accent1"/>
            </a:solidFill>
            <a:prstDash val="solid"/>
          </a:ln>
        </p:spPr>
      </p:sp>
      <p:sp>
        <p:nvSpPr>
          <p:cNvPr id="26" name="Text 23"/>
          <p:cNvSpPr txBox="1"/>
          <p:nvPr/>
        </p:nvSpPr>
        <p:spPr>
          <a:xfrm>
            <a:off x="731520" y="4572000"/>
            <a:ext cx="26517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Linear → logits</a:t>
            </a:r>
            <a:endParaRPr lang="en-US" sz="1700" dirty="0"/>
          </a:p>
        </p:txBody>
      </p:sp>
      <p:sp>
        <p:nvSpPr>
          <p:cNvPr id="27" name="Text 24"/>
          <p:cNvSpPr txBox="1"/>
          <p:nvPr/>
        </p:nvSpPr>
        <p:spPr>
          <a:xfrm>
            <a:off x="3291840" y="4572000"/>
            <a:ext cx="17373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(32, 10)</a:t>
            </a:r>
            <a:endParaRPr lang="en-US" sz="1700" dirty="0"/>
          </a:p>
        </p:txBody>
      </p:sp>
      <p:sp>
        <p:nvSpPr>
          <p:cNvPr id="28" name="Text 25"/>
          <p:cNvSpPr txBox="1"/>
          <p:nvPr/>
        </p:nvSpPr>
        <p:spPr>
          <a:xfrm>
            <a:off x="4800600" y="4572000"/>
            <a:ext cx="1737360" cy="53035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W[3]: (10, 64), no activation</a:t>
            </a:r>
            <a:endParaRPr lang="en-US" sz="1300" dirty="0"/>
          </a:p>
        </p:txBody>
      </p:sp>
      <p:sp>
        <p:nvSpPr>
          <p:cNvPr id="29" name="Shape 26"/>
          <p:cNvSpPr/>
          <p:nvPr/>
        </p:nvSpPr>
        <p:spPr>
          <a:xfrm>
            <a:off x="3566160" y="5102352"/>
            <a:ext cx="0" cy="201168"/>
          </a:xfrm>
          <a:prstGeom prst="line">
            <a:avLst/>
          </a:prstGeom>
          <a:noFill/>
          <a:ln w="19050">
            <a:solidFill>
              <a:srgbClr val="556270"/>
            </a:solidFill>
            <a:prstDash val="solid"/>
            <a:tailEnd type="triangle"/>
          </a:ln>
        </p:spPr>
      </p:sp>
      <p:sp>
        <p:nvSpPr>
          <p:cNvPr id="30" name="Shape 27"/>
          <p:cNvSpPr/>
          <p:nvPr/>
        </p:nvSpPr>
        <p:spPr>
          <a:xfrm>
            <a:off x="548640" y="5303520"/>
            <a:ext cx="6035040" cy="530352"/>
          </a:xfrm>
          <a:prstGeom prst="roundRect">
            <a:avLst>
              <a:gd name="adj" fmla="val 10345"/>
            </a:avLst>
          </a:prstGeom>
          <a:solidFill>
            <a:schemeClr val="bg1"/>
          </a:solidFill>
          <a:ln w="15875">
            <a:solidFill>
              <a:schemeClr val="tx1"/>
            </a:solidFill>
            <a:prstDash val="solid"/>
          </a:ln>
        </p:spPr>
      </p:sp>
      <p:sp>
        <p:nvSpPr>
          <p:cNvPr id="31" name="Text 28"/>
          <p:cNvSpPr txBox="1"/>
          <p:nvPr/>
        </p:nvSpPr>
        <p:spPr>
          <a:xfrm>
            <a:off x="731520" y="5303520"/>
            <a:ext cx="26517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Softmax (in the loss)</a:t>
            </a:r>
            <a:endParaRPr lang="en-US" sz="1700" dirty="0"/>
          </a:p>
        </p:txBody>
      </p:sp>
      <p:sp>
        <p:nvSpPr>
          <p:cNvPr id="32" name="Text 29"/>
          <p:cNvSpPr txBox="1"/>
          <p:nvPr/>
        </p:nvSpPr>
        <p:spPr>
          <a:xfrm>
            <a:off x="3291840" y="5303520"/>
            <a:ext cx="1737360" cy="530352"/>
          </a:xfrm>
          <a:prstGeom prst="rect">
            <a:avLst/>
          </a:prstGeom>
          <a:noFill/>
          <a:ln/>
        </p:spPr>
        <p:txBody>
          <a:bodyPr wrap="square" lIns="0" tIns="0" rIns="0" bIns="0" rtlCol="0" anchor="ctr"/>
          <a:lstStyle/>
          <a:p>
            <a:pPr algn="l" indent="0" marL="0">
              <a:lnSpc>
                <a:spcPct val="105000"/>
              </a:lnSpc>
              <a:buNone/>
            </a:pPr>
            <a:r>
              <a:rPr lang="en-US" sz="1700" b="1" dirty="0">
                <a:solidFill>
                  <a:schemeClr val="accent1"/>
                </a:solidFill>
                <a:latin typeface="Cambria Math" pitchFamily="34" charset="0"/>
                <a:ea typeface="Cambria Math" pitchFamily="34" charset="-122"/>
                <a:cs typeface="Cambria Math" pitchFamily="34" charset="-120"/>
              </a:rPr>
              <a:t>(32, 10)</a:t>
            </a:r>
            <a:endParaRPr lang="en-US" sz="1700" dirty="0"/>
          </a:p>
        </p:txBody>
      </p:sp>
      <p:sp>
        <p:nvSpPr>
          <p:cNvPr id="33" name="Text 30"/>
          <p:cNvSpPr txBox="1"/>
          <p:nvPr/>
        </p:nvSpPr>
        <p:spPr>
          <a:xfrm>
            <a:off x="4800600" y="5303520"/>
            <a:ext cx="1737360" cy="53035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each row sums to 1</a:t>
            </a:r>
            <a:endParaRPr lang="en-US" sz="1300" dirty="0"/>
          </a:p>
        </p:txBody>
      </p:sp>
      <p:sp>
        <p:nvSpPr>
          <p:cNvPr id="34" name="Shape 31"/>
          <p:cNvSpPr/>
          <p:nvPr/>
        </p:nvSpPr>
        <p:spPr>
          <a:xfrm>
            <a:off x="7132320" y="1645920"/>
            <a:ext cx="4507992" cy="2057400"/>
          </a:xfrm>
          <a:prstGeom prst="roundRect">
            <a:avLst>
              <a:gd name="adj" fmla="val 3556"/>
            </a:avLst>
          </a:prstGeom>
          <a:solidFill>
            <a:schemeClr val="accent1">
              <a:alpha val="10000"/>
            </a:schemeClr>
          </a:solidFill>
          <a:ln w="12700">
            <a:solidFill>
              <a:schemeClr val="accent1">
                <a:alpha val="10000"/>
              </a:schemeClr>
            </a:solidFill>
            <a:prstDash val="solid"/>
          </a:ln>
        </p:spPr>
      </p:sp>
      <p:sp>
        <p:nvSpPr>
          <p:cNvPr id="35" name="Text 32"/>
          <p:cNvSpPr txBox="1"/>
          <p:nvPr/>
        </p:nvSpPr>
        <p:spPr>
          <a:xfrm>
            <a:off x="7360920" y="1783080"/>
            <a:ext cx="4114800" cy="685800"/>
          </a:xfrm>
          <a:prstGeom prst="rect">
            <a:avLst/>
          </a:prstGeom>
          <a:noFill/>
          <a:ln/>
        </p:spPr>
        <p:txBody>
          <a:bodyPr wrap="square" lIns="0" tIns="0" rIns="0" bIns="0" rtlCol="0" anchor="t"/>
          <a:lstStyle/>
          <a:p>
            <a:pPr algn="l" indent="0" marL="0">
              <a:lnSpc>
                <a:spcPct val="105000"/>
              </a:lnSpc>
              <a:buNone/>
            </a:pPr>
            <a:r>
              <a:rPr lang="en-US" sz="3400" b="1" dirty="0">
                <a:solidFill>
                  <a:schemeClr val="accent1"/>
                </a:solidFill>
              </a:rPr>
              <a:t>32 in, 32 out</a:t>
            </a:r>
            <a:endParaRPr lang="en-US" sz="3400" dirty="0"/>
          </a:p>
        </p:txBody>
      </p:sp>
      <p:sp>
        <p:nvSpPr>
          <p:cNvPr id="36" name="Text 33"/>
          <p:cNvSpPr txBox="1"/>
          <p:nvPr/>
        </p:nvSpPr>
        <p:spPr>
          <a:xfrm>
            <a:off x="7360920" y="2560320"/>
            <a:ext cx="4114800" cy="914400"/>
          </a:xfrm>
          <a:prstGeom prst="rect">
            <a:avLst/>
          </a:prstGeom>
          <a:noFill/>
          <a:ln/>
        </p:spPr>
        <p:txBody>
          <a:bodyPr wrap="square" lIns="0" tIns="0" rIns="0" bIns="0" rtlCol="0" anchor="t"/>
          <a:lstStyle/>
          <a:p>
            <a:pPr algn="l" indent="0" marL="0">
              <a:lnSpc>
                <a:spcPct val="105000"/>
              </a:lnSpc>
              <a:buNone/>
            </a:pPr>
            <a:r>
              <a:rPr lang="en-US" sz="1700" dirty="0">
                <a:solidFill>
                  <a:schemeClr val="tx1"/>
                </a:solidFill>
              </a:rPr>
              <a:t>The batch dimension never changes. If it does, a reshape is wrong.</a:t>
            </a:r>
            <a:endParaRPr lang="en-US" sz="1700" dirty="0"/>
          </a:p>
        </p:txBody>
      </p:sp>
      <p:sp>
        <p:nvSpPr>
          <p:cNvPr id="37" name="Shape 34"/>
          <p:cNvSpPr/>
          <p:nvPr/>
        </p:nvSpPr>
        <p:spPr>
          <a:xfrm>
            <a:off x="7132320" y="3931920"/>
            <a:ext cx="4507992" cy="1920240"/>
          </a:xfrm>
          <a:prstGeom prst="roundRect">
            <a:avLst>
              <a:gd name="adj" fmla="val 3810"/>
            </a:avLst>
          </a:prstGeom>
          <a:solidFill>
            <a:schemeClr val="bg2"/>
          </a:solidFill>
          <a:ln w="12700">
            <a:solidFill>
              <a:schemeClr val="bg2"/>
            </a:solidFill>
            <a:prstDash val="solid"/>
          </a:ln>
        </p:spPr>
      </p:sp>
      <p:sp>
        <p:nvSpPr>
          <p:cNvPr id="38" name="Text 35"/>
          <p:cNvSpPr txBox="1"/>
          <p:nvPr/>
        </p:nvSpPr>
        <p:spPr>
          <a:xfrm>
            <a:off x="7333488" y="4133088"/>
            <a:ext cx="41056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Keep a shapes notebook</a:t>
            </a:r>
            <a:endParaRPr lang="en-US" sz="1900" dirty="0"/>
          </a:p>
        </p:txBody>
      </p:sp>
      <p:sp>
        <p:nvSpPr>
          <p:cNvPr id="39" name="Text 36"/>
          <p:cNvSpPr txBox="1"/>
          <p:nvPr/>
        </p:nvSpPr>
        <p:spPr>
          <a:xfrm>
            <a:off x="7333488" y="4490974"/>
            <a:ext cx="4105656" cy="11600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Write the tensor shape after every layer of every model you build. About half of real bugs are shape bugs.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Layer 1 holds 92% of the 109,386 parameters</a:t>
            </a:r>
            <a:endParaRPr lang="en-US" sz="3000" dirty="0"/>
          </a:p>
        </p:txBody>
      </p:sp>
      <p:graphicFrame>
        <p:nvGraphicFramePr>
          <p:cNvPr id="5" name="Chart 0" descr=""/>
          <p:cNvGraphicFramePr/>
          <p:nvPr/>
        </p:nvGraphicFramePr>
        <p:xfrm>
          <a:off x="457200" y="1600200"/>
          <a:ext cx="576072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577840"/>
            <a:ext cx="5669280"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Parameters per layer</a:t>
            </a:r>
            <a:endParaRPr lang="en-US" sz="1400" dirty="0"/>
          </a:p>
        </p:txBody>
      </p:sp>
      <p:sp>
        <p:nvSpPr>
          <p:cNvPr id="7" name="Shape 3"/>
          <p:cNvSpPr/>
          <p:nvPr/>
        </p:nvSpPr>
        <p:spPr>
          <a:xfrm>
            <a:off x="6675120" y="1645920"/>
            <a:ext cx="4965192" cy="2349373"/>
          </a:xfrm>
          <a:prstGeom prst="roundRect">
            <a:avLst>
              <a:gd name="adj" fmla="val 3114"/>
            </a:avLst>
          </a:prstGeom>
          <a:solidFill>
            <a:schemeClr val="accent1">
              <a:alpha val="10000"/>
            </a:schemeClr>
          </a:solidFill>
          <a:ln w="12700">
            <a:solidFill>
              <a:schemeClr val="accent1">
                <a:alpha val="10000"/>
              </a:schemeClr>
            </a:solidFill>
            <a:prstDash val="solid"/>
          </a:ln>
        </p:spPr>
      </p:sp>
      <p:sp>
        <p:nvSpPr>
          <p:cNvPr id="8" name="Text 4"/>
          <p:cNvSpPr txBox="1"/>
          <p:nvPr/>
        </p:nvSpPr>
        <p:spPr>
          <a:xfrm>
            <a:off x="6903720" y="1792224"/>
            <a:ext cx="450799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WEIGHTS PLUS BIASES</a:t>
            </a:r>
            <a:endParaRPr lang="en-US" sz="1200" dirty="0"/>
          </a:p>
        </p:txBody>
      </p:sp>
      <p:sp>
        <p:nvSpPr>
          <p:cNvPr id="9" name="Text 5"/>
          <p:cNvSpPr txBox="1"/>
          <p:nvPr/>
        </p:nvSpPr>
        <p:spPr>
          <a:xfrm>
            <a:off x="6903720" y="2221992"/>
            <a:ext cx="4507992" cy="1581277"/>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params = Σₗ ( n[l]·n[l−1] + n[l] )</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Layer 1:  784·128 + 128 = 100,480</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Layer 2:  128·64 + 64 = 8,256</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Layer 3:  64·10 + 10 = 650</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Total: 109,386</a:t>
            </a:r>
            <a:endParaRPr lang="en-US" sz="1900" dirty="0"/>
          </a:p>
        </p:txBody>
      </p:sp>
      <p:sp>
        <p:nvSpPr>
          <p:cNvPr id="10" name="Shape 6"/>
          <p:cNvSpPr/>
          <p:nvPr/>
        </p:nvSpPr>
        <p:spPr>
          <a:xfrm>
            <a:off x="6675120" y="4343400"/>
            <a:ext cx="4965192" cy="600456"/>
          </a:xfrm>
          <a:prstGeom prst="roundRect">
            <a:avLst>
              <a:gd name="adj" fmla="val 12183"/>
            </a:avLst>
          </a:prstGeom>
          <a:solidFill>
            <a:schemeClr val="bg2"/>
          </a:solidFill>
          <a:ln w="12700">
            <a:solidFill>
              <a:schemeClr val="bg2"/>
            </a:solidFill>
            <a:prstDash val="solid"/>
          </a:ln>
        </p:spPr>
      </p:sp>
      <p:sp>
        <p:nvSpPr>
          <p:cNvPr id="11" name="Text 7"/>
          <p:cNvSpPr txBox="1"/>
          <p:nvPr/>
        </p:nvSpPr>
        <p:spPr>
          <a:xfrm>
            <a:off x="6876288" y="4517136"/>
            <a:ext cx="4562856" cy="252984"/>
          </a:xfrm>
          <a:prstGeom prst="rect">
            <a:avLst/>
          </a:prstGeom>
          <a:noFill/>
          <a:ln/>
        </p:spPr>
        <p:txBody>
          <a:bodyPr wrap="square" lIns="0" tIns="0" rIns="0" bIns="0" rtlCol="0" anchor="t"/>
          <a:lstStyle/>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sum(p.numel() for p in model.parameters())</a:t>
            </a:r>
            <a:endParaRPr lang="en-US" sz="1300" dirty="0"/>
          </a:p>
        </p:txBody>
      </p:sp>
      <p:sp>
        <p:nvSpPr>
          <p:cNvPr id="12" name="Text 8"/>
          <p:cNvSpPr txBox="1"/>
          <p:nvPr/>
        </p:nvSpPr>
        <p:spPr>
          <a:xfrm>
            <a:off x="6675120" y="5166360"/>
            <a:ext cx="4965192" cy="73152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Fully connecting a large input is expensive: the seed of the case for convolutions.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The universal approximation theorem, stated honestly</a:t>
            </a:r>
            <a:endParaRPr lang="en-US" sz="3000" dirty="0"/>
          </a:p>
        </p:txBody>
      </p:sp>
      <p:sp>
        <p:nvSpPr>
          <p:cNvPr id="5" name="Shape 2"/>
          <p:cNvSpPr/>
          <p:nvPr/>
        </p:nvSpPr>
        <p:spPr>
          <a:xfrm>
            <a:off x="548640" y="1645920"/>
            <a:ext cx="11091672" cy="2194560"/>
          </a:xfrm>
          <a:prstGeom prst="roundRect">
            <a:avLst>
              <a:gd name="adj" fmla="val 3333"/>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83080"/>
            <a:ext cx="105156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THEOREM (CYBENKO 1989; HORNIK 1991; LESHNO ET AL. 1993) — INFORMAL</a:t>
            </a:r>
            <a:endParaRPr lang="en-US" sz="1200" dirty="0"/>
          </a:p>
        </p:txBody>
      </p:sp>
      <p:sp>
        <p:nvSpPr>
          <p:cNvPr id="7" name="Text 4"/>
          <p:cNvSpPr txBox="1"/>
          <p:nvPr/>
        </p:nvSpPr>
        <p:spPr>
          <a:xfrm>
            <a:off x="777240" y="2194560"/>
            <a:ext cx="10607040" cy="1508760"/>
          </a:xfrm>
          <a:prstGeom prst="rect">
            <a:avLst/>
          </a:prstGeom>
          <a:noFill/>
          <a:ln/>
        </p:spPr>
        <p:txBody>
          <a:bodyPr wrap="square" lIns="0" tIns="0" rIns="0" bIns="0" rtlCol="0" anchor="t"/>
          <a:lstStyle/>
          <a:p>
            <a:pPr algn="l" indent="0" marL="0">
              <a:lnSpc>
                <a:spcPct val="105000"/>
              </a:lnSpc>
              <a:buNone/>
            </a:pPr>
            <a:r>
              <a:rPr lang="en-US" sz="2100" dirty="0">
                <a:solidFill>
                  <a:schemeClr val="tx1"/>
                </a:solidFill>
              </a:rPr>
              <a:t>Let f be continuous on a compact set K ⊂ ℝⁿ. For any ε &gt; 0 there is a network with </a:t>
            </a:r>
            <a:r>
              <a:rPr lang="en-US" sz="2100" b="1" dirty="0">
                <a:solidFill>
                  <a:schemeClr val="tx1"/>
                </a:solidFill>
              </a:rPr>
              <a:t>one hidden layer</a:t>
            </a:r>
            <a:r>
              <a:rPr lang="en-US" sz="2100" dirty="0">
                <a:solidFill>
                  <a:schemeClr val="tx1"/>
                </a:solidFill>
              </a:rPr>
              <a:t>, </a:t>
            </a:r>
            <a:r>
              <a:rPr lang="en-US" sz="2100" b="1" dirty="0">
                <a:solidFill>
                  <a:schemeClr val="tx1"/>
                </a:solidFill>
              </a:rPr>
              <a:t>finitely many units</a:t>
            </a:r>
            <a:r>
              <a:rPr lang="en-US" sz="2100" dirty="0">
                <a:solidFill>
                  <a:schemeClr val="tx1"/>
                </a:solidFill>
              </a:rPr>
              <a:t> and a </a:t>
            </a:r>
            <a:r>
              <a:rPr lang="en-US" sz="2100" b="1" dirty="0">
                <a:solidFill>
                  <a:schemeClr val="tx1"/>
                </a:solidFill>
              </a:rPr>
              <a:t>non-polynomial activation</a:t>
            </a:r>
            <a:r>
              <a:rPr lang="en-US" sz="2100" dirty="0">
                <a:solidFill>
                  <a:schemeClr val="tx1"/>
                </a:solidFill>
              </a:rPr>
              <a:t> whose output F satisfies </a:t>
            </a:r>
            <a:r>
              <a:rPr lang="en-US" sz="2100" dirty="0">
                <a:solidFill>
                  <a:schemeClr val="tx1"/>
                </a:solidFill>
                <a:latin typeface="Cambria Math" pitchFamily="34" charset="0"/>
                <a:ea typeface="Cambria Math" pitchFamily="34" charset="-122"/>
                <a:cs typeface="Cambria Math" pitchFamily="34" charset="-120"/>
              </a:rPr>
              <a:t>|F(x) − f(x)| &lt; ε</a:t>
            </a:r>
            <a:r>
              <a:rPr lang="en-US" sz="2100" dirty="0">
                <a:solidFill>
                  <a:schemeClr val="tx1"/>
                </a:solidFill>
              </a:rPr>
              <a:t> for all x in K.</a:t>
            </a:r>
            <a:endParaRPr lang="en-US" sz="2100" dirty="0"/>
          </a:p>
        </p:txBody>
      </p:sp>
      <p:sp>
        <p:nvSpPr>
          <p:cNvPr id="8" name="Shape 5"/>
          <p:cNvSpPr/>
          <p:nvPr/>
        </p:nvSpPr>
        <p:spPr>
          <a:xfrm>
            <a:off x="548640" y="4114800"/>
            <a:ext cx="11091672" cy="777240"/>
          </a:xfrm>
          <a:prstGeom prst="roundRect">
            <a:avLst>
              <a:gd name="adj" fmla="val 9412"/>
            </a:avLst>
          </a:prstGeom>
          <a:solidFill>
            <a:schemeClr val="accent2">
              <a:alpha val="12000"/>
            </a:schemeClr>
          </a:solidFill>
          <a:ln w="12700">
            <a:solidFill>
              <a:schemeClr val="accent2">
                <a:alpha val="12000"/>
              </a:schemeClr>
            </a:solidFill>
            <a:prstDash val="solid"/>
          </a:ln>
        </p:spPr>
      </p:sp>
      <p:sp>
        <p:nvSpPr>
          <p:cNvPr id="9" name="Text 6"/>
          <p:cNvSpPr txBox="1"/>
          <p:nvPr/>
        </p:nvSpPr>
        <p:spPr>
          <a:xfrm>
            <a:off x="777240" y="4114800"/>
            <a:ext cx="10634472" cy="777240"/>
          </a:xfrm>
          <a:prstGeom prst="rect">
            <a:avLst/>
          </a:prstGeom>
          <a:noFill/>
          <a:ln/>
        </p:spPr>
        <p:txBody>
          <a:bodyPr wrap="square" lIns="0" tIns="0" rIns="0" bIns="0" rtlCol="0" anchor="ctr"/>
          <a:lstStyle/>
          <a:p>
            <a:pPr algn="l" indent="0" marL="0">
              <a:lnSpc>
                <a:spcPct val="105000"/>
              </a:lnSpc>
              <a:buNone/>
            </a:pPr>
            <a:r>
              <a:rPr lang="en-US" sz="2100" b="1" dirty="0">
                <a:solidFill>
                  <a:schemeClr val="accent2"/>
                </a:solidFill>
              </a:rPr>
              <a:t>It settles one question: expressive power is not the bottleneck.</a:t>
            </a:r>
            <a:endParaRPr lang="en-US" sz="2100" dirty="0"/>
          </a:p>
        </p:txBody>
      </p:sp>
      <p:sp>
        <p:nvSpPr>
          <p:cNvPr id="10" name="Text 7"/>
          <p:cNvSpPr txBox="1"/>
          <p:nvPr/>
        </p:nvSpPr>
        <p:spPr>
          <a:xfrm>
            <a:off x="548640" y="5120640"/>
            <a:ext cx="11091672" cy="822960"/>
          </a:xfrm>
          <a:prstGeom prst="rect">
            <a:avLst/>
          </a:prstGeom>
          <a:noFill/>
          <a:ln/>
        </p:spPr>
        <p:txBody>
          <a:bodyPr wrap="square" lIns="0" tIns="0" rIns="0" bIns="0" rtlCol="0" anchor="t"/>
          <a:lstStyle/>
          <a:p>
            <a:pPr algn="l" indent="0" marL="0">
              <a:lnSpc>
                <a:spcPct val="105000"/>
              </a:lnSpc>
              <a:buNone/>
            </a:pPr>
            <a:r>
              <a:rPr lang="en-US" sz="1800" dirty="0">
                <a:solidFill>
                  <a:schemeClr val="tx1"/>
                </a:solidFill>
              </a:rPr>
              <a:t>A dual result (Lu et al., 2017): networks of </a:t>
            </a:r>
            <a:r>
              <a:rPr lang="en-US" sz="1800" b="1" dirty="0">
                <a:solidFill>
                  <a:schemeClr val="tx1"/>
                </a:solidFill>
              </a:rPr>
              <a:t>bounded width</a:t>
            </a:r>
            <a:r>
              <a:rPr lang="en-US" sz="1800" dirty="0">
                <a:solidFill>
                  <a:schemeClr val="tx1"/>
                </a:solidFill>
              </a:rPr>
              <a:t> but unbounded depth are also universal. Depth and width trade off — lecture 2, §8.</a:t>
            </a:r>
            <a:endParaRPr lang="en-US" sz="18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qualifications the slogan leaves out</a:t>
            </a:r>
            <a:endParaRPr lang="en-US" sz="3000" dirty="0"/>
          </a:p>
        </p:txBody>
      </p:sp>
      <p:sp>
        <p:nvSpPr>
          <p:cNvPr id="5" name="Shape 2"/>
          <p:cNvSpPr/>
          <p:nvPr/>
        </p:nvSpPr>
        <p:spPr>
          <a:xfrm>
            <a:off x="758952" y="1901952"/>
            <a:ext cx="0" cy="3236976"/>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Continuous, on a compact set</a:t>
            </a:r>
            <a:endParaRPr lang="en-US" sz="1900" dirty="0"/>
          </a:p>
        </p:txBody>
      </p:sp>
      <p:sp>
        <p:nvSpPr>
          <p:cNvPr id="9" name="Text 6"/>
          <p:cNvSpPr txBox="1"/>
          <p:nvPr/>
        </p:nvSpPr>
        <p:spPr>
          <a:xfrm>
            <a:off x="1197864" y="2031238"/>
            <a:ext cx="602589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Not “any function”: discontinuities and unbounded domains are excluded.</a:t>
            </a:r>
            <a:endParaRPr lang="en-US" sz="1600" dirty="0"/>
          </a:p>
        </p:txBody>
      </p:sp>
      <p:sp>
        <p:nvSpPr>
          <p:cNvPr id="10" name="Shape 7"/>
          <p:cNvSpPr/>
          <p:nvPr/>
        </p:nvSpPr>
        <p:spPr>
          <a:xfrm>
            <a:off x="548640" y="2770632"/>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2807208"/>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Finite width, but how wide?</a:t>
            </a:r>
            <a:endParaRPr lang="en-US" sz="1900" dirty="0"/>
          </a:p>
        </p:txBody>
      </p:sp>
      <p:sp>
        <p:nvSpPr>
          <p:cNvPr id="13" name="Text 10"/>
          <p:cNvSpPr txBox="1"/>
          <p:nvPr/>
        </p:nvSpPr>
        <p:spPr>
          <a:xfrm>
            <a:off x="1197864" y="3110230"/>
            <a:ext cx="602589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The required width can be exponential in the input dimension.</a:t>
            </a:r>
            <a:endParaRPr lang="en-US" sz="1600" dirty="0"/>
          </a:p>
        </p:txBody>
      </p:sp>
      <p:sp>
        <p:nvSpPr>
          <p:cNvPr id="14" name="Shape 11"/>
          <p:cNvSpPr/>
          <p:nvPr/>
        </p:nvSpPr>
        <p:spPr>
          <a:xfrm>
            <a:off x="548640" y="3849624"/>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3886200"/>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Existence, not findability</a:t>
            </a:r>
            <a:endParaRPr lang="en-US" sz="1900" dirty="0"/>
          </a:p>
        </p:txBody>
      </p:sp>
      <p:sp>
        <p:nvSpPr>
          <p:cNvPr id="17" name="Text 14"/>
          <p:cNvSpPr txBox="1"/>
          <p:nvPr/>
        </p:nvSpPr>
        <p:spPr>
          <a:xfrm>
            <a:off x="1197864" y="4189222"/>
            <a:ext cx="602589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Good weights exist. Nothing says gradient descent will find them.</a:t>
            </a:r>
            <a:endParaRPr lang="en-US" sz="1600" dirty="0"/>
          </a:p>
        </p:txBody>
      </p:sp>
      <p:sp>
        <p:nvSpPr>
          <p:cNvPr id="18" name="Shape 15"/>
          <p:cNvSpPr/>
          <p:nvPr/>
        </p:nvSpPr>
        <p:spPr>
          <a:xfrm>
            <a:off x="548640" y="4928616"/>
            <a:ext cx="420624" cy="420624"/>
          </a:xfrm>
          <a:prstGeom prst="ellipse">
            <a:avLst/>
          </a:prstGeom>
          <a:solidFill>
            <a:schemeClr val="accent2"/>
          </a:solidFill>
          <a:ln w="25400">
            <a:solidFill>
              <a:schemeClr val="bg1"/>
            </a:solidFill>
            <a:prstDash val="solid"/>
          </a:ln>
        </p:spPr>
      </p:sp>
      <p:sp>
        <p:nvSpPr>
          <p:cNvPr id="19" name="Text 16"/>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197864" y="4965192"/>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Approximation, not generalization</a:t>
            </a:r>
            <a:endParaRPr lang="en-US" sz="1900" dirty="0"/>
          </a:p>
        </p:txBody>
      </p:sp>
      <p:sp>
        <p:nvSpPr>
          <p:cNvPr id="21" name="Text 18"/>
          <p:cNvSpPr txBox="1"/>
          <p:nvPr/>
        </p:nvSpPr>
        <p:spPr>
          <a:xfrm>
            <a:off x="1197864" y="5268214"/>
            <a:ext cx="602589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Fitting training data perfectly is what overfitting looks like.</a:t>
            </a:r>
            <a:endParaRPr lang="en-US" sz="1600" dirty="0"/>
          </a:p>
        </p:txBody>
      </p:sp>
      <p:sp>
        <p:nvSpPr>
          <p:cNvPr id="22" name="Shape 19"/>
          <p:cNvSpPr/>
          <p:nvPr/>
        </p:nvSpPr>
        <p:spPr>
          <a:xfrm>
            <a:off x="7726680" y="1691640"/>
            <a:ext cx="3913632" cy="2377440"/>
          </a:xfrm>
          <a:prstGeom prst="roundRect">
            <a:avLst>
              <a:gd name="adj" fmla="val 3077"/>
            </a:avLst>
          </a:prstGeom>
          <a:solidFill>
            <a:schemeClr val="accent1">
              <a:alpha val="10000"/>
            </a:schemeClr>
          </a:solidFill>
          <a:ln w="12700">
            <a:solidFill>
              <a:schemeClr val="accent1">
                <a:alpha val="10000"/>
              </a:schemeClr>
            </a:solidFill>
            <a:prstDash val="solid"/>
          </a:ln>
        </p:spPr>
      </p:sp>
      <p:sp>
        <p:nvSpPr>
          <p:cNvPr id="23" name="Text 20"/>
          <p:cNvSpPr txBox="1"/>
          <p:nvPr/>
        </p:nvSpPr>
        <p:spPr>
          <a:xfrm>
            <a:off x="7927848" y="1892808"/>
            <a:ext cx="35112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So when a model is bad…</a:t>
            </a:r>
            <a:endParaRPr lang="en-US" sz="1900" dirty="0"/>
          </a:p>
        </p:txBody>
      </p:sp>
      <p:sp>
        <p:nvSpPr>
          <p:cNvPr id="24" name="Text 21"/>
          <p:cNvSpPr txBox="1"/>
          <p:nvPr/>
        </p:nvSpPr>
        <p:spPr>
          <a:xfrm>
            <a:off x="7927848" y="2250694"/>
            <a:ext cx="3511296" cy="16172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Look at optimization (§9–11), regularization (§12), data or architecture — not at a supposed representational ceiling.</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Design an MLP: start small and confirm it can overfit</a:t>
            </a:r>
            <a:endParaRPr lang="en-US" sz="3000" dirty="0"/>
          </a:p>
        </p:txBody>
      </p:sp>
      <p:sp>
        <p:nvSpPr>
          <p:cNvPr id="5" name="Shape 2"/>
          <p:cNvSpPr/>
          <p:nvPr/>
        </p:nvSpPr>
        <p:spPr>
          <a:xfrm>
            <a:off x="1508760" y="1737360"/>
            <a:ext cx="4297680" cy="548640"/>
          </a:xfrm>
          <a:prstGeom prst="roundRect">
            <a:avLst>
              <a:gd name="adj" fmla="val 10000"/>
            </a:avLst>
          </a:prstGeom>
          <a:solidFill>
            <a:schemeClr val="bg2"/>
          </a:solidFill>
          <a:ln w="15875">
            <a:solidFill>
              <a:schemeClr val="bg2"/>
            </a:solidFill>
            <a:prstDash val="solid"/>
          </a:ln>
        </p:spPr>
      </p:sp>
      <p:sp>
        <p:nvSpPr>
          <p:cNvPr id="6" name="Text 3"/>
          <p:cNvSpPr txBox="1"/>
          <p:nvPr/>
        </p:nvSpPr>
        <p:spPr>
          <a:xfrm>
            <a:off x="1554480" y="1737360"/>
            <a:ext cx="4206240"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tx1"/>
                </a:solidFill>
              </a:rPr>
              <a:t>784</a:t>
            </a:r>
            <a:endParaRPr lang="en-US" sz="1700" dirty="0"/>
          </a:p>
        </p:txBody>
      </p:sp>
      <p:sp>
        <p:nvSpPr>
          <p:cNvPr id="7" name="Text 4"/>
          <p:cNvSpPr txBox="1"/>
          <p:nvPr/>
        </p:nvSpPr>
        <p:spPr>
          <a:xfrm>
            <a:off x="548640" y="1737360"/>
            <a:ext cx="914400" cy="548640"/>
          </a:xfrm>
          <a:prstGeom prst="rect">
            <a:avLst/>
          </a:prstGeom>
          <a:noFill/>
          <a:ln/>
        </p:spPr>
        <p:txBody>
          <a:bodyPr wrap="square" lIns="0" tIns="0" rIns="0" bIns="0" rtlCol="0" anchor="ctr"/>
          <a:lstStyle/>
          <a:p>
            <a:pPr algn="l" indent="0" marL="0">
              <a:lnSpc>
                <a:spcPct val="105000"/>
              </a:lnSpc>
              <a:buNone/>
            </a:pPr>
            <a:r>
              <a:rPr lang="en-US" sz="1500" dirty="0">
                <a:solidFill>
                  <a:schemeClr val="tx2"/>
                </a:solidFill>
              </a:rPr>
              <a:t>input</a:t>
            </a:r>
            <a:endParaRPr lang="en-US" sz="1500" dirty="0"/>
          </a:p>
        </p:txBody>
      </p:sp>
      <p:sp>
        <p:nvSpPr>
          <p:cNvPr id="8" name="Shape 5"/>
          <p:cNvSpPr/>
          <p:nvPr/>
        </p:nvSpPr>
        <p:spPr>
          <a:xfrm>
            <a:off x="1877212" y="2578608"/>
            <a:ext cx="3560777" cy="548640"/>
          </a:xfrm>
          <a:prstGeom prst="roundRect">
            <a:avLst>
              <a:gd name="adj" fmla="val 10000"/>
            </a:avLst>
          </a:prstGeom>
          <a:solidFill>
            <a:schemeClr val="accent1">
              <a:alpha val="10000"/>
            </a:schemeClr>
          </a:solidFill>
          <a:ln w="15875">
            <a:solidFill>
              <a:schemeClr val="accent1"/>
            </a:solidFill>
            <a:prstDash val="solid"/>
          </a:ln>
        </p:spPr>
      </p:sp>
      <p:sp>
        <p:nvSpPr>
          <p:cNvPr id="9" name="Text 6"/>
          <p:cNvSpPr txBox="1"/>
          <p:nvPr/>
        </p:nvSpPr>
        <p:spPr>
          <a:xfrm>
            <a:off x="1922932" y="2578608"/>
            <a:ext cx="3469337"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tx1"/>
                </a:solidFill>
              </a:rPr>
              <a:t>512</a:t>
            </a:r>
            <a:endParaRPr lang="en-US" sz="1700" dirty="0"/>
          </a:p>
        </p:txBody>
      </p:sp>
      <p:sp>
        <p:nvSpPr>
          <p:cNvPr id="10" name="Text 7"/>
          <p:cNvSpPr txBox="1"/>
          <p:nvPr/>
        </p:nvSpPr>
        <p:spPr>
          <a:xfrm>
            <a:off x="548640" y="2578608"/>
            <a:ext cx="914400" cy="548640"/>
          </a:xfrm>
          <a:prstGeom prst="rect">
            <a:avLst/>
          </a:prstGeom>
          <a:noFill/>
          <a:ln/>
        </p:spPr>
        <p:txBody>
          <a:bodyPr wrap="square" lIns="0" tIns="0" rIns="0" bIns="0" rtlCol="0" anchor="ctr"/>
          <a:lstStyle/>
          <a:p>
            <a:pPr algn="l" indent="0" marL="0">
              <a:lnSpc>
                <a:spcPct val="105000"/>
              </a:lnSpc>
              <a:buNone/>
            </a:pPr>
            <a:r>
              <a:rPr lang="en-US" sz="1500" dirty="0">
                <a:solidFill>
                  <a:schemeClr val="tx2"/>
                </a:solidFill>
              </a:rPr>
              <a:t>hidden</a:t>
            </a:r>
            <a:endParaRPr lang="en-US" sz="1500" dirty="0"/>
          </a:p>
        </p:txBody>
      </p:sp>
      <p:sp>
        <p:nvSpPr>
          <p:cNvPr id="11" name="Shape 8"/>
          <p:cNvSpPr/>
          <p:nvPr/>
        </p:nvSpPr>
        <p:spPr>
          <a:xfrm>
            <a:off x="2331720" y="3419856"/>
            <a:ext cx="2651760" cy="548640"/>
          </a:xfrm>
          <a:prstGeom prst="roundRect">
            <a:avLst>
              <a:gd name="adj" fmla="val 10000"/>
            </a:avLst>
          </a:prstGeom>
          <a:solidFill>
            <a:schemeClr val="accent1">
              <a:alpha val="10000"/>
            </a:schemeClr>
          </a:solidFill>
          <a:ln w="15875">
            <a:solidFill>
              <a:schemeClr val="accent1"/>
            </a:solidFill>
            <a:prstDash val="solid"/>
          </a:ln>
        </p:spPr>
      </p:sp>
      <p:sp>
        <p:nvSpPr>
          <p:cNvPr id="12" name="Text 9"/>
          <p:cNvSpPr txBox="1"/>
          <p:nvPr/>
        </p:nvSpPr>
        <p:spPr>
          <a:xfrm>
            <a:off x="2377440" y="3419856"/>
            <a:ext cx="2560320"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tx1"/>
                </a:solidFill>
              </a:rPr>
              <a:t>256</a:t>
            </a:r>
            <a:endParaRPr lang="en-US" sz="1700" dirty="0"/>
          </a:p>
        </p:txBody>
      </p:sp>
      <p:sp>
        <p:nvSpPr>
          <p:cNvPr id="13" name="Text 10"/>
          <p:cNvSpPr txBox="1"/>
          <p:nvPr/>
        </p:nvSpPr>
        <p:spPr>
          <a:xfrm>
            <a:off x="548640" y="3419856"/>
            <a:ext cx="914400" cy="548640"/>
          </a:xfrm>
          <a:prstGeom prst="rect">
            <a:avLst/>
          </a:prstGeom>
          <a:noFill/>
          <a:ln/>
        </p:spPr>
        <p:txBody>
          <a:bodyPr wrap="square" lIns="0" tIns="0" rIns="0" bIns="0" rtlCol="0" anchor="ctr"/>
          <a:lstStyle/>
          <a:p>
            <a:pPr algn="l" indent="0" marL="0">
              <a:lnSpc>
                <a:spcPct val="105000"/>
              </a:lnSpc>
              <a:buNone/>
            </a:pPr>
            <a:r>
              <a:rPr lang="en-US" sz="1500" dirty="0">
                <a:solidFill>
                  <a:schemeClr val="tx2"/>
                </a:solidFill>
              </a:rPr>
              <a:t>hidden</a:t>
            </a:r>
            <a:endParaRPr lang="en-US" sz="1500" dirty="0"/>
          </a:p>
        </p:txBody>
      </p:sp>
      <p:sp>
        <p:nvSpPr>
          <p:cNvPr id="14" name="Shape 11"/>
          <p:cNvSpPr/>
          <p:nvPr/>
        </p:nvSpPr>
        <p:spPr>
          <a:xfrm>
            <a:off x="2653106" y="4261104"/>
            <a:ext cx="2008988" cy="548640"/>
          </a:xfrm>
          <a:prstGeom prst="roundRect">
            <a:avLst>
              <a:gd name="adj" fmla="val 10000"/>
            </a:avLst>
          </a:prstGeom>
          <a:solidFill>
            <a:schemeClr val="accent1">
              <a:alpha val="10000"/>
            </a:schemeClr>
          </a:solidFill>
          <a:ln w="15875">
            <a:solidFill>
              <a:schemeClr val="accent1"/>
            </a:solidFill>
            <a:prstDash val="solid"/>
          </a:ln>
        </p:spPr>
      </p:sp>
      <p:sp>
        <p:nvSpPr>
          <p:cNvPr id="15" name="Text 12"/>
          <p:cNvSpPr txBox="1"/>
          <p:nvPr/>
        </p:nvSpPr>
        <p:spPr>
          <a:xfrm>
            <a:off x="2698826" y="4261104"/>
            <a:ext cx="1917548"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tx1"/>
                </a:solidFill>
              </a:rPr>
              <a:t>128</a:t>
            </a:r>
            <a:endParaRPr lang="en-US" sz="1700" dirty="0"/>
          </a:p>
        </p:txBody>
      </p:sp>
      <p:sp>
        <p:nvSpPr>
          <p:cNvPr id="16" name="Text 13"/>
          <p:cNvSpPr txBox="1"/>
          <p:nvPr/>
        </p:nvSpPr>
        <p:spPr>
          <a:xfrm>
            <a:off x="548640" y="4261104"/>
            <a:ext cx="914400" cy="548640"/>
          </a:xfrm>
          <a:prstGeom prst="rect">
            <a:avLst/>
          </a:prstGeom>
          <a:noFill/>
          <a:ln/>
        </p:spPr>
        <p:txBody>
          <a:bodyPr wrap="square" lIns="0" tIns="0" rIns="0" bIns="0" rtlCol="0" anchor="ctr"/>
          <a:lstStyle/>
          <a:p>
            <a:pPr algn="l" indent="0" marL="0">
              <a:lnSpc>
                <a:spcPct val="105000"/>
              </a:lnSpc>
              <a:buNone/>
            </a:pPr>
            <a:r>
              <a:rPr lang="en-US" sz="1500" dirty="0">
                <a:solidFill>
                  <a:schemeClr val="tx2"/>
                </a:solidFill>
              </a:rPr>
              <a:t>hidden</a:t>
            </a:r>
            <a:endParaRPr lang="en-US" sz="1500" dirty="0"/>
          </a:p>
        </p:txBody>
      </p:sp>
      <p:sp>
        <p:nvSpPr>
          <p:cNvPr id="17" name="Shape 14"/>
          <p:cNvSpPr/>
          <p:nvPr/>
        </p:nvSpPr>
        <p:spPr>
          <a:xfrm>
            <a:off x="3212131" y="5102352"/>
            <a:ext cx="890938" cy="548640"/>
          </a:xfrm>
          <a:prstGeom prst="roundRect">
            <a:avLst>
              <a:gd name="adj" fmla="val 10000"/>
            </a:avLst>
          </a:prstGeom>
          <a:solidFill>
            <a:schemeClr val="bg1"/>
          </a:solidFill>
          <a:ln w="15875">
            <a:solidFill>
              <a:schemeClr val="tx1"/>
            </a:solidFill>
            <a:prstDash val="solid"/>
          </a:ln>
        </p:spPr>
      </p:sp>
      <p:sp>
        <p:nvSpPr>
          <p:cNvPr id="18" name="Text 15"/>
          <p:cNvSpPr txBox="1"/>
          <p:nvPr/>
        </p:nvSpPr>
        <p:spPr>
          <a:xfrm>
            <a:off x="3257851" y="5102352"/>
            <a:ext cx="799498"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tx1"/>
                </a:solidFill>
              </a:rPr>
              <a:t>10</a:t>
            </a:r>
            <a:endParaRPr lang="en-US" sz="1700" dirty="0"/>
          </a:p>
        </p:txBody>
      </p:sp>
      <p:sp>
        <p:nvSpPr>
          <p:cNvPr id="19" name="Text 16"/>
          <p:cNvSpPr txBox="1"/>
          <p:nvPr/>
        </p:nvSpPr>
        <p:spPr>
          <a:xfrm>
            <a:off x="548640" y="5102352"/>
            <a:ext cx="914400" cy="548640"/>
          </a:xfrm>
          <a:prstGeom prst="rect">
            <a:avLst/>
          </a:prstGeom>
          <a:noFill/>
          <a:ln/>
        </p:spPr>
        <p:txBody>
          <a:bodyPr wrap="square" lIns="0" tIns="0" rIns="0" bIns="0" rtlCol="0" anchor="ctr"/>
          <a:lstStyle/>
          <a:p>
            <a:pPr algn="l" indent="0" marL="0">
              <a:lnSpc>
                <a:spcPct val="105000"/>
              </a:lnSpc>
              <a:buNone/>
            </a:pPr>
            <a:r>
              <a:rPr lang="en-US" sz="1500" dirty="0">
                <a:solidFill>
                  <a:schemeClr val="tx2"/>
                </a:solidFill>
              </a:rPr>
              <a:t>output</a:t>
            </a:r>
            <a:endParaRPr lang="en-US" sz="1500" dirty="0"/>
          </a:p>
        </p:txBody>
      </p:sp>
      <p:sp>
        <p:nvSpPr>
          <p:cNvPr id="20" name="Shape 17"/>
          <p:cNvSpPr/>
          <p:nvPr/>
        </p:nvSpPr>
        <p:spPr>
          <a:xfrm>
            <a:off x="6519672" y="1901952"/>
            <a:ext cx="0" cy="3236976"/>
          </a:xfrm>
          <a:prstGeom prst="line">
            <a:avLst/>
          </a:prstGeom>
          <a:noFill/>
          <a:ln w="25400">
            <a:solidFill>
              <a:schemeClr val="accent1">
                <a:alpha val="50000"/>
              </a:schemeClr>
            </a:solidFill>
            <a:prstDash val="solid"/>
          </a:ln>
        </p:spPr>
      </p:sp>
      <p:sp>
        <p:nvSpPr>
          <p:cNvPr id="21" name="Shape 18"/>
          <p:cNvSpPr/>
          <p:nvPr/>
        </p:nvSpPr>
        <p:spPr>
          <a:xfrm>
            <a:off x="6309360" y="1691640"/>
            <a:ext cx="420624" cy="420624"/>
          </a:xfrm>
          <a:prstGeom prst="ellipse">
            <a:avLst/>
          </a:prstGeom>
          <a:solidFill>
            <a:schemeClr val="accent1"/>
          </a:solidFill>
          <a:ln w="25400">
            <a:solidFill>
              <a:schemeClr val="bg1"/>
            </a:solidFill>
            <a:prstDash val="solid"/>
          </a:ln>
        </p:spPr>
      </p:sp>
      <p:sp>
        <p:nvSpPr>
          <p:cNvPr id="22" name="Text 19"/>
          <p:cNvSpPr txBox="1"/>
          <p:nvPr/>
        </p:nvSpPr>
        <p:spPr>
          <a:xfrm>
            <a:off x="630936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3" name="Text 20"/>
          <p:cNvSpPr txBox="1"/>
          <p:nvPr/>
        </p:nvSpPr>
        <p:spPr>
          <a:xfrm>
            <a:off x="6958584" y="1728216"/>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Sizes fixed by data and task</a:t>
            </a:r>
            <a:endParaRPr lang="en-US" sz="1900" dirty="0"/>
          </a:p>
        </p:txBody>
      </p:sp>
      <p:sp>
        <p:nvSpPr>
          <p:cNvPr id="24" name="Text 21"/>
          <p:cNvSpPr txBox="1"/>
          <p:nvPr/>
        </p:nvSpPr>
        <p:spPr>
          <a:xfrm>
            <a:off x="6958584" y="2031238"/>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Output: 1 unit for regression or binary; K for K classes.</a:t>
            </a:r>
            <a:endParaRPr lang="en-US" sz="1600" dirty="0"/>
          </a:p>
        </p:txBody>
      </p:sp>
      <p:sp>
        <p:nvSpPr>
          <p:cNvPr id="25" name="Shape 22"/>
          <p:cNvSpPr/>
          <p:nvPr/>
        </p:nvSpPr>
        <p:spPr>
          <a:xfrm>
            <a:off x="6309360" y="2770632"/>
            <a:ext cx="420624" cy="420624"/>
          </a:xfrm>
          <a:prstGeom prst="ellipse">
            <a:avLst/>
          </a:prstGeom>
          <a:solidFill>
            <a:schemeClr val="accent1"/>
          </a:solidFill>
          <a:ln w="25400">
            <a:solidFill>
              <a:schemeClr val="bg1"/>
            </a:solidFill>
            <a:prstDash val="solid"/>
          </a:ln>
        </p:spPr>
      </p:sp>
      <p:sp>
        <p:nvSpPr>
          <p:cNvPr id="26" name="Text 23"/>
          <p:cNvSpPr txBox="1"/>
          <p:nvPr/>
        </p:nvSpPr>
        <p:spPr>
          <a:xfrm>
            <a:off x="630936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7" name="Text 24"/>
          <p:cNvSpPr txBox="1"/>
          <p:nvPr/>
        </p:nvSpPr>
        <p:spPr>
          <a:xfrm>
            <a:off x="6958584" y="2807208"/>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Start with two hidden layers</a:t>
            </a:r>
            <a:endParaRPr lang="en-US" sz="1900" dirty="0"/>
          </a:p>
        </p:txBody>
      </p:sp>
      <p:sp>
        <p:nvSpPr>
          <p:cNvPr id="28" name="Text 25"/>
          <p:cNvSpPr txBox="1"/>
          <p:nvPr/>
        </p:nvSpPr>
        <p:spPr>
          <a:xfrm>
            <a:off x="6958584" y="3110230"/>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Beyond that rarely helps on tabular data without residual connections.</a:t>
            </a:r>
            <a:endParaRPr lang="en-US" sz="1600" dirty="0"/>
          </a:p>
        </p:txBody>
      </p:sp>
      <p:sp>
        <p:nvSpPr>
          <p:cNvPr id="29" name="Shape 26"/>
          <p:cNvSpPr/>
          <p:nvPr/>
        </p:nvSpPr>
        <p:spPr>
          <a:xfrm>
            <a:off x="6309360" y="3849624"/>
            <a:ext cx="420624" cy="420624"/>
          </a:xfrm>
          <a:prstGeom prst="ellipse">
            <a:avLst/>
          </a:prstGeom>
          <a:solidFill>
            <a:schemeClr val="accent1"/>
          </a:solidFill>
          <a:ln w="25400">
            <a:solidFill>
              <a:schemeClr val="bg1"/>
            </a:solidFill>
            <a:prstDash val="solid"/>
          </a:ln>
        </p:spPr>
      </p:sp>
      <p:sp>
        <p:nvSpPr>
          <p:cNvPr id="30" name="Text 27"/>
          <p:cNvSpPr txBox="1"/>
          <p:nvPr/>
        </p:nvSpPr>
        <p:spPr>
          <a:xfrm>
            <a:off x="630936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1" name="Text 28"/>
          <p:cNvSpPr txBox="1"/>
          <p:nvPr/>
        </p:nvSpPr>
        <p:spPr>
          <a:xfrm>
            <a:off x="6958584" y="3886200"/>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Widths in powers of two</a:t>
            </a:r>
            <a:endParaRPr lang="en-US" sz="1900" dirty="0"/>
          </a:p>
        </p:txBody>
      </p:sp>
      <p:sp>
        <p:nvSpPr>
          <p:cNvPr id="32" name="Text 29"/>
          <p:cNvSpPr txBox="1"/>
          <p:nvPr/>
        </p:nvSpPr>
        <p:spPr>
          <a:xfrm>
            <a:off x="6958584" y="4189222"/>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 funnel such as 512 → 256 → 128 → 10.</a:t>
            </a:r>
            <a:endParaRPr lang="en-US" sz="1600" dirty="0"/>
          </a:p>
        </p:txBody>
      </p:sp>
      <p:sp>
        <p:nvSpPr>
          <p:cNvPr id="33" name="Shape 30"/>
          <p:cNvSpPr/>
          <p:nvPr/>
        </p:nvSpPr>
        <p:spPr>
          <a:xfrm>
            <a:off x="6309360" y="4928616"/>
            <a:ext cx="420624" cy="420624"/>
          </a:xfrm>
          <a:prstGeom prst="ellipse">
            <a:avLst/>
          </a:prstGeom>
          <a:solidFill>
            <a:schemeClr val="accent2"/>
          </a:solidFill>
          <a:ln w="25400">
            <a:solidFill>
              <a:schemeClr val="bg1"/>
            </a:solidFill>
            <a:prstDash val="solid"/>
          </a:ln>
        </p:spPr>
      </p:sp>
      <p:sp>
        <p:nvSpPr>
          <p:cNvPr id="34" name="Text 31"/>
          <p:cNvSpPr txBox="1"/>
          <p:nvPr/>
        </p:nvSpPr>
        <p:spPr>
          <a:xfrm>
            <a:off x="630936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5" name="Text 32"/>
          <p:cNvSpPr txBox="1"/>
          <p:nvPr/>
        </p:nvSpPr>
        <p:spPr>
          <a:xfrm>
            <a:off x="6958584" y="4965192"/>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Golden rule: overfit first</a:t>
            </a:r>
            <a:endParaRPr lang="en-US" sz="1900" dirty="0"/>
          </a:p>
        </p:txBody>
      </p:sp>
      <p:sp>
        <p:nvSpPr>
          <p:cNvPr id="36" name="Text 33"/>
          <p:cNvSpPr txBox="1"/>
          <p:nvPr/>
        </p:nvSpPr>
        <p:spPr>
          <a:xfrm>
            <a:off x="6958584" y="5268214"/>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 model that cannot overfit 100 examples has a bug, not a capacity problem.</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Write models as nn.Module subclasses</a:t>
            </a:r>
            <a:endParaRPr lang="en-US" sz="3000" dirty="0"/>
          </a:p>
        </p:txBody>
      </p:sp>
      <p:sp>
        <p:nvSpPr>
          <p:cNvPr id="5" name="Shape 2"/>
          <p:cNvSpPr/>
          <p:nvPr/>
        </p:nvSpPr>
        <p:spPr>
          <a:xfrm>
            <a:off x="548640" y="1645920"/>
            <a:ext cx="6400800" cy="3176016"/>
          </a:xfrm>
          <a:prstGeom prst="roundRect">
            <a:avLst>
              <a:gd name="adj" fmla="val 2303"/>
            </a:avLst>
          </a:prstGeom>
          <a:solidFill>
            <a:schemeClr val="bg2"/>
          </a:solidFill>
          <a:ln w="12700">
            <a:solidFill>
              <a:schemeClr val="bg2"/>
            </a:solidFill>
            <a:prstDash val="solid"/>
          </a:ln>
        </p:spPr>
      </p:sp>
      <p:sp>
        <p:nvSpPr>
          <p:cNvPr id="6" name="Text 3"/>
          <p:cNvSpPr txBox="1"/>
          <p:nvPr/>
        </p:nvSpPr>
        <p:spPr>
          <a:xfrm>
            <a:off x="749808" y="1819656"/>
            <a:ext cx="5998464" cy="2828544"/>
          </a:xfrm>
          <a:prstGeom prst="rect">
            <a:avLst/>
          </a:prstGeom>
          <a:noFill/>
          <a:ln/>
        </p:spPr>
        <p:txBody>
          <a:bodyPr wrap="square" lIns="0" tIns="0" rIns="0" bIns="0" rtlCol="0" anchor="t"/>
          <a:lstStyle/>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class MLP(nn.Module):</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def __init__(self, d_in=784, h=(128, 64), k=10):</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super().__init__()        </a:t>
            </a:r>
            <a:r>
              <a:rPr lang="en-US" sz="1400" dirty="0">
                <a:solidFill>
                  <a:schemeClr val="accent1"/>
                </a:solidFill>
                <a:latin typeface="Consolas" pitchFamily="34" charset="0"/>
                <a:ea typeface="Consolas" pitchFamily="34" charset="-122"/>
                <a:cs typeface="Consolas" pitchFamily="34" charset="-120"/>
              </a:rPr>
              <a:t># register params</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self.flatten = nn.Flatten()</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self.fc1 = nn.Linear(d_in, h[0])</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self.fc2 = nn.Linear(h[0], h[1])</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self.out = nn.Linear(h[1], k)</a:t>
            </a:r>
            <a:endParaRPr lang="en-US" sz="1400" dirty="0"/>
          </a:p>
          <a:p>
            <a:pPr indent="0" marL="0">
              <a:lnSpc>
                <a:spcPct val="100000"/>
              </a:lnSpc>
              <a:buNone/>
            </a:pPr>
            <a:r>
              <a:rPr lang="en-US" sz="1400" dirty="0">
                <a:solidFill>
                  <a:srgbClr val="000000"/>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def forward(self, x):</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x = self.flatten(x)       </a:t>
            </a:r>
            <a:r>
              <a:rPr lang="en-US" sz="1400" dirty="0">
                <a:solidFill>
                  <a:schemeClr val="accent1"/>
                </a:solidFill>
                <a:latin typeface="Consolas" pitchFamily="34" charset="0"/>
                <a:ea typeface="Consolas" pitchFamily="34" charset="-122"/>
                <a:cs typeface="Consolas" pitchFamily="34" charset="-120"/>
              </a:rPr>
              <a:t># (32, 784)</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x = torch.relu(self.fc1(x))</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x = torch.relu(self.fc2(x))</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return self.out(x)        </a:t>
            </a:r>
            <a:r>
              <a:rPr lang="en-US" sz="1400" dirty="0">
                <a:solidFill>
                  <a:schemeClr val="accent1"/>
                </a:solidFill>
                <a:latin typeface="Consolas" pitchFamily="34" charset="0"/>
                <a:ea typeface="Consolas" pitchFamily="34" charset="-122"/>
                <a:cs typeface="Consolas" pitchFamily="34" charset="-120"/>
              </a:rPr>
              <a:t># logits</a:t>
            </a:r>
            <a:endParaRPr lang="en-US" sz="1400" dirty="0"/>
          </a:p>
        </p:txBody>
      </p:sp>
      <p:sp>
        <p:nvSpPr>
          <p:cNvPr id="7" name="Shape 4"/>
          <p:cNvSpPr/>
          <p:nvPr/>
        </p:nvSpPr>
        <p:spPr>
          <a:xfrm>
            <a:off x="7269480" y="1645920"/>
            <a:ext cx="4370832" cy="2456688"/>
          </a:xfrm>
          <a:prstGeom prst="roundRect">
            <a:avLst>
              <a:gd name="adj" fmla="val 2978"/>
            </a:avLst>
          </a:prstGeom>
          <a:solidFill>
            <a:schemeClr val="bg2"/>
          </a:solidFill>
          <a:ln w="12700">
            <a:solidFill>
              <a:schemeClr val="bg2"/>
            </a:solidFill>
            <a:prstDash val="solid"/>
          </a:ln>
        </p:spPr>
      </p:sp>
      <p:sp>
        <p:nvSpPr>
          <p:cNvPr id="8" name="Text 5"/>
          <p:cNvSpPr txBox="1"/>
          <p:nvPr/>
        </p:nvSpPr>
        <p:spPr>
          <a:xfrm>
            <a:off x="7470648" y="1764792"/>
            <a:ext cx="3968496"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USE IT</a:t>
            </a:r>
            <a:endParaRPr lang="en-US" sz="1200" dirty="0"/>
          </a:p>
        </p:txBody>
      </p:sp>
      <p:sp>
        <p:nvSpPr>
          <p:cNvPr id="9" name="Text 6"/>
          <p:cNvSpPr txBox="1"/>
          <p:nvPr/>
        </p:nvSpPr>
        <p:spPr>
          <a:xfrm>
            <a:off x="7470648" y="2167128"/>
            <a:ext cx="3968496" cy="1761744"/>
          </a:xfrm>
          <a:prstGeom prst="rect">
            <a:avLst/>
          </a:prstGeom>
          <a:noFill/>
          <a:ln/>
        </p:spPr>
        <p:txBody>
          <a:bodyPr wrap="square" lIns="0" tIns="0" rIns="0" bIns="0" rtlCol="0" anchor="t"/>
          <a:lstStyle/>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model = MLP()</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x = torch.randn(32, 1, 28, 28)</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logits = model(x)   </a:t>
            </a:r>
            <a:r>
              <a:rPr lang="en-US" sz="1400" dirty="0">
                <a:solidFill>
                  <a:schemeClr val="accent1"/>
                </a:solidFill>
                <a:latin typeface="Consolas" pitchFamily="34" charset="0"/>
                <a:ea typeface="Consolas" pitchFamily="34" charset="-122"/>
                <a:cs typeface="Consolas" pitchFamily="34" charset="-120"/>
              </a:rPr>
              <a:t># not .forward</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print(logits.shape)</a:t>
            </a:r>
            <a:endParaRPr lang="en-US" sz="1400" dirty="0"/>
          </a:p>
          <a:p>
            <a:pPr indent="0" marL="0">
              <a:lnSpc>
                <a:spcPct val="100000"/>
              </a:lnSpc>
              <a:buNone/>
            </a:pPr>
            <a:r>
              <a:rPr lang="en-US" sz="1400" dirty="0">
                <a:solidFill>
                  <a:schemeClr val="accent1"/>
                </a:solidFill>
                <a:latin typeface="Consolas" pitchFamily="34" charset="0"/>
                <a:ea typeface="Consolas" pitchFamily="34" charset="-122"/>
                <a:cs typeface="Consolas" pitchFamily="34" charset="-120"/>
              </a:rPr>
              <a:t># torch.Size([32, 10])</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n = sum(p.numel()</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for p in model.parameters())</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print(n)            </a:t>
            </a:r>
            <a:r>
              <a:rPr lang="en-US" sz="1400" dirty="0">
                <a:solidFill>
                  <a:schemeClr val="accent1"/>
                </a:solidFill>
                <a:latin typeface="Consolas" pitchFamily="34" charset="0"/>
                <a:ea typeface="Consolas" pitchFamily="34" charset="-122"/>
                <a:cs typeface="Consolas" pitchFamily="34" charset="-120"/>
              </a:rPr>
              <a:t># 109386</a:t>
            </a:r>
            <a:endParaRPr lang="en-US" sz="1400" dirty="0"/>
          </a:p>
        </p:txBody>
      </p:sp>
      <p:sp>
        <p:nvSpPr>
          <p:cNvPr id="10" name="Text 7"/>
          <p:cNvSpPr txBox="1"/>
          <p:nvPr/>
        </p:nvSpPr>
        <p:spPr>
          <a:xfrm>
            <a:off x="7269480" y="4754880"/>
            <a:ext cx="4370832" cy="109728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For a plain stack, </a:t>
            </a:r>
            <a:r>
              <a:rPr lang="en-US" sz="1600" dirty="0">
                <a:solidFill>
                  <a:schemeClr val="accent1"/>
                </a:solidFill>
                <a:latin typeface="Consolas" pitchFamily="34" charset="0"/>
                <a:ea typeface="Consolas" pitchFamily="34" charset="-122"/>
                <a:cs typeface="Consolas" pitchFamily="34" charset="-120"/>
              </a:rPr>
              <a:t>nn.Sequential(nn.Flatten(), nn.Linear(784, 128), nn.ReLU(), …)</a:t>
            </a:r>
            <a:r>
              <a:rPr lang="en-US" sz="1600" dirty="0">
                <a:solidFill>
                  <a:schemeClr val="tx2"/>
                </a:solidFill>
              </a:rPr>
              <a:t> is fine.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THE MLP FORWARD PASS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Three PyTorch mistakes that fail silently</a:t>
            </a:r>
            <a:endParaRPr lang="en-US" sz="3000" dirty="0"/>
          </a:p>
        </p:txBody>
      </p:sp>
      <p:sp>
        <p:nvSpPr>
          <p:cNvPr id="5" name="Shape 2"/>
          <p:cNvSpPr/>
          <p:nvPr/>
        </p:nvSpPr>
        <p:spPr>
          <a:xfrm>
            <a:off x="758952" y="1901952"/>
            <a:ext cx="0" cy="2834640"/>
          </a:xfrm>
          <a:prstGeom prst="line">
            <a:avLst/>
          </a:prstGeom>
          <a:noFill/>
          <a:ln w="25400">
            <a:solidFill>
              <a:schemeClr val="accent2">
                <a:alpha val="50000"/>
              </a:schemeClr>
            </a:solidFill>
            <a:prstDash val="solid"/>
          </a:ln>
        </p:spPr>
      </p:sp>
      <p:sp>
        <p:nvSpPr>
          <p:cNvPr id="6" name="Shape 3"/>
          <p:cNvSpPr/>
          <p:nvPr/>
        </p:nvSpPr>
        <p:spPr>
          <a:xfrm>
            <a:off x="548640" y="1691640"/>
            <a:ext cx="420624" cy="420624"/>
          </a:xfrm>
          <a:prstGeom prst="ellipse">
            <a:avLst/>
          </a:prstGeom>
          <a:solidFill>
            <a:schemeClr val="accent2"/>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3002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Calling model.forward(x)</a:t>
            </a:r>
            <a:endParaRPr lang="en-US" sz="1900" dirty="0"/>
          </a:p>
        </p:txBody>
      </p:sp>
      <p:sp>
        <p:nvSpPr>
          <p:cNvPr id="9" name="Text 6"/>
          <p:cNvSpPr txBox="1"/>
          <p:nvPr/>
        </p:nvSpPr>
        <p:spPr>
          <a:xfrm>
            <a:off x="1197864" y="2031238"/>
            <a:ext cx="630021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Skips registered hooks, breaking debugging and quantization tools. Call model(x).</a:t>
            </a:r>
            <a:endParaRPr lang="en-US" sz="1600" dirty="0"/>
          </a:p>
        </p:txBody>
      </p:sp>
      <p:sp>
        <p:nvSpPr>
          <p:cNvPr id="10" name="Shape 7"/>
          <p:cNvSpPr/>
          <p:nvPr/>
        </p:nvSpPr>
        <p:spPr>
          <a:xfrm>
            <a:off x="548640" y="3108960"/>
            <a:ext cx="420624" cy="420624"/>
          </a:xfrm>
          <a:prstGeom prst="ellipse">
            <a:avLst/>
          </a:prstGeom>
          <a:solidFill>
            <a:schemeClr val="accent2"/>
          </a:solidFill>
          <a:ln w="25400">
            <a:solidFill>
              <a:schemeClr val="bg1"/>
            </a:solidFill>
            <a:prstDash val="solid"/>
          </a:ln>
        </p:spPr>
      </p:sp>
      <p:sp>
        <p:nvSpPr>
          <p:cNvPr id="11" name="Text 8"/>
          <p:cNvSpPr txBox="1"/>
          <p:nvPr/>
        </p:nvSpPr>
        <p:spPr>
          <a:xfrm>
            <a:off x="548640" y="3108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3145536"/>
            <a:ext cx="63002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Forgetting super().__init__()</a:t>
            </a:r>
            <a:endParaRPr lang="en-US" sz="1900" dirty="0"/>
          </a:p>
        </p:txBody>
      </p:sp>
      <p:sp>
        <p:nvSpPr>
          <p:cNvPr id="13" name="Text 10"/>
          <p:cNvSpPr txBox="1"/>
          <p:nvPr/>
        </p:nvSpPr>
        <p:spPr>
          <a:xfrm>
            <a:off x="1197864" y="3448558"/>
            <a:ext cx="630021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Parameters are never registered, so the optimizer updates nothing. The loss is reported, and never improves.</a:t>
            </a:r>
            <a:endParaRPr lang="en-US" sz="1600" dirty="0"/>
          </a:p>
        </p:txBody>
      </p:sp>
      <p:sp>
        <p:nvSpPr>
          <p:cNvPr id="14" name="Shape 11"/>
          <p:cNvSpPr/>
          <p:nvPr/>
        </p:nvSpPr>
        <p:spPr>
          <a:xfrm>
            <a:off x="548640" y="4526280"/>
            <a:ext cx="420624" cy="420624"/>
          </a:xfrm>
          <a:prstGeom prst="ellipse">
            <a:avLst/>
          </a:prstGeom>
          <a:solidFill>
            <a:schemeClr val="accent2"/>
          </a:solidFill>
          <a:ln w="25400">
            <a:solidFill>
              <a:schemeClr val="bg1"/>
            </a:solidFill>
            <a:prstDash val="solid"/>
          </a:ln>
        </p:spPr>
      </p:sp>
      <p:sp>
        <p:nvSpPr>
          <p:cNvPr id="15" name="Text 12"/>
          <p:cNvSpPr txBox="1"/>
          <p:nvPr/>
        </p:nvSpPr>
        <p:spPr>
          <a:xfrm>
            <a:off x="548640" y="45262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4562856"/>
            <a:ext cx="63002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Layers in a plain Python list</a:t>
            </a:r>
            <a:endParaRPr lang="en-US" sz="1900" dirty="0"/>
          </a:p>
        </p:txBody>
      </p:sp>
      <p:sp>
        <p:nvSpPr>
          <p:cNvPr id="17" name="Text 14"/>
          <p:cNvSpPr txBox="1"/>
          <p:nvPr/>
        </p:nvSpPr>
        <p:spPr>
          <a:xfrm>
            <a:off x="1197864" y="4865878"/>
            <a:ext cx="630021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Not registered either. Use nn.ModuleList or nn.Sequential.</a:t>
            </a:r>
            <a:endParaRPr lang="en-US" sz="1600" dirty="0"/>
          </a:p>
        </p:txBody>
      </p:sp>
      <p:sp>
        <p:nvSpPr>
          <p:cNvPr id="18" name="Shape 15"/>
          <p:cNvSpPr/>
          <p:nvPr/>
        </p:nvSpPr>
        <p:spPr>
          <a:xfrm>
            <a:off x="8001000" y="1691640"/>
            <a:ext cx="3639312" cy="3977640"/>
          </a:xfrm>
          <a:prstGeom prst="roundRect">
            <a:avLst>
              <a:gd name="adj" fmla="val 2010"/>
            </a:avLst>
          </a:prstGeom>
          <a:solidFill>
            <a:schemeClr val="accent1">
              <a:alpha val="10000"/>
            </a:schemeClr>
          </a:solidFill>
          <a:ln w="12700">
            <a:solidFill>
              <a:schemeClr val="accent1">
                <a:alpha val="10000"/>
              </a:schemeClr>
            </a:solidFill>
            <a:prstDash val="solid"/>
          </a:ln>
        </p:spPr>
      </p:sp>
      <p:sp>
        <p:nvSpPr>
          <p:cNvPr id="19" name="Text 16"/>
          <p:cNvSpPr txBox="1"/>
          <p:nvPr/>
        </p:nvSpPr>
        <p:spPr>
          <a:xfrm>
            <a:off x="8202168" y="1892808"/>
            <a:ext cx="3236976" cy="569468"/>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If a model will not learn, check first</a:t>
            </a:r>
            <a:endParaRPr lang="en-US" sz="1900" dirty="0"/>
          </a:p>
        </p:txBody>
      </p:sp>
      <p:sp>
        <p:nvSpPr>
          <p:cNvPr id="20" name="Text 17"/>
          <p:cNvSpPr txBox="1"/>
          <p:nvPr/>
        </p:nvSpPr>
        <p:spPr>
          <a:xfrm>
            <a:off x="8202168" y="2535428"/>
            <a:ext cx="3236976" cy="2932684"/>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tx1"/>
                </a:solidFill>
              </a:rPr>
              <a:t>Is </a:t>
            </a:r>
            <a:r>
              <a:rPr lang="en-US" sz="1600" dirty="0">
                <a:solidFill>
                  <a:schemeClr val="accent1"/>
                </a:solidFill>
                <a:latin typeface="Consolas" pitchFamily="34" charset="0"/>
                <a:ea typeface="Consolas" pitchFamily="34" charset="-122"/>
                <a:cs typeface="Consolas" pitchFamily="34" charset="-120"/>
              </a:rPr>
              <a:t>super().__init__()</a:t>
            </a:r>
            <a:r>
              <a:rPr lang="en-US" sz="1600" dirty="0">
                <a:solidFill>
                  <a:schemeClr val="tx1"/>
                </a:solidFill>
              </a:rPr>
              <a:t> called?</a:t>
            </a:r>
            <a:endParaRPr lang="en-US" sz="1600" dirty="0"/>
          </a:p>
          <a:p>
            <a:pPr algn="l" indent="0" marL="0">
              <a:lnSpc>
                <a:spcPct val="105000"/>
              </a:lnSpc>
              <a:spcAft>
                <a:spcPts val="600"/>
              </a:spcAft>
              <a:buNone/>
            </a:pPr>
            <a:r>
              <a:rPr lang="en-US" sz="1600" dirty="0">
                <a:solidFill>
                  <a:schemeClr val="tx1"/>
                </a:solidFill>
              </a:rPr>
              <a:t>Are layers assigned to </a:t>
            </a:r>
            <a:r>
              <a:rPr lang="en-US" sz="1600" dirty="0">
                <a:solidFill>
                  <a:schemeClr val="accent1"/>
                </a:solidFill>
                <a:latin typeface="Consolas" pitchFamily="34" charset="0"/>
                <a:ea typeface="Consolas" pitchFamily="34" charset="-122"/>
                <a:cs typeface="Consolas" pitchFamily="34" charset="-120"/>
              </a:rPr>
              <a:t>self</a:t>
            </a:r>
            <a:r>
              <a:rPr lang="en-US" sz="1600" dirty="0">
                <a:solidFill>
                  <a:schemeClr val="tx1"/>
                </a:solidFill>
              </a:rPr>
              <a:t>?</a:t>
            </a:r>
            <a:endParaRPr lang="en-US" sz="1600" dirty="0"/>
          </a:p>
          <a:p>
            <a:pPr algn="l" indent="0" marL="0">
              <a:lnSpc>
                <a:spcPct val="105000"/>
              </a:lnSpc>
              <a:buNone/>
            </a:pPr>
            <a:r>
              <a:rPr lang="en-US" sz="1600" dirty="0">
                <a:solidFill>
                  <a:schemeClr val="tx1"/>
                </a:solidFill>
              </a:rPr>
              <a:t>Did the optimizer get </a:t>
            </a:r>
            <a:r>
              <a:rPr lang="en-US" sz="1600" dirty="0">
                <a:solidFill>
                  <a:schemeClr val="accent1"/>
                </a:solidFill>
                <a:latin typeface="Consolas" pitchFamily="34" charset="0"/>
                <a:ea typeface="Consolas" pitchFamily="34" charset="-122"/>
                <a:cs typeface="Consolas" pitchFamily="34" charset="-120"/>
              </a:rPr>
              <a:t>model.parameters()</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the MLP forward pass</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An MLP has layer sizes 100 → 50 → 50 → 3. How many parameters? How many without biases?</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batch of shape (64, 20) passes through nn.Linear(20, 30). What is layer.weight.shape, and the output shape?</a:t>
            </a:r>
            <a:endParaRPr lang="en-US" sz="2000" dirty="0"/>
          </a:p>
        </p:txBody>
      </p:sp>
      <p:sp>
        <p:nvSpPr>
          <p:cNvPr id="11" name="Shape 8"/>
          <p:cNvSpPr/>
          <p:nvPr/>
        </p:nvSpPr>
        <p:spPr>
          <a:xfrm>
            <a:off x="576072" y="364032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64032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67690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Your loss never changes from its initial value over 50 epochs. What do you check first?</a:t>
            </a:r>
            <a:endParaRPr lang="en-US" sz="2000" dirty="0"/>
          </a:p>
        </p:txBody>
      </p:sp>
      <p:sp>
        <p:nvSpPr>
          <p:cNvPr id="14" name="Shape 11"/>
          <p:cNvSpPr/>
          <p:nvPr/>
        </p:nvSpPr>
        <p:spPr>
          <a:xfrm>
            <a:off x="576072" y="4651248"/>
            <a:ext cx="457200" cy="457200"/>
          </a:xfrm>
          <a:prstGeom prst="ellipse">
            <a:avLst/>
          </a:prstGeom>
          <a:solidFill>
            <a:schemeClr val="accent1"/>
          </a:solidFill>
          <a:ln w="19050">
            <a:solidFill>
              <a:schemeClr val="accent1"/>
            </a:solidFill>
            <a:prstDash val="solid"/>
          </a:ln>
        </p:spPr>
      </p:sp>
      <p:sp>
        <p:nvSpPr>
          <p:cNvPr id="15" name="Text 12"/>
          <p:cNvSpPr txBox="1"/>
          <p:nvPr/>
        </p:nvSpPr>
        <p:spPr>
          <a:xfrm>
            <a:off x="393192" y="465124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4</a:t>
            </a:r>
            <a:endParaRPr lang="en-US" sz="1700" dirty="0"/>
          </a:p>
        </p:txBody>
      </p:sp>
      <p:sp>
        <p:nvSpPr>
          <p:cNvPr id="16" name="Text 13"/>
          <p:cNvSpPr txBox="1"/>
          <p:nvPr/>
        </p:nvSpPr>
        <p:spPr>
          <a:xfrm>
            <a:off x="1325880" y="468782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is it a mistake to end a regression network with a sigmoid?</a:t>
            </a:r>
            <a:endParaRPr lang="en-US" sz="2000" dirty="0"/>
          </a:p>
        </p:txBody>
      </p:sp>
      <p:sp>
        <p:nvSpPr>
          <p:cNvPr id="17" name="Text 14"/>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§4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the MLP forward pass</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An MLP has layer sizes 100 → 50 → 50 → 3. How many parameters? How many without biases?</a:t>
            </a:r>
            <a:endParaRPr lang="en-US" sz="1600" dirty="0"/>
          </a:p>
        </p:txBody>
      </p:sp>
      <p:sp>
        <p:nvSpPr>
          <p:cNvPr id="8" name="Text 5"/>
          <p:cNvSpPr txBox="1"/>
          <p:nvPr/>
        </p:nvSpPr>
        <p:spPr>
          <a:xfrm>
            <a:off x="1234440" y="1849120"/>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(100·50 + 50) + (50·50 + 50) + (50·3 + 3) = 5,050 + 2,550 + 153 = 7,753. Without biases: 5,000 + 2,500 + 150 = 7,650.</a:t>
            </a:r>
            <a:endParaRPr lang="en-US" sz="1600" dirty="0"/>
          </a:p>
        </p:txBody>
      </p:sp>
      <p:sp>
        <p:nvSpPr>
          <p:cNvPr id="9" name="Shape 6"/>
          <p:cNvSpPr/>
          <p:nvPr/>
        </p:nvSpPr>
        <p:spPr>
          <a:xfrm>
            <a:off x="576072" y="2703576"/>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70357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703576"/>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batch of shape (64, 20) passes through nn.Linear(20, 30). What is layer.weight.shape, and the output shape?</a:t>
            </a:r>
            <a:endParaRPr lang="en-US" sz="1600" dirty="0"/>
          </a:p>
        </p:txBody>
      </p:sp>
      <p:sp>
        <p:nvSpPr>
          <p:cNvPr id="12" name="Text 9"/>
          <p:cNvSpPr txBox="1"/>
          <p:nvPr/>
        </p:nvSpPr>
        <p:spPr>
          <a:xfrm>
            <a:off x="1234440" y="3237992"/>
            <a:ext cx="10378440" cy="34950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weight is (30, 20), stored as (out, in). The output is (64, 30).</a:t>
            </a:r>
            <a:endParaRPr lang="en-US" sz="1600" dirty="0"/>
          </a:p>
        </p:txBody>
      </p:sp>
      <p:sp>
        <p:nvSpPr>
          <p:cNvPr id="13" name="Shape 10"/>
          <p:cNvSpPr/>
          <p:nvPr/>
        </p:nvSpPr>
        <p:spPr>
          <a:xfrm>
            <a:off x="576072" y="3852672"/>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385267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85267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Your loss never changes from its initial value over 50 epochs. What do you check first?</a:t>
            </a:r>
            <a:endParaRPr lang="en-US" sz="1600" dirty="0"/>
          </a:p>
        </p:txBody>
      </p:sp>
      <p:sp>
        <p:nvSpPr>
          <p:cNvPr id="16" name="Text 13"/>
          <p:cNvSpPr txBox="1"/>
          <p:nvPr/>
        </p:nvSpPr>
        <p:spPr>
          <a:xfrm>
            <a:off x="1234440" y="4147312"/>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That super().__init__() is called and layers are assigned to self (not a plain list), then that the optimizer was given model.parameters().</a:t>
            </a:r>
            <a:endParaRPr lang="en-US" sz="1600" dirty="0"/>
          </a:p>
        </p:txBody>
      </p:sp>
      <p:sp>
        <p:nvSpPr>
          <p:cNvPr id="17" name="Shape 14"/>
          <p:cNvSpPr/>
          <p:nvPr/>
        </p:nvSpPr>
        <p:spPr>
          <a:xfrm>
            <a:off x="576072" y="5001768"/>
            <a:ext cx="365760" cy="365760"/>
          </a:xfrm>
          <a:prstGeom prst="ellipse">
            <a:avLst/>
          </a:prstGeom>
          <a:solidFill>
            <a:schemeClr val="accent1"/>
          </a:solidFill>
          <a:ln w="19050">
            <a:solidFill>
              <a:schemeClr val="accent1"/>
            </a:solidFill>
            <a:prstDash val="solid"/>
          </a:ln>
        </p:spPr>
      </p:sp>
      <p:sp>
        <p:nvSpPr>
          <p:cNvPr id="18" name="Text 15"/>
          <p:cNvSpPr txBox="1"/>
          <p:nvPr/>
        </p:nvSpPr>
        <p:spPr>
          <a:xfrm>
            <a:off x="393192" y="5001768"/>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1234440" y="5001768"/>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is it a mistake to end a regression network with a sigmoid?</a:t>
            </a:r>
            <a:endParaRPr lang="en-US" sz="1600" dirty="0"/>
          </a:p>
        </p:txBody>
      </p:sp>
      <p:sp>
        <p:nvSpPr>
          <p:cNvPr id="20" name="Text 17"/>
          <p:cNvSpPr txBox="1"/>
          <p:nvPr/>
        </p:nvSpPr>
        <p:spPr>
          <a:xfrm>
            <a:off x="1234440" y="5296408"/>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It bounds outputs to (0, 1), so targets outside are unreachable and gradients vanish near the bounds. Use no output activation; standardize targets.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1 · RECAP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ideas to take away</a:t>
            </a:r>
            <a:endParaRPr lang="en-US" sz="3000" dirty="0"/>
          </a:p>
        </p:txBody>
      </p:sp>
      <p:sp>
        <p:nvSpPr>
          <p:cNvPr id="5" name="Shape 2"/>
          <p:cNvSpPr/>
          <p:nvPr/>
        </p:nvSpPr>
        <p:spPr>
          <a:xfrm>
            <a:off x="822960" y="1965960"/>
            <a:ext cx="0" cy="2606040"/>
          </a:xfrm>
          <a:prstGeom prst="line">
            <a:avLst/>
          </a:prstGeom>
          <a:noFill/>
          <a:ln w="25400">
            <a:solidFill>
              <a:schemeClr val="accent1">
                <a:alpha val="50000"/>
              </a:schemeClr>
            </a:solidFill>
            <a:prstDash val="solid"/>
          </a:ln>
        </p:spPr>
      </p:sp>
      <p:sp>
        <p:nvSpPr>
          <p:cNvPr id="6" name="Shape 3"/>
          <p:cNvSpPr/>
          <p:nvPr/>
        </p:nvSpPr>
        <p:spPr>
          <a:xfrm>
            <a:off x="548640" y="1691640"/>
            <a:ext cx="548640" cy="548640"/>
          </a:xfrm>
          <a:prstGeom prst="ellipse">
            <a:avLst/>
          </a:prstGeom>
          <a:solidFill>
            <a:schemeClr val="accent1"/>
          </a:solidFill>
          <a:ln w="25400">
            <a:solidFill>
              <a:schemeClr val="bg1"/>
            </a:solidFill>
            <a:prstDash val="solid"/>
          </a:ln>
        </p:spPr>
      </p:sp>
      <p:sp>
        <p:nvSpPr>
          <p:cNvPr id="7" name="Text 4"/>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1325880" y="172821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A hard problem in one representation can be easy in another; networks learn the representation.</a:t>
            </a:r>
            <a:endParaRPr lang="en-US" sz="2000" dirty="0"/>
          </a:p>
        </p:txBody>
      </p:sp>
      <p:sp>
        <p:nvSpPr>
          <p:cNvPr id="9" name="Shape 6"/>
          <p:cNvSpPr/>
          <p:nvPr/>
        </p:nvSpPr>
        <p:spPr>
          <a:xfrm>
            <a:off x="548640" y="2560320"/>
            <a:ext cx="548640" cy="548640"/>
          </a:xfrm>
          <a:prstGeom prst="ellipse">
            <a:avLst/>
          </a:prstGeom>
          <a:solidFill>
            <a:schemeClr val="accent1"/>
          </a:solidFill>
          <a:ln w="25400">
            <a:solidFill>
              <a:schemeClr val="bg1"/>
            </a:solidFill>
            <a:prstDash val="solid"/>
          </a:ln>
        </p:spPr>
      </p:sp>
      <p:sp>
        <p:nvSpPr>
          <p:cNvPr id="10" name="Text 7"/>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8"/>
          <p:cNvSpPr txBox="1"/>
          <p:nvPr/>
        </p:nvSpPr>
        <p:spPr>
          <a:xfrm>
            <a:off x="1325880" y="2596896"/>
            <a:ext cx="10314432" cy="29972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A neuron is a linear feature detector, wᵀx + b, followed by a soft threshold g.</a:t>
            </a:r>
            <a:endParaRPr lang="en-US" sz="2000" dirty="0"/>
          </a:p>
        </p:txBody>
      </p:sp>
      <p:sp>
        <p:nvSpPr>
          <p:cNvPr id="12" name="Shape 9"/>
          <p:cNvSpPr/>
          <p:nvPr/>
        </p:nvSpPr>
        <p:spPr>
          <a:xfrm>
            <a:off x="548640" y="3429000"/>
            <a:ext cx="548640" cy="548640"/>
          </a:xfrm>
          <a:prstGeom prst="ellipse">
            <a:avLst/>
          </a:prstGeom>
          <a:solidFill>
            <a:schemeClr val="accent1"/>
          </a:solidFill>
          <a:ln w="25400">
            <a:solidFill>
              <a:schemeClr val="bg1"/>
            </a:solidFill>
            <a:prstDash val="solid"/>
          </a:ln>
        </p:spPr>
      </p:sp>
      <p:sp>
        <p:nvSpPr>
          <p:cNvPr id="13" name="Text 10"/>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1"/>
          <p:cNvSpPr txBox="1"/>
          <p:nvPr/>
        </p:nvSpPr>
        <p:spPr>
          <a:xfrm>
            <a:off x="1325880" y="3465576"/>
            <a:ext cx="10314432" cy="29972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Without a nonlinearity, depth collapses to one linear layer. ReLU is the default.</a:t>
            </a:r>
            <a:endParaRPr lang="en-US" sz="2000" dirty="0"/>
          </a:p>
        </p:txBody>
      </p:sp>
      <p:sp>
        <p:nvSpPr>
          <p:cNvPr id="15" name="Shape 12"/>
          <p:cNvSpPr/>
          <p:nvPr/>
        </p:nvSpPr>
        <p:spPr>
          <a:xfrm>
            <a:off x="548640" y="4297680"/>
            <a:ext cx="548640" cy="548640"/>
          </a:xfrm>
          <a:prstGeom prst="ellipse">
            <a:avLst/>
          </a:prstGeom>
          <a:solidFill>
            <a:schemeClr val="accent1"/>
          </a:solidFill>
          <a:ln w="25400">
            <a:solidFill>
              <a:schemeClr val="bg1"/>
            </a:solidFill>
            <a:prstDash val="solid"/>
          </a:ln>
        </p:spPr>
      </p:sp>
      <p:sp>
        <p:nvSpPr>
          <p:cNvPr id="16" name="Text 13"/>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4"/>
          <p:cNvSpPr txBox="1"/>
          <p:nvPr/>
        </p:nvSpPr>
        <p:spPr>
          <a:xfrm>
            <a:off x="1325880" y="4334256"/>
            <a:ext cx="10314432" cy="29972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The forward pass repeats z = Wa + b, a = g(z). Check shapes by counting.</a:t>
            </a:r>
            <a:endParaRPr lang="en-US" sz="2000" dirty="0"/>
          </a:p>
        </p:txBody>
      </p:sp>
      <p:sp>
        <p:nvSpPr>
          <p:cNvPr id="18" name="Shape 15"/>
          <p:cNvSpPr/>
          <p:nvPr/>
        </p:nvSpPr>
        <p:spPr>
          <a:xfrm>
            <a:off x="548640" y="5349240"/>
            <a:ext cx="11091672" cy="685800"/>
          </a:xfrm>
          <a:prstGeom prst="roundRect">
            <a:avLst>
              <a:gd name="adj" fmla="val 10667"/>
            </a:avLst>
          </a:prstGeom>
          <a:solidFill>
            <a:schemeClr val="bg2"/>
          </a:solidFill>
          <a:ln w="12700">
            <a:solidFill>
              <a:schemeClr val="bg2"/>
            </a:solidFill>
            <a:prstDash val="solid"/>
          </a:ln>
        </p:spPr>
      </p:sp>
      <p:sp>
        <p:nvSpPr>
          <p:cNvPr id="19" name="Text 16"/>
          <p:cNvSpPr txBox="1"/>
          <p:nvPr/>
        </p:nvSpPr>
        <p:spPr>
          <a:xfrm>
            <a:off x="777240" y="5349240"/>
            <a:ext cx="10634472" cy="685800"/>
          </a:xfrm>
          <a:prstGeom prst="rect">
            <a:avLst/>
          </a:prstGeom>
          <a:noFill/>
          <a:ln/>
        </p:spPr>
        <p:txBody>
          <a:bodyPr wrap="square" lIns="0" tIns="0" rIns="0" bIns="0" rtlCol="0" anchor="ctr"/>
          <a:lstStyle/>
          <a:p>
            <a:pPr algn="l" indent="0" marL="0">
              <a:lnSpc>
                <a:spcPct val="105000"/>
              </a:lnSpc>
              <a:buNone/>
            </a:pPr>
            <a:r>
              <a:rPr lang="en-US" sz="1900" b="1" dirty="0">
                <a:solidFill>
                  <a:schemeClr val="tx2"/>
                </a:solidFill>
              </a:rPr>
              <a:t>Next lecture: losses, backpropagation, gradient descent, and why depth matters.</a:t>
            </a:r>
            <a:endParaRPr lang="en-US" sz="19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1 · REFERENCES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References and further reading</a:t>
            </a:r>
            <a:endParaRPr lang="en-US" sz="3000" dirty="0"/>
          </a:p>
        </p:txBody>
      </p:sp>
      <p:sp>
        <p:nvSpPr>
          <p:cNvPr id="5" name="Text 2"/>
          <p:cNvSpPr txBox="1"/>
          <p:nvPr/>
        </p:nvSpPr>
        <p:spPr>
          <a:xfrm>
            <a:off x="548640" y="1645920"/>
            <a:ext cx="5394960" cy="4480560"/>
          </a:xfrm>
          <a:prstGeom prst="rect">
            <a:avLst/>
          </a:prstGeom>
          <a:noFill/>
          <a:ln/>
        </p:spPr>
        <p:txBody>
          <a:bodyPr wrap="square" lIns="0" tIns="0" rIns="0" bIns="0" rtlCol="0" anchor="t"/>
          <a:lstStyle/>
          <a:p>
            <a:pPr algn="l" indent="0" marL="0">
              <a:lnSpc>
                <a:spcPct val="105000"/>
              </a:lnSpc>
              <a:spcAft>
                <a:spcPts val="800"/>
              </a:spcAft>
              <a:buNone/>
            </a:pPr>
            <a:r>
              <a:rPr lang="en-US" sz="1400" dirty="0">
                <a:solidFill>
                  <a:schemeClr val="tx1"/>
                </a:solidFill>
              </a:rPr>
              <a:t>McCulloch, W. &amp; Pitts, W. (1943). A logical calculus of the ideas immanent in nervous activity.</a:t>
            </a:r>
            <a:endParaRPr lang="en-US" sz="1400" dirty="0"/>
          </a:p>
          <a:p>
            <a:pPr algn="l" indent="0" marL="0">
              <a:lnSpc>
                <a:spcPct val="105000"/>
              </a:lnSpc>
              <a:spcAft>
                <a:spcPts val="800"/>
              </a:spcAft>
              <a:buNone/>
            </a:pPr>
            <a:r>
              <a:rPr lang="en-US" sz="1400" dirty="0">
                <a:solidFill>
                  <a:schemeClr val="tx1"/>
                </a:solidFill>
              </a:rPr>
              <a:t>Rosenblatt, F. (1958). The perceptron. Psychological Review.</a:t>
            </a:r>
            <a:endParaRPr lang="en-US" sz="1400" dirty="0"/>
          </a:p>
          <a:p>
            <a:pPr algn="l" indent="0" marL="0">
              <a:lnSpc>
                <a:spcPct val="105000"/>
              </a:lnSpc>
              <a:spcAft>
                <a:spcPts val="800"/>
              </a:spcAft>
              <a:buNone/>
            </a:pPr>
            <a:r>
              <a:rPr lang="en-US" sz="1400" dirty="0">
                <a:solidFill>
                  <a:schemeClr val="tx1"/>
                </a:solidFill>
              </a:rPr>
              <a:t>Novikoff, A. (1962). On convergence proofs for perceptrons.</a:t>
            </a:r>
            <a:endParaRPr lang="en-US" sz="1400" dirty="0"/>
          </a:p>
          <a:p>
            <a:pPr algn="l" indent="0" marL="0">
              <a:lnSpc>
                <a:spcPct val="105000"/>
              </a:lnSpc>
              <a:spcAft>
                <a:spcPts val="800"/>
              </a:spcAft>
              <a:buNone/>
            </a:pPr>
            <a:r>
              <a:rPr lang="en-US" sz="1400" dirty="0">
                <a:solidFill>
                  <a:schemeClr val="tx1"/>
                </a:solidFill>
              </a:rPr>
              <a:t>Minsky, M. &amp; Papert, S. (1969). Perceptrons. MIT Press.</a:t>
            </a:r>
            <a:endParaRPr lang="en-US" sz="1400" dirty="0"/>
          </a:p>
          <a:p>
            <a:pPr algn="l" indent="0" marL="0">
              <a:lnSpc>
                <a:spcPct val="105000"/>
              </a:lnSpc>
              <a:spcAft>
                <a:spcPts val="800"/>
              </a:spcAft>
              <a:buNone/>
            </a:pPr>
            <a:r>
              <a:rPr lang="en-US" sz="1400" dirty="0">
                <a:solidFill>
                  <a:schemeClr val="tx1"/>
                </a:solidFill>
              </a:rPr>
              <a:t>Rumelhart, D., Hinton, G. &amp; Williams, R. (1986). Learning representations by back-propagating errors. Nature.</a:t>
            </a:r>
            <a:endParaRPr lang="en-US" sz="1400" dirty="0"/>
          </a:p>
          <a:p>
            <a:pPr algn="l" indent="0" marL="0">
              <a:lnSpc>
                <a:spcPct val="105000"/>
              </a:lnSpc>
              <a:spcAft>
                <a:spcPts val="800"/>
              </a:spcAft>
              <a:buNone/>
            </a:pPr>
            <a:r>
              <a:rPr lang="en-US" sz="1400" dirty="0">
                <a:solidFill>
                  <a:schemeClr val="tx1"/>
                </a:solidFill>
              </a:rPr>
              <a:t>LeCun, Y. et al. (1998). Gradient-based learning applied to document recognition.</a:t>
            </a:r>
            <a:endParaRPr lang="en-US" sz="1400" dirty="0"/>
          </a:p>
          <a:p>
            <a:pPr algn="l" indent="0" marL="0">
              <a:lnSpc>
                <a:spcPct val="105000"/>
              </a:lnSpc>
              <a:buNone/>
            </a:pPr>
            <a:r>
              <a:rPr lang="en-US" sz="1400" dirty="0">
                <a:solidFill>
                  <a:schemeClr val="tx1"/>
                </a:solidFill>
              </a:rPr>
              <a:t>Krizhevsky, A., Sutskever, I. &amp; Hinton, G. (2012). ImageNet classification with deep CNNs.</a:t>
            </a:r>
            <a:endParaRPr lang="en-US" sz="1400" dirty="0"/>
          </a:p>
        </p:txBody>
      </p:sp>
      <p:sp>
        <p:nvSpPr>
          <p:cNvPr id="6" name="Text 3"/>
          <p:cNvSpPr txBox="1"/>
          <p:nvPr/>
        </p:nvSpPr>
        <p:spPr>
          <a:xfrm>
            <a:off x="6263640" y="1645920"/>
            <a:ext cx="5376672" cy="4480560"/>
          </a:xfrm>
          <a:prstGeom prst="rect">
            <a:avLst/>
          </a:prstGeom>
          <a:noFill/>
          <a:ln/>
        </p:spPr>
        <p:txBody>
          <a:bodyPr wrap="square" lIns="0" tIns="0" rIns="0" bIns="0" rtlCol="0" anchor="t"/>
          <a:lstStyle/>
          <a:p>
            <a:pPr algn="l" indent="0" marL="0">
              <a:lnSpc>
                <a:spcPct val="105000"/>
              </a:lnSpc>
              <a:spcAft>
                <a:spcPts val="800"/>
              </a:spcAft>
              <a:buNone/>
            </a:pPr>
            <a:r>
              <a:rPr lang="en-US" sz="1400" dirty="0">
                <a:solidFill>
                  <a:schemeClr val="tx1"/>
                </a:solidFill>
              </a:rPr>
              <a:t>Cybenko, G. (1989). Approximation by superpositions of a sigmoidal function.</a:t>
            </a:r>
            <a:endParaRPr lang="en-US" sz="1400" dirty="0"/>
          </a:p>
          <a:p>
            <a:pPr algn="l" indent="0" marL="0">
              <a:lnSpc>
                <a:spcPct val="105000"/>
              </a:lnSpc>
              <a:spcAft>
                <a:spcPts val="800"/>
              </a:spcAft>
              <a:buNone/>
            </a:pPr>
            <a:r>
              <a:rPr lang="en-US" sz="1400" dirty="0">
                <a:solidFill>
                  <a:schemeClr val="tx1"/>
                </a:solidFill>
              </a:rPr>
              <a:t>Hornik, K. (1991). Approximation capabilities of multilayer feedforward networks.</a:t>
            </a:r>
            <a:endParaRPr lang="en-US" sz="1400" dirty="0"/>
          </a:p>
          <a:p>
            <a:pPr algn="l" indent="0" marL="0">
              <a:lnSpc>
                <a:spcPct val="105000"/>
              </a:lnSpc>
              <a:spcAft>
                <a:spcPts val="800"/>
              </a:spcAft>
              <a:buNone/>
            </a:pPr>
            <a:r>
              <a:rPr lang="en-US" sz="1400" dirty="0">
                <a:solidFill>
                  <a:schemeClr val="tx1"/>
                </a:solidFill>
              </a:rPr>
              <a:t>Leshno, M. et al. (1993). Multilayer feedforward networks with a non-polynomial activation can approximate any function.</a:t>
            </a:r>
            <a:endParaRPr lang="en-US" sz="1400" dirty="0"/>
          </a:p>
          <a:p>
            <a:pPr algn="l" indent="0" marL="0">
              <a:lnSpc>
                <a:spcPct val="105000"/>
              </a:lnSpc>
              <a:spcAft>
                <a:spcPts val="800"/>
              </a:spcAft>
              <a:buNone/>
            </a:pPr>
            <a:r>
              <a:rPr lang="en-US" sz="1400" dirty="0">
                <a:solidFill>
                  <a:schemeClr val="tx1"/>
                </a:solidFill>
              </a:rPr>
              <a:t>Lu, Z. et al. (2017). The expressive power of neural networks: a view from the width.</a:t>
            </a:r>
            <a:endParaRPr lang="en-US" sz="1400" dirty="0"/>
          </a:p>
          <a:p>
            <a:pPr algn="l" indent="0" marL="0">
              <a:lnSpc>
                <a:spcPct val="105000"/>
              </a:lnSpc>
              <a:spcAft>
                <a:spcPts val="800"/>
              </a:spcAft>
              <a:buNone/>
            </a:pPr>
            <a:r>
              <a:rPr lang="en-US" sz="1400" dirty="0">
                <a:solidFill>
                  <a:schemeClr val="tx1"/>
                </a:solidFill>
              </a:rPr>
              <a:t>Hendrycks, D. &amp; Gimpel, K. (2016). Gaussian error linear units (GELUs).</a:t>
            </a:r>
            <a:endParaRPr lang="en-US" sz="1400" dirty="0"/>
          </a:p>
          <a:p>
            <a:pPr algn="l" indent="0" marL="0">
              <a:lnSpc>
                <a:spcPct val="105000"/>
              </a:lnSpc>
              <a:spcAft>
                <a:spcPts val="800"/>
              </a:spcAft>
              <a:buNone/>
            </a:pPr>
            <a:r>
              <a:rPr lang="en-US" sz="1400" dirty="0">
                <a:solidFill>
                  <a:schemeClr val="tx1"/>
                </a:solidFill>
              </a:rPr>
              <a:t>Shazeer, N. (2020). GLU variants improve Transformer.</a:t>
            </a:r>
            <a:endParaRPr lang="en-US" sz="1400" dirty="0"/>
          </a:p>
          <a:p>
            <a:pPr algn="l" indent="0" marL="0">
              <a:lnSpc>
                <a:spcPct val="105000"/>
              </a:lnSpc>
              <a:buNone/>
            </a:pPr>
            <a:r>
              <a:rPr lang="en-US" sz="1400" dirty="0">
                <a:solidFill>
                  <a:schemeClr val="tx1"/>
                </a:solidFill>
              </a:rPr>
              <a:t>Goodfellow, I., Bengio, Y. &amp; Courville, A. (2016). Deep Learning. MIT Press.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50</a:t>
            </a:fld>
            <a:endParaRPr lang="en-US"/>
          </a:p>
        </p:txBody>
      </p:sp>
    </p:spTree>
  </p:cSld>
  <p:clrMapOvr>
    <a:masterClrMapping/>
  </p:clrMapOvr>
</p:sld>
</file>

<file path=ppt/theme/theme1.xml><?xml version="1.0" encoding="utf-8"?>
<a:theme xmlns:a="http://schemas.openxmlformats.org/drawingml/2006/main" name="Signal">
  <a:themeElements>
    <a:clrScheme name="Signal">
      <a:dk1>
        <a:srgbClr val="15232D"/>
      </a:dk1>
      <a:lt1>
        <a:srgbClr val="FFFFFF"/>
      </a:lt1>
      <a:dk2>
        <a:srgbClr val="556270"/>
      </a:dk2>
      <a:lt2>
        <a:srgbClr val="EEF2F5"/>
      </a:lt2>
      <a:accent1>
        <a:srgbClr val="0F7B78"/>
      </a:accent1>
      <a:accent2>
        <a:srgbClr val="D45D27"/>
      </a:accent2>
      <a:accent3>
        <a:srgbClr val="4C5FD5"/>
      </a:accent3>
      <a:accent4>
        <a:srgbClr val="2F855A"/>
      </a:accent4>
      <a:accent5>
        <a:srgbClr val="B83227"/>
      </a:accent5>
      <a:accent6>
        <a:srgbClr val="7CCFC6"/>
      </a:accent6>
      <a:hlink>
        <a:srgbClr val="0F7B78"/>
      </a:hlink>
      <a:folHlink>
        <a:srgbClr val="4C5FD5"/>
      </a:folHlink>
    </a:clrScheme>
    <a:fontScheme name="Sig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from linear models to the MLP</dc:title>
  <dc:subject>Why neural networks exist, what a neuron computes, why nonlinearity is mandatory, and how a forward pass works.</dc:subject>
  <dc:creator>Neural Networks &amp; Deep Learning</dc:creator>
  <cp:lastModifiedBy>Neural Networks &amp; Deep Learning</cp:lastModifiedBy>
  <cp:revision>1</cp:revision>
  <dcterms:created xsi:type="dcterms:W3CDTF">2026-10-02T15:14:02Z</dcterms:created>
  <dcterms:modified xsi:type="dcterms:W3CDTF">2026-10-02T15:14:02Z</dcterms:modified>
</cp:coreProperties>
</file>